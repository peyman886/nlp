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16.jpg" ContentType="image/jpeg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391" r:id="rId3"/>
    <p:sldId id="392" r:id="rId4"/>
    <p:sldId id="868" r:id="rId5"/>
    <p:sldId id="286" r:id="rId6"/>
    <p:sldId id="867" r:id="rId7"/>
    <p:sldId id="368" r:id="rId8"/>
    <p:sldId id="369" r:id="rId9"/>
    <p:sldId id="370" r:id="rId10"/>
    <p:sldId id="272" r:id="rId11"/>
    <p:sldId id="371" r:id="rId12"/>
    <p:sldId id="372" r:id="rId13"/>
    <p:sldId id="373" r:id="rId14"/>
    <p:sldId id="374" r:id="rId15"/>
    <p:sldId id="375" r:id="rId16"/>
    <p:sldId id="379" r:id="rId17"/>
    <p:sldId id="376" r:id="rId18"/>
    <p:sldId id="390" r:id="rId19"/>
    <p:sldId id="381" r:id="rId20"/>
    <p:sldId id="382" r:id="rId21"/>
    <p:sldId id="383" r:id="rId22"/>
    <p:sldId id="384" r:id="rId23"/>
    <p:sldId id="386" r:id="rId24"/>
    <p:sldId id="385" r:id="rId25"/>
    <p:sldId id="387" r:id="rId26"/>
    <p:sldId id="388" r:id="rId27"/>
    <p:sldId id="297" r:id="rId2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81224" autoAdjust="0"/>
  </p:normalViewPr>
  <p:slideViewPr>
    <p:cSldViewPr snapToGrid="0">
      <p:cViewPr varScale="1">
        <p:scale>
          <a:sx n="83" d="100"/>
          <a:sy n="83" d="100"/>
        </p:scale>
        <p:origin x="3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C56A9-71FA-49A8-A49B-73E0C4B6E02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3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C56A9-71FA-49A8-A49B-73E0C4B6E02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1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10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639" y="242316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195" y="5035617"/>
            <a:ext cx="36776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  <a:p>
            <a:pPr algn="ctr"/>
            <a:r>
              <a:rPr lang="en-US" sz="2400" b="0" dirty="0">
                <a:latin typeface="+mj-lt"/>
              </a:rPr>
              <a:t>Mohammad Javad </a:t>
            </a:r>
            <a:r>
              <a:rPr lang="en-US" sz="2400" b="0" dirty="0" err="1">
                <a:latin typeface="+mj-lt"/>
              </a:rPr>
              <a:t>Dousti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0B603-B01F-ED0C-0B6F-B58531A1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E32C6-F01F-FCD4-7174-2ED528ADB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D39A4-7EF6-1C27-5295-E2B43BB8CFDB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17802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40384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32E36-2BF4-11A0-CF58-A8CDA0086211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99C0-AAD6-484A-918C-5F008DDE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55191-551E-47CF-86AA-7B88D665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3BD93-7BD7-432F-A281-3D7B2249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13E2-409F-499F-A296-4F76746C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3438-B4B3-4297-BE45-25935018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73" r:id="rId7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jdousti@ut.ac.i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architect.ai/model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gemini.google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poe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AFF7-A259-4627-80E4-82FB1B8FF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064475"/>
            <a:ext cx="10769600" cy="932935"/>
          </a:xfrm>
        </p:spPr>
        <p:txBody>
          <a:bodyPr anchor="b">
            <a:normAutofit/>
          </a:bodyPr>
          <a:lstStyle/>
          <a:p>
            <a:r>
              <a:rPr lang="en-US" sz="5000" dirty="0"/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13784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A01569-51E7-4EB0-9F44-842B705B0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Mohammad Javad Dousti</a:t>
            </a:r>
          </a:p>
          <a:p>
            <a:pPr lvl="1"/>
            <a:r>
              <a:rPr lang="en-US" b="1" dirty="0"/>
              <a:t>Office: </a:t>
            </a:r>
            <a:r>
              <a:rPr lang="en-US" dirty="0"/>
              <a:t>ECE Building 2; Room 719</a:t>
            </a:r>
          </a:p>
          <a:p>
            <a:pPr lvl="1"/>
            <a:r>
              <a:rPr lang="en-US" b="1" dirty="0"/>
              <a:t>Office Hours: </a:t>
            </a:r>
            <a:r>
              <a:rPr lang="en-US" dirty="0"/>
              <a:t>Saturdays and Mondays 17:30 – 18:00</a:t>
            </a:r>
          </a:p>
          <a:p>
            <a:pPr lvl="1"/>
            <a:r>
              <a:rPr lang="en-US" b="1" dirty="0"/>
              <a:t>Email: </a:t>
            </a:r>
            <a:r>
              <a:rPr lang="en-US" dirty="0">
                <a:hlinkClick r:id="rId3"/>
              </a:rPr>
              <a:t>mjdousti@ut.ac.ir</a:t>
            </a:r>
            <a:r>
              <a:rPr lang="en-US" dirty="0"/>
              <a:t>  (I’ll try my best to respond within one business day)</a:t>
            </a:r>
            <a:endParaRPr lang="fa-IR" dirty="0"/>
          </a:p>
          <a:p>
            <a:r>
              <a:rPr lang="en-US" dirty="0"/>
              <a:t>Yadollah Yaghoobzadeh</a:t>
            </a:r>
          </a:p>
          <a:p>
            <a:pPr lvl="1"/>
            <a:r>
              <a:rPr lang="en-US" b="1" dirty="0"/>
              <a:t>Office: </a:t>
            </a:r>
            <a:r>
              <a:rPr lang="en-US" dirty="0"/>
              <a:t>ECE Building 2; Room 516; </a:t>
            </a:r>
            <a:r>
              <a:rPr lang="en-US" dirty="0" err="1"/>
              <a:t>TeIAS</a:t>
            </a:r>
            <a:r>
              <a:rPr lang="en-US" dirty="0"/>
              <a:t> room</a:t>
            </a:r>
          </a:p>
          <a:p>
            <a:pPr lvl="1"/>
            <a:r>
              <a:rPr lang="en-US" b="1" dirty="0"/>
              <a:t>Office Hours: </a:t>
            </a:r>
            <a:r>
              <a:rPr lang="en-US" dirty="0"/>
              <a:t>Saturdays and Mondays 17:30 – 18:00</a:t>
            </a:r>
          </a:p>
          <a:p>
            <a:pPr lvl="1"/>
            <a:r>
              <a:rPr lang="en-US" b="1" dirty="0"/>
              <a:t>Telegram: </a:t>
            </a:r>
            <a:r>
              <a:rPr lang="en-US" dirty="0" err="1"/>
              <a:t>yyaghoobzadeh</a:t>
            </a:r>
            <a:endParaRPr lang="fa-IR" b="1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152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Instructor Info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554CD-CF4F-4CAA-A273-E3632F36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67948-F161-6F40-A5DA-64DF9CCBE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92876"/>
            <a:ext cx="467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400" b="1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n-US"/>
              <a:t>Introduction to Programming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612F34-33A3-37D5-9498-A813CB0C1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1389, BSc in software engineering from University of Tehran </a:t>
            </a:r>
          </a:p>
          <a:p>
            <a:r>
              <a:rPr lang="en-US" dirty="0"/>
              <a:t>1392, MSc in software engineering from Sharif University of Technology</a:t>
            </a:r>
          </a:p>
          <a:p>
            <a:r>
              <a:rPr lang="en-US" dirty="0"/>
              <a:t>1396, PhD in NLP from LMU Munich</a:t>
            </a:r>
          </a:p>
          <a:p>
            <a:r>
              <a:rPr lang="en-US" dirty="0"/>
              <a:t>1396—1399, Researcher at Microsoft Research and Turing</a:t>
            </a:r>
          </a:p>
          <a:p>
            <a:r>
              <a:rPr lang="en-US" dirty="0"/>
              <a:t>1399—Now, Assistant professor at University of Tehran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ADBD43-DC24-5208-1404-A8720587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introduction (Yadollah Yaghoobzadeh)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42EF9-13C4-46CE-4D9F-BE6C26FC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08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612F34-33A3-37D5-9498-A813CB0C1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1389, BS in computer engineering from Sharif University of Technology</a:t>
            </a:r>
          </a:p>
          <a:p>
            <a:r>
              <a:rPr lang="en-US" dirty="0"/>
              <a:t>1394, MSc in electrical engineering from University of Southern California</a:t>
            </a:r>
          </a:p>
          <a:p>
            <a:r>
              <a:rPr lang="en-US" dirty="0"/>
              <a:t>1394, PhD in computer engineering from University of Southern California</a:t>
            </a:r>
          </a:p>
          <a:p>
            <a:r>
              <a:rPr lang="en-US" dirty="0"/>
              <a:t>1394—1399, Research Scientist at Meta Inc. (formerly Facebook, Inc.)</a:t>
            </a:r>
          </a:p>
          <a:p>
            <a:r>
              <a:rPr lang="en-US" dirty="0"/>
              <a:t>1399—Now, Assistant professor at University of Tehran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ADBD43-DC24-5208-1404-A8720587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introduction (Mohammad Javad Dousti)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42EF9-13C4-46CE-4D9F-BE6C26FC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569BC7-77DF-4702-86B8-F250B85B3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1"/>
            <a:ext cx="11658601" cy="5334000"/>
          </a:xfrm>
        </p:spPr>
        <p:txBody>
          <a:bodyPr/>
          <a:lstStyle/>
          <a:p>
            <a:r>
              <a:rPr lang="en-US" dirty="0"/>
              <a:t>When: Saturdays &amp; Mondays 13:00 – 14:30</a:t>
            </a:r>
          </a:p>
          <a:p>
            <a:r>
              <a:rPr lang="en-US" dirty="0"/>
              <a:t>Where: Class #</a:t>
            </a:r>
          </a:p>
          <a:p>
            <a:r>
              <a:rPr lang="en-US" dirty="0"/>
              <a:t>Class web page:</a:t>
            </a:r>
          </a:p>
          <a:p>
            <a:pPr lvl="1"/>
            <a:r>
              <a:rPr lang="en-US" dirty="0"/>
              <a:t>Teams for assignments</a:t>
            </a:r>
          </a:p>
          <a:p>
            <a:pPr lvl="1"/>
            <a:r>
              <a:rPr lang="en-US" dirty="0"/>
              <a:t>Discussion group:</a:t>
            </a:r>
          </a:p>
          <a:p>
            <a:pPr lvl="2"/>
            <a:r>
              <a:rPr lang="en-US" dirty="0"/>
              <a:t>Telegram </a:t>
            </a:r>
            <a:r>
              <a:rPr lang="en-US"/>
              <a:t>group:</a:t>
            </a:r>
            <a:endParaRPr lang="fa-IR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" y="20819"/>
            <a:ext cx="12010189" cy="743953"/>
          </a:xfrm>
        </p:spPr>
        <p:txBody>
          <a:bodyPr vert="horz" wrap="square" lIns="0" tIns="1152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Class Info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6F109-6A86-4857-BB4B-C66A51B8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E8A3E-1790-5A4E-BA8E-AA3C83C09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92876"/>
            <a:ext cx="467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400" b="1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n-US"/>
              <a:t>Introduction to Programming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CB94-BB43-0967-D382-01631CB1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5AF3D4-287B-89DA-C1C7-FB760AEDD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14313-D186-11D3-E69A-0FD61605C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0CF80-8AF9-CD19-A72C-2D04939D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5AD81-A937-AE27-4226-2C9C39CE50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663" b="-1663"/>
          <a:stretch/>
        </p:blipFill>
        <p:spPr>
          <a:xfrm>
            <a:off x="196173" y="1677554"/>
            <a:ext cx="11799652" cy="399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8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7701" rIns="0" bIns="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What are large language models (LLMs)?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4DDB8A-9F75-4E7D-A4AC-EC3BD135A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/>
        <p:txBody>
          <a:bodyPr vert="horz" lIns="0" tIns="3851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81D60167-4931-47E6-BA6A-407CBD079E4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C5FB73-2CF2-4125-ADED-7D5DEDBFB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33" dirty="0">
                <a:latin typeface="Cambria"/>
                <a:cs typeface="Cambria"/>
              </a:rPr>
              <a:t>A</a:t>
            </a:r>
            <a:r>
              <a:rPr lang="en-US" sz="2800" spc="94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probabilistic</a:t>
            </a:r>
            <a:r>
              <a:rPr lang="en-US" sz="2800" spc="103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model</a:t>
            </a:r>
            <a:r>
              <a:rPr lang="en-US" sz="2800" spc="106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that</a:t>
            </a:r>
            <a:r>
              <a:rPr lang="en-US" sz="2800" spc="106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assigns</a:t>
            </a:r>
            <a:r>
              <a:rPr lang="en-US" sz="2800" spc="103" dirty="0">
                <a:latin typeface="Cambria"/>
                <a:cs typeface="Cambria"/>
              </a:rPr>
              <a:t> </a:t>
            </a:r>
            <a:r>
              <a:rPr lang="en-US" sz="2800" spc="36" dirty="0">
                <a:latin typeface="Cambria"/>
                <a:cs typeface="Cambria"/>
              </a:rPr>
              <a:t>a</a:t>
            </a:r>
            <a:r>
              <a:rPr lang="en-US" sz="2800" spc="106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probability</a:t>
            </a:r>
            <a:r>
              <a:rPr lang="en-US" sz="2800" spc="106" dirty="0">
                <a:latin typeface="Cambria"/>
                <a:cs typeface="Cambria"/>
              </a:rPr>
              <a:t> </a:t>
            </a:r>
            <a:r>
              <a:rPr lang="en-US" sz="3200" i="1" spc="-24" dirty="0">
                <a:latin typeface="Times New Roman"/>
                <a:cs typeface="Times New Roman"/>
              </a:rPr>
              <a:t>P</a:t>
            </a:r>
            <a:r>
              <a:rPr lang="en-US" sz="3200" spc="-24" dirty="0">
                <a:latin typeface="Cambria"/>
                <a:cs typeface="Cambria"/>
              </a:rPr>
              <a:t>[</a:t>
            </a:r>
            <a:r>
              <a:rPr lang="en-US" sz="3200" i="1" spc="-24" dirty="0">
                <a:latin typeface="Times New Roman"/>
                <a:cs typeface="Times New Roman"/>
              </a:rPr>
              <a:t>w</a:t>
            </a:r>
            <a:r>
              <a:rPr lang="en-US" sz="3200" spc="-36" baseline="-20000" dirty="0">
                <a:latin typeface="Cambria"/>
                <a:cs typeface="Cambria"/>
              </a:rPr>
              <a:t>1</a:t>
            </a:r>
            <a:r>
              <a:rPr lang="en-US" sz="3200" spc="-24" dirty="0">
                <a:latin typeface="Cambria"/>
                <a:cs typeface="Cambria"/>
              </a:rPr>
              <a:t>,</a:t>
            </a:r>
            <a:r>
              <a:rPr lang="en-US" sz="3200" spc="-115" dirty="0">
                <a:latin typeface="Cambria"/>
                <a:cs typeface="Cambria"/>
              </a:rPr>
              <a:t> </a:t>
            </a:r>
            <a:r>
              <a:rPr lang="en-US" sz="3200" i="1" spc="-24" dirty="0">
                <a:latin typeface="Times New Roman"/>
                <a:cs typeface="Times New Roman"/>
              </a:rPr>
              <a:t>w</a:t>
            </a:r>
            <a:r>
              <a:rPr lang="en-US" sz="3200" spc="-36" baseline="-20000" dirty="0">
                <a:latin typeface="Cambria"/>
                <a:cs typeface="Cambria"/>
              </a:rPr>
              <a:t>2</a:t>
            </a:r>
            <a:r>
              <a:rPr lang="en-US" sz="3200" spc="-24" dirty="0">
                <a:latin typeface="Cambria"/>
                <a:cs typeface="Cambria"/>
              </a:rPr>
              <a:t>,</a:t>
            </a:r>
            <a:r>
              <a:rPr lang="en-US" sz="3200" spc="-115" dirty="0">
                <a:latin typeface="Cambria"/>
                <a:cs typeface="Cambria"/>
              </a:rPr>
              <a:t> </a:t>
            </a:r>
            <a:r>
              <a:rPr lang="en-US" sz="3200" spc="306" dirty="0">
                <a:latin typeface="Cambria"/>
                <a:cs typeface="Cambria"/>
              </a:rPr>
              <a:t>…,</a:t>
            </a:r>
            <a:r>
              <a:rPr lang="en-US" sz="3200" spc="-121" dirty="0">
                <a:latin typeface="Cambria"/>
                <a:cs typeface="Cambria"/>
              </a:rPr>
              <a:t> </a:t>
            </a:r>
            <a:r>
              <a:rPr lang="en-US" sz="3200" i="1" dirty="0" err="1">
                <a:latin typeface="Times New Roman"/>
                <a:cs typeface="Times New Roman"/>
              </a:rPr>
              <a:t>w</a:t>
            </a:r>
            <a:r>
              <a:rPr lang="en-US" sz="3200" i="1" baseline="-20000" dirty="0" err="1">
                <a:latin typeface="Times New Roman"/>
                <a:cs typeface="Times New Roman"/>
              </a:rPr>
              <a:t>n</a:t>
            </a:r>
            <a:r>
              <a:rPr lang="en-US" sz="3200" dirty="0">
                <a:latin typeface="Cambria"/>
                <a:cs typeface="Cambria"/>
              </a:rPr>
              <a:t>]</a:t>
            </a:r>
            <a:r>
              <a:rPr lang="en-US" sz="3200" spc="49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to</a:t>
            </a:r>
            <a:r>
              <a:rPr lang="en-US" sz="2800" spc="103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every</a:t>
            </a:r>
            <a:r>
              <a:rPr lang="en-US" sz="2800" spc="103" dirty="0">
                <a:latin typeface="Cambria"/>
                <a:cs typeface="Cambria"/>
              </a:rPr>
              <a:t> </a:t>
            </a:r>
            <a:r>
              <a:rPr lang="en-US" sz="2800" spc="-6" dirty="0">
                <a:latin typeface="Cambria"/>
                <a:cs typeface="Cambria"/>
              </a:rPr>
              <a:t>finite </a:t>
            </a:r>
            <a:r>
              <a:rPr lang="en-US" sz="2800" dirty="0">
                <a:latin typeface="Cambria"/>
                <a:cs typeface="Cambria"/>
              </a:rPr>
              <a:t>sequence</a:t>
            </a:r>
            <a:r>
              <a:rPr lang="en-US" sz="2800" spc="143" dirty="0">
                <a:latin typeface="Cambria"/>
                <a:cs typeface="Cambria"/>
              </a:rPr>
              <a:t> </a:t>
            </a:r>
            <a:r>
              <a:rPr lang="en-US" sz="3200" i="1" spc="-24" dirty="0">
                <a:latin typeface="Times New Roman"/>
                <a:cs typeface="Times New Roman"/>
              </a:rPr>
              <a:t>w</a:t>
            </a:r>
            <a:r>
              <a:rPr lang="en-US" sz="3200" spc="-36" baseline="-20000" dirty="0">
                <a:latin typeface="Cambria"/>
                <a:cs typeface="Cambria"/>
              </a:rPr>
              <a:t>1</a:t>
            </a:r>
            <a:r>
              <a:rPr lang="en-US" sz="3200" spc="-24" dirty="0">
                <a:latin typeface="Cambria"/>
                <a:cs typeface="Cambria"/>
              </a:rPr>
              <a:t>,</a:t>
            </a:r>
            <a:r>
              <a:rPr lang="en-US" sz="3200" spc="-97" dirty="0">
                <a:latin typeface="Cambria"/>
                <a:cs typeface="Cambria"/>
              </a:rPr>
              <a:t> </a:t>
            </a:r>
            <a:r>
              <a:rPr lang="en-US" sz="3200" spc="306" dirty="0">
                <a:latin typeface="Cambria"/>
                <a:cs typeface="Cambria"/>
              </a:rPr>
              <a:t>…,</a:t>
            </a:r>
            <a:r>
              <a:rPr lang="en-US" sz="3200" spc="-97" dirty="0">
                <a:latin typeface="Cambria"/>
                <a:cs typeface="Cambria"/>
              </a:rPr>
              <a:t> </a:t>
            </a:r>
            <a:r>
              <a:rPr lang="en-US" sz="3200" i="1" dirty="0" err="1">
                <a:latin typeface="Times New Roman"/>
                <a:cs typeface="Times New Roman"/>
              </a:rPr>
              <a:t>w</a:t>
            </a:r>
            <a:r>
              <a:rPr lang="en-US" sz="3200" i="1" baseline="-20000" dirty="0" err="1">
                <a:latin typeface="Times New Roman"/>
                <a:cs typeface="Times New Roman"/>
              </a:rPr>
              <a:t>n</a:t>
            </a:r>
            <a:r>
              <a:rPr lang="en-US" sz="3200" i="1" spc="268" baseline="-2000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Cambria"/>
                <a:cs typeface="Cambria"/>
              </a:rPr>
              <a:t>(grammatical</a:t>
            </a:r>
            <a:r>
              <a:rPr lang="en-US" sz="2800" spc="139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or</a:t>
            </a:r>
            <a:r>
              <a:rPr lang="en-US" sz="2800" spc="139" dirty="0">
                <a:latin typeface="Cambria"/>
                <a:cs typeface="Cambria"/>
              </a:rPr>
              <a:t> </a:t>
            </a:r>
            <a:r>
              <a:rPr lang="en-US" sz="2800" spc="-12" dirty="0">
                <a:latin typeface="Cambria"/>
                <a:cs typeface="Cambria"/>
              </a:rPr>
              <a:t>not)</a:t>
            </a:r>
            <a:endParaRPr lang="en-US" sz="28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4045"/>
            <a:ext cx="11658601" cy="623329"/>
          </a:xfrm>
        </p:spPr>
        <p:txBody>
          <a:bodyPr vert="horz" wrap="square" lIns="0" tIns="77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Language models: narrow sense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50"/>
                </a:spcBef>
              </a:pPr>
              <a:t>8</a:t>
            </a:fld>
            <a:endParaRPr spc="-1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3424" y="2644402"/>
            <a:ext cx="8265150" cy="37563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4045"/>
            <a:ext cx="11658601" cy="623329"/>
          </a:xfrm>
        </p:spPr>
        <p:txBody>
          <a:bodyPr vert="horz" wrap="square" lIns="0" tIns="77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Language models: narrow sense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50"/>
                </a:spcBef>
              </a:pPr>
              <a:t>9</a:t>
            </a:fld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215" y="2969298"/>
            <a:ext cx="7096434" cy="20169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0038" y="1308171"/>
            <a:ext cx="7887036" cy="11892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47838" y="5352256"/>
            <a:ext cx="5113272" cy="905854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7316" marR="3081" algn="ctr">
              <a:lnSpc>
                <a:spcPts val="2298"/>
              </a:lnSpc>
              <a:spcBef>
                <a:spcPts val="164"/>
              </a:spcBef>
            </a:pPr>
            <a:r>
              <a:rPr sz="1940" spc="-94" dirty="0">
                <a:latin typeface="Arial MT"/>
                <a:cs typeface="Arial MT"/>
              </a:rPr>
              <a:t>GPT-</a:t>
            </a:r>
            <a:r>
              <a:rPr sz="1940" spc="73" dirty="0">
                <a:latin typeface="Arial MT"/>
                <a:cs typeface="Arial MT"/>
              </a:rPr>
              <a:t>3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still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acts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in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this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way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spc="52" dirty="0">
                <a:latin typeface="Arial MT"/>
                <a:cs typeface="Arial MT"/>
              </a:rPr>
              <a:t>but </a:t>
            </a:r>
            <a:r>
              <a:rPr sz="1940" dirty="0">
                <a:latin typeface="Arial MT"/>
                <a:cs typeface="Arial MT"/>
              </a:rPr>
              <a:t>the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model</a:t>
            </a:r>
            <a:r>
              <a:rPr sz="1940" spc="49" dirty="0">
                <a:latin typeface="Arial MT"/>
                <a:cs typeface="Arial MT"/>
              </a:rPr>
              <a:t> </a:t>
            </a:r>
            <a:r>
              <a:rPr sz="1940" spc="-15" dirty="0">
                <a:latin typeface="Arial MT"/>
                <a:cs typeface="Arial MT"/>
              </a:rPr>
              <a:t>is </a:t>
            </a:r>
            <a:r>
              <a:rPr sz="1940" dirty="0">
                <a:latin typeface="Arial MT"/>
                <a:cs typeface="Arial MT"/>
              </a:rPr>
              <a:t>implemented</a:t>
            </a:r>
            <a:r>
              <a:rPr sz="1940" spc="21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as</a:t>
            </a:r>
            <a:r>
              <a:rPr sz="1940" spc="24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a</a:t>
            </a:r>
            <a:r>
              <a:rPr sz="1940" spc="24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very</a:t>
            </a:r>
            <a:r>
              <a:rPr sz="1940" spc="21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large</a:t>
            </a:r>
            <a:r>
              <a:rPr sz="1940" spc="24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neural</a:t>
            </a:r>
            <a:r>
              <a:rPr sz="1940" spc="24" dirty="0">
                <a:latin typeface="Arial MT"/>
                <a:cs typeface="Arial MT"/>
              </a:rPr>
              <a:t> </a:t>
            </a:r>
            <a:r>
              <a:rPr sz="1940" dirty="0">
                <a:latin typeface="Arial MT"/>
                <a:cs typeface="Arial MT"/>
              </a:rPr>
              <a:t>network</a:t>
            </a:r>
            <a:r>
              <a:rPr sz="1940" spc="24" dirty="0">
                <a:latin typeface="Arial MT"/>
                <a:cs typeface="Arial MT"/>
              </a:rPr>
              <a:t> of </a:t>
            </a:r>
            <a:r>
              <a:rPr sz="1940" dirty="0">
                <a:latin typeface="Arial MT"/>
                <a:cs typeface="Arial MT"/>
              </a:rPr>
              <a:t>175-billion</a:t>
            </a:r>
            <a:r>
              <a:rPr sz="1940" spc="263" dirty="0">
                <a:latin typeface="Arial MT"/>
                <a:cs typeface="Arial MT"/>
              </a:rPr>
              <a:t> </a:t>
            </a:r>
            <a:r>
              <a:rPr sz="1940" spc="-6" dirty="0">
                <a:latin typeface="Arial MT"/>
                <a:cs typeface="Arial MT"/>
              </a:rPr>
              <a:t>parameters!</a:t>
            </a:r>
            <a:endParaRPr sz="194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700F8A-6835-4397-94EA-1A1F4C2C8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Decoder-only models (GPT-x models)</a:t>
            </a:r>
          </a:p>
          <a:p>
            <a:r>
              <a:rPr lang="en-US" dirty="0">
                <a:solidFill>
                  <a:srgbClr val="008000"/>
                </a:solidFill>
              </a:rPr>
              <a:t>Encoder-only models (BERT, </a:t>
            </a:r>
            <a:r>
              <a:rPr lang="en-US" dirty="0" err="1">
                <a:solidFill>
                  <a:srgbClr val="008000"/>
                </a:solidFill>
              </a:rPr>
              <a:t>RoBERTa</a:t>
            </a:r>
            <a:r>
              <a:rPr lang="en-US" dirty="0">
                <a:solidFill>
                  <a:srgbClr val="008000"/>
                </a:solidFill>
              </a:rPr>
              <a:t>, ELECTRA)</a:t>
            </a:r>
          </a:p>
          <a:p>
            <a:r>
              <a:rPr lang="en-US" dirty="0">
                <a:solidFill>
                  <a:srgbClr val="008000"/>
                </a:solidFill>
              </a:rPr>
              <a:t>Encoder-decoder models (T5, BART)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77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Language models: broad sense</a:t>
            </a:r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fld id="{81D60167-4931-47E6-BA6A-407CBD079E4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2330" y="3196570"/>
            <a:ext cx="7061532" cy="23755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1" y="2651632"/>
            <a:ext cx="3958736" cy="34455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701">
              <a:spcBef>
                <a:spcPts val="61"/>
              </a:spcBef>
              <a:tabLst>
                <a:tab pos="1073173" algn="l"/>
                <a:tab pos="2119007" algn="l"/>
              </a:tabLst>
            </a:pPr>
            <a:r>
              <a:rPr sz="3699" dirty="0"/>
              <a:t>How	large</a:t>
            </a:r>
            <a:r>
              <a:rPr lang="en-US" sz="3699" dirty="0"/>
              <a:t> </a:t>
            </a:r>
            <a:r>
              <a:rPr sz="3699" dirty="0"/>
              <a:t>are “large” LMs?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50"/>
                </a:spcBef>
              </a:pPr>
              <a:t>11</a:t>
            </a:fld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31" y="1584214"/>
            <a:ext cx="5254175" cy="39684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0859" y="2727328"/>
            <a:ext cx="5125891" cy="20340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90997" y="5842222"/>
            <a:ext cx="3568393" cy="486641"/>
          </a:xfrm>
          <a:prstGeom prst="rect">
            <a:avLst/>
          </a:prstGeom>
        </p:spPr>
        <p:txBody>
          <a:bodyPr vert="horz" wrap="square" lIns="0" tIns="3081" rIns="0" bIns="0" rtlCol="0">
            <a:spAutoFit/>
          </a:bodyPr>
          <a:lstStyle/>
          <a:p>
            <a:pPr marL="7701" marR="3081">
              <a:lnSpc>
                <a:spcPct val="103099"/>
              </a:lnSpc>
              <a:spcBef>
                <a:spcPts val="24"/>
              </a:spcBef>
            </a:pPr>
            <a:r>
              <a:rPr sz="1577" dirty="0">
                <a:latin typeface="Cambria"/>
                <a:cs typeface="Cambria"/>
              </a:rPr>
              <a:t>More recent models: PaLM (540B), OPT (175B), BLOOM (176B)…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19879" y="5891658"/>
            <a:ext cx="3929584" cy="399112"/>
          </a:xfrm>
          <a:prstGeom prst="rect">
            <a:avLst/>
          </a:prstGeom>
        </p:spPr>
        <p:txBody>
          <a:bodyPr vert="horz" wrap="square" lIns="0" tIns="2695" rIns="0" bIns="0" rtlCol="0">
            <a:spAutoFit/>
          </a:bodyPr>
          <a:lstStyle/>
          <a:p>
            <a:pPr marL="242975" marR="3081" indent="-235659">
              <a:lnSpc>
                <a:spcPct val="102299"/>
              </a:lnSpc>
              <a:spcBef>
                <a:spcPts val="21"/>
              </a:spcBef>
            </a:pPr>
            <a:r>
              <a:rPr sz="1304" dirty="0">
                <a:solidFill>
                  <a:srgbClr val="017100"/>
                </a:solidFill>
                <a:latin typeface="Arial MT"/>
                <a:cs typeface="Arial MT"/>
              </a:rPr>
              <a:t>Image</a:t>
            </a:r>
            <a:r>
              <a:rPr sz="1304" spc="-52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017100"/>
                </a:solidFill>
                <a:latin typeface="Arial MT"/>
                <a:cs typeface="Arial MT"/>
              </a:rPr>
              <a:t>source:</a:t>
            </a:r>
            <a:r>
              <a:rPr sz="1304" spc="-52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304" spc="-6" dirty="0">
                <a:solidFill>
                  <a:srgbClr val="017100"/>
                </a:solidFill>
                <a:latin typeface="Arial MT"/>
                <a:cs typeface="Arial MT"/>
              </a:rPr>
              <a:t>https://hellofuture.orange.com/en/the- </a:t>
            </a:r>
            <a:r>
              <a:rPr sz="1304" dirty="0">
                <a:solidFill>
                  <a:srgbClr val="017100"/>
                </a:solidFill>
                <a:latin typeface="Arial MT"/>
                <a:cs typeface="Arial MT"/>
              </a:rPr>
              <a:t>gpt-3-language-model-revolution-</a:t>
            </a:r>
            <a:r>
              <a:rPr sz="1304" spc="-18" dirty="0">
                <a:solidFill>
                  <a:srgbClr val="017100"/>
                </a:solidFill>
                <a:latin typeface="Arial MT"/>
                <a:cs typeface="Arial MT"/>
              </a:rPr>
              <a:t>or-</a:t>
            </a:r>
            <a:r>
              <a:rPr sz="1304" spc="-6" dirty="0">
                <a:solidFill>
                  <a:srgbClr val="017100"/>
                </a:solidFill>
                <a:latin typeface="Arial MT"/>
                <a:cs typeface="Arial MT"/>
              </a:rPr>
              <a:t>evolution/</a:t>
            </a:r>
            <a:endParaRPr sz="130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A3A5F6-F88D-CE93-C453-5F5E1B3C9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Today, we mostly talk about two camps of models:</a:t>
            </a:r>
          </a:p>
          <a:p>
            <a:pPr lvl="1"/>
            <a:r>
              <a:rPr lang="en-US" dirty="0"/>
              <a:t>Medium-sized models: BERT/</a:t>
            </a:r>
            <a:r>
              <a:rPr lang="en-US" dirty="0" err="1"/>
              <a:t>RoBERTa</a:t>
            </a:r>
            <a:r>
              <a:rPr lang="en-US" dirty="0"/>
              <a:t> models (100M or 300M), T5 models 	(220M, 770M, 3B), LLAMA/Phi/</a:t>
            </a:r>
            <a:r>
              <a:rPr lang="en-US" dirty="0" err="1"/>
              <a:t>Misteral</a:t>
            </a:r>
            <a:r>
              <a:rPr lang="en-US" dirty="0"/>
              <a:t> models (7B-100B)</a:t>
            </a:r>
          </a:p>
          <a:p>
            <a:pPr lvl="1"/>
            <a:r>
              <a:rPr lang="en-US" dirty="0"/>
              <a:t>“Very” large LMs: models of 100+ billion parameters</a:t>
            </a:r>
          </a:p>
          <a:p>
            <a:r>
              <a:rPr lang="en-US" dirty="0"/>
              <a:t>Larger model sizes ⇒ larger compute, more expensive during </a:t>
            </a:r>
            <a:r>
              <a:rPr lang="en-US" b="1" dirty="0"/>
              <a:t>inference</a:t>
            </a:r>
          </a:p>
          <a:p>
            <a:r>
              <a:rPr lang="en-US" dirty="0"/>
              <a:t>Different sizes of LMs have different ways to </a:t>
            </a:r>
            <a:r>
              <a:rPr lang="en-US" b="1" dirty="0"/>
              <a:t>adapt </a:t>
            </a:r>
            <a:r>
              <a:rPr lang="en-US" dirty="0"/>
              <a:t>and </a:t>
            </a:r>
            <a:r>
              <a:rPr lang="en-US" b="1" dirty="0"/>
              <a:t>use </a:t>
            </a:r>
            <a:r>
              <a:rPr lang="en-US" dirty="0"/>
              <a:t>them</a:t>
            </a:r>
          </a:p>
          <a:p>
            <a:pPr lvl="1"/>
            <a:r>
              <a:rPr lang="en-US" dirty="0"/>
              <a:t>Fine-tuning, zero-shot/few-shot prompting, in-context learning, …</a:t>
            </a:r>
          </a:p>
          <a:p>
            <a:r>
              <a:rPr lang="en-US" b="1" dirty="0"/>
              <a:t>Emergent</a:t>
            </a:r>
            <a:r>
              <a:rPr lang="en-US" dirty="0"/>
              <a:t> properties arise from model scale</a:t>
            </a:r>
          </a:p>
          <a:p>
            <a:r>
              <a:rPr lang="en-US" dirty="0"/>
              <a:t>Trade-off between model size and corpus size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4045"/>
            <a:ext cx="11658601" cy="623329"/>
          </a:xfrm>
        </p:spPr>
        <p:txBody>
          <a:bodyPr vert="horz" wrap="square" lIns="0" tIns="77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How large are “large” LMs?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fld id="{81D60167-4931-47E6-BA6A-407CBD079E4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5284826" y="5989803"/>
            <a:ext cx="6257684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Q:</a:t>
            </a:r>
            <a:r>
              <a:rPr sz="1728" spc="4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Do</a:t>
            </a:r>
            <a:r>
              <a:rPr sz="1728" spc="58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largest</a:t>
            </a:r>
            <a:r>
              <a:rPr sz="1728" spc="55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models</a:t>
            </a:r>
            <a:r>
              <a:rPr sz="1728" spc="58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always</a:t>
            </a:r>
            <a:r>
              <a:rPr sz="1728" spc="55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give</a:t>
            </a:r>
            <a:r>
              <a:rPr sz="1728" spc="55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the</a:t>
            </a:r>
            <a:r>
              <a:rPr sz="1728" spc="58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spc="30" dirty="0">
                <a:solidFill>
                  <a:srgbClr val="017100"/>
                </a:solidFill>
                <a:latin typeface="Arial MT"/>
                <a:cs typeface="Arial MT"/>
              </a:rPr>
              <a:t>best</a:t>
            </a:r>
            <a:r>
              <a:rPr sz="1728" spc="55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dirty="0">
                <a:solidFill>
                  <a:srgbClr val="017100"/>
                </a:solidFill>
                <a:latin typeface="Arial MT"/>
                <a:cs typeface="Arial MT"/>
              </a:rPr>
              <a:t>performance</a:t>
            </a:r>
            <a:r>
              <a:rPr sz="1728" spc="58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1728" spc="-6" dirty="0">
                <a:solidFill>
                  <a:srgbClr val="017100"/>
                </a:solidFill>
                <a:latin typeface="Arial MT"/>
                <a:cs typeface="Arial MT"/>
              </a:rPr>
              <a:t>today?</a:t>
            </a:r>
            <a:endParaRPr sz="1728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C49ED7-F4B0-FDE0-468B-9EFE8B0D5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0"/>
            <a:ext cx="5829300" cy="5410199"/>
          </a:xfrm>
        </p:spPr>
        <p:txBody>
          <a:bodyPr/>
          <a:lstStyle/>
          <a:p>
            <a:r>
              <a:rPr lang="en-US" sz="2400" dirty="0"/>
              <a:t>Pre-training: trained on huge amounts of unlabeled text using “self-supervised” training objectives</a:t>
            </a:r>
          </a:p>
          <a:p>
            <a:endParaRPr lang="en-US" sz="2400" dirty="0"/>
          </a:p>
          <a:p>
            <a:r>
              <a:rPr lang="en-US" sz="2400" dirty="0"/>
              <a:t>Adaptation: how to use a pre-trained model for your downstream task?</a:t>
            </a:r>
          </a:p>
          <a:p>
            <a:pPr lvl="1"/>
            <a:r>
              <a:rPr lang="en-US" sz="2000" dirty="0"/>
              <a:t>What types of NLP tasks (input and output formats)?</a:t>
            </a:r>
          </a:p>
          <a:p>
            <a:pPr lvl="1"/>
            <a:r>
              <a:rPr lang="en-US" sz="2000" dirty="0"/>
              <a:t>How many annotated examples do you have?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29558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Pre-training and adaptation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05273" y="6423348"/>
            <a:ext cx="170969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15" dirty="0">
                <a:latin typeface="Arial MT"/>
                <a:cs typeface="Arial MT"/>
              </a:rPr>
              <a:t>20</a:t>
            </a:r>
            <a:endParaRPr sz="1092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4418" y="1464408"/>
            <a:ext cx="5841722" cy="23429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77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Why LLMs?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fld id="{81D60167-4931-47E6-BA6A-407CBD079E4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1854776" y="5198252"/>
            <a:ext cx="2559909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dirty="0">
                <a:solidFill>
                  <a:srgbClr val="017100"/>
                </a:solidFill>
                <a:latin typeface="Cambria"/>
                <a:cs typeface="Cambria"/>
              </a:rPr>
              <a:t>Image</a:t>
            </a:r>
            <a:r>
              <a:rPr sz="1698" spc="143" dirty="0">
                <a:solidFill>
                  <a:srgbClr val="017100"/>
                </a:solidFill>
                <a:latin typeface="Cambria"/>
                <a:cs typeface="Cambria"/>
              </a:rPr>
              <a:t> </a:t>
            </a:r>
            <a:r>
              <a:rPr sz="1698" dirty="0">
                <a:solidFill>
                  <a:srgbClr val="017100"/>
                </a:solidFill>
                <a:latin typeface="Cambria"/>
                <a:cs typeface="Cambria"/>
              </a:rPr>
              <a:t>credit:</a:t>
            </a:r>
            <a:r>
              <a:rPr sz="1698" spc="143" dirty="0">
                <a:solidFill>
                  <a:srgbClr val="017100"/>
                </a:solidFill>
                <a:latin typeface="Cambria"/>
                <a:cs typeface="Cambria"/>
              </a:rPr>
              <a:t> </a:t>
            </a:r>
            <a:r>
              <a:rPr sz="1698" spc="79" dirty="0">
                <a:solidFill>
                  <a:srgbClr val="017100"/>
                </a:solidFill>
                <a:latin typeface="Cambria"/>
                <a:cs typeface="Cambria"/>
              </a:rPr>
              <a:t>Jay</a:t>
            </a:r>
            <a:r>
              <a:rPr sz="1698" spc="143" dirty="0">
                <a:solidFill>
                  <a:srgbClr val="017100"/>
                </a:solidFill>
                <a:latin typeface="Cambria"/>
                <a:cs typeface="Cambria"/>
              </a:rPr>
              <a:t> </a:t>
            </a:r>
            <a:r>
              <a:rPr sz="1698" spc="-6" dirty="0">
                <a:solidFill>
                  <a:srgbClr val="017100"/>
                </a:solidFill>
                <a:latin typeface="Cambria"/>
                <a:cs typeface="Cambria"/>
              </a:rPr>
              <a:t>Alammar</a:t>
            </a:r>
            <a:endParaRPr sz="1698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208" y="2592446"/>
            <a:ext cx="5212984" cy="22858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954" y="1653196"/>
            <a:ext cx="3982723" cy="609153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/>
          <a:p>
            <a:pPr marL="271470" marR="3081" indent="-264153">
              <a:lnSpc>
                <a:spcPct val="102000"/>
              </a:lnSpc>
              <a:spcBef>
                <a:spcPts val="9"/>
              </a:spcBef>
              <a:buSzPct val="143939"/>
              <a:buChar char="•"/>
              <a:tabLst>
                <a:tab pos="271470" algn="l"/>
              </a:tabLst>
            </a:pPr>
            <a:r>
              <a:rPr sz="2001" dirty="0">
                <a:latin typeface="Cambria"/>
                <a:cs typeface="Cambria"/>
              </a:rPr>
              <a:t>The</a:t>
            </a:r>
            <a:r>
              <a:rPr sz="2001" spc="133" dirty="0">
                <a:latin typeface="Cambria"/>
                <a:cs typeface="Cambria"/>
              </a:rPr>
              <a:t> </a:t>
            </a:r>
            <a:r>
              <a:rPr sz="2001" dirty="0">
                <a:latin typeface="Cambria"/>
                <a:cs typeface="Cambria"/>
              </a:rPr>
              <a:t>promise:</a:t>
            </a:r>
            <a:r>
              <a:rPr sz="2001" spc="136" dirty="0">
                <a:latin typeface="Cambria"/>
                <a:cs typeface="Cambria"/>
              </a:rPr>
              <a:t> </a:t>
            </a:r>
            <a:r>
              <a:rPr sz="2001" dirty="0">
                <a:latin typeface="Cambria"/>
                <a:cs typeface="Cambria"/>
              </a:rPr>
              <a:t>one</a:t>
            </a:r>
            <a:r>
              <a:rPr sz="2001" spc="133" dirty="0">
                <a:latin typeface="Cambria"/>
                <a:cs typeface="Cambria"/>
              </a:rPr>
              <a:t> </a:t>
            </a:r>
            <a:r>
              <a:rPr sz="2001" dirty="0">
                <a:latin typeface="Cambria"/>
                <a:cs typeface="Cambria"/>
              </a:rPr>
              <a:t>single</a:t>
            </a:r>
            <a:r>
              <a:rPr sz="2001" spc="136" dirty="0">
                <a:latin typeface="Cambria"/>
                <a:cs typeface="Cambria"/>
              </a:rPr>
              <a:t> </a:t>
            </a:r>
            <a:r>
              <a:rPr sz="2001" dirty="0">
                <a:latin typeface="Cambria"/>
                <a:cs typeface="Cambria"/>
              </a:rPr>
              <a:t>model</a:t>
            </a:r>
            <a:r>
              <a:rPr sz="2001" spc="136" dirty="0">
                <a:latin typeface="Cambria"/>
                <a:cs typeface="Cambria"/>
              </a:rPr>
              <a:t> </a:t>
            </a:r>
            <a:r>
              <a:rPr sz="2001" spc="-15" dirty="0">
                <a:latin typeface="Cambria"/>
                <a:cs typeface="Cambria"/>
              </a:rPr>
              <a:t>to </a:t>
            </a:r>
            <a:r>
              <a:rPr sz="2001" dirty="0">
                <a:latin typeface="Cambria"/>
                <a:cs typeface="Cambria"/>
              </a:rPr>
              <a:t>solve</a:t>
            </a:r>
            <a:r>
              <a:rPr sz="2001" spc="97" dirty="0">
                <a:latin typeface="Cambria"/>
                <a:cs typeface="Cambria"/>
              </a:rPr>
              <a:t> </a:t>
            </a:r>
            <a:r>
              <a:rPr sz="2001" dirty="0">
                <a:latin typeface="Cambria"/>
                <a:cs typeface="Cambria"/>
              </a:rPr>
              <a:t>many</a:t>
            </a:r>
            <a:r>
              <a:rPr sz="2001" spc="100" dirty="0">
                <a:latin typeface="Cambria"/>
                <a:cs typeface="Cambria"/>
              </a:rPr>
              <a:t> </a:t>
            </a:r>
            <a:r>
              <a:rPr sz="2001" dirty="0">
                <a:latin typeface="Cambria"/>
                <a:cs typeface="Cambria"/>
              </a:rPr>
              <a:t>NLP</a:t>
            </a:r>
            <a:r>
              <a:rPr sz="2001" spc="97" dirty="0">
                <a:latin typeface="Cambria"/>
                <a:cs typeface="Cambria"/>
              </a:rPr>
              <a:t> </a:t>
            </a:r>
            <a:r>
              <a:rPr sz="2001" spc="-6" dirty="0">
                <a:latin typeface="Cambria"/>
                <a:cs typeface="Cambria"/>
              </a:rPr>
              <a:t>tasks</a:t>
            </a:r>
            <a:endParaRPr sz="2001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3782" y="2468898"/>
            <a:ext cx="4415444" cy="2569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56791" y="5336756"/>
            <a:ext cx="1673491" cy="26906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698" dirty="0">
                <a:solidFill>
                  <a:srgbClr val="017100"/>
                </a:solidFill>
                <a:latin typeface="Cambria"/>
                <a:cs typeface="Cambria"/>
              </a:rPr>
              <a:t>(Wei</a:t>
            </a:r>
            <a:r>
              <a:rPr sz="1698" spc="76" dirty="0">
                <a:solidFill>
                  <a:srgbClr val="017100"/>
                </a:solidFill>
                <a:latin typeface="Cambria"/>
                <a:cs typeface="Cambria"/>
              </a:rPr>
              <a:t> </a:t>
            </a:r>
            <a:r>
              <a:rPr sz="1698" dirty="0">
                <a:solidFill>
                  <a:srgbClr val="017100"/>
                </a:solidFill>
                <a:latin typeface="Cambria"/>
                <a:cs typeface="Cambria"/>
              </a:rPr>
              <a:t>et</a:t>
            </a:r>
            <a:r>
              <a:rPr sz="1698" spc="76" dirty="0">
                <a:solidFill>
                  <a:srgbClr val="017100"/>
                </a:solidFill>
                <a:latin typeface="Cambria"/>
                <a:cs typeface="Cambria"/>
              </a:rPr>
              <a:t> </a:t>
            </a:r>
            <a:r>
              <a:rPr sz="1698" spc="69" dirty="0">
                <a:solidFill>
                  <a:srgbClr val="017100"/>
                </a:solidFill>
                <a:latin typeface="Cambria"/>
                <a:cs typeface="Cambria"/>
              </a:rPr>
              <a:t>al.,</a:t>
            </a:r>
            <a:r>
              <a:rPr sz="1698" spc="76" dirty="0">
                <a:solidFill>
                  <a:srgbClr val="017100"/>
                </a:solidFill>
                <a:latin typeface="Cambria"/>
                <a:cs typeface="Cambria"/>
              </a:rPr>
              <a:t> </a:t>
            </a:r>
            <a:r>
              <a:rPr sz="1698" spc="-6" dirty="0">
                <a:solidFill>
                  <a:srgbClr val="017100"/>
                </a:solidFill>
                <a:latin typeface="Cambria"/>
                <a:cs typeface="Cambria"/>
              </a:rPr>
              <a:t>2022)</a:t>
            </a:r>
            <a:endParaRPr sz="1698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9208" y="1708135"/>
            <a:ext cx="3478673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71855" indent="-264153">
              <a:spcBef>
                <a:spcPts val="58"/>
              </a:spcBef>
              <a:buSzPct val="143939"/>
              <a:buChar char="•"/>
              <a:tabLst>
                <a:tab pos="271855" algn="l"/>
              </a:tabLst>
            </a:pPr>
            <a:r>
              <a:rPr sz="2001" dirty="0">
                <a:latin typeface="Cambria"/>
                <a:cs typeface="Cambria"/>
              </a:rPr>
              <a:t>Emergent</a:t>
            </a:r>
            <a:r>
              <a:rPr sz="2001" spc="58" dirty="0">
                <a:latin typeface="Cambria"/>
                <a:cs typeface="Cambria"/>
              </a:rPr>
              <a:t> </a:t>
            </a:r>
            <a:r>
              <a:rPr sz="2001" spc="-6" dirty="0">
                <a:latin typeface="Cambria"/>
                <a:cs typeface="Cambria"/>
              </a:rPr>
              <a:t>properties</a:t>
            </a:r>
            <a:r>
              <a:rPr sz="2001" spc="61" dirty="0">
                <a:latin typeface="Cambria"/>
                <a:cs typeface="Cambria"/>
              </a:rPr>
              <a:t> </a:t>
            </a:r>
            <a:r>
              <a:rPr sz="2001" dirty="0">
                <a:latin typeface="Cambria"/>
                <a:cs typeface="Cambria"/>
              </a:rPr>
              <a:t>in</a:t>
            </a:r>
            <a:r>
              <a:rPr sz="2001" spc="58" dirty="0">
                <a:latin typeface="Cambria"/>
                <a:cs typeface="Cambria"/>
              </a:rPr>
              <a:t> </a:t>
            </a:r>
            <a:r>
              <a:rPr sz="2001" spc="-12" dirty="0">
                <a:latin typeface="Cambria"/>
                <a:cs typeface="Cambria"/>
              </a:rPr>
              <a:t>LLMs</a:t>
            </a:r>
            <a:endParaRPr sz="2001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1850" y="2874637"/>
            <a:ext cx="10515600" cy="522938"/>
          </a:xfrm>
          <a:prstGeom prst="rect">
            <a:avLst/>
          </a:prstGeom>
        </p:spPr>
        <p:txBody>
          <a:bodyPr vert="horz" wrap="square" lIns="0" tIns="962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701">
              <a:spcBef>
                <a:spcPts val="76"/>
              </a:spcBef>
            </a:pPr>
            <a:r>
              <a:rPr sz="3335" dirty="0"/>
              <a:t>What are we going to cover in the class?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266E3-5A72-4E09-9B86-A47809864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51" rIns="0" bIns="0" rtlCol="0" anchor="ctr">
            <a:spAutoFit/>
          </a:bodyPr>
          <a:lstStyle/>
          <a:p>
            <a:pPr marL="23104">
              <a:spcBef>
                <a:spcPts val="30"/>
              </a:spcBef>
            </a:pPr>
            <a:fld id="{81D60167-4931-47E6-BA6A-407CBD079E47}" type="slidenum">
              <a:rPr spc="-15" dirty="0"/>
              <a:pPr marL="23104">
                <a:spcBef>
                  <a:spcPts val="30"/>
                </a:spcBef>
              </a:pPr>
              <a:t>15</a:t>
            </a:fld>
            <a:endParaRPr spc="-1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84AF2-E9D3-DF43-9B8A-E064705B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1059741"/>
            <a:ext cx="4853940" cy="54546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LLM Basics</a:t>
            </a:r>
          </a:p>
          <a:p>
            <a:pPr lvl="1"/>
            <a:r>
              <a:rPr lang="en-US" dirty="0"/>
              <a:t>Reviewing basic NLP and neural network concepts</a:t>
            </a:r>
          </a:p>
          <a:p>
            <a:pPr lvl="1"/>
            <a:r>
              <a:rPr lang="en-US" dirty="0"/>
              <a:t>BERT/</a:t>
            </a:r>
            <a:r>
              <a:rPr lang="en-US" dirty="0" err="1"/>
              <a:t>RoBERTa</a:t>
            </a:r>
            <a:r>
              <a:rPr lang="en-US" dirty="0"/>
              <a:t> (encoder-only models)</a:t>
            </a:r>
          </a:p>
          <a:p>
            <a:pPr lvl="1"/>
            <a:r>
              <a:rPr lang="en-US" dirty="0"/>
              <a:t>T5/BART (encoder-decoder models)</a:t>
            </a:r>
          </a:p>
          <a:p>
            <a:pPr lvl="1"/>
            <a:r>
              <a:rPr lang="en-US" dirty="0"/>
              <a:t>GPT3 (decoder-only models)</a:t>
            </a:r>
          </a:p>
          <a:p>
            <a:r>
              <a:rPr lang="en-US" dirty="0"/>
              <a:t>Use and adapt</a:t>
            </a:r>
          </a:p>
          <a:p>
            <a:pPr lvl="1"/>
            <a:r>
              <a:rPr lang="en-US" dirty="0"/>
              <a:t>Prompt-based learning</a:t>
            </a:r>
          </a:p>
          <a:p>
            <a:pPr lvl="1"/>
            <a:r>
              <a:rPr lang="en-US" dirty="0"/>
              <a:t>Parameter-efficient finetuning</a:t>
            </a:r>
          </a:p>
          <a:p>
            <a:pPr lvl="1"/>
            <a:r>
              <a:rPr lang="en-US" dirty="0"/>
              <a:t>In-context learning</a:t>
            </a:r>
          </a:p>
          <a:p>
            <a:pPr lvl="1"/>
            <a:r>
              <a:rPr lang="en-US" dirty="0"/>
              <a:t>Reasoning (chain-of-thought, etc.)</a:t>
            </a:r>
          </a:p>
          <a:p>
            <a:pPr lvl="1"/>
            <a:r>
              <a:rPr lang="en-US" dirty="0"/>
              <a:t>Knowledge </a:t>
            </a:r>
          </a:p>
          <a:p>
            <a:pPr lvl="1"/>
            <a:r>
              <a:rPr lang="en-US" dirty="0"/>
              <a:t>Retrieval-augmented LMs</a:t>
            </a:r>
          </a:p>
          <a:p>
            <a:pPr lvl="1"/>
            <a:r>
              <a:rPr lang="en-US" dirty="0"/>
              <a:t>Multi-</a:t>
            </a:r>
            <a:r>
              <a:rPr lang="en-US" dirty="0" err="1"/>
              <a:t>linguality</a:t>
            </a:r>
            <a:endParaRPr lang="en-US" dirty="0"/>
          </a:p>
          <a:p>
            <a:r>
              <a:rPr lang="en-US" dirty="0"/>
              <a:t>Anatomy of LLMs</a:t>
            </a:r>
          </a:p>
          <a:p>
            <a:pPr lvl="1"/>
            <a:r>
              <a:rPr lang="en-US" dirty="0"/>
              <a:t>Data (scaling, types, preprocessing)</a:t>
            </a:r>
          </a:p>
          <a:p>
            <a:pPr lvl="1"/>
            <a:r>
              <a:rPr lang="en-US" dirty="0"/>
              <a:t>Scaling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1B51B-D183-6248-B6B1-0103F48E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course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BD4D7-4140-473B-9636-41E44696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35BF92-FC82-F749-562F-22563224E627}"/>
              </a:ext>
            </a:extLst>
          </p:cNvPr>
          <p:cNvSpPr txBox="1">
            <a:spLocks/>
          </p:cNvSpPr>
          <p:nvPr/>
        </p:nvSpPr>
        <p:spPr bwMode="auto">
          <a:xfrm>
            <a:off x="6095999" y="1012116"/>
            <a:ext cx="4853940" cy="5454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Training, alignment, and optimization</a:t>
            </a:r>
          </a:p>
          <a:p>
            <a:pPr lvl="1"/>
            <a:r>
              <a:rPr lang="en-US" dirty="0"/>
              <a:t>Instruction tuning</a:t>
            </a:r>
          </a:p>
          <a:p>
            <a:pPr lvl="1"/>
            <a:r>
              <a:rPr lang="en-US" dirty="0"/>
              <a:t>Training LMs with human/LMs feedback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Evaluation</a:t>
            </a:r>
          </a:p>
          <a:p>
            <a:r>
              <a:rPr lang="en-US" dirty="0"/>
              <a:t>Risks</a:t>
            </a:r>
          </a:p>
          <a:p>
            <a:pPr lvl="1"/>
            <a:r>
              <a:rPr lang="en-US" dirty="0"/>
              <a:t>Privacy</a:t>
            </a:r>
          </a:p>
          <a:p>
            <a:pPr lvl="1"/>
            <a:r>
              <a:rPr lang="en-US" dirty="0"/>
              <a:t>Ethics: Bias &amp; Toxicity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New trends: Multimodal LMs and Sparse models </a:t>
            </a:r>
          </a:p>
        </p:txBody>
      </p:sp>
    </p:spTree>
    <p:extLst>
      <p:ext uri="{BB962C8B-B14F-4D97-AF65-F5344CB8AC3E}">
        <p14:creationId xmlns:p14="http://schemas.microsoft.com/office/powerpoint/2010/main" val="145946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000E2A-2BAF-4C42-9594-F23503CF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Recent Large Language Models (</a:t>
            </a:r>
            <a:r>
              <a:rPr lang="en-US" sz="3800" b="1" dirty="0">
                <a:latin typeface="Symbol" panose="05050102010706020507" pitchFamily="18" charset="2"/>
              </a:rPr>
              <a:t>&gt;</a:t>
            </a:r>
            <a:r>
              <a:rPr lang="en-US" sz="3800" dirty="0"/>
              <a:t>10B Parameters)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448C8-57DC-427B-8275-8704407D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34D66-CE44-47D7-987D-F3B352FCA21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518400" y="6492875"/>
            <a:ext cx="467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400" b="1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n-US"/>
              <a:t>Distributed Machine Learning Systems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D0780-B3A5-4BB9-B8CD-4941A0AF7F12}"/>
              </a:ext>
            </a:extLst>
          </p:cNvPr>
          <p:cNvSpPr txBox="1"/>
          <p:nvPr/>
        </p:nvSpPr>
        <p:spPr>
          <a:xfrm>
            <a:off x="0" y="6248400"/>
            <a:ext cx="113727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Wayne Xin Zhao et al. "A survey of large language models." </a:t>
            </a:r>
            <a:r>
              <a:rPr lang="en-US" sz="1100" i="1" dirty="0" err="1"/>
              <a:t>arXiv</a:t>
            </a:r>
            <a:r>
              <a:rPr lang="en-US" sz="1100" i="1" dirty="0"/>
              <a:t> preprint arXiv:2303.18223</a:t>
            </a:r>
            <a:r>
              <a:rPr lang="en-US" sz="1100" dirty="0"/>
              <a:t> (2023).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81CEC-D496-4463-AD88-8FA527F21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26"/>
          <a:stretch/>
        </p:blipFill>
        <p:spPr>
          <a:xfrm>
            <a:off x="395840" y="1047476"/>
            <a:ext cx="11400317" cy="522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3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F36183-731E-4B6C-8A72-1BA2FF158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" b="9630"/>
          <a:stretch/>
        </p:blipFill>
        <p:spPr>
          <a:xfrm>
            <a:off x="762001" y="1066799"/>
            <a:ext cx="11096658" cy="539802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894726-1F1C-4251-B073-2EE373FCC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Model Sizes (Up to February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06410-0D34-42E9-A388-62270E94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9D4BD-B45F-4E8A-BF2E-CF4E45AADCEA}"/>
              </a:ext>
            </a:extLst>
          </p:cNvPr>
          <p:cNvSpPr txBox="1"/>
          <p:nvPr/>
        </p:nvSpPr>
        <p:spPr>
          <a:xfrm>
            <a:off x="2047875" y="6502401"/>
            <a:ext cx="61546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Source:</a:t>
            </a:r>
            <a:r>
              <a:rPr lang="en-US" sz="1200" dirty="0"/>
              <a:t> </a:t>
            </a:r>
            <a:r>
              <a:rPr lang="en-US" sz="1200" dirty="0">
                <a:hlinkClick r:id="rId3"/>
              </a:rPr>
              <a:t>https://lifearchitect.ai/models/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4035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02282-4FEC-864E-B24D-FDAD7046D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https://chat.openai.com/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494B7-14A7-5943-BD24-9C9CEE2F4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8A44F-C061-4A21-8162-85409FAB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16A84B-B0C6-45F8-9764-CA4B306D9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1" y="1457325"/>
            <a:ext cx="6615113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5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0D8A40-F52E-00E6-F587-32737DD5D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https://gemini.google.com/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DD8787-2B8A-724C-B538-2C93CC43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CCCAE-FE5A-F043-E927-D337568E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CC1DB1-3237-460A-A760-4581E75AB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515" y="1438593"/>
            <a:ext cx="6708189" cy="460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4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9DEEFC-4C46-FC65-EDE6-72ABBC8D0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https://poe.com/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479EEE-D8FA-4423-48EE-42D9D49D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880" algn="l" rtl="1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Demos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57D0B-437E-100A-572F-154B92D0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16321-C5A7-56ED-47E9-666F58052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898" y="317718"/>
            <a:ext cx="6855951" cy="63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89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13927-D741-4B38-BE07-3FEF41ECB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Chief: Pedram Rostami</a:t>
            </a:r>
          </a:p>
          <a:p>
            <a:r>
              <a:rPr lang="en-US" dirty="0" err="1"/>
              <a:t>Sepehr</a:t>
            </a:r>
            <a:r>
              <a:rPr lang="en-US" dirty="0"/>
              <a:t> Kamahi</a:t>
            </a:r>
          </a:p>
          <a:p>
            <a:r>
              <a:rPr lang="en-US" dirty="0"/>
              <a:t>Danial </a:t>
            </a:r>
            <a:r>
              <a:rPr lang="en-US" dirty="0" err="1"/>
              <a:t>Namazifard</a:t>
            </a:r>
            <a:endParaRPr lang="en-US" dirty="0"/>
          </a:p>
          <a:p>
            <a:r>
              <a:rPr lang="en-US" dirty="0"/>
              <a:t>Mohammad Mahdi Mohajeri</a:t>
            </a:r>
          </a:p>
          <a:p>
            <a:r>
              <a:rPr lang="en-US" dirty="0"/>
              <a:t>Ali </a:t>
            </a:r>
            <a:r>
              <a:rPr lang="en-US" dirty="0" err="1"/>
              <a:t>Salemi</a:t>
            </a:r>
            <a:endParaRPr lang="en-US" dirty="0"/>
          </a:p>
          <a:p>
            <a:r>
              <a:rPr lang="en-US" dirty="0"/>
              <a:t>Mohammad </a:t>
            </a:r>
            <a:r>
              <a:rPr lang="en-US" dirty="0" err="1"/>
              <a:t>Azimi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78344-8FA8-274E-8814-0917AE26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Assistants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8715F-C9CB-492A-9661-C8F9A9CF4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69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4839-BE4B-FC4A-BEAA-8B13D526C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Comfort with </a:t>
            </a:r>
            <a:r>
              <a:rPr lang="en-US" b="1" dirty="0">
                <a:solidFill>
                  <a:srgbClr val="C00000"/>
                </a:solidFill>
              </a:rPr>
              <a:t>Python</a:t>
            </a:r>
            <a:r>
              <a:rPr lang="en-US" dirty="0"/>
              <a:t> programming and algorithmic thinking </a:t>
            </a:r>
          </a:p>
          <a:p>
            <a:r>
              <a:rPr lang="en-US" dirty="0"/>
              <a:t>Comfort with </a:t>
            </a:r>
            <a:r>
              <a:rPr lang="en-US" b="1" dirty="0">
                <a:solidFill>
                  <a:srgbClr val="C00000"/>
                </a:solidFill>
              </a:rPr>
              <a:t>machine learning,</a:t>
            </a:r>
            <a:r>
              <a:rPr lang="en-US" dirty="0"/>
              <a:t> especially supervised and </a:t>
            </a:r>
            <a:r>
              <a:rPr lang="en-US" b="1" dirty="0">
                <a:solidFill>
                  <a:srgbClr val="C00000"/>
                </a:solidFill>
              </a:rPr>
              <a:t>deep learning</a:t>
            </a:r>
          </a:p>
          <a:p>
            <a:r>
              <a:rPr lang="en-US" dirty="0"/>
              <a:t>Familiarity with basic </a:t>
            </a:r>
            <a:r>
              <a:rPr lang="en-US" b="1" dirty="0">
                <a:solidFill>
                  <a:srgbClr val="C00000"/>
                </a:solidFill>
              </a:rPr>
              <a:t>NLP</a:t>
            </a:r>
            <a:r>
              <a:rPr lang="en-US" dirty="0"/>
              <a:t> concepts and tasks, including understanding (text classification, textual entailment, question answering) and generation (translation, summarization) tasks</a:t>
            </a:r>
          </a:p>
          <a:p>
            <a:r>
              <a:rPr lang="en-US" dirty="0"/>
              <a:t>Familiarity with probability and mathematical notations</a:t>
            </a:r>
          </a:p>
          <a:p>
            <a:r>
              <a:rPr lang="en-US" b="1" dirty="0">
                <a:solidFill>
                  <a:srgbClr val="008000"/>
                </a:solidFill>
              </a:rPr>
              <a:t>Passion</a:t>
            </a:r>
            <a:r>
              <a:rPr lang="en-US" dirty="0"/>
              <a:t> to learn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5F098-BD2F-6342-9851-44E18159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2FB13-F0A3-4CD8-8819-876863CA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6201B-67CD-4B02-B769-D38C2D948B6F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</p:spTree>
    <p:extLst>
      <p:ext uri="{BB962C8B-B14F-4D97-AF65-F5344CB8AC3E}">
        <p14:creationId xmlns:p14="http://schemas.microsoft.com/office/powerpoint/2010/main" val="1465313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78C99-68AE-414A-8877-5B0F4D246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Midterm: 20%</a:t>
            </a:r>
          </a:p>
          <a:p>
            <a:r>
              <a:rPr lang="en-US" dirty="0"/>
              <a:t>Final: 30%</a:t>
            </a:r>
          </a:p>
          <a:p>
            <a:r>
              <a:rPr lang="en-US" dirty="0"/>
              <a:t>Computer assignments (CAs): 30%</a:t>
            </a:r>
          </a:p>
          <a:p>
            <a:r>
              <a:rPr lang="en-US" dirty="0"/>
              <a:t>Final project: 20%</a:t>
            </a:r>
          </a:p>
          <a:p>
            <a:r>
              <a:rPr lang="en-US" dirty="0"/>
              <a:t>Pop quizzes and class participation: Up to 10%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3068E-A9EC-534A-B8F0-859092C3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(subject to change)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62169-B835-406E-AC08-1C22EA07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73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603F8-E949-9546-AD49-7B10C3CEE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a topic </a:t>
            </a:r>
          </a:p>
          <a:p>
            <a:r>
              <a:rPr lang="en-US" dirty="0"/>
              <a:t>Project proposal</a:t>
            </a:r>
          </a:p>
          <a:p>
            <a:r>
              <a:rPr lang="en-US" dirty="0"/>
              <a:t>Building teams</a:t>
            </a:r>
          </a:p>
          <a:p>
            <a:r>
              <a:rPr lang="en-US" dirty="0"/>
              <a:t>Progress report (initial phases of a paper)</a:t>
            </a:r>
          </a:p>
          <a:p>
            <a:r>
              <a:rPr lang="en-US" dirty="0"/>
              <a:t>Final report / paper </a:t>
            </a:r>
            <a:r>
              <a:rPr lang="en-US"/>
              <a:t>/ presentation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E35B2-798E-5D4F-867E-1A025F85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C4573-51A4-49EB-83E1-01A98E0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08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0887C-FC5B-8946-88EB-5CC43B72C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A new model or scenario of using FMs in a task.</a:t>
            </a:r>
          </a:p>
          <a:p>
            <a:pPr lvl="1"/>
            <a:r>
              <a:rPr lang="en-US" dirty="0"/>
              <a:t>The task could be in different fields, e.g., IR, vision, psychology, sociology, and politics</a:t>
            </a:r>
          </a:p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Finding an unknown issue with FMs, or analyzing the output/representations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18E97-681E-7649-8F7A-E24A6356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types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75560-9CE5-4D4E-9BDF-DB9E28FD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79AD57-22A6-4289-8C17-53D464CA88F2}"/>
              </a:ext>
            </a:extLst>
          </p:cNvPr>
          <p:cNvSpPr/>
          <p:nvPr/>
        </p:nvSpPr>
        <p:spPr>
          <a:xfrm>
            <a:off x="1815401" y="3868615"/>
            <a:ext cx="8561195" cy="1093909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project can be part of a project which you’ve already been involved in or an initiation for your dissertation.</a:t>
            </a:r>
          </a:p>
        </p:txBody>
      </p:sp>
    </p:spTree>
    <p:extLst>
      <p:ext uri="{BB962C8B-B14F-4D97-AF65-F5344CB8AC3E}">
        <p14:creationId xmlns:p14="http://schemas.microsoft.com/office/powerpoint/2010/main" val="33754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FF1A33-07C9-1A4D-878A-2AEBF122F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 dates:</a:t>
            </a:r>
          </a:p>
          <a:p>
            <a:pPr lvl="1"/>
            <a:r>
              <a:rPr lang="en-US" dirty="0"/>
              <a:t>Midterm exam (tentative): </a:t>
            </a:r>
            <a:r>
              <a:rPr lang="en-US" b="1" dirty="0">
                <a:solidFill>
                  <a:srgbClr val="C00000"/>
                </a:solidFill>
              </a:rPr>
              <a:t>1403/2/1 (</a:t>
            </a:r>
            <a:r>
              <a:rPr lang="fa-IR" b="1" dirty="0">
                <a:solidFill>
                  <a:srgbClr val="C00000"/>
                </a:solidFill>
                <a:cs typeface="B Nazanin" pitchFamily="2" charset="-78"/>
              </a:rPr>
              <a:t>1 اردیبهشت 1403</a:t>
            </a:r>
            <a:r>
              <a:rPr lang="en-US" b="1" dirty="0">
                <a:solidFill>
                  <a:srgbClr val="C00000"/>
                </a:solidFill>
              </a:rPr>
              <a:t>); 16:00pm – 17:30pm</a:t>
            </a:r>
          </a:p>
          <a:p>
            <a:pPr lvl="1"/>
            <a:r>
              <a:rPr lang="en-US" dirty="0"/>
              <a:t>Final </a:t>
            </a:r>
            <a:r>
              <a:rPr lang="en-US"/>
              <a:t>exam: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E78695-6B04-2F41-81C3-DEC67D966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55C81-7C77-054E-9B56-A142E827B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6C59E-B3FC-FC4F-BEB4-04A86A11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92876"/>
            <a:ext cx="467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400" b="1" kern="1200" baseline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n-US"/>
              <a:t>Introduction to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35388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0" ma:contentTypeDescription="Create a new document." ma:contentTypeScope="" ma:versionID="b27183838e12062190d103799b481d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F7B769-56D1-4FEA-88FF-F06C84A37FA0}"/>
</file>

<file path=customXml/itemProps2.xml><?xml version="1.0" encoding="utf-8"?>
<ds:datastoreItem xmlns:ds="http://schemas.openxmlformats.org/officeDocument/2006/customXml" ds:itemID="{6B73D8A2-863F-451D-B710-C1983D6E6AA2}"/>
</file>

<file path=customXml/itemProps3.xml><?xml version="1.0" encoding="utf-8"?>
<ds:datastoreItem xmlns:ds="http://schemas.openxmlformats.org/officeDocument/2006/customXml" ds:itemID="{794BC99B-9085-45AA-8A2E-8C006F8EC7F0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10692</TotalTime>
  <Words>1003</Words>
  <Application>Microsoft Office PowerPoint</Application>
  <PresentationFormat>Widescreen</PresentationFormat>
  <Paragraphs>170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 MT</vt:lpstr>
      <vt:lpstr>B Nazanin</vt:lpstr>
      <vt:lpstr>Calibri</vt:lpstr>
      <vt:lpstr>Cambria</vt:lpstr>
      <vt:lpstr>Courier New</vt:lpstr>
      <vt:lpstr>Symbol</vt:lpstr>
      <vt:lpstr>Times New Roman</vt:lpstr>
      <vt:lpstr>Wingdings</vt:lpstr>
      <vt:lpstr>Main</vt:lpstr>
      <vt:lpstr>Large Language Models</vt:lpstr>
      <vt:lpstr>Instructor Info</vt:lpstr>
      <vt:lpstr>My introduction (Yadollah Yaghoobzadeh)</vt:lpstr>
      <vt:lpstr>My introduction (Mohammad Javad Dousti)</vt:lpstr>
      <vt:lpstr>Class Info</vt:lpstr>
      <vt:lpstr>PowerPoint Presentation</vt:lpstr>
      <vt:lpstr>What are large language models (LLMs)?</vt:lpstr>
      <vt:lpstr>Language models: narrow sense</vt:lpstr>
      <vt:lpstr>Language models: narrow sense</vt:lpstr>
      <vt:lpstr>Language models: broad sense</vt:lpstr>
      <vt:lpstr>How large are “large” LMs?</vt:lpstr>
      <vt:lpstr>How large are “large” LMs?</vt:lpstr>
      <vt:lpstr>Pre-training and adaptation</vt:lpstr>
      <vt:lpstr>Why LLMs?</vt:lpstr>
      <vt:lpstr>What are we going to cover in the class?</vt:lpstr>
      <vt:lpstr>Overview of the course</vt:lpstr>
      <vt:lpstr>Recent Large Language Models (&gt;10B Parameters)</vt:lpstr>
      <vt:lpstr>Language Model Sizes (Up to February 2024)</vt:lpstr>
      <vt:lpstr>Demos</vt:lpstr>
      <vt:lpstr>Demos</vt:lpstr>
      <vt:lpstr>Demos</vt:lpstr>
      <vt:lpstr>Teaching Assistants</vt:lpstr>
      <vt:lpstr>Prerequisites </vt:lpstr>
      <vt:lpstr>Grading (subject to change)</vt:lpstr>
      <vt:lpstr>Final project</vt:lpstr>
      <vt:lpstr>Project types</vt:lpstr>
      <vt:lpstr>Exams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148</cp:revision>
  <dcterms:created xsi:type="dcterms:W3CDTF">2021-09-22T08:38:12Z</dcterms:created>
  <dcterms:modified xsi:type="dcterms:W3CDTF">2024-02-17T09:28:17Z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