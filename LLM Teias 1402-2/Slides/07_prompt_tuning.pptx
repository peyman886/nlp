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367" r:id="rId2"/>
    <p:sldId id="290" r:id="rId3"/>
    <p:sldId id="361" r:id="rId4"/>
    <p:sldId id="362" r:id="rId5"/>
    <p:sldId id="259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8" r:id="rId21"/>
    <p:sldId id="280" r:id="rId22"/>
    <p:sldId id="363" r:id="rId23"/>
    <p:sldId id="364" r:id="rId24"/>
    <p:sldId id="366" r:id="rId25"/>
    <p:sldId id="365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29" autoAdjust="0"/>
    <p:restoredTop sz="81224" autoAdjust="0"/>
  </p:normalViewPr>
  <p:slideViewPr>
    <p:cSldViewPr snapToGrid="0">
      <p:cViewPr varScale="1">
        <p:scale>
          <a:sx n="83" d="100"/>
          <a:sy n="83" d="100"/>
        </p:scale>
        <p:origin x="3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3/13/2024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method freezes the model parameters and backpropagates the error during tuning to prefix activations prepended to each layer in the encoder stack, including the input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81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freeze the entire pre-trained model and only allow an additional k tunable tokens per downstream task to be prepended to the input text.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1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F112A74-5E89-CD94-C64B-AF2859AD2712}"/>
              </a:ext>
            </a:extLst>
          </p:cNvPr>
          <p:cNvCxnSpPr>
            <a:cxnSpLocks/>
          </p:cNvCxnSpPr>
          <p:nvPr userDrawn="1"/>
        </p:nvCxnSpPr>
        <p:spPr>
          <a:xfrm>
            <a:off x="266699" y="9779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36EECCF-BD82-E8B8-0DF9-088B572C23A4}"/>
              </a:ext>
            </a:extLst>
          </p:cNvPr>
          <p:cNvSpPr txBox="1"/>
          <p:nvPr userDrawn="1"/>
        </p:nvSpPr>
        <p:spPr>
          <a:xfrm>
            <a:off x="228600" y="6488668"/>
            <a:ext cx="167640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FMNLP 1402</a:t>
            </a:r>
          </a:p>
        </p:txBody>
      </p:sp>
    </p:spTree>
    <p:extLst>
      <p:ext uri="{BB962C8B-B14F-4D97-AF65-F5344CB8AC3E}">
        <p14:creationId xmlns:p14="http://schemas.microsoft.com/office/powerpoint/2010/main" val="3091493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94047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  <p:sldLayoutId id="2147483673" r:id="rId7"/>
    <p:sldLayoutId id="2147483674" r:id="rId8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4.08691.pdf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rxiv.org/pdf/2001.07676.pdf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rxiv.org/abs/2012.15723" TargetMode="Externa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2.09690.pdf" TargetMode="External"/><Relationship Id="rId2" Type="http://schemas.openxmlformats.org/officeDocument/2006/relationships/hyperlink" Target="https://arxiv.org/pdf/2103.10385.pdf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10385.pdf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pdf/2103.10385.pdf" TargetMode="External"/><Relationship Id="rId3" Type="http://schemas.openxmlformats.org/officeDocument/2006/relationships/hyperlink" Target="https://arxiv.org/pdf/2001.07676.pdf" TargetMode="External"/><Relationship Id="rId7" Type="http://schemas.openxmlformats.org/officeDocument/2006/relationships/hyperlink" Target="https://arxiv.org/pdf/2012.15723.pdf" TargetMode="External"/><Relationship Id="rId2" Type="http://schemas.openxmlformats.org/officeDocument/2006/relationships/hyperlink" Target="https://arxiv.org/pdf/2005.14165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pdf/2010.15980.pdf" TargetMode="External"/><Relationship Id="rId11" Type="http://schemas.openxmlformats.org/officeDocument/2006/relationships/hyperlink" Target="https://arxiv.org/pdf/2104.08691.pdf" TargetMode="External"/><Relationship Id="rId5" Type="http://schemas.openxmlformats.org/officeDocument/2006/relationships/hyperlink" Target="https://aclanthology.org/2023.acl-short.59.pdf" TargetMode="External"/><Relationship Id="rId10" Type="http://schemas.openxmlformats.org/officeDocument/2006/relationships/hyperlink" Target="https://arxiv.org/pdf/2104.06599.pdf" TargetMode="External"/><Relationship Id="rId4" Type="http://schemas.openxmlformats.org/officeDocument/2006/relationships/hyperlink" Target="https://arxiv.org/pdf/1911.12543.pdf" TargetMode="External"/><Relationship Id="rId9" Type="http://schemas.openxmlformats.org/officeDocument/2006/relationships/hyperlink" Target="https://arxiv.org/pdf/2101.00190.pdf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1.00190.pdf" TargetMode="External"/><Relationship Id="rId2" Type="http://schemas.openxmlformats.org/officeDocument/2006/relationships/hyperlink" Target="https://arxiv.org/pdf/2103.10385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104.06599.pdf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1.00190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5.png"/><Relationship Id="rId2" Type="http://schemas.openxmlformats.org/officeDocument/2006/relationships/hyperlink" Target="https://arxiv.org/pdf/2104.08691.pdf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>
                <a:latin typeface="Calibri"/>
                <a:cs typeface="Calibri"/>
              </a:rPr>
              <a:t>Prompt-Based Learning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39387-D27A-4717-A2A3-54677254CC7A}"/>
              </a:ext>
            </a:extLst>
          </p:cNvPr>
          <p:cNvSpPr txBox="1"/>
          <p:nvPr/>
        </p:nvSpPr>
        <p:spPr>
          <a:xfrm>
            <a:off x="0" y="6550223"/>
            <a:ext cx="5386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Slides are adopted from Advanced NLP course at UMass.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875AF-4830-3395-04A9-A8F37D6CFA98}"/>
              </a:ext>
            </a:extLst>
          </p:cNvPr>
          <p:cNvSpPr txBox="1"/>
          <p:nvPr/>
        </p:nvSpPr>
        <p:spPr>
          <a:xfrm>
            <a:off x="270164" y="6442501"/>
            <a:ext cx="60979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Most slides are from </a:t>
            </a:r>
            <a:r>
              <a:rPr lang="en-US" sz="1100" dirty="0" err="1"/>
              <a:t>Umass</a:t>
            </a:r>
            <a:r>
              <a:rPr lang="en-US" sz="1100" dirty="0"/>
              <a:t> </a:t>
            </a:r>
            <a:r>
              <a:rPr lang="en-US" sz="1100" dirty="0">
                <a:effectLst/>
                <a:latin typeface="HelveticaNeue" panose="02000503000000020004" pitchFamily="2" charset="0"/>
              </a:rPr>
              <a:t>CS685 Spring 2023 Advanced Natural Language Processing</a:t>
            </a:r>
            <a:endParaRPr lang="en-US" sz="1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3DAFC8-87D8-C070-1EA8-E11F059BE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Trend </a:t>
            </a:r>
            <a:r>
              <a:rPr lang="en-US"/>
              <a:t>(before 2022)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DE8CC4-EF06-FE32-F105-ED0D219AA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47AB76-16E2-B07A-0F6D-2262FADF6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5102"/>
            <a:ext cx="10274339" cy="4927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3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1507" y="1164985"/>
            <a:ext cx="5776615" cy="1336969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8929">
              <a:spcBef>
                <a:spcPts val="1125"/>
              </a:spcBef>
            </a:pP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ELMo: </a:t>
            </a:r>
            <a:r>
              <a:rPr sz="2109" spc="25" dirty="0">
                <a:solidFill>
                  <a:srgbClr val="017100"/>
                </a:solidFill>
                <a:latin typeface="Arial MT"/>
                <a:cs typeface="Arial MT"/>
              </a:rPr>
              <a:t>93M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params,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2-layer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biLSTM</a:t>
            </a:r>
            <a:endParaRPr sz="2109" dirty="0">
              <a:latin typeface="Arial MT"/>
              <a:cs typeface="Arial MT"/>
            </a:endParaRPr>
          </a:p>
          <a:p>
            <a:pPr marL="8929" marR="3572">
              <a:lnSpc>
                <a:spcPct val="141700"/>
              </a:lnSpc>
            </a:pPr>
            <a:r>
              <a:rPr sz="2109" spc="-46" dirty="0">
                <a:solidFill>
                  <a:srgbClr val="017100"/>
                </a:solidFill>
                <a:latin typeface="Arial MT"/>
                <a:cs typeface="Arial MT"/>
              </a:rPr>
              <a:t>BERT-base: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110M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 params, 12-layer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25" dirty="0">
                <a:solidFill>
                  <a:srgbClr val="017100"/>
                </a:solidFill>
                <a:latin typeface="Arial MT"/>
                <a:cs typeface="Arial MT"/>
              </a:rPr>
              <a:t>Transformer </a:t>
            </a:r>
            <a:r>
              <a:rPr sz="2109" spc="-576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49" dirty="0">
                <a:solidFill>
                  <a:srgbClr val="017100"/>
                </a:solidFill>
                <a:latin typeface="Arial MT"/>
                <a:cs typeface="Arial MT"/>
              </a:rPr>
              <a:t>BERT</a:t>
            </a:r>
            <a:r>
              <a:rPr lang="en-US" sz="2109" spc="-49" dirty="0">
                <a:solidFill>
                  <a:srgbClr val="017100"/>
                </a:solidFill>
                <a:latin typeface="Arial MT"/>
                <a:cs typeface="Arial MT"/>
              </a:rPr>
              <a:t>-</a:t>
            </a:r>
            <a:r>
              <a:rPr sz="2109" spc="-49" dirty="0">
                <a:solidFill>
                  <a:srgbClr val="017100"/>
                </a:solidFill>
                <a:latin typeface="Arial MT"/>
                <a:cs typeface="Arial MT"/>
              </a:rPr>
              <a:t>large: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340M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params,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24-layer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25" dirty="0">
                <a:solidFill>
                  <a:srgbClr val="017100"/>
                </a:solidFill>
                <a:latin typeface="Arial MT"/>
                <a:cs typeface="Arial MT"/>
              </a:rPr>
              <a:t>Transformer</a:t>
            </a:r>
            <a:endParaRPr sz="2109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language model “scaling wars”!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367" y="2882685"/>
            <a:ext cx="8902898" cy="23663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1507" y="1164985"/>
            <a:ext cx="5776615" cy="1336969"/>
          </a:xfrm>
          <a:prstGeom prst="rect">
            <a:avLst/>
          </a:prstGeom>
        </p:spPr>
        <p:txBody>
          <a:bodyPr vert="horz" wrap="square" lIns="0" tIns="142875" rIns="0" bIns="0" rtlCol="0">
            <a:spAutoFit/>
          </a:bodyPr>
          <a:lstStyle/>
          <a:p>
            <a:pPr marL="8929">
              <a:spcBef>
                <a:spcPts val="1125"/>
              </a:spcBef>
            </a:pP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ELMo: </a:t>
            </a:r>
            <a:r>
              <a:rPr sz="2109" spc="25" dirty="0">
                <a:solidFill>
                  <a:srgbClr val="017100"/>
                </a:solidFill>
                <a:latin typeface="Arial MT"/>
                <a:cs typeface="Arial MT"/>
              </a:rPr>
              <a:t>93M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params,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2-layer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biLSTM</a:t>
            </a:r>
            <a:endParaRPr sz="2109">
              <a:latin typeface="Arial MT"/>
              <a:cs typeface="Arial MT"/>
            </a:endParaRPr>
          </a:p>
          <a:p>
            <a:pPr marL="8929" marR="3572">
              <a:lnSpc>
                <a:spcPct val="141700"/>
              </a:lnSpc>
            </a:pPr>
            <a:r>
              <a:rPr sz="2109" spc="-46" dirty="0">
                <a:solidFill>
                  <a:srgbClr val="017100"/>
                </a:solidFill>
                <a:latin typeface="Arial MT"/>
                <a:cs typeface="Arial MT"/>
              </a:rPr>
              <a:t>BERT-base: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110M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 params, 12-layer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25" dirty="0">
                <a:solidFill>
                  <a:srgbClr val="017100"/>
                </a:solidFill>
                <a:latin typeface="Arial MT"/>
                <a:cs typeface="Arial MT"/>
              </a:rPr>
              <a:t>Transformer </a:t>
            </a:r>
            <a:r>
              <a:rPr sz="2109" spc="-576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49" dirty="0">
                <a:solidFill>
                  <a:srgbClr val="017100"/>
                </a:solidFill>
                <a:latin typeface="Arial MT"/>
                <a:cs typeface="Arial MT"/>
              </a:rPr>
              <a:t>BERT-large: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340M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params,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4" dirty="0">
                <a:solidFill>
                  <a:srgbClr val="017100"/>
                </a:solidFill>
                <a:latin typeface="Arial MT"/>
                <a:cs typeface="Arial MT"/>
              </a:rPr>
              <a:t>24-layer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25" dirty="0">
                <a:solidFill>
                  <a:srgbClr val="017100"/>
                </a:solidFill>
                <a:latin typeface="Arial MT"/>
                <a:cs typeface="Arial MT"/>
              </a:rPr>
              <a:t>Transformer</a:t>
            </a:r>
            <a:endParaRPr sz="2109">
              <a:latin typeface="Arial MT"/>
              <a:cs typeface="Arial MT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7A2696-32F2-7F18-BEF6-8E478E341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language model “scaling wars”!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04367" y="2882685"/>
            <a:ext cx="8902898" cy="2429768"/>
            <a:chOff x="114300" y="4099819"/>
            <a:chExt cx="12661900" cy="34556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4300" y="4099819"/>
              <a:ext cx="12661900" cy="33655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6168" y="6893264"/>
              <a:ext cx="12412980" cy="630555"/>
            </a:xfrm>
            <a:custGeom>
              <a:avLst/>
              <a:gdLst/>
              <a:ahLst/>
              <a:cxnLst/>
              <a:rect l="l" t="t" r="r" b="b"/>
              <a:pathLst>
                <a:path w="12412980" h="630554">
                  <a:moveTo>
                    <a:pt x="0" y="0"/>
                  </a:moveTo>
                  <a:lnTo>
                    <a:pt x="12412463" y="0"/>
                  </a:lnTo>
                  <a:lnTo>
                    <a:pt x="12412463" y="630252"/>
                  </a:lnTo>
                  <a:lnTo>
                    <a:pt x="0" y="630252"/>
                  </a:lnTo>
                  <a:lnTo>
                    <a:pt x="0" y="0"/>
                  </a:lnTo>
                  <a:close/>
                </a:path>
              </a:pathLst>
            </a:custGeom>
            <a:ln w="63499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00717" y="2968849"/>
            <a:ext cx="8627418" cy="2241352"/>
            <a:chOff x="251331" y="4222363"/>
            <a:chExt cx="12270105" cy="3187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31" y="4222363"/>
              <a:ext cx="12270041" cy="318742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0453024" y="4707294"/>
              <a:ext cx="1928495" cy="485140"/>
            </a:xfrm>
            <a:custGeom>
              <a:avLst/>
              <a:gdLst/>
              <a:ahLst/>
              <a:cxnLst/>
              <a:rect l="l" t="t" r="r" b="b"/>
              <a:pathLst>
                <a:path w="1928495" h="485139">
                  <a:moveTo>
                    <a:pt x="0" y="0"/>
                  </a:moveTo>
                  <a:lnTo>
                    <a:pt x="1928488" y="0"/>
                  </a:lnTo>
                  <a:lnTo>
                    <a:pt x="1928488" y="484631"/>
                  </a:lnTo>
                  <a:lnTo>
                    <a:pt x="0" y="484631"/>
                  </a:lnTo>
                  <a:lnTo>
                    <a:pt x="0" y="0"/>
                  </a:lnTo>
                  <a:close/>
                </a:path>
              </a:pathLst>
            </a:custGeom>
            <a:ln w="63500">
              <a:solidFill>
                <a:srgbClr val="EE220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861507" y="1164984"/>
            <a:ext cx="3781276" cy="133803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 marR="3572">
              <a:lnSpc>
                <a:spcPct val="141700"/>
              </a:lnSpc>
              <a:spcBef>
                <a:spcPts val="70"/>
              </a:spcBef>
            </a:pP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ELMo:</a:t>
            </a:r>
            <a:r>
              <a:rPr sz="2109" spc="56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1B</a:t>
            </a:r>
            <a:r>
              <a:rPr sz="2109" spc="56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training</a:t>
            </a:r>
            <a:r>
              <a:rPr sz="2109" spc="60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tokens </a:t>
            </a:r>
            <a:r>
              <a:rPr sz="2109" spc="21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105" dirty="0">
                <a:solidFill>
                  <a:srgbClr val="017100"/>
                </a:solidFill>
                <a:latin typeface="Arial MT"/>
                <a:cs typeface="Arial MT"/>
              </a:rPr>
              <a:t>BERT:</a:t>
            </a: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3.3B</a:t>
            </a:r>
            <a:r>
              <a:rPr sz="2109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training</a:t>
            </a: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tokens </a:t>
            </a:r>
            <a:r>
              <a:rPr sz="2109" spc="21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-77" dirty="0">
                <a:solidFill>
                  <a:srgbClr val="017100"/>
                </a:solidFill>
                <a:latin typeface="Arial MT"/>
                <a:cs typeface="Arial MT"/>
              </a:rPr>
              <a:t>RoBERTa:</a:t>
            </a:r>
            <a:r>
              <a:rPr sz="2109" spc="-7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~30B</a:t>
            </a: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7" dirty="0">
                <a:solidFill>
                  <a:srgbClr val="017100"/>
                </a:solidFill>
                <a:latin typeface="Arial MT"/>
                <a:cs typeface="Arial MT"/>
              </a:rPr>
              <a:t>training</a:t>
            </a:r>
            <a:r>
              <a:rPr sz="2109" spc="-4" dirty="0">
                <a:solidFill>
                  <a:srgbClr val="017100"/>
                </a:solidFill>
                <a:latin typeface="Arial MT"/>
                <a:cs typeface="Arial MT"/>
              </a:rPr>
              <a:t> </a:t>
            </a:r>
            <a:r>
              <a:rPr sz="2109" spc="18" dirty="0">
                <a:solidFill>
                  <a:srgbClr val="017100"/>
                </a:solidFill>
                <a:latin typeface="Arial MT"/>
                <a:cs typeface="Arial MT"/>
              </a:rPr>
              <a:t>tokens</a:t>
            </a:r>
            <a:endParaRPr sz="2109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language model “scaling wars”!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2022-2023:</a:t>
            </a:r>
            <a:endParaRPr lang="en-US"/>
          </a:p>
        </p:txBody>
      </p:sp>
      <p:sp>
        <p:nvSpPr>
          <p:cNvPr id="3" name="object 3"/>
          <p:cNvSpPr txBox="1"/>
          <p:nvPr/>
        </p:nvSpPr>
        <p:spPr>
          <a:xfrm>
            <a:off x="1974292" y="1460725"/>
            <a:ext cx="7986713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b="1" spc="53" dirty="0">
                <a:latin typeface="Arial"/>
                <a:cs typeface="Arial"/>
              </a:rPr>
              <a:t>PaLM</a:t>
            </a:r>
            <a:r>
              <a:rPr sz="2883" b="1" spc="-4" dirty="0">
                <a:latin typeface="Arial"/>
                <a:cs typeface="Arial"/>
              </a:rPr>
              <a:t> </a:t>
            </a:r>
            <a:r>
              <a:rPr sz="2883" b="1" spc="-32" dirty="0">
                <a:latin typeface="Arial"/>
                <a:cs typeface="Arial"/>
              </a:rPr>
              <a:t>(Google)</a:t>
            </a:r>
            <a:r>
              <a:rPr sz="2883" spc="-32" dirty="0">
                <a:latin typeface="Arial MT"/>
                <a:cs typeface="Arial MT"/>
              </a:rPr>
              <a:t>: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540B </a:t>
            </a:r>
            <a:r>
              <a:rPr sz="2883" spc="-39" dirty="0">
                <a:latin typeface="Arial MT"/>
                <a:cs typeface="Arial MT"/>
              </a:rPr>
              <a:t>params,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118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7" dirty="0">
                <a:latin typeface="Arial MT"/>
                <a:cs typeface="Arial MT"/>
              </a:rPr>
              <a:t>layers,</a:t>
            </a:r>
            <a:r>
              <a:rPr sz="2883" spc="-4" dirty="0">
                <a:latin typeface="Arial MT"/>
                <a:cs typeface="Arial MT"/>
              </a:rPr>
              <a:t> 18432</a:t>
            </a:r>
            <a:endParaRPr sz="2883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47444" y="1908673"/>
            <a:ext cx="5592217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spc="-35" dirty="0">
                <a:latin typeface="Arial MT"/>
                <a:cs typeface="Arial MT"/>
              </a:rPr>
              <a:t>d_model,</a:t>
            </a:r>
            <a:r>
              <a:rPr sz="2883" spc="-7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780 </a:t>
            </a:r>
            <a:r>
              <a:rPr sz="2883" spc="-63" dirty="0">
                <a:latin typeface="Arial MT"/>
                <a:cs typeface="Arial MT"/>
              </a:rPr>
              <a:t>billion</a:t>
            </a:r>
            <a:r>
              <a:rPr sz="2883" spc="-7" dirty="0">
                <a:latin typeface="Arial MT"/>
                <a:cs typeface="Arial MT"/>
              </a:rPr>
              <a:t> </a:t>
            </a:r>
            <a:r>
              <a:rPr sz="2883" spc="-56" dirty="0">
                <a:latin typeface="Arial MT"/>
                <a:cs typeface="Arial MT"/>
              </a:rPr>
              <a:t>training</a:t>
            </a:r>
            <a:r>
              <a:rPr sz="2883" spc="-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tokens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32850" y="2535843"/>
            <a:ext cx="8215759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b="1" spc="7" dirty="0">
                <a:latin typeface="Arial"/>
                <a:cs typeface="Arial"/>
              </a:rPr>
              <a:t>ChatGPT</a:t>
            </a:r>
            <a:r>
              <a:rPr sz="2883" b="1" dirty="0">
                <a:latin typeface="Arial"/>
                <a:cs typeface="Arial"/>
              </a:rPr>
              <a:t> </a:t>
            </a:r>
            <a:r>
              <a:rPr sz="2883" b="1" spc="-32" dirty="0">
                <a:latin typeface="Arial"/>
                <a:cs typeface="Arial"/>
              </a:rPr>
              <a:t>(OpenAI)</a:t>
            </a:r>
            <a:r>
              <a:rPr sz="2883" spc="-32" dirty="0">
                <a:latin typeface="Arial MT"/>
                <a:cs typeface="Arial MT"/>
              </a:rPr>
              <a:t>: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63" dirty="0">
                <a:latin typeface="Arial MT"/>
                <a:cs typeface="Arial MT"/>
              </a:rPr>
              <a:t>Params,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7" dirty="0">
                <a:latin typeface="Arial MT"/>
                <a:cs typeface="Arial MT"/>
              </a:rPr>
              <a:t>layers,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4" dirty="0">
                <a:latin typeface="Arial MT"/>
                <a:cs typeface="Arial MT"/>
              </a:rPr>
              <a:t>dimensionality,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2850" y="2983790"/>
            <a:ext cx="4215705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spc="-56" dirty="0">
                <a:latin typeface="Arial MT"/>
                <a:cs typeface="Arial MT"/>
              </a:rPr>
              <a:t>training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data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95" dirty="0">
                <a:latin typeface="Arial MT"/>
                <a:cs typeface="Arial MT"/>
              </a:rPr>
              <a:t>size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5" dirty="0">
                <a:latin typeface="Arial MT"/>
                <a:cs typeface="Arial MT"/>
              </a:rPr>
              <a:t>unknown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5156" y="4588804"/>
            <a:ext cx="7592020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b="1" spc="-14" dirty="0">
                <a:latin typeface="Arial"/>
                <a:cs typeface="Arial"/>
              </a:rPr>
              <a:t>GPT4</a:t>
            </a:r>
            <a:r>
              <a:rPr sz="2883" b="1" spc="-4" dirty="0">
                <a:latin typeface="Arial"/>
                <a:cs typeface="Arial"/>
              </a:rPr>
              <a:t> </a:t>
            </a:r>
            <a:r>
              <a:rPr sz="2883" b="1" spc="-32" dirty="0">
                <a:latin typeface="Arial"/>
                <a:cs typeface="Arial"/>
              </a:rPr>
              <a:t>(OpenAI)</a:t>
            </a:r>
            <a:r>
              <a:rPr sz="2883" spc="-32" dirty="0">
                <a:latin typeface="Arial MT"/>
                <a:cs typeface="Arial MT"/>
              </a:rPr>
              <a:t>: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63" dirty="0">
                <a:latin typeface="Arial MT"/>
                <a:cs typeface="Arial MT"/>
              </a:rPr>
              <a:t>Params,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7" dirty="0">
                <a:latin typeface="Arial MT"/>
                <a:cs typeface="Arial MT"/>
              </a:rPr>
              <a:t>layers,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4" dirty="0">
                <a:latin typeface="Arial MT"/>
                <a:cs typeface="Arial MT"/>
              </a:rPr>
              <a:t>dimensionality,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45156" y="5036752"/>
            <a:ext cx="4215705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spc="-56" dirty="0">
                <a:latin typeface="Arial MT"/>
                <a:cs typeface="Arial MT"/>
              </a:rPr>
              <a:t>training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data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95" dirty="0">
                <a:latin typeface="Arial MT"/>
                <a:cs typeface="Arial MT"/>
              </a:rPr>
              <a:t>size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5" dirty="0">
                <a:latin typeface="Arial MT"/>
                <a:cs typeface="Arial MT"/>
              </a:rPr>
              <a:t>unknown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32850" y="5676318"/>
            <a:ext cx="7429054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b="1" spc="-14" dirty="0">
                <a:latin typeface="Arial"/>
                <a:cs typeface="Arial"/>
              </a:rPr>
              <a:t>Bard</a:t>
            </a:r>
            <a:r>
              <a:rPr sz="2883" b="1" spc="-4" dirty="0">
                <a:latin typeface="Arial"/>
                <a:cs typeface="Arial"/>
              </a:rPr>
              <a:t> </a:t>
            </a:r>
            <a:r>
              <a:rPr sz="2883" b="1" spc="-32" dirty="0">
                <a:latin typeface="Arial"/>
                <a:cs typeface="Arial"/>
              </a:rPr>
              <a:t>(Google)</a:t>
            </a:r>
            <a:r>
              <a:rPr sz="2883" spc="-32" dirty="0">
                <a:latin typeface="Arial MT"/>
                <a:cs typeface="Arial MT"/>
              </a:rPr>
              <a:t>: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63" dirty="0">
                <a:latin typeface="Arial MT"/>
                <a:cs typeface="Arial MT"/>
              </a:rPr>
              <a:t>Params,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7" dirty="0">
                <a:latin typeface="Arial MT"/>
                <a:cs typeface="Arial MT"/>
              </a:rPr>
              <a:t>layers,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74" dirty="0">
                <a:latin typeface="Arial MT"/>
                <a:cs typeface="Arial MT"/>
              </a:rPr>
              <a:t>dimensionality,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2850" y="6124266"/>
            <a:ext cx="4215705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spc="-56" dirty="0">
                <a:latin typeface="Arial MT"/>
                <a:cs typeface="Arial MT"/>
              </a:rPr>
              <a:t>training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data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95" dirty="0">
                <a:latin typeface="Arial MT"/>
                <a:cs typeface="Arial MT"/>
              </a:rPr>
              <a:t>size</a:t>
            </a:r>
            <a:r>
              <a:rPr sz="2883" spc="-14" dirty="0">
                <a:latin typeface="Arial MT"/>
                <a:cs typeface="Arial MT"/>
              </a:rPr>
              <a:t> </a:t>
            </a:r>
            <a:r>
              <a:rPr sz="2883" spc="-25" dirty="0">
                <a:latin typeface="Arial MT"/>
                <a:cs typeface="Arial MT"/>
              </a:rPr>
              <a:t>unknown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2850" y="3573420"/>
            <a:ext cx="8760023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b="1" spc="42" dirty="0">
                <a:latin typeface="Arial"/>
                <a:cs typeface="Arial"/>
              </a:rPr>
              <a:t>LLaMa</a:t>
            </a:r>
            <a:r>
              <a:rPr sz="2883" b="1" spc="-4" dirty="0">
                <a:latin typeface="Arial"/>
                <a:cs typeface="Arial"/>
              </a:rPr>
              <a:t> </a:t>
            </a:r>
            <a:r>
              <a:rPr sz="2883" b="1" spc="21" dirty="0">
                <a:latin typeface="Arial"/>
                <a:cs typeface="Arial"/>
              </a:rPr>
              <a:t>(Meta)</a:t>
            </a:r>
            <a:r>
              <a:rPr sz="2883" spc="21" dirty="0">
                <a:latin typeface="Arial MT"/>
                <a:cs typeface="Arial MT"/>
              </a:rPr>
              <a:t>: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65B </a:t>
            </a:r>
            <a:r>
              <a:rPr sz="2883" spc="-39" dirty="0">
                <a:latin typeface="Arial MT"/>
                <a:cs typeface="Arial MT"/>
              </a:rPr>
              <a:t>params,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80 </a:t>
            </a:r>
            <a:r>
              <a:rPr sz="2883" spc="-77" dirty="0">
                <a:latin typeface="Arial MT"/>
                <a:cs typeface="Arial MT"/>
              </a:rPr>
              <a:t>layers,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4" dirty="0">
                <a:latin typeface="Arial MT"/>
                <a:cs typeface="Arial MT"/>
              </a:rPr>
              <a:t>8192 </a:t>
            </a:r>
            <a:r>
              <a:rPr sz="2883" spc="-35" dirty="0">
                <a:latin typeface="Arial MT"/>
                <a:cs typeface="Arial MT"/>
              </a:rPr>
              <a:t>d_model,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2850" y="4021367"/>
            <a:ext cx="5131445" cy="452665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883" spc="-4" dirty="0">
                <a:latin typeface="Arial MT"/>
                <a:cs typeface="Arial MT"/>
              </a:rPr>
              <a:t>1.4 </a:t>
            </a:r>
            <a:r>
              <a:rPr sz="2883" spc="-63" dirty="0">
                <a:latin typeface="Arial MT"/>
                <a:cs typeface="Arial MT"/>
              </a:rPr>
              <a:t>trillion</a:t>
            </a:r>
            <a:r>
              <a:rPr sz="2883" spc="-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tokens</a:t>
            </a:r>
            <a:r>
              <a:rPr sz="2883" spc="-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of</a:t>
            </a:r>
            <a:r>
              <a:rPr sz="2883" dirty="0">
                <a:latin typeface="Arial MT"/>
                <a:cs typeface="Arial MT"/>
              </a:rPr>
              <a:t> </a:t>
            </a:r>
            <a:r>
              <a:rPr sz="2883" spc="-56" dirty="0">
                <a:latin typeface="Arial MT"/>
                <a:cs typeface="Arial MT"/>
              </a:rPr>
              <a:t>training</a:t>
            </a:r>
            <a:r>
              <a:rPr sz="2883" spc="-4" dirty="0">
                <a:latin typeface="Arial MT"/>
                <a:cs typeface="Arial MT"/>
              </a:rPr>
              <a:t> </a:t>
            </a:r>
            <a:r>
              <a:rPr sz="2883" spc="-28" dirty="0">
                <a:latin typeface="Arial MT"/>
                <a:cs typeface="Arial MT"/>
              </a:rPr>
              <a:t>data</a:t>
            </a:r>
            <a:endParaRPr sz="2883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166719" y="4102313"/>
            <a:ext cx="3407122" cy="307181"/>
          </a:xfrm>
          <a:custGeom>
            <a:avLst/>
            <a:gdLst/>
            <a:ahLst/>
            <a:cxnLst/>
            <a:rect l="l" t="t" r="r" b="b"/>
            <a:pathLst>
              <a:path w="4845684" h="436879">
                <a:moveTo>
                  <a:pt x="4845659" y="0"/>
                </a:moveTo>
                <a:lnTo>
                  <a:pt x="0" y="0"/>
                </a:lnTo>
                <a:lnTo>
                  <a:pt x="0" y="436395"/>
                </a:lnTo>
                <a:lnTo>
                  <a:pt x="4845659" y="436395"/>
                </a:lnTo>
                <a:lnTo>
                  <a:pt x="4845659" y="0"/>
                </a:lnTo>
                <a:close/>
              </a:path>
            </a:pathLst>
          </a:custGeom>
          <a:solidFill>
            <a:srgbClr val="61D8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197973" y="4125423"/>
            <a:ext cx="3344614" cy="247096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1547" spc="49" dirty="0">
                <a:latin typeface="Arial MT"/>
                <a:cs typeface="Arial MT"/>
              </a:rPr>
              <a:t>Model</a:t>
            </a:r>
            <a:r>
              <a:rPr sz="1547" dirty="0">
                <a:latin typeface="Arial MT"/>
                <a:cs typeface="Arial MT"/>
              </a:rPr>
              <a:t> </a:t>
            </a:r>
            <a:r>
              <a:rPr sz="1547" spc="28" dirty="0">
                <a:latin typeface="Arial MT"/>
                <a:cs typeface="Arial MT"/>
              </a:rPr>
              <a:t>parameters</a:t>
            </a:r>
            <a:r>
              <a:rPr sz="1547" spc="4" dirty="0">
                <a:latin typeface="Arial MT"/>
                <a:cs typeface="Arial MT"/>
              </a:rPr>
              <a:t> </a:t>
            </a:r>
            <a:r>
              <a:rPr sz="1547" spc="49" dirty="0">
                <a:latin typeface="Arial MT"/>
                <a:cs typeface="Arial MT"/>
              </a:rPr>
              <a:t>publicly</a:t>
            </a:r>
            <a:r>
              <a:rPr sz="1547" dirty="0">
                <a:latin typeface="Arial MT"/>
                <a:cs typeface="Arial MT"/>
              </a:rPr>
              <a:t> </a:t>
            </a:r>
            <a:r>
              <a:rPr sz="1547" spc="18" dirty="0">
                <a:latin typeface="Arial MT"/>
                <a:cs typeface="Arial MT"/>
              </a:rPr>
              <a:t>available!</a:t>
            </a:r>
            <a:endParaRPr sz="1547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17865" y="3096446"/>
            <a:ext cx="3953173" cy="270088"/>
          </a:xfrm>
          <a:prstGeom prst="rect">
            <a:avLst/>
          </a:prstGeom>
          <a:solidFill>
            <a:srgbClr val="EF5FA7"/>
          </a:solidFill>
        </p:spPr>
        <p:txBody>
          <a:bodyPr vert="horz" wrap="square" lIns="0" tIns="31700" rIns="0" bIns="0" rtlCol="0">
            <a:spAutoFit/>
          </a:bodyPr>
          <a:lstStyle/>
          <a:p>
            <a:pPr marL="40182">
              <a:spcBef>
                <a:spcPts val="250"/>
              </a:spcBef>
            </a:pPr>
            <a:r>
              <a:rPr sz="1547" spc="49" dirty="0">
                <a:latin typeface="Arial MT"/>
                <a:cs typeface="Arial MT"/>
              </a:rPr>
              <a:t>Model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21" dirty="0">
                <a:latin typeface="Arial MT"/>
                <a:cs typeface="Arial MT"/>
              </a:rPr>
              <a:t>available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5" dirty="0">
                <a:latin typeface="Arial MT"/>
                <a:cs typeface="Arial MT"/>
              </a:rPr>
              <a:t>only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9" dirty="0">
                <a:latin typeface="Arial MT"/>
                <a:cs typeface="Arial MT"/>
              </a:rPr>
              <a:t>through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56" dirty="0">
                <a:latin typeface="Arial MT"/>
                <a:cs typeface="Arial MT"/>
              </a:rPr>
              <a:t>blackbox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dirty="0">
                <a:latin typeface="Arial MT"/>
                <a:cs typeface="Arial MT"/>
              </a:rPr>
              <a:t>API</a:t>
            </a:r>
            <a:endParaRPr sz="1547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745083" y="1999414"/>
            <a:ext cx="1853357" cy="270088"/>
          </a:xfrm>
          <a:prstGeom prst="rect">
            <a:avLst/>
          </a:prstGeom>
          <a:solidFill>
            <a:srgbClr val="EE220C"/>
          </a:solidFill>
        </p:spPr>
        <p:txBody>
          <a:bodyPr vert="horz" wrap="square" lIns="0" tIns="31700" rIns="0" bIns="0" rtlCol="0">
            <a:spAutoFit/>
          </a:bodyPr>
          <a:lstStyle/>
          <a:p>
            <a:pPr marL="40182">
              <a:spcBef>
                <a:spcPts val="250"/>
              </a:spcBef>
            </a:pPr>
            <a:r>
              <a:rPr sz="1547" spc="49" dirty="0">
                <a:latin typeface="Arial MT"/>
                <a:cs typeface="Arial MT"/>
              </a:rPr>
              <a:t>Model</a:t>
            </a:r>
            <a:r>
              <a:rPr sz="1547" spc="-18" dirty="0">
                <a:latin typeface="Arial MT"/>
                <a:cs typeface="Arial MT"/>
              </a:rPr>
              <a:t> </a:t>
            </a:r>
            <a:r>
              <a:rPr sz="1547" spc="56" dirty="0">
                <a:latin typeface="Arial MT"/>
                <a:cs typeface="Arial MT"/>
              </a:rPr>
              <a:t>not</a:t>
            </a:r>
            <a:r>
              <a:rPr sz="1547" spc="-18" dirty="0">
                <a:latin typeface="Arial MT"/>
                <a:cs typeface="Arial MT"/>
              </a:rPr>
              <a:t> </a:t>
            </a:r>
            <a:r>
              <a:rPr sz="1547" spc="21" dirty="0">
                <a:latin typeface="Arial MT"/>
                <a:cs typeface="Arial MT"/>
              </a:rPr>
              <a:t>available</a:t>
            </a:r>
            <a:endParaRPr sz="1547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317219" y="5153761"/>
            <a:ext cx="3953173" cy="270088"/>
          </a:xfrm>
          <a:prstGeom prst="rect">
            <a:avLst/>
          </a:prstGeom>
          <a:solidFill>
            <a:srgbClr val="EF5FA7"/>
          </a:solidFill>
        </p:spPr>
        <p:txBody>
          <a:bodyPr vert="horz" wrap="square" lIns="0" tIns="31700" rIns="0" bIns="0" rtlCol="0">
            <a:spAutoFit/>
          </a:bodyPr>
          <a:lstStyle/>
          <a:p>
            <a:pPr marL="40182">
              <a:spcBef>
                <a:spcPts val="250"/>
              </a:spcBef>
            </a:pPr>
            <a:r>
              <a:rPr sz="1547" spc="49" dirty="0">
                <a:latin typeface="Arial MT"/>
                <a:cs typeface="Arial MT"/>
              </a:rPr>
              <a:t>Model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21" dirty="0">
                <a:latin typeface="Arial MT"/>
                <a:cs typeface="Arial MT"/>
              </a:rPr>
              <a:t>available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5" dirty="0">
                <a:latin typeface="Arial MT"/>
                <a:cs typeface="Arial MT"/>
              </a:rPr>
              <a:t>only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9" dirty="0">
                <a:latin typeface="Arial MT"/>
                <a:cs typeface="Arial MT"/>
              </a:rPr>
              <a:t>through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56" dirty="0">
                <a:latin typeface="Arial MT"/>
                <a:cs typeface="Arial MT"/>
              </a:rPr>
              <a:t>blackbox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dirty="0">
                <a:latin typeface="Arial MT"/>
                <a:cs typeface="Arial MT"/>
              </a:rPr>
              <a:t>API</a:t>
            </a:r>
            <a:endParaRPr sz="1547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17865" y="6205210"/>
            <a:ext cx="3953173" cy="270088"/>
          </a:xfrm>
          <a:prstGeom prst="rect">
            <a:avLst/>
          </a:prstGeom>
          <a:solidFill>
            <a:srgbClr val="EF5FA7"/>
          </a:solidFill>
        </p:spPr>
        <p:txBody>
          <a:bodyPr vert="horz" wrap="square" lIns="0" tIns="31700" rIns="0" bIns="0" rtlCol="0">
            <a:spAutoFit/>
          </a:bodyPr>
          <a:lstStyle/>
          <a:p>
            <a:pPr marL="40182">
              <a:spcBef>
                <a:spcPts val="250"/>
              </a:spcBef>
            </a:pPr>
            <a:r>
              <a:rPr sz="1547" spc="49" dirty="0">
                <a:latin typeface="Arial MT"/>
                <a:cs typeface="Arial MT"/>
              </a:rPr>
              <a:t>Model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21" dirty="0">
                <a:latin typeface="Arial MT"/>
                <a:cs typeface="Arial MT"/>
              </a:rPr>
              <a:t>available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5" dirty="0">
                <a:latin typeface="Arial MT"/>
                <a:cs typeface="Arial MT"/>
              </a:rPr>
              <a:t>only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spc="39" dirty="0">
                <a:latin typeface="Arial MT"/>
                <a:cs typeface="Arial MT"/>
              </a:rPr>
              <a:t>through</a:t>
            </a:r>
            <a:r>
              <a:rPr sz="1547" spc="-7" dirty="0">
                <a:latin typeface="Arial MT"/>
                <a:cs typeface="Arial MT"/>
              </a:rPr>
              <a:t> </a:t>
            </a:r>
            <a:r>
              <a:rPr sz="1547" spc="56" dirty="0">
                <a:latin typeface="Arial MT"/>
                <a:cs typeface="Arial MT"/>
              </a:rPr>
              <a:t>blackbox</a:t>
            </a:r>
            <a:r>
              <a:rPr sz="1547" spc="-4" dirty="0">
                <a:latin typeface="Arial MT"/>
                <a:cs typeface="Arial MT"/>
              </a:rPr>
              <a:t> </a:t>
            </a:r>
            <a:r>
              <a:rPr sz="1547" dirty="0">
                <a:latin typeface="Arial MT"/>
                <a:cs typeface="Arial MT"/>
              </a:rPr>
              <a:t>API</a:t>
            </a:r>
            <a:endParaRPr sz="1547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3513" y="111509"/>
            <a:ext cx="4664363" cy="68118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717" y="671047"/>
            <a:ext cx="5607010" cy="25196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1717" y="671047"/>
            <a:ext cx="5607010" cy="25196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609448" y="3725732"/>
            <a:ext cx="6973193" cy="13502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83" marR="3572" algn="ctr">
              <a:lnSpc>
                <a:spcPct val="102800"/>
              </a:lnSpc>
            </a:pPr>
            <a:r>
              <a:rPr sz="2109" b="1" spc="18" dirty="0">
                <a:latin typeface="Arial"/>
                <a:cs typeface="Arial"/>
              </a:rPr>
              <a:t>No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fine-tuning!!!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4" dirty="0">
                <a:latin typeface="Arial"/>
                <a:cs typeface="Arial"/>
              </a:rPr>
              <a:t>Literally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just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take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a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4" dirty="0">
                <a:latin typeface="Arial"/>
                <a:cs typeface="Arial"/>
              </a:rPr>
              <a:t>pretrained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56" dirty="0">
                <a:latin typeface="Arial"/>
                <a:cs typeface="Arial"/>
              </a:rPr>
              <a:t>LM</a:t>
            </a:r>
            <a:r>
              <a:rPr sz="2109" b="1" dirty="0">
                <a:latin typeface="Arial"/>
                <a:cs typeface="Arial"/>
              </a:rPr>
              <a:t> and </a:t>
            </a:r>
            <a:r>
              <a:rPr sz="2109" b="1" spc="-576" dirty="0">
                <a:latin typeface="Arial"/>
                <a:cs typeface="Arial"/>
              </a:rPr>
              <a:t> </a:t>
            </a:r>
            <a:r>
              <a:rPr sz="2109" b="1" spc="-21" dirty="0">
                <a:latin typeface="Arial"/>
                <a:cs typeface="Arial"/>
              </a:rPr>
              <a:t>give</a:t>
            </a:r>
            <a:r>
              <a:rPr sz="2109" b="1" spc="-4" dirty="0">
                <a:latin typeface="Arial"/>
                <a:cs typeface="Arial"/>
              </a:rPr>
              <a:t> it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the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following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prefix:</a:t>
            </a:r>
            <a:endParaRPr sz="2109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20">
              <a:latin typeface="Arial"/>
              <a:cs typeface="Arial"/>
            </a:endParaRPr>
          </a:p>
          <a:p>
            <a:pPr algn="ctr">
              <a:spcBef>
                <a:spcPts val="4"/>
              </a:spcBef>
            </a:pPr>
            <a:r>
              <a:rPr sz="2109" b="1" spc="-25" dirty="0">
                <a:latin typeface="Arial"/>
                <a:cs typeface="Arial"/>
              </a:rPr>
              <a:t>“Translate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-35" dirty="0">
                <a:latin typeface="Arial"/>
                <a:cs typeface="Arial"/>
              </a:rPr>
              <a:t>English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18" dirty="0">
                <a:latin typeface="Arial"/>
                <a:cs typeface="Arial"/>
              </a:rPr>
              <a:t>to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-28" dirty="0">
                <a:latin typeface="Arial"/>
                <a:cs typeface="Arial"/>
              </a:rPr>
              <a:t>French: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cheese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-4" dirty="0">
                <a:latin typeface="Arial"/>
                <a:cs typeface="Arial"/>
              </a:rPr>
              <a:t>=&gt;”</a:t>
            </a:r>
            <a:endParaRPr sz="2109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965" y="3715892"/>
            <a:ext cx="7126337" cy="1661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275" marR="79917" algn="ctr">
              <a:lnSpc>
                <a:spcPct val="102800"/>
              </a:lnSpc>
            </a:pPr>
            <a:r>
              <a:rPr sz="2109" b="1" spc="18" dirty="0">
                <a:latin typeface="Arial"/>
                <a:cs typeface="Arial"/>
              </a:rPr>
              <a:t>No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fine-tuning!!!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4" dirty="0">
                <a:latin typeface="Arial"/>
                <a:cs typeface="Arial"/>
              </a:rPr>
              <a:t>Literally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just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take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a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4" dirty="0">
                <a:latin typeface="Arial"/>
                <a:cs typeface="Arial"/>
              </a:rPr>
              <a:t>pretrained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56" dirty="0">
                <a:latin typeface="Arial"/>
                <a:cs typeface="Arial"/>
              </a:rPr>
              <a:t>LM</a:t>
            </a:r>
            <a:r>
              <a:rPr sz="2109" b="1" dirty="0">
                <a:latin typeface="Arial"/>
                <a:cs typeface="Arial"/>
              </a:rPr>
              <a:t> and </a:t>
            </a:r>
            <a:r>
              <a:rPr sz="2109" b="1" spc="-576" dirty="0">
                <a:latin typeface="Arial"/>
                <a:cs typeface="Arial"/>
              </a:rPr>
              <a:t> </a:t>
            </a:r>
            <a:r>
              <a:rPr sz="2109" b="1" spc="-21" dirty="0">
                <a:latin typeface="Arial"/>
                <a:cs typeface="Arial"/>
              </a:rPr>
              <a:t>give</a:t>
            </a:r>
            <a:r>
              <a:rPr sz="2109" b="1" spc="-4" dirty="0">
                <a:latin typeface="Arial"/>
                <a:cs typeface="Arial"/>
              </a:rPr>
              <a:t> it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the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following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prefix:</a:t>
            </a:r>
            <a:endParaRPr sz="2109"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250">
              <a:latin typeface="Arial"/>
              <a:cs typeface="Arial"/>
            </a:endParaRPr>
          </a:p>
          <a:p>
            <a:pPr marL="8929" marR="3572" algn="ctr">
              <a:lnSpc>
                <a:spcPct val="102800"/>
              </a:lnSpc>
            </a:pPr>
            <a:r>
              <a:rPr sz="2109" b="1" spc="-25" dirty="0">
                <a:latin typeface="Arial"/>
                <a:cs typeface="Arial"/>
              </a:rPr>
              <a:t>“Translate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35" dirty="0">
                <a:latin typeface="Arial"/>
                <a:cs typeface="Arial"/>
              </a:rPr>
              <a:t>English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18" dirty="0">
                <a:latin typeface="Arial"/>
                <a:cs typeface="Arial"/>
              </a:rPr>
              <a:t>to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28" dirty="0">
                <a:latin typeface="Arial"/>
                <a:cs typeface="Arial"/>
              </a:rPr>
              <a:t>French: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sea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21" dirty="0">
                <a:latin typeface="Arial"/>
                <a:cs typeface="Arial"/>
              </a:rPr>
              <a:t>otter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32" dirty="0">
                <a:latin typeface="Arial"/>
                <a:cs typeface="Arial"/>
              </a:rPr>
              <a:t>=&gt;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7" dirty="0">
                <a:latin typeface="Arial"/>
                <a:cs typeface="Arial"/>
              </a:rPr>
              <a:t>loutre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18" dirty="0">
                <a:latin typeface="Arial"/>
                <a:cs typeface="Arial"/>
              </a:rPr>
              <a:t>de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32" dirty="0">
                <a:latin typeface="Arial"/>
                <a:cs typeface="Arial"/>
              </a:rPr>
              <a:t>mer, </a:t>
            </a:r>
            <a:r>
              <a:rPr sz="2109" b="1" spc="-573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cheese</a:t>
            </a:r>
            <a:r>
              <a:rPr sz="2109" b="1" spc="-4" dirty="0">
                <a:latin typeface="Arial"/>
                <a:cs typeface="Arial"/>
              </a:rPr>
              <a:t> =&gt;”</a:t>
            </a:r>
            <a:endParaRPr sz="2109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6020" y="511679"/>
            <a:ext cx="5762878" cy="29436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32965" y="4228872"/>
            <a:ext cx="7126337" cy="23651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5275" marR="79917" algn="ctr">
              <a:lnSpc>
                <a:spcPct val="102800"/>
              </a:lnSpc>
            </a:pPr>
            <a:r>
              <a:rPr sz="2109" b="1" spc="18" dirty="0">
                <a:latin typeface="Arial"/>
                <a:cs typeface="Arial"/>
              </a:rPr>
              <a:t>No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fine-tuning!!!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4" dirty="0">
                <a:latin typeface="Arial"/>
                <a:cs typeface="Arial"/>
              </a:rPr>
              <a:t>Literally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just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take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35" dirty="0">
                <a:latin typeface="Arial"/>
                <a:cs typeface="Arial"/>
              </a:rPr>
              <a:t>a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4" dirty="0">
                <a:latin typeface="Arial"/>
                <a:cs typeface="Arial"/>
              </a:rPr>
              <a:t>pretrained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56" dirty="0">
                <a:latin typeface="Arial"/>
                <a:cs typeface="Arial"/>
              </a:rPr>
              <a:t>LM</a:t>
            </a:r>
            <a:r>
              <a:rPr sz="2109" b="1" dirty="0">
                <a:latin typeface="Arial"/>
                <a:cs typeface="Arial"/>
              </a:rPr>
              <a:t> and </a:t>
            </a:r>
            <a:r>
              <a:rPr sz="2109" b="1" spc="-576" dirty="0">
                <a:latin typeface="Arial"/>
                <a:cs typeface="Arial"/>
              </a:rPr>
              <a:t> </a:t>
            </a:r>
            <a:r>
              <a:rPr sz="2109" b="1" spc="-21" dirty="0">
                <a:latin typeface="Arial"/>
                <a:cs typeface="Arial"/>
              </a:rPr>
              <a:t>give</a:t>
            </a:r>
            <a:r>
              <a:rPr sz="2109" b="1" spc="-4" dirty="0">
                <a:latin typeface="Arial"/>
                <a:cs typeface="Arial"/>
              </a:rPr>
              <a:t> it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the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following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25" dirty="0">
                <a:latin typeface="Arial"/>
                <a:cs typeface="Arial"/>
              </a:rPr>
              <a:t>prefix:</a:t>
            </a:r>
            <a:endParaRPr sz="2109">
              <a:latin typeface="Arial"/>
              <a:cs typeface="Arial"/>
            </a:endParaRPr>
          </a:p>
          <a:p>
            <a:pPr>
              <a:spcBef>
                <a:spcPts val="11"/>
              </a:spcBef>
            </a:pPr>
            <a:endParaRPr sz="2250">
              <a:latin typeface="Arial"/>
              <a:cs typeface="Arial"/>
            </a:endParaRPr>
          </a:p>
          <a:p>
            <a:pPr marL="8929" marR="3572" algn="ctr">
              <a:lnSpc>
                <a:spcPct val="102800"/>
              </a:lnSpc>
              <a:tabLst>
                <a:tab pos="5165194" algn="l"/>
              </a:tabLst>
            </a:pPr>
            <a:r>
              <a:rPr sz="2109" b="1" spc="-25" dirty="0">
                <a:latin typeface="Arial"/>
                <a:cs typeface="Arial"/>
              </a:rPr>
              <a:t>“Translate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35" dirty="0">
                <a:latin typeface="Arial"/>
                <a:cs typeface="Arial"/>
              </a:rPr>
              <a:t>English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18" dirty="0">
                <a:latin typeface="Arial"/>
                <a:cs typeface="Arial"/>
              </a:rPr>
              <a:t>to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28" dirty="0">
                <a:latin typeface="Arial"/>
                <a:cs typeface="Arial"/>
              </a:rPr>
              <a:t>French: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sea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21" dirty="0">
                <a:latin typeface="Arial"/>
                <a:cs typeface="Arial"/>
              </a:rPr>
              <a:t>otter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32" dirty="0">
                <a:latin typeface="Arial"/>
                <a:cs typeface="Arial"/>
              </a:rPr>
              <a:t>=&gt;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7" dirty="0">
                <a:latin typeface="Arial"/>
                <a:cs typeface="Arial"/>
              </a:rPr>
              <a:t>loutre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18" dirty="0">
                <a:latin typeface="Arial"/>
                <a:cs typeface="Arial"/>
              </a:rPr>
              <a:t>de</a:t>
            </a:r>
            <a:r>
              <a:rPr sz="2109" b="1" spc="-4" dirty="0">
                <a:latin typeface="Arial"/>
                <a:cs typeface="Arial"/>
              </a:rPr>
              <a:t> </a:t>
            </a:r>
            <a:r>
              <a:rPr sz="2109" b="1" spc="-32" dirty="0">
                <a:latin typeface="Arial"/>
                <a:cs typeface="Arial"/>
              </a:rPr>
              <a:t>mer, </a:t>
            </a:r>
            <a:r>
              <a:rPr sz="2109" b="1" spc="-573" dirty="0">
                <a:latin typeface="Arial"/>
                <a:cs typeface="Arial"/>
              </a:rPr>
              <a:t> </a:t>
            </a:r>
            <a:r>
              <a:rPr sz="2109" b="1" spc="7" dirty="0">
                <a:latin typeface="Arial"/>
                <a:cs typeface="Arial"/>
              </a:rPr>
              <a:t>peppermint</a:t>
            </a:r>
            <a:r>
              <a:rPr sz="2109" b="1" spc="4" dirty="0">
                <a:latin typeface="Arial"/>
                <a:cs typeface="Arial"/>
              </a:rPr>
              <a:t> </a:t>
            </a:r>
            <a:r>
              <a:rPr sz="2109" b="1" spc="32" dirty="0">
                <a:latin typeface="Arial"/>
                <a:cs typeface="Arial"/>
              </a:rPr>
              <a:t>=&gt;</a:t>
            </a:r>
            <a:r>
              <a:rPr sz="2109" b="1" spc="7" dirty="0">
                <a:latin typeface="Arial"/>
                <a:cs typeface="Arial"/>
              </a:rPr>
              <a:t> </a:t>
            </a:r>
            <a:r>
              <a:rPr sz="2109" b="1" dirty="0">
                <a:latin typeface="Arial"/>
                <a:cs typeface="Arial"/>
              </a:rPr>
              <a:t>…</a:t>
            </a:r>
            <a:r>
              <a:rPr sz="2109" b="1" spc="4" dirty="0">
                <a:latin typeface="Arial"/>
                <a:cs typeface="Arial"/>
              </a:rPr>
              <a:t> </a:t>
            </a:r>
            <a:r>
              <a:rPr sz="2109" b="1" spc="7" dirty="0">
                <a:latin typeface="Arial"/>
                <a:cs typeface="Arial"/>
              </a:rPr>
              <a:t>(few more</a:t>
            </a:r>
            <a:r>
              <a:rPr sz="2109" b="1" spc="4" dirty="0">
                <a:latin typeface="Arial"/>
                <a:cs typeface="Arial"/>
              </a:rPr>
              <a:t> </a:t>
            </a:r>
            <a:r>
              <a:rPr sz="2109" b="1" spc="-7" dirty="0">
                <a:latin typeface="Arial"/>
                <a:cs typeface="Arial"/>
              </a:rPr>
              <a:t>examples),	</a:t>
            </a:r>
            <a:r>
              <a:rPr sz="2109" b="1" spc="11" dirty="0">
                <a:latin typeface="Arial"/>
                <a:cs typeface="Arial"/>
              </a:rPr>
              <a:t>cheese</a:t>
            </a:r>
            <a:r>
              <a:rPr sz="2109" b="1" spc="-7" dirty="0">
                <a:latin typeface="Arial"/>
                <a:cs typeface="Arial"/>
              </a:rPr>
              <a:t> </a:t>
            </a:r>
            <a:r>
              <a:rPr sz="2109" b="1" spc="-4" dirty="0">
                <a:latin typeface="Arial"/>
                <a:cs typeface="Arial"/>
              </a:rPr>
              <a:t>=&gt;”</a:t>
            </a:r>
            <a:endParaRPr sz="2109">
              <a:latin typeface="Arial"/>
              <a:cs typeface="Arial"/>
            </a:endParaRPr>
          </a:p>
          <a:p>
            <a:pPr>
              <a:spcBef>
                <a:spcPts val="4"/>
              </a:spcBef>
            </a:pPr>
            <a:endParaRPr sz="2320">
              <a:latin typeface="Arial"/>
              <a:cs typeface="Arial"/>
            </a:endParaRPr>
          </a:p>
          <a:p>
            <a:pPr algn="ctr">
              <a:spcBef>
                <a:spcPts val="4"/>
              </a:spcBef>
            </a:pPr>
            <a:r>
              <a:rPr sz="2109" b="1" spc="49" dirty="0">
                <a:latin typeface="Arial"/>
                <a:cs typeface="Arial"/>
              </a:rPr>
              <a:t>Max</a:t>
            </a:r>
            <a:r>
              <a:rPr sz="2109" b="1" dirty="0">
                <a:latin typeface="Arial"/>
                <a:cs typeface="Arial"/>
              </a:rPr>
              <a:t> of </a:t>
            </a:r>
            <a:r>
              <a:rPr sz="2109" b="1" spc="-4" dirty="0">
                <a:latin typeface="Arial"/>
                <a:cs typeface="Arial"/>
              </a:rPr>
              <a:t>100</a:t>
            </a:r>
            <a:r>
              <a:rPr sz="2109" b="1" dirty="0">
                <a:latin typeface="Arial"/>
                <a:cs typeface="Arial"/>
              </a:rPr>
              <a:t> examples </a:t>
            </a:r>
            <a:r>
              <a:rPr sz="2109" b="1" spc="11" dirty="0">
                <a:latin typeface="Arial"/>
                <a:cs typeface="Arial"/>
              </a:rPr>
              <a:t>fed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11" dirty="0">
                <a:latin typeface="Arial"/>
                <a:cs typeface="Arial"/>
              </a:rPr>
              <a:t>into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the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7" dirty="0">
                <a:latin typeface="Arial"/>
                <a:cs typeface="Arial"/>
              </a:rPr>
              <a:t>prefix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42" dirty="0">
                <a:latin typeface="Arial"/>
                <a:cs typeface="Arial"/>
              </a:rPr>
              <a:t>in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-21" dirty="0">
                <a:latin typeface="Arial"/>
                <a:cs typeface="Arial"/>
              </a:rPr>
              <a:t>this</a:t>
            </a:r>
            <a:r>
              <a:rPr sz="2109" b="1" dirty="0">
                <a:latin typeface="Arial"/>
                <a:cs typeface="Arial"/>
              </a:rPr>
              <a:t> </a:t>
            </a:r>
            <a:r>
              <a:rPr sz="2109" b="1" spc="11" dirty="0">
                <a:latin typeface="Arial"/>
                <a:cs typeface="Arial"/>
              </a:rPr>
              <a:t>way</a:t>
            </a:r>
            <a:endParaRPr sz="2109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95188" y="347651"/>
            <a:ext cx="5886941" cy="36117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3309936"/>
            <a:ext cx="11658601" cy="1207909"/>
          </a:xfrm>
          <a:prstGeom prst="rect">
            <a:avLst/>
          </a:prstGeom>
        </p:spPr>
        <p:txBody>
          <a:bodyPr vert="horz" wrap="square" lIns="0" tIns="31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marR="3572" indent="388874">
              <a:lnSpc>
                <a:spcPct val="101000"/>
              </a:lnSpc>
              <a:spcBef>
                <a:spcPts val="25"/>
              </a:spcBef>
            </a:pPr>
            <a:r>
              <a:rPr dirty="0"/>
              <a:t>How</a:t>
            </a:r>
            <a:r>
              <a:rPr spc="-7" dirty="0"/>
              <a:t> </a:t>
            </a:r>
            <a:r>
              <a:rPr spc="-35" dirty="0"/>
              <a:t>does</a:t>
            </a:r>
            <a:r>
              <a:rPr spc="-7" dirty="0"/>
              <a:t> </a:t>
            </a:r>
            <a:r>
              <a:rPr spc="-53" dirty="0"/>
              <a:t>this</a:t>
            </a:r>
            <a:r>
              <a:rPr spc="-7" dirty="0"/>
              <a:t> </a:t>
            </a:r>
            <a:r>
              <a:rPr spc="-46" dirty="0"/>
              <a:t>new</a:t>
            </a:r>
            <a:r>
              <a:rPr spc="-7" dirty="0"/>
              <a:t> </a:t>
            </a:r>
            <a:r>
              <a:rPr spc="-46" dirty="0"/>
              <a:t>paradigm </a:t>
            </a:r>
            <a:r>
              <a:rPr spc="-39" dirty="0"/>
              <a:t>compare</a:t>
            </a:r>
            <a:r>
              <a:rPr spc="-14" dirty="0"/>
              <a:t> </a:t>
            </a:r>
            <a:r>
              <a:rPr spc="32" dirty="0"/>
              <a:t>to</a:t>
            </a:r>
            <a:r>
              <a:rPr lang="en-US" spc="-14" dirty="0"/>
              <a:t> </a:t>
            </a:r>
            <a:r>
              <a:rPr spc="-46" dirty="0"/>
              <a:t>“pretrain</a:t>
            </a:r>
            <a:r>
              <a:rPr spc="-14" dirty="0"/>
              <a:t> </a:t>
            </a:r>
            <a:r>
              <a:rPr spc="56" dirty="0"/>
              <a:t>+</a:t>
            </a:r>
            <a:r>
              <a:rPr spc="-14" dirty="0"/>
              <a:t> </a:t>
            </a:r>
            <a:r>
              <a:rPr spc="-56" dirty="0"/>
              <a:t>finetune”?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</a:pPr>
            <a:r>
              <a:rPr sz="4219" b="1" spc="-102" dirty="0">
                <a:latin typeface="Arial"/>
                <a:cs typeface="Arial"/>
              </a:rPr>
              <a:t>TriviaQA</a:t>
            </a:r>
            <a:endParaRPr sz="4219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604" y="1669578"/>
            <a:ext cx="8380859" cy="34339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3362" y="539876"/>
            <a:ext cx="8480461" cy="5714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633232"/>
            <a:ext cx="11658601" cy="1207909"/>
          </a:xfrm>
          <a:prstGeom prst="rect">
            <a:avLst/>
          </a:prstGeom>
        </p:spPr>
        <p:txBody>
          <a:bodyPr vert="horz" wrap="square" lIns="0" tIns="31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marR="3572">
              <a:lnSpc>
                <a:spcPct val="101000"/>
              </a:lnSpc>
              <a:spcBef>
                <a:spcPts val="25"/>
              </a:spcBef>
            </a:pPr>
            <a:r>
              <a:rPr spc="-70" dirty="0"/>
              <a:t>What</a:t>
            </a:r>
            <a:r>
              <a:rPr spc="-14" dirty="0"/>
              <a:t> </a:t>
            </a:r>
            <a:r>
              <a:rPr spc="-18" dirty="0"/>
              <a:t>about</a:t>
            </a:r>
            <a:r>
              <a:rPr spc="-11" dirty="0"/>
              <a:t> </a:t>
            </a:r>
            <a:r>
              <a:rPr spc="-63" dirty="0"/>
              <a:t>translation?</a:t>
            </a:r>
            <a:r>
              <a:rPr spc="-11" dirty="0"/>
              <a:t> </a:t>
            </a:r>
            <a:r>
              <a:rPr spc="-112" dirty="0"/>
              <a:t>(7%</a:t>
            </a:r>
            <a:r>
              <a:rPr spc="-14" dirty="0"/>
              <a:t> </a:t>
            </a:r>
            <a:r>
              <a:rPr spc="-35" dirty="0"/>
              <a:t>of </a:t>
            </a:r>
            <a:r>
              <a:rPr spc="-1009" dirty="0"/>
              <a:t> </a:t>
            </a:r>
            <a:r>
              <a:rPr spc="-127" dirty="0"/>
              <a:t>GPT3’s</a:t>
            </a:r>
            <a:r>
              <a:rPr spc="-4" dirty="0"/>
              <a:t> </a:t>
            </a:r>
            <a:r>
              <a:rPr spc="-70" dirty="0"/>
              <a:t>training</a:t>
            </a:r>
            <a:r>
              <a:rPr spc="-4" dirty="0"/>
              <a:t> </a:t>
            </a:r>
            <a:r>
              <a:rPr spc="-35" dirty="0"/>
              <a:t>data</a:t>
            </a:r>
            <a:r>
              <a:rPr dirty="0"/>
              <a:t> </a:t>
            </a:r>
            <a:r>
              <a:rPr spc="-105" dirty="0"/>
              <a:t>is</a:t>
            </a:r>
            <a:r>
              <a:rPr spc="-4" dirty="0"/>
              <a:t> </a:t>
            </a:r>
            <a:r>
              <a:rPr spc="-105" dirty="0"/>
              <a:t>in</a:t>
            </a:r>
            <a:r>
              <a:rPr spc="-102" dirty="0"/>
              <a:t> </a:t>
            </a:r>
            <a:r>
              <a:rPr spc="-84" dirty="0"/>
              <a:t>languages</a:t>
            </a:r>
            <a:r>
              <a:rPr spc="-11" dirty="0"/>
              <a:t> </a:t>
            </a:r>
            <a:r>
              <a:rPr spc="-42" dirty="0"/>
              <a:t>other</a:t>
            </a:r>
            <a:r>
              <a:rPr spc="-11" dirty="0"/>
              <a:t> </a:t>
            </a:r>
            <a:r>
              <a:rPr spc="-53" dirty="0"/>
              <a:t>than</a:t>
            </a:r>
            <a:r>
              <a:rPr spc="-11" dirty="0"/>
              <a:t> </a:t>
            </a:r>
            <a:r>
              <a:rPr spc="-137" dirty="0"/>
              <a:t>English)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26" y="2068931"/>
            <a:ext cx="8719203" cy="270959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938A3CC-93CD-6337-4BD3-C5C70745A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106" y="1313839"/>
            <a:ext cx="8493341" cy="552334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</a:pPr>
            <a:r>
              <a:rPr sz="2109" spc="7" dirty="0"/>
              <a:t>Improvements</a:t>
            </a:r>
            <a:r>
              <a:rPr sz="2109" spc="-4" dirty="0"/>
              <a:t> </a:t>
            </a:r>
            <a:r>
              <a:rPr sz="2109" spc="11" dirty="0"/>
              <a:t>haven’t</a:t>
            </a:r>
            <a:r>
              <a:rPr sz="2109" dirty="0"/>
              <a:t> plateaued!</a:t>
            </a:r>
            <a:endParaRPr sz="2109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25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marR="3572" indent="81704">
              <a:lnSpc>
                <a:spcPct val="101000"/>
              </a:lnSpc>
              <a:spcBef>
                <a:spcPts val="25"/>
              </a:spcBef>
            </a:pPr>
            <a:r>
              <a:rPr spc="-70" dirty="0"/>
              <a:t>What</a:t>
            </a:r>
            <a:r>
              <a:rPr spc="-14" dirty="0"/>
              <a:t> </a:t>
            </a:r>
            <a:r>
              <a:rPr spc="-18" dirty="0"/>
              <a:t>about</a:t>
            </a:r>
            <a:r>
              <a:rPr spc="-11" dirty="0"/>
              <a:t> </a:t>
            </a:r>
            <a:r>
              <a:rPr spc="-80" dirty="0"/>
              <a:t>reading </a:t>
            </a:r>
            <a:r>
              <a:rPr spc="-1005" dirty="0"/>
              <a:t> </a:t>
            </a:r>
            <a:r>
              <a:rPr spc="-56" dirty="0"/>
              <a:t>comprehension</a:t>
            </a:r>
            <a:r>
              <a:rPr spc="-18" dirty="0"/>
              <a:t> </a:t>
            </a:r>
            <a:r>
              <a:rPr spc="-116" dirty="0"/>
              <a:t>QA?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460" y="2626857"/>
            <a:ext cx="8352628" cy="1614634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182945" y="4424205"/>
            <a:ext cx="3813423" cy="385763"/>
          </a:xfrm>
          <a:custGeom>
            <a:avLst/>
            <a:gdLst/>
            <a:ahLst/>
            <a:cxnLst/>
            <a:rect l="l" t="t" r="r" b="b"/>
            <a:pathLst>
              <a:path w="5423534" h="548640">
                <a:moveTo>
                  <a:pt x="5423314" y="0"/>
                </a:moveTo>
                <a:lnTo>
                  <a:pt x="0" y="0"/>
                </a:lnTo>
                <a:lnTo>
                  <a:pt x="0" y="548131"/>
                </a:lnTo>
                <a:lnTo>
                  <a:pt x="5423314" y="548131"/>
                </a:lnTo>
                <a:lnTo>
                  <a:pt x="5423314" y="0"/>
                </a:lnTo>
                <a:close/>
              </a:path>
            </a:pathLst>
          </a:custGeom>
          <a:solidFill>
            <a:srgbClr val="F8B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234883" y="4440012"/>
            <a:ext cx="3709392" cy="333593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109" spc="7" dirty="0">
                <a:latin typeface="Arial MT"/>
                <a:cs typeface="Arial MT"/>
              </a:rPr>
              <a:t>Struggles</a:t>
            </a:r>
            <a:r>
              <a:rPr sz="2109" spc="-18" dirty="0">
                <a:latin typeface="Arial MT"/>
                <a:cs typeface="Arial MT"/>
              </a:rPr>
              <a:t> </a:t>
            </a:r>
            <a:r>
              <a:rPr sz="2109" spc="18" dirty="0">
                <a:latin typeface="Arial MT"/>
                <a:cs typeface="Arial MT"/>
              </a:rPr>
              <a:t>on</a:t>
            </a:r>
            <a:r>
              <a:rPr sz="2109" spc="-14" dirty="0">
                <a:latin typeface="Arial MT"/>
                <a:cs typeface="Arial MT"/>
              </a:rPr>
              <a:t> </a:t>
            </a:r>
            <a:r>
              <a:rPr sz="2109" spc="42" dirty="0">
                <a:latin typeface="Arial MT"/>
                <a:cs typeface="Arial MT"/>
              </a:rPr>
              <a:t>“harder”</a:t>
            </a:r>
            <a:r>
              <a:rPr sz="2109" spc="-14" dirty="0">
                <a:latin typeface="Arial MT"/>
                <a:cs typeface="Arial MT"/>
              </a:rPr>
              <a:t> </a:t>
            </a:r>
            <a:r>
              <a:rPr sz="2109" spc="14" dirty="0">
                <a:latin typeface="Arial MT"/>
                <a:cs typeface="Arial MT"/>
              </a:rPr>
              <a:t>datasets</a:t>
            </a:r>
            <a:endParaRPr sz="2109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1304CD-4817-4174-533E-037398DA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9322" y="2067423"/>
            <a:ext cx="4463956" cy="355134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281080" y="3654676"/>
            <a:ext cx="1688604" cy="74305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8929" marR="3572">
              <a:lnSpc>
                <a:spcPct val="100499"/>
              </a:lnSpc>
              <a:spcBef>
                <a:spcPts val="56"/>
              </a:spcBef>
            </a:pP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Lester</a:t>
            </a:r>
            <a:r>
              <a:rPr sz="2391" u="heavy" spc="-25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391" u="heavy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et</a:t>
            </a:r>
            <a:r>
              <a:rPr sz="2391" u="heavy" spc="-25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al., </a:t>
            </a:r>
            <a:r>
              <a:rPr sz="2391" spc="-654" dirty="0">
                <a:solidFill>
                  <a:srgbClr val="4285F4"/>
                </a:solidFill>
                <a:latin typeface="Arial MT"/>
                <a:cs typeface="Arial MT"/>
                <a:hlinkClick r:id="rId3"/>
              </a:rPr>
              <a:t> </a:t>
            </a:r>
            <a:r>
              <a:rPr sz="2391" u="heavy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2021</a:t>
            </a:r>
            <a:endParaRPr sz="2391" dirty="0">
              <a:latin typeface="Arial MT"/>
              <a:cs typeface="Arial 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1EDB-341B-C4D6-6F28-FA1B71A24FA6}"/>
              </a:ext>
            </a:extLst>
          </p:cNvPr>
          <p:cNvSpPr txBox="1"/>
          <p:nvPr/>
        </p:nvSpPr>
        <p:spPr>
          <a:xfrm>
            <a:off x="327659" y="759920"/>
            <a:ext cx="104152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Pract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i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cal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c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h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a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ll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e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ng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es: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 l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ar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g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e-sca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l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e m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od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e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l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s are 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costly 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to</a:t>
            </a:r>
            <a:r>
              <a:rPr lang="en-US" sz="2400" b="1" spc="4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lang="en-US" sz="2400" b="1" spc="-4" dirty="0">
                <a:solidFill>
                  <a:srgbClr val="3C4043"/>
                </a:solidFill>
                <a:latin typeface="Arial"/>
                <a:cs typeface="Arial"/>
              </a:rPr>
              <a:t>share and</a:t>
            </a:r>
            <a:r>
              <a:rPr lang="en-US" sz="2400" b="1" spc="-7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lang="en-US" sz="2400" b="1" dirty="0">
                <a:solidFill>
                  <a:srgbClr val="3C4043"/>
                </a:solidFill>
                <a:latin typeface="Arial"/>
                <a:cs typeface="Arial"/>
              </a:rPr>
              <a:t>serve</a:t>
            </a:r>
            <a:endParaRPr lang="en-US" sz="2400" dirty="0">
              <a:latin typeface="Arial"/>
              <a:cs typeface="Arial"/>
            </a:endParaRP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66700" y="990600"/>
            <a:ext cx="11658600" cy="1400167"/>
          </a:xfrm>
        </p:spPr>
        <p:txBody>
          <a:bodyPr vert="horz" wrap="square" lIns="0" tIns="893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Discrete/hard prompts</a:t>
            </a:r>
          </a:p>
          <a:p>
            <a:pPr lvl="1"/>
            <a:r>
              <a:rPr lang="en-US" dirty="0"/>
              <a:t>natural language instructions/task descriptions</a:t>
            </a:r>
          </a:p>
          <a:p>
            <a:r>
              <a:rPr lang="en-US" dirty="0"/>
              <a:t>Used also to fine-tune models using MLM/LM objectives. 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168763"/>
            <a:ext cx="11658600" cy="673712"/>
          </a:xfrm>
        </p:spPr>
        <p:txBody>
          <a:bodyPr vert="horz" wrap="square" lIns="0" tIns="5759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Discrete/hard prompts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FF13-83EE-AAA3-41F9-9F4BB7A8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PET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8C6563-8F9F-FD2A-EB38-F73BB9DC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57C65-7E8B-D0C5-24F7-8ED4AF092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247" y="1109479"/>
            <a:ext cx="2826238" cy="556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187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07CC-8965-3FA2-B1CA-A728C498D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LM-BFF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F4C398-2075-90D4-710B-F2FEFF9D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3407-782D-F2D2-AAB9-2913DD0629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6394"/>
          <a:stretch/>
        </p:blipFill>
        <p:spPr>
          <a:xfrm>
            <a:off x="400211" y="3006912"/>
            <a:ext cx="11791789" cy="19158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D7FEDA-7BD5-A5F3-3C28-A3F0D7E97096}"/>
              </a:ext>
            </a:extLst>
          </p:cNvPr>
          <p:cNvSpPr txBox="1"/>
          <p:nvPr/>
        </p:nvSpPr>
        <p:spPr>
          <a:xfrm>
            <a:off x="699247" y="1299883"/>
            <a:ext cx="3872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Prompt-based fine-tuning with demonstrations</a:t>
            </a:r>
          </a:p>
        </p:txBody>
      </p:sp>
    </p:spTree>
    <p:extLst>
      <p:ext uri="{BB962C8B-B14F-4D97-AF65-F5344CB8AC3E}">
        <p14:creationId xmlns:p14="http://schemas.microsoft.com/office/powerpoint/2010/main" val="3041487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3C09CC-3BC5-048C-24E6-49799213B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requiring domain expertise/understanding of the model’s inner workings</a:t>
            </a:r>
          </a:p>
          <a:p>
            <a:r>
              <a:rPr lang="en-US" dirty="0"/>
              <a:t>performance still lags far behind SOTA model tuning results</a:t>
            </a:r>
          </a:p>
          <a:p>
            <a:r>
              <a:rPr lang="en-US" dirty="0"/>
              <a:t>sub-optimal and sensitive</a:t>
            </a:r>
          </a:p>
          <a:p>
            <a:r>
              <a:rPr lang="en-US" dirty="0"/>
              <a:t>prompts that humans consider reasonable is not necessarily  effective for language models (</a:t>
            </a:r>
            <a:r>
              <a:rPr lang="en-US" dirty="0">
                <a:hlinkClick r:id="rId2"/>
              </a:rPr>
              <a:t>Liu et al., 2021</a:t>
            </a:r>
            <a:r>
              <a:rPr lang="en-US" dirty="0"/>
              <a:t>)</a:t>
            </a:r>
          </a:p>
          <a:p>
            <a:r>
              <a:rPr lang="en-US" dirty="0"/>
              <a:t>pre-trained language models are sensitive to the choice of  prompts (</a:t>
            </a:r>
            <a:r>
              <a:rPr lang="en-US" dirty="0">
                <a:hlinkClick r:id="rId3"/>
              </a:rPr>
              <a:t>Zhao et al., 2021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CA81B80-9D22-89C4-EC5D-FE6DD0EAE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prompts: problems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BFEB94-298B-89BB-4DD8-D4F170DC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03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F3CC-3FA1-19DE-492E-6BC8664FB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Sub-optimal and sensitive discrete/hard prompts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4E8E8D-0AE4-BFDB-212A-F7A1A8B7E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auto">
              <a:spcBef>
                <a:spcPts val="0"/>
              </a:spcBef>
              <a:spcAft>
                <a:spcPts val="0"/>
              </a:spcAft>
              <a:defRPr sz="12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fld id="{89D00882-420D-446F-B065-6675A463A27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4C349-0E03-24D6-B31D-DABE84BF7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96" y="1274618"/>
            <a:ext cx="5175786" cy="540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13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37201" y="2167465"/>
            <a:ext cx="7211881" cy="274811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246749" y="5094060"/>
            <a:ext cx="2010073" cy="37693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Liu</a:t>
            </a:r>
            <a:r>
              <a:rPr sz="2391" u="heavy" spc="-21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et</a:t>
            </a:r>
            <a:r>
              <a:rPr sz="2391" u="heavy" spc="-18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al.,</a:t>
            </a:r>
            <a:r>
              <a:rPr sz="2391" u="heavy" spc="-21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2391" u="heavy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3"/>
              </a:rPr>
              <a:t>2021</a:t>
            </a:r>
            <a:endParaRPr sz="2391" dirty="0">
              <a:latin typeface="Arial MT"/>
              <a:cs typeface="Arial M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001AA4-A268-2CD5-1B33-9468FEC28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Sub-optimal and sensitive discrete/hard prompts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DD0BB-274A-5B5E-D792-3C5DB800C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Progress in prompt-based learning</a:t>
            </a:r>
          </a:p>
          <a:p>
            <a:pPr lvl="1"/>
            <a:r>
              <a:rPr lang="en-US" dirty="0"/>
              <a:t>manual prompt design (</a:t>
            </a:r>
            <a:r>
              <a:rPr lang="en-US" dirty="0">
                <a:hlinkClick r:id="rId2"/>
              </a:rPr>
              <a:t>Brown et al., 2020</a:t>
            </a:r>
            <a:r>
              <a:rPr lang="en-US" dirty="0"/>
              <a:t>; </a:t>
            </a:r>
            <a:r>
              <a:rPr lang="en-US" dirty="0">
                <a:hlinkClick r:id="rId3"/>
              </a:rPr>
              <a:t>Schick and </a:t>
            </a:r>
            <a:r>
              <a:rPr lang="en-US" dirty="0" err="1">
                <a:hlinkClick r:id="rId3"/>
              </a:rPr>
              <a:t>Schuetze</a:t>
            </a:r>
            <a:r>
              <a:rPr lang="en-US" dirty="0">
                <a:hlinkClick r:id="rId3"/>
              </a:rPr>
              <a:t>,  2021a,b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mining and paraphrasing based methods to automatically augment the prompt sets (</a:t>
            </a:r>
            <a:r>
              <a:rPr lang="en-US" dirty="0">
                <a:hlinkClick r:id="rId4"/>
              </a:rPr>
              <a:t>Jiang et al., 2020</a:t>
            </a:r>
            <a:r>
              <a:rPr lang="en-US" dirty="0"/>
              <a:t>, </a:t>
            </a:r>
            <a:r>
              <a:rPr lang="en-US" dirty="0" err="1">
                <a:hlinkClick r:id="rId5"/>
              </a:rPr>
              <a:t>Abaskohi</a:t>
            </a:r>
            <a:r>
              <a:rPr lang="en-US" dirty="0">
                <a:hlinkClick r:id="rId5"/>
              </a:rPr>
              <a:t> et al., 2023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gradient-based search for improved discrete/hard prompts (</a:t>
            </a:r>
            <a:r>
              <a:rPr lang="en-US" dirty="0">
                <a:hlinkClick r:id="rId6"/>
              </a:rPr>
              <a:t>Shin et  al., 2020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automatic prompt generation using a separate generative language model (i.e., T5) (</a:t>
            </a:r>
            <a:r>
              <a:rPr lang="en-US" dirty="0">
                <a:hlinkClick r:id="rId7"/>
              </a:rPr>
              <a:t>Gao et al., 2020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learning continuous/soft prompts (</a:t>
            </a:r>
            <a:r>
              <a:rPr lang="en-US" dirty="0">
                <a:hlinkClick r:id="rId8"/>
              </a:rPr>
              <a:t>Liu et al., 2021</a:t>
            </a:r>
            <a:r>
              <a:rPr lang="en-US" dirty="0"/>
              <a:t>; </a:t>
            </a:r>
            <a:r>
              <a:rPr lang="en-US" dirty="0">
                <a:hlinkClick r:id="rId9"/>
              </a:rPr>
              <a:t>Li and Liang.,  2021</a:t>
            </a:r>
            <a:r>
              <a:rPr lang="en-US" dirty="0"/>
              <a:t>; </a:t>
            </a:r>
            <a:r>
              <a:rPr lang="en-US" dirty="0">
                <a:hlinkClick r:id="rId10"/>
              </a:rPr>
              <a:t>Qin and Eisner., 2021</a:t>
            </a:r>
            <a:r>
              <a:rPr lang="en-US" dirty="0"/>
              <a:t>; </a:t>
            </a:r>
            <a:r>
              <a:rPr lang="en-US" dirty="0">
                <a:hlinkClick r:id="rId11"/>
              </a:rPr>
              <a:t>Lester et al., 2021</a:t>
            </a:r>
            <a:r>
              <a:rPr lang="en-US" dirty="0"/>
              <a:t>)</a:t>
            </a:r>
          </a:p>
          <a:p>
            <a:r>
              <a:rPr lang="en-US" dirty="0"/>
              <a:t>Continuous/soft prompts</a:t>
            </a:r>
          </a:p>
          <a:p>
            <a:pPr lvl="1"/>
            <a:r>
              <a:rPr lang="en-US" dirty="0"/>
              <a:t>additional learnable parameters injected into the model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230318"/>
            <a:ext cx="12148038" cy="550601"/>
          </a:xfrm>
        </p:spPr>
        <p:txBody>
          <a:bodyPr vert="horz" wrap="square" lIns="0" tIns="5759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Shifting from discrete/hard to continuous/soft prompts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36D0DB-3E47-759A-6D9B-A365CBB7F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P-tuning (</a:t>
            </a:r>
            <a:r>
              <a:rPr lang="en-US" dirty="0">
                <a:hlinkClick r:id="rId2"/>
              </a:rPr>
              <a:t>Liu et al., 2021</a:t>
            </a:r>
            <a:r>
              <a:rPr lang="en-US" dirty="0"/>
              <a:t>): encode dependencies between prompt tokens using a </a:t>
            </a:r>
            <a:r>
              <a:rPr lang="en-US" dirty="0" err="1"/>
              <a:t>BiLSTM</a:t>
            </a:r>
            <a:r>
              <a:rPr lang="en-US" dirty="0"/>
              <a:t> network</a:t>
            </a:r>
          </a:p>
          <a:p>
            <a:endParaRPr lang="en-US" dirty="0"/>
          </a:p>
          <a:p>
            <a:r>
              <a:rPr lang="en-US" dirty="0"/>
              <a:t>P-tuning (</a:t>
            </a:r>
            <a:r>
              <a:rPr lang="en-US" dirty="0">
                <a:hlinkClick r:id="rId2"/>
              </a:rPr>
              <a:t>Liu et al., 2021</a:t>
            </a:r>
            <a:r>
              <a:rPr lang="en-US" dirty="0"/>
              <a:t>), Prefix Tuning (</a:t>
            </a:r>
            <a:r>
              <a:rPr lang="en-US" dirty="0">
                <a:hlinkClick r:id="rId3"/>
              </a:rPr>
              <a:t>Li and Liang.,  2021</a:t>
            </a:r>
            <a:r>
              <a:rPr lang="en-US" dirty="0"/>
              <a:t>): inject prompts at different positions of the input / model</a:t>
            </a:r>
          </a:p>
          <a:p>
            <a:endParaRPr lang="en-US" dirty="0"/>
          </a:p>
          <a:p>
            <a:r>
              <a:rPr lang="en-US" dirty="0"/>
              <a:t>P-tuning (</a:t>
            </a:r>
            <a:r>
              <a:rPr lang="en-US" dirty="0">
                <a:hlinkClick r:id="rId2"/>
              </a:rPr>
              <a:t>Liu et al., 2021</a:t>
            </a:r>
            <a:r>
              <a:rPr lang="en-US" dirty="0"/>
              <a:t>): use mixed prompt initialization strategies</a:t>
            </a:r>
          </a:p>
          <a:p>
            <a:endParaRPr lang="en-US" dirty="0"/>
          </a:p>
          <a:p>
            <a:r>
              <a:rPr lang="en-US" dirty="0"/>
              <a:t>Soft Prompts (</a:t>
            </a:r>
            <a:r>
              <a:rPr lang="en-US" dirty="0">
                <a:hlinkClick r:id="rId4"/>
              </a:rPr>
              <a:t>Qin and Eisner., 2021</a:t>
            </a:r>
            <a:r>
              <a:rPr lang="en-US" dirty="0"/>
              <a:t>): use ensemble methods, e.g., mixture-of-experts</a:t>
            </a:r>
          </a:p>
          <a:p>
            <a:endParaRPr lang="en-US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" y="-15903"/>
            <a:ext cx="11658600" cy="1043043"/>
          </a:xfrm>
        </p:spPr>
        <p:txBody>
          <a:bodyPr vert="horz" wrap="square" lIns="0" tIns="5759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/>
              <a:t>It remains unclear how to learn continuous/soft prompts effectively?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99" y="225292"/>
            <a:ext cx="11658601" cy="560835"/>
          </a:xfrm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</a:pPr>
            <a:r>
              <a:rPr sz="3586" b="1" spc="-14" dirty="0">
                <a:latin typeface="Arial"/>
                <a:cs typeface="Arial"/>
              </a:rPr>
              <a:t>Prefix</a:t>
            </a:r>
            <a:r>
              <a:rPr sz="3586" b="1" spc="-4" dirty="0">
                <a:latin typeface="Arial"/>
                <a:cs typeface="Arial"/>
              </a:rPr>
              <a:t> </a:t>
            </a:r>
            <a:r>
              <a:rPr sz="3586" b="1" spc="-35" dirty="0">
                <a:latin typeface="Arial"/>
                <a:cs typeface="Arial"/>
              </a:rPr>
              <a:t>tuning</a:t>
            </a:r>
            <a:r>
              <a:rPr sz="3586" b="1" dirty="0">
                <a:latin typeface="Arial"/>
                <a:cs typeface="Arial"/>
              </a:rPr>
              <a:t> </a:t>
            </a:r>
            <a:r>
              <a:rPr sz="3586" b="1" spc="-91" dirty="0">
                <a:latin typeface="Arial"/>
                <a:cs typeface="Arial"/>
              </a:rPr>
              <a:t>(</a:t>
            </a:r>
            <a:r>
              <a:rPr sz="3586" b="1" spc="-91" dirty="0">
                <a:latin typeface="Arial"/>
                <a:cs typeface="Arial"/>
                <a:hlinkClick r:id="rId3"/>
              </a:rPr>
              <a:t>Li</a:t>
            </a:r>
            <a:r>
              <a:rPr sz="3586" b="1" dirty="0">
                <a:latin typeface="Arial"/>
                <a:cs typeface="Arial"/>
                <a:hlinkClick r:id="rId3"/>
              </a:rPr>
              <a:t> </a:t>
            </a:r>
            <a:r>
              <a:rPr sz="3586" b="1" spc="-134" dirty="0">
                <a:latin typeface="Arial"/>
                <a:cs typeface="Arial"/>
                <a:hlinkClick r:id="rId3"/>
              </a:rPr>
              <a:t>&amp;</a:t>
            </a:r>
            <a:r>
              <a:rPr sz="3586" b="1" spc="-4" dirty="0">
                <a:latin typeface="Arial"/>
                <a:cs typeface="Arial"/>
                <a:hlinkClick r:id="rId3"/>
              </a:rPr>
              <a:t> </a:t>
            </a:r>
            <a:r>
              <a:rPr sz="3586" b="1" spc="-25" dirty="0">
                <a:latin typeface="Arial"/>
                <a:cs typeface="Arial"/>
                <a:hlinkClick r:id="rId3"/>
              </a:rPr>
              <a:t>Liang,</a:t>
            </a:r>
            <a:r>
              <a:rPr sz="3586" b="1" dirty="0">
                <a:latin typeface="Arial"/>
                <a:cs typeface="Arial"/>
                <a:hlinkClick r:id="rId3"/>
              </a:rPr>
              <a:t> </a:t>
            </a:r>
            <a:r>
              <a:rPr sz="3586" b="1" spc="-46" dirty="0">
                <a:latin typeface="Arial"/>
                <a:cs typeface="Arial"/>
                <a:hlinkClick r:id="rId3"/>
              </a:rPr>
              <a:t>ACL</a:t>
            </a:r>
            <a:r>
              <a:rPr sz="3586" b="1" spc="-4" dirty="0">
                <a:latin typeface="Arial"/>
                <a:cs typeface="Arial"/>
                <a:hlinkClick r:id="rId3"/>
              </a:rPr>
              <a:t> </a:t>
            </a:r>
            <a:r>
              <a:rPr sz="3586" b="1" spc="-28" dirty="0">
                <a:latin typeface="Arial"/>
                <a:cs typeface="Arial"/>
                <a:hlinkClick r:id="rId3"/>
              </a:rPr>
              <a:t>2021</a:t>
            </a:r>
            <a:r>
              <a:rPr sz="3586" b="1" spc="-28" dirty="0">
                <a:latin typeface="Arial"/>
                <a:cs typeface="Arial"/>
              </a:rPr>
              <a:t>)</a:t>
            </a:r>
            <a:endParaRPr sz="3586" dirty="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33117" y="1588270"/>
            <a:ext cx="6286500" cy="484435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5EDB328D-1421-9CA4-AEEC-1800F2D8A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What is a prompt in Prompt Tuning?</a:t>
            </a:r>
          </a:p>
          <a:p>
            <a:pPr lvl="1"/>
            <a:r>
              <a:rPr lang="en-US" sz="2800" dirty="0"/>
              <a:t>a sequence of additional task-specific tunable </a:t>
            </a:r>
            <a:r>
              <a:rPr lang="en-US" sz="2800" dirty="0">
                <a:solidFill>
                  <a:srgbClr val="00B050"/>
                </a:solidFill>
              </a:rPr>
              <a:t>tokens</a:t>
            </a:r>
            <a:r>
              <a:rPr lang="en-US" sz="2800" dirty="0"/>
              <a:t>  prepended to the input text</a:t>
            </a:r>
          </a:p>
          <a:p>
            <a:endParaRPr lang="en-US" sz="320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/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Prompt Tuning idea (Lester et al., 2021)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</a:pP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Parameter-efficient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Prompt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42" dirty="0">
                <a:solidFill>
                  <a:srgbClr val="3C4043"/>
                </a:solidFill>
                <a:latin typeface="Arial"/>
                <a:cs typeface="Arial"/>
              </a:rPr>
              <a:t>Tuning</a:t>
            </a:r>
            <a:endParaRPr sz="3094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7237" y="2263229"/>
            <a:ext cx="8457526" cy="31514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168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 marR="3572">
              <a:lnSpc>
                <a:spcPts val="3354"/>
              </a:lnSpc>
              <a:spcBef>
                <a:spcPts val="482"/>
              </a:spcBef>
              <a:tabLst>
                <a:tab pos="4694616" algn="l"/>
                <a:tab pos="5764801" algn="l"/>
              </a:tabLst>
            </a:pP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Pr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o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m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p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t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229" dirty="0">
                <a:solidFill>
                  <a:srgbClr val="3C4043"/>
                </a:solidFill>
                <a:latin typeface="Arial"/>
                <a:cs typeface="Arial"/>
              </a:rPr>
              <a:t>T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unin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g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 b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ec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o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mes	m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o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re	c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o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m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p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et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i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t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i</a:t>
            </a:r>
            <a:r>
              <a:rPr sz="3094" b="1" dirty="0">
                <a:solidFill>
                  <a:srgbClr val="3C4043"/>
                </a:solidFill>
                <a:latin typeface="Arial"/>
                <a:cs typeface="Arial"/>
              </a:rPr>
              <a:t>ve  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with</a:t>
            </a:r>
            <a:r>
              <a:rPr sz="3094" b="1" spc="-7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scale</a:t>
            </a:r>
            <a:endParaRPr sz="3094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1009" y="1529342"/>
            <a:ext cx="5713970" cy="444473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3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929">
              <a:spcBef>
                <a:spcPts val="70"/>
              </a:spcBef>
              <a:tabLst>
                <a:tab pos="1230914" algn="l"/>
                <a:tab pos="1863560" algn="l"/>
              </a:tabLst>
            </a:pP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Room	for	improving</a:t>
            </a:r>
            <a:r>
              <a:rPr sz="3094" b="1" spc="-21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4" dirty="0">
                <a:solidFill>
                  <a:srgbClr val="3C4043"/>
                </a:solidFill>
                <a:latin typeface="Arial"/>
                <a:cs typeface="Arial"/>
              </a:rPr>
              <a:t>Prompt</a:t>
            </a:r>
            <a:r>
              <a:rPr sz="3094" b="1" spc="-18" dirty="0">
                <a:solidFill>
                  <a:srgbClr val="3C4043"/>
                </a:solidFill>
                <a:latin typeface="Arial"/>
                <a:cs typeface="Arial"/>
              </a:rPr>
              <a:t> </a:t>
            </a:r>
            <a:r>
              <a:rPr sz="3094" b="1" spc="-42" dirty="0">
                <a:solidFill>
                  <a:srgbClr val="3C4043"/>
                </a:solidFill>
                <a:latin typeface="Arial"/>
                <a:cs typeface="Arial"/>
              </a:rPr>
              <a:t>Tuning</a:t>
            </a:r>
            <a:endParaRPr sz="3094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79804" y="3217742"/>
            <a:ext cx="1688604" cy="743056"/>
          </a:xfrm>
          <a:prstGeom prst="rect">
            <a:avLst/>
          </a:prstGeom>
        </p:spPr>
        <p:txBody>
          <a:bodyPr vert="horz" wrap="square" lIns="0" tIns="7144" rIns="0" bIns="0" rtlCol="0">
            <a:spAutoFit/>
          </a:bodyPr>
          <a:lstStyle/>
          <a:p>
            <a:pPr marL="8929" marR="3572">
              <a:lnSpc>
                <a:spcPct val="100499"/>
              </a:lnSpc>
              <a:spcBef>
                <a:spcPts val="56"/>
              </a:spcBef>
            </a:pP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Lester</a:t>
            </a:r>
            <a:r>
              <a:rPr sz="2391" u="heavy" spc="-25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391" u="heavy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et</a:t>
            </a:r>
            <a:r>
              <a:rPr sz="2391" u="heavy" spc="-25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2391" u="heavy" spc="-4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al., </a:t>
            </a:r>
            <a:r>
              <a:rPr sz="2391" spc="-654" dirty="0">
                <a:solidFill>
                  <a:srgbClr val="4285F4"/>
                </a:solidFill>
                <a:latin typeface="Arial MT"/>
                <a:cs typeface="Arial MT"/>
                <a:hlinkClick r:id="rId2"/>
              </a:rPr>
              <a:t> </a:t>
            </a:r>
            <a:r>
              <a:rPr sz="2391" u="heavy" dirty="0">
                <a:solidFill>
                  <a:srgbClr val="4285F4"/>
                </a:solidFill>
                <a:uFill>
                  <a:solidFill>
                    <a:srgbClr val="4285F4"/>
                  </a:solidFill>
                </a:uFill>
                <a:latin typeface="Arial MT"/>
                <a:cs typeface="Arial MT"/>
                <a:hlinkClick r:id="rId2"/>
              </a:rPr>
              <a:t>2021</a:t>
            </a:r>
            <a:endParaRPr sz="2391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73117" y="1754445"/>
            <a:ext cx="4992141" cy="3807619"/>
            <a:chOff x="3625411" y="2495211"/>
            <a:chExt cx="7099934" cy="54152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5411" y="2495211"/>
              <a:ext cx="7099467" cy="54152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67793" y="4606260"/>
              <a:ext cx="223520" cy="64716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79553" y="4740880"/>
              <a:ext cx="0" cy="327660"/>
            </a:xfrm>
            <a:custGeom>
              <a:avLst/>
              <a:gdLst/>
              <a:ahLst/>
              <a:cxnLst/>
              <a:rect l="l" t="t" r="r" b="b"/>
              <a:pathLst>
                <a:path h="327660">
                  <a:moveTo>
                    <a:pt x="0" y="0"/>
                  </a:moveTo>
                  <a:lnTo>
                    <a:pt x="0" y="327129"/>
                  </a:lnTo>
                </a:path>
              </a:pathLst>
            </a:custGeom>
            <a:ln w="25400">
              <a:solidFill>
                <a:srgbClr val="EA4335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18592" y="4631664"/>
              <a:ext cx="121920" cy="546100"/>
            </a:xfrm>
            <a:custGeom>
              <a:avLst/>
              <a:gdLst/>
              <a:ahLst/>
              <a:cxnLst/>
              <a:rect l="l" t="t" r="r" b="b"/>
              <a:pathLst>
                <a:path w="121920" h="546100">
                  <a:moveTo>
                    <a:pt x="121920" y="423646"/>
                  </a:moveTo>
                  <a:lnTo>
                    <a:pt x="0" y="423646"/>
                  </a:lnTo>
                  <a:lnTo>
                    <a:pt x="60960" y="545566"/>
                  </a:lnTo>
                  <a:lnTo>
                    <a:pt x="121920" y="423646"/>
                  </a:lnTo>
                  <a:close/>
                </a:path>
                <a:path w="121920" h="546100">
                  <a:moveTo>
                    <a:pt x="121920" y="121920"/>
                  </a:moveTo>
                  <a:lnTo>
                    <a:pt x="60960" y="0"/>
                  </a:lnTo>
                  <a:lnTo>
                    <a:pt x="0" y="121920"/>
                  </a:lnTo>
                  <a:lnTo>
                    <a:pt x="121920" y="12192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27452" y="4355114"/>
            <a:ext cx="1857375" cy="37693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391" b="1" spc="-4" dirty="0">
                <a:solidFill>
                  <a:srgbClr val="EA4335"/>
                </a:solidFill>
                <a:latin typeface="Arial"/>
                <a:cs typeface="Arial"/>
              </a:rPr>
              <a:t>performance</a:t>
            </a:r>
            <a:endParaRPr sz="239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424167" y="3387453"/>
            <a:ext cx="5996285" cy="1357759"/>
            <a:chOff x="2702460" y="4817711"/>
            <a:chExt cx="8528050" cy="193103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2553" y="4817711"/>
              <a:ext cx="4777357" cy="19307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641241" y="4952270"/>
              <a:ext cx="4502785" cy="1648460"/>
            </a:xfrm>
            <a:custGeom>
              <a:avLst/>
              <a:gdLst/>
              <a:ahLst/>
              <a:cxnLst/>
              <a:rect l="l" t="t" r="r" b="b"/>
              <a:pathLst>
                <a:path w="4502784" h="1648459">
                  <a:moveTo>
                    <a:pt x="4502545" y="1648344"/>
                  </a:moveTo>
                  <a:lnTo>
                    <a:pt x="11925" y="4365"/>
                  </a:lnTo>
                  <a:lnTo>
                    <a:pt x="0" y="0"/>
                  </a:lnTo>
                </a:path>
              </a:pathLst>
            </a:custGeom>
            <a:ln w="25399">
              <a:solidFill>
                <a:srgbClr val="EA43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38678" y="4899393"/>
              <a:ext cx="135890" cy="114935"/>
            </a:xfrm>
            <a:custGeom>
              <a:avLst/>
              <a:gdLst/>
              <a:ahLst/>
              <a:cxnLst/>
              <a:rect l="l" t="t" r="r" b="b"/>
              <a:pathLst>
                <a:path w="135890" h="114935">
                  <a:moveTo>
                    <a:pt x="135445" y="0"/>
                  </a:moveTo>
                  <a:lnTo>
                    <a:pt x="0" y="15330"/>
                  </a:lnTo>
                  <a:lnTo>
                    <a:pt x="93531" y="114489"/>
                  </a:lnTo>
                  <a:lnTo>
                    <a:pt x="135445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2460" y="5377546"/>
              <a:ext cx="2759267" cy="97009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81484" y="5502874"/>
              <a:ext cx="2496185" cy="698500"/>
            </a:xfrm>
            <a:custGeom>
              <a:avLst/>
              <a:gdLst/>
              <a:ahLst/>
              <a:cxnLst/>
              <a:rect l="l" t="t" r="r" b="b"/>
              <a:pathLst>
                <a:path w="2496185" h="698500">
                  <a:moveTo>
                    <a:pt x="0" y="698058"/>
                  </a:moveTo>
                  <a:lnTo>
                    <a:pt x="2483805" y="3420"/>
                  </a:lnTo>
                  <a:lnTo>
                    <a:pt x="2496036" y="0"/>
                  </a:lnTo>
                </a:path>
              </a:pathLst>
            </a:custGeom>
            <a:ln w="25400">
              <a:solidFill>
                <a:srgbClr val="EA43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248870" y="5447588"/>
              <a:ext cx="133985" cy="117475"/>
            </a:xfrm>
            <a:custGeom>
              <a:avLst/>
              <a:gdLst/>
              <a:ahLst/>
              <a:cxnLst/>
              <a:rect l="l" t="t" r="r" b="b"/>
              <a:pathLst>
                <a:path w="133985" h="117475">
                  <a:moveTo>
                    <a:pt x="0" y="0"/>
                  </a:moveTo>
                  <a:lnTo>
                    <a:pt x="32837" y="117415"/>
                  </a:lnTo>
                  <a:lnTo>
                    <a:pt x="133833" y="25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405401" y="4461904"/>
            <a:ext cx="1165324" cy="376938"/>
          </a:xfrm>
          <a:prstGeom prst="rect">
            <a:avLst/>
          </a:prstGeom>
        </p:spPr>
        <p:txBody>
          <a:bodyPr vert="horz" wrap="square" lIns="0" tIns="8930" rIns="0" bIns="0" rtlCol="0">
            <a:spAutoFit/>
          </a:bodyPr>
          <a:lstStyle/>
          <a:p>
            <a:pPr marL="8929">
              <a:spcBef>
                <a:spcPts val="70"/>
              </a:spcBef>
            </a:pPr>
            <a:r>
              <a:rPr sz="2391" b="1" spc="-4" dirty="0">
                <a:solidFill>
                  <a:srgbClr val="EA4335"/>
                </a:solidFill>
                <a:latin typeface="Arial"/>
                <a:cs typeface="Arial"/>
              </a:rPr>
              <a:t>stability</a:t>
            </a:r>
            <a:endParaRPr sz="2391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264754" y="3456158"/>
            <a:ext cx="157163" cy="867966"/>
            <a:chOff x="5320184" y="4915425"/>
            <a:chExt cx="223520" cy="1234440"/>
          </a:xfrm>
        </p:grpSpPr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20184" y="4915425"/>
              <a:ext cx="223520" cy="123389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431944" y="5050045"/>
              <a:ext cx="0" cy="914400"/>
            </a:xfrm>
            <a:custGeom>
              <a:avLst/>
              <a:gdLst/>
              <a:ahLst/>
              <a:cxnLst/>
              <a:rect l="l" t="t" r="r" b="b"/>
              <a:pathLst>
                <a:path h="914400">
                  <a:moveTo>
                    <a:pt x="0" y="0"/>
                  </a:moveTo>
                  <a:lnTo>
                    <a:pt x="0" y="913850"/>
                  </a:lnTo>
                </a:path>
              </a:pathLst>
            </a:custGeom>
            <a:ln w="25400">
              <a:solidFill>
                <a:srgbClr val="EA4335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370982" y="4940833"/>
              <a:ext cx="121920" cy="1132840"/>
            </a:xfrm>
            <a:custGeom>
              <a:avLst/>
              <a:gdLst/>
              <a:ahLst/>
              <a:cxnLst/>
              <a:rect l="l" t="t" r="r" b="b"/>
              <a:pathLst>
                <a:path w="121920" h="1132839">
                  <a:moveTo>
                    <a:pt x="121920" y="1010373"/>
                  </a:moveTo>
                  <a:lnTo>
                    <a:pt x="0" y="1010373"/>
                  </a:lnTo>
                  <a:lnTo>
                    <a:pt x="60960" y="1132293"/>
                  </a:lnTo>
                  <a:lnTo>
                    <a:pt x="121920" y="1010373"/>
                  </a:lnTo>
                  <a:close/>
                </a:path>
                <a:path w="121920" h="1132839">
                  <a:moveTo>
                    <a:pt x="121920" y="121920"/>
                  </a:moveTo>
                  <a:lnTo>
                    <a:pt x="60960" y="0"/>
                  </a:lnTo>
                  <a:lnTo>
                    <a:pt x="0" y="121920"/>
                  </a:lnTo>
                  <a:lnTo>
                    <a:pt x="121920" y="121920"/>
                  </a:lnTo>
                  <a:close/>
                </a:path>
              </a:pathLst>
            </a:custGeom>
            <a:solidFill>
              <a:srgbClr val="EA43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6E23C7-06B9-4029-8CA4-44FA5D565108}"/>
</file>

<file path=customXml/itemProps2.xml><?xml version="1.0" encoding="utf-8"?>
<ds:datastoreItem xmlns:ds="http://schemas.openxmlformats.org/officeDocument/2006/customXml" ds:itemID="{6AA6971F-2AFA-4C8E-940A-A05354340460}"/>
</file>

<file path=customXml/itemProps3.xml><?xml version="1.0" encoding="utf-8"?>
<ds:datastoreItem xmlns:ds="http://schemas.openxmlformats.org/officeDocument/2006/customXml" ds:itemID="{8FEACCDA-F1CE-49DE-BBEA-4B01738AA84F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10712</TotalTime>
  <Words>850</Words>
  <Application>Microsoft Office PowerPoint</Application>
  <PresentationFormat>Widescreen</PresentationFormat>
  <Paragraphs>101</Paragraphs>
  <Slides>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Arial MT</vt:lpstr>
      <vt:lpstr>Calibri</vt:lpstr>
      <vt:lpstr>Courier New</vt:lpstr>
      <vt:lpstr>HelveticaNeue</vt:lpstr>
      <vt:lpstr>Times New Roman</vt:lpstr>
      <vt:lpstr>Wingdings</vt:lpstr>
      <vt:lpstr>Main</vt:lpstr>
      <vt:lpstr>Prompt-Based Learning</vt:lpstr>
      <vt:lpstr>Trend (before 2022)</vt:lpstr>
      <vt:lpstr>The language model “scaling wars”!</vt:lpstr>
      <vt:lpstr>The language model “scaling wars”!</vt:lpstr>
      <vt:lpstr>The language model “scaling wars”!</vt:lpstr>
      <vt:lpstr>2022-2023: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does this new paradigm compare to “pretrain + finetune”?</vt:lpstr>
      <vt:lpstr>TriviaQA</vt:lpstr>
      <vt:lpstr>PowerPoint Presentation</vt:lpstr>
      <vt:lpstr>What about translation? (7% of  GPT3’s training data is in languages other than English)</vt:lpstr>
      <vt:lpstr>PowerPoint Presentation</vt:lpstr>
      <vt:lpstr>Improvements haven’t plateaued!</vt:lpstr>
      <vt:lpstr>What about reading  comprehension QA?</vt:lpstr>
      <vt:lpstr>PowerPoint Presentation</vt:lpstr>
      <vt:lpstr>PowerPoint Presentation</vt:lpstr>
      <vt:lpstr>Discrete/hard prompts</vt:lpstr>
      <vt:lpstr>PET</vt:lpstr>
      <vt:lpstr>LM-BFF</vt:lpstr>
      <vt:lpstr>Discrete prompts: problems</vt:lpstr>
      <vt:lpstr>Sub-optimal and sensitive discrete/hard prompts</vt:lpstr>
      <vt:lpstr>Sub-optimal and sensitive discrete/hard prompts</vt:lpstr>
      <vt:lpstr>Shifting from discrete/hard to continuous/soft prompts</vt:lpstr>
      <vt:lpstr>It remains unclear how to learn continuous/soft prompts effectively?</vt:lpstr>
      <vt:lpstr>Prefix tuning (Li &amp; Liang, ACL 2021)</vt:lpstr>
      <vt:lpstr>Prompt Tuning idea (Lester et al., 2021)</vt:lpstr>
      <vt:lpstr>Parameter-efficient Prompt Tuning</vt:lpstr>
      <vt:lpstr>Prompt Tuning becomes more competitive  with scale</vt:lpstr>
      <vt:lpstr>Room for improving Prompt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155</cp:revision>
  <dcterms:created xsi:type="dcterms:W3CDTF">2021-09-22T08:38:12Z</dcterms:created>
  <dcterms:modified xsi:type="dcterms:W3CDTF">2024-03-13T07:33:42Z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