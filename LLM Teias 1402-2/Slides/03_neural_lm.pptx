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7"/>
  </p:notesMasterIdLst>
  <p:sldIdLst>
    <p:sldId id="367" r:id="rId2"/>
    <p:sldId id="265" r:id="rId3"/>
    <p:sldId id="266" r:id="rId4"/>
    <p:sldId id="267" r:id="rId5"/>
    <p:sldId id="268" r:id="rId6"/>
    <p:sldId id="269" r:id="rId7"/>
    <p:sldId id="270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4" r:id="rId19"/>
    <p:sldId id="293" r:id="rId20"/>
    <p:sldId id="294" r:id="rId21"/>
    <p:sldId id="297" r:id="rId22"/>
    <p:sldId id="298" r:id="rId23"/>
    <p:sldId id="300" r:id="rId24"/>
    <p:sldId id="301" r:id="rId25"/>
    <p:sldId id="302" r:id="rId26"/>
    <p:sldId id="304" r:id="rId27"/>
    <p:sldId id="305" r:id="rId28"/>
    <p:sldId id="306" r:id="rId29"/>
    <p:sldId id="307" r:id="rId30"/>
    <p:sldId id="355" r:id="rId31"/>
    <p:sldId id="263" r:id="rId32"/>
    <p:sldId id="264" r:id="rId33"/>
    <p:sldId id="308" r:id="rId34"/>
    <p:sldId id="309" r:id="rId35"/>
    <p:sldId id="310" r:id="rId36"/>
    <p:sldId id="313" r:id="rId37"/>
    <p:sldId id="314" r:id="rId38"/>
    <p:sldId id="315" r:id="rId39"/>
    <p:sldId id="318" r:id="rId40"/>
    <p:sldId id="321" r:id="rId41"/>
    <p:sldId id="322" r:id="rId42"/>
    <p:sldId id="323" r:id="rId43"/>
    <p:sldId id="324" r:id="rId44"/>
    <p:sldId id="325" r:id="rId45"/>
    <p:sldId id="326" r:id="rId46"/>
    <p:sldId id="327" r:id="rId47"/>
    <p:sldId id="328" r:id="rId48"/>
    <p:sldId id="329" r:id="rId49"/>
    <p:sldId id="330" r:id="rId50"/>
    <p:sldId id="331" r:id="rId51"/>
    <p:sldId id="332" r:id="rId52"/>
    <p:sldId id="333" r:id="rId53"/>
    <p:sldId id="336" r:id="rId54"/>
    <p:sldId id="337" r:id="rId55"/>
    <p:sldId id="338" r:id="rId56"/>
    <p:sldId id="339" r:id="rId57"/>
    <p:sldId id="340" r:id="rId58"/>
    <p:sldId id="341" r:id="rId59"/>
    <p:sldId id="342" r:id="rId60"/>
    <p:sldId id="343" r:id="rId61"/>
    <p:sldId id="344" r:id="rId62"/>
    <p:sldId id="345" r:id="rId63"/>
    <p:sldId id="346" r:id="rId64"/>
    <p:sldId id="353" r:id="rId65"/>
    <p:sldId id="354" r:id="rId6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29" autoAdjust="0"/>
    <p:restoredTop sz="81224" autoAdjust="0"/>
  </p:normalViewPr>
  <p:slideViewPr>
    <p:cSldViewPr snapToGrid="0">
      <p:cViewPr varScale="1">
        <p:scale>
          <a:sx n="49" d="100"/>
          <a:sy n="49" d="100"/>
        </p:scale>
        <p:origin x="6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ustomXml" Target="../customXml/item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Bengio</a:t>
            </a:r>
            <a:r>
              <a:rPr lang="en-US" dirty="0"/>
              <a:t> 2003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54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Smartphone keyboards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82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38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404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a-IR" dirty="0"/>
              <a:t>بیندیش </a:t>
            </a:r>
            <a:r>
              <a:rPr lang="fa-IR" dirty="0" err="1"/>
              <a:t>وآن</a:t>
            </a:r>
            <a:r>
              <a:rPr lang="fa-IR" dirty="0"/>
              <a:t> گه بر آور نفس</a:t>
            </a:r>
          </a:p>
          <a:p>
            <a:r>
              <a:rPr lang="fa-IR" dirty="0"/>
              <a:t>و </a:t>
            </a:r>
            <a:r>
              <a:rPr lang="fa-IR" dirty="0" err="1"/>
              <a:t>زآن</a:t>
            </a:r>
            <a:r>
              <a:rPr lang="fa-IR" dirty="0"/>
              <a:t> پیش بس کن که گویند بس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4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Output: Distribution on vocab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Sparsity issue: As the value of n increases, the number of unique n-grams in the training data also increases exponentially, leading to many unseen or rare n-grams. This sparsity issue can lead to inaccurate estimates of probabilities for unseen or rare sequences, affecting the model's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06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639" y="2423160"/>
            <a:ext cx="10769600" cy="1828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7195" y="5035617"/>
            <a:ext cx="367761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Yadollah Yaghoobzadeh</a:t>
            </a:r>
          </a:p>
          <a:p>
            <a:pPr algn="ctr"/>
            <a:r>
              <a:rPr lang="en-US" sz="2400" b="0" dirty="0">
                <a:latin typeface="+mj-lt"/>
              </a:rPr>
              <a:t>Mohammad Javad </a:t>
            </a:r>
            <a:r>
              <a:rPr lang="en-US" sz="2400" b="0" dirty="0" err="1">
                <a:latin typeface="+mj-lt"/>
              </a:rPr>
              <a:t>Dousti</a:t>
            </a:r>
            <a:br>
              <a:rPr lang="en-US" sz="2400" b="0" dirty="0">
                <a:latin typeface="+mj-lt"/>
              </a:rPr>
            </a:br>
            <a:r>
              <a:rPr lang="en-US" sz="2400" b="0" dirty="0">
                <a:latin typeface="+mj-lt"/>
              </a:rPr>
              <a:t>Spring 1403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30B603-B01F-ED0C-0B6F-B58531A169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95" y="223520"/>
            <a:ext cx="2026398" cy="6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ap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3E32C6-F01F-FCD4-7174-2ED528ADB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B3854E-0506-9A13-05AE-E5752448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695B4F-549D-4FDC-5594-2D5B766D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D39A4-7EF6-1C27-5295-E2B43BB8CFDB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178026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31293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CF8FF8-5AE6-FF9E-E7A5-1B96F522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D43-5A75-7F4A-F95F-D29B59459AA7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CF8FF8-5AE6-FF9E-E7A5-1B96F522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D43-5A75-7F4A-F95F-D29B59459AA7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40384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32E36-2BF4-11A0-CF58-A8CDA0086211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49CF1FC-DCF2-1BEA-5797-19AB6337B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0601"/>
            <a:ext cx="11658601" cy="5410199"/>
          </a:xfrm>
        </p:spPr>
        <p:txBody>
          <a:bodyPr/>
          <a:lstStyle>
            <a:lvl1pPr marL="257175" indent="-257175">
              <a:buSzPct val="60000"/>
              <a:buFont typeface="Wingdings" panose="05000000000000000000" pitchFamily="2" charset="2"/>
              <a:buChar char="q"/>
              <a:defRPr sz="2100"/>
            </a:lvl1pPr>
            <a:lvl2pPr marL="557213" indent="-214313">
              <a:buSzPct val="60000"/>
              <a:buFont typeface="Wingdings" panose="05000000000000000000" pitchFamily="2" charset="2"/>
              <a:buChar char="Ø"/>
              <a:defRPr sz="1800" b="0"/>
            </a:lvl2pPr>
            <a:lvl3pPr marL="857250" indent="-171450">
              <a:buFont typeface="Courier New" panose="02070309020205020404" pitchFamily="49" charset="0"/>
              <a:buChar char="o"/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6A0F4E-D1B8-2742-CD40-78511704E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20819"/>
            <a:ext cx="11658601" cy="969781"/>
          </a:xfrm>
        </p:spPr>
        <p:txBody>
          <a:bodyPr/>
          <a:lstStyle>
            <a:lvl1pPr marL="137160" algn="l">
              <a:defRPr sz="30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AE7635F-A0A6-B080-9748-276C2361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1" y="6492878"/>
            <a:ext cx="676589" cy="365125"/>
          </a:xfrm>
        </p:spPr>
        <p:txBody>
          <a:bodyPr/>
          <a:lstStyle>
            <a:lvl1pPr algn="ctr">
              <a:defRPr sz="9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F69C14-8E65-60D0-C3FC-81A0C03F91B9}"/>
              </a:ext>
            </a:extLst>
          </p:cNvPr>
          <p:cNvSpPr txBox="1"/>
          <p:nvPr/>
        </p:nvSpPr>
        <p:spPr>
          <a:xfrm>
            <a:off x="228600" y="6488668"/>
            <a:ext cx="1676400" cy="253916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FMNLP 1402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30629A-45FD-3099-BABD-9C73A88B05AF}"/>
              </a:ext>
            </a:extLst>
          </p:cNvPr>
          <p:cNvCxnSpPr>
            <a:cxnSpLocks/>
          </p:cNvCxnSpPr>
          <p:nvPr/>
        </p:nvCxnSpPr>
        <p:spPr>
          <a:xfrm>
            <a:off x="266701" y="9779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3774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66" b="0" i="0">
                <a:solidFill>
                  <a:schemeClr val="tx1"/>
                </a:solidFill>
                <a:latin typeface="Gill Sans"/>
                <a:cs typeface="Gill Sans"/>
              </a:defRPr>
            </a:lvl1pPr>
          </a:lstStyle>
          <a:p>
            <a:pPr marL="66970">
              <a:lnSpc>
                <a:spcPts val="1484"/>
              </a:lnSpc>
            </a:pPr>
            <a:fld id="{81D60167-4931-47E6-BA6A-407CBD079E47}" type="slidenum">
              <a:rPr lang="en-US" smtClean="0"/>
              <a:pPr marL="66970">
                <a:lnSpc>
                  <a:spcPts val="1484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413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31" b="0" i="0">
                <a:solidFill>
                  <a:schemeClr val="tx1"/>
                </a:solidFill>
                <a:latin typeface="HelveticaNeue-Light"/>
                <a:cs typeface="HelveticaNeue-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66" b="0" i="0">
                <a:solidFill>
                  <a:schemeClr val="tx1"/>
                </a:solidFill>
                <a:latin typeface="Gill Sans"/>
                <a:cs typeface="Gill Sans"/>
              </a:defRPr>
            </a:lvl1pPr>
          </a:lstStyle>
          <a:p>
            <a:pPr marL="71435">
              <a:lnSpc>
                <a:spcPts val="1484"/>
              </a:lnSpc>
            </a:pPr>
            <a:fld id="{81D60167-4931-47E6-BA6A-407CBD079E47}" type="slidenum">
              <a:rPr lang="en-US" smtClean="0"/>
              <a:pPr marL="71435">
                <a:lnSpc>
                  <a:spcPts val="1484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09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2" r:id="rId5"/>
    <p:sldLayoutId id="2147483665" r:id="rId6"/>
    <p:sldLayoutId id="2147483673" r:id="rId7"/>
    <p:sldLayoutId id="2147483674" r:id="rId8"/>
    <p:sldLayoutId id="2147483675" r:id="rId9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books.google.com/ngrams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3" Type="http://schemas.openxmlformats.org/officeDocument/2006/relationships/image" Target="../media/image26.png"/><Relationship Id="rId7" Type="http://schemas.openxmlformats.org/officeDocument/2006/relationships/image" Target="../media/image30.jpg"/><Relationship Id="rId12" Type="http://schemas.openxmlformats.org/officeDocument/2006/relationships/image" Target="../media/image3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11" Type="http://schemas.openxmlformats.org/officeDocument/2006/relationships/image" Target="../media/image34.jpg"/><Relationship Id="rId5" Type="http://schemas.openxmlformats.org/officeDocument/2006/relationships/image" Target="../media/image28.jpg"/><Relationship Id="rId10" Type="http://schemas.openxmlformats.org/officeDocument/2006/relationships/image" Target="../media/image33.jpg"/><Relationship Id="rId4" Type="http://schemas.openxmlformats.org/officeDocument/2006/relationships/image" Target="../media/image27.jpg"/><Relationship Id="rId9" Type="http://schemas.openxmlformats.org/officeDocument/2006/relationships/image" Target="../media/image32.jp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13" Type="http://schemas.openxmlformats.org/officeDocument/2006/relationships/image" Target="../media/image33.jpg"/><Relationship Id="rId3" Type="http://schemas.openxmlformats.org/officeDocument/2006/relationships/image" Target="../media/image26.png"/><Relationship Id="rId7" Type="http://schemas.openxmlformats.org/officeDocument/2006/relationships/image" Target="../media/image27.jpg"/><Relationship Id="rId12" Type="http://schemas.openxmlformats.org/officeDocument/2006/relationships/image" Target="../media/image32.jpg"/><Relationship Id="rId2" Type="http://schemas.openxmlformats.org/officeDocument/2006/relationships/image" Target="../media/image24.png"/><Relationship Id="rId16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31.jpg"/><Relationship Id="rId5" Type="http://schemas.openxmlformats.org/officeDocument/2006/relationships/image" Target="../media/image37.png"/><Relationship Id="rId15" Type="http://schemas.openxmlformats.org/officeDocument/2006/relationships/image" Target="../media/image35.jpg"/><Relationship Id="rId10" Type="http://schemas.openxmlformats.org/officeDocument/2006/relationships/image" Target="../media/image40.jpg"/><Relationship Id="rId4" Type="http://schemas.openxmlformats.org/officeDocument/2006/relationships/image" Target="../media/image36.png"/><Relationship Id="rId9" Type="http://schemas.openxmlformats.org/officeDocument/2006/relationships/image" Target="../media/image29.jpg"/><Relationship Id="rId14" Type="http://schemas.openxmlformats.org/officeDocument/2006/relationships/image" Target="../media/image34.jp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33.jpg"/><Relationship Id="rId3" Type="http://schemas.openxmlformats.org/officeDocument/2006/relationships/image" Target="../media/image24.png"/><Relationship Id="rId7" Type="http://schemas.openxmlformats.org/officeDocument/2006/relationships/image" Target="../media/image38.png"/><Relationship Id="rId12" Type="http://schemas.openxmlformats.org/officeDocument/2006/relationships/image" Target="../media/image32.jpg"/><Relationship Id="rId17" Type="http://schemas.openxmlformats.org/officeDocument/2006/relationships/image" Target="../media/image42.png"/><Relationship Id="rId2" Type="http://schemas.openxmlformats.org/officeDocument/2006/relationships/image" Target="../media/image40.jpg"/><Relationship Id="rId16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31.jpg"/><Relationship Id="rId5" Type="http://schemas.openxmlformats.org/officeDocument/2006/relationships/image" Target="../media/image36.png"/><Relationship Id="rId15" Type="http://schemas.openxmlformats.org/officeDocument/2006/relationships/image" Target="../media/image35.jpg"/><Relationship Id="rId10" Type="http://schemas.openxmlformats.org/officeDocument/2006/relationships/image" Target="../media/image29.jpg"/><Relationship Id="rId4" Type="http://schemas.openxmlformats.org/officeDocument/2006/relationships/image" Target="../media/image26.png"/><Relationship Id="rId9" Type="http://schemas.openxmlformats.org/officeDocument/2006/relationships/image" Target="../media/image39.jpg"/><Relationship Id="rId14" Type="http://schemas.openxmlformats.org/officeDocument/2006/relationships/image" Target="../media/image34.jp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13" Type="http://schemas.openxmlformats.org/officeDocument/2006/relationships/image" Target="../media/image34.jpg"/><Relationship Id="rId3" Type="http://schemas.openxmlformats.org/officeDocument/2006/relationships/image" Target="../media/image26.png"/><Relationship Id="rId7" Type="http://schemas.openxmlformats.org/officeDocument/2006/relationships/image" Target="../media/image27.jpg"/><Relationship Id="rId12" Type="http://schemas.openxmlformats.org/officeDocument/2006/relationships/image" Target="../media/image33.jpg"/><Relationship Id="rId2" Type="http://schemas.openxmlformats.org/officeDocument/2006/relationships/image" Target="../media/image24.png"/><Relationship Id="rId16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32.jpg"/><Relationship Id="rId5" Type="http://schemas.openxmlformats.org/officeDocument/2006/relationships/image" Target="../media/image37.png"/><Relationship Id="rId15" Type="http://schemas.openxmlformats.org/officeDocument/2006/relationships/image" Target="../media/image41.jpg"/><Relationship Id="rId10" Type="http://schemas.openxmlformats.org/officeDocument/2006/relationships/image" Target="../media/image31.jpg"/><Relationship Id="rId4" Type="http://schemas.openxmlformats.org/officeDocument/2006/relationships/image" Target="../media/image36.png"/><Relationship Id="rId9" Type="http://schemas.openxmlformats.org/officeDocument/2006/relationships/image" Target="../media/image40.jpg"/><Relationship Id="rId14" Type="http://schemas.openxmlformats.org/officeDocument/2006/relationships/image" Target="../media/image35.jp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34.jpg"/><Relationship Id="rId3" Type="http://schemas.openxmlformats.org/officeDocument/2006/relationships/image" Target="../media/image24.png"/><Relationship Id="rId7" Type="http://schemas.openxmlformats.org/officeDocument/2006/relationships/image" Target="../media/image38.png"/><Relationship Id="rId12" Type="http://schemas.openxmlformats.org/officeDocument/2006/relationships/image" Target="../media/image3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32.jpg"/><Relationship Id="rId5" Type="http://schemas.openxmlformats.org/officeDocument/2006/relationships/image" Target="../media/image36.png"/><Relationship Id="rId10" Type="http://schemas.openxmlformats.org/officeDocument/2006/relationships/image" Target="../media/image31.jpg"/><Relationship Id="rId4" Type="http://schemas.openxmlformats.org/officeDocument/2006/relationships/image" Target="../media/image26.png"/><Relationship Id="rId9" Type="http://schemas.openxmlformats.org/officeDocument/2006/relationships/image" Target="../media/image39.jp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jpg"/><Relationship Id="rId3" Type="http://schemas.openxmlformats.org/officeDocument/2006/relationships/image" Target="../media/image44.jpg"/><Relationship Id="rId21" Type="http://schemas.openxmlformats.org/officeDocument/2006/relationships/image" Target="../media/image62.jp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jpg"/><Relationship Id="rId2" Type="http://schemas.openxmlformats.org/officeDocument/2006/relationships/image" Target="../media/image43.jpg"/><Relationship Id="rId16" Type="http://schemas.openxmlformats.org/officeDocument/2006/relationships/image" Target="../media/image57.jp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jpg"/><Relationship Id="rId5" Type="http://schemas.openxmlformats.org/officeDocument/2006/relationships/image" Target="../media/image46.png"/><Relationship Id="rId15" Type="http://schemas.openxmlformats.org/officeDocument/2006/relationships/image" Target="../media/image56.jpg"/><Relationship Id="rId23" Type="http://schemas.openxmlformats.org/officeDocument/2006/relationships/image" Target="../media/image64.jpg"/><Relationship Id="rId10" Type="http://schemas.openxmlformats.org/officeDocument/2006/relationships/image" Target="../media/image51.jpg"/><Relationship Id="rId19" Type="http://schemas.openxmlformats.org/officeDocument/2006/relationships/image" Target="../media/image60.jpg"/><Relationship Id="rId4" Type="http://schemas.openxmlformats.org/officeDocument/2006/relationships/image" Target="../media/image45.png"/><Relationship Id="rId9" Type="http://schemas.openxmlformats.org/officeDocument/2006/relationships/image" Target="../media/image50.jpg"/><Relationship Id="rId14" Type="http://schemas.openxmlformats.org/officeDocument/2006/relationships/image" Target="../media/image55.png"/><Relationship Id="rId22" Type="http://schemas.openxmlformats.org/officeDocument/2006/relationships/image" Target="../media/image63.jp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g"/><Relationship Id="rId13" Type="http://schemas.openxmlformats.org/officeDocument/2006/relationships/image" Target="../media/image55.png"/><Relationship Id="rId18" Type="http://schemas.openxmlformats.org/officeDocument/2006/relationships/image" Target="../media/image60.jp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jpg"/><Relationship Id="rId2" Type="http://schemas.openxmlformats.org/officeDocument/2006/relationships/image" Target="../media/image44.jpg"/><Relationship Id="rId16" Type="http://schemas.openxmlformats.org/officeDocument/2006/relationships/image" Target="../media/image58.jpg"/><Relationship Id="rId20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jpg"/><Relationship Id="rId10" Type="http://schemas.openxmlformats.org/officeDocument/2006/relationships/image" Target="../media/image52.jpg"/><Relationship Id="rId19" Type="http://schemas.openxmlformats.org/officeDocument/2006/relationships/image" Target="../media/image61.png"/><Relationship Id="rId4" Type="http://schemas.openxmlformats.org/officeDocument/2006/relationships/image" Target="../media/image46.png"/><Relationship Id="rId9" Type="http://schemas.openxmlformats.org/officeDocument/2006/relationships/image" Target="../media/image51.jpg"/><Relationship Id="rId14" Type="http://schemas.openxmlformats.org/officeDocument/2006/relationships/image" Target="../media/image5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D085-445B-4930-BF23-86F3FF17C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3100388"/>
            <a:ext cx="10678850" cy="821531"/>
          </a:xfrm>
        </p:spPr>
        <p:txBody>
          <a:bodyPr/>
          <a:lstStyle/>
          <a:p>
            <a:r>
              <a:rPr lang="en-US" dirty="0"/>
              <a:t>Neural Language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39387-D27A-4717-A2A3-54677254CC7A}"/>
              </a:ext>
            </a:extLst>
          </p:cNvPr>
          <p:cNvSpPr txBox="1"/>
          <p:nvPr/>
        </p:nvSpPr>
        <p:spPr>
          <a:xfrm>
            <a:off x="0" y="6550223"/>
            <a:ext cx="5386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Slides are adopted from Advanced NLP course at UMass.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426A29B-94BF-49EF-B3BB-D957B521A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Language models assign a probability to a piece of text.</a:t>
            </a:r>
          </a:p>
          <a:p>
            <a:r>
              <a:rPr lang="en-US" dirty="0"/>
              <a:t>Why would we ever want to do this?</a:t>
            </a:r>
          </a:p>
          <a:p>
            <a:pPr lvl="1"/>
            <a:r>
              <a:rPr lang="en-US" dirty="0"/>
              <a:t>Translation:</a:t>
            </a:r>
          </a:p>
          <a:p>
            <a:pPr marL="457200" lvl="1" indent="0" algn="ctr">
              <a:buNone/>
            </a:pPr>
            <a:r>
              <a:rPr lang="en-US" dirty="0">
                <a:latin typeface="+mn-lt"/>
              </a:rPr>
              <a:t>P(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flew to the movies) &lt;&lt;&lt;&lt;&lt; P(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went to the movies)</a:t>
            </a:r>
          </a:p>
          <a:p>
            <a:pPr lvl="1"/>
            <a:r>
              <a:rPr lang="en-US" dirty="0"/>
              <a:t>Speech recognition:</a:t>
            </a:r>
          </a:p>
          <a:p>
            <a:pPr marL="914400" lvl="2" indent="0" algn="ctr">
              <a:buNone/>
            </a:pPr>
            <a:r>
              <a:rPr lang="en-US" sz="2400" dirty="0">
                <a:latin typeface="+mn-lt"/>
              </a:rPr>
              <a:t>P(</a:t>
            </a:r>
            <a:r>
              <a:rPr lang="en-US" sz="2400" dirty="0" err="1">
                <a:latin typeface="+mn-lt"/>
              </a:rPr>
              <a:t>i</a:t>
            </a:r>
            <a:r>
              <a:rPr lang="en-US" sz="2400" dirty="0">
                <a:latin typeface="+mn-lt"/>
              </a:rPr>
              <a:t> saw a van) &gt;&gt;&gt;&gt;&gt; P(eyes awe of an)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5358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Intro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BE51B44-F7BE-4BFD-A6E9-EA4332F4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848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You use Language Models every day!</a:t>
            </a:r>
            <a:endParaRPr lang="en-US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2396" y="1279215"/>
            <a:ext cx="6727208" cy="5007343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4EB67A2-18E6-47B4-8C43-B4EACE90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CD6ED78-73D7-40EB-AF0B-1505CF3F09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700" y="990600"/>
                <a:ext cx="11658601" cy="5410199"/>
              </a:xfrm>
            </p:spPr>
            <p:txBody>
              <a:bodyPr/>
              <a:lstStyle/>
              <a:p>
                <a:r>
                  <a:rPr lang="en-US" dirty="0"/>
                  <a:t>Goal: compute the probability of a sentence or sequence of words: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baseline="-25000" dirty="0" err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Related task: probability of an upcoming word: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 model that computes either of these: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called a </a:t>
                </a:r>
                <a:r>
                  <a:rPr lang="en-US" i="1" dirty="0">
                    <a:solidFill>
                      <a:srgbClr val="C00000"/>
                    </a:solidFill>
                  </a:rPr>
                  <a:t>language model</a:t>
                </a:r>
                <a:r>
                  <a:rPr lang="en-US" dirty="0"/>
                  <a:t> or LM.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CD6ED78-73D7-40EB-AF0B-1505CF3F09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990600"/>
                <a:ext cx="11658601" cy="5410199"/>
              </a:xfrm>
              <a:blipFill>
                <a:blip r:embed="rId2"/>
                <a:stretch>
                  <a:fillRect l="-262" t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93334"/>
            <a:ext cx="11658600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Probabilistic Language	Modeling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8582A8-2D9A-4CB8-B565-C843D6846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4147B5-424C-4728-9E31-0FDC8DE67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How to compute this joint probability:</a:t>
            </a:r>
          </a:p>
          <a:p>
            <a:pPr marL="457200" lvl="1" indent="0" algn="ctr">
              <a:buNone/>
            </a:pPr>
            <a:r>
              <a:rPr lang="en-US" dirty="0">
                <a:latin typeface="+mn-lt"/>
              </a:rPr>
              <a:t>P(its, water, is, so, transparent, that)</a:t>
            </a:r>
          </a:p>
          <a:p>
            <a:r>
              <a:rPr lang="en-US" dirty="0"/>
              <a:t>Intuition: let’s rely on the Chain Rule of Probability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93424"/>
            <a:ext cx="11658601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How to compute P(W)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CC7033-A05C-459B-A94D-7BFC7F9B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D2154E6-5819-4F40-A627-BD3892B804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700" y="990600"/>
                <a:ext cx="11658601" cy="5410199"/>
              </a:xfrm>
            </p:spPr>
            <p:txBody>
              <a:bodyPr/>
              <a:lstStyle/>
              <a:p>
                <a:r>
                  <a:rPr lang="en-US" dirty="0"/>
                  <a:t>Recall the definition of conditional probabilities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	Rewriting: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More variables: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Chain Rule in General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 err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D2154E6-5819-4F40-A627-BD3892B804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990600"/>
                <a:ext cx="11658601" cy="5410199"/>
              </a:xfrm>
              <a:blipFill>
                <a:blip r:embed="rId2"/>
                <a:stretch>
                  <a:fillRect l="-262" t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93334"/>
            <a:ext cx="11658600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Reminder: The Chain Rule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E33D7D2-C537-43CE-8BC9-77FC4391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9176E-F961-468A-841A-DB4E78C91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Chain Rule applied to compute joint probability of words in sentence</a:t>
            </a:r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6340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Chain Rule for computing joint probability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CA600B-37A7-4436-BC9E-F918E69E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2050852" y="3911204"/>
            <a:ext cx="7999661" cy="1211820"/>
          </a:xfrm>
          <a:prstGeom prst="rect">
            <a:avLst/>
          </a:prstGeom>
        </p:spPr>
        <p:txBody>
          <a:bodyPr vert="horz" wrap="square" lIns="0" tIns="3125" rIns="0" bIns="0" rtlCol="0">
            <a:spAutoFit/>
          </a:bodyPr>
          <a:lstStyle/>
          <a:p>
            <a:pPr marL="169658" marR="2226092" indent="-160729">
              <a:lnSpc>
                <a:spcPct val="101400"/>
              </a:lnSpc>
              <a:spcBef>
                <a:spcPts val="25"/>
              </a:spcBef>
              <a:tabLst>
                <a:tab pos="3619074" algn="l"/>
              </a:tabLst>
            </a:pPr>
            <a:r>
              <a:rPr lang="en-US" sz="2601" dirty="0">
                <a:latin typeface="Trebuchet MS"/>
                <a:cs typeface="Trebuchet MS"/>
              </a:rPr>
              <a:t>P(“its</a:t>
            </a:r>
            <a:r>
              <a:rPr lang="en-US" sz="2601" spc="-4" dirty="0">
                <a:latin typeface="Trebuchet MS"/>
                <a:cs typeface="Trebuchet MS"/>
              </a:rPr>
              <a:t> </a:t>
            </a:r>
            <a:r>
              <a:rPr lang="en-US" sz="2601" dirty="0">
                <a:latin typeface="Trebuchet MS"/>
                <a:cs typeface="Trebuchet MS"/>
              </a:rPr>
              <a:t>water</a:t>
            </a:r>
            <a:r>
              <a:rPr lang="en-US" sz="2601" spc="-4" dirty="0">
                <a:latin typeface="Trebuchet MS"/>
                <a:cs typeface="Trebuchet MS"/>
              </a:rPr>
              <a:t> </a:t>
            </a:r>
            <a:r>
              <a:rPr lang="en-US" sz="2601" dirty="0">
                <a:latin typeface="Trebuchet MS"/>
                <a:cs typeface="Trebuchet MS"/>
              </a:rPr>
              <a:t>is</a:t>
            </a:r>
            <a:r>
              <a:rPr lang="en-US" sz="2601" spc="-4" dirty="0">
                <a:latin typeface="Trebuchet MS"/>
                <a:cs typeface="Trebuchet MS"/>
              </a:rPr>
              <a:t> </a:t>
            </a:r>
            <a:r>
              <a:rPr lang="en-US" sz="2601" dirty="0">
                <a:latin typeface="Trebuchet MS"/>
                <a:cs typeface="Trebuchet MS"/>
              </a:rPr>
              <a:t>so</a:t>
            </a:r>
            <a:r>
              <a:rPr lang="en-US" sz="2601" spc="-4" dirty="0">
                <a:latin typeface="Trebuchet MS"/>
                <a:cs typeface="Trebuchet MS"/>
              </a:rPr>
              <a:t> </a:t>
            </a:r>
            <a:r>
              <a:rPr lang="en-US" sz="2601" dirty="0">
                <a:latin typeface="Trebuchet MS"/>
                <a:cs typeface="Trebuchet MS"/>
              </a:rPr>
              <a:t>transparent”)</a:t>
            </a:r>
            <a:r>
              <a:rPr lang="en-US" sz="2601" spc="-4" dirty="0">
                <a:latin typeface="Trebuchet MS"/>
                <a:cs typeface="Trebuchet MS"/>
              </a:rPr>
              <a:t> </a:t>
            </a:r>
            <a:r>
              <a:rPr lang="en-US" sz="2601" spc="-35" dirty="0">
                <a:latin typeface="Trebuchet MS"/>
                <a:cs typeface="Trebuchet MS"/>
              </a:rPr>
              <a:t>= </a:t>
            </a:r>
            <a:r>
              <a:rPr lang="en-US" sz="2601" dirty="0">
                <a:solidFill>
                  <a:srgbClr val="404040"/>
                </a:solidFill>
                <a:latin typeface="Trebuchet MS"/>
                <a:cs typeface="Trebuchet MS"/>
              </a:rPr>
              <a:t>P(its)</a:t>
            </a:r>
            <a:r>
              <a:rPr lang="en-US" sz="2601" spc="-11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601" dirty="0">
                <a:solidFill>
                  <a:srgbClr val="404040"/>
                </a:solidFill>
                <a:latin typeface="Trebuchet MS"/>
                <a:cs typeface="Trebuchet MS"/>
              </a:rPr>
              <a:t>×</a:t>
            </a:r>
            <a:r>
              <a:rPr lang="en-US" sz="2601" spc="-7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601" dirty="0">
                <a:solidFill>
                  <a:srgbClr val="404040"/>
                </a:solidFill>
                <a:latin typeface="Trebuchet MS"/>
                <a:cs typeface="Trebuchet MS"/>
              </a:rPr>
              <a:t>P(</a:t>
            </a:r>
            <a:r>
              <a:rPr lang="en-US" sz="2601" dirty="0" err="1">
                <a:solidFill>
                  <a:srgbClr val="404040"/>
                </a:solidFill>
                <a:latin typeface="Trebuchet MS"/>
                <a:cs typeface="Trebuchet MS"/>
              </a:rPr>
              <a:t>water|its</a:t>
            </a:r>
            <a:r>
              <a:rPr lang="en-US" sz="2601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r>
              <a:rPr lang="en-US" sz="2601" spc="-18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601" spc="-35" dirty="0">
                <a:solidFill>
                  <a:srgbClr val="404040"/>
                </a:solidFill>
                <a:latin typeface="Trebuchet MS"/>
                <a:cs typeface="Trebuchet MS"/>
              </a:rPr>
              <a:t>×</a:t>
            </a:r>
            <a:r>
              <a:rPr lang="en-US" sz="2601" dirty="0">
                <a:solidFill>
                  <a:srgbClr val="404040"/>
                </a:solidFill>
                <a:latin typeface="Trebuchet MS"/>
                <a:cs typeface="Trebuchet MS"/>
              </a:rPr>
              <a:t>	P(</a:t>
            </a:r>
            <a:r>
              <a:rPr lang="en-US" sz="2601" dirty="0" err="1">
                <a:solidFill>
                  <a:srgbClr val="404040"/>
                </a:solidFill>
                <a:latin typeface="Trebuchet MS"/>
                <a:cs typeface="Trebuchet MS"/>
              </a:rPr>
              <a:t>is|its</a:t>
            </a:r>
            <a:r>
              <a:rPr lang="en-US" sz="2601" spc="-7" dirty="0">
                <a:solidFill>
                  <a:srgbClr val="404040"/>
                </a:solidFill>
                <a:latin typeface="Trebuchet MS"/>
                <a:cs typeface="Trebuchet MS"/>
              </a:rPr>
              <a:t> water)</a:t>
            </a:r>
            <a:endParaRPr lang="en-US" sz="2601" dirty="0">
              <a:latin typeface="Trebuchet MS"/>
              <a:cs typeface="Trebuchet MS"/>
            </a:endParaRPr>
          </a:p>
          <a:p>
            <a:pPr marL="207608">
              <a:spcBef>
                <a:spcPts val="42"/>
              </a:spcBef>
              <a:tabLst>
                <a:tab pos="579963" algn="l"/>
                <a:tab pos="3607465" algn="l"/>
              </a:tabLst>
            </a:pPr>
            <a:r>
              <a:rPr lang="en-US" sz="2601" spc="-35" dirty="0">
                <a:solidFill>
                  <a:srgbClr val="404040"/>
                </a:solidFill>
                <a:latin typeface="Trebuchet MS"/>
                <a:cs typeface="Trebuchet MS"/>
              </a:rPr>
              <a:t>×</a:t>
            </a:r>
            <a:r>
              <a:rPr lang="en-US" sz="2601" dirty="0">
                <a:solidFill>
                  <a:srgbClr val="404040"/>
                </a:solidFill>
                <a:latin typeface="Trebuchet MS"/>
                <a:cs typeface="Trebuchet MS"/>
              </a:rPr>
              <a:t>	P(</a:t>
            </a:r>
            <a:r>
              <a:rPr lang="en-US" sz="2601" dirty="0" err="1">
                <a:solidFill>
                  <a:srgbClr val="404040"/>
                </a:solidFill>
                <a:latin typeface="Trebuchet MS"/>
                <a:cs typeface="Trebuchet MS"/>
              </a:rPr>
              <a:t>so|its</a:t>
            </a:r>
            <a:r>
              <a:rPr lang="en-US" sz="2601" spc="-11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601" dirty="0">
                <a:solidFill>
                  <a:srgbClr val="404040"/>
                </a:solidFill>
                <a:latin typeface="Trebuchet MS"/>
                <a:cs typeface="Trebuchet MS"/>
              </a:rPr>
              <a:t>water</a:t>
            </a:r>
            <a:r>
              <a:rPr lang="en-US" sz="2601" spc="-7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601" dirty="0">
                <a:solidFill>
                  <a:srgbClr val="404040"/>
                </a:solidFill>
                <a:latin typeface="Trebuchet MS"/>
                <a:cs typeface="Trebuchet MS"/>
              </a:rPr>
              <a:t>is)</a:t>
            </a:r>
            <a:r>
              <a:rPr lang="en-US" sz="2601" spc="-18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601" spc="-35" dirty="0">
                <a:solidFill>
                  <a:srgbClr val="404040"/>
                </a:solidFill>
                <a:latin typeface="Trebuchet MS"/>
                <a:cs typeface="Trebuchet MS"/>
              </a:rPr>
              <a:t>×</a:t>
            </a:r>
            <a:r>
              <a:rPr lang="en-US" sz="2601" dirty="0">
                <a:solidFill>
                  <a:srgbClr val="404040"/>
                </a:solidFill>
                <a:latin typeface="Trebuchet MS"/>
                <a:cs typeface="Trebuchet MS"/>
              </a:rPr>
              <a:t>	P(</a:t>
            </a:r>
            <a:r>
              <a:rPr lang="en-US" sz="2601" dirty="0" err="1">
                <a:solidFill>
                  <a:srgbClr val="404040"/>
                </a:solidFill>
                <a:latin typeface="Trebuchet MS"/>
                <a:cs typeface="Trebuchet MS"/>
              </a:rPr>
              <a:t>transparent|its</a:t>
            </a:r>
            <a:r>
              <a:rPr lang="en-US" sz="2601" spc="-11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601" dirty="0">
                <a:solidFill>
                  <a:srgbClr val="404040"/>
                </a:solidFill>
                <a:latin typeface="Trebuchet MS"/>
                <a:cs typeface="Trebuchet MS"/>
              </a:rPr>
              <a:t>water</a:t>
            </a:r>
            <a:r>
              <a:rPr lang="en-US" sz="2601" spc="-7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601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lang="en-US" sz="2601" spc="-7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601" spc="-18" dirty="0">
                <a:solidFill>
                  <a:srgbClr val="404040"/>
                </a:solidFill>
                <a:latin typeface="Trebuchet MS"/>
                <a:cs typeface="Trebuchet MS"/>
              </a:rPr>
              <a:t>so)</a:t>
            </a:r>
            <a:endParaRPr lang="en-US" sz="2601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3842" y="2737990"/>
            <a:ext cx="6924092" cy="92956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052DD91-23C1-4CA9-AC4F-6F16BF2A0DE0}"/>
              </a:ext>
            </a:extLst>
          </p:cNvPr>
          <p:cNvGrpSpPr/>
          <p:nvPr/>
        </p:nvGrpSpPr>
        <p:grpSpPr>
          <a:xfrm>
            <a:off x="7319388" y="1921645"/>
            <a:ext cx="2017117" cy="955101"/>
            <a:chOff x="7319388" y="1921645"/>
            <a:chExt cx="2017117" cy="95510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5527C85-B9FF-4F67-A2A5-EE44E6AA8877}"/>
                </a:ext>
              </a:extLst>
            </p:cNvPr>
            <p:cNvSpPr txBox="1"/>
            <p:nvPr/>
          </p:nvSpPr>
          <p:spPr>
            <a:xfrm>
              <a:off x="7840127" y="1921645"/>
              <a:ext cx="9756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prefix</a:t>
              </a:r>
            </a:p>
          </p:txBody>
        </p:sp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98A1D850-1858-4719-A698-BBD7F3CBED57}"/>
                </a:ext>
              </a:extLst>
            </p:cNvPr>
            <p:cNvSpPr/>
            <p:nvPr/>
          </p:nvSpPr>
          <p:spPr>
            <a:xfrm rot="16200000">
              <a:off x="8097114" y="1637354"/>
              <a:ext cx="461666" cy="2017117"/>
            </a:xfrm>
            <a:prstGeom prst="rightBrace">
              <a:avLst>
                <a:gd name="adj1" fmla="val 68795"/>
                <a:gd name="adj2" fmla="val 50000"/>
              </a:avLst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72E7F82-804D-4F73-8F97-4A35FA052F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>
                    <a:latin typeface="Trebuchet MS"/>
                    <a:cs typeface="Trebuchet MS"/>
                  </a:rPr>
                  <a:t>Could we just count and divide?</a:t>
                </a:r>
              </a:p>
              <a:p>
                <a:endParaRPr lang="en-US" dirty="0">
                  <a:latin typeface="Trebuchet MS"/>
                  <a:cs typeface="Trebuchet MS"/>
                </a:endParaRPr>
              </a:p>
              <a:p>
                <a:pPr>
                  <a:spcBef>
                    <a:spcPts val="32"/>
                  </a:spcBef>
                </a:pPr>
                <a:endParaRPr lang="en-US" sz="3200" dirty="0">
                  <a:latin typeface="Trebuchet MS"/>
                  <a:cs typeface="Trebuchet MS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cs typeface="Helvetica"/>
                        </a:rPr>
                        <m:t>𝑃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cs typeface="Times New Roman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i="0" dirty="0" smtClean="0">
                          <a:latin typeface="Cambria Math" panose="02040503050406030204" pitchFamily="18" charset="0"/>
                          <a:cs typeface="Times New Roman"/>
                        </a:rPr>
                        <m:t>the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cs typeface="Times New Roman"/>
                        </a:rPr>
                        <m:t>|</m:t>
                      </m:r>
                      <m:r>
                        <a:rPr lang="en-US" sz="2400" i="0" dirty="0" smtClean="0">
                          <a:latin typeface="Cambria Math" panose="02040503050406030204" pitchFamily="18" charset="0"/>
                          <a:cs typeface="Times New Roman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0" dirty="0" smtClean="0">
                          <a:latin typeface="Cambria Math" panose="02040503050406030204" pitchFamily="18" charset="0"/>
                          <a:cs typeface="Times New Roman"/>
                        </a:rPr>
                        <m:t>its</m:t>
                      </m:r>
                      <m:r>
                        <a:rPr lang="en-US" sz="2400" i="0" dirty="0" smtClean="0">
                          <a:latin typeface="Cambria Math" panose="02040503050406030204" pitchFamily="18" charset="0"/>
                          <a:cs typeface="Times New Roman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0" dirty="0" smtClean="0">
                          <a:latin typeface="Cambria Math" panose="02040503050406030204" pitchFamily="18" charset="0"/>
                          <a:cs typeface="Times New Roman"/>
                        </a:rPr>
                        <m:t>water</m:t>
                      </m:r>
                      <m:r>
                        <a:rPr lang="en-US" sz="2400" i="0" dirty="0" smtClean="0">
                          <a:latin typeface="Cambria Math" panose="02040503050406030204" pitchFamily="18" charset="0"/>
                          <a:cs typeface="Times New Roman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0" dirty="0" smtClean="0">
                          <a:latin typeface="Cambria Math" panose="02040503050406030204" pitchFamily="18" charset="0"/>
                          <a:cs typeface="Times New Roman"/>
                        </a:rPr>
                        <m:t>is</m:t>
                      </m:r>
                      <m:r>
                        <a:rPr lang="en-US" sz="2400" i="0" dirty="0" smtClean="0">
                          <a:latin typeface="Cambria Math" panose="02040503050406030204" pitchFamily="18" charset="0"/>
                          <a:cs typeface="Times New Roman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0" dirty="0" smtClean="0">
                          <a:latin typeface="Cambria Math" panose="02040503050406030204" pitchFamily="18" charset="0"/>
                          <a:cs typeface="Times New Roman"/>
                        </a:rPr>
                        <m:t>so</m:t>
                      </m:r>
                      <m:r>
                        <a:rPr lang="en-US" sz="2400" i="0" dirty="0" smtClean="0">
                          <a:latin typeface="Cambria Math" panose="02040503050406030204" pitchFamily="18" charset="0"/>
                          <a:cs typeface="Times New Roman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0" dirty="0" smtClean="0">
                          <a:latin typeface="Cambria Math" panose="02040503050406030204" pitchFamily="18" charset="0"/>
                          <a:cs typeface="Times New Roman"/>
                        </a:rPr>
                        <m:t>transparent</m:t>
                      </m:r>
                      <m:r>
                        <a:rPr lang="en-US" sz="2400" i="0" dirty="0" smtClean="0">
                          <a:latin typeface="Cambria Math" panose="02040503050406030204" pitchFamily="18" charset="0"/>
                          <a:cs typeface="Times New Roman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0" dirty="0" smtClean="0">
                          <a:latin typeface="Cambria Math" panose="02040503050406030204" pitchFamily="18" charset="0"/>
                          <a:cs typeface="Times New Roman"/>
                        </a:rPr>
                        <m:t>that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cs typeface="Times New Roman"/>
                        </a:rPr>
                        <m:t>)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b="0" dirty="0" smtClean="0">
                              <a:latin typeface="+mn-lt"/>
                              <a:cs typeface="Helvetica"/>
                            </a:rPr>
                            <m:t>Count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latin typeface="+mn-lt"/>
                              <a:cs typeface="Helvetica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dirty="0" smtClean="0">
                              <a:latin typeface="+mn-lt"/>
                              <a:cs typeface="Helvetica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its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water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so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transparent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that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)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400" b="0" dirty="0" smtClean="0">
                              <a:latin typeface="+mn-lt"/>
                              <a:cs typeface="Helvetica"/>
                            </a:rPr>
                            <m:t>Count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latin typeface="+mn-lt"/>
                              <a:cs typeface="Helvetica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dirty="0" smtClean="0">
                              <a:latin typeface="+mn-lt"/>
                              <a:cs typeface="Helvetica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its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water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so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transparent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that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+mn-lt"/>
                              <a:cs typeface="Times New Roman"/>
                            </a:rPr>
                            <m:t>) </m:t>
                          </m:r>
                        </m:den>
                      </m:f>
                    </m:oMath>
                  </m:oMathPara>
                </a14:m>
                <a:endParaRPr lang="en-US" sz="2400" dirty="0">
                  <a:latin typeface="+mn-lt"/>
                  <a:cs typeface="Symbol"/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72E7F82-804D-4F73-8F97-4A35FA052F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62" t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93424"/>
            <a:ext cx="11658601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How to estimate these probabilities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2E6E1E1-6A49-47AC-A11F-D40DBD783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572BCC4-E68D-4589-98FB-A9ABFD807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Trebuchet MS"/>
                <a:cs typeface="Trebuchet MS"/>
              </a:rPr>
              <a:t>Simplifying assumption:</a:t>
            </a:r>
          </a:p>
          <a:p>
            <a:pPr marL="235289">
              <a:spcBef>
                <a:spcPts val="95"/>
              </a:spcBef>
            </a:pPr>
            <a:endParaRPr lang="en-US" sz="2800" i="1" dirty="0">
              <a:latin typeface="Helvetica"/>
              <a:cs typeface="Helvetica"/>
            </a:endParaRPr>
          </a:p>
          <a:p>
            <a:pPr marL="235289">
              <a:spcBef>
                <a:spcPts val="95"/>
              </a:spcBef>
            </a:pPr>
            <a:endParaRPr lang="en-US" sz="2800" i="1" dirty="0">
              <a:latin typeface="Helvetica"/>
              <a:cs typeface="Helvetica"/>
            </a:endParaRPr>
          </a:p>
          <a:p>
            <a:pPr marL="0" indent="0" algn="ctr">
              <a:spcBef>
                <a:spcPts val="95"/>
              </a:spcBef>
              <a:buNone/>
            </a:pPr>
            <a:endParaRPr lang="en-US" sz="2800" i="1" dirty="0">
              <a:latin typeface="Helvetica"/>
              <a:cs typeface="Helvetica"/>
            </a:endParaRPr>
          </a:p>
          <a:p>
            <a:pPr marL="0" indent="0" algn="ctr">
              <a:spcBef>
                <a:spcPts val="95"/>
              </a:spcBef>
              <a:buNone/>
            </a:pP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(the | its water is so transparent that) </a:t>
            </a:r>
            <a:r>
              <a:rPr lang="en-US" sz="2800" dirty="0">
                <a:latin typeface="Symbol"/>
                <a:cs typeface="Symbol"/>
              </a:rPr>
              <a:t>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(the | that)</a:t>
            </a:r>
            <a:endParaRPr lang="en-US" dirty="0">
              <a:latin typeface="Times New Roman"/>
              <a:cs typeface="Times New Roman"/>
            </a:endParaRPr>
          </a:p>
          <a:p>
            <a:pPr marL="0" indent="0">
              <a:spcBef>
                <a:spcPts val="95"/>
              </a:spcBef>
              <a:buNone/>
            </a:pPr>
            <a:endParaRPr lang="en-US" sz="2800" dirty="0">
              <a:latin typeface="Trebuchet MS"/>
              <a:cs typeface="Trebuchet MS"/>
            </a:endParaRPr>
          </a:p>
          <a:p>
            <a:pPr marL="0" indent="0">
              <a:spcBef>
                <a:spcPts val="95"/>
              </a:spcBef>
              <a:buNone/>
            </a:pPr>
            <a:r>
              <a:rPr lang="en-US" sz="2800" dirty="0">
                <a:latin typeface="Trebuchet MS"/>
                <a:cs typeface="Trebuchet MS"/>
              </a:rPr>
              <a:t>or maybe</a:t>
            </a:r>
          </a:p>
          <a:p>
            <a:pPr marL="0" indent="0">
              <a:spcBef>
                <a:spcPts val="362"/>
              </a:spcBef>
              <a:buNone/>
            </a:pPr>
            <a:endParaRPr lang="en-US" sz="2800" i="1" dirty="0">
              <a:latin typeface="Helvetica"/>
              <a:cs typeface="Helvetica"/>
            </a:endParaRPr>
          </a:p>
          <a:p>
            <a:pPr marL="0" indent="0" algn="ctr">
              <a:spcBef>
                <a:spcPts val="362"/>
              </a:spcBef>
              <a:buNone/>
            </a:pPr>
            <a:r>
              <a:rPr lang="en-US" sz="2800" i="1" dirty="0">
                <a:latin typeface="+mn-lt"/>
                <a:cs typeface="Helvetica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(the | its water is so transparent that) </a:t>
            </a:r>
            <a:r>
              <a:rPr lang="en-US" sz="2800" dirty="0">
                <a:latin typeface="Symbol"/>
                <a:cs typeface="Symbol"/>
              </a:rPr>
              <a:t>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i="1" dirty="0">
                <a:latin typeface="+mn-lt"/>
                <a:cs typeface="Helvetica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(the | transparent that)</a:t>
            </a:r>
          </a:p>
          <a:p>
            <a:endParaRPr lang="en-US" sz="2800" dirty="0">
              <a:latin typeface="Trebuchet MS"/>
              <a:cs typeface="Trebuchet MS"/>
            </a:endParaRPr>
          </a:p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DA4AB9D-7467-49AA-BFFE-954A48D7B192}"/>
              </a:ext>
            </a:extLst>
          </p:cNvPr>
          <p:cNvGrpSpPr/>
          <p:nvPr/>
        </p:nvGrpSpPr>
        <p:grpSpPr>
          <a:xfrm>
            <a:off x="9587778" y="84458"/>
            <a:ext cx="2291804" cy="2386735"/>
            <a:chOff x="8855123" y="90725"/>
            <a:chExt cx="2291804" cy="23867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12050" y="90725"/>
              <a:ext cx="1640364" cy="2147308"/>
            </a:xfrm>
            <a:prstGeom prst="rect">
              <a:avLst/>
            </a:prstGeom>
          </p:spPr>
        </p:pic>
        <p:sp>
          <p:nvSpPr>
            <p:cNvPr id="6" name="object 6"/>
            <p:cNvSpPr txBox="1"/>
            <p:nvPr/>
          </p:nvSpPr>
          <p:spPr>
            <a:xfrm>
              <a:off x="8855123" y="2241136"/>
              <a:ext cx="2291804" cy="236324"/>
            </a:xfrm>
            <a:prstGeom prst="rect">
              <a:avLst/>
            </a:prstGeom>
          </p:spPr>
          <p:txBody>
            <a:bodyPr vert="horz" wrap="square" lIns="0" tIns="8930" rIns="0" bIns="0" rtlCol="0">
              <a:spAutoFit/>
            </a:bodyPr>
            <a:lstStyle/>
            <a:p>
              <a:pPr marL="8929">
                <a:spcBef>
                  <a:spcPts val="70"/>
                </a:spcBef>
              </a:pPr>
              <a:r>
                <a:rPr sz="1477" dirty="0">
                  <a:latin typeface="Trebuchet MS"/>
                  <a:cs typeface="Trebuchet MS"/>
                </a:rPr>
                <a:t>Andrei</a:t>
              </a:r>
              <a:r>
                <a:rPr sz="1477" spc="-14" dirty="0">
                  <a:latin typeface="Trebuchet MS"/>
                  <a:cs typeface="Trebuchet MS"/>
                </a:rPr>
                <a:t> </a:t>
              </a:r>
              <a:r>
                <a:rPr sz="1477" dirty="0">
                  <a:latin typeface="Trebuchet MS"/>
                  <a:cs typeface="Trebuchet MS"/>
                </a:rPr>
                <a:t>Markov</a:t>
              </a:r>
              <a:r>
                <a:rPr sz="1477" spc="-7" dirty="0">
                  <a:latin typeface="Trebuchet MS"/>
                  <a:cs typeface="Trebuchet MS"/>
                </a:rPr>
                <a:t> (1856~1922)</a:t>
              </a:r>
              <a:endParaRPr sz="1477" dirty="0">
                <a:latin typeface="Trebuchet MS"/>
                <a:cs typeface="Trebuchet MS"/>
              </a:endParaRPr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7ABDAF1-40EA-4027-A706-07E245046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CCF1F672-1A41-426B-B165-F5440B804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Assumption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FA93B53-D248-40FB-8DD6-E1AD6E91D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800" dirty="0">
              <a:latin typeface="Trebuchet MS"/>
              <a:cs typeface="Trebuchet MS"/>
            </a:endParaRPr>
          </a:p>
          <a:p>
            <a:endParaRPr lang="en-US" dirty="0">
              <a:latin typeface="Trebuchet MS"/>
              <a:cs typeface="Trebuchet MS"/>
            </a:endParaRPr>
          </a:p>
          <a:p>
            <a:endParaRPr lang="en-US" sz="2800" dirty="0">
              <a:latin typeface="Trebuchet MS"/>
              <a:cs typeface="Trebuchet MS"/>
            </a:endParaRPr>
          </a:p>
          <a:p>
            <a:endParaRPr lang="en-US" dirty="0">
              <a:latin typeface="Trebuchet MS"/>
              <a:cs typeface="Trebuchet MS"/>
            </a:endParaRPr>
          </a:p>
          <a:p>
            <a:r>
              <a:rPr lang="en-US" sz="2800" dirty="0">
                <a:latin typeface="Trebuchet MS"/>
                <a:cs typeface="Trebuchet MS"/>
              </a:rPr>
              <a:t>In</a:t>
            </a:r>
            <a:r>
              <a:rPr lang="en-US" sz="2800" spc="-7" dirty="0">
                <a:latin typeface="Trebuchet MS"/>
                <a:cs typeface="Trebuchet MS"/>
              </a:rPr>
              <a:t> </a:t>
            </a:r>
            <a:r>
              <a:rPr lang="en-US" sz="2800" dirty="0">
                <a:latin typeface="Trebuchet MS"/>
                <a:cs typeface="Trebuchet MS"/>
              </a:rPr>
              <a:t>other</a:t>
            </a:r>
            <a:r>
              <a:rPr lang="en-US" sz="2800" spc="-7" dirty="0">
                <a:latin typeface="Trebuchet MS"/>
                <a:cs typeface="Trebuchet MS"/>
              </a:rPr>
              <a:t> </a:t>
            </a:r>
            <a:r>
              <a:rPr lang="en-US" sz="2800" dirty="0">
                <a:latin typeface="Trebuchet MS"/>
                <a:cs typeface="Trebuchet MS"/>
              </a:rPr>
              <a:t>words,</a:t>
            </a:r>
            <a:r>
              <a:rPr lang="en-US" sz="2800" spc="-4" dirty="0">
                <a:latin typeface="Trebuchet MS"/>
                <a:cs typeface="Trebuchet MS"/>
              </a:rPr>
              <a:t> </a:t>
            </a:r>
            <a:r>
              <a:rPr lang="en-US" sz="2800" spc="-18" dirty="0">
                <a:latin typeface="Trebuchet MS"/>
                <a:cs typeface="Trebuchet MS"/>
              </a:rPr>
              <a:t>we </a:t>
            </a:r>
            <a:r>
              <a:rPr lang="en-US" sz="2800" spc="-7" dirty="0">
                <a:latin typeface="Trebuchet MS"/>
                <a:cs typeface="Trebuchet MS"/>
              </a:rPr>
              <a:t>approximate</a:t>
            </a:r>
            <a:r>
              <a:rPr lang="en-US" spc="-7" dirty="0">
                <a:latin typeface="Trebuchet MS"/>
                <a:cs typeface="Trebuchet MS"/>
              </a:rPr>
              <a:t> </a:t>
            </a:r>
            <a:r>
              <a:rPr lang="en-US" sz="2800" spc="-14" dirty="0">
                <a:latin typeface="Trebuchet MS"/>
                <a:cs typeface="Trebuchet MS"/>
              </a:rPr>
              <a:t>each </a:t>
            </a:r>
            <a:r>
              <a:rPr lang="en-US" sz="2800" dirty="0">
                <a:latin typeface="Trebuchet MS"/>
                <a:cs typeface="Trebuchet MS"/>
              </a:rPr>
              <a:t>component</a:t>
            </a:r>
            <a:r>
              <a:rPr lang="en-US" spc="-21" dirty="0">
                <a:latin typeface="Trebuchet MS"/>
                <a:cs typeface="Trebuchet MS"/>
              </a:rPr>
              <a:t> </a:t>
            </a:r>
            <a:r>
              <a:rPr lang="en-US" sz="2800" dirty="0">
                <a:latin typeface="Trebuchet MS"/>
                <a:cs typeface="Trebuchet MS"/>
              </a:rPr>
              <a:t>in</a:t>
            </a:r>
            <a:r>
              <a:rPr lang="en-US" spc="-14" dirty="0">
                <a:latin typeface="Trebuchet MS"/>
                <a:cs typeface="Trebuchet MS"/>
              </a:rPr>
              <a:t> </a:t>
            </a:r>
            <a:r>
              <a:rPr lang="en-US" sz="2800" dirty="0">
                <a:latin typeface="Trebuchet MS"/>
                <a:cs typeface="Trebuchet MS"/>
              </a:rPr>
              <a:t>the</a:t>
            </a:r>
            <a:r>
              <a:rPr lang="en-US" spc="-11" dirty="0">
                <a:latin typeface="Trebuchet MS"/>
                <a:cs typeface="Trebuchet MS"/>
              </a:rPr>
              <a:t> </a:t>
            </a:r>
            <a:r>
              <a:rPr lang="en-US" sz="2800" spc="-7" dirty="0">
                <a:latin typeface="Trebuchet MS"/>
                <a:cs typeface="Trebuchet MS"/>
              </a:rPr>
              <a:t>product:</a:t>
            </a:r>
            <a:endParaRPr lang="en-US" sz="2800" dirty="0">
              <a:latin typeface="Trebuchet MS"/>
              <a:cs typeface="Trebuchet MS"/>
            </a:endParaRPr>
          </a:p>
          <a:p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6098" y="4051812"/>
            <a:ext cx="7579802" cy="9108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0911" y="1689860"/>
            <a:ext cx="6770176" cy="92379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6EFCBE-F537-4C85-AC6F-CBAB5DFF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Title 17">
            <a:extLst>
              <a:ext uri="{FF2B5EF4-FFF2-40B4-BE49-F238E27FC236}">
                <a16:creationId xmlns:a16="http://schemas.microsoft.com/office/drawing/2014/main" id="{939ACCBB-3F26-4969-BB21-D3AEE0B9274C}"/>
              </a:ext>
            </a:extLst>
          </p:cNvPr>
          <p:cNvSpPr txBox="1">
            <a:spLocks/>
          </p:cNvSpPr>
          <p:nvPr/>
        </p:nvSpPr>
        <p:spPr bwMode="auto">
          <a:xfrm>
            <a:off x="293972" y="20819"/>
            <a:ext cx="11658601" cy="969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82880" algn="l" rtl="0" eaLnBrk="1" fontAlgn="base" hangingPunct="1">
              <a:spcBef>
                <a:spcPct val="0"/>
              </a:spcBef>
              <a:spcAft>
                <a:spcPct val="0"/>
              </a:spcAft>
              <a:defRPr sz="40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dirty="0"/>
              <a:t>Markov Assumption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93334"/>
            <a:ext cx="11658600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Simplest Case: Unigram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89B13-81EE-47EA-B065-611BCF91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2710" y="2738928"/>
            <a:ext cx="9329834" cy="19135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755503-D1A3-4565-A715-F614228DB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Some automatically generated sentences from a unigram model:</a:t>
            </a:r>
          </a:p>
          <a:p>
            <a:pPr marL="344488" indent="0">
              <a:buNone/>
            </a:pPr>
            <a:r>
              <a:rPr lang="en-US">
                <a:latin typeface="Source Code Pro" panose="020B0509030403020204" pitchFamily="49" charset="0"/>
                <a:ea typeface="Source Code Pro" panose="020B0509030403020204" pitchFamily="49" charset="0"/>
              </a:rPr>
              <a:t>fifth, an, of, futures, the, an, incorporated, a, a, the, inflation, most, dollars, quarter, in, is, mass thrift, did, eighty, said, hard, 'm, july, bullish that, or, limited, the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93334"/>
            <a:ext cx="11658600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Simplest case: Unigram model</a:t>
            </a:r>
            <a:endParaRPr lang="en-US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9111" y="2069087"/>
            <a:ext cx="3833778" cy="78630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504418" y="5399123"/>
            <a:ext cx="4193001" cy="714447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18752" rIns="0" bIns="0" rtlCol="0">
            <a:spAutoFit/>
          </a:bodyPr>
          <a:lstStyle/>
          <a:p>
            <a:pPr marL="371015" marR="238414" indent="-133941" algn="ctr">
              <a:lnSpc>
                <a:spcPct val="101000"/>
              </a:lnSpc>
              <a:spcBef>
                <a:spcPts val="148"/>
              </a:spcBef>
            </a:pPr>
            <a:r>
              <a:rPr sz="2320" dirty="0">
                <a:latin typeface="HelveticaNeue-Light"/>
                <a:cs typeface="HelveticaNeue-Light"/>
              </a:rPr>
              <a:t>How can we generate </a:t>
            </a:r>
            <a:r>
              <a:rPr sz="2320" spc="-14" dirty="0">
                <a:latin typeface="HelveticaNeue-Light"/>
                <a:cs typeface="HelveticaNeue-Light"/>
              </a:rPr>
              <a:t>text </a:t>
            </a:r>
            <a:r>
              <a:rPr sz="2320" dirty="0">
                <a:latin typeface="HelveticaNeue-Light"/>
                <a:cs typeface="HelveticaNeue-Light"/>
              </a:rPr>
              <a:t>from</a:t>
            </a:r>
            <a:r>
              <a:rPr sz="2320" spc="-14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a</a:t>
            </a:r>
            <a:r>
              <a:rPr sz="2320" spc="-14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language</a:t>
            </a:r>
            <a:r>
              <a:rPr sz="2320" spc="-14" dirty="0">
                <a:latin typeface="HelveticaNeue-Light"/>
                <a:cs typeface="HelveticaNeue-Light"/>
              </a:rPr>
              <a:t> </a:t>
            </a:r>
            <a:r>
              <a:rPr sz="2320" spc="-7" dirty="0">
                <a:latin typeface="HelveticaNeue-Light"/>
                <a:cs typeface="HelveticaNeue-Light"/>
              </a:rPr>
              <a:t>model?</a:t>
            </a:r>
            <a:endParaRPr sz="2320" dirty="0">
              <a:latin typeface="HelveticaNeue-Light"/>
              <a:cs typeface="HelveticaNeue-Light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174E267-C4A2-4B5E-B744-C3F4F81B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9CF2B2D6-46D3-4236-8443-DBB73E10C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latin typeface="Helvetica Neue"/>
                <a:cs typeface="Helvetica Neue"/>
              </a:rPr>
              <a:t>Prefix</a:t>
            </a:r>
            <a:r>
              <a:rPr lang="en-US" sz="2800" dirty="0">
                <a:latin typeface="Helvetica Neue"/>
                <a:cs typeface="Helvetica Neue"/>
              </a:rPr>
              <a:t>:</a:t>
            </a:r>
            <a:r>
              <a:rPr lang="en-US" sz="2800" spc="-4" dirty="0">
                <a:latin typeface="Helvetica Neue"/>
                <a:cs typeface="Helvetica Neue"/>
              </a:rPr>
              <a:t> </a:t>
            </a:r>
            <a:r>
              <a:rPr lang="en-US" sz="2800" dirty="0">
                <a:latin typeface="Helvetica Neue"/>
                <a:cs typeface="Helvetica Neue"/>
              </a:rPr>
              <a:t>“students opened</a:t>
            </a:r>
            <a:r>
              <a:rPr lang="en-US" sz="2800" spc="-4" dirty="0">
                <a:latin typeface="Helvetica Neue"/>
                <a:cs typeface="Helvetica Neue"/>
              </a:rPr>
              <a:t> </a:t>
            </a:r>
            <a:r>
              <a:rPr lang="en-US" sz="2800" spc="-7" dirty="0">
                <a:latin typeface="Helvetica Neue"/>
                <a:cs typeface="Helvetica Neue"/>
              </a:rPr>
              <a:t>their”</a:t>
            </a:r>
            <a:endParaRPr lang="en-US" sz="2800" dirty="0">
              <a:latin typeface="Helvetica Neue"/>
              <a:cs typeface="Helvetica Neue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>
              <a:spcBef>
                <a:spcPts val="70"/>
              </a:spcBef>
              <a:tabLst>
                <a:tab pos="2623002" algn="l"/>
                <a:tab pos="3946782" algn="l"/>
                <a:tab pos="4730334" algn="l"/>
              </a:tabLst>
            </a:pPr>
            <a:r>
              <a:rPr sz="4500" spc="-7" dirty="0">
                <a:latin typeface="Helvetica Neue"/>
                <a:cs typeface="Helvetica Neue"/>
              </a:rPr>
              <a:t>Decoding</a:t>
            </a:r>
            <a:r>
              <a:rPr sz="4500" dirty="0">
                <a:latin typeface="Helvetica Neue"/>
                <a:cs typeface="Helvetica Neue"/>
              </a:rPr>
              <a:t>	</a:t>
            </a:r>
            <a:r>
              <a:rPr sz="4500" spc="-14" dirty="0">
                <a:latin typeface="Helvetica Neue"/>
                <a:cs typeface="Helvetica Neue"/>
              </a:rPr>
              <a:t>from</a:t>
            </a:r>
            <a:r>
              <a:rPr sz="4500" dirty="0">
                <a:latin typeface="Helvetica Neue"/>
                <a:cs typeface="Helvetica Neue"/>
              </a:rPr>
              <a:t>	</a:t>
            </a:r>
            <a:r>
              <a:rPr sz="4500" spc="-18" dirty="0">
                <a:latin typeface="Helvetica Neue"/>
                <a:cs typeface="Helvetica Neue"/>
              </a:rPr>
              <a:t>an</a:t>
            </a:r>
            <a:r>
              <a:rPr sz="4500" dirty="0">
                <a:latin typeface="Helvetica Neue"/>
                <a:cs typeface="Helvetica Neue"/>
              </a:rPr>
              <a:t>	</a:t>
            </a:r>
            <a:r>
              <a:rPr sz="4500" spc="-18" dirty="0">
                <a:latin typeface="Helvetica Neue"/>
                <a:cs typeface="Helvetica Neue"/>
              </a:rPr>
              <a:t>LM</a:t>
            </a:r>
            <a:endParaRPr sz="4500">
              <a:latin typeface="Helvetica Neue"/>
              <a:cs typeface="Helvetica Neu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5944" y="2096434"/>
            <a:ext cx="679996" cy="346747"/>
          </a:xfrm>
          <a:prstGeom prst="rect">
            <a:avLst/>
          </a:prstGeom>
        </p:spPr>
        <p:txBody>
          <a:bodyPr vert="horz" wrap="square" lIns="0" tIns="11162" rIns="0" bIns="0" rtlCol="0">
            <a:spAutoFit/>
          </a:bodyPr>
          <a:lstStyle/>
          <a:p>
            <a:pPr marL="8929">
              <a:spcBef>
                <a:spcPts val="88"/>
              </a:spcBef>
            </a:pPr>
            <a:r>
              <a:rPr sz="2180" i="1" spc="-120" dirty="0">
                <a:solidFill>
                  <a:srgbClr val="177245"/>
                </a:solidFill>
                <a:latin typeface="Arial"/>
                <a:cs typeface="Arial"/>
              </a:rPr>
              <a:t>books</a:t>
            </a:r>
            <a:endParaRPr sz="218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2885" y="2393367"/>
            <a:ext cx="856804" cy="346747"/>
          </a:xfrm>
          <a:prstGeom prst="rect">
            <a:avLst/>
          </a:prstGeom>
        </p:spPr>
        <p:txBody>
          <a:bodyPr vert="horz" wrap="square" lIns="0" tIns="11162" rIns="0" bIns="0" rtlCol="0">
            <a:spAutoFit/>
          </a:bodyPr>
          <a:lstStyle/>
          <a:p>
            <a:pPr marL="8929">
              <a:spcBef>
                <a:spcPts val="88"/>
              </a:spcBef>
            </a:pPr>
            <a:r>
              <a:rPr sz="2180" i="1" spc="-60" dirty="0">
                <a:solidFill>
                  <a:srgbClr val="177245"/>
                </a:solidFill>
                <a:latin typeface="Arial"/>
                <a:cs typeface="Arial"/>
              </a:rPr>
              <a:t>laptops</a:t>
            </a:r>
            <a:endParaRPr sz="218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46314" y="2463595"/>
            <a:ext cx="3297734" cy="1576983"/>
            <a:chOff x="6315468" y="3479188"/>
            <a:chExt cx="4690110" cy="2242820"/>
          </a:xfrm>
        </p:grpSpPr>
        <p:sp>
          <p:nvSpPr>
            <p:cNvPr id="6" name="object 6"/>
            <p:cNvSpPr/>
            <p:nvPr/>
          </p:nvSpPr>
          <p:spPr>
            <a:xfrm>
              <a:off x="7141493" y="3479188"/>
              <a:ext cx="170180" cy="645795"/>
            </a:xfrm>
            <a:custGeom>
              <a:avLst/>
              <a:gdLst/>
              <a:ahLst/>
              <a:cxnLst/>
              <a:rect l="l" t="t" r="r" b="b"/>
              <a:pathLst>
                <a:path w="170179" h="645795">
                  <a:moveTo>
                    <a:pt x="94970" y="0"/>
                  </a:moveTo>
                  <a:lnTo>
                    <a:pt x="73699" y="34"/>
                  </a:lnTo>
                  <a:lnTo>
                    <a:pt x="74451" y="475117"/>
                  </a:lnTo>
                  <a:lnTo>
                    <a:pt x="0" y="475236"/>
                  </a:lnTo>
                  <a:lnTo>
                    <a:pt x="85356" y="645273"/>
                  </a:lnTo>
                  <a:lnTo>
                    <a:pt x="170173" y="474967"/>
                  </a:lnTo>
                  <a:lnTo>
                    <a:pt x="95722" y="475086"/>
                  </a:lnTo>
                  <a:lnTo>
                    <a:pt x="94970" y="0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15468" y="5690728"/>
              <a:ext cx="4690110" cy="21590"/>
            </a:xfrm>
            <a:custGeom>
              <a:avLst/>
              <a:gdLst/>
              <a:ahLst/>
              <a:cxnLst/>
              <a:rect l="l" t="t" r="r" b="b"/>
              <a:pathLst>
                <a:path w="4690109" h="21589">
                  <a:moveTo>
                    <a:pt x="0" y="0"/>
                  </a:moveTo>
                  <a:lnTo>
                    <a:pt x="751500" y="0"/>
                  </a:lnTo>
                </a:path>
                <a:path w="4690109" h="21589">
                  <a:moveTo>
                    <a:pt x="4258026" y="0"/>
                  </a:moveTo>
                  <a:lnTo>
                    <a:pt x="4689764" y="0"/>
                  </a:lnTo>
                </a:path>
                <a:path w="4690109" h="21589">
                  <a:moveTo>
                    <a:pt x="0" y="21272"/>
                  </a:moveTo>
                  <a:lnTo>
                    <a:pt x="4689764" y="21272"/>
                  </a:lnTo>
                </a:path>
              </a:pathLst>
            </a:custGeom>
            <a:ln w="19358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8292" y="5505008"/>
              <a:ext cx="320040" cy="195580"/>
            </a:xfrm>
            <a:custGeom>
              <a:avLst/>
              <a:gdLst/>
              <a:ahLst/>
              <a:cxnLst/>
              <a:rect l="l" t="t" r="r" b="b"/>
              <a:pathLst>
                <a:path w="320040" h="195579">
                  <a:moveTo>
                    <a:pt x="319764" y="0"/>
                  </a:moveTo>
                  <a:lnTo>
                    <a:pt x="0" y="0"/>
                  </a:lnTo>
                  <a:lnTo>
                    <a:pt x="0" y="195399"/>
                  </a:lnTo>
                  <a:lnTo>
                    <a:pt x="319764" y="195399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48292" y="5505007"/>
              <a:ext cx="320040" cy="195580"/>
            </a:xfrm>
            <a:custGeom>
              <a:avLst/>
              <a:gdLst/>
              <a:ahLst/>
              <a:cxnLst/>
              <a:rect l="l" t="t" r="r" b="b"/>
              <a:pathLst>
                <a:path w="320040" h="195579">
                  <a:moveTo>
                    <a:pt x="0" y="0"/>
                  </a:moveTo>
                  <a:lnTo>
                    <a:pt x="319764" y="0"/>
                  </a:lnTo>
                  <a:lnTo>
                    <a:pt x="319764" y="195399"/>
                  </a:lnTo>
                  <a:lnTo>
                    <a:pt x="0" y="195399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66969" y="4124463"/>
              <a:ext cx="320040" cy="1576070"/>
            </a:xfrm>
            <a:custGeom>
              <a:avLst/>
              <a:gdLst/>
              <a:ahLst/>
              <a:cxnLst/>
              <a:rect l="l" t="t" r="r" b="b"/>
              <a:pathLst>
                <a:path w="320040" h="1576070">
                  <a:moveTo>
                    <a:pt x="319764" y="0"/>
                  </a:moveTo>
                  <a:lnTo>
                    <a:pt x="0" y="0"/>
                  </a:lnTo>
                  <a:lnTo>
                    <a:pt x="0" y="1575944"/>
                  </a:lnTo>
                  <a:lnTo>
                    <a:pt x="319764" y="1575944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66969" y="4124461"/>
              <a:ext cx="320040" cy="1576070"/>
            </a:xfrm>
            <a:custGeom>
              <a:avLst/>
              <a:gdLst/>
              <a:ahLst/>
              <a:cxnLst/>
              <a:rect l="l" t="t" r="r" b="b"/>
              <a:pathLst>
                <a:path w="320040" h="1576070">
                  <a:moveTo>
                    <a:pt x="0" y="0"/>
                  </a:moveTo>
                  <a:lnTo>
                    <a:pt x="319764" y="0"/>
                  </a:lnTo>
                  <a:lnTo>
                    <a:pt x="319764" y="1575944"/>
                  </a:lnTo>
                  <a:lnTo>
                    <a:pt x="0" y="1575944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85643" y="5292939"/>
              <a:ext cx="320040" cy="407670"/>
            </a:xfrm>
            <a:custGeom>
              <a:avLst/>
              <a:gdLst/>
              <a:ahLst/>
              <a:cxnLst/>
              <a:rect l="l" t="t" r="r" b="b"/>
              <a:pathLst>
                <a:path w="320040" h="407670">
                  <a:moveTo>
                    <a:pt x="319764" y="0"/>
                  </a:moveTo>
                  <a:lnTo>
                    <a:pt x="0" y="0"/>
                  </a:lnTo>
                  <a:lnTo>
                    <a:pt x="0" y="407466"/>
                  </a:lnTo>
                  <a:lnTo>
                    <a:pt x="319764" y="407466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85643" y="5292939"/>
              <a:ext cx="320040" cy="407670"/>
            </a:xfrm>
            <a:custGeom>
              <a:avLst/>
              <a:gdLst/>
              <a:ahLst/>
              <a:cxnLst/>
              <a:rect l="l" t="t" r="r" b="b"/>
              <a:pathLst>
                <a:path w="320040" h="407670">
                  <a:moveTo>
                    <a:pt x="0" y="0"/>
                  </a:moveTo>
                  <a:lnTo>
                    <a:pt x="319764" y="0"/>
                  </a:lnTo>
                  <a:lnTo>
                    <a:pt x="319764" y="407466"/>
                  </a:lnTo>
                  <a:lnTo>
                    <a:pt x="0" y="407466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04320" y="5051186"/>
              <a:ext cx="320040" cy="649605"/>
            </a:xfrm>
            <a:custGeom>
              <a:avLst/>
              <a:gdLst/>
              <a:ahLst/>
              <a:cxnLst/>
              <a:rect l="l" t="t" r="r" b="b"/>
              <a:pathLst>
                <a:path w="320040" h="649604">
                  <a:moveTo>
                    <a:pt x="319764" y="0"/>
                  </a:moveTo>
                  <a:lnTo>
                    <a:pt x="0" y="0"/>
                  </a:lnTo>
                  <a:lnTo>
                    <a:pt x="0" y="649218"/>
                  </a:lnTo>
                  <a:lnTo>
                    <a:pt x="319764" y="649218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04320" y="5051186"/>
              <a:ext cx="320040" cy="649605"/>
            </a:xfrm>
            <a:custGeom>
              <a:avLst/>
              <a:gdLst/>
              <a:ahLst/>
              <a:cxnLst/>
              <a:rect l="l" t="t" r="r" b="b"/>
              <a:pathLst>
                <a:path w="320040" h="649604">
                  <a:moveTo>
                    <a:pt x="0" y="0"/>
                  </a:moveTo>
                  <a:lnTo>
                    <a:pt x="319764" y="0"/>
                  </a:lnTo>
                  <a:lnTo>
                    <a:pt x="319764" y="649218"/>
                  </a:lnTo>
                  <a:lnTo>
                    <a:pt x="0" y="649218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22997" y="5505008"/>
              <a:ext cx="320040" cy="195580"/>
            </a:xfrm>
            <a:custGeom>
              <a:avLst/>
              <a:gdLst/>
              <a:ahLst/>
              <a:cxnLst/>
              <a:rect l="l" t="t" r="r" b="b"/>
              <a:pathLst>
                <a:path w="320040" h="195579">
                  <a:moveTo>
                    <a:pt x="319764" y="0"/>
                  </a:moveTo>
                  <a:lnTo>
                    <a:pt x="0" y="0"/>
                  </a:lnTo>
                  <a:lnTo>
                    <a:pt x="0" y="195399"/>
                  </a:lnTo>
                  <a:lnTo>
                    <a:pt x="319764" y="195399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22997" y="5505007"/>
              <a:ext cx="320040" cy="195580"/>
            </a:xfrm>
            <a:custGeom>
              <a:avLst/>
              <a:gdLst/>
              <a:ahLst/>
              <a:cxnLst/>
              <a:rect l="l" t="t" r="r" b="b"/>
              <a:pathLst>
                <a:path w="320040" h="195579">
                  <a:moveTo>
                    <a:pt x="0" y="0"/>
                  </a:moveTo>
                  <a:lnTo>
                    <a:pt x="319764" y="0"/>
                  </a:lnTo>
                  <a:lnTo>
                    <a:pt x="319764" y="195399"/>
                  </a:lnTo>
                  <a:lnTo>
                    <a:pt x="0" y="195399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341674" y="4997986"/>
              <a:ext cx="320040" cy="702945"/>
            </a:xfrm>
            <a:custGeom>
              <a:avLst/>
              <a:gdLst/>
              <a:ahLst/>
              <a:cxnLst/>
              <a:rect l="l" t="t" r="r" b="b"/>
              <a:pathLst>
                <a:path w="320040" h="702945">
                  <a:moveTo>
                    <a:pt x="319764" y="0"/>
                  </a:moveTo>
                  <a:lnTo>
                    <a:pt x="0" y="0"/>
                  </a:lnTo>
                  <a:lnTo>
                    <a:pt x="0" y="702419"/>
                  </a:lnTo>
                  <a:lnTo>
                    <a:pt x="319764" y="702419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341674" y="4997984"/>
              <a:ext cx="320040" cy="702945"/>
            </a:xfrm>
            <a:custGeom>
              <a:avLst/>
              <a:gdLst/>
              <a:ahLst/>
              <a:cxnLst/>
              <a:rect l="l" t="t" r="r" b="b"/>
              <a:pathLst>
                <a:path w="320040" h="702945">
                  <a:moveTo>
                    <a:pt x="0" y="0"/>
                  </a:moveTo>
                  <a:lnTo>
                    <a:pt x="319764" y="0"/>
                  </a:lnTo>
                  <a:lnTo>
                    <a:pt x="319764" y="702419"/>
                  </a:lnTo>
                  <a:lnTo>
                    <a:pt x="0" y="702419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660352" y="5051186"/>
              <a:ext cx="320040" cy="649605"/>
            </a:xfrm>
            <a:custGeom>
              <a:avLst/>
              <a:gdLst/>
              <a:ahLst/>
              <a:cxnLst/>
              <a:rect l="l" t="t" r="r" b="b"/>
              <a:pathLst>
                <a:path w="320040" h="649604">
                  <a:moveTo>
                    <a:pt x="319764" y="0"/>
                  </a:moveTo>
                  <a:lnTo>
                    <a:pt x="0" y="0"/>
                  </a:lnTo>
                  <a:lnTo>
                    <a:pt x="0" y="649220"/>
                  </a:lnTo>
                  <a:lnTo>
                    <a:pt x="319764" y="649220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660352" y="5051186"/>
              <a:ext cx="320040" cy="649605"/>
            </a:xfrm>
            <a:custGeom>
              <a:avLst/>
              <a:gdLst/>
              <a:ahLst/>
              <a:cxnLst/>
              <a:rect l="l" t="t" r="r" b="b"/>
              <a:pathLst>
                <a:path w="320040" h="649604">
                  <a:moveTo>
                    <a:pt x="0" y="0"/>
                  </a:moveTo>
                  <a:lnTo>
                    <a:pt x="319764" y="0"/>
                  </a:lnTo>
                  <a:lnTo>
                    <a:pt x="319764" y="649221"/>
                  </a:lnTo>
                  <a:lnTo>
                    <a:pt x="0" y="649221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053827" y="4005606"/>
              <a:ext cx="170180" cy="512445"/>
            </a:xfrm>
            <a:custGeom>
              <a:avLst/>
              <a:gdLst/>
              <a:ahLst/>
              <a:cxnLst/>
              <a:rect l="l" t="t" r="r" b="b"/>
              <a:pathLst>
                <a:path w="170179" h="512445">
                  <a:moveTo>
                    <a:pt x="95718" y="0"/>
                  </a:moveTo>
                  <a:lnTo>
                    <a:pt x="74447" y="0"/>
                  </a:lnTo>
                  <a:lnTo>
                    <a:pt x="74449" y="341693"/>
                  </a:lnTo>
                  <a:lnTo>
                    <a:pt x="0" y="341693"/>
                  </a:lnTo>
                  <a:lnTo>
                    <a:pt x="85086" y="511865"/>
                  </a:lnTo>
                  <a:lnTo>
                    <a:pt x="170172" y="341693"/>
                  </a:lnTo>
                  <a:lnTo>
                    <a:pt x="95721" y="341693"/>
                  </a:lnTo>
                  <a:lnTo>
                    <a:pt x="95718" y="0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979027" y="4517473"/>
              <a:ext cx="320040" cy="1183005"/>
            </a:xfrm>
            <a:custGeom>
              <a:avLst/>
              <a:gdLst/>
              <a:ahLst/>
              <a:cxnLst/>
              <a:rect l="l" t="t" r="r" b="b"/>
              <a:pathLst>
                <a:path w="320040" h="1183004">
                  <a:moveTo>
                    <a:pt x="319764" y="0"/>
                  </a:moveTo>
                  <a:lnTo>
                    <a:pt x="0" y="0"/>
                  </a:lnTo>
                  <a:lnTo>
                    <a:pt x="0" y="1182934"/>
                  </a:lnTo>
                  <a:lnTo>
                    <a:pt x="319764" y="1182934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979027" y="4517472"/>
              <a:ext cx="320040" cy="1183005"/>
            </a:xfrm>
            <a:custGeom>
              <a:avLst/>
              <a:gdLst/>
              <a:ahLst/>
              <a:cxnLst/>
              <a:rect l="l" t="t" r="r" b="b"/>
              <a:pathLst>
                <a:path w="320040" h="1183004">
                  <a:moveTo>
                    <a:pt x="0" y="0"/>
                  </a:moveTo>
                  <a:lnTo>
                    <a:pt x="319764" y="0"/>
                  </a:lnTo>
                  <a:lnTo>
                    <a:pt x="319764" y="1182934"/>
                  </a:lnTo>
                  <a:lnTo>
                    <a:pt x="0" y="1182934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297706" y="5404994"/>
              <a:ext cx="320040" cy="295910"/>
            </a:xfrm>
            <a:custGeom>
              <a:avLst/>
              <a:gdLst/>
              <a:ahLst/>
              <a:cxnLst/>
              <a:rect l="l" t="t" r="r" b="b"/>
              <a:pathLst>
                <a:path w="320040" h="295910">
                  <a:moveTo>
                    <a:pt x="319764" y="0"/>
                  </a:moveTo>
                  <a:lnTo>
                    <a:pt x="0" y="0"/>
                  </a:lnTo>
                  <a:lnTo>
                    <a:pt x="0" y="295410"/>
                  </a:lnTo>
                  <a:lnTo>
                    <a:pt x="319764" y="295410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297706" y="5404993"/>
              <a:ext cx="320040" cy="295910"/>
            </a:xfrm>
            <a:custGeom>
              <a:avLst/>
              <a:gdLst/>
              <a:ahLst/>
              <a:cxnLst/>
              <a:rect l="l" t="t" r="r" b="b"/>
              <a:pathLst>
                <a:path w="320040" h="295910">
                  <a:moveTo>
                    <a:pt x="0" y="0"/>
                  </a:moveTo>
                  <a:lnTo>
                    <a:pt x="319764" y="0"/>
                  </a:lnTo>
                  <a:lnTo>
                    <a:pt x="319764" y="295410"/>
                  </a:lnTo>
                  <a:lnTo>
                    <a:pt x="0" y="295410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616381" y="5168605"/>
              <a:ext cx="320040" cy="532130"/>
            </a:xfrm>
            <a:custGeom>
              <a:avLst/>
              <a:gdLst/>
              <a:ahLst/>
              <a:cxnLst/>
              <a:rect l="l" t="t" r="r" b="b"/>
              <a:pathLst>
                <a:path w="320040" h="532129">
                  <a:moveTo>
                    <a:pt x="319764" y="0"/>
                  </a:moveTo>
                  <a:lnTo>
                    <a:pt x="0" y="0"/>
                  </a:lnTo>
                  <a:lnTo>
                    <a:pt x="0" y="531799"/>
                  </a:lnTo>
                  <a:lnTo>
                    <a:pt x="319764" y="531799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616381" y="5168606"/>
              <a:ext cx="320040" cy="532130"/>
            </a:xfrm>
            <a:custGeom>
              <a:avLst/>
              <a:gdLst/>
              <a:ahLst/>
              <a:cxnLst/>
              <a:rect l="l" t="t" r="r" b="b"/>
              <a:pathLst>
                <a:path w="320040" h="532129">
                  <a:moveTo>
                    <a:pt x="0" y="0"/>
                  </a:moveTo>
                  <a:lnTo>
                    <a:pt x="319764" y="0"/>
                  </a:lnTo>
                  <a:lnTo>
                    <a:pt x="319764" y="531799"/>
                  </a:lnTo>
                  <a:lnTo>
                    <a:pt x="0" y="531799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935059" y="4982349"/>
              <a:ext cx="320040" cy="718185"/>
            </a:xfrm>
            <a:custGeom>
              <a:avLst/>
              <a:gdLst/>
              <a:ahLst/>
              <a:cxnLst/>
              <a:rect l="l" t="t" r="r" b="b"/>
              <a:pathLst>
                <a:path w="320040" h="718185">
                  <a:moveTo>
                    <a:pt x="319764" y="0"/>
                  </a:moveTo>
                  <a:lnTo>
                    <a:pt x="0" y="0"/>
                  </a:lnTo>
                  <a:lnTo>
                    <a:pt x="0" y="718056"/>
                  </a:lnTo>
                  <a:lnTo>
                    <a:pt x="319764" y="718056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935059" y="4982348"/>
              <a:ext cx="320040" cy="718185"/>
            </a:xfrm>
            <a:custGeom>
              <a:avLst/>
              <a:gdLst/>
              <a:ahLst/>
              <a:cxnLst/>
              <a:rect l="l" t="t" r="r" b="b"/>
              <a:pathLst>
                <a:path w="320040" h="718185">
                  <a:moveTo>
                    <a:pt x="0" y="0"/>
                  </a:moveTo>
                  <a:lnTo>
                    <a:pt x="319764" y="0"/>
                  </a:lnTo>
                  <a:lnTo>
                    <a:pt x="319764" y="718056"/>
                  </a:lnTo>
                  <a:lnTo>
                    <a:pt x="0" y="718056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253731" y="5575542"/>
              <a:ext cx="320040" cy="125095"/>
            </a:xfrm>
            <a:custGeom>
              <a:avLst/>
              <a:gdLst/>
              <a:ahLst/>
              <a:cxnLst/>
              <a:rect l="l" t="t" r="r" b="b"/>
              <a:pathLst>
                <a:path w="320040" h="125095">
                  <a:moveTo>
                    <a:pt x="319764" y="0"/>
                  </a:moveTo>
                  <a:lnTo>
                    <a:pt x="0" y="0"/>
                  </a:lnTo>
                  <a:lnTo>
                    <a:pt x="0" y="124862"/>
                  </a:lnTo>
                  <a:lnTo>
                    <a:pt x="319764" y="124862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253731" y="5575543"/>
              <a:ext cx="320040" cy="125095"/>
            </a:xfrm>
            <a:custGeom>
              <a:avLst/>
              <a:gdLst/>
              <a:ahLst/>
              <a:cxnLst/>
              <a:rect l="l" t="t" r="r" b="b"/>
              <a:pathLst>
                <a:path w="320040" h="125095">
                  <a:moveTo>
                    <a:pt x="0" y="0"/>
                  </a:moveTo>
                  <a:lnTo>
                    <a:pt x="319764" y="0"/>
                  </a:lnTo>
                  <a:lnTo>
                    <a:pt x="319764" y="124862"/>
                  </a:lnTo>
                  <a:lnTo>
                    <a:pt x="0" y="124862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4750643" y="4100185"/>
            <a:ext cx="2689622" cy="119658"/>
          </a:xfrm>
          <a:custGeom>
            <a:avLst/>
            <a:gdLst/>
            <a:ahLst/>
            <a:cxnLst/>
            <a:rect l="l" t="t" r="r" b="b"/>
            <a:pathLst>
              <a:path w="3825240" h="170179">
                <a:moveTo>
                  <a:pt x="3655029" y="2"/>
                </a:moveTo>
                <a:lnTo>
                  <a:pt x="3655029" y="63817"/>
                </a:lnTo>
                <a:lnTo>
                  <a:pt x="170172" y="63814"/>
                </a:lnTo>
                <a:lnTo>
                  <a:pt x="170172" y="0"/>
                </a:lnTo>
                <a:lnTo>
                  <a:pt x="0" y="85086"/>
                </a:lnTo>
                <a:lnTo>
                  <a:pt x="170172" y="170173"/>
                </a:lnTo>
                <a:lnTo>
                  <a:pt x="170172" y="106358"/>
                </a:lnTo>
                <a:lnTo>
                  <a:pt x="3655029" y="106361"/>
                </a:lnTo>
                <a:lnTo>
                  <a:pt x="3655029" y="170176"/>
                </a:lnTo>
                <a:lnTo>
                  <a:pt x="3825201" y="85090"/>
                </a:lnTo>
                <a:lnTo>
                  <a:pt x="3655029" y="2"/>
                </a:lnTo>
                <a:close/>
              </a:path>
            </a:pathLst>
          </a:custGeom>
          <a:solidFill>
            <a:srgbClr val="1772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439005" y="4152101"/>
            <a:ext cx="3309342" cy="1142863"/>
          </a:xfrm>
          <a:prstGeom prst="rect">
            <a:avLst/>
          </a:prstGeom>
        </p:spPr>
        <p:txBody>
          <a:bodyPr vert="horz" wrap="square" lIns="0" tIns="11162" rIns="0" bIns="0" rtlCol="0">
            <a:spAutoFit/>
          </a:bodyPr>
          <a:lstStyle/>
          <a:p>
            <a:pPr marL="343781">
              <a:spcBef>
                <a:spcPts val="88"/>
              </a:spcBef>
              <a:tabLst>
                <a:tab pos="2707831" algn="l"/>
              </a:tabLst>
            </a:pPr>
            <a:r>
              <a:rPr sz="2180" spc="-35" dirty="0">
                <a:solidFill>
                  <a:srgbClr val="177245"/>
                </a:solidFill>
                <a:latin typeface="Arial"/>
                <a:cs typeface="Arial"/>
              </a:rPr>
              <a:t>a</a:t>
            </a:r>
            <a:r>
              <a:rPr sz="2180" dirty="0">
                <a:solidFill>
                  <a:srgbClr val="177245"/>
                </a:solidFill>
                <a:latin typeface="Arial"/>
                <a:cs typeface="Arial"/>
              </a:rPr>
              <a:t>	</a:t>
            </a:r>
            <a:r>
              <a:rPr sz="2180" spc="-18" dirty="0">
                <a:solidFill>
                  <a:srgbClr val="177245"/>
                </a:solidFill>
                <a:latin typeface="Arial"/>
                <a:cs typeface="Arial"/>
              </a:rPr>
              <a:t>zoo</a:t>
            </a:r>
            <a:endParaRPr sz="2180">
              <a:latin typeface="Arial"/>
              <a:cs typeface="Arial"/>
            </a:endParaRPr>
          </a:p>
          <a:p>
            <a:pPr marL="1061702" marR="3572" indent="-1053219">
              <a:lnSpc>
                <a:spcPct val="101200"/>
              </a:lnSpc>
              <a:spcBef>
                <a:spcPts val="1589"/>
              </a:spcBef>
            </a:pPr>
            <a:r>
              <a:rPr sz="1969" b="1" dirty="0">
                <a:latin typeface="Helvetica Neue"/>
                <a:cs typeface="Helvetica Neue"/>
              </a:rPr>
              <a:t>Probability</a:t>
            </a:r>
            <a:r>
              <a:rPr sz="1969" b="1" spc="-21" dirty="0">
                <a:latin typeface="Helvetica Neue"/>
                <a:cs typeface="Helvetica Neue"/>
              </a:rPr>
              <a:t> </a:t>
            </a:r>
            <a:r>
              <a:rPr sz="1969" b="1" dirty="0">
                <a:latin typeface="Helvetica Neue"/>
                <a:cs typeface="Helvetica Neue"/>
              </a:rPr>
              <a:t>distribution</a:t>
            </a:r>
            <a:r>
              <a:rPr sz="1969" b="1" spc="-18" dirty="0">
                <a:latin typeface="Helvetica Neue"/>
                <a:cs typeface="Helvetica Neue"/>
              </a:rPr>
              <a:t> </a:t>
            </a:r>
            <a:r>
              <a:rPr sz="1969" b="1" spc="-14" dirty="0">
                <a:latin typeface="Helvetica Neue"/>
                <a:cs typeface="Helvetica Neue"/>
              </a:rPr>
              <a:t>over </a:t>
            </a:r>
            <a:r>
              <a:rPr sz="1969" b="1" dirty="0">
                <a:latin typeface="Helvetica Neue"/>
                <a:cs typeface="Helvetica Neue"/>
              </a:rPr>
              <a:t>next </a:t>
            </a:r>
            <a:r>
              <a:rPr sz="1969" b="1" spc="-14" dirty="0">
                <a:latin typeface="Helvetica Neue"/>
                <a:cs typeface="Helvetica Neue"/>
              </a:rPr>
              <a:t>word</a:t>
            </a:r>
            <a:endParaRPr sz="1969">
              <a:latin typeface="Helvetica Neue"/>
              <a:cs typeface="Helvetica Neue"/>
            </a:endParaRP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86BCB6E0-1704-4BC5-AB55-AE6B90C2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384AF8A4-D183-4B9C-A4AA-FA480AE4D5F0}"/>
              </a:ext>
            </a:extLst>
          </p:cNvPr>
          <p:cNvSpPr/>
          <p:nvPr/>
        </p:nvSpPr>
        <p:spPr>
          <a:xfrm>
            <a:off x="2481943" y="2009955"/>
            <a:ext cx="7530769" cy="34677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699" y="192973"/>
            <a:ext cx="11658601" cy="625472"/>
          </a:xfrm>
        </p:spPr>
        <p:txBody>
          <a:bodyPr vert="horz" wrap="square" lIns="0" tIns="982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Approximating Shakespeare</a:t>
            </a:r>
            <a:endParaRPr lang="en-US"/>
          </a:p>
        </p:txBody>
      </p:sp>
      <p:sp>
        <p:nvSpPr>
          <p:cNvPr id="29" name="object 29"/>
          <p:cNvSpPr txBox="1"/>
          <p:nvPr/>
        </p:nvSpPr>
        <p:spPr>
          <a:xfrm>
            <a:off x="3338946" y="2119308"/>
            <a:ext cx="6580117" cy="3268946"/>
          </a:xfrm>
          <a:prstGeom prst="rect">
            <a:avLst/>
          </a:prstGeom>
        </p:spPr>
        <p:txBody>
          <a:bodyPr vert="horz" wrap="square" lIns="0" tIns="8483" rIns="0" bIns="0" rtlCol="0">
            <a:spAutoFit/>
          </a:bodyPr>
          <a:lstStyle/>
          <a:p>
            <a:pPr marR="30360">
              <a:lnSpc>
                <a:spcPct val="101400"/>
              </a:lnSpc>
              <a:spcBef>
                <a:spcPts val="67"/>
              </a:spcBef>
              <a:tabLst>
                <a:tab pos="3708814" algn="l"/>
                <a:tab pos="4342799" algn="l"/>
              </a:tabLst>
            </a:pPr>
            <a:r>
              <a:rPr sz="1441" dirty="0">
                <a:latin typeface="Times New Roman"/>
                <a:cs typeface="Times New Roman"/>
              </a:rPr>
              <a:t>–To him swallowed confess hear both.</a:t>
            </a:r>
            <a:r>
              <a:rPr lang="en-US" sz="1441" dirty="0">
                <a:latin typeface="Times New Roman"/>
                <a:cs typeface="Times New Roman"/>
              </a:rPr>
              <a:t> </a:t>
            </a:r>
            <a:r>
              <a:rPr sz="1441" dirty="0">
                <a:latin typeface="Times New Roman"/>
                <a:cs typeface="Times New Roman"/>
              </a:rPr>
              <a:t>Which.</a:t>
            </a:r>
            <a:r>
              <a:rPr lang="en-US" sz="1441" dirty="0">
                <a:latin typeface="Times New Roman"/>
                <a:cs typeface="Times New Roman"/>
              </a:rPr>
              <a:t> </a:t>
            </a:r>
            <a:r>
              <a:rPr sz="1441" dirty="0">
                <a:latin typeface="Times New Roman"/>
                <a:cs typeface="Times New Roman"/>
              </a:rPr>
              <a:t>Of save on trail for are ay device and rote life have</a:t>
            </a:r>
            <a:r>
              <a:rPr lang="en-US" sz="1441" dirty="0">
                <a:latin typeface="Times New Roman"/>
                <a:cs typeface="Times New Roman"/>
              </a:rPr>
              <a:t> </a:t>
            </a:r>
          </a:p>
          <a:p>
            <a:pPr marR="30360">
              <a:lnSpc>
                <a:spcPct val="101400"/>
              </a:lnSpc>
              <a:spcBef>
                <a:spcPts val="67"/>
              </a:spcBef>
              <a:tabLst>
                <a:tab pos="3708814" algn="l"/>
                <a:tab pos="4342799" algn="l"/>
              </a:tabLst>
            </a:pPr>
            <a:r>
              <a:rPr sz="1441" dirty="0">
                <a:latin typeface="Times New Roman"/>
                <a:cs typeface="Times New Roman"/>
              </a:rPr>
              <a:t>–Hill he late speaks; or! a more to leg less first you enter</a:t>
            </a:r>
            <a:endParaRPr lang="en-US" sz="1441" dirty="0">
              <a:latin typeface="Times New Roman"/>
              <a:cs typeface="Times New Roman"/>
            </a:endParaRPr>
          </a:p>
          <a:p>
            <a:pPr marR="30360">
              <a:lnSpc>
                <a:spcPct val="101400"/>
              </a:lnSpc>
              <a:spcBef>
                <a:spcPts val="67"/>
              </a:spcBef>
              <a:tabLst>
                <a:tab pos="3708814" algn="l"/>
                <a:tab pos="4342799" algn="l"/>
              </a:tabLst>
            </a:pPr>
            <a:endParaRPr lang="en-US" sz="1441" dirty="0">
              <a:latin typeface="Times New Roman"/>
              <a:cs typeface="Times New Roman"/>
            </a:endParaRPr>
          </a:p>
          <a:p>
            <a:pPr marR="30360">
              <a:lnSpc>
                <a:spcPct val="101400"/>
              </a:lnSpc>
              <a:spcBef>
                <a:spcPts val="67"/>
              </a:spcBef>
              <a:tabLst>
                <a:tab pos="3708814" algn="l"/>
                <a:tab pos="4342799" algn="l"/>
              </a:tabLst>
            </a:pPr>
            <a:r>
              <a:rPr sz="1441" dirty="0">
                <a:latin typeface="Times New Roman"/>
                <a:cs typeface="Times New Roman"/>
              </a:rPr>
              <a:t>–Why dost stand forth thy canopy, forsooth; he is this palpable hit the King Henry. Live</a:t>
            </a:r>
            <a:r>
              <a:rPr lang="en-US" sz="1441" dirty="0">
                <a:latin typeface="Times New Roman"/>
                <a:cs typeface="Times New Roman"/>
              </a:rPr>
              <a:t> king. Follow.</a:t>
            </a:r>
          </a:p>
          <a:p>
            <a:pPr>
              <a:lnSpc>
                <a:spcPts val="1522"/>
              </a:lnSpc>
            </a:pPr>
            <a:r>
              <a:rPr sz="1441" dirty="0">
                <a:latin typeface="Times New Roman"/>
                <a:cs typeface="Times New Roman"/>
              </a:rPr>
              <a:t>–What means, sir. I confess she? then all sorts, he is trim, captain.</a:t>
            </a:r>
            <a:endParaRPr lang="en-US" sz="1441" dirty="0">
              <a:latin typeface="Times New Roman"/>
              <a:cs typeface="Times New Roman"/>
            </a:endParaRPr>
          </a:p>
          <a:p>
            <a:pPr>
              <a:lnSpc>
                <a:spcPts val="1522"/>
              </a:lnSpc>
            </a:pPr>
            <a:endParaRPr lang="en-US" sz="1441" dirty="0">
              <a:latin typeface="Times New Roman"/>
              <a:cs typeface="Times New Roman"/>
            </a:endParaRPr>
          </a:p>
          <a:p>
            <a:pPr>
              <a:lnSpc>
                <a:spcPts val="1522"/>
              </a:lnSpc>
            </a:pPr>
            <a:r>
              <a:rPr sz="1441" dirty="0">
                <a:latin typeface="Times New Roman"/>
                <a:cs typeface="Times New Roman"/>
              </a:rPr>
              <a:t>–Fly, and will rid me these news of price. Therefore the sadness of parting, as they say, ’tis done.</a:t>
            </a:r>
          </a:p>
          <a:p>
            <a:pPr marL="35717">
              <a:spcBef>
                <a:spcPts val="25"/>
              </a:spcBef>
            </a:pPr>
            <a:r>
              <a:rPr sz="1441" dirty="0">
                <a:latin typeface="Times New Roman"/>
                <a:cs typeface="Times New Roman"/>
              </a:rPr>
              <a:t>–This shall forbid it should be branded, if renown made it empty.</a:t>
            </a:r>
            <a:endParaRPr lang="en-US" sz="1441" dirty="0">
              <a:latin typeface="Times New Roman"/>
              <a:cs typeface="Times New Roman"/>
            </a:endParaRPr>
          </a:p>
          <a:p>
            <a:pPr marL="35717">
              <a:spcBef>
                <a:spcPts val="25"/>
              </a:spcBef>
            </a:pPr>
            <a:endParaRPr lang="en-US" sz="1441" dirty="0">
              <a:latin typeface="Times New Roman"/>
              <a:cs typeface="Times New Roman"/>
            </a:endParaRPr>
          </a:p>
          <a:p>
            <a:pPr marL="35717">
              <a:spcBef>
                <a:spcPts val="25"/>
              </a:spcBef>
            </a:pPr>
            <a:r>
              <a:rPr sz="1441" dirty="0">
                <a:latin typeface="Times New Roman"/>
                <a:cs typeface="Times New Roman"/>
              </a:rPr>
              <a:t>–King Henry. What! I will go seek the traitor Gloucester. Exeunt some of the watch. A</a:t>
            </a:r>
            <a:r>
              <a:rPr lang="en-US" sz="1441" dirty="0">
                <a:latin typeface="Times New Roman"/>
                <a:cs typeface="Times New Roman"/>
              </a:rPr>
              <a:t> </a:t>
            </a:r>
            <a:r>
              <a:rPr sz="1441" dirty="0">
                <a:latin typeface="Times New Roman"/>
                <a:cs typeface="Times New Roman"/>
              </a:rPr>
              <a:t>great banquet serv’d in;</a:t>
            </a:r>
            <a:endParaRPr lang="en-US" sz="1441" dirty="0">
              <a:latin typeface="Times New Roman"/>
              <a:cs typeface="Times New Roman"/>
            </a:endParaRPr>
          </a:p>
          <a:p>
            <a:pPr marL="35717">
              <a:spcBef>
                <a:spcPts val="25"/>
              </a:spcBef>
            </a:pPr>
            <a:r>
              <a:rPr sz="1441" dirty="0">
                <a:latin typeface="Times New Roman"/>
                <a:cs typeface="Times New Roman"/>
              </a:rPr>
              <a:t>–It cannot be but so.</a:t>
            </a: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CAC60D80-CCCF-4D17-89C3-853823BDF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1508C5-2961-464D-AECF-0F19E2A5D194}"/>
              </a:ext>
            </a:extLst>
          </p:cNvPr>
          <p:cNvSpPr txBox="1"/>
          <p:nvPr/>
        </p:nvSpPr>
        <p:spPr>
          <a:xfrm>
            <a:off x="2481943" y="2119308"/>
            <a:ext cx="742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</a:t>
            </a:r>
            <a:br>
              <a:rPr lang="en-US" b="1" dirty="0"/>
            </a:br>
            <a:r>
              <a:rPr lang="en-US" b="1" dirty="0"/>
              <a:t>gram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50D092-7E4B-4EAF-856A-89DABBF48638}"/>
              </a:ext>
            </a:extLst>
          </p:cNvPr>
          <p:cNvSpPr txBox="1"/>
          <p:nvPr/>
        </p:nvSpPr>
        <p:spPr>
          <a:xfrm>
            <a:off x="2481943" y="2988228"/>
            <a:ext cx="742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</a:t>
            </a:r>
            <a:br>
              <a:rPr lang="en-US" b="1" dirty="0"/>
            </a:br>
            <a:r>
              <a:rPr lang="en-US" b="1" dirty="0"/>
              <a:t>gram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02BCB6-417F-4A72-ACCA-67D3EE09B2DD}"/>
              </a:ext>
            </a:extLst>
          </p:cNvPr>
          <p:cNvSpPr txBox="1"/>
          <p:nvPr/>
        </p:nvSpPr>
        <p:spPr>
          <a:xfrm>
            <a:off x="2481943" y="3857148"/>
            <a:ext cx="742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3</a:t>
            </a:r>
            <a:br>
              <a:rPr lang="en-US" b="1" dirty="0"/>
            </a:br>
            <a:r>
              <a:rPr lang="en-US" b="1" dirty="0"/>
              <a:t>gram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60613B-64CE-4A12-AA84-91872F4659FA}"/>
              </a:ext>
            </a:extLst>
          </p:cNvPr>
          <p:cNvSpPr txBox="1"/>
          <p:nvPr/>
        </p:nvSpPr>
        <p:spPr>
          <a:xfrm>
            <a:off x="2481943" y="4726068"/>
            <a:ext cx="742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4</a:t>
            </a:r>
            <a:br>
              <a:rPr lang="en-US" b="1" dirty="0"/>
            </a:br>
            <a:r>
              <a:rPr lang="en-US" b="1" dirty="0"/>
              <a:t>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DB84E-B100-4A06-AC0C-FBCD8B2AA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/>
              <a:t>We	can extend to trigrams, 4-grams, 5-grams</a:t>
            </a:r>
          </a:p>
          <a:p>
            <a:r>
              <a:rPr lang="en-US"/>
              <a:t>In general	this is an insufficient model of language because language has </a:t>
            </a:r>
            <a:r>
              <a:rPr lang="en-US">
                <a:solidFill>
                  <a:srgbClr val="00B050"/>
                </a:solidFill>
              </a:rPr>
              <a:t>long-distance dependencies</a:t>
            </a:r>
            <a:r>
              <a:rPr lang="en-US"/>
              <a:t>:</a:t>
            </a:r>
          </a:p>
          <a:p>
            <a:r>
              <a:rPr lang="en-US"/>
              <a:t>“The computer which I had just put into the machine room on the fifth floor </a:t>
            </a:r>
            <a:r>
              <a:rPr lang="en-US">
                <a:solidFill>
                  <a:srgbClr val="00B050"/>
                </a:solidFill>
              </a:rPr>
              <a:t>crashed</a:t>
            </a:r>
            <a:r>
              <a:rPr lang="en-US"/>
              <a:t>.”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93334"/>
            <a:ext cx="11658600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N-gram models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FD6A20E-0CF8-4247-99EA-1C06AA5F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DB813F5B-C1FD-4F6F-875C-750F9226C0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700" y="990600"/>
                <a:ext cx="11658601" cy="5410199"/>
              </a:xfrm>
            </p:spPr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rgbClr val="C00000"/>
                    </a:solidFill>
                  </a:rPr>
                  <a:t>Maximum Likelihood Estimate</a:t>
                </a:r>
                <a:r>
                  <a:rPr lang="en-US" dirty="0"/>
                  <a:t> (MLE)</a:t>
                </a:r>
              </a:p>
              <a:p>
                <a:pPr lvl="1"/>
                <a:r>
                  <a:rPr lang="en-US" dirty="0"/>
                  <a:t>Relative frequency based on the empirical counts on a training set</a:t>
                </a:r>
              </a:p>
              <a:p>
                <a:pPr lvl="1"/>
                <a:endParaRPr lang="en-US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DB813F5B-C1FD-4F6F-875C-750F9226C0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990600"/>
                <a:ext cx="11658601" cy="5410199"/>
              </a:xfrm>
              <a:blipFill>
                <a:blip r:embed="rId3"/>
                <a:stretch>
                  <a:fillRect l="-262" t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699" y="193424"/>
            <a:ext cx="11658601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Estimating Bigram Probabilities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99562" y="2056555"/>
            <a:ext cx="988070" cy="234825"/>
          </a:xfrm>
          <a:prstGeom prst="rect">
            <a:avLst/>
          </a:prstGeom>
          <a:solidFill>
            <a:srgbClr val="FFCC66"/>
          </a:solidFill>
          <a:ln w="3175">
            <a:solidFill>
              <a:srgbClr val="000000"/>
            </a:solidFill>
          </a:ln>
        </p:spPr>
        <p:txBody>
          <a:bodyPr vert="horz" wrap="square" lIns="0" tIns="18305" rIns="0" bIns="0" rtlCol="0">
            <a:spAutoFit/>
          </a:bodyPr>
          <a:lstStyle/>
          <a:p>
            <a:pPr marL="31253" algn="ctr">
              <a:spcBef>
                <a:spcPts val="143"/>
              </a:spcBef>
            </a:pPr>
            <a:r>
              <a:rPr sz="1406" dirty="0">
                <a:latin typeface="Trebuchet MS"/>
                <a:cs typeface="Trebuchet MS"/>
              </a:rPr>
              <a:t>c </a:t>
            </a:r>
            <a:r>
              <a:rPr lang="en-US" sz="1406" dirty="0">
                <a:latin typeface="Trebuchet MS"/>
                <a:cs typeface="Trebuchet MS"/>
              </a:rPr>
              <a:t>=</a:t>
            </a:r>
            <a:r>
              <a:rPr sz="1406" dirty="0">
                <a:latin typeface="Trebuchet MS"/>
                <a:cs typeface="Trebuchet MS"/>
              </a:rPr>
              <a:t> count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E7351AD1-87FD-4ABD-9100-B7CFD3B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1">
                <a:extLst>
                  <a:ext uri="{FF2B5EF4-FFF2-40B4-BE49-F238E27FC236}">
                    <a16:creationId xmlns:a16="http://schemas.microsoft.com/office/drawing/2014/main" id="{3F17D473-DB00-4182-A0D1-755AC1F436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𝑐𝑜𝑢𝑛𝑡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𝑐𝑜𝑢𝑛𝑡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2" name="Content Placeholder 21">
                <a:extLst>
                  <a:ext uri="{FF2B5EF4-FFF2-40B4-BE49-F238E27FC236}">
                    <a16:creationId xmlns:a16="http://schemas.microsoft.com/office/drawing/2014/main" id="{3F17D473-DB00-4182-A0D1-755AC1F436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63123"/>
            <a:ext cx="11658601" cy="485173"/>
          </a:xfrm>
          <a:prstGeom prst="rect">
            <a:avLst/>
          </a:prstGeo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>
              <a:spcBef>
                <a:spcPts val="70"/>
              </a:spcBef>
              <a:tabLst>
                <a:tab pos="598268" algn="l"/>
              </a:tabLst>
            </a:pPr>
            <a:r>
              <a:rPr sz="3094" spc="-18" dirty="0">
                <a:latin typeface="Helvetica-Light"/>
                <a:cs typeface="Helvetica-Light"/>
              </a:rPr>
              <a:t>An</a:t>
            </a:r>
            <a:r>
              <a:rPr sz="3094" dirty="0">
                <a:latin typeface="Helvetica-Light"/>
                <a:cs typeface="Helvetica-Light"/>
              </a:rPr>
              <a:t>	</a:t>
            </a:r>
            <a:r>
              <a:rPr lang="en-US" sz="3094" spc="-7" dirty="0">
                <a:latin typeface="Helvetica-Light"/>
                <a:cs typeface="Helvetica-Light"/>
              </a:rPr>
              <a:t>E</a:t>
            </a:r>
            <a:r>
              <a:rPr sz="3094" spc="-7" dirty="0">
                <a:latin typeface="Helvetica-Light"/>
                <a:cs typeface="Helvetica-Light"/>
              </a:rPr>
              <a:t>xample</a:t>
            </a:r>
            <a:endParaRPr sz="3094" dirty="0">
              <a:latin typeface="Helvetica-Light"/>
              <a:cs typeface="Helvetica-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00478" y="1811272"/>
            <a:ext cx="5794972" cy="989043"/>
          </a:xfrm>
          <a:prstGeom prst="rect">
            <a:avLst/>
          </a:prstGeom>
        </p:spPr>
        <p:txBody>
          <a:bodyPr vert="horz" wrap="square" lIns="0" tIns="54918" rIns="0" bIns="0" rtlCol="0">
            <a:spAutoFit/>
          </a:bodyPr>
          <a:lstStyle/>
          <a:p>
            <a:pPr marL="8929">
              <a:spcBef>
                <a:spcPts val="432"/>
              </a:spcBef>
            </a:pPr>
            <a:r>
              <a:rPr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&lt;s&gt;</a:t>
            </a:r>
            <a:r>
              <a:rPr spc="-4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 </a:t>
            </a:r>
            <a:r>
              <a:rPr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I</a:t>
            </a:r>
            <a:r>
              <a:rPr spc="4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 </a:t>
            </a:r>
            <a:r>
              <a:rPr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am Sam</a:t>
            </a:r>
            <a:r>
              <a:rPr spc="4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 </a:t>
            </a:r>
            <a:r>
              <a:rPr spc="-14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&lt;/s&gt;</a:t>
            </a:r>
            <a:endParaRPr dirty="0">
              <a:solidFill>
                <a:srgbClr val="0070C0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Trebuchet MS"/>
            </a:endParaRPr>
          </a:p>
          <a:p>
            <a:pPr marL="8929">
              <a:spcBef>
                <a:spcPts val="366"/>
              </a:spcBef>
            </a:pPr>
            <a:r>
              <a:rPr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&lt;s&gt;</a:t>
            </a:r>
            <a:r>
              <a:rPr spc="4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 </a:t>
            </a:r>
            <a:r>
              <a:rPr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Sam</a:t>
            </a:r>
            <a:r>
              <a:rPr spc="4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 </a:t>
            </a:r>
            <a:r>
              <a:rPr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I am</a:t>
            </a:r>
            <a:r>
              <a:rPr spc="4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 </a:t>
            </a:r>
            <a:r>
              <a:rPr spc="-14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&lt;/s&gt;</a:t>
            </a:r>
            <a:endParaRPr dirty="0">
              <a:solidFill>
                <a:srgbClr val="0070C0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Trebuchet MS"/>
            </a:endParaRPr>
          </a:p>
          <a:p>
            <a:pPr marL="8929">
              <a:spcBef>
                <a:spcPts val="366"/>
              </a:spcBef>
            </a:pPr>
            <a:r>
              <a:rPr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&lt;s&gt;</a:t>
            </a:r>
            <a:r>
              <a:rPr spc="4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 </a:t>
            </a:r>
            <a:r>
              <a:rPr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I do</a:t>
            </a:r>
            <a:r>
              <a:rPr spc="4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 </a:t>
            </a:r>
            <a:r>
              <a:rPr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not</a:t>
            </a:r>
            <a:r>
              <a:rPr spc="4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 </a:t>
            </a:r>
            <a:r>
              <a:rPr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like green</a:t>
            </a:r>
            <a:r>
              <a:rPr spc="4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 </a:t>
            </a:r>
            <a:r>
              <a:rPr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eggs</a:t>
            </a:r>
            <a:r>
              <a:rPr spc="4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 </a:t>
            </a:r>
            <a:r>
              <a:rPr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and ham</a:t>
            </a:r>
            <a:r>
              <a:rPr spc="4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 </a:t>
            </a:r>
            <a:r>
              <a:rPr spc="-14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Trebuchet MS"/>
              </a:rPr>
              <a:t>&lt;/s&gt;</a:t>
            </a:r>
            <a:endParaRPr dirty="0">
              <a:solidFill>
                <a:srgbClr val="0070C0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472452" y="1047537"/>
            <a:ext cx="419783" cy="335532"/>
            <a:chOff x="2587297" y="3583075"/>
            <a:chExt cx="597025" cy="477201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98409" y="3594187"/>
              <a:ext cx="585913" cy="46608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587297" y="3583075"/>
              <a:ext cx="455930" cy="335915"/>
            </a:xfrm>
            <a:custGeom>
              <a:avLst/>
              <a:gdLst/>
              <a:ahLst/>
              <a:cxnLst/>
              <a:rect l="l" t="t" r="r" b="b"/>
              <a:pathLst>
                <a:path w="455930" h="335914">
                  <a:moveTo>
                    <a:pt x="455738" y="0"/>
                  </a:moveTo>
                  <a:lnTo>
                    <a:pt x="0" y="0"/>
                  </a:lnTo>
                  <a:lnTo>
                    <a:pt x="0" y="335914"/>
                  </a:lnTo>
                  <a:lnTo>
                    <a:pt x="455738" y="335914"/>
                  </a:lnTo>
                  <a:lnTo>
                    <a:pt x="455738" y="0"/>
                  </a:lnTo>
                  <a:close/>
                </a:path>
              </a:pathLst>
            </a:custGeom>
            <a:solidFill>
              <a:srgbClr val="FFC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87297" y="3583075"/>
              <a:ext cx="455930" cy="335915"/>
            </a:xfrm>
            <a:custGeom>
              <a:avLst/>
              <a:gdLst/>
              <a:ahLst/>
              <a:cxnLst/>
              <a:rect l="l" t="t" r="r" b="b"/>
              <a:pathLst>
                <a:path w="455930" h="335914">
                  <a:moveTo>
                    <a:pt x="0" y="0"/>
                  </a:moveTo>
                  <a:lnTo>
                    <a:pt x="455738" y="0"/>
                  </a:lnTo>
                  <a:lnTo>
                    <a:pt x="455738" y="335915"/>
                  </a:lnTo>
                  <a:lnTo>
                    <a:pt x="0" y="33591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98348" y="1074561"/>
            <a:ext cx="268784" cy="182142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125" spc="-18" dirty="0">
                <a:latin typeface="Trebuchet MS"/>
                <a:cs typeface="Trebuchet MS"/>
              </a:rPr>
              <a:t>MLE</a:t>
            </a:r>
            <a:endParaRPr sz="1125" dirty="0">
              <a:latin typeface="Trebuchet MS"/>
              <a:cs typeface="Trebuchet MS"/>
            </a:endParaRPr>
          </a:p>
        </p:txBody>
      </p:sp>
      <p:pic>
        <p:nvPicPr>
          <p:cNvPr id="23" name="object 4">
            <a:extLst>
              <a:ext uri="{FF2B5EF4-FFF2-40B4-BE49-F238E27FC236}">
                <a16:creationId xmlns:a16="http://schemas.microsoft.com/office/drawing/2014/main" id="{3F537CD2-407D-4647-B2BA-2E47B570D60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2671" y="3330347"/>
            <a:ext cx="9366657" cy="830460"/>
          </a:xfrm>
          <a:prstGeom prst="rect">
            <a:avLst/>
          </a:prstGeom>
        </p:spPr>
      </p:pic>
      <p:sp>
        <p:nvSpPr>
          <p:cNvPr id="24" name="object 18">
            <a:extLst>
              <a:ext uri="{FF2B5EF4-FFF2-40B4-BE49-F238E27FC236}">
                <a16:creationId xmlns:a16="http://schemas.microsoft.com/office/drawing/2014/main" id="{40931201-944C-42E5-A785-6B4A61C8DC2D}"/>
              </a:ext>
            </a:extLst>
          </p:cNvPr>
          <p:cNvSpPr txBox="1"/>
          <p:nvPr/>
        </p:nvSpPr>
        <p:spPr>
          <a:xfrm>
            <a:off x="7164194" y="4552206"/>
            <a:ext cx="4267540" cy="1812179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17859" rIns="0" bIns="0" rtlCol="0">
            <a:spAutoFit/>
          </a:bodyPr>
          <a:lstStyle/>
          <a:p>
            <a:pPr marL="138852" marR="140191" indent="8483" algn="ctr">
              <a:lnSpc>
                <a:spcPct val="101600"/>
              </a:lnSpc>
              <a:spcBef>
                <a:spcPts val="141"/>
              </a:spcBef>
            </a:pPr>
            <a:r>
              <a:rPr sz="2320" dirty="0">
                <a:latin typeface="HelveticaNeue-Light"/>
                <a:cs typeface="HelveticaNeue-Light"/>
              </a:rPr>
              <a:t>Important terminology: </a:t>
            </a:r>
            <a:r>
              <a:rPr sz="2320" spc="-35" dirty="0">
                <a:latin typeface="HelveticaNeue-Light"/>
                <a:cs typeface="HelveticaNeue-Light"/>
              </a:rPr>
              <a:t>a </a:t>
            </a:r>
            <a:r>
              <a:rPr sz="2320" dirty="0">
                <a:latin typeface="HelveticaNeue-Light"/>
                <a:cs typeface="HelveticaNeue-Light"/>
              </a:rPr>
              <a:t>word</a:t>
            </a:r>
            <a:r>
              <a:rPr sz="2320" spc="-18" dirty="0">
                <a:latin typeface="HelveticaNeue-Light"/>
                <a:cs typeface="HelveticaNeue-Light"/>
              </a:rPr>
              <a:t> </a:t>
            </a:r>
            <a:r>
              <a:rPr sz="2320" b="1" dirty="0">
                <a:latin typeface="Helvetica Neue"/>
                <a:cs typeface="Helvetica Neue"/>
              </a:rPr>
              <a:t>type</a:t>
            </a:r>
            <a:r>
              <a:rPr sz="2320" b="1" spc="-7" dirty="0">
                <a:latin typeface="Helvetica Neue"/>
                <a:cs typeface="Helvetica Neue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is</a:t>
            </a:r>
            <a:r>
              <a:rPr sz="2320" spc="-11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a</a:t>
            </a:r>
            <a:r>
              <a:rPr sz="2320" spc="-7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unique</a:t>
            </a:r>
            <a:r>
              <a:rPr sz="2320" spc="-7" dirty="0">
                <a:latin typeface="HelveticaNeue-Light"/>
                <a:cs typeface="HelveticaNeue-Light"/>
              </a:rPr>
              <a:t> </a:t>
            </a:r>
            <a:r>
              <a:rPr sz="2320" spc="-14" dirty="0">
                <a:latin typeface="HelveticaNeue-Light"/>
                <a:cs typeface="HelveticaNeue-Light"/>
              </a:rPr>
              <a:t>word </a:t>
            </a:r>
            <a:r>
              <a:rPr sz="2320" dirty="0">
                <a:latin typeface="HelveticaNeue-Light"/>
                <a:cs typeface="HelveticaNeue-Light"/>
              </a:rPr>
              <a:t>in</a:t>
            </a:r>
            <a:r>
              <a:rPr sz="2320" spc="-35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our</a:t>
            </a:r>
            <a:r>
              <a:rPr sz="2320" spc="-35" dirty="0">
                <a:latin typeface="HelveticaNeue-Light"/>
                <a:cs typeface="HelveticaNeue-Light"/>
              </a:rPr>
              <a:t> </a:t>
            </a:r>
            <a:r>
              <a:rPr sz="2320" spc="-7" dirty="0">
                <a:latin typeface="HelveticaNeue-Light"/>
                <a:cs typeface="HelveticaNeue-Light"/>
              </a:rPr>
              <a:t>vocabulary,</a:t>
            </a:r>
            <a:r>
              <a:rPr sz="2320" spc="-35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while</a:t>
            </a:r>
            <a:r>
              <a:rPr sz="2320" spc="-32" dirty="0">
                <a:latin typeface="HelveticaNeue-Light"/>
                <a:cs typeface="HelveticaNeue-Light"/>
              </a:rPr>
              <a:t> </a:t>
            </a:r>
            <a:r>
              <a:rPr sz="2320" spc="-35" dirty="0">
                <a:latin typeface="HelveticaNeue-Light"/>
                <a:cs typeface="HelveticaNeue-Light"/>
              </a:rPr>
              <a:t>a </a:t>
            </a:r>
            <a:r>
              <a:rPr sz="2320" b="1" dirty="0">
                <a:latin typeface="Helvetica Neue"/>
                <a:cs typeface="Helvetica Neue"/>
              </a:rPr>
              <a:t>token</a:t>
            </a:r>
            <a:r>
              <a:rPr sz="2320" b="1" spc="-18" dirty="0">
                <a:latin typeface="Helvetica Neue"/>
                <a:cs typeface="Helvetica Neue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is</a:t>
            </a:r>
            <a:r>
              <a:rPr sz="2320" spc="-7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an</a:t>
            </a:r>
            <a:r>
              <a:rPr sz="2320" spc="-11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occurrence</a:t>
            </a:r>
            <a:r>
              <a:rPr sz="2320" spc="-7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of</a:t>
            </a:r>
            <a:r>
              <a:rPr sz="2320" spc="-7" dirty="0">
                <a:latin typeface="HelveticaNeue-Light"/>
                <a:cs typeface="HelveticaNeue-Light"/>
              </a:rPr>
              <a:t> </a:t>
            </a:r>
            <a:r>
              <a:rPr sz="2320" spc="-35" dirty="0">
                <a:latin typeface="HelveticaNeue-Light"/>
                <a:cs typeface="HelveticaNeue-Light"/>
              </a:rPr>
              <a:t>a </a:t>
            </a:r>
            <a:r>
              <a:rPr sz="2320" dirty="0">
                <a:latin typeface="HelveticaNeue-Light"/>
                <a:cs typeface="HelveticaNeue-Light"/>
              </a:rPr>
              <a:t>word</a:t>
            </a:r>
            <a:r>
              <a:rPr sz="2320" spc="-11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type</a:t>
            </a:r>
            <a:r>
              <a:rPr sz="2320" spc="-11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in</a:t>
            </a:r>
            <a:r>
              <a:rPr sz="2320" spc="-11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a</a:t>
            </a:r>
            <a:r>
              <a:rPr sz="2320" spc="-11" dirty="0">
                <a:latin typeface="HelveticaNeue-Light"/>
                <a:cs typeface="HelveticaNeue-Light"/>
              </a:rPr>
              <a:t> </a:t>
            </a:r>
            <a:r>
              <a:rPr sz="2320" spc="-7" dirty="0">
                <a:latin typeface="HelveticaNeue-Light"/>
                <a:cs typeface="HelveticaNeue-Light"/>
              </a:rPr>
              <a:t>dataset.</a:t>
            </a:r>
            <a:endParaRPr sz="2320" dirty="0">
              <a:latin typeface="HelveticaNeue-Light"/>
              <a:cs typeface="HelveticaNeue-Light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CB6C599-2EDF-4309-84D9-CBFBCEFD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3398E9-87D4-437F-BEF0-91042F70E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7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HelveticaNeue-Light"/>
                <a:cs typeface="HelveticaNeue-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https://books.google.com/ngrams/</a:t>
            </a:r>
            <a:r>
              <a:rPr lang="en-US" sz="2800" spc="-7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HelveticaNeue-Light"/>
                <a:cs typeface="HelveticaNeue-Light"/>
              </a:rPr>
              <a:t> </a:t>
            </a:r>
            <a:endParaRPr lang="en-US" sz="2800" dirty="0">
              <a:solidFill>
                <a:srgbClr val="0070C0"/>
              </a:solidFill>
              <a:latin typeface="HelveticaNeue-Light"/>
              <a:cs typeface="HelveticaNeue-Ligh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Demo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11730A-E835-41BA-9C23-8928022A9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AAC90E-D28A-43B1-A67A-FDD0431E3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Does our language model prefer good sentences to bad ones?</a:t>
            </a:r>
          </a:p>
          <a:p>
            <a:pPr lvl="1"/>
            <a:r>
              <a:rPr lang="en-US" dirty="0"/>
              <a:t>Assign higher probability to “real” or “frequently observed” sentences</a:t>
            </a:r>
          </a:p>
          <a:p>
            <a:pPr lvl="2"/>
            <a:r>
              <a:rPr lang="en-US" dirty="0"/>
              <a:t>Than “ungrammatical” or “rarely observed” sentences?</a:t>
            </a:r>
          </a:p>
          <a:p>
            <a:r>
              <a:rPr lang="en-US" dirty="0"/>
              <a:t>We train parameters of our model on a </a:t>
            </a:r>
            <a:r>
              <a:rPr lang="en-US" dirty="0">
                <a:solidFill>
                  <a:srgbClr val="00B050"/>
                </a:solidFill>
              </a:rPr>
              <a:t>training set</a:t>
            </a:r>
            <a:r>
              <a:rPr lang="en-US" dirty="0"/>
              <a:t>.</a:t>
            </a:r>
          </a:p>
          <a:p>
            <a:r>
              <a:rPr lang="en-US" dirty="0"/>
              <a:t>We test the model’s performance on data we haven’t seen.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00B050"/>
                </a:solidFill>
              </a:rPr>
              <a:t>test set</a:t>
            </a:r>
            <a:r>
              <a:rPr lang="en-US" dirty="0"/>
              <a:t> is an unseen dataset that is different from our training set, totally unused.</a:t>
            </a:r>
          </a:p>
          <a:p>
            <a:pPr lvl="1"/>
            <a:r>
              <a:rPr lang="en-US" dirty="0"/>
              <a:t>An </a:t>
            </a:r>
            <a:r>
              <a:rPr lang="en-US" dirty="0">
                <a:solidFill>
                  <a:srgbClr val="00B050"/>
                </a:solidFill>
              </a:rPr>
              <a:t>evaluation metric</a:t>
            </a:r>
            <a:r>
              <a:rPr lang="en-US" dirty="0"/>
              <a:t> tells us how well our model does on the test set.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93334"/>
            <a:ext cx="11658600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Evaluation:	How good is our model?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D7D9F1-DA61-4A33-B049-4D742BFF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925D0D-9BC4-4845-BAFE-92EBB9D15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The goal isn’t to pound out fake sentences!</a:t>
            </a:r>
          </a:p>
          <a:p>
            <a:pPr lvl="1"/>
            <a:r>
              <a:rPr lang="en-US" dirty="0"/>
              <a:t>Obviously, generated sentences get “better” as we increase the model order</a:t>
            </a:r>
          </a:p>
          <a:p>
            <a:pPr lvl="1"/>
            <a:r>
              <a:rPr lang="en-US" dirty="0"/>
              <a:t>More precisely: using maximum likelihood estimators, higher order is always better likelihood on </a:t>
            </a:r>
            <a:r>
              <a:rPr lang="en-US" dirty="0">
                <a:solidFill>
                  <a:srgbClr val="00B050"/>
                </a:solidFill>
              </a:rPr>
              <a:t>training set</a:t>
            </a:r>
            <a:r>
              <a:rPr lang="en-US" dirty="0"/>
              <a:t>, but not </a:t>
            </a:r>
            <a:r>
              <a:rPr lang="en-US" dirty="0">
                <a:solidFill>
                  <a:srgbClr val="00B050"/>
                </a:solidFill>
              </a:rPr>
              <a:t>test set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93424"/>
            <a:ext cx="11658601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Evaluation:	How good is our model?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27F011-79E8-49E2-BC0A-E92D3FF08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6633" y="1602354"/>
            <a:ext cx="2318826" cy="1545884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20A9124-7B1B-4238-938B-6768456E9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Use a bunch of New York Times articles to build a bigram probability table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C8EED95B-F201-4613-8982-B42C986B3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068" y="1865187"/>
            <a:ext cx="2929606" cy="103481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171488" y="2300287"/>
            <a:ext cx="900113" cy="150019"/>
            <a:chOff x="5187539" y="3271520"/>
            <a:chExt cx="1280160" cy="213360"/>
          </a:xfrm>
        </p:grpSpPr>
        <p:sp>
          <p:nvSpPr>
            <p:cNvPr id="6" name="object 6"/>
            <p:cNvSpPr/>
            <p:nvPr/>
          </p:nvSpPr>
          <p:spPr>
            <a:xfrm>
              <a:off x="5187539" y="3378200"/>
              <a:ext cx="1092200" cy="0"/>
            </a:xfrm>
            <a:custGeom>
              <a:avLst/>
              <a:gdLst/>
              <a:ahLst/>
              <a:cxnLst/>
              <a:rect l="l" t="t" r="r" b="b"/>
              <a:pathLst>
                <a:path w="1092200">
                  <a:moveTo>
                    <a:pt x="0" y="0"/>
                  </a:moveTo>
                  <a:lnTo>
                    <a:pt x="1066394" y="0"/>
                  </a:lnTo>
                  <a:lnTo>
                    <a:pt x="1091794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53934" y="327152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0"/>
                  </a:moveTo>
                  <a:lnTo>
                    <a:pt x="0" y="213359"/>
                  </a:lnTo>
                  <a:lnTo>
                    <a:pt x="213360" y="106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951955" y="2991445"/>
            <a:ext cx="2610148" cy="2607469"/>
            <a:chOff x="7719758" y="4254500"/>
            <a:chExt cx="3712210" cy="37084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9758" y="4915402"/>
              <a:ext cx="3712037" cy="304699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527092" y="4254500"/>
              <a:ext cx="0" cy="861694"/>
            </a:xfrm>
            <a:custGeom>
              <a:avLst/>
              <a:gdLst/>
              <a:ahLst/>
              <a:cxnLst/>
              <a:rect l="l" t="t" r="r" b="b"/>
              <a:pathLst>
                <a:path h="861695">
                  <a:moveTo>
                    <a:pt x="0" y="0"/>
                  </a:moveTo>
                  <a:lnTo>
                    <a:pt x="0" y="835989"/>
                  </a:lnTo>
                  <a:lnTo>
                    <a:pt x="0" y="861389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20412" y="509049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59" h="213360">
                  <a:moveTo>
                    <a:pt x="213360" y="0"/>
                  </a:moveTo>
                  <a:lnTo>
                    <a:pt x="0" y="0"/>
                  </a:lnTo>
                  <a:lnTo>
                    <a:pt x="106680" y="213359"/>
                  </a:lnTo>
                  <a:lnTo>
                    <a:pt x="2133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405750" y="2052266"/>
            <a:ext cx="533692" cy="27954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 algn="ctr">
              <a:spcBef>
                <a:spcPts val="70"/>
              </a:spcBef>
            </a:pPr>
            <a:r>
              <a:rPr sz="1758" i="1" spc="-14" dirty="0">
                <a:latin typeface="HelveticaNeue-LightItalic"/>
                <a:cs typeface="HelveticaNeue-LightItalic"/>
              </a:rPr>
              <a:t>train</a:t>
            </a:r>
            <a:endParaRPr sz="1758" dirty="0">
              <a:latin typeface="HelveticaNeue-LightItalic"/>
              <a:cs typeface="HelveticaNeue-LightItal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51018" y="5545692"/>
            <a:ext cx="3745481" cy="918170"/>
          </a:xfrm>
          <a:prstGeom prst="rect">
            <a:avLst/>
          </a:prstGeom>
        </p:spPr>
        <p:txBody>
          <a:bodyPr vert="horz" wrap="square" lIns="0" tIns="7590" rIns="0" bIns="0" rtlCol="0">
            <a:spAutoFit/>
          </a:bodyPr>
          <a:lstStyle/>
          <a:p>
            <a:pPr marL="8483" marR="3572" algn="ctr">
              <a:lnSpc>
                <a:spcPts val="2391"/>
              </a:lnSpc>
              <a:spcBef>
                <a:spcPts val="60"/>
              </a:spcBef>
            </a:pPr>
            <a:r>
              <a:rPr sz="1969" dirty="0">
                <a:latin typeface="HelveticaNeue-Light"/>
                <a:cs typeface="HelveticaNeue-Light"/>
              </a:rPr>
              <a:t>Now I’m going to evaluate </a:t>
            </a:r>
            <a:r>
              <a:rPr sz="1969" spc="-18" dirty="0">
                <a:latin typeface="HelveticaNeue-Light"/>
                <a:cs typeface="HelveticaNeue-Light"/>
              </a:rPr>
              <a:t>the </a:t>
            </a:r>
            <a:r>
              <a:rPr sz="1969" dirty="0">
                <a:latin typeface="HelveticaNeue-Light"/>
                <a:cs typeface="HelveticaNeue-Light"/>
              </a:rPr>
              <a:t>probability</a:t>
            </a:r>
            <a:r>
              <a:rPr sz="1969" spc="-21" dirty="0">
                <a:latin typeface="HelveticaNeue-Light"/>
                <a:cs typeface="HelveticaNeue-Light"/>
              </a:rPr>
              <a:t> </a:t>
            </a:r>
            <a:r>
              <a:rPr sz="1969" dirty="0">
                <a:latin typeface="HelveticaNeue-Light"/>
                <a:cs typeface="HelveticaNeue-Light"/>
              </a:rPr>
              <a:t>of</a:t>
            </a:r>
            <a:r>
              <a:rPr sz="1969" spc="-14" dirty="0">
                <a:latin typeface="HelveticaNeue-Light"/>
                <a:cs typeface="HelveticaNeue-Light"/>
              </a:rPr>
              <a:t> </a:t>
            </a:r>
            <a:r>
              <a:rPr sz="1969" dirty="0">
                <a:latin typeface="HelveticaNeue-Light"/>
                <a:cs typeface="HelveticaNeue-Light"/>
              </a:rPr>
              <a:t>some</a:t>
            </a:r>
            <a:r>
              <a:rPr sz="1969" spc="-11" dirty="0">
                <a:latin typeface="HelveticaNeue-Light"/>
                <a:cs typeface="HelveticaNeue-Light"/>
              </a:rPr>
              <a:t> </a:t>
            </a:r>
            <a:r>
              <a:rPr sz="1969" i="1" spc="-7" dirty="0">
                <a:latin typeface="HelveticaNeue-LightItalic"/>
                <a:cs typeface="HelveticaNeue-LightItalic"/>
              </a:rPr>
              <a:t>heldout</a:t>
            </a:r>
            <a:endParaRPr sz="1969" dirty="0">
              <a:latin typeface="HelveticaNeue-LightItalic"/>
              <a:cs typeface="HelveticaNeue-LightItalic"/>
            </a:endParaRPr>
          </a:p>
          <a:p>
            <a:pPr algn="ctr">
              <a:lnSpc>
                <a:spcPts val="2310"/>
              </a:lnSpc>
            </a:pPr>
            <a:r>
              <a:rPr sz="1969" dirty="0">
                <a:latin typeface="HelveticaNeue-Light"/>
                <a:cs typeface="HelveticaNeue-Light"/>
              </a:rPr>
              <a:t>data using our bigram </a:t>
            </a:r>
            <a:r>
              <a:rPr sz="1969" spc="-7" dirty="0">
                <a:latin typeface="HelveticaNeue-Light"/>
                <a:cs typeface="HelveticaNeue-Light"/>
              </a:rPr>
              <a:t>table</a:t>
            </a:r>
            <a:endParaRPr sz="1969" dirty="0">
              <a:latin typeface="HelveticaNeue-Light"/>
              <a:cs typeface="HelveticaNeue-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52856" y="3141688"/>
            <a:ext cx="957744" cy="27954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758" i="1" spc="-7" dirty="0">
                <a:latin typeface="HelveticaNeue-LightItalic"/>
                <a:cs typeface="HelveticaNeue-LightItalic"/>
              </a:rPr>
              <a:t>evaluate</a:t>
            </a:r>
            <a:endParaRPr sz="1758" dirty="0">
              <a:latin typeface="HelveticaNeue-LightItalic"/>
              <a:cs typeface="HelveticaNeue-LightItal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6401" y="4286448"/>
            <a:ext cx="4048982" cy="1184782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1878" rIns="0" bIns="0" rtlCol="0">
            <a:spAutoFit/>
          </a:bodyPr>
          <a:lstStyle/>
          <a:p>
            <a:pPr marL="116082" marR="110724" algn="ctr">
              <a:lnSpc>
                <a:spcPct val="101899"/>
              </a:lnSpc>
              <a:spcBef>
                <a:spcPts val="172"/>
              </a:spcBef>
              <a:tabLst>
                <a:tab pos="408072" algn="l"/>
                <a:tab pos="1128226" algn="l"/>
                <a:tab pos="1217966" algn="l"/>
                <a:tab pos="1622467" algn="l"/>
                <a:tab pos="1985892" algn="l"/>
                <a:tab pos="2104206" algn="l"/>
                <a:tab pos="2360479" algn="l"/>
                <a:tab pos="2570319" algn="l"/>
                <a:tab pos="3105188" algn="l"/>
              </a:tabLst>
            </a:pPr>
            <a:r>
              <a:rPr sz="2531" spc="-35" dirty="0">
                <a:latin typeface="HelveticaNeue-Light"/>
                <a:cs typeface="HelveticaNeue-Light"/>
              </a:rPr>
              <a:t>A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14" dirty="0">
                <a:latin typeface="HelveticaNeue-Light"/>
                <a:cs typeface="HelveticaNeue-Light"/>
              </a:rPr>
              <a:t>good</a:t>
            </a:r>
            <a:r>
              <a:rPr sz="2531" dirty="0">
                <a:latin typeface="HelveticaNeue-Light"/>
                <a:cs typeface="HelveticaNeue-Light"/>
              </a:rPr>
              <a:t>		</a:t>
            </a:r>
            <a:r>
              <a:rPr sz="2531" spc="-7" dirty="0">
                <a:latin typeface="HelveticaNeue-Light"/>
                <a:cs typeface="HelveticaNeue-Light"/>
              </a:rPr>
              <a:t>language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7" dirty="0">
                <a:latin typeface="HelveticaNeue-Light"/>
                <a:cs typeface="HelveticaNeue-Light"/>
              </a:rPr>
              <a:t>model should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7" dirty="0">
                <a:latin typeface="HelveticaNeue-Light"/>
                <a:cs typeface="HelveticaNeue-Light"/>
              </a:rPr>
              <a:t>assign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35" dirty="0">
                <a:latin typeface="HelveticaNeue-Light"/>
                <a:cs typeface="HelveticaNeue-Light"/>
              </a:rPr>
              <a:t>a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14" dirty="0">
                <a:latin typeface="HelveticaNeue-Light"/>
                <a:cs typeface="HelveticaNeue-Light"/>
              </a:rPr>
              <a:t>high </a:t>
            </a:r>
            <a:r>
              <a:rPr sz="2531" spc="-7" dirty="0">
                <a:latin typeface="HelveticaNeue-Light"/>
                <a:cs typeface="HelveticaNeue-Light"/>
              </a:rPr>
              <a:t>probability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18" dirty="0">
                <a:latin typeface="HelveticaNeue-Light"/>
                <a:cs typeface="HelveticaNeue-Light"/>
              </a:rPr>
              <a:t>to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7" dirty="0">
                <a:latin typeface="HelveticaNeue-Light"/>
                <a:cs typeface="HelveticaNeue-Light"/>
              </a:rPr>
              <a:t>heldout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7" dirty="0">
                <a:latin typeface="HelveticaNeue-Light"/>
                <a:cs typeface="HelveticaNeue-Light"/>
              </a:rPr>
              <a:t>text!</a:t>
            </a:r>
            <a:endParaRPr sz="2531" dirty="0">
              <a:latin typeface="HelveticaNeue-Light"/>
              <a:cs typeface="HelveticaNeue-Light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CC66955-F17F-4F74-85A5-8988D604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3" grpId="0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A2A397-2E9F-4EC1-8942-7CA35E3B0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We can’t allow test sentences into the training set</a:t>
            </a:r>
          </a:p>
          <a:p>
            <a:r>
              <a:rPr lang="en-US" dirty="0"/>
              <a:t>We will assign it an artificially high probability when we set it in the test set</a:t>
            </a:r>
          </a:p>
          <a:p>
            <a:r>
              <a:rPr lang="en-US" dirty="0"/>
              <a:t>“Training on the test set”</a:t>
            </a:r>
          </a:p>
          <a:p>
            <a:r>
              <a:rPr lang="en-US" dirty="0"/>
              <a:t>Bad science!</a:t>
            </a:r>
          </a:p>
          <a:p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982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Training on the test set</a:t>
            </a:r>
            <a:endParaRPr lang="en-US"/>
          </a:p>
        </p:txBody>
      </p:sp>
      <p:sp>
        <p:nvSpPr>
          <p:cNvPr id="7" name="object 7"/>
          <p:cNvSpPr txBox="1"/>
          <p:nvPr/>
        </p:nvSpPr>
        <p:spPr>
          <a:xfrm>
            <a:off x="2937509" y="4540555"/>
            <a:ext cx="6511291" cy="1075058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18752" rIns="0" bIns="0" rtlCol="0">
            <a:spAutoFit/>
          </a:bodyPr>
          <a:lstStyle/>
          <a:p>
            <a:pPr marL="104474" marR="104474" indent="5358" algn="ctr">
              <a:lnSpc>
                <a:spcPct val="101000"/>
              </a:lnSpc>
              <a:spcBef>
                <a:spcPts val="148"/>
              </a:spcBef>
            </a:pPr>
            <a:r>
              <a:rPr sz="2320" dirty="0">
                <a:latin typeface="HelveticaNeue-Light"/>
                <a:cs typeface="HelveticaNeue-Light"/>
              </a:rPr>
              <a:t>This advice is generally applicable to </a:t>
            </a:r>
            <a:r>
              <a:rPr sz="2320" spc="-18" dirty="0">
                <a:latin typeface="HelveticaNeue-Light"/>
                <a:cs typeface="HelveticaNeue-Light"/>
              </a:rPr>
              <a:t>any </a:t>
            </a:r>
            <a:r>
              <a:rPr sz="2320" dirty="0">
                <a:latin typeface="HelveticaNeue-Light"/>
                <a:cs typeface="HelveticaNeue-Light"/>
              </a:rPr>
              <a:t>downstream</a:t>
            </a:r>
            <a:r>
              <a:rPr sz="2320" spc="-14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task!</a:t>
            </a:r>
            <a:r>
              <a:rPr sz="2320" spc="-4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Do</a:t>
            </a:r>
            <a:r>
              <a:rPr sz="2320" spc="-7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NOT</a:t>
            </a:r>
            <a:r>
              <a:rPr sz="2320" spc="-4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do</a:t>
            </a:r>
            <a:r>
              <a:rPr sz="2320" spc="-7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this</a:t>
            </a:r>
            <a:r>
              <a:rPr sz="2320" spc="-4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in</a:t>
            </a:r>
            <a:r>
              <a:rPr sz="2320" spc="-7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your</a:t>
            </a:r>
            <a:r>
              <a:rPr sz="2320" spc="-4" dirty="0">
                <a:latin typeface="HelveticaNeue-Light"/>
                <a:cs typeface="HelveticaNeue-Light"/>
              </a:rPr>
              <a:t> </a:t>
            </a:r>
            <a:r>
              <a:rPr sz="2320" spc="-7" dirty="0">
                <a:latin typeface="HelveticaNeue-Light"/>
                <a:cs typeface="HelveticaNeue-Light"/>
              </a:rPr>
              <a:t>final </a:t>
            </a:r>
            <a:r>
              <a:rPr sz="2320" dirty="0">
                <a:latin typeface="HelveticaNeue-Light"/>
                <a:cs typeface="HelveticaNeue-Light"/>
              </a:rPr>
              <a:t>projects</a:t>
            </a:r>
            <a:r>
              <a:rPr sz="2320" spc="-14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unless</a:t>
            </a:r>
            <a:r>
              <a:rPr sz="2320" spc="-4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you</a:t>
            </a:r>
            <a:r>
              <a:rPr sz="2320" spc="-4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want</a:t>
            </a:r>
            <a:r>
              <a:rPr sz="2320" spc="-4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to</a:t>
            </a:r>
            <a:r>
              <a:rPr sz="2320" spc="-4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lose</a:t>
            </a:r>
            <a:r>
              <a:rPr sz="2320" spc="-7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a</a:t>
            </a:r>
            <a:r>
              <a:rPr sz="2320" spc="-4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lot</a:t>
            </a:r>
            <a:r>
              <a:rPr sz="2320" spc="-4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of</a:t>
            </a:r>
            <a:r>
              <a:rPr sz="2320" spc="-4" dirty="0">
                <a:latin typeface="HelveticaNeue-Light"/>
                <a:cs typeface="HelveticaNeue-Light"/>
              </a:rPr>
              <a:t> </a:t>
            </a:r>
            <a:r>
              <a:rPr sz="2320" dirty="0">
                <a:latin typeface="HelveticaNeue-Light"/>
                <a:cs typeface="HelveticaNeue-Light"/>
              </a:rPr>
              <a:t>points</a:t>
            </a:r>
            <a:r>
              <a:rPr sz="2320" spc="-4" dirty="0">
                <a:latin typeface="HelveticaNeue-Light"/>
                <a:cs typeface="HelveticaNeue-Light"/>
              </a:rPr>
              <a:t> </a:t>
            </a:r>
            <a:r>
              <a:rPr sz="2320" spc="-18" dirty="0">
                <a:latin typeface="HelveticaNeue-Light"/>
                <a:cs typeface="HelveticaNeue-Light"/>
              </a:rPr>
              <a:t>:)</a:t>
            </a:r>
            <a:endParaRPr sz="2320" dirty="0">
              <a:latin typeface="HelveticaNeue-Light"/>
              <a:cs typeface="HelveticaNeue-Light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DC81908-E6F3-4010-992B-52138B8A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8BC0B92-6FB8-4225-83AD-1435C203D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The best language model is one that best predicts an unseen test set</a:t>
            </a:r>
          </a:p>
          <a:p>
            <a:pPr lvl="1"/>
            <a:r>
              <a:rPr lang="en-US" dirty="0"/>
              <a:t>Gives the highest </a:t>
            </a:r>
            <a:r>
              <a:rPr lang="en-US" i="1" dirty="0">
                <a:latin typeface="+mn-lt"/>
              </a:rPr>
              <a:t>P(sentence)</a:t>
            </a:r>
          </a:p>
          <a:p>
            <a:pPr lvl="1"/>
            <a:r>
              <a:rPr lang="en-US" dirty="0"/>
              <a:t>Perplexity is the inverse probability of the test set, normalized by the number of words: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937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Perplexity</a:t>
            </a:r>
            <a:endParaRPr lang="en-US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5792" y="3814365"/>
            <a:ext cx="2655542" cy="67003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91281" y="4783555"/>
            <a:ext cx="2367038" cy="70814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41384" y="3930098"/>
            <a:ext cx="6099423" cy="2190324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2901152">
              <a:spcBef>
                <a:spcPts val="77"/>
              </a:spcBef>
            </a:pPr>
            <a:r>
              <a:rPr sz="2144" dirty="0">
                <a:latin typeface="Arial"/>
                <a:cs typeface="Arial"/>
              </a:rPr>
              <a:t>Chain rule:</a:t>
            </a:r>
          </a:p>
          <a:p>
            <a:pPr>
              <a:spcBef>
                <a:spcPts val="35"/>
              </a:spcBef>
            </a:pPr>
            <a:endParaRPr sz="3129" dirty="0">
              <a:latin typeface="Arial"/>
              <a:cs typeface="Arial"/>
            </a:endParaRPr>
          </a:p>
          <a:p>
            <a:pPr marL="2839540"/>
            <a:r>
              <a:rPr sz="2144" dirty="0">
                <a:latin typeface="Arial"/>
                <a:cs typeface="Arial"/>
              </a:rPr>
              <a:t>For bigrams:</a:t>
            </a:r>
          </a:p>
          <a:p>
            <a:pPr>
              <a:spcBef>
                <a:spcPts val="4"/>
              </a:spcBef>
            </a:pPr>
            <a:endParaRPr sz="2883" dirty="0">
              <a:latin typeface="Arial"/>
              <a:cs typeface="Arial"/>
            </a:endParaRPr>
          </a:p>
          <a:p>
            <a:pPr marL="8929"/>
            <a:r>
              <a:rPr sz="1934" b="1" dirty="0">
                <a:latin typeface="Arial"/>
                <a:cs typeface="Arial"/>
              </a:rPr>
              <a:t>Minimizing perplexity is the same as maximizing probability</a:t>
            </a:r>
            <a:endParaRPr sz="1934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17005" y="2573250"/>
            <a:ext cx="2278856" cy="260573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26788">
              <a:spcBef>
                <a:spcPts val="91"/>
              </a:spcBef>
              <a:tabLst>
                <a:tab pos="807215" algn="l"/>
                <a:tab pos="1119743" algn="l"/>
              </a:tabLst>
            </a:pPr>
            <a:r>
              <a:rPr sz="1617" i="1" dirty="0">
                <a:latin typeface="Times New Roman"/>
                <a:cs typeface="Times New Roman"/>
              </a:rPr>
              <a:t>PP</a:t>
            </a:r>
            <a:r>
              <a:rPr sz="1617" dirty="0">
                <a:latin typeface="Times New Roman"/>
                <a:cs typeface="Times New Roman"/>
              </a:rPr>
              <a:t>(</a:t>
            </a:r>
            <a:r>
              <a:rPr sz="1617" i="1" dirty="0">
                <a:latin typeface="Times New Roman"/>
                <a:cs typeface="Times New Roman"/>
              </a:rPr>
              <a:t>W</a:t>
            </a:r>
            <a:r>
              <a:rPr sz="1617" i="1" spc="-161" dirty="0">
                <a:latin typeface="Times New Roman"/>
                <a:cs typeface="Times New Roman"/>
              </a:rPr>
              <a:t> </a:t>
            </a:r>
            <a:r>
              <a:rPr sz="1617" spc="-35" dirty="0">
                <a:latin typeface="Times New Roman"/>
                <a:cs typeface="Times New Roman"/>
              </a:rPr>
              <a:t>)</a:t>
            </a:r>
            <a:r>
              <a:rPr sz="1617" dirty="0">
                <a:latin typeface="Times New Roman"/>
                <a:cs typeface="Times New Roman"/>
              </a:rPr>
              <a:t>	</a:t>
            </a:r>
            <a:r>
              <a:rPr sz="1617" spc="-35" dirty="0">
                <a:latin typeface="Symbol"/>
                <a:cs typeface="Symbol"/>
              </a:rPr>
              <a:t></a:t>
            </a:r>
            <a:r>
              <a:rPr sz="1617" dirty="0">
                <a:latin typeface="Times New Roman"/>
                <a:cs typeface="Times New Roman"/>
              </a:rPr>
              <a:t>	</a:t>
            </a:r>
            <a:r>
              <a:rPr sz="1617" i="1" dirty="0">
                <a:latin typeface="Times New Roman"/>
                <a:cs typeface="Times New Roman"/>
              </a:rPr>
              <a:t>P</a:t>
            </a:r>
            <a:r>
              <a:rPr sz="1617" dirty="0">
                <a:latin typeface="Times New Roman"/>
                <a:cs typeface="Times New Roman"/>
              </a:rPr>
              <a:t>(</a:t>
            </a:r>
            <a:r>
              <a:rPr sz="1617" i="1" dirty="0">
                <a:latin typeface="Times New Roman"/>
                <a:cs typeface="Times New Roman"/>
              </a:rPr>
              <a:t>w</a:t>
            </a:r>
            <a:r>
              <a:rPr sz="1635" baseline="-21505" dirty="0">
                <a:latin typeface="Times New Roman"/>
                <a:cs typeface="Times New Roman"/>
              </a:rPr>
              <a:t>1</a:t>
            </a:r>
            <a:r>
              <a:rPr sz="1617" i="1" dirty="0">
                <a:latin typeface="Times New Roman"/>
                <a:cs typeface="Times New Roman"/>
              </a:rPr>
              <a:t>w</a:t>
            </a:r>
            <a:r>
              <a:rPr sz="1635" baseline="-21505" dirty="0">
                <a:latin typeface="Times New Roman"/>
                <a:cs typeface="Times New Roman"/>
              </a:rPr>
              <a:t>2</a:t>
            </a:r>
            <a:r>
              <a:rPr sz="1617" dirty="0">
                <a:latin typeface="Times New Roman"/>
                <a:cs typeface="Times New Roman"/>
              </a:rPr>
              <a:t>...</a:t>
            </a:r>
            <a:r>
              <a:rPr sz="1617" i="1" dirty="0">
                <a:latin typeface="Times New Roman"/>
                <a:cs typeface="Times New Roman"/>
              </a:rPr>
              <a:t>w</a:t>
            </a:r>
            <a:r>
              <a:rPr sz="1635" i="1" baseline="-21505" dirty="0">
                <a:latin typeface="Times New Roman"/>
                <a:cs typeface="Times New Roman"/>
              </a:rPr>
              <a:t>N</a:t>
            </a:r>
            <a:r>
              <a:rPr sz="1635" i="1" spc="285" baseline="-21505" dirty="0">
                <a:latin typeface="Times New Roman"/>
                <a:cs typeface="Times New Roman"/>
              </a:rPr>
              <a:t> </a:t>
            </a:r>
            <a:r>
              <a:rPr sz="1617" spc="-35" dirty="0">
                <a:latin typeface="Times New Roman"/>
                <a:cs typeface="Times New Roman"/>
              </a:rPr>
              <a:t>)</a:t>
            </a:r>
            <a:endParaRPr sz="1617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49785" y="2465970"/>
            <a:ext cx="95548" cy="179461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090" spc="-74" dirty="0">
                <a:latin typeface="Symbol"/>
                <a:cs typeface="Symbol"/>
              </a:rPr>
              <a:t></a:t>
            </a:r>
            <a:endParaRPr sz="109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32141" y="2356636"/>
            <a:ext cx="127248" cy="398996"/>
          </a:xfrm>
          <a:prstGeom prst="rect">
            <a:avLst/>
          </a:prstGeom>
        </p:spPr>
        <p:txBody>
          <a:bodyPr vert="horz" wrap="square" lIns="0" tIns="37505" rIns="0" bIns="0" rtlCol="0">
            <a:spAutoFit/>
          </a:bodyPr>
          <a:lstStyle/>
          <a:p>
            <a:pPr marL="8929">
              <a:spcBef>
                <a:spcPts val="295"/>
              </a:spcBef>
            </a:pPr>
            <a:r>
              <a:rPr sz="1090" u="sng" spc="-5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9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090">
              <a:latin typeface="Times New Roman"/>
              <a:cs typeface="Times New Roman"/>
            </a:endParaRPr>
          </a:p>
          <a:p>
            <a:pPr marL="23216">
              <a:spcBef>
                <a:spcPts val="235"/>
              </a:spcBef>
            </a:pPr>
            <a:r>
              <a:rPr sz="1090" i="1" spc="14" dirty="0">
                <a:latin typeface="Times New Roman"/>
                <a:cs typeface="Times New Roman"/>
              </a:rPr>
              <a:t>N</a:t>
            </a:r>
            <a:endParaRPr sz="109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06965" y="2970820"/>
            <a:ext cx="1680121" cy="602261"/>
          </a:xfrm>
          <a:prstGeom prst="rect">
            <a:avLst/>
          </a:prstGeom>
        </p:spPr>
        <p:txBody>
          <a:bodyPr vert="horz" wrap="square" lIns="0" tIns="52685" rIns="0" bIns="0" rtlCol="0">
            <a:spAutoFit/>
          </a:bodyPr>
          <a:lstStyle/>
          <a:p>
            <a:pPr marL="26788">
              <a:spcBef>
                <a:spcPts val="415"/>
              </a:spcBef>
              <a:tabLst>
                <a:tab pos="342888" algn="l"/>
                <a:tab pos="1019288" algn="l"/>
                <a:tab pos="1643897" algn="l"/>
              </a:tabLst>
            </a:pPr>
            <a:r>
              <a:rPr sz="2426" spc="-53" baseline="-33816" dirty="0">
                <a:latin typeface="Symbol"/>
                <a:cs typeface="Symbol"/>
              </a:rPr>
              <a:t></a:t>
            </a:r>
            <a:r>
              <a:rPr sz="2426" baseline="-33816" dirty="0">
                <a:latin typeface="Times New Roman"/>
                <a:cs typeface="Times New Roman"/>
              </a:rPr>
              <a:t>	</a:t>
            </a:r>
            <a:r>
              <a:rPr sz="1635" i="1" baseline="-50179" dirty="0">
                <a:latin typeface="Times New Roman"/>
                <a:cs typeface="Times New Roman"/>
              </a:rPr>
              <a:t>N</a:t>
            </a:r>
            <a:r>
              <a:rPr sz="1635" i="1" spc="332" baseline="-50179" dirty="0">
                <a:latin typeface="Times New Roman"/>
                <a:cs typeface="Times New Roman"/>
              </a:rPr>
              <a:t> </a:t>
            </a:r>
            <a:r>
              <a:rPr sz="1617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17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617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617">
              <a:latin typeface="Times New Roman"/>
              <a:cs typeface="Times New Roman"/>
            </a:endParaRPr>
          </a:p>
          <a:p>
            <a:pPr marL="517011">
              <a:spcBef>
                <a:spcPts val="352"/>
              </a:spcBef>
            </a:pPr>
            <a:r>
              <a:rPr sz="1617" i="1" dirty="0">
                <a:latin typeface="Times New Roman"/>
                <a:cs typeface="Times New Roman"/>
              </a:rPr>
              <a:t>P</a:t>
            </a:r>
            <a:r>
              <a:rPr sz="1617" dirty="0">
                <a:latin typeface="Times New Roman"/>
                <a:cs typeface="Times New Roman"/>
              </a:rPr>
              <a:t>(</a:t>
            </a:r>
            <a:r>
              <a:rPr sz="1617" i="1" dirty="0">
                <a:latin typeface="Times New Roman"/>
                <a:cs typeface="Times New Roman"/>
              </a:rPr>
              <a:t>w</a:t>
            </a:r>
            <a:r>
              <a:rPr sz="1635" baseline="-21505" dirty="0">
                <a:latin typeface="Times New Roman"/>
                <a:cs typeface="Times New Roman"/>
              </a:rPr>
              <a:t>1</a:t>
            </a:r>
            <a:r>
              <a:rPr sz="1617" i="1" dirty="0">
                <a:latin typeface="Times New Roman"/>
                <a:cs typeface="Times New Roman"/>
              </a:rPr>
              <a:t>w</a:t>
            </a:r>
            <a:r>
              <a:rPr sz="1635" baseline="-21505" dirty="0">
                <a:latin typeface="Times New Roman"/>
                <a:cs typeface="Times New Roman"/>
              </a:rPr>
              <a:t>2</a:t>
            </a:r>
            <a:r>
              <a:rPr sz="1617" dirty="0">
                <a:latin typeface="Times New Roman"/>
                <a:cs typeface="Times New Roman"/>
              </a:rPr>
              <a:t>...</a:t>
            </a:r>
            <a:r>
              <a:rPr sz="1617" i="1" dirty="0">
                <a:latin typeface="Times New Roman"/>
                <a:cs typeface="Times New Roman"/>
              </a:rPr>
              <a:t>w</a:t>
            </a:r>
            <a:r>
              <a:rPr sz="1635" i="1" baseline="-21505" dirty="0">
                <a:latin typeface="Times New Roman"/>
                <a:cs typeface="Times New Roman"/>
              </a:rPr>
              <a:t>N</a:t>
            </a:r>
            <a:r>
              <a:rPr sz="1635" i="1" spc="285" baseline="-21505" dirty="0">
                <a:latin typeface="Times New Roman"/>
                <a:cs typeface="Times New Roman"/>
              </a:rPr>
              <a:t> </a:t>
            </a:r>
            <a:r>
              <a:rPr sz="1617" spc="-35" dirty="0">
                <a:latin typeface="Times New Roman"/>
                <a:cs typeface="Times New Roman"/>
              </a:rPr>
              <a:t>)</a:t>
            </a:r>
            <a:endParaRPr sz="1617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866967" y="3027537"/>
            <a:ext cx="1300609" cy="564803"/>
          </a:xfrm>
          <a:custGeom>
            <a:avLst/>
            <a:gdLst/>
            <a:ahLst/>
            <a:cxnLst/>
            <a:rect l="l" t="t" r="r" b="b"/>
            <a:pathLst>
              <a:path w="1849754" h="803275">
                <a:moveTo>
                  <a:pt x="1849380" y="0"/>
                </a:moveTo>
                <a:lnTo>
                  <a:pt x="177231" y="0"/>
                </a:lnTo>
                <a:lnTo>
                  <a:pt x="104026" y="732816"/>
                </a:lnTo>
                <a:lnTo>
                  <a:pt x="40839" y="482380"/>
                </a:lnTo>
                <a:lnTo>
                  <a:pt x="0" y="538632"/>
                </a:lnTo>
                <a:lnTo>
                  <a:pt x="7705" y="544026"/>
                </a:lnTo>
                <a:lnTo>
                  <a:pt x="23887" y="518596"/>
                </a:lnTo>
                <a:lnTo>
                  <a:pt x="97091" y="802939"/>
                </a:lnTo>
                <a:lnTo>
                  <a:pt x="111732" y="802939"/>
                </a:lnTo>
                <a:lnTo>
                  <a:pt x="190331" y="14641"/>
                </a:lnTo>
                <a:lnTo>
                  <a:pt x="1849380" y="14641"/>
                </a:lnTo>
                <a:lnTo>
                  <a:pt x="1849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3BE92FF-57BD-4B97-B78C-0F29B60A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C2DCD0D-285A-4077-887B-F3812C9B2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Let’s suppose a sentence consisting of random digits</a:t>
            </a:r>
          </a:p>
          <a:p>
            <a:r>
              <a:rPr lang="en-US" dirty="0"/>
              <a:t>What is the perplexity of this sentence according to a model that assign P=1/10 to each digit?</a:t>
            </a: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071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Perplexity as branching factor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6088" y="3181350"/>
            <a:ext cx="3279824" cy="2166224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4C4B5A8-1E42-408E-A107-CB391145D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AF3DBBCD-56FC-4301-9E4F-BE49372146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bSup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&lt;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sz="2800" spc="-7" dirty="0">
                    <a:latin typeface="HelveticaNeue-Light"/>
                    <a:cs typeface="HelveticaNeue-Light"/>
                  </a:rPr>
                  <a:t>Perplexity</a:t>
                </a:r>
                <a:r>
                  <a:rPr lang="en-US" spc="-7" dirty="0">
                    <a:latin typeface="HelveticaNeue-Light"/>
                    <a:cs typeface="HelveticaNeue-Light"/>
                  </a:rPr>
                  <a:t> </a:t>
                </a:r>
                <a:r>
                  <a:rPr lang="en-US" sz="2800" spc="-18" dirty="0">
                    <a:latin typeface="HelveticaNeue-Light"/>
                    <a:cs typeface="HelveticaNeue-Light"/>
                  </a:rPr>
                  <a:t>is</a:t>
                </a:r>
                <a:r>
                  <a:rPr lang="en-US" spc="-18" dirty="0">
                    <a:latin typeface="HelveticaNeue-Light"/>
                    <a:cs typeface="HelveticaNeue-Light"/>
                  </a:rPr>
                  <a:t> </a:t>
                </a:r>
                <a:r>
                  <a:rPr lang="en-US" sz="2800" spc="-18" dirty="0">
                    <a:latin typeface="HelveticaNeue-Light"/>
                    <a:cs typeface="HelveticaNeue-Light"/>
                  </a:rPr>
                  <a:t>the token-level </a:t>
                </a:r>
                <a:r>
                  <a:rPr lang="en-US" sz="2800" i="1" spc="-7" dirty="0">
                    <a:solidFill>
                      <a:srgbClr val="00B050"/>
                    </a:solidFill>
                    <a:latin typeface="HelveticaNeue-LightItalic"/>
                    <a:cs typeface="HelveticaNeue-LightItalic"/>
                  </a:rPr>
                  <a:t>negative</a:t>
                </a:r>
                <a:r>
                  <a:rPr lang="en-US" i="1" spc="-7" dirty="0">
                    <a:solidFill>
                      <a:srgbClr val="00B050"/>
                    </a:solidFill>
                    <a:latin typeface="HelveticaNeue-LightItalic"/>
                    <a:cs typeface="HelveticaNeue-LightItalic"/>
                  </a:rPr>
                  <a:t> </a:t>
                </a:r>
                <a:r>
                  <a:rPr lang="en-US" sz="2800" i="1" dirty="0">
                    <a:solidFill>
                      <a:srgbClr val="00B050"/>
                    </a:solidFill>
                    <a:latin typeface="HelveticaNeue-LightItalic"/>
                    <a:cs typeface="HelveticaNeue-LightItalic"/>
                  </a:rPr>
                  <a:t>log-</a:t>
                </a:r>
                <a:r>
                  <a:rPr lang="en-US" sz="2800" i="1" spc="-7" dirty="0">
                    <a:solidFill>
                      <a:srgbClr val="00B050"/>
                    </a:solidFill>
                    <a:latin typeface="HelveticaNeue-LightItalic"/>
                    <a:cs typeface="HelveticaNeue-LightItalic"/>
                  </a:rPr>
                  <a:t>likelihood</a:t>
                </a:r>
                <a:endParaRPr lang="en-US" sz="2800" dirty="0">
                  <a:solidFill>
                    <a:srgbClr val="00B050"/>
                  </a:solidFill>
                  <a:latin typeface="HelveticaNeue-LightItalic"/>
                  <a:cs typeface="HelveticaNeue-LightItalic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AF3DBBCD-56FC-4301-9E4F-BE4937214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93334"/>
            <a:ext cx="11658600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 practice, we	use	log probs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4011229-122D-4CBD-8CC2-1E4F7650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7CB0540-A778-438C-9CC8-7D663463E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18" dirty="0">
                <a:latin typeface="Trebuchet MS"/>
                <a:cs typeface="Trebuchet MS"/>
              </a:rPr>
              <a:t>Training</a:t>
            </a:r>
            <a:r>
              <a:rPr lang="en-US" sz="2800" spc="-148" dirty="0">
                <a:latin typeface="Trebuchet MS"/>
                <a:cs typeface="Trebuchet MS"/>
              </a:rPr>
              <a:t> </a:t>
            </a:r>
            <a:r>
              <a:rPr lang="en-US" sz="2800" spc="-18" dirty="0">
                <a:latin typeface="Trebuchet MS"/>
                <a:cs typeface="Trebuchet MS"/>
              </a:rPr>
              <a:t>38</a:t>
            </a:r>
            <a:r>
              <a:rPr lang="en-US" spc="-18" dirty="0">
                <a:latin typeface="Trebuchet MS"/>
                <a:cs typeface="Trebuchet MS"/>
              </a:rPr>
              <a:t> </a:t>
            </a:r>
            <a:r>
              <a:rPr lang="en-US" sz="2800" dirty="0">
                <a:latin typeface="Trebuchet MS"/>
                <a:cs typeface="Trebuchet MS"/>
              </a:rPr>
              <a:t>million</a:t>
            </a:r>
            <a:r>
              <a:rPr lang="en-US" sz="2800" spc="-14" dirty="0">
                <a:latin typeface="Trebuchet MS"/>
                <a:cs typeface="Trebuchet MS"/>
              </a:rPr>
              <a:t> </a:t>
            </a:r>
            <a:r>
              <a:rPr lang="en-US" sz="2800" dirty="0">
                <a:latin typeface="Trebuchet MS"/>
                <a:cs typeface="Trebuchet MS"/>
              </a:rPr>
              <a:t>words,</a:t>
            </a:r>
            <a:r>
              <a:rPr lang="en-US" sz="2800" spc="-7" dirty="0">
                <a:latin typeface="Trebuchet MS"/>
                <a:cs typeface="Trebuchet MS"/>
              </a:rPr>
              <a:t> </a:t>
            </a:r>
            <a:r>
              <a:rPr lang="en-US" sz="2800" dirty="0">
                <a:latin typeface="Trebuchet MS"/>
                <a:cs typeface="Trebuchet MS"/>
              </a:rPr>
              <a:t>test</a:t>
            </a:r>
            <a:r>
              <a:rPr lang="en-US" sz="2800" spc="-7" dirty="0">
                <a:latin typeface="Trebuchet MS"/>
                <a:cs typeface="Trebuchet MS"/>
              </a:rPr>
              <a:t> </a:t>
            </a:r>
            <a:r>
              <a:rPr lang="en-US" sz="2800" spc="-18" dirty="0">
                <a:latin typeface="Trebuchet MS"/>
                <a:cs typeface="Trebuchet MS"/>
              </a:rPr>
              <a:t>1.5</a:t>
            </a:r>
            <a:r>
              <a:rPr lang="en-US" spc="-18" dirty="0">
                <a:latin typeface="Trebuchet MS"/>
                <a:cs typeface="Trebuchet MS"/>
              </a:rPr>
              <a:t> </a:t>
            </a:r>
            <a:r>
              <a:rPr lang="en-US" sz="2800" spc="-7" dirty="0">
                <a:latin typeface="Trebuchet MS"/>
                <a:cs typeface="Trebuchet MS"/>
              </a:rPr>
              <a:t>million </a:t>
            </a:r>
            <a:r>
              <a:rPr lang="en-US" sz="2800" dirty="0">
                <a:latin typeface="Trebuchet MS"/>
                <a:cs typeface="Trebuchet MS"/>
              </a:rPr>
              <a:t>words,</a:t>
            </a:r>
            <a:r>
              <a:rPr lang="en-US" sz="2800" spc="-14" dirty="0">
                <a:latin typeface="Trebuchet MS"/>
                <a:cs typeface="Trebuchet MS"/>
              </a:rPr>
              <a:t> Wall</a:t>
            </a:r>
            <a:r>
              <a:rPr lang="fa-IR" spc="-14" dirty="0">
                <a:latin typeface="Trebuchet MS"/>
                <a:cs typeface="Trebuchet MS"/>
              </a:rPr>
              <a:t> </a:t>
            </a:r>
            <a:r>
              <a:rPr lang="en-US" sz="2800" dirty="0">
                <a:latin typeface="Trebuchet MS"/>
                <a:cs typeface="Trebuchet MS"/>
              </a:rPr>
              <a:t>Street</a:t>
            </a:r>
            <a:r>
              <a:rPr lang="en-US" sz="2800" spc="-11" dirty="0">
                <a:latin typeface="Trebuchet MS"/>
                <a:cs typeface="Trebuchet MS"/>
              </a:rPr>
              <a:t> </a:t>
            </a:r>
            <a:r>
              <a:rPr lang="en-US" sz="2800" spc="-7" dirty="0">
                <a:latin typeface="Trebuchet MS"/>
                <a:cs typeface="Trebuchet MS"/>
              </a:rPr>
              <a:t>Journal</a:t>
            </a:r>
            <a:endParaRPr lang="en-US" sz="2800" dirty="0">
              <a:latin typeface="Trebuchet MS"/>
              <a:cs typeface="Trebuchet MS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93424"/>
            <a:ext cx="11658601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Lower Perplexity = Better Model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54806" y="2837705"/>
          <a:ext cx="9082386" cy="16975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0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33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6553">
                <a:tc>
                  <a:txBody>
                    <a:bodyPr/>
                    <a:lstStyle/>
                    <a:p>
                      <a:pPr marL="63500" marR="850900" algn="l">
                        <a:lnSpc>
                          <a:spcPts val="5000"/>
                        </a:lnSpc>
                        <a:spcBef>
                          <a:spcPts val="6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N-</a:t>
                      </a: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ram</a:t>
                      </a:r>
                      <a:r>
                        <a:rPr lang="en-US" sz="2400" b="1" spc="-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Order</a:t>
                      </a:r>
                      <a:endParaRPr sz="2400" dirty="0">
                        <a:latin typeface="Trebuchet MS"/>
                        <a:cs typeface="Trebuchet MS"/>
                      </a:endParaRPr>
                    </a:p>
                  </a:txBody>
                  <a:tcPr marL="0" marR="0" marT="5357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Unigram</a:t>
                      </a:r>
                      <a:endParaRPr sz="2400" dirty="0">
                        <a:latin typeface="Trebuchet MS"/>
                        <a:cs typeface="Trebuchet MS"/>
                      </a:endParaRPr>
                    </a:p>
                  </a:txBody>
                  <a:tcPr marL="0" marR="0" marT="26789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Bigram</a:t>
                      </a:r>
                      <a:endParaRPr sz="2400" dirty="0">
                        <a:latin typeface="Trebuchet MS"/>
                        <a:cs typeface="Trebuchet MS"/>
                      </a:endParaRPr>
                    </a:p>
                  </a:txBody>
                  <a:tcPr marL="0" marR="0" marT="26789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Trigram</a:t>
                      </a:r>
                      <a:endParaRPr sz="2400" dirty="0">
                        <a:latin typeface="Trebuchet MS"/>
                        <a:cs typeface="Trebuchet MS"/>
                      </a:endParaRPr>
                    </a:p>
                  </a:txBody>
                  <a:tcPr marL="0" marR="0" marT="26789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980">
                <a:tc>
                  <a:txBody>
                    <a:bodyPr/>
                    <a:lstStyle/>
                    <a:p>
                      <a:pPr marL="63500" algn="l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10" dirty="0">
                          <a:latin typeface="Trebuchet MS"/>
                          <a:cs typeface="Trebuchet MS"/>
                        </a:rPr>
                        <a:t>Perplexity</a:t>
                      </a:r>
                      <a:endParaRPr sz="2400" dirty="0">
                        <a:latin typeface="Trebuchet MS"/>
                        <a:cs typeface="Trebuchet MS"/>
                      </a:endParaRPr>
                    </a:p>
                  </a:txBody>
                  <a:tcPr marL="0" marR="0" marT="3036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25" dirty="0">
                          <a:latin typeface="Trebuchet MS"/>
                          <a:cs typeface="Trebuchet MS"/>
                        </a:rPr>
                        <a:t>962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036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25" dirty="0">
                          <a:latin typeface="Trebuchet MS"/>
                          <a:cs typeface="Trebuchet MS"/>
                        </a:rPr>
                        <a:t>170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036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25" dirty="0">
                          <a:latin typeface="Trebuchet MS"/>
                          <a:cs typeface="Trebuchet MS"/>
                        </a:rPr>
                        <a:t>109</a:t>
                      </a:r>
                      <a:endParaRPr sz="2400" dirty="0">
                        <a:latin typeface="Trebuchet MS"/>
                        <a:cs typeface="Trebuchet MS"/>
                      </a:endParaRPr>
                    </a:p>
                  </a:txBody>
                  <a:tcPr marL="0" marR="0" marT="3036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C753325-7ED8-4DA8-951F-8615853E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7380718-FF5C-4989-9269-8A350F5DD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N=884,647 tokens, V=29,066</a:t>
            </a:r>
          </a:p>
          <a:p>
            <a:r>
              <a:rPr lang="en-US" dirty="0"/>
              <a:t>Shakespeare produced 300,000 bigram types out of V</a:t>
            </a:r>
            <a:r>
              <a:rPr lang="en-US" baseline="30000" dirty="0"/>
              <a:t>2</a:t>
            </a:r>
            <a:r>
              <a:rPr lang="en-US" dirty="0"/>
              <a:t>= 844 million possible bigrams.</a:t>
            </a:r>
          </a:p>
          <a:p>
            <a:pPr lvl="1"/>
            <a:r>
              <a:rPr lang="en-US" dirty="0"/>
              <a:t>So 99.96% of the possible bigrams were never seen (have zero entries in the table)</a:t>
            </a:r>
          </a:p>
          <a:p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982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Shakespeare as corpus</a:t>
            </a:r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3705F6E-BF26-49F8-96F0-8188DCA2D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E1B9B2C-D92A-4D99-9AAD-E38B018E7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116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Zeros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41138" y="1744989"/>
            <a:ext cx="4739741" cy="2279771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lnSpc>
                <a:spcPts val="3649"/>
              </a:lnSpc>
              <a:spcBef>
                <a:spcPts val="77"/>
              </a:spcBef>
            </a:pPr>
            <a:r>
              <a:rPr sz="3199" dirty="0">
                <a:latin typeface="Arial"/>
                <a:cs typeface="Arial"/>
              </a:rPr>
              <a:t>Training set:</a:t>
            </a:r>
          </a:p>
          <a:p>
            <a:pPr marL="123225">
              <a:lnSpc>
                <a:spcPts val="3459"/>
              </a:lnSpc>
            </a:pPr>
            <a:r>
              <a:rPr sz="3199" dirty="0">
                <a:latin typeface="Arial"/>
                <a:cs typeface="Arial"/>
              </a:rPr>
              <a:t>… denied the allegations</a:t>
            </a:r>
          </a:p>
          <a:p>
            <a:pPr marL="123225">
              <a:lnSpc>
                <a:spcPts val="3459"/>
              </a:lnSpc>
            </a:pPr>
            <a:r>
              <a:rPr sz="3199" dirty="0">
                <a:latin typeface="Arial"/>
                <a:cs typeface="Arial"/>
              </a:rPr>
              <a:t>… denied the reports</a:t>
            </a:r>
          </a:p>
          <a:p>
            <a:pPr marL="123225">
              <a:lnSpc>
                <a:spcPts val="3459"/>
              </a:lnSpc>
            </a:pPr>
            <a:r>
              <a:rPr sz="3199" dirty="0">
                <a:latin typeface="Arial"/>
                <a:cs typeface="Arial"/>
              </a:rPr>
              <a:t>… denied the claims</a:t>
            </a:r>
          </a:p>
          <a:p>
            <a:pPr marL="123225">
              <a:lnSpc>
                <a:spcPts val="3649"/>
              </a:lnSpc>
            </a:pPr>
            <a:r>
              <a:rPr sz="3199" dirty="0">
                <a:latin typeface="Arial"/>
                <a:cs typeface="Arial"/>
              </a:rPr>
              <a:t>… denied the request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41138" y="4276916"/>
            <a:ext cx="4372421" cy="502233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3199" spc="-14" dirty="0">
                <a:latin typeface="Arial"/>
                <a:cs typeface="Arial"/>
              </a:rPr>
              <a:t>P(“offer”</a:t>
            </a:r>
            <a:r>
              <a:rPr sz="3199" spc="-165" dirty="0">
                <a:latin typeface="Arial"/>
                <a:cs typeface="Arial"/>
              </a:rPr>
              <a:t> </a:t>
            </a:r>
            <a:r>
              <a:rPr sz="3199" spc="640" dirty="0">
                <a:latin typeface="Arial"/>
                <a:cs typeface="Arial"/>
              </a:rPr>
              <a:t>|</a:t>
            </a:r>
            <a:r>
              <a:rPr sz="3199" spc="-161" dirty="0">
                <a:latin typeface="Arial"/>
                <a:cs typeface="Arial"/>
              </a:rPr>
              <a:t> </a:t>
            </a:r>
            <a:r>
              <a:rPr sz="3199" spc="-123" dirty="0">
                <a:latin typeface="Arial"/>
                <a:cs typeface="Arial"/>
              </a:rPr>
              <a:t>denied</a:t>
            </a:r>
            <a:r>
              <a:rPr sz="3199" spc="-155" dirty="0">
                <a:latin typeface="Arial"/>
                <a:cs typeface="Arial"/>
              </a:rPr>
              <a:t> </a:t>
            </a:r>
            <a:r>
              <a:rPr sz="3199" spc="-60" dirty="0">
                <a:latin typeface="Arial"/>
                <a:cs typeface="Arial"/>
              </a:rPr>
              <a:t>the)</a:t>
            </a:r>
            <a:r>
              <a:rPr sz="3199" spc="-158" dirty="0">
                <a:latin typeface="Arial"/>
                <a:cs typeface="Arial"/>
              </a:rPr>
              <a:t> </a:t>
            </a:r>
            <a:r>
              <a:rPr sz="3199" spc="-281" dirty="0">
                <a:latin typeface="Arial"/>
                <a:cs typeface="Arial"/>
              </a:rPr>
              <a:t>=</a:t>
            </a:r>
            <a:r>
              <a:rPr sz="3199" spc="-155" dirty="0">
                <a:latin typeface="Arial"/>
                <a:cs typeface="Arial"/>
              </a:rPr>
              <a:t> </a:t>
            </a:r>
            <a:r>
              <a:rPr sz="3199" spc="-35" dirty="0">
                <a:latin typeface="Arial"/>
                <a:cs typeface="Arial"/>
              </a:rPr>
              <a:t>0</a:t>
            </a:r>
            <a:endParaRPr sz="3199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80879" y="1744989"/>
            <a:ext cx="4372421" cy="1382089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lnSpc>
                <a:spcPts val="3649"/>
              </a:lnSpc>
              <a:spcBef>
                <a:spcPts val="77"/>
              </a:spcBef>
              <a:buClr>
                <a:srgbClr val="CC0000"/>
              </a:buClr>
              <a:tabLst>
                <a:tab pos="351817" algn="l"/>
              </a:tabLst>
            </a:pPr>
            <a:r>
              <a:rPr sz="3199" dirty="0">
                <a:latin typeface="Arial"/>
                <a:cs typeface="Arial"/>
              </a:rPr>
              <a:t>Test set</a:t>
            </a:r>
          </a:p>
          <a:p>
            <a:pPr marL="466560">
              <a:lnSpc>
                <a:spcPts val="3459"/>
              </a:lnSpc>
            </a:pPr>
            <a:r>
              <a:rPr sz="3199" dirty="0">
                <a:latin typeface="Arial"/>
                <a:cs typeface="Arial"/>
              </a:rPr>
              <a:t>… denied the offer</a:t>
            </a:r>
          </a:p>
          <a:p>
            <a:pPr marL="466560">
              <a:lnSpc>
                <a:spcPts val="3649"/>
              </a:lnSpc>
            </a:pPr>
            <a:r>
              <a:rPr sz="3199" dirty="0">
                <a:latin typeface="Arial"/>
                <a:cs typeface="Arial"/>
              </a:rPr>
              <a:t>… denied the loan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3F15077-082E-4034-9987-10BCA42A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266700" y="990600"/>
            <a:ext cx="11658600" cy="5499546"/>
          </a:xfrm>
        </p:spPr>
        <p:txBody>
          <a:bodyPr vert="horz" wrap="square" lIns="0" tIns="106263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When we have sparse statistics:</a:t>
            </a:r>
          </a:p>
          <a:p>
            <a:pPr lvl="1"/>
            <a:r>
              <a:rPr lang="en-US" sz="2000" dirty="0"/>
              <a:t>P(w | denied the) 3 allegations</a:t>
            </a:r>
          </a:p>
          <a:p>
            <a:pPr lvl="1"/>
            <a:r>
              <a:rPr lang="en-US" sz="2000" dirty="0"/>
              <a:t>2 reports</a:t>
            </a:r>
          </a:p>
          <a:p>
            <a:pPr lvl="1"/>
            <a:r>
              <a:rPr lang="en-US" sz="2000" dirty="0"/>
              <a:t>1 claims</a:t>
            </a:r>
          </a:p>
          <a:p>
            <a:pPr lvl="1"/>
            <a:r>
              <a:rPr lang="en-US" sz="2000" dirty="0"/>
              <a:t>1 request</a:t>
            </a:r>
          </a:p>
          <a:p>
            <a:pPr lvl="1"/>
            <a:r>
              <a:rPr lang="en-US" sz="2000" dirty="0"/>
              <a:t>7 total</a:t>
            </a:r>
          </a:p>
          <a:p>
            <a:r>
              <a:rPr lang="en-US" sz="2400" dirty="0"/>
              <a:t>Steal probability mass to generalize better</a:t>
            </a:r>
          </a:p>
          <a:p>
            <a:pPr lvl="1"/>
            <a:r>
              <a:rPr lang="en-US" sz="2000" dirty="0"/>
              <a:t>P(w | denied the)</a:t>
            </a:r>
          </a:p>
          <a:p>
            <a:pPr lvl="1"/>
            <a:r>
              <a:rPr lang="en-US" sz="2000" dirty="0"/>
              <a:t>2.5 allegations</a:t>
            </a:r>
          </a:p>
          <a:p>
            <a:pPr lvl="1"/>
            <a:r>
              <a:rPr lang="en-US" sz="2000" dirty="0"/>
              <a:t>1.5 reports</a:t>
            </a:r>
          </a:p>
          <a:p>
            <a:pPr lvl="1"/>
            <a:r>
              <a:rPr lang="en-US" sz="2000" dirty="0"/>
              <a:t>0.5 claims</a:t>
            </a:r>
          </a:p>
          <a:p>
            <a:pPr lvl="1"/>
            <a:r>
              <a:rPr lang="en-US" sz="2000" dirty="0"/>
              <a:t>0.5 request</a:t>
            </a:r>
          </a:p>
          <a:p>
            <a:pPr lvl="1"/>
            <a:r>
              <a:rPr lang="en-US" sz="2000" dirty="0"/>
              <a:t>2 other</a:t>
            </a:r>
          </a:p>
          <a:p>
            <a:pPr lvl="1"/>
            <a:r>
              <a:rPr lang="en-US" sz="2000" dirty="0"/>
              <a:t>7 total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700" y="193108"/>
            <a:ext cx="11658600" cy="625021"/>
          </a:xfrm>
        </p:spPr>
        <p:txBody>
          <a:bodyPr vert="horz" wrap="square" lIns="0" tIns="937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intuition of smoothing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368436" y="1156393"/>
            <a:ext cx="3972371" cy="1686371"/>
            <a:chOff x="6889863" y="2281340"/>
            <a:chExt cx="5649595" cy="2398395"/>
          </a:xfrm>
        </p:grpSpPr>
        <p:sp>
          <p:nvSpPr>
            <p:cNvPr id="6" name="object 6"/>
            <p:cNvSpPr/>
            <p:nvPr/>
          </p:nvSpPr>
          <p:spPr>
            <a:xfrm>
              <a:off x="6896848" y="2288325"/>
              <a:ext cx="5635625" cy="2384425"/>
            </a:xfrm>
            <a:custGeom>
              <a:avLst/>
              <a:gdLst/>
              <a:ahLst/>
              <a:cxnLst/>
              <a:rect l="l" t="t" r="r" b="b"/>
              <a:pathLst>
                <a:path w="5635625" h="2384425">
                  <a:moveTo>
                    <a:pt x="0" y="0"/>
                  </a:moveTo>
                  <a:lnTo>
                    <a:pt x="5635413" y="0"/>
                  </a:lnTo>
                  <a:lnTo>
                    <a:pt x="5635413" y="2384213"/>
                  </a:lnTo>
                  <a:lnTo>
                    <a:pt x="0" y="2384213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13593" y="2505071"/>
              <a:ext cx="542290" cy="2167890"/>
            </a:xfrm>
            <a:custGeom>
              <a:avLst/>
              <a:gdLst/>
              <a:ahLst/>
              <a:cxnLst/>
              <a:rect l="l" t="t" r="r" b="b"/>
              <a:pathLst>
                <a:path w="542290" h="2167890">
                  <a:moveTo>
                    <a:pt x="541866" y="0"/>
                  </a:moveTo>
                  <a:lnTo>
                    <a:pt x="0" y="0"/>
                  </a:lnTo>
                  <a:lnTo>
                    <a:pt x="0" y="2167467"/>
                  </a:lnTo>
                  <a:lnTo>
                    <a:pt x="541866" y="2167467"/>
                  </a:lnTo>
                  <a:lnTo>
                    <a:pt x="541866" y="0"/>
                  </a:lnTo>
                  <a:close/>
                </a:path>
              </a:pathLst>
            </a:custGeom>
            <a:solidFill>
              <a:srgbClr val="A40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13593" y="2505071"/>
              <a:ext cx="542290" cy="2167890"/>
            </a:xfrm>
            <a:custGeom>
              <a:avLst/>
              <a:gdLst/>
              <a:ahLst/>
              <a:cxnLst/>
              <a:rect l="l" t="t" r="r" b="b"/>
              <a:pathLst>
                <a:path w="542290" h="2167890">
                  <a:moveTo>
                    <a:pt x="0" y="2167466"/>
                  </a:moveTo>
                  <a:lnTo>
                    <a:pt x="0" y="0"/>
                  </a:lnTo>
                  <a:lnTo>
                    <a:pt x="541866" y="0"/>
                  </a:lnTo>
                  <a:lnTo>
                    <a:pt x="541866" y="2167466"/>
                  </a:lnTo>
                  <a:lnTo>
                    <a:pt x="0" y="216746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603887" y="1597147"/>
            <a:ext cx="210955" cy="955923"/>
          </a:xfrm>
          <a:prstGeom prst="rect">
            <a:avLst/>
          </a:prstGeom>
        </p:spPr>
        <p:txBody>
          <a:bodyPr vert="vert270" wrap="square" lIns="0" tIns="6251" rIns="0" bIns="0" rtlCol="0">
            <a:spAutoFit/>
          </a:bodyPr>
          <a:lstStyle/>
          <a:p>
            <a:pPr marL="8929">
              <a:spcBef>
                <a:spcPts val="49"/>
              </a:spcBef>
            </a:pPr>
            <a:r>
              <a:rPr sz="1371" spc="-7" dirty="0">
                <a:latin typeface="Lucida Grande"/>
                <a:cs typeface="Lucida Grande"/>
              </a:rPr>
              <a:t>allegations</a:t>
            </a:r>
            <a:endParaRPr sz="1371">
              <a:latin typeface="Lucida Grande"/>
              <a:cs typeface="Lucida Gran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978035" y="1765992"/>
            <a:ext cx="391120" cy="1076920"/>
            <a:chOff x="7756849" y="3148326"/>
            <a:chExt cx="556260" cy="1531620"/>
          </a:xfrm>
        </p:grpSpPr>
        <p:sp>
          <p:nvSpPr>
            <p:cNvPr id="11" name="object 11"/>
            <p:cNvSpPr/>
            <p:nvPr/>
          </p:nvSpPr>
          <p:spPr>
            <a:xfrm>
              <a:off x="7763834" y="3155311"/>
              <a:ext cx="542290" cy="1517650"/>
            </a:xfrm>
            <a:custGeom>
              <a:avLst/>
              <a:gdLst/>
              <a:ahLst/>
              <a:cxnLst/>
              <a:rect l="l" t="t" r="r" b="b"/>
              <a:pathLst>
                <a:path w="542290" h="1517650">
                  <a:moveTo>
                    <a:pt x="541866" y="0"/>
                  </a:moveTo>
                  <a:lnTo>
                    <a:pt x="0" y="0"/>
                  </a:lnTo>
                  <a:lnTo>
                    <a:pt x="0" y="1517227"/>
                  </a:lnTo>
                  <a:lnTo>
                    <a:pt x="541866" y="1517227"/>
                  </a:lnTo>
                  <a:lnTo>
                    <a:pt x="541866" y="0"/>
                  </a:lnTo>
                  <a:close/>
                </a:path>
              </a:pathLst>
            </a:custGeom>
            <a:solidFill>
              <a:srgbClr val="A40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63834" y="3155311"/>
              <a:ext cx="542290" cy="1517650"/>
            </a:xfrm>
            <a:custGeom>
              <a:avLst/>
              <a:gdLst/>
              <a:ahLst/>
              <a:cxnLst/>
              <a:rect l="l" t="t" r="r" b="b"/>
              <a:pathLst>
                <a:path w="542290" h="1517650">
                  <a:moveTo>
                    <a:pt x="0" y="1517226"/>
                  </a:moveTo>
                  <a:lnTo>
                    <a:pt x="0" y="0"/>
                  </a:lnTo>
                  <a:lnTo>
                    <a:pt x="541866" y="0"/>
                  </a:lnTo>
                  <a:lnTo>
                    <a:pt x="541866" y="1517226"/>
                  </a:lnTo>
                  <a:lnTo>
                    <a:pt x="0" y="151722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061087" y="1983732"/>
            <a:ext cx="210955" cy="640705"/>
          </a:xfrm>
          <a:prstGeom prst="rect">
            <a:avLst/>
          </a:prstGeom>
        </p:spPr>
        <p:txBody>
          <a:bodyPr vert="vert270" wrap="square" lIns="0" tIns="6251" rIns="0" bIns="0" rtlCol="0">
            <a:spAutoFit/>
          </a:bodyPr>
          <a:lstStyle/>
          <a:p>
            <a:pPr marL="8929">
              <a:spcBef>
                <a:spcPts val="49"/>
              </a:spcBef>
            </a:pPr>
            <a:r>
              <a:rPr sz="1371" spc="-7" dirty="0">
                <a:latin typeface="Lucida Grande"/>
                <a:cs typeface="Lucida Grande"/>
              </a:rPr>
              <a:t>reports</a:t>
            </a:r>
            <a:endParaRPr sz="1371">
              <a:latin typeface="Lucida Grande"/>
              <a:cs typeface="Lucida Gran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35235" y="2223192"/>
            <a:ext cx="391120" cy="619720"/>
            <a:chOff x="8407089" y="3798566"/>
            <a:chExt cx="556260" cy="881380"/>
          </a:xfrm>
        </p:grpSpPr>
        <p:sp>
          <p:nvSpPr>
            <p:cNvPr id="15" name="object 15"/>
            <p:cNvSpPr/>
            <p:nvPr/>
          </p:nvSpPr>
          <p:spPr>
            <a:xfrm>
              <a:off x="8414074" y="3805551"/>
              <a:ext cx="542290" cy="867410"/>
            </a:xfrm>
            <a:custGeom>
              <a:avLst/>
              <a:gdLst/>
              <a:ahLst/>
              <a:cxnLst/>
              <a:rect l="l" t="t" r="r" b="b"/>
              <a:pathLst>
                <a:path w="542290" h="867410">
                  <a:moveTo>
                    <a:pt x="541866" y="0"/>
                  </a:moveTo>
                  <a:lnTo>
                    <a:pt x="0" y="0"/>
                  </a:lnTo>
                  <a:lnTo>
                    <a:pt x="0" y="866986"/>
                  </a:lnTo>
                  <a:lnTo>
                    <a:pt x="541866" y="866986"/>
                  </a:lnTo>
                  <a:lnTo>
                    <a:pt x="541866" y="0"/>
                  </a:lnTo>
                  <a:close/>
                </a:path>
              </a:pathLst>
            </a:custGeom>
            <a:solidFill>
              <a:srgbClr val="A40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14074" y="3805551"/>
              <a:ext cx="542290" cy="867410"/>
            </a:xfrm>
            <a:custGeom>
              <a:avLst/>
              <a:gdLst/>
              <a:ahLst/>
              <a:cxnLst/>
              <a:rect l="l" t="t" r="r" b="b"/>
              <a:pathLst>
                <a:path w="542290" h="867410">
                  <a:moveTo>
                    <a:pt x="0" y="866986"/>
                  </a:moveTo>
                  <a:lnTo>
                    <a:pt x="0" y="0"/>
                  </a:lnTo>
                  <a:lnTo>
                    <a:pt x="541866" y="0"/>
                  </a:lnTo>
                  <a:lnTo>
                    <a:pt x="541866" y="866986"/>
                  </a:lnTo>
                  <a:lnTo>
                    <a:pt x="0" y="86698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518288" y="2249783"/>
            <a:ext cx="210955" cy="566142"/>
          </a:xfrm>
          <a:prstGeom prst="rect">
            <a:avLst/>
          </a:prstGeom>
        </p:spPr>
        <p:txBody>
          <a:bodyPr vert="vert270" wrap="square" lIns="0" tIns="6251" rIns="0" bIns="0" rtlCol="0">
            <a:spAutoFit/>
          </a:bodyPr>
          <a:lstStyle/>
          <a:p>
            <a:pPr marL="8929">
              <a:spcBef>
                <a:spcPts val="49"/>
              </a:spcBef>
            </a:pPr>
            <a:r>
              <a:rPr sz="1371" spc="-7" dirty="0">
                <a:latin typeface="Lucida Grande"/>
                <a:cs typeface="Lucida Grande"/>
              </a:rPr>
              <a:t>claims</a:t>
            </a:r>
            <a:endParaRPr sz="1371">
              <a:latin typeface="Lucida Grande"/>
              <a:cs typeface="Lucida Gran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92583" y="2223341"/>
            <a:ext cx="390674" cy="619273"/>
            <a:chOff x="9057540" y="3798778"/>
            <a:chExt cx="555625" cy="880744"/>
          </a:xfrm>
        </p:grpSpPr>
        <p:sp>
          <p:nvSpPr>
            <p:cNvPr id="19" name="object 19"/>
            <p:cNvSpPr/>
            <p:nvPr/>
          </p:nvSpPr>
          <p:spPr>
            <a:xfrm>
              <a:off x="9064313" y="3805551"/>
              <a:ext cx="542290" cy="867410"/>
            </a:xfrm>
            <a:custGeom>
              <a:avLst/>
              <a:gdLst/>
              <a:ahLst/>
              <a:cxnLst/>
              <a:rect l="l" t="t" r="r" b="b"/>
              <a:pathLst>
                <a:path w="542290" h="867410">
                  <a:moveTo>
                    <a:pt x="541866" y="0"/>
                  </a:moveTo>
                  <a:lnTo>
                    <a:pt x="0" y="0"/>
                  </a:lnTo>
                  <a:lnTo>
                    <a:pt x="0" y="866986"/>
                  </a:lnTo>
                  <a:lnTo>
                    <a:pt x="541866" y="866986"/>
                  </a:lnTo>
                  <a:lnTo>
                    <a:pt x="541866" y="0"/>
                  </a:lnTo>
                  <a:close/>
                </a:path>
              </a:pathLst>
            </a:custGeom>
            <a:solidFill>
              <a:srgbClr val="A40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64313" y="3805551"/>
              <a:ext cx="542290" cy="867410"/>
            </a:xfrm>
            <a:custGeom>
              <a:avLst/>
              <a:gdLst/>
              <a:ahLst/>
              <a:cxnLst/>
              <a:rect l="l" t="t" r="r" b="b"/>
              <a:pathLst>
                <a:path w="542290" h="867410">
                  <a:moveTo>
                    <a:pt x="0" y="866986"/>
                  </a:moveTo>
                  <a:lnTo>
                    <a:pt x="0" y="0"/>
                  </a:lnTo>
                  <a:lnTo>
                    <a:pt x="541866" y="0"/>
                  </a:lnTo>
                  <a:lnTo>
                    <a:pt x="541866" y="866986"/>
                  </a:lnTo>
                  <a:lnTo>
                    <a:pt x="0" y="86698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989910" y="2245348"/>
            <a:ext cx="183896" cy="574625"/>
          </a:xfrm>
          <a:prstGeom prst="rect">
            <a:avLst/>
          </a:prstGeom>
        </p:spPr>
        <p:txBody>
          <a:bodyPr vert="vert270" wrap="square" lIns="0" tIns="5358" rIns="0" bIns="0" rtlCol="0">
            <a:spAutoFit/>
          </a:bodyPr>
          <a:lstStyle/>
          <a:p>
            <a:pPr marL="8929">
              <a:spcBef>
                <a:spcPts val="42"/>
              </a:spcBef>
            </a:pPr>
            <a:r>
              <a:rPr sz="1195" spc="-7" dirty="0">
                <a:latin typeface="Lucida Grande"/>
                <a:cs typeface="Lucida Grande"/>
              </a:rPr>
              <a:t>request</a:t>
            </a:r>
            <a:endParaRPr sz="1195">
              <a:latin typeface="Lucida Grande"/>
              <a:cs typeface="Lucida Gran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25968" y="1956371"/>
            <a:ext cx="950197" cy="79920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6519">
              <a:lnSpc>
                <a:spcPts val="1839"/>
              </a:lnSpc>
            </a:pPr>
            <a:r>
              <a:rPr sz="1582" spc="-7" dirty="0">
                <a:latin typeface="Arial"/>
                <a:cs typeface="Arial"/>
              </a:rPr>
              <a:t>attack</a:t>
            </a:r>
            <a:endParaRPr sz="1582">
              <a:latin typeface="Arial"/>
              <a:cs typeface="Arial"/>
            </a:endParaRPr>
          </a:p>
          <a:p>
            <a:pPr marL="8929" marR="3572">
              <a:lnSpc>
                <a:spcPct val="158000"/>
              </a:lnSpc>
            </a:pPr>
            <a:r>
              <a:rPr sz="1582" spc="-18" dirty="0">
                <a:latin typeface="Arial"/>
                <a:cs typeface="Arial"/>
              </a:rPr>
              <a:t>man </a:t>
            </a:r>
            <a:r>
              <a:rPr sz="1582" spc="-7" dirty="0">
                <a:latin typeface="Arial"/>
                <a:cs typeface="Arial"/>
              </a:rPr>
              <a:t>outcome</a:t>
            </a:r>
            <a:endParaRPr sz="1582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732456" y="2178125"/>
            <a:ext cx="425500" cy="502233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3199" spc="7" dirty="0">
                <a:latin typeface="Arial"/>
                <a:cs typeface="Arial"/>
              </a:rPr>
              <a:t>…</a:t>
            </a:r>
            <a:endParaRPr sz="3199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68436" y="3813867"/>
            <a:ext cx="3972371" cy="1686371"/>
            <a:chOff x="6889863" y="5424166"/>
            <a:chExt cx="5649595" cy="2398395"/>
          </a:xfrm>
        </p:grpSpPr>
        <p:sp>
          <p:nvSpPr>
            <p:cNvPr id="25" name="object 25"/>
            <p:cNvSpPr/>
            <p:nvPr/>
          </p:nvSpPr>
          <p:spPr>
            <a:xfrm>
              <a:off x="6896848" y="5431151"/>
              <a:ext cx="5635625" cy="2384425"/>
            </a:xfrm>
            <a:custGeom>
              <a:avLst/>
              <a:gdLst/>
              <a:ahLst/>
              <a:cxnLst/>
              <a:rect l="l" t="t" r="r" b="b"/>
              <a:pathLst>
                <a:path w="5635625" h="2384425">
                  <a:moveTo>
                    <a:pt x="0" y="0"/>
                  </a:moveTo>
                  <a:lnTo>
                    <a:pt x="5635413" y="0"/>
                  </a:lnTo>
                  <a:lnTo>
                    <a:pt x="5635413" y="2384213"/>
                  </a:lnTo>
                  <a:lnTo>
                    <a:pt x="0" y="2384213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13593" y="5647898"/>
              <a:ext cx="542290" cy="325120"/>
            </a:xfrm>
            <a:custGeom>
              <a:avLst/>
              <a:gdLst/>
              <a:ahLst/>
              <a:cxnLst/>
              <a:rect l="l" t="t" r="r" b="b"/>
              <a:pathLst>
                <a:path w="542290" h="325120">
                  <a:moveTo>
                    <a:pt x="0" y="325120"/>
                  </a:moveTo>
                  <a:lnTo>
                    <a:pt x="541866" y="325120"/>
                  </a:lnTo>
                  <a:lnTo>
                    <a:pt x="541866" y="0"/>
                  </a:lnTo>
                  <a:lnTo>
                    <a:pt x="0" y="0"/>
                  </a:lnTo>
                  <a:lnTo>
                    <a:pt x="0" y="325120"/>
                  </a:lnTo>
                  <a:close/>
                </a:path>
              </a:pathLst>
            </a:custGeom>
            <a:solidFill>
              <a:srgbClr val="A40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13593" y="5647898"/>
              <a:ext cx="542290" cy="2167890"/>
            </a:xfrm>
            <a:custGeom>
              <a:avLst/>
              <a:gdLst/>
              <a:ahLst/>
              <a:cxnLst/>
              <a:rect l="l" t="t" r="r" b="b"/>
              <a:pathLst>
                <a:path w="542290" h="2167890">
                  <a:moveTo>
                    <a:pt x="0" y="2167466"/>
                  </a:moveTo>
                  <a:lnTo>
                    <a:pt x="0" y="0"/>
                  </a:lnTo>
                  <a:lnTo>
                    <a:pt x="541866" y="0"/>
                  </a:lnTo>
                  <a:lnTo>
                    <a:pt x="541866" y="2167466"/>
                  </a:lnTo>
                  <a:lnTo>
                    <a:pt x="0" y="216746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612817" y="4263551"/>
            <a:ext cx="205184" cy="93806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>
              <a:lnSpc>
                <a:spcPts val="1624"/>
              </a:lnSpc>
            </a:pPr>
            <a:r>
              <a:rPr sz="1371" spc="-7" dirty="0">
                <a:latin typeface="Lucida Grande"/>
                <a:cs typeface="Lucida Grande"/>
              </a:rPr>
              <a:t>allegations</a:t>
            </a:r>
            <a:endParaRPr sz="1371">
              <a:latin typeface="Lucida Grande"/>
              <a:cs typeface="Lucida Grande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520834" y="4194867"/>
            <a:ext cx="1762720" cy="1305520"/>
            <a:chOff x="7106608" y="5966033"/>
            <a:chExt cx="2506980" cy="1856739"/>
          </a:xfrm>
        </p:grpSpPr>
        <p:sp>
          <p:nvSpPr>
            <p:cNvPr id="30" name="object 30"/>
            <p:cNvSpPr/>
            <p:nvPr/>
          </p:nvSpPr>
          <p:spPr>
            <a:xfrm>
              <a:off x="7763833" y="6298138"/>
              <a:ext cx="542290" cy="325120"/>
            </a:xfrm>
            <a:custGeom>
              <a:avLst/>
              <a:gdLst/>
              <a:ahLst/>
              <a:cxnLst/>
              <a:rect l="l" t="t" r="r" b="b"/>
              <a:pathLst>
                <a:path w="542290" h="325120">
                  <a:moveTo>
                    <a:pt x="0" y="325120"/>
                  </a:moveTo>
                  <a:lnTo>
                    <a:pt x="541866" y="325120"/>
                  </a:lnTo>
                  <a:lnTo>
                    <a:pt x="541866" y="0"/>
                  </a:lnTo>
                  <a:lnTo>
                    <a:pt x="0" y="0"/>
                  </a:lnTo>
                  <a:lnTo>
                    <a:pt x="0" y="325120"/>
                  </a:lnTo>
                  <a:close/>
                </a:path>
              </a:pathLst>
            </a:custGeom>
            <a:solidFill>
              <a:srgbClr val="A40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63833" y="6298138"/>
              <a:ext cx="542290" cy="1517650"/>
            </a:xfrm>
            <a:custGeom>
              <a:avLst/>
              <a:gdLst/>
              <a:ahLst/>
              <a:cxnLst/>
              <a:rect l="l" t="t" r="r" b="b"/>
              <a:pathLst>
                <a:path w="542290" h="1517650">
                  <a:moveTo>
                    <a:pt x="0" y="1517226"/>
                  </a:moveTo>
                  <a:lnTo>
                    <a:pt x="0" y="0"/>
                  </a:lnTo>
                  <a:lnTo>
                    <a:pt x="541866" y="0"/>
                  </a:lnTo>
                  <a:lnTo>
                    <a:pt x="541866" y="1517226"/>
                  </a:lnTo>
                  <a:lnTo>
                    <a:pt x="0" y="151722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14073" y="6948378"/>
              <a:ext cx="542290" cy="217170"/>
            </a:xfrm>
            <a:custGeom>
              <a:avLst/>
              <a:gdLst/>
              <a:ahLst/>
              <a:cxnLst/>
              <a:rect l="l" t="t" r="r" b="b"/>
              <a:pathLst>
                <a:path w="542290" h="217170">
                  <a:moveTo>
                    <a:pt x="0" y="216746"/>
                  </a:moveTo>
                  <a:lnTo>
                    <a:pt x="541866" y="216746"/>
                  </a:lnTo>
                  <a:lnTo>
                    <a:pt x="541866" y="0"/>
                  </a:lnTo>
                  <a:lnTo>
                    <a:pt x="0" y="0"/>
                  </a:lnTo>
                  <a:lnTo>
                    <a:pt x="0" y="216746"/>
                  </a:lnTo>
                  <a:close/>
                </a:path>
              </a:pathLst>
            </a:custGeom>
            <a:solidFill>
              <a:srgbClr val="A40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414073" y="6948378"/>
              <a:ext cx="542290" cy="867410"/>
            </a:xfrm>
            <a:custGeom>
              <a:avLst/>
              <a:gdLst/>
              <a:ahLst/>
              <a:cxnLst/>
              <a:rect l="l" t="t" r="r" b="b"/>
              <a:pathLst>
                <a:path w="542290" h="867409">
                  <a:moveTo>
                    <a:pt x="0" y="866986"/>
                  </a:moveTo>
                  <a:lnTo>
                    <a:pt x="0" y="0"/>
                  </a:lnTo>
                  <a:lnTo>
                    <a:pt x="541866" y="0"/>
                  </a:lnTo>
                  <a:lnTo>
                    <a:pt x="541866" y="866986"/>
                  </a:lnTo>
                  <a:lnTo>
                    <a:pt x="0" y="86698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064313" y="6948378"/>
              <a:ext cx="542290" cy="217170"/>
            </a:xfrm>
            <a:custGeom>
              <a:avLst/>
              <a:gdLst/>
              <a:ahLst/>
              <a:cxnLst/>
              <a:rect l="l" t="t" r="r" b="b"/>
              <a:pathLst>
                <a:path w="542290" h="217170">
                  <a:moveTo>
                    <a:pt x="0" y="216746"/>
                  </a:moveTo>
                  <a:lnTo>
                    <a:pt x="541866" y="216746"/>
                  </a:lnTo>
                  <a:lnTo>
                    <a:pt x="541866" y="0"/>
                  </a:lnTo>
                  <a:lnTo>
                    <a:pt x="0" y="0"/>
                  </a:lnTo>
                  <a:lnTo>
                    <a:pt x="0" y="216746"/>
                  </a:lnTo>
                  <a:close/>
                </a:path>
              </a:pathLst>
            </a:custGeom>
            <a:solidFill>
              <a:srgbClr val="A40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064313" y="6948378"/>
              <a:ext cx="542290" cy="867410"/>
            </a:xfrm>
            <a:custGeom>
              <a:avLst/>
              <a:gdLst/>
              <a:ahLst/>
              <a:cxnLst/>
              <a:rect l="l" t="t" r="r" b="b"/>
              <a:pathLst>
                <a:path w="542290" h="867409">
                  <a:moveTo>
                    <a:pt x="0" y="866986"/>
                  </a:moveTo>
                  <a:lnTo>
                    <a:pt x="0" y="0"/>
                  </a:lnTo>
                  <a:lnTo>
                    <a:pt x="541866" y="0"/>
                  </a:lnTo>
                  <a:lnTo>
                    <a:pt x="541866" y="866986"/>
                  </a:lnTo>
                  <a:lnTo>
                    <a:pt x="0" y="86698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113593" y="5973018"/>
              <a:ext cx="542290" cy="1842770"/>
            </a:xfrm>
            <a:custGeom>
              <a:avLst/>
              <a:gdLst/>
              <a:ahLst/>
              <a:cxnLst/>
              <a:rect l="l" t="t" r="r" b="b"/>
              <a:pathLst>
                <a:path w="542290" h="1842770">
                  <a:moveTo>
                    <a:pt x="541866" y="0"/>
                  </a:moveTo>
                  <a:lnTo>
                    <a:pt x="0" y="0"/>
                  </a:lnTo>
                  <a:lnTo>
                    <a:pt x="0" y="1842347"/>
                  </a:lnTo>
                  <a:lnTo>
                    <a:pt x="541866" y="1842347"/>
                  </a:lnTo>
                  <a:lnTo>
                    <a:pt x="541866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13593" y="5973018"/>
              <a:ext cx="542290" cy="1842770"/>
            </a:xfrm>
            <a:custGeom>
              <a:avLst/>
              <a:gdLst/>
              <a:ahLst/>
              <a:cxnLst/>
              <a:rect l="l" t="t" r="r" b="b"/>
              <a:pathLst>
                <a:path w="542290" h="1842770">
                  <a:moveTo>
                    <a:pt x="0" y="1842346"/>
                  </a:moveTo>
                  <a:lnTo>
                    <a:pt x="0" y="0"/>
                  </a:lnTo>
                  <a:lnTo>
                    <a:pt x="541866" y="0"/>
                  </a:lnTo>
                  <a:lnTo>
                    <a:pt x="541866" y="1842346"/>
                  </a:lnTo>
                  <a:lnTo>
                    <a:pt x="0" y="184234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449769" y="4774861"/>
            <a:ext cx="653833" cy="56167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8929">
              <a:lnSpc>
                <a:spcPts val="1839"/>
              </a:lnSpc>
            </a:pPr>
            <a:r>
              <a:rPr sz="1582" spc="-7" dirty="0">
                <a:latin typeface="Arial"/>
                <a:cs typeface="Arial"/>
              </a:rPr>
              <a:t>attack</a:t>
            </a:r>
            <a:endParaRPr sz="1582">
              <a:latin typeface="Arial"/>
              <a:cs typeface="Arial"/>
            </a:endParaRPr>
          </a:p>
          <a:p>
            <a:pPr marL="8929">
              <a:spcBef>
                <a:spcPts val="1350"/>
              </a:spcBef>
            </a:pPr>
            <a:r>
              <a:rPr sz="1582" spc="-18" dirty="0">
                <a:latin typeface="Arial"/>
                <a:cs typeface="Arial"/>
              </a:rPr>
              <a:t>man</a:t>
            </a:r>
            <a:endParaRPr sz="1582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319717" y="4537645"/>
            <a:ext cx="230832" cy="79920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8929">
              <a:lnSpc>
                <a:spcPts val="1839"/>
              </a:lnSpc>
            </a:pPr>
            <a:r>
              <a:rPr sz="1582" spc="-7" dirty="0">
                <a:latin typeface="Arial"/>
                <a:cs typeface="Arial"/>
              </a:rPr>
              <a:t>outcome</a:t>
            </a:r>
            <a:endParaRPr sz="1582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732456" y="4835600"/>
            <a:ext cx="425500" cy="502233"/>
          </a:xfrm>
          <a:prstGeom prst="rect">
            <a:avLst/>
          </a:prstGeom>
        </p:spPr>
        <p:txBody>
          <a:bodyPr vert="horz" wrap="square" lIns="0" tIns="9823" rIns="0" bIns="0" rtlCol="0">
            <a:spAutoFit/>
          </a:bodyPr>
          <a:lstStyle/>
          <a:p>
            <a:pPr marL="8929">
              <a:spcBef>
                <a:spcPts val="77"/>
              </a:spcBef>
            </a:pPr>
            <a:r>
              <a:rPr sz="3199" spc="7" dirty="0">
                <a:latin typeface="Arial"/>
                <a:cs typeface="Arial"/>
              </a:rPr>
              <a:t>…</a:t>
            </a:r>
            <a:endParaRPr sz="3199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603887" y="4369054"/>
            <a:ext cx="210955" cy="955923"/>
          </a:xfrm>
          <a:prstGeom prst="rect">
            <a:avLst/>
          </a:prstGeom>
        </p:spPr>
        <p:txBody>
          <a:bodyPr vert="vert270" wrap="square" lIns="0" tIns="6251" rIns="0" bIns="0" rtlCol="0">
            <a:spAutoFit/>
          </a:bodyPr>
          <a:lstStyle/>
          <a:p>
            <a:pPr marL="8929">
              <a:spcBef>
                <a:spcPts val="49"/>
              </a:spcBef>
            </a:pPr>
            <a:r>
              <a:rPr sz="1371" spc="-7" dirty="0">
                <a:latin typeface="Lucida Grande"/>
                <a:cs typeface="Lucida Grande"/>
              </a:rPr>
              <a:t>allegations</a:t>
            </a:r>
            <a:endParaRPr sz="1371">
              <a:latin typeface="Lucida Grande"/>
              <a:cs typeface="Lucida Grande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978035" y="4652067"/>
            <a:ext cx="391120" cy="848320"/>
            <a:chOff x="7756849" y="6616273"/>
            <a:chExt cx="556260" cy="1206500"/>
          </a:xfrm>
        </p:grpSpPr>
        <p:sp>
          <p:nvSpPr>
            <p:cNvPr id="43" name="object 43"/>
            <p:cNvSpPr/>
            <p:nvPr/>
          </p:nvSpPr>
          <p:spPr>
            <a:xfrm>
              <a:off x="7763834" y="6623258"/>
              <a:ext cx="542290" cy="1192530"/>
            </a:xfrm>
            <a:custGeom>
              <a:avLst/>
              <a:gdLst/>
              <a:ahLst/>
              <a:cxnLst/>
              <a:rect l="l" t="t" r="r" b="b"/>
              <a:pathLst>
                <a:path w="542290" h="1192529">
                  <a:moveTo>
                    <a:pt x="541866" y="0"/>
                  </a:moveTo>
                  <a:lnTo>
                    <a:pt x="0" y="0"/>
                  </a:lnTo>
                  <a:lnTo>
                    <a:pt x="0" y="1192106"/>
                  </a:lnTo>
                  <a:lnTo>
                    <a:pt x="541866" y="1192106"/>
                  </a:lnTo>
                  <a:lnTo>
                    <a:pt x="541866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763834" y="6623258"/>
              <a:ext cx="542290" cy="1192530"/>
            </a:xfrm>
            <a:custGeom>
              <a:avLst/>
              <a:gdLst/>
              <a:ahLst/>
              <a:cxnLst/>
              <a:rect l="l" t="t" r="r" b="b"/>
              <a:pathLst>
                <a:path w="542290" h="1192529">
                  <a:moveTo>
                    <a:pt x="0" y="1192106"/>
                  </a:moveTo>
                  <a:lnTo>
                    <a:pt x="0" y="0"/>
                  </a:lnTo>
                  <a:lnTo>
                    <a:pt x="541866" y="0"/>
                  </a:lnTo>
                  <a:lnTo>
                    <a:pt x="541866" y="1192106"/>
                  </a:lnTo>
                  <a:lnTo>
                    <a:pt x="0" y="119210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061087" y="4755639"/>
            <a:ext cx="210955" cy="640705"/>
          </a:xfrm>
          <a:prstGeom prst="rect">
            <a:avLst/>
          </a:prstGeom>
        </p:spPr>
        <p:txBody>
          <a:bodyPr vert="vert270" wrap="square" lIns="0" tIns="6251" rIns="0" bIns="0" rtlCol="0">
            <a:spAutoFit/>
          </a:bodyPr>
          <a:lstStyle/>
          <a:p>
            <a:pPr marL="8929">
              <a:spcBef>
                <a:spcPts val="49"/>
              </a:spcBef>
            </a:pPr>
            <a:r>
              <a:rPr sz="1371" spc="-7" dirty="0">
                <a:latin typeface="Lucida Grande"/>
                <a:cs typeface="Lucida Grande"/>
              </a:rPr>
              <a:t>reports</a:t>
            </a:r>
            <a:endParaRPr sz="1371">
              <a:latin typeface="Lucida Grande"/>
              <a:cs typeface="Lucida Grande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435235" y="5033067"/>
            <a:ext cx="391120" cy="467023"/>
            <a:chOff x="8407089" y="7158140"/>
            <a:chExt cx="556260" cy="664210"/>
          </a:xfrm>
        </p:grpSpPr>
        <p:sp>
          <p:nvSpPr>
            <p:cNvPr id="47" name="object 47"/>
            <p:cNvSpPr/>
            <p:nvPr/>
          </p:nvSpPr>
          <p:spPr>
            <a:xfrm>
              <a:off x="8414074" y="7165125"/>
              <a:ext cx="542290" cy="650240"/>
            </a:xfrm>
            <a:custGeom>
              <a:avLst/>
              <a:gdLst/>
              <a:ahLst/>
              <a:cxnLst/>
              <a:rect l="l" t="t" r="r" b="b"/>
              <a:pathLst>
                <a:path w="542290" h="650240">
                  <a:moveTo>
                    <a:pt x="541866" y="0"/>
                  </a:moveTo>
                  <a:lnTo>
                    <a:pt x="0" y="0"/>
                  </a:lnTo>
                  <a:lnTo>
                    <a:pt x="0" y="650240"/>
                  </a:lnTo>
                  <a:lnTo>
                    <a:pt x="541866" y="650240"/>
                  </a:lnTo>
                  <a:lnTo>
                    <a:pt x="541866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414074" y="7165125"/>
              <a:ext cx="542290" cy="650240"/>
            </a:xfrm>
            <a:custGeom>
              <a:avLst/>
              <a:gdLst/>
              <a:ahLst/>
              <a:cxnLst/>
              <a:rect l="l" t="t" r="r" b="b"/>
              <a:pathLst>
                <a:path w="542290" h="650240">
                  <a:moveTo>
                    <a:pt x="0" y="650240"/>
                  </a:moveTo>
                  <a:lnTo>
                    <a:pt x="0" y="0"/>
                  </a:lnTo>
                  <a:lnTo>
                    <a:pt x="541866" y="0"/>
                  </a:lnTo>
                  <a:lnTo>
                    <a:pt x="541866" y="650240"/>
                  </a:lnTo>
                  <a:lnTo>
                    <a:pt x="0" y="650240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7532710" y="5020946"/>
            <a:ext cx="183896" cy="490686"/>
          </a:xfrm>
          <a:prstGeom prst="rect">
            <a:avLst/>
          </a:prstGeom>
        </p:spPr>
        <p:txBody>
          <a:bodyPr vert="vert270" wrap="square" lIns="0" tIns="5358" rIns="0" bIns="0" rtlCol="0">
            <a:spAutoFit/>
          </a:bodyPr>
          <a:lstStyle/>
          <a:p>
            <a:pPr marL="8929">
              <a:spcBef>
                <a:spcPts val="42"/>
              </a:spcBef>
            </a:pPr>
            <a:r>
              <a:rPr sz="1195" spc="-7" dirty="0">
                <a:latin typeface="Lucida Grande"/>
                <a:cs typeface="Lucida Grande"/>
              </a:rPr>
              <a:t>claims</a:t>
            </a:r>
            <a:endParaRPr sz="1195">
              <a:latin typeface="Lucida Grande"/>
              <a:cs typeface="Lucida Grande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892434" y="5033067"/>
            <a:ext cx="391120" cy="467023"/>
            <a:chOff x="9057328" y="7158140"/>
            <a:chExt cx="556260" cy="664210"/>
          </a:xfrm>
        </p:grpSpPr>
        <p:sp>
          <p:nvSpPr>
            <p:cNvPr id="51" name="object 51"/>
            <p:cNvSpPr/>
            <p:nvPr/>
          </p:nvSpPr>
          <p:spPr>
            <a:xfrm>
              <a:off x="9064313" y="7165125"/>
              <a:ext cx="542290" cy="650240"/>
            </a:xfrm>
            <a:custGeom>
              <a:avLst/>
              <a:gdLst/>
              <a:ahLst/>
              <a:cxnLst/>
              <a:rect l="l" t="t" r="r" b="b"/>
              <a:pathLst>
                <a:path w="542290" h="650240">
                  <a:moveTo>
                    <a:pt x="541866" y="0"/>
                  </a:moveTo>
                  <a:lnTo>
                    <a:pt x="0" y="0"/>
                  </a:lnTo>
                  <a:lnTo>
                    <a:pt x="0" y="650240"/>
                  </a:lnTo>
                  <a:lnTo>
                    <a:pt x="541866" y="650240"/>
                  </a:lnTo>
                  <a:lnTo>
                    <a:pt x="541866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064313" y="7165125"/>
              <a:ext cx="542290" cy="650240"/>
            </a:xfrm>
            <a:custGeom>
              <a:avLst/>
              <a:gdLst/>
              <a:ahLst/>
              <a:cxnLst/>
              <a:rect l="l" t="t" r="r" b="b"/>
              <a:pathLst>
                <a:path w="542290" h="650240">
                  <a:moveTo>
                    <a:pt x="0" y="650240"/>
                  </a:moveTo>
                  <a:lnTo>
                    <a:pt x="0" y="0"/>
                  </a:lnTo>
                  <a:lnTo>
                    <a:pt x="541866" y="0"/>
                  </a:lnTo>
                  <a:lnTo>
                    <a:pt x="541866" y="650240"/>
                  </a:lnTo>
                  <a:lnTo>
                    <a:pt x="0" y="650240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8004282" y="5024008"/>
            <a:ext cx="151452" cy="485329"/>
          </a:xfrm>
          <a:prstGeom prst="rect">
            <a:avLst/>
          </a:prstGeom>
        </p:spPr>
        <p:txBody>
          <a:bodyPr vert="vert270" wrap="square" lIns="0" tIns="6697" rIns="0" bIns="0" rtlCol="0">
            <a:spAutoFit/>
          </a:bodyPr>
          <a:lstStyle/>
          <a:p>
            <a:pPr marL="8929">
              <a:spcBef>
                <a:spcPts val="53"/>
              </a:spcBef>
            </a:pPr>
            <a:r>
              <a:rPr sz="984" spc="-7" dirty="0">
                <a:latin typeface="Lucida Grande"/>
                <a:cs typeface="Lucida Grande"/>
              </a:rPr>
              <a:t>request</a:t>
            </a:r>
            <a:endParaRPr sz="984">
              <a:latin typeface="Lucida Grande"/>
              <a:cs typeface="Lucida Grande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349783" y="5414216"/>
            <a:ext cx="1305074" cy="85725"/>
            <a:chOff x="9707780" y="7700218"/>
            <a:chExt cx="1856105" cy="121920"/>
          </a:xfrm>
        </p:grpSpPr>
        <p:sp>
          <p:nvSpPr>
            <p:cNvPr id="55" name="object 55"/>
            <p:cNvSpPr/>
            <p:nvPr/>
          </p:nvSpPr>
          <p:spPr>
            <a:xfrm>
              <a:off x="9714553" y="7706991"/>
              <a:ext cx="542290" cy="108585"/>
            </a:xfrm>
            <a:custGeom>
              <a:avLst/>
              <a:gdLst/>
              <a:ahLst/>
              <a:cxnLst/>
              <a:rect l="l" t="t" r="r" b="b"/>
              <a:pathLst>
                <a:path w="542290" h="108584">
                  <a:moveTo>
                    <a:pt x="541866" y="0"/>
                  </a:moveTo>
                  <a:lnTo>
                    <a:pt x="0" y="0"/>
                  </a:lnTo>
                  <a:lnTo>
                    <a:pt x="0" y="108373"/>
                  </a:lnTo>
                  <a:lnTo>
                    <a:pt x="541866" y="108373"/>
                  </a:lnTo>
                  <a:lnTo>
                    <a:pt x="541866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714553" y="7706991"/>
              <a:ext cx="542290" cy="108585"/>
            </a:xfrm>
            <a:custGeom>
              <a:avLst/>
              <a:gdLst/>
              <a:ahLst/>
              <a:cxnLst/>
              <a:rect l="l" t="t" r="r" b="b"/>
              <a:pathLst>
                <a:path w="542290" h="108584">
                  <a:moveTo>
                    <a:pt x="0" y="108373"/>
                  </a:moveTo>
                  <a:lnTo>
                    <a:pt x="0" y="0"/>
                  </a:lnTo>
                  <a:lnTo>
                    <a:pt x="541866" y="0"/>
                  </a:lnTo>
                  <a:lnTo>
                    <a:pt x="541866" y="108373"/>
                  </a:lnTo>
                  <a:lnTo>
                    <a:pt x="0" y="108373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0364793" y="7706991"/>
              <a:ext cx="542290" cy="108585"/>
            </a:xfrm>
            <a:custGeom>
              <a:avLst/>
              <a:gdLst/>
              <a:ahLst/>
              <a:cxnLst/>
              <a:rect l="l" t="t" r="r" b="b"/>
              <a:pathLst>
                <a:path w="542290" h="108584">
                  <a:moveTo>
                    <a:pt x="541866" y="0"/>
                  </a:moveTo>
                  <a:lnTo>
                    <a:pt x="0" y="0"/>
                  </a:lnTo>
                  <a:lnTo>
                    <a:pt x="0" y="108373"/>
                  </a:lnTo>
                  <a:lnTo>
                    <a:pt x="541866" y="108373"/>
                  </a:lnTo>
                  <a:lnTo>
                    <a:pt x="541866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0364793" y="7706991"/>
              <a:ext cx="542290" cy="108585"/>
            </a:xfrm>
            <a:custGeom>
              <a:avLst/>
              <a:gdLst/>
              <a:ahLst/>
              <a:cxnLst/>
              <a:rect l="l" t="t" r="r" b="b"/>
              <a:pathLst>
                <a:path w="542290" h="108584">
                  <a:moveTo>
                    <a:pt x="0" y="108373"/>
                  </a:moveTo>
                  <a:lnTo>
                    <a:pt x="0" y="0"/>
                  </a:lnTo>
                  <a:lnTo>
                    <a:pt x="541866" y="0"/>
                  </a:lnTo>
                  <a:lnTo>
                    <a:pt x="541866" y="108373"/>
                  </a:lnTo>
                  <a:lnTo>
                    <a:pt x="0" y="108373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1015033" y="7706991"/>
              <a:ext cx="542290" cy="108585"/>
            </a:xfrm>
            <a:custGeom>
              <a:avLst/>
              <a:gdLst/>
              <a:ahLst/>
              <a:cxnLst/>
              <a:rect l="l" t="t" r="r" b="b"/>
              <a:pathLst>
                <a:path w="542290" h="108584">
                  <a:moveTo>
                    <a:pt x="541866" y="0"/>
                  </a:moveTo>
                  <a:lnTo>
                    <a:pt x="0" y="0"/>
                  </a:lnTo>
                  <a:lnTo>
                    <a:pt x="0" y="108373"/>
                  </a:lnTo>
                  <a:lnTo>
                    <a:pt x="541866" y="108373"/>
                  </a:lnTo>
                  <a:lnTo>
                    <a:pt x="541866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1015033" y="7706991"/>
              <a:ext cx="542290" cy="108585"/>
            </a:xfrm>
            <a:custGeom>
              <a:avLst/>
              <a:gdLst/>
              <a:ahLst/>
              <a:cxnLst/>
              <a:rect l="l" t="t" r="r" b="b"/>
              <a:pathLst>
                <a:path w="542290" h="108584">
                  <a:moveTo>
                    <a:pt x="0" y="108373"/>
                  </a:moveTo>
                  <a:lnTo>
                    <a:pt x="0" y="0"/>
                  </a:lnTo>
                  <a:lnTo>
                    <a:pt x="541866" y="0"/>
                  </a:lnTo>
                  <a:lnTo>
                    <a:pt x="541866" y="108373"/>
                  </a:lnTo>
                  <a:lnTo>
                    <a:pt x="0" y="108373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E7F6C52F-7EF7-490C-8722-5B8132B9F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8CAADEE2-18B8-44E0-8D2B-08D049298C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students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opened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their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count</m:t>
                          </m:r>
                          <m:d>
                            <m:dPr>
                              <m:endChr m:val="|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i="0" dirty="0">
                                  <a:latin typeface="Cambria Math" panose="02040503050406030204" pitchFamily="18" charset="0"/>
                                </a:rPr>
                                <m:t>students</m:t>
                              </m:r>
                              <m:r>
                                <a:rPr lang="en-US" i="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i="0" dirty="0">
                                  <a:latin typeface="Cambria Math" panose="02040503050406030204" pitchFamily="18" charset="0"/>
                                </a:rPr>
                                <m:t>opened</m:t>
                              </m:r>
                              <m:r>
                                <a:rPr lang="en-US" i="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i="0" dirty="0">
                                  <a:latin typeface="Cambria Math" panose="02040503050406030204" pitchFamily="18" charset="0"/>
                                </a:rPr>
                                <m:t>their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count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students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opened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their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8CAADEE2-18B8-44E0-8D2B-08D049298C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66699" y="171174"/>
            <a:ext cx="11658601" cy="669070"/>
          </a:xfrm>
          <a:prstGeom prst="rect">
            <a:avLst/>
          </a:prstGeo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>
              <a:spcBef>
                <a:spcPts val="70"/>
              </a:spcBef>
              <a:tabLst>
                <a:tab pos="1926065" algn="l"/>
              </a:tabLst>
            </a:pPr>
            <a:r>
              <a:rPr lang="en-US" sz="4289" dirty="0">
                <a:solidFill>
                  <a:srgbClr val="C00000"/>
                </a:solidFill>
                <a:latin typeface="Helvetica Neue"/>
                <a:cs typeface="Helvetica Neue"/>
              </a:rPr>
              <a:t>Problems</a:t>
            </a:r>
            <a:r>
              <a:rPr lang="en-US" sz="4289" dirty="0">
                <a:solidFill>
                  <a:srgbClr val="000000"/>
                </a:solidFill>
                <a:latin typeface="Helvetica Neue"/>
                <a:cs typeface="Helvetica Neue"/>
              </a:rPr>
              <a:t> with </a:t>
            </a:r>
            <a:r>
              <a:rPr sz="4289" dirty="0">
                <a:solidFill>
                  <a:srgbClr val="000000"/>
                </a:solidFill>
                <a:latin typeface="Helvetica Neue"/>
                <a:cs typeface="Helvetica Neue"/>
              </a:rPr>
              <a:t>n-</a:t>
            </a:r>
            <a:r>
              <a:rPr sz="4289" spc="-14" dirty="0">
                <a:solidFill>
                  <a:srgbClr val="000000"/>
                </a:solidFill>
                <a:latin typeface="Helvetica Neue"/>
                <a:cs typeface="Helvetica Neue"/>
              </a:rPr>
              <a:t>gram</a:t>
            </a:r>
            <a:r>
              <a:rPr lang="en-US" sz="4289" spc="-14" dirty="0">
                <a:solidFill>
                  <a:srgbClr val="000000"/>
                </a:solidFill>
                <a:latin typeface="Helvetica Neue"/>
                <a:cs typeface="Helvetica Neue"/>
              </a:rPr>
              <a:t> </a:t>
            </a:r>
            <a:r>
              <a:rPr sz="4289" spc="-7" dirty="0">
                <a:solidFill>
                  <a:srgbClr val="000000"/>
                </a:solidFill>
                <a:latin typeface="Helvetica Neue"/>
                <a:cs typeface="Helvetica Neue"/>
              </a:rPr>
              <a:t>models</a:t>
            </a:r>
            <a:endParaRPr sz="4289" dirty="0">
              <a:latin typeface="Helvetica Neue"/>
              <a:cs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6">
                <a:extLst>
                  <a:ext uri="{FF2B5EF4-FFF2-40B4-BE49-F238E27FC236}">
                    <a16:creationId xmlns:a16="http://schemas.microsoft.com/office/drawing/2014/main" id="{F4E3EFDD-4274-4B55-9C0F-F27E4AB1CDCF}"/>
                  </a:ext>
                </a:extLst>
              </p:cNvPr>
              <p:cNvSpPr txBox="1"/>
              <p:nvPr/>
            </p:nvSpPr>
            <p:spPr>
              <a:xfrm>
                <a:off x="1364718" y="1398098"/>
                <a:ext cx="3216807" cy="1096979"/>
              </a:xfrm>
              <a:prstGeom prst="rect">
                <a:avLst/>
              </a:prstGeom>
              <a:ln w="37720">
                <a:solidFill>
                  <a:srgbClr val="BB57BE"/>
                </a:solidFill>
              </a:ln>
            </p:spPr>
            <p:txBody>
              <a:bodyPr vert="horz" wrap="square" lIns="0" tIns="31254" rIns="0" bIns="0" rtlCol="0">
                <a:spAutoFit/>
              </a:bodyPr>
              <a:lstStyle/>
              <a:p>
                <a:pPr marL="84829" marR="265202">
                  <a:lnSpc>
                    <a:spcPct val="100600"/>
                  </a:lnSpc>
                  <a:spcBef>
                    <a:spcPts val="246"/>
                  </a:spcBef>
                  <a:tabLst>
                    <a:tab pos="1465310" algn="l"/>
                  </a:tabLst>
                </a:pPr>
                <a:r>
                  <a:rPr lang="en-US" sz="1652" b="1" u="heavy" dirty="0">
                    <a:uFill>
                      <a:solidFill>
                        <a:srgbClr val="000000"/>
                      </a:solidFill>
                    </a:uFill>
                    <a:latin typeface="Arial"/>
                    <a:cs typeface="Arial"/>
                  </a:rPr>
                  <a:t>Problem:</a:t>
                </a:r>
                <a:r>
                  <a:rPr lang="en-US" sz="1652" b="1" dirty="0">
                    <a:latin typeface="Arial"/>
                    <a:cs typeface="Arial"/>
                  </a:rPr>
                  <a:t> </a:t>
                </a:r>
                <a:r>
                  <a:rPr lang="en-US" sz="1652" dirty="0">
                    <a:latin typeface="Arial"/>
                    <a:cs typeface="Arial"/>
                  </a:rPr>
                  <a:t>What if </a:t>
                </a:r>
                <a:r>
                  <a:rPr lang="en-US" sz="1652" i="1" dirty="0">
                    <a:latin typeface="Arial"/>
                    <a:cs typeface="Arial"/>
                  </a:rPr>
                  <a:t>“students opened their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652" i="1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fa-IR" sz="1652" i="1" dirty="0" smtClean="0">
                            <a:latin typeface="Cambria Math" panose="02040503050406030204" pitchFamily="18" charset="0"/>
                            <a:cs typeface="Arial"/>
                          </a:rPr>
                          <m:t>𝑤</m:t>
                        </m:r>
                      </m:e>
                      <m:sub>
                        <m:r>
                          <a:rPr lang="fa-IR" sz="1652" i="1" dirty="0" smtClean="0">
                            <a:latin typeface="Cambria Math" panose="02040503050406030204" pitchFamily="18" charset="0"/>
                            <a:cs typeface="Arial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52" dirty="0">
                    <a:latin typeface="Arial"/>
                    <a:cs typeface="Arial"/>
                  </a:rPr>
                  <a:t>” never occurred in data?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652" i="1" dirty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fa-IR" sz="1652" i="1" dirty="0">
                            <a:latin typeface="Cambria Math" panose="02040503050406030204" pitchFamily="18" charset="0"/>
                            <a:cs typeface="Arial"/>
                          </a:rPr>
                          <m:t>𝑤</m:t>
                        </m:r>
                      </m:e>
                      <m:sub>
                        <m:r>
                          <a:rPr lang="fa-IR" sz="1652" i="1" dirty="0">
                            <a:latin typeface="Cambria Math" panose="02040503050406030204" pitchFamily="18" charset="0"/>
                            <a:cs typeface="Arial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52" dirty="0">
                    <a:latin typeface="Arial"/>
                    <a:cs typeface="Arial"/>
                  </a:rPr>
                  <a:t> has probability 0!</a:t>
                </a:r>
                <a:endParaRPr sz="1652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5" name="object 16">
                <a:extLst>
                  <a:ext uri="{FF2B5EF4-FFF2-40B4-BE49-F238E27FC236}">
                    <a16:creationId xmlns:a16="http://schemas.microsoft.com/office/drawing/2014/main" id="{F4E3EFDD-4274-4B55-9C0F-F27E4AB1C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718" y="1398098"/>
                <a:ext cx="3216807" cy="1096979"/>
              </a:xfrm>
              <a:prstGeom prst="rect">
                <a:avLst/>
              </a:prstGeom>
              <a:blipFill>
                <a:blip r:embed="rId3"/>
                <a:stretch>
                  <a:fillRect l="-749" t="-2151" b="-7527"/>
                </a:stretch>
              </a:blipFill>
              <a:ln w="37720">
                <a:solidFill>
                  <a:srgbClr val="BB57BE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bject 19">
            <a:extLst>
              <a:ext uri="{FF2B5EF4-FFF2-40B4-BE49-F238E27FC236}">
                <a16:creationId xmlns:a16="http://schemas.microsoft.com/office/drawing/2014/main" id="{7904686B-ACF3-42A9-93A6-8CA3E40767E5}"/>
              </a:ext>
            </a:extLst>
          </p:cNvPr>
          <p:cNvSpPr txBox="1"/>
          <p:nvPr/>
        </p:nvSpPr>
        <p:spPr>
          <a:xfrm>
            <a:off x="1338607" y="1109077"/>
            <a:ext cx="1629668" cy="265508"/>
          </a:xfrm>
          <a:prstGeom prst="rect">
            <a:avLst/>
          </a:prstGeom>
        </p:spPr>
        <p:txBody>
          <a:bodyPr vert="horz" wrap="square" lIns="0" tIns="11162" rIns="0" bIns="0" rtlCol="0">
            <a:spAutoFit/>
          </a:bodyPr>
          <a:lstStyle/>
          <a:p>
            <a:pPr marL="8929">
              <a:spcBef>
                <a:spcPts val="88"/>
              </a:spcBef>
            </a:pPr>
            <a:r>
              <a:rPr sz="1652" spc="-84" dirty="0">
                <a:solidFill>
                  <a:srgbClr val="BB57BE"/>
                </a:solidFill>
                <a:latin typeface="Arial"/>
                <a:cs typeface="Arial"/>
              </a:rPr>
              <a:t>Sparsity</a:t>
            </a:r>
            <a:r>
              <a:rPr sz="1652" spc="-49" dirty="0">
                <a:solidFill>
                  <a:srgbClr val="BB57BE"/>
                </a:solidFill>
                <a:latin typeface="Arial"/>
                <a:cs typeface="Arial"/>
              </a:rPr>
              <a:t> </a:t>
            </a:r>
            <a:r>
              <a:rPr sz="1652" spc="-74" dirty="0">
                <a:solidFill>
                  <a:srgbClr val="BB57BE"/>
                </a:solidFill>
                <a:latin typeface="Arial"/>
                <a:cs typeface="Arial"/>
              </a:rPr>
              <a:t>Problem</a:t>
            </a:r>
            <a:r>
              <a:rPr sz="1652" spc="-49" dirty="0">
                <a:solidFill>
                  <a:srgbClr val="BB57BE"/>
                </a:solidFill>
                <a:latin typeface="Arial"/>
                <a:cs typeface="Arial"/>
              </a:rPr>
              <a:t> </a:t>
            </a:r>
            <a:r>
              <a:rPr sz="1652" spc="-35" dirty="0">
                <a:solidFill>
                  <a:srgbClr val="BB57BE"/>
                </a:solidFill>
                <a:latin typeface="Arial"/>
                <a:cs typeface="Arial"/>
              </a:rPr>
              <a:t>1</a:t>
            </a:r>
            <a:endParaRPr sz="1652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8">
                <a:extLst>
                  <a:ext uri="{FF2B5EF4-FFF2-40B4-BE49-F238E27FC236}">
                    <a16:creationId xmlns:a16="http://schemas.microsoft.com/office/drawing/2014/main" id="{6ACEA80F-8D16-4094-8DB8-9B9B29D2E52C}"/>
                  </a:ext>
                </a:extLst>
              </p:cNvPr>
              <p:cNvSpPr txBox="1"/>
              <p:nvPr/>
            </p:nvSpPr>
            <p:spPr>
              <a:xfrm>
                <a:off x="5608240" y="1517122"/>
                <a:ext cx="3507185" cy="786902"/>
              </a:xfrm>
              <a:prstGeom prst="rect">
                <a:avLst/>
              </a:prstGeom>
              <a:ln w="37720">
                <a:solidFill>
                  <a:srgbClr val="BB57BE"/>
                </a:solidFill>
              </a:ln>
            </p:spPr>
            <p:txBody>
              <a:bodyPr vert="horz" wrap="square" lIns="0" tIns="33040" rIns="0" bIns="0" rtlCol="0">
                <a:spAutoFit/>
              </a:bodyPr>
              <a:lstStyle/>
              <a:p>
                <a:pPr marL="84829">
                  <a:lnSpc>
                    <a:spcPts val="1983"/>
                  </a:lnSpc>
                  <a:spcBef>
                    <a:spcPts val="260"/>
                  </a:spcBef>
                </a:pPr>
                <a:r>
                  <a:rPr lang="en-US" sz="1652" b="1" u="heavy" dirty="0">
                    <a:uFill>
                      <a:solidFill>
                        <a:srgbClr val="000000"/>
                      </a:solidFill>
                    </a:uFill>
                    <a:latin typeface="Arial"/>
                    <a:cs typeface="Arial"/>
                  </a:rPr>
                  <a:t>(Partial) Solution:</a:t>
                </a:r>
                <a:r>
                  <a:rPr lang="en-US" sz="1652" b="1" dirty="0">
                    <a:latin typeface="Arial"/>
                    <a:cs typeface="Arial"/>
                  </a:rPr>
                  <a:t> </a:t>
                </a:r>
                <a:r>
                  <a:rPr lang="en-US" sz="1652" dirty="0">
                    <a:latin typeface="Arial"/>
                    <a:cs typeface="Arial"/>
                  </a:rPr>
                  <a:t>Add small </a:t>
                </a:r>
                <a14:m>
                  <m:oMath xmlns:m="http://schemas.openxmlformats.org/officeDocument/2006/math">
                    <m:r>
                      <a:rPr lang="en-US" sz="1652" b="0" i="1" dirty="0" smtClean="0">
                        <a:latin typeface="Cambria Math" panose="02040503050406030204" pitchFamily="18" charset="0"/>
                        <a:cs typeface="Arial"/>
                      </a:rPr>
                      <m:t>𝛿</m:t>
                    </m:r>
                  </m:oMath>
                </a14:m>
                <a:endParaRPr lang="fa-IR" sz="1652" dirty="0">
                  <a:latin typeface="Cambria Math"/>
                  <a:cs typeface="Cambria Math"/>
                </a:endParaRPr>
              </a:p>
              <a:p>
                <a:pPr marL="84829" marR="356728">
                  <a:lnSpc>
                    <a:spcPts val="2011"/>
                  </a:lnSpc>
                  <a:spcBef>
                    <a:spcPts val="42"/>
                  </a:spcBef>
                  <a:tabLst>
                    <a:tab pos="2404679" algn="l"/>
                  </a:tabLst>
                </a:pPr>
                <a:r>
                  <a:rPr lang="en-US" sz="1652" dirty="0">
                    <a:latin typeface="Arial"/>
                    <a:cs typeface="Arial"/>
                  </a:rPr>
                  <a:t>to count 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652" i="1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fa-IR" sz="1652" i="1" dirty="0" smtClean="0">
                            <a:latin typeface="Cambria Math" panose="02040503050406030204" pitchFamily="18" charset="0"/>
                            <a:cs typeface="Arial"/>
                          </a:rPr>
                          <m:t>𝑤</m:t>
                        </m:r>
                      </m:e>
                      <m:sub>
                        <m:r>
                          <a:rPr lang="fa-IR" sz="1652" i="1" dirty="0" smtClean="0">
                            <a:latin typeface="Cambria Math" panose="02040503050406030204" pitchFamily="18" charset="0"/>
                            <a:cs typeface="Arial"/>
                          </a:rPr>
                          <m:t>𝑗</m:t>
                        </m:r>
                      </m:sub>
                    </m:sSub>
                    <m:r>
                      <a:rPr lang="fa-IR" sz="1652" b="0" i="1" dirty="0" smtClean="0">
                        <a:latin typeface="Cambria Math" panose="02040503050406030204" pitchFamily="18" charset="0"/>
                        <a:cs typeface="Arial"/>
                      </a:rPr>
                      <m:t>∈</m:t>
                    </m:r>
                    <m:r>
                      <a:rPr lang="en-US" sz="1652" b="0" i="1" dirty="0" smtClean="0">
                        <a:latin typeface="Cambria Math" panose="02040503050406030204" pitchFamily="18" charset="0"/>
                        <a:cs typeface="Arial"/>
                      </a:rPr>
                      <m:t>𝑉</m:t>
                    </m:r>
                  </m:oMath>
                </a14:m>
                <a:r>
                  <a:rPr lang="en-US" sz="1652" dirty="0">
                    <a:latin typeface="Arial"/>
                    <a:cs typeface="Arial"/>
                  </a:rPr>
                  <a:t>. This is called </a:t>
                </a:r>
                <a:r>
                  <a:rPr lang="en-US" sz="1652" i="1" dirty="0">
                    <a:latin typeface="Arial"/>
                    <a:cs typeface="Arial"/>
                  </a:rPr>
                  <a:t>smoothing</a:t>
                </a:r>
                <a:r>
                  <a:rPr lang="en-US" sz="1652" dirty="0">
                    <a:latin typeface="Arial"/>
                    <a:cs typeface="Arial"/>
                  </a:rPr>
                  <a:t>.</a:t>
                </a:r>
                <a:endParaRPr sz="1652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object 8">
                <a:extLst>
                  <a:ext uri="{FF2B5EF4-FFF2-40B4-BE49-F238E27FC236}">
                    <a16:creationId xmlns:a16="http://schemas.microsoft.com/office/drawing/2014/main" id="{6ACEA80F-8D16-4094-8DB8-9B9B29D2E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240" y="1517122"/>
                <a:ext cx="3507185" cy="786902"/>
              </a:xfrm>
              <a:prstGeom prst="rect">
                <a:avLst/>
              </a:prstGeom>
              <a:blipFill>
                <a:blip r:embed="rId4"/>
                <a:stretch>
                  <a:fillRect l="-688" t="-2963" b="-12593"/>
                </a:stretch>
              </a:blipFill>
              <a:ln w="37720">
                <a:solidFill>
                  <a:srgbClr val="BB57BE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0">
            <a:extLst>
              <a:ext uri="{FF2B5EF4-FFF2-40B4-BE49-F238E27FC236}">
                <a16:creationId xmlns:a16="http://schemas.microsoft.com/office/drawing/2014/main" id="{B64632E3-D1EC-46E0-BFE5-CB6EEFBEF069}"/>
              </a:ext>
            </a:extLst>
          </p:cNvPr>
          <p:cNvSpPr/>
          <p:nvPr/>
        </p:nvSpPr>
        <p:spPr>
          <a:xfrm>
            <a:off x="4581525" y="1905835"/>
            <a:ext cx="1026914" cy="79920"/>
          </a:xfrm>
          <a:custGeom>
            <a:avLst/>
            <a:gdLst/>
            <a:ahLst/>
            <a:cxnLst/>
            <a:rect l="l" t="t" r="r" b="b"/>
            <a:pathLst>
              <a:path w="1460500" h="113664">
                <a:moveTo>
                  <a:pt x="1347055" y="0"/>
                </a:moveTo>
                <a:lnTo>
                  <a:pt x="1347055" y="37720"/>
                </a:lnTo>
                <a:lnTo>
                  <a:pt x="0" y="37720"/>
                </a:lnTo>
                <a:lnTo>
                  <a:pt x="0" y="75440"/>
                </a:lnTo>
                <a:lnTo>
                  <a:pt x="1347055" y="75440"/>
                </a:lnTo>
                <a:lnTo>
                  <a:pt x="1347055" y="113160"/>
                </a:lnTo>
                <a:lnTo>
                  <a:pt x="1460216" y="56579"/>
                </a:lnTo>
                <a:lnTo>
                  <a:pt x="1347055" y="0"/>
                </a:lnTo>
                <a:close/>
              </a:path>
            </a:pathLst>
          </a:custGeom>
          <a:solidFill>
            <a:srgbClr val="BB5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301145-657D-41C0-BB4B-F896DEE24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5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DD2FD555-06D9-4DEB-96DD-B5DFD60FB6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700" y="990600"/>
                <a:ext cx="11658601" cy="5410199"/>
              </a:xfrm>
            </p:spPr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 err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dirty="0" err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students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opened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their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count</m:t>
                          </m:r>
                          <m:d>
                            <m:dPr>
                              <m:endChr m:val="|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students</m:t>
                              </m:r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opened</m:t>
                              </m:r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their</m:t>
                              </m:r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dirty="0" err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count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students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opened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their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DD2FD555-06D9-4DEB-96DD-B5DFD60FB6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990600"/>
                <a:ext cx="11658601" cy="541019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93784"/>
            <a:ext cx="11658600" cy="623669"/>
          </a:xfrm>
        </p:spPr>
        <p:txBody>
          <a:bodyPr vert="horz" wrap="square" lIns="0" tIns="803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Problems</a:t>
            </a:r>
            <a:r>
              <a:rPr lang="en-US" dirty="0"/>
              <a:t> with n-gram 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76750" y="2673012"/>
            <a:ext cx="6629399" cy="784561"/>
            <a:chOff x="4632960" y="4025315"/>
            <a:chExt cx="9428477" cy="1115821"/>
          </a:xfrm>
        </p:grpSpPr>
        <p:sp>
          <p:nvSpPr>
            <p:cNvPr id="5" name="object 5"/>
            <p:cNvSpPr/>
            <p:nvPr/>
          </p:nvSpPr>
          <p:spPr>
            <a:xfrm>
              <a:off x="6697326" y="4531536"/>
              <a:ext cx="7364111" cy="609600"/>
            </a:xfrm>
            <a:custGeom>
              <a:avLst/>
              <a:gdLst/>
              <a:ahLst/>
              <a:cxnLst/>
              <a:rect l="l" t="t" r="r" b="b"/>
              <a:pathLst>
                <a:path w="4687570" h="404495">
                  <a:moveTo>
                    <a:pt x="0" y="0"/>
                  </a:moveTo>
                  <a:lnTo>
                    <a:pt x="4687498" y="0"/>
                  </a:lnTo>
                  <a:lnTo>
                    <a:pt x="4687498" y="404276"/>
                  </a:lnTo>
                  <a:lnTo>
                    <a:pt x="0" y="404276"/>
                  </a:lnTo>
                  <a:lnTo>
                    <a:pt x="0" y="0"/>
                  </a:lnTo>
                  <a:close/>
                </a:path>
              </a:pathLst>
            </a:custGeom>
            <a:ln w="3699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32960" y="4025315"/>
              <a:ext cx="2064708" cy="825649"/>
            </a:xfrm>
            <a:custGeom>
              <a:avLst/>
              <a:gdLst/>
              <a:ahLst/>
              <a:cxnLst/>
              <a:rect l="l" t="t" r="r" b="b"/>
              <a:pathLst>
                <a:path w="2597150" h="1285239">
                  <a:moveTo>
                    <a:pt x="16261" y="0"/>
                  </a:moveTo>
                  <a:lnTo>
                    <a:pt x="0" y="33224"/>
                  </a:lnTo>
                  <a:lnTo>
                    <a:pt x="2489004" y="1251446"/>
                  </a:lnTo>
                  <a:lnTo>
                    <a:pt x="2472743" y="1284671"/>
                  </a:lnTo>
                  <a:lnTo>
                    <a:pt x="2596809" y="1283619"/>
                  </a:lnTo>
                  <a:lnTo>
                    <a:pt x="2521527" y="1184997"/>
                  </a:lnTo>
                  <a:lnTo>
                    <a:pt x="2505266" y="1218222"/>
                  </a:lnTo>
                  <a:lnTo>
                    <a:pt x="1626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86977" y="1678405"/>
            <a:ext cx="2652117" cy="1020866"/>
          </a:xfrm>
          <a:prstGeom prst="rect">
            <a:avLst/>
          </a:prstGeom>
          <a:ln w="36990">
            <a:solidFill>
              <a:srgbClr val="C00000"/>
            </a:solidFill>
          </a:ln>
        </p:spPr>
        <p:txBody>
          <a:bodyPr vert="horz" wrap="square" lIns="0" tIns="30807" rIns="0" bIns="0" rtlCol="0">
            <a:spAutoFit/>
          </a:bodyPr>
          <a:lstStyle/>
          <a:p>
            <a:pPr marL="83043" marR="121439">
              <a:lnSpc>
                <a:spcPct val="100800"/>
              </a:lnSpc>
              <a:spcBef>
                <a:spcPts val="243"/>
              </a:spcBef>
            </a:pPr>
            <a:r>
              <a:rPr sz="1617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Storage</a:t>
            </a:r>
            <a:r>
              <a:rPr sz="1617" dirty="0">
                <a:latin typeface="Arial"/>
                <a:cs typeface="Arial"/>
              </a:rPr>
              <a:t>: Need to store count for all possible </a:t>
            </a:r>
            <a:r>
              <a:rPr sz="1617" i="1" dirty="0">
                <a:latin typeface="Arial"/>
                <a:cs typeface="Arial"/>
              </a:rPr>
              <a:t>n</a:t>
            </a:r>
            <a:r>
              <a:rPr sz="1617" dirty="0">
                <a:latin typeface="Arial"/>
                <a:cs typeface="Arial"/>
              </a:rPr>
              <a:t>-grams. So model size is O(exp(</a:t>
            </a:r>
            <a:r>
              <a:rPr sz="1617" i="1" dirty="0">
                <a:latin typeface="Arial"/>
                <a:cs typeface="Arial"/>
              </a:rPr>
              <a:t>n</a:t>
            </a:r>
            <a:r>
              <a:rPr sz="1617" dirty="0">
                <a:latin typeface="Arial"/>
                <a:cs typeface="Arial"/>
              </a:rPr>
              <a:t>)).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80258" y="5514251"/>
            <a:ext cx="3472309" cy="530612"/>
          </a:xfrm>
          <a:prstGeom prst="rect">
            <a:avLst/>
          </a:prstGeom>
          <a:ln w="36990">
            <a:solidFill>
              <a:srgbClr val="C00000"/>
            </a:solidFill>
          </a:ln>
        </p:spPr>
        <p:txBody>
          <a:bodyPr vert="horz" wrap="square" lIns="0" tIns="32593" rIns="0" bIns="0" rtlCol="0">
            <a:spAutoFit/>
          </a:bodyPr>
          <a:lstStyle/>
          <a:p>
            <a:pPr marL="196000">
              <a:spcBef>
                <a:spcPts val="257"/>
              </a:spcBef>
            </a:pPr>
            <a:r>
              <a:rPr sz="1617" dirty="0">
                <a:latin typeface="Arial"/>
                <a:cs typeface="Arial"/>
              </a:rPr>
              <a:t>Increasing </a:t>
            </a:r>
            <a:r>
              <a:rPr sz="1617" i="1" dirty="0">
                <a:latin typeface="Arial"/>
                <a:cs typeface="Arial"/>
              </a:rPr>
              <a:t>n </a:t>
            </a:r>
            <a:r>
              <a:rPr sz="1617" dirty="0">
                <a:latin typeface="Arial"/>
                <a:cs typeface="Arial"/>
              </a:rPr>
              <a:t>makes model size huge!</a:t>
            </a:r>
            <a:endParaRPr sz="1617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96F01BB-0574-4C7F-8BD9-C7C5CB57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81AC395-68A1-45CA-A84D-0929D05B2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18" dirty="0">
                <a:latin typeface="HelveticaNeue-Light"/>
                <a:cs typeface="HelveticaNeue-Light"/>
              </a:rPr>
              <a:t>We</a:t>
            </a:r>
            <a:r>
              <a:rPr lang="en-US" sz="2800" dirty="0">
                <a:latin typeface="HelveticaNeue-Light"/>
                <a:cs typeface="HelveticaNeue-Light"/>
              </a:rPr>
              <a:t>	</a:t>
            </a:r>
            <a:r>
              <a:rPr lang="en-US" sz="2800" spc="-7" dirty="0">
                <a:latin typeface="HelveticaNeue-Light"/>
                <a:cs typeface="HelveticaNeue-Light"/>
              </a:rPr>
              <a:t>treat </a:t>
            </a:r>
            <a:r>
              <a:rPr lang="en-US" sz="2800" spc="-18" dirty="0">
                <a:latin typeface="HelveticaNeue-Light"/>
                <a:cs typeface="HelveticaNeue-Light"/>
              </a:rPr>
              <a:t>all </a:t>
            </a:r>
            <a:r>
              <a:rPr lang="en-US" sz="2800" spc="-7" dirty="0">
                <a:latin typeface="HelveticaNeue-Light"/>
                <a:cs typeface="HelveticaNeue-Light"/>
              </a:rPr>
              <a:t>words </a:t>
            </a:r>
            <a:r>
              <a:rPr lang="en-US" sz="2800" spc="-35" dirty="0">
                <a:latin typeface="HelveticaNeue-Light"/>
                <a:cs typeface="HelveticaNeue-Light"/>
              </a:rPr>
              <a:t>/ </a:t>
            </a:r>
            <a:r>
              <a:rPr lang="en-US" sz="2800" spc="-7" dirty="0">
                <a:latin typeface="HelveticaNeue-Light"/>
                <a:cs typeface="HelveticaNeue-Light"/>
              </a:rPr>
              <a:t>prefixes independently </a:t>
            </a:r>
            <a:r>
              <a:rPr lang="en-US" sz="2800" spc="-18" dirty="0">
                <a:latin typeface="HelveticaNeue-Light"/>
                <a:cs typeface="HelveticaNeue-Light"/>
              </a:rPr>
              <a:t>of </a:t>
            </a:r>
            <a:r>
              <a:rPr lang="en-US" sz="2800" spc="-14" dirty="0">
                <a:latin typeface="HelveticaNeue-Light"/>
                <a:cs typeface="HelveticaNeue-Light"/>
              </a:rPr>
              <a:t>each </a:t>
            </a:r>
            <a:r>
              <a:rPr lang="en-US" sz="2800" spc="-7" dirty="0">
                <a:latin typeface="HelveticaNeue-Light"/>
                <a:cs typeface="HelveticaNeue-Light"/>
              </a:rPr>
              <a:t>other!</a:t>
            </a:r>
          </a:p>
          <a:p>
            <a:pPr lvl="1"/>
            <a:r>
              <a:rPr lang="en-US" dirty="0">
                <a:latin typeface="HelveticaNeue-Light"/>
                <a:cs typeface="HelveticaNeue-Light"/>
              </a:rPr>
              <a:t>students  opened  their _______</a:t>
            </a:r>
          </a:p>
          <a:p>
            <a:pPr lvl="1"/>
            <a:r>
              <a:rPr lang="en-US" dirty="0">
                <a:latin typeface="HelveticaNeue-Light"/>
                <a:cs typeface="HelveticaNeue-Light"/>
              </a:rPr>
              <a:t>pupils opened their _______</a:t>
            </a:r>
          </a:p>
          <a:p>
            <a:pPr lvl="1"/>
            <a:r>
              <a:rPr lang="en-US" dirty="0">
                <a:latin typeface="HelveticaNeue-Light"/>
                <a:cs typeface="HelveticaNeue-Light"/>
              </a:rPr>
              <a:t>scholars opened their _______</a:t>
            </a:r>
          </a:p>
          <a:p>
            <a:pPr lvl="1"/>
            <a:r>
              <a:rPr lang="en-US" dirty="0">
                <a:latin typeface="HelveticaNeue-Light"/>
                <a:cs typeface="HelveticaNeue-Light"/>
              </a:rPr>
              <a:t>undergraduates opened their _______</a:t>
            </a:r>
          </a:p>
          <a:p>
            <a:pPr lvl="1"/>
            <a:r>
              <a:rPr lang="en-US" dirty="0">
                <a:latin typeface="HelveticaNeue-Light"/>
                <a:cs typeface="HelveticaNeue-Light"/>
              </a:rPr>
              <a:t>students turned the pages of their _______</a:t>
            </a:r>
          </a:p>
          <a:p>
            <a:pPr lvl="1"/>
            <a:r>
              <a:rPr lang="en-US" dirty="0">
                <a:latin typeface="HelveticaNeue-Light"/>
                <a:cs typeface="HelveticaNeue-Light"/>
              </a:rPr>
              <a:t>students attentively perused their _______</a:t>
            </a:r>
          </a:p>
          <a:p>
            <a:pPr lvl="1"/>
            <a:r>
              <a:rPr lang="en-US" dirty="0">
                <a:latin typeface="HelveticaNeue-Light"/>
                <a:cs typeface="HelveticaNeue-Light"/>
              </a:rPr>
              <a:t>…</a:t>
            </a:r>
          </a:p>
          <a:p>
            <a:endParaRPr lang="en-US" sz="2800" dirty="0">
              <a:latin typeface="HelveticaNeue-Light"/>
              <a:cs typeface="HelveticaNeue-Light"/>
            </a:endParaRPr>
          </a:p>
          <a:p>
            <a:endParaRPr lang="en-US" sz="2800" dirty="0">
              <a:latin typeface="HelveticaNeue-Light"/>
              <a:cs typeface="HelveticaNeue-Light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54952"/>
            <a:ext cx="11658601" cy="701514"/>
          </a:xfrm>
          <a:prstGeom prst="rect">
            <a:avLst/>
          </a:prstGeo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>
              <a:spcBef>
                <a:spcPts val="70"/>
              </a:spcBef>
              <a:tabLst>
                <a:tab pos="2114921" algn="l"/>
              </a:tabLst>
            </a:pPr>
            <a:r>
              <a:rPr lang="en-US" sz="4500" spc="-7" dirty="0">
                <a:solidFill>
                  <a:srgbClr val="000000"/>
                </a:solidFill>
                <a:latin typeface="Helvetica Neue"/>
                <a:cs typeface="Helvetica Neue"/>
              </a:rPr>
              <a:t>A</a:t>
            </a:r>
            <a:r>
              <a:rPr sz="4500" spc="-7" dirty="0">
                <a:solidFill>
                  <a:srgbClr val="000000"/>
                </a:solidFill>
                <a:latin typeface="Helvetica Neue"/>
                <a:cs typeface="Helvetica Neue"/>
              </a:rPr>
              <a:t>nother</a:t>
            </a:r>
            <a:r>
              <a:rPr sz="4500" dirty="0">
                <a:solidFill>
                  <a:srgbClr val="000000"/>
                </a:solidFill>
                <a:latin typeface="Helvetica Neue"/>
                <a:cs typeface="Helvetica Neue"/>
              </a:rPr>
              <a:t>	</a:t>
            </a:r>
            <a:r>
              <a:rPr sz="4500" spc="-7" dirty="0">
                <a:solidFill>
                  <a:srgbClr val="000000"/>
                </a:solidFill>
                <a:latin typeface="Helvetica Neue"/>
                <a:cs typeface="Helvetica Neue"/>
              </a:rPr>
              <a:t>issue</a:t>
            </a:r>
            <a:endParaRPr sz="4500" dirty="0">
              <a:latin typeface="Helvetica Neue"/>
              <a:cs typeface="Helvetica Neu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04224" y="3813342"/>
            <a:ext cx="3635276" cy="1414019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664" rIns="0" bIns="0" rtlCol="0">
            <a:spAutoFit/>
          </a:bodyPr>
          <a:lstStyle/>
          <a:p>
            <a:pPr marL="39289" marR="33932" algn="ctr">
              <a:lnSpc>
                <a:spcPct val="101600"/>
              </a:lnSpc>
              <a:spcBef>
                <a:spcPts val="186"/>
              </a:spcBef>
            </a:pPr>
            <a:r>
              <a:rPr sz="2250" dirty="0">
                <a:latin typeface="HelveticaNeue-Light"/>
                <a:cs typeface="HelveticaNeue-Light"/>
              </a:rPr>
              <a:t>Shouldn’t</a:t>
            </a:r>
            <a:r>
              <a:rPr sz="2250" spc="-21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we</a:t>
            </a:r>
            <a:r>
              <a:rPr sz="2250" spc="-21" dirty="0">
                <a:latin typeface="HelveticaNeue-Light"/>
                <a:cs typeface="HelveticaNeue-Light"/>
              </a:rPr>
              <a:t> </a:t>
            </a:r>
            <a:r>
              <a:rPr sz="2250" i="1" spc="-7" dirty="0">
                <a:latin typeface="HelveticaNeue-LightItalic"/>
                <a:cs typeface="HelveticaNeue-LightItalic"/>
              </a:rPr>
              <a:t>share </a:t>
            </a:r>
            <a:r>
              <a:rPr sz="2250" i="1" dirty="0">
                <a:latin typeface="HelveticaNeue-LightItalic"/>
                <a:cs typeface="HelveticaNeue-LightItalic"/>
              </a:rPr>
              <a:t>information</a:t>
            </a:r>
            <a:r>
              <a:rPr sz="2250" i="1" spc="-21" dirty="0">
                <a:latin typeface="HelveticaNeue-LightItalic"/>
                <a:cs typeface="HelveticaNeue-LightItalic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across</a:t>
            </a:r>
            <a:r>
              <a:rPr sz="2250" spc="-21" dirty="0">
                <a:latin typeface="HelveticaNeue-Light"/>
                <a:cs typeface="HelveticaNeue-Light"/>
              </a:rPr>
              <a:t> </a:t>
            </a:r>
            <a:r>
              <a:rPr sz="2250" spc="-7" dirty="0">
                <a:latin typeface="HelveticaNeue-Light"/>
                <a:cs typeface="HelveticaNeue-Light"/>
              </a:rPr>
              <a:t>these </a:t>
            </a:r>
            <a:r>
              <a:rPr sz="2250" dirty="0">
                <a:latin typeface="HelveticaNeue-Light"/>
                <a:cs typeface="HelveticaNeue-Light"/>
              </a:rPr>
              <a:t>semantically-similar </a:t>
            </a:r>
            <a:r>
              <a:rPr sz="2250" spc="-7" dirty="0">
                <a:latin typeface="HelveticaNeue-Light"/>
                <a:cs typeface="HelveticaNeue-Light"/>
              </a:rPr>
              <a:t>prefixes?</a:t>
            </a:r>
            <a:endParaRPr sz="2250" dirty="0">
              <a:latin typeface="HelveticaNeue-Light"/>
              <a:cs typeface="HelveticaNeue-Light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068ECF-C21C-45E3-B8FA-24BA6AE6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3A9A866-870B-4F51-AC24-B105C920C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0" cy="2214974"/>
          </a:xfrm>
        </p:spPr>
        <p:txBody>
          <a:bodyPr/>
          <a:lstStyle/>
          <a:p>
            <a:r>
              <a:rPr lang="en-US" dirty="0"/>
              <a:t>n-gram models rely on the “bag-of-words” assumption</a:t>
            </a:r>
          </a:p>
          <a:p>
            <a:r>
              <a:rPr lang="en-US" dirty="0"/>
              <a:t>represent each word/n-gram as a vector  of zeros with a single 1 identifying its  index in the vocabulary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93334"/>
            <a:ext cx="11658600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One-hot Vectors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14925" y="3087455"/>
            <a:ext cx="3371850" cy="895742"/>
          </a:xfrm>
          <a:prstGeom prst="rect">
            <a:avLst/>
          </a:prstGeom>
        </p:spPr>
        <p:txBody>
          <a:bodyPr vert="horz" wrap="square" lIns="0" tIns="82153" rIns="0" bIns="0" rtlCol="0">
            <a:spAutoFit/>
          </a:bodyPr>
          <a:lstStyle/>
          <a:p>
            <a:pPr marL="8929">
              <a:spcBef>
                <a:spcPts val="647"/>
              </a:spcBef>
            </a:pPr>
            <a:r>
              <a:rPr sz="2391" dirty="0">
                <a:solidFill>
                  <a:srgbClr val="C82506"/>
                </a:solidFill>
                <a:latin typeface="HelveticaNeue-Light"/>
                <a:cs typeface="HelveticaNeue-Light"/>
              </a:rPr>
              <a:t>movie</a:t>
            </a:r>
            <a:r>
              <a:rPr sz="2391" spc="-7" dirty="0">
                <a:solidFill>
                  <a:srgbClr val="C82506"/>
                </a:solidFill>
                <a:latin typeface="HelveticaNeue-Light"/>
                <a:cs typeface="HelveticaNeue-Light"/>
              </a:rPr>
              <a:t> </a:t>
            </a:r>
            <a:r>
              <a:rPr sz="2391" dirty="0">
                <a:solidFill>
                  <a:srgbClr val="C82506"/>
                </a:solidFill>
                <a:latin typeface="HelveticaNeue-Light"/>
                <a:cs typeface="HelveticaNeue-Light"/>
              </a:rPr>
              <a:t>= &lt;0, 0, 0, 0, 1, </a:t>
            </a:r>
            <a:r>
              <a:rPr sz="2391" spc="-18" dirty="0">
                <a:solidFill>
                  <a:srgbClr val="C82506"/>
                </a:solidFill>
                <a:latin typeface="HelveticaNeue-Light"/>
                <a:cs typeface="HelveticaNeue-Light"/>
              </a:rPr>
              <a:t>0&gt;</a:t>
            </a:r>
            <a:endParaRPr sz="2391" dirty="0">
              <a:latin typeface="HelveticaNeue-Light"/>
              <a:cs typeface="HelveticaNeue-Light"/>
            </a:endParaRPr>
          </a:p>
          <a:p>
            <a:pPr marL="8929">
              <a:spcBef>
                <a:spcPts val="577"/>
              </a:spcBef>
              <a:tabLst>
                <a:tab pos="874632" algn="l"/>
              </a:tabLst>
            </a:pPr>
            <a:r>
              <a:rPr sz="2391" spc="-14" dirty="0">
                <a:solidFill>
                  <a:srgbClr val="C82506"/>
                </a:solidFill>
                <a:latin typeface="HelveticaNeue-Light"/>
                <a:cs typeface="HelveticaNeue-Light"/>
              </a:rPr>
              <a:t>film</a:t>
            </a:r>
            <a:r>
              <a:rPr sz="2391" dirty="0">
                <a:solidFill>
                  <a:srgbClr val="C82506"/>
                </a:solidFill>
                <a:latin typeface="HelveticaNeue-Light"/>
                <a:cs typeface="HelveticaNeue-Light"/>
              </a:rPr>
              <a:t>	=</a:t>
            </a:r>
            <a:r>
              <a:rPr sz="2391" spc="-7" dirty="0">
                <a:solidFill>
                  <a:srgbClr val="C82506"/>
                </a:solidFill>
                <a:latin typeface="HelveticaNeue-Light"/>
                <a:cs typeface="HelveticaNeue-Light"/>
              </a:rPr>
              <a:t> </a:t>
            </a:r>
            <a:r>
              <a:rPr sz="2391" dirty="0">
                <a:solidFill>
                  <a:srgbClr val="C82506"/>
                </a:solidFill>
                <a:latin typeface="HelveticaNeue-Light"/>
                <a:cs typeface="HelveticaNeue-Light"/>
              </a:rPr>
              <a:t>&lt;0, 0, 0, 0, 0, </a:t>
            </a:r>
            <a:r>
              <a:rPr sz="2391" spc="-25" dirty="0">
                <a:solidFill>
                  <a:srgbClr val="C82506"/>
                </a:solidFill>
                <a:latin typeface="HelveticaNeue-Light"/>
                <a:cs typeface="HelveticaNeue-Light"/>
              </a:rPr>
              <a:t>1&gt;</a:t>
            </a:r>
            <a:endParaRPr sz="2391" dirty="0">
              <a:latin typeface="HelveticaNeue-Light"/>
              <a:cs typeface="HelveticaNeue-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9634" y="3258770"/>
            <a:ext cx="1243905" cy="29031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828" b="1" spc="-7" dirty="0">
                <a:latin typeface="Helvetica"/>
                <a:cs typeface="Helvetica"/>
              </a:rPr>
              <a:t>vocabulary</a:t>
            </a:r>
            <a:endParaRPr sz="1828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95596" y="3603548"/>
            <a:ext cx="2611934" cy="326379"/>
          </a:xfrm>
          <a:prstGeom prst="rect">
            <a:avLst/>
          </a:prstGeom>
          <a:solidFill>
            <a:srgbClr val="E3E5E8"/>
          </a:solidFill>
        </p:spPr>
        <p:txBody>
          <a:bodyPr vert="horz" wrap="square" lIns="0" tIns="44648" rIns="0" bIns="0" rtlCol="0">
            <a:spAutoFit/>
          </a:bodyPr>
          <a:lstStyle/>
          <a:p>
            <a:pPr algn="ctr">
              <a:spcBef>
                <a:spcPts val="352"/>
              </a:spcBef>
            </a:pPr>
            <a:r>
              <a:rPr sz="1828" dirty="0">
                <a:latin typeface="Helvetica-Light"/>
                <a:cs typeface="Helvetica-Light"/>
              </a:rPr>
              <a:t>i</a:t>
            </a:r>
            <a:endParaRPr sz="1828">
              <a:latin typeface="Helvetica-Light"/>
              <a:cs typeface="Helvetica-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6696" y="4020127"/>
            <a:ext cx="469702" cy="29031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828" spc="-14" dirty="0">
                <a:latin typeface="Helvetica-Light"/>
                <a:cs typeface="Helvetica-Light"/>
              </a:rPr>
              <a:t>hate</a:t>
            </a:r>
            <a:endParaRPr sz="1828">
              <a:latin typeface="Helvetica-Light"/>
              <a:cs typeface="Helvetica-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5596" y="4364909"/>
            <a:ext cx="2611934" cy="326379"/>
          </a:xfrm>
          <a:prstGeom prst="rect">
            <a:avLst/>
          </a:prstGeom>
          <a:solidFill>
            <a:srgbClr val="E3E5E8"/>
          </a:solidFill>
        </p:spPr>
        <p:txBody>
          <a:bodyPr vert="horz" wrap="square" lIns="0" tIns="44648" rIns="0" bIns="0" rtlCol="0">
            <a:spAutoFit/>
          </a:bodyPr>
          <a:lstStyle/>
          <a:p>
            <a:pPr algn="ctr">
              <a:spcBef>
                <a:spcPts val="352"/>
              </a:spcBef>
            </a:pPr>
            <a:r>
              <a:rPr sz="1828" spc="-14" dirty="0">
                <a:latin typeface="Helvetica-Light"/>
                <a:cs typeface="Helvetica-Light"/>
              </a:rPr>
              <a:t>love</a:t>
            </a:r>
            <a:endParaRPr sz="1828">
              <a:latin typeface="Helvetica-Light"/>
              <a:cs typeface="Helvetica-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1240" y="4781489"/>
            <a:ext cx="340668" cy="29031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828" spc="-18" dirty="0">
                <a:latin typeface="Helvetica-Light"/>
                <a:cs typeface="Helvetica-Light"/>
              </a:rPr>
              <a:t>the</a:t>
            </a:r>
            <a:endParaRPr sz="1828">
              <a:latin typeface="Helvetica-Light"/>
              <a:cs typeface="Helvetica-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95596" y="5126270"/>
            <a:ext cx="2611934" cy="326379"/>
          </a:xfrm>
          <a:prstGeom prst="rect">
            <a:avLst/>
          </a:prstGeom>
          <a:solidFill>
            <a:srgbClr val="E3E5E8"/>
          </a:solidFill>
        </p:spPr>
        <p:txBody>
          <a:bodyPr vert="horz" wrap="square" lIns="0" tIns="44648" rIns="0" bIns="0" rtlCol="0">
            <a:spAutoFit/>
          </a:bodyPr>
          <a:lstStyle/>
          <a:p>
            <a:pPr algn="ctr">
              <a:spcBef>
                <a:spcPts val="352"/>
              </a:spcBef>
            </a:pPr>
            <a:r>
              <a:rPr sz="1828" spc="-14" dirty="0">
                <a:latin typeface="Helvetica-Light"/>
                <a:cs typeface="Helvetica-Light"/>
              </a:rPr>
              <a:t>movie</a:t>
            </a:r>
            <a:endParaRPr sz="1828">
              <a:latin typeface="Helvetica-Light"/>
              <a:cs typeface="Helvetica-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12087" y="5542849"/>
            <a:ext cx="379065" cy="29031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828" spc="-14" dirty="0">
                <a:latin typeface="Helvetica-Light"/>
                <a:cs typeface="Helvetica-Light"/>
              </a:rPr>
              <a:t>film</a:t>
            </a:r>
            <a:endParaRPr sz="1828">
              <a:latin typeface="Helvetica-Light"/>
              <a:cs typeface="Helvetica-Ligh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D3760E-53CF-45C0-B84A-638D71652DAF}"/>
              </a:ext>
            </a:extLst>
          </p:cNvPr>
          <p:cNvSpPr txBox="1"/>
          <p:nvPr/>
        </p:nvSpPr>
        <p:spPr>
          <a:xfrm>
            <a:off x="6511163" y="4338746"/>
            <a:ext cx="3179373" cy="1575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1180" marR="486651" algn="ctr">
              <a:lnSpc>
                <a:spcPct val="101899"/>
              </a:lnSpc>
              <a:tabLst>
                <a:tab pos="562550" algn="l"/>
                <a:tab pos="973301" algn="l"/>
                <a:tab pos="997411" algn="l"/>
                <a:tab pos="1492098" algn="l"/>
                <a:tab pos="1568890" algn="l"/>
                <a:tab pos="2015805" algn="l"/>
                <a:tab pos="2361372" algn="l"/>
              </a:tabLst>
            </a:pPr>
            <a:r>
              <a:rPr lang="en-US" sz="2400" spc="-14" dirty="0">
                <a:latin typeface="HelveticaNeue-Light"/>
                <a:cs typeface="HelveticaNeue-Light"/>
              </a:rPr>
              <a:t>what</a:t>
            </a:r>
            <a:r>
              <a:rPr lang="en-US" sz="2400" dirty="0">
                <a:latin typeface="HelveticaNeue-Light"/>
                <a:cs typeface="HelveticaNeue-Light"/>
              </a:rPr>
              <a:t>	</a:t>
            </a:r>
            <a:r>
              <a:rPr lang="en-US" sz="2400" spc="-18" dirty="0">
                <a:latin typeface="HelveticaNeue-Light"/>
                <a:cs typeface="HelveticaNeue-Light"/>
              </a:rPr>
              <a:t>are</a:t>
            </a:r>
            <a:r>
              <a:rPr lang="en-US" sz="2400" dirty="0">
                <a:latin typeface="HelveticaNeue-Light"/>
                <a:cs typeface="HelveticaNeue-Light"/>
              </a:rPr>
              <a:t>	</a:t>
            </a:r>
            <a:r>
              <a:rPr lang="en-US" sz="2400" spc="-18" dirty="0">
                <a:latin typeface="HelveticaNeue-Light"/>
                <a:cs typeface="HelveticaNeue-Light"/>
              </a:rPr>
              <a:t>the</a:t>
            </a:r>
            <a:r>
              <a:rPr lang="en-US" sz="2400" dirty="0">
                <a:latin typeface="HelveticaNeue-Light"/>
                <a:cs typeface="HelveticaNeue-Light"/>
              </a:rPr>
              <a:t>	</a:t>
            </a:r>
            <a:r>
              <a:rPr lang="en-US" sz="2400" spc="-7" dirty="0">
                <a:latin typeface="HelveticaNeue-Light"/>
                <a:cs typeface="HelveticaNeue-Light"/>
              </a:rPr>
              <a:t>issues </a:t>
            </a:r>
            <a:r>
              <a:rPr lang="en-US" sz="2400" spc="-18" dirty="0">
                <a:latin typeface="HelveticaNeue-Light"/>
                <a:cs typeface="HelveticaNeue-Light"/>
              </a:rPr>
              <a:t>of</a:t>
            </a:r>
            <a:r>
              <a:rPr lang="en-US" sz="2400" dirty="0">
                <a:latin typeface="HelveticaNeue-Light"/>
                <a:cs typeface="HelveticaNeue-Light"/>
              </a:rPr>
              <a:t>	</a:t>
            </a:r>
            <a:r>
              <a:rPr lang="en-US" sz="2400" spc="-7" dirty="0">
                <a:latin typeface="HelveticaNeue-Light"/>
                <a:cs typeface="HelveticaNeue-Light"/>
              </a:rPr>
              <a:t>representing </a:t>
            </a:r>
            <a:r>
              <a:rPr lang="en-US" sz="2400" spc="-35" dirty="0">
                <a:latin typeface="HelveticaNeue-Light"/>
                <a:cs typeface="HelveticaNeue-Light"/>
              </a:rPr>
              <a:t>a </a:t>
            </a:r>
            <a:r>
              <a:rPr lang="en-US" sz="2400" spc="-14" dirty="0">
                <a:latin typeface="HelveticaNeue-Light"/>
                <a:cs typeface="HelveticaNeue-Light"/>
              </a:rPr>
              <a:t>word</a:t>
            </a:r>
            <a:r>
              <a:rPr lang="en-US" sz="2400" dirty="0">
                <a:latin typeface="HelveticaNeue-Light"/>
                <a:cs typeface="HelveticaNeue-Light"/>
              </a:rPr>
              <a:t>		</a:t>
            </a:r>
            <a:r>
              <a:rPr lang="en-US" sz="2400" spc="-14" dirty="0">
                <a:latin typeface="HelveticaNeue-Light"/>
                <a:cs typeface="HelveticaNeue-Light"/>
              </a:rPr>
              <a:t>this</a:t>
            </a:r>
            <a:r>
              <a:rPr lang="en-US" sz="2400" dirty="0">
                <a:latin typeface="HelveticaNeue-Light"/>
                <a:cs typeface="HelveticaNeue-Light"/>
              </a:rPr>
              <a:t>		</a:t>
            </a:r>
            <a:r>
              <a:rPr lang="en-US" sz="2400" spc="-14" dirty="0">
                <a:latin typeface="HelveticaNeue-Light"/>
                <a:cs typeface="HelveticaNeue-Light"/>
              </a:rPr>
              <a:t>way?</a:t>
            </a:r>
            <a:endParaRPr lang="en-US" sz="2400" dirty="0">
              <a:latin typeface="HelveticaNeue-Light"/>
              <a:cs typeface="HelveticaNeue-Ligh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19A7E5B-A7E4-49DF-A6DD-9D9790F0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E76FBF-61FA-4A52-BBCE-9A2C63B89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92815"/>
            <a:ext cx="11658601" cy="625789"/>
          </a:xfrm>
          <a:prstGeom prst="rect">
            <a:avLst/>
          </a:prstGeo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>
              <a:spcBef>
                <a:spcPts val="70"/>
              </a:spcBef>
              <a:tabLst>
                <a:tab pos="602732" algn="l"/>
                <a:tab pos="2092598" algn="l"/>
                <a:tab pos="2913207" algn="l"/>
                <a:tab pos="4572730" algn="l"/>
              </a:tabLst>
            </a:pPr>
            <a:r>
              <a:rPr lang="en-US" sz="4008" spc="-18" dirty="0">
                <a:solidFill>
                  <a:srgbClr val="000000"/>
                </a:solidFill>
              </a:rPr>
              <a:t>All words are equally (dis)similar!</a:t>
            </a:r>
            <a:endParaRPr sz="4008" dirty="0"/>
          </a:p>
        </p:txBody>
      </p:sp>
      <p:sp>
        <p:nvSpPr>
          <p:cNvPr id="3" name="object 3"/>
          <p:cNvSpPr txBox="1"/>
          <p:nvPr/>
        </p:nvSpPr>
        <p:spPr>
          <a:xfrm>
            <a:off x="2463625" y="1584754"/>
            <a:ext cx="7264747" cy="3974341"/>
          </a:xfrm>
          <a:prstGeom prst="rect">
            <a:avLst/>
          </a:prstGeom>
        </p:spPr>
        <p:txBody>
          <a:bodyPr vert="horz" wrap="square" lIns="0" tIns="82152" rIns="0" bIns="0" rtlCol="0">
            <a:spAutoFit/>
          </a:bodyPr>
          <a:lstStyle/>
          <a:p>
            <a:pPr marL="1812662">
              <a:spcBef>
                <a:spcPts val="646"/>
              </a:spcBef>
            </a:pPr>
            <a:r>
              <a:rPr sz="2391" dirty="0">
                <a:solidFill>
                  <a:srgbClr val="C82506"/>
                </a:solidFill>
                <a:latin typeface="HelveticaNeue-Light"/>
                <a:cs typeface="HelveticaNeue-Light"/>
              </a:rPr>
              <a:t>movie</a:t>
            </a:r>
            <a:r>
              <a:rPr sz="2391" spc="-7" dirty="0">
                <a:solidFill>
                  <a:srgbClr val="C82506"/>
                </a:solidFill>
                <a:latin typeface="HelveticaNeue-Light"/>
                <a:cs typeface="HelveticaNeue-Light"/>
              </a:rPr>
              <a:t> </a:t>
            </a:r>
            <a:r>
              <a:rPr sz="2391" dirty="0">
                <a:solidFill>
                  <a:srgbClr val="C82506"/>
                </a:solidFill>
                <a:latin typeface="HelveticaNeue-Light"/>
                <a:cs typeface="HelveticaNeue-Light"/>
              </a:rPr>
              <a:t>= &lt;0, 0, 0, 0, 1, </a:t>
            </a:r>
            <a:r>
              <a:rPr sz="2391" spc="-18" dirty="0">
                <a:solidFill>
                  <a:srgbClr val="C82506"/>
                </a:solidFill>
                <a:latin typeface="HelveticaNeue-Light"/>
                <a:cs typeface="HelveticaNeue-Light"/>
              </a:rPr>
              <a:t>0&gt;</a:t>
            </a:r>
            <a:endParaRPr sz="2391" dirty="0">
              <a:latin typeface="HelveticaNeue-Light"/>
              <a:cs typeface="HelveticaNeue-Light"/>
            </a:endParaRPr>
          </a:p>
          <a:p>
            <a:pPr marL="1812662">
              <a:spcBef>
                <a:spcPts val="576"/>
              </a:spcBef>
              <a:tabLst>
                <a:tab pos="2678365" algn="l"/>
              </a:tabLst>
            </a:pPr>
            <a:r>
              <a:rPr sz="2391" spc="-14" dirty="0">
                <a:solidFill>
                  <a:srgbClr val="C82506"/>
                </a:solidFill>
                <a:latin typeface="HelveticaNeue-Light"/>
                <a:cs typeface="HelveticaNeue-Light"/>
              </a:rPr>
              <a:t>film</a:t>
            </a:r>
            <a:r>
              <a:rPr sz="2391" dirty="0">
                <a:solidFill>
                  <a:srgbClr val="C82506"/>
                </a:solidFill>
                <a:latin typeface="HelveticaNeue-Light"/>
                <a:cs typeface="HelveticaNeue-Light"/>
              </a:rPr>
              <a:t>	=</a:t>
            </a:r>
            <a:r>
              <a:rPr sz="2391" spc="-7" dirty="0">
                <a:solidFill>
                  <a:srgbClr val="C82506"/>
                </a:solidFill>
                <a:latin typeface="HelveticaNeue-Light"/>
                <a:cs typeface="HelveticaNeue-Light"/>
              </a:rPr>
              <a:t> </a:t>
            </a:r>
            <a:r>
              <a:rPr sz="2391" dirty="0">
                <a:solidFill>
                  <a:srgbClr val="C82506"/>
                </a:solidFill>
                <a:latin typeface="HelveticaNeue-Light"/>
                <a:cs typeface="HelveticaNeue-Light"/>
              </a:rPr>
              <a:t>&lt;0, 0, 0, 0, 0, </a:t>
            </a:r>
            <a:r>
              <a:rPr sz="2391" spc="-25" dirty="0">
                <a:solidFill>
                  <a:srgbClr val="C82506"/>
                </a:solidFill>
                <a:latin typeface="HelveticaNeue-Light"/>
                <a:cs typeface="HelveticaNeue-Light"/>
              </a:rPr>
              <a:t>1&gt;</a:t>
            </a:r>
            <a:endParaRPr sz="2391" dirty="0">
              <a:latin typeface="HelveticaNeue-Light"/>
              <a:cs typeface="HelveticaNeue-Light"/>
            </a:endParaRPr>
          </a:p>
          <a:p>
            <a:pPr marL="1812662">
              <a:spcBef>
                <a:spcPts val="1336"/>
              </a:spcBef>
            </a:pPr>
            <a:r>
              <a:rPr sz="2391" dirty="0">
                <a:latin typeface="HelveticaNeue-Light"/>
                <a:cs typeface="HelveticaNeue-Light"/>
              </a:rPr>
              <a:t>dot</a:t>
            </a:r>
            <a:r>
              <a:rPr sz="2391" spc="-25" dirty="0">
                <a:latin typeface="HelveticaNeue-Light"/>
                <a:cs typeface="HelveticaNeue-Light"/>
              </a:rPr>
              <a:t> </a:t>
            </a:r>
            <a:r>
              <a:rPr sz="2391" dirty="0">
                <a:latin typeface="HelveticaNeue-Light"/>
                <a:cs typeface="HelveticaNeue-Light"/>
              </a:rPr>
              <a:t>product</a:t>
            </a:r>
            <a:r>
              <a:rPr sz="2391" spc="-14" dirty="0">
                <a:latin typeface="HelveticaNeue-Light"/>
                <a:cs typeface="HelveticaNeue-Light"/>
              </a:rPr>
              <a:t> </a:t>
            </a:r>
            <a:r>
              <a:rPr sz="2391" dirty="0">
                <a:latin typeface="HelveticaNeue-Light"/>
                <a:cs typeface="HelveticaNeue-Light"/>
              </a:rPr>
              <a:t>is</a:t>
            </a:r>
            <a:r>
              <a:rPr sz="2391" spc="-14" dirty="0">
                <a:latin typeface="HelveticaNeue-Light"/>
                <a:cs typeface="HelveticaNeue-Light"/>
              </a:rPr>
              <a:t> zero!</a:t>
            </a:r>
            <a:endParaRPr sz="2391" dirty="0">
              <a:latin typeface="HelveticaNeue-Light"/>
              <a:cs typeface="HelveticaNeue-Light"/>
            </a:endParaRPr>
          </a:p>
          <a:p>
            <a:pPr marL="1812662">
              <a:spcBef>
                <a:spcPts val="576"/>
              </a:spcBef>
            </a:pPr>
            <a:r>
              <a:rPr sz="2391" dirty="0">
                <a:latin typeface="HelveticaNeue-Light"/>
                <a:cs typeface="HelveticaNeue-Light"/>
              </a:rPr>
              <a:t>these</a:t>
            </a:r>
            <a:r>
              <a:rPr sz="2391" spc="-18" dirty="0">
                <a:latin typeface="HelveticaNeue-Light"/>
                <a:cs typeface="HelveticaNeue-Light"/>
              </a:rPr>
              <a:t> </a:t>
            </a:r>
            <a:r>
              <a:rPr sz="2391" dirty="0">
                <a:latin typeface="HelveticaNeue-Light"/>
                <a:cs typeface="HelveticaNeue-Light"/>
              </a:rPr>
              <a:t>vectors</a:t>
            </a:r>
            <a:r>
              <a:rPr sz="2391" spc="-14" dirty="0">
                <a:latin typeface="HelveticaNeue-Light"/>
                <a:cs typeface="HelveticaNeue-Light"/>
              </a:rPr>
              <a:t> </a:t>
            </a:r>
            <a:r>
              <a:rPr sz="2391" dirty="0">
                <a:latin typeface="HelveticaNeue-Light"/>
                <a:cs typeface="HelveticaNeue-Light"/>
              </a:rPr>
              <a:t>are</a:t>
            </a:r>
            <a:r>
              <a:rPr sz="2391" spc="-14" dirty="0">
                <a:latin typeface="HelveticaNeue-Light"/>
                <a:cs typeface="HelveticaNeue-Light"/>
              </a:rPr>
              <a:t> </a:t>
            </a:r>
            <a:r>
              <a:rPr sz="2391" spc="-7" dirty="0">
                <a:latin typeface="Helvetica Neue"/>
                <a:cs typeface="Helvetica Neue"/>
              </a:rPr>
              <a:t>orthogonal</a:t>
            </a:r>
            <a:endParaRPr sz="2391" dirty="0">
              <a:latin typeface="Helvetica Neue"/>
              <a:cs typeface="Helvetica Neue"/>
            </a:endParaRPr>
          </a:p>
          <a:p>
            <a:pPr>
              <a:spcBef>
                <a:spcPts val="7"/>
              </a:spcBef>
            </a:pPr>
            <a:endParaRPr sz="3480" dirty="0">
              <a:latin typeface="Helvetica Neue"/>
              <a:cs typeface="Helvetica Neue"/>
            </a:endParaRPr>
          </a:p>
          <a:p>
            <a:pPr marL="8929" marR="3572" algn="ctr">
              <a:lnSpc>
                <a:spcPct val="101899"/>
              </a:lnSpc>
              <a:tabLst>
                <a:tab pos="824181" algn="l"/>
                <a:tab pos="967051" algn="l"/>
                <a:tab pos="1038932" algn="l"/>
                <a:tab pos="1318421" algn="l"/>
                <a:tab pos="1615770" algn="l"/>
                <a:tab pos="2080990" algn="l"/>
                <a:tab pos="2318957" algn="l"/>
                <a:tab pos="2360479" algn="l"/>
                <a:tab pos="2384142" algn="l"/>
                <a:tab pos="2640415" algn="l"/>
                <a:tab pos="3318600" algn="l"/>
                <a:tab pos="3825342" algn="l"/>
                <a:tab pos="4432986" algn="l"/>
                <a:tab pos="4700867" algn="l"/>
                <a:tab pos="5051791" algn="l"/>
                <a:tab pos="5570587" algn="l"/>
                <a:tab pos="5629968" algn="l"/>
                <a:tab pos="5951425" algn="l"/>
              </a:tabLst>
            </a:pPr>
            <a:r>
              <a:rPr sz="2531" spc="-14" dirty="0">
                <a:latin typeface="HelveticaNeue-Light"/>
                <a:cs typeface="HelveticaNeue-Light"/>
              </a:rPr>
              <a:t>What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18" dirty="0">
                <a:latin typeface="HelveticaNeue-Light"/>
                <a:cs typeface="HelveticaNeue-Light"/>
              </a:rPr>
              <a:t>we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14" dirty="0">
                <a:latin typeface="HelveticaNeue-Light"/>
                <a:cs typeface="HelveticaNeue-Light"/>
              </a:rPr>
              <a:t>want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18" dirty="0">
                <a:latin typeface="HelveticaNeue-Light"/>
                <a:cs typeface="HelveticaNeue-Light"/>
              </a:rPr>
              <a:t>is</a:t>
            </a:r>
            <a:r>
              <a:rPr sz="2531" dirty="0">
                <a:latin typeface="HelveticaNeue-Light"/>
                <a:cs typeface="HelveticaNeue-Light"/>
              </a:rPr>
              <a:t>			</a:t>
            </a:r>
            <a:r>
              <a:rPr sz="2531" spc="-35" dirty="0">
                <a:latin typeface="HelveticaNeue-Light"/>
                <a:cs typeface="HelveticaNeue-Light"/>
              </a:rPr>
              <a:t>a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7" dirty="0">
                <a:latin typeface="HelveticaNeue-Light"/>
                <a:cs typeface="HelveticaNeue-Light"/>
              </a:rPr>
              <a:t>representation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7" dirty="0">
                <a:latin typeface="HelveticaNeue-Light"/>
                <a:cs typeface="HelveticaNeue-Light"/>
              </a:rPr>
              <a:t>space</a:t>
            </a:r>
            <a:r>
              <a:rPr sz="2531" dirty="0">
                <a:latin typeface="HelveticaNeue-Light"/>
                <a:cs typeface="HelveticaNeue-Light"/>
              </a:rPr>
              <a:t>		</a:t>
            </a:r>
            <a:r>
              <a:rPr sz="2531" spc="-18" dirty="0">
                <a:latin typeface="HelveticaNeue-Light"/>
                <a:cs typeface="HelveticaNeue-Light"/>
              </a:rPr>
              <a:t>in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7" dirty="0">
                <a:latin typeface="HelveticaNeue-Light"/>
                <a:cs typeface="HelveticaNeue-Light"/>
              </a:rPr>
              <a:t>which words,</a:t>
            </a:r>
            <a:r>
              <a:rPr sz="2531" dirty="0">
                <a:latin typeface="HelveticaNeue-Light"/>
                <a:cs typeface="HelveticaNeue-Light"/>
              </a:rPr>
              <a:t>		</a:t>
            </a:r>
            <a:r>
              <a:rPr sz="2531" spc="-7" dirty="0">
                <a:latin typeface="HelveticaNeue-Light"/>
                <a:cs typeface="HelveticaNeue-Light"/>
              </a:rPr>
              <a:t>phrases,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7" dirty="0">
                <a:latin typeface="HelveticaNeue-Light"/>
                <a:cs typeface="HelveticaNeue-Light"/>
              </a:rPr>
              <a:t>sentences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14" dirty="0">
                <a:latin typeface="HelveticaNeue-Light"/>
                <a:cs typeface="HelveticaNeue-Light"/>
              </a:rPr>
              <a:t>etc.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14" dirty="0">
                <a:latin typeface="HelveticaNeue-Light"/>
                <a:cs typeface="HelveticaNeue-Light"/>
              </a:rPr>
              <a:t>that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18" dirty="0">
                <a:latin typeface="HelveticaNeue-Light"/>
                <a:cs typeface="HelveticaNeue-Light"/>
              </a:rPr>
              <a:t>are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7" dirty="0">
                <a:latin typeface="HelveticaNeue-Light"/>
                <a:cs typeface="HelveticaNeue-Light"/>
              </a:rPr>
              <a:t>semantically similar</a:t>
            </a:r>
            <a:r>
              <a:rPr lang="en-US" sz="2531" spc="-7" dirty="0">
                <a:latin typeface="HelveticaNeue-Light"/>
                <a:cs typeface="HelveticaNeue-Light"/>
              </a:rPr>
              <a:t> </a:t>
            </a:r>
            <a:r>
              <a:rPr sz="2531" spc="-14" dirty="0">
                <a:latin typeface="HelveticaNeue-Light"/>
                <a:cs typeface="HelveticaNeue-Light"/>
              </a:rPr>
              <a:t>also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14" dirty="0">
                <a:latin typeface="HelveticaNeue-Light"/>
                <a:cs typeface="HelveticaNeue-Light"/>
              </a:rPr>
              <a:t>have</a:t>
            </a:r>
            <a:r>
              <a:rPr lang="en-US" sz="2531" spc="-14" dirty="0">
                <a:latin typeface="HelveticaNeue-Light"/>
                <a:cs typeface="HelveticaNeue-Light"/>
              </a:rPr>
              <a:t> </a:t>
            </a:r>
            <a:r>
              <a:rPr sz="2531" spc="-7" dirty="0">
                <a:latin typeface="HelveticaNeue-Light"/>
                <a:cs typeface="HelveticaNeue-Light"/>
              </a:rPr>
              <a:t>similar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7" dirty="0">
                <a:latin typeface="HelveticaNeue-Light"/>
                <a:cs typeface="HelveticaNeue-Light"/>
              </a:rPr>
              <a:t>representations!</a:t>
            </a:r>
            <a:endParaRPr sz="2531" dirty="0">
              <a:latin typeface="HelveticaNeue-Light"/>
              <a:cs typeface="HelveticaNeue-Ligh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F55A7-0E8D-4B07-AE1C-12D349CB0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17512" y="1540625"/>
            <a:ext cx="3556976" cy="42022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  <a:tabLst>
                <a:tab pos="1416198" algn="l"/>
                <a:tab pos="2623002" algn="l"/>
              </a:tabLst>
            </a:pPr>
            <a:r>
              <a:rPr sz="2672" spc="-7" dirty="0">
                <a:latin typeface="HelveticaNeue-Light"/>
                <a:cs typeface="HelveticaNeue-Light"/>
              </a:rPr>
              <a:t>Students</a:t>
            </a:r>
            <a:r>
              <a:rPr sz="2672" dirty="0">
                <a:latin typeface="HelveticaNeue-Light"/>
                <a:cs typeface="HelveticaNeue-Light"/>
              </a:rPr>
              <a:t>	</a:t>
            </a:r>
            <a:r>
              <a:rPr sz="2672" spc="-7" dirty="0">
                <a:latin typeface="HelveticaNeue-Light"/>
                <a:cs typeface="HelveticaNeue-Light"/>
              </a:rPr>
              <a:t>opened</a:t>
            </a:r>
            <a:r>
              <a:rPr sz="2672" dirty="0">
                <a:latin typeface="HelveticaNeue-Light"/>
                <a:cs typeface="HelveticaNeue-Light"/>
              </a:rPr>
              <a:t>	</a:t>
            </a:r>
            <a:r>
              <a:rPr sz="2672" spc="-7" dirty="0">
                <a:latin typeface="HelveticaNeue-Light"/>
                <a:cs typeface="HelveticaNeue-Light"/>
              </a:rPr>
              <a:t>their</a:t>
            </a:r>
            <a:endParaRPr sz="2672" dirty="0">
              <a:latin typeface="HelveticaNeue-Light"/>
              <a:cs typeface="HelveticaNeue-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73054" y="2102348"/>
            <a:ext cx="446038" cy="1350615"/>
          </a:xfrm>
          <a:custGeom>
            <a:avLst/>
            <a:gdLst/>
            <a:ahLst/>
            <a:cxnLst/>
            <a:rect l="l" t="t" r="r" b="b"/>
            <a:pathLst>
              <a:path w="634365" h="1920875">
                <a:moveTo>
                  <a:pt x="418543" y="0"/>
                </a:moveTo>
                <a:lnTo>
                  <a:pt x="215612" y="0"/>
                </a:lnTo>
                <a:lnTo>
                  <a:pt x="215612" y="1107578"/>
                </a:lnTo>
                <a:lnTo>
                  <a:pt x="0" y="1107578"/>
                </a:lnTo>
                <a:lnTo>
                  <a:pt x="317078" y="1920378"/>
                </a:lnTo>
                <a:lnTo>
                  <a:pt x="634156" y="1107578"/>
                </a:lnTo>
                <a:lnTo>
                  <a:pt x="418543" y="1107578"/>
                </a:lnTo>
                <a:lnTo>
                  <a:pt x="418543" y="0"/>
                </a:lnTo>
                <a:close/>
              </a:path>
            </a:pathLst>
          </a:custGeom>
          <a:solidFill>
            <a:srgbClr val="861001">
              <a:alpha val="93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95886" y="3527267"/>
            <a:ext cx="1800225" cy="1059329"/>
          </a:xfrm>
          <a:prstGeom prst="rect">
            <a:avLst/>
          </a:prstGeom>
          <a:solidFill>
            <a:srgbClr val="861001"/>
          </a:solidFill>
        </p:spPr>
        <p:txBody>
          <a:bodyPr vert="horz" wrap="square" lIns="91440" tIns="91440" rIns="91440" bIns="91440" rtlCol="0">
            <a:spAutoFit/>
          </a:bodyPr>
          <a:lstStyle/>
          <a:p>
            <a:pPr marR="37057" algn="ctr">
              <a:lnSpc>
                <a:spcPct val="101899"/>
              </a:lnSpc>
              <a:spcBef>
                <a:spcPts val="1114"/>
              </a:spcBef>
            </a:pPr>
            <a:r>
              <a:rPr lang="en-US" sz="1898" dirty="0">
                <a:solidFill>
                  <a:schemeClr val="bg1"/>
                </a:solidFill>
                <a:latin typeface="Helvetica Neue"/>
                <a:cs typeface="Helvetica Neue"/>
              </a:rPr>
              <a:t>neural language model</a:t>
            </a:r>
            <a:endParaRPr sz="1898" dirty="0">
              <a:solidFill>
                <a:schemeClr val="bg1"/>
              </a:solidFill>
              <a:latin typeface="Helvetica Neue"/>
              <a:cs typeface="Helvetica Neu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73054" y="4660901"/>
            <a:ext cx="446038" cy="1350615"/>
          </a:xfrm>
          <a:custGeom>
            <a:avLst/>
            <a:gdLst/>
            <a:ahLst/>
            <a:cxnLst/>
            <a:rect l="l" t="t" r="r" b="b"/>
            <a:pathLst>
              <a:path w="634365" h="1920875">
                <a:moveTo>
                  <a:pt x="418543" y="0"/>
                </a:moveTo>
                <a:lnTo>
                  <a:pt x="215612" y="0"/>
                </a:lnTo>
                <a:lnTo>
                  <a:pt x="215612" y="1107579"/>
                </a:lnTo>
                <a:lnTo>
                  <a:pt x="0" y="1107579"/>
                </a:lnTo>
                <a:lnTo>
                  <a:pt x="317078" y="1920379"/>
                </a:lnTo>
                <a:lnTo>
                  <a:pt x="634156" y="1107579"/>
                </a:lnTo>
                <a:lnTo>
                  <a:pt x="418543" y="1107579"/>
                </a:lnTo>
                <a:lnTo>
                  <a:pt x="418543" y="0"/>
                </a:lnTo>
                <a:close/>
              </a:path>
            </a:pathLst>
          </a:custGeom>
          <a:solidFill>
            <a:srgbClr val="002452">
              <a:alpha val="93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>
              <a:spcBef>
                <a:spcPts val="70"/>
              </a:spcBef>
              <a:tabLst>
                <a:tab pos="1511742" algn="l"/>
                <a:tab pos="3236897" algn="l"/>
              </a:tabLst>
            </a:pPr>
            <a:r>
              <a:rPr sz="4500" spc="-7" dirty="0">
                <a:solidFill>
                  <a:srgbClr val="000000"/>
                </a:solidFill>
                <a:latin typeface="Helvetica Neue"/>
                <a:cs typeface="Helvetica Neue"/>
              </a:rPr>
              <a:t>Enter</a:t>
            </a:r>
            <a:r>
              <a:rPr sz="4500" dirty="0">
                <a:solidFill>
                  <a:srgbClr val="000000"/>
                </a:solidFill>
                <a:latin typeface="Helvetica Neue"/>
                <a:cs typeface="Helvetica Neue"/>
              </a:rPr>
              <a:t>	</a:t>
            </a:r>
            <a:r>
              <a:rPr sz="4500" spc="-7" dirty="0">
                <a:solidFill>
                  <a:srgbClr val="000000"/>
                </a:solidFill>
                <a:latin typeface="Helvetica Neue"/>
                <a:cs typeface="Helvetica Neue"/>
              </a:rPr>
              <a:t>neural</a:t>
            </a:r>
            <a:r>
              <a:rPr sz="4500" dirty="0">
                <a:solidFill>
                  <a:srgbClr val="000000"/>
                </a:solidFill>
                <a:latin typeface="Helvetica Neue"/>
                <a:cs typeface="Helvetica Neue"/>
              </a:rPr>
              <a:t>	</a:t>
            </a:r>
            <a:r>
              <a:rPr sz="4500" spc="-7" dirty="0">
                <a:solidFill>
                  <a:srgbClr val="000000"/>
                </a:solidFill>
                <a:latin typeface="Helvetica Neue"/>
                <a:cs typeface="Helvetica Neue"/>
              </a:rPr>
              <a:t>networks!</a:t>
            </a:r>
            <a:endParaRPr sz="4500">
              <a:latin typeface="Helvetica Neue"/>
              <a:cs typeface="Helvetica Neu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3868" y="6164725"/>
            <a:ext cx="964406" cy="390367"/>
          </a:xfrm>
          <a:prstGeom prst="rect">
            <a:avLst/>
          </a:prstGeom>
        </p:spPr>
        <p:txBody>
          <a:bodyPr vert="horz" wrap="square" lIns="0" tIns="893" rIns="0" bIns="0" rtlCol="0">
            <a:spAutoFit/>
          </a:bodyPr>
          <a:lstStyle/>
          <a:p>
            <a:pPr marL="8929">
              <a:spcBef>
                <a:spcPts val="7"/>
              </a:spcBef>
            </a:pPr>
            <a:r>
              <a:rPr sz="2531" b="1" spc="-7" dirty="0">
                <a:solidFill>
                  <a:srgbClr val="51A7F9"/>
                </a:solidFill>
                <a:latin typeface="Helvetica Neue"/>
                <a:cs typeface="Helvetica Neue"/>
              </a:rPr>
              <a:t>books</a:t>
            </a:r>
            <a:endParaRPr sz="2531">
              <a:latin typeface="Helvetica Neue"/>
              <a:cs typeface="Helvetica Neue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3DBE1CCC-CC82-48D6-84BF-70F971D4BD2E}"/>
              </a:ext>
            </a:extLst>
          </p:cNvPr>
          <p:cNvSpPr txBox="1"/>
          <p:nvPr/>
        </p:nvSpPr>
        <p:spPr>
          <a:xfrm>
            <a:off x="1954904" y="2405569"/>
            <a:ext cx="2830264" cy="2473540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664" rIns="0" bIns="0" rtlCol="0">
            <a:spAutoFit/>
          </a:bodyPr>
          <a:lstStyle/>
          <a:p>
            <a:pPr marL="49112" marR="43754" algn="ctr">
              <a:lnSpc>
                <a:spcPct val="101600"/>
              </a:lnSpc>
              <a:spcBef>
                <a:spcPts val="186"/>
              </a:spcBef>
            </a:pPr>
            <a:r>
              <a:rPr sz="2250" dirty="0">
                <a:latin typeface="Helvetica Neue"/>
                <a:cs typeface="Helvetica Neue"/>
              </a:rPr>
              <a:t>This</a:t>
            </a:r>
            <a:r>
              <a:rPr sz="2250" spc="-28" dirty="0">
                <a:latin typeface="Helvetica Neue"/>
                <a:cs typeface="Helvetica Neue"/>
              </a:rPr>
              <a:t> </a:t>
            </a:r>
            <a:r>
              <a:rPr sz="2250" dirty="0">
                <a:latin typeface="Helvetica Neue"/>
                <a:cs typeface="Helvetica Neue"/>
              </a:rPr>
              <a:t>lecture</a:t>
            </a:r>
            <a:r>
              <a:rPr sz="2250" dirty="0">
                <a:latin typeface="HelveticaNeue-Light"/>
                <a:cs typeface="HelveticaNeue-Light"/>
              </a:rPr>
              <a:t>:</a:t>
            </a:r>
            <a:r>
              <a:rPr sz="2250" spc="-21" dirty="0">
                <a:latin typeface="HelveticaNeue-Light"/>
                <a:cs typeface="HelveticaNeue-Light"/>
              </a:rPr>
              <a:t> </a:t>
            </a:r>
            <a:r>
              <a:rPr sz="2250" spc="-18" dirty="0">
                <a:latin typeface="HelveticaNeue-Light"/>
                <a:cs typeface="HelveticaNeue-Light"/>
              </a:rPr>
              <a:t>the </a:t>
            </a:r>
            <a:r>
              <a:rPr sz="2250" i="1" dirty="0">
                <a:latin typeface="HelveticaNeue-LightItalic"/>
                <a:cs typeface="HelveticaNeue-LightItalic"/>
              </a:rPr>
              <a:t>forward</a:t>
            </a:r>
            <a:r>
              <a:rPr sz="2250" i="1" spc="-14" dirty="0">
                <a:latin typeface="HelveticaNeue-LightItalic"/>
                <a:cs typeface="HelveticaNeue-LightItalic"/>
              </a:rPr>
              <a:t> </a:t>
            </a:r>
            <a:r>
              <a:rPr sz="2250" i="1" dirty="0">
                <a:latin typeface="HelveticaNeue-LightItalic"/>
                <a:cs typeface="HelveticaNeue-LightItalic"/>
              </a:rPr>
              <a:t>pass</a:t>
            </a:r>
            <a:r>
              <a:rPr sz="2250" dirty="0">
                <a:latin typeface="HelveticaNeue-Light"/>
                <a:cs typeface="HelveticaNeue-Light"/>
              </a:rPr>
              <a:t>,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or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spc="-18" dirty="0">
                <a:latin typeface="HelveticaNeue-Light"/>
                <a:cs typeface="HelveticaNeue-Light"/>
              </a:rPr>
              <a:t>how </a:t>
            </a:r>
            <a:r>
              <a:rPr sz="2250" dirty="0">
                <a:latin typeface="HelveticaNeue-Light"/>
                <a:cs typeface="HelveticaNeue-Light"/>
              </a:rPr>
              <a:t>we compute </a:t>
            </a:r>
            <a:r>
              <a:rPr sz="2250" spc="-35" dirty="0">
                <a:latin typeface="HelveticaNeue-Light"/>
                <a:cs typeface="HelveticaNeue-Light"/>
              </a:rPr>
              <a:t>a </a:t>
            </a:r>
            <a:r>
              <a:rPr sz="2250" dirty="0">
                <a:latin typeface="HelveticaNeue-Light"/>
                <a:cs typeface="HelveticaNeue-Light"/>
              </a:rPr>
              <a:t>prediction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of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the</a:t>
            </a:r>
            <a:r>
              <a:rPr sz="2250" spc="-14" dirty="0">
                <a:latin typeface="HelveticaNeue-Light"/>
                <a:cs typeface="HelveticaNeue-Light"/>
              </a:rPr>
              <a:t> next </a:t>
            </a:r>
            <a:r>
              <a:rPr sz="2250" dirty="0">
                <a:latin typeface="HelveticaNeue-Light"/>
                <a:cs typeface="HelveticaNeue-Light"/>
              </a:rPr>
              <a:t>word</a:t>
            </a:r>
            <a:r>
              <a:rPr sz="2250" spc="-21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given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an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spc="-7" dirty="0">
                <a:latin typeface="HelveticaNeue-Light"/>
                <a:cs typeface="HelveticaNeue-Light"/>
              </a:rPr>
              <a:t>existing </a:t>
            </a:r>
            <a:r>
              <a:rPr sz="2250" dirty="0">
                <a:latin typeface="HelveticaNeue-Light"/>
                <a:cs typeface="HelveticaNeue-Light"/>
              </a:rPr>
              <a:t>neural</a:t>
            </a:r>
            <a:r>
              <a:rPr sz="2250" spc="-7" dirty="0">
                <a:latin typeface="HelveticaNeue-Light"/>
                <a:cs typeface="HelveticaNeue-Light"/>
              </a:rPr>
              <a:t> language model</a:t>
            </a:r>
            <a:endParaRPr sz="2250" dirty="0">
              <a:latin typeface="HelveticaNeue-Light"/>
              <a:cs typeface="HelveticaNeue-Light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A46DEBC5-91AE-4138-A87B-427A8134C33A}"/>
              </a:ext>
            </a:extLst>
          </p:cNvPr>
          <p:cNvSpPr txBox="1"/>
          <p:nvPr/>
        </p:nvSpPr>
        <p:spPr>
          <a:xfrm>
            <a:off x="7406932" y="2405569"/>
            <a:ext cx="2830264" cy="2826714"/>
          </a:xfrm>
          <a:prstGeom prst="rect">
            <a:avLst/>
          </a:prstGeom>
          <a:solidFill>
            <a:srgbClr val="91BF81">
              <a:alpha val="44158"/>
            </a:srgbClr>
          </a:solidFill>
        </p:spPr>
        <p:txBody>
          <a:bodyPr vert="horz" wrap="square" lIns="0" tIns="23664" rIns="0" bIns="0" rtlCol="0">
            <a:spAutoFit/>
          </a:bodyPr>
          <a:lstStyle/>
          <a:p>
            <a:pPr marL="101795" marR="96437" algn="ctr">
              <a:lnSpc>
                <a:spcPct val="101600"/>
              </a:lnSpc>
              <a:spcBef>
                <a:spcPts val="186"/>
              </a:spcBef>
            </a:pPr>
            <a:r>
              <a:rPr sz="2250" dirty="0">
                <a:latin typeface="Helvetica Neue"/>
                <a:cs typeface="Helvetica Neue"/>
              </a:rPr>
              <a:t>Next</a:t>
            </a:r>
            <a:r>
              <a:rPr sz="2250" spc="-28" dirty="0">
                <a:latin typeface="Helvetica Neue"/>
                <a:cs typeface="Helvetica Neue"/>
              </a:rPr>
              <a:t> </a:t>
            </a:r>
            <a:r>
              <a:rPr sz="2250" dirty="0">
                <a:latin typeface="Helvetica Neue"/>
                <a:cs typeface="Helvetica Neue"/>
              </a:rPr>
              <a:t>lecture</a:t>
            </a:r>
            <a:r>
              <a:rPr sz="2250" dirty="0">
                <a:latin typeface="HelveticaNeue-Light"/>
                <a:cs typeface="HelveticaNeue-Light"/>
              </a:rPr>
              <a:t>:</a:t>
            </a:r>
            <a:r>
              <a:rPr sz="2250" spc="-21" dirty="0">
                <a:latin typeface="HelveticaNeue-Light"/>
                <a:cs typeface="HelveticaNeue-Light"/>
              </a:rPr>
              <a:t> </a:t>
            </a:r>
            <a:r>
              <a:rPr sz="2250" spc="-18" dirty="0">
                <a:latin typeface="HelveticaNeue-Light"/>
                <a:cs typeface="HelveticaNeue-Light"/>
              </a:rPr>
              <a:t>the </a:t>
            </a:r>
            <a:r>
              <a:rPr sz="2250" i="1" dirty="0">
                <a:latin typeface="HelveticaNeue-LightItalic"/>
                <a:cs typeface="HelveticaNeue-LightItalic"/>
              </a:rPr>
              <a:t>backward</a:t>
            </a:r>
            <a:r>
              <a:rPr sz="2250" i="1" spc="-21" dirty="0">
                <a:latin typeface="HelveticaNeue-LightItalic"/>
                <a:cs typeface="HelveticaNeue-LightItalic"/>
              </a:rPr>
              <a:t> </a:t>
            </a:r>
            <a:r>
              <a:rPr sz="2250" i="1" dirty="0">
                <a:latin typeface="HelveticaNeue-LightItalic"/>
                <a:cs typeface="HelveticaNeue-LightItalic"/>
              </a:rPr>
              <a:t>pass</a:t>
            </a:r>
            <a:r>
              <a:rPr sz="2250" dirty="0">
                <a:latin typeface="HelveticaNeue-Light"/>
                <a:cs typeface="HelveticaNeue-Light"/>
              </a:rPr>
              <a:t>,</a:t>
            </a:r>
            <a:r>
              <a:rPr sz="2250" spc="-21" dirty="0">
                <a:latin typeface="HelveticaNeue-Light"/>
                <a:cs typeface="HelveticaNeue-Light"/>
              </a:rPr>
              <a:t> </a:t>
            </a:r>
            <a:r>
              <a:rPr sz="2250" spc="-18" dirty="0">
                <a:latin typeface="HelveticaNeue-Light"/>
                <a:cs typeface="HelveticaNeue-Light"/>
              </a:rPr>
              <a:t>or </a:t>
            </a:r>
            <a:r>
              <a:rPr sz="2250" dirty="0">
                <a:latin typeface="HelveticaNeue-Light"/>
                <a:cs typeface="HelveticaNeue-Light"/>
              </a:rPr>
              <a:t>how we train a </a:t>
            </a:r>
            <a:r>
              <a:rPr sz="2250" spc="-7" dirty="0">
                <a:latin typeface="HelveticaNeue-Light"/>
                <a:cs typeface="HelveticaNeue-Light"/>
              </a:rPr>
              <a:t>neural </a:t>
            </a:r>
            <a:r>
              <a:rPr sz="2250" dirty="0">
                <a:latin typeface="HelveticaNeue-Light"/>
                <a:cs typeface="HelveticaNeue-Light"/>
              </a:rPr>
              <a:t>language model on </a:t>
            </a:r>
            <a:r>
              <a:rPr sz="2250" spc="-35" dirty="0">
                <a:latin typeface="HelveticaNeue-Light"/>
                <a:cs typeface="HelveticaNeue-Light"/>
              </a:rPr>
              <a:t>a </a:t>
            </a:r>
            <a:r>
              <a:rPr sz="2250" dirty="0">
                <a:latin typeface="HelveticaNeue-Light"/>
                <a:cs typeface="HelveticaNeue-Light"/>
              </a:rPr>
              <a:t>training dataset </a:t>
            </a:r>
            <a:r>
              <a:rPr sz="2250" spc="-7" dirty="0">
                <a:latin typeface="HelveticaNeue-Light"/>
                <a:cs typeface="HelveticaNeue-Light"/>
              </a:rPr>
              <a:t>using </a:t>
            </a:r>
            <a:r>
              <a:rPr sz="2250" dirty="0">
                <a:latin typeface="HelveticaNeue-Light"/>
                <a:cs typeface="HelveticaNeue-Light"/>
              </a:rPr>
              <a:t>the </a:t>
            </a:r>
            <a:r>
              <a:rPr sz="2250" spc="-7" dirty="0">
                <a:latin typeface="HelveticaNeue-Light"/>
                <a:cs typeface="HelveticaNeue-Light"/>
              </a:rPr>
              <a:t>backpropagation algorithm</a:t>
            </a:r>
            <a:endParaRPr sz="2250" dirty="0">
              <a:latin typeface="HelveticaNeue-Light"/>
              <a:cs typeface="HelveticaNeue-Light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12586B-6B44-45C8-8064-0883C340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280" y="2950208"/>
            <a:ext cx="8897439" cy="291719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475B1B-9D67-46D1-B586-7C611D47A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1838325"/>
          </a:xfrm>
        </p:spPr>
        <p:txBody>
          <a:bodyPr/>
          <a:lstStyle/>
          <a:p>
            <a:pPr>
              <a:spcBef>
                <a:spcPts val="74"/>
              </a:spcBef>
            </a:pPr>
            <a:r>
              <a:rPr lang="en-US" dirty="0">
                <a:latin typeface="HelveticaNeue-Light"/>
                <a:cs typeface="HelveticaNeue-Light"/>
              </a:rPr>
              <a:t>Represent</a:t>
            </a:r>
            <a:r>
              <a:rPr lang="en-US" spc="-28" dirty="0">
                <a:latin typeface="HelveticaNeue-Light"/>
                <a:cs typeface="HelveticaNeue-Light"/>
              </a:rPr>
              <a:t> </a:t>
            </a:r>
            <a:r>
              <a:rPr lang="en-US" dirty="0">
                <a:latin typeface="HelveticaNeue-Light"/>
                <a:cs typeface="HelveticaNeue-Light"/>
              </a:rPr>
              <a:t>words</a:t>
            </a:r>
            <a:r>
              <a:rPr lang="en-US" spc="-28" dirty="0">
                <a:latin typeface="HelveticaNeue-Light"/>
                <a:cs typeface="HelveticaNeue-Light"/>
              </a:rPr>
              <a:t> </a:t>
            </a:r>
            <a:r>
              <a:rPr lang="en-US" dirty="0">
                <a:latin typeface="HelveticaNeue-Light"/>
                <a:cs typeface="HelveticaNeue-Light"/>
              </a:rPr>
              <a:t>with</a:t>
            </a:r>
            <a:r>
              <a:rPr lang="en-US" spc="-28" dirty="0">
                <a:latin typeface="HelveticaNeue-Light"/>
                <a:cs typeface="HelveticaNeue-Light"/>
              </a:rPr>
              <a:t> </a:t>
            </a:r>
            <a:r>
              <a:rPr lang="en-US" dirty="0">
                <a:latin typeface="HelveticaNeue-Light"/>
                <a:cs typeface="HelveticaNeue-Light"/>
              </a:rPr>
              <a:t>low-dimensional</a:t>
            </a:r>
            <a:r>
              <a:rPr lang="en-US" spc="-28" dirty="0">
                <a:latin typeface="HelveticaNeue-Light"/>
                <a:cs typeface="HelveticaNeue-Light"/>
              </a:rPr>
              <a:t> </a:t>
            </a:r>
            <a:r>
              <a:rPr lang="en-US" dirty="0">
                <a:latin typeface="HelveticaNeue-Light"/>
                <a:cs typeface="HelveticaNeue-Light"/>
              </a:rPr>
              <a:t>vectors</a:t>
            </a:r>
            <a:r>
              <a:rPr lang="en-US" spc="-25" dirty="0">
                <a:latin typeface="HelveticaNeue-Light"/>
                <a:cs typeface="HelveticaNeue-Light"/>
              </a:rPr>
              <a:t> </a:t>
            </a:r>
            <a:r>
              <a:rPr lang="en-US" spc="-7" dirty="0">
                <a:latin typeface="HelveticaNeue-Light"/>
                <a:cs typeface="HelveticaNeue-Light"/>
              </a:rPr>
              <a:t>called </a:t>
            </a:r>
            <a:r>
              <a:rPr lang="en-US" dirty="0">
                <a:latin typeface="Helvetica Neue"/>
                <a:cs typeface="Helvetica Neue"/>
              </a:rPr>
              <a:t>embeddings</a:t>
            </a:r>
            <a:r>
              <a:rPr lang="en-US" spc="32" dirty="0">
                <a:latin typeface="Helvetica Neue"/>
                <a:cs typeface="Helvetica Neue"/>
              </a:rPr>
              <a:t> </a:t>
            </a:r>
            <a:r>
              <a:rPr lang="en-US" dirty="0">
                <a:latin typeface="HelveticaNeue-Light"/>
                <a:cs typeface="HelveticaNeue-Light"/>
              </a:rPr>
              <a:t>(</a:t>
            </a:r>
            <a:r>
              <a:rPr lang="en-US" dirty="0" err="1">
                <a:latin typeface="HelveticaNeue-Light"/>
                <a:cs typeface="HelveticaNeue-Light"/>
              </a:rPr>
              <a:t>Mikolov</a:t>
            </a:r>
            <a:r>
              <a:rPr lang="en-US" spc="21" dirty="0">
                <a:latin typeface="HelveticaNeue-Light"/>
                <a:cs typeface="HelveticaNeue-Light"/>
              </a:rPr>
              <a:t> </a:t>
            </a:r>
            <a:r>
              <a:rPr lang="en-US" dirty="0">
                <a:latin typeface="HelveticaNeue-Light"/>
                <a:cs typeface="HelveticaNeue-Light"/>
              </a:rPr>
              <a:t>et</a:t>
            </a:r>
            <a:r>
              <a:rPr lang="en-US" spc="21" dirty="0">
                <a:latin typeface="HelveticaNeue-Light"/>
                <a:cs typeface="HelveticaNeue-Light"/>
              </a:rPr>
              <a:t> </a:t>
            </a:r>
            <a:r>
              <a:rPr lang="en-US" dirty="0">
                <a:latin typeface="HelveticaNeue-Light"/>
                <a:cs typeface="HelveticaNeue-Light"/>
              </a:rPr>
              <a:t>al.,</a:t>
            </a:r>
            <a:r>
              <a:rPr lang="en-US" spc="21" dirty="0">
                <a:latin typeface="HelveticaNeue-Light"/>
                <a:cs typeface="HelveticaNeue-Light"/>
              </a:rPr>
              <a:t> </a:t>
            </a:r>
            <a:r>
              <a:rPr lang="en-US" dirty="0">
                <a:latin typeface="HelveticaNeue-Light"/>
                <a:cs typeface="HelveticaNeue-Light"/>
              </a:rPr>
              <a:t>NIPS</a:t>
            </a:r>
            <a:r>
              <a:rPr lang="en-US" spc="21" dirty="0">
                <a:latin typeface="HelveticaNeue-Light"/>
                <a:cs typeface="HelveticaNeue-Light"/>
              </a:rPr>
              <a:t> </a:t>
            </a:r>
            <a:r>
              <a:rPr lang="en-US" spc="-7" dirty="0">
                <a:latin typeface="HelveticaNeue-Light"/>
                <a:cs typeface="HelveticaNeue-Light"/>
              </a:rPr>
              <a:t>2013)</a:t>
            </a:r>
            <a:endParaRPr lang="en-US" dirty="0">
              <a:latin typeface="HelveticaNeue-Light"/>
              <a:cs typeface="HelveticaNeue-Light"/>
            </a:endParaRPr>
          </a:p>
          <a:p>
            <a:pPr marL="0" indent="0" algn="ctr">
              <a:spcBef>
                <a:spcPts val="1709"/>
              </a:spcBef>
              <a:buNone/>
            </a:pPr>
            <a:r>
              <a:rPr lang="en-US" sz="2400" dirty="0">
                <a:solidFill>
                  <a:srgbClr val="0070C0"/>
                </a:solidFill>
                <a:latin typeface="HelveticaNeue-Light"/>
                <a:cs typeface="HelveticaNeue-Light"/>
              </a:rPr>
              <a:t>king </a:t>
            </a:r>
            <a:r>
              <a:rPr lang="en-US" sz="2400" spc="-35" dirty="0">
                <a:solidFill>
                  <a:srgbClr val="0070C0"/>
                </a:solidFill>
                <a:latin typeface="HelveticaNeue-Light"/>
                <a:cs typeface="HelveticaNeue-Light"/>
              </a:rPr>
              <a:t>= </a:t>
            </a:r>
            <a:r>
              <a:rPr lang="en-US" sz="2400" dirty="0">
                <a:solidFill>
                  <a:srgbClr val="0070C0"/>
                </a:solidFill>
                <a:latin typeface="HelveticaNeue-Light"/>
                <a:cs typeface="HelveticaNeue-Light"/>
              </a:rPr>
              <a:t>[0.23, 1.3, -0.3, </a:t>
            </a:r>
            <a:r>
              <a:rPr lang="en-US" sz="2400" spc="-7" dirty="0">
                <a:solidFill>
                  <a:srgbClr val="0070C0"/>
                </a:solidFill>
                <a:latin typeface="HelveticaNeue-Light"/>
                <a:cs typeface="HelveticaNeue-Light"/>
              </a:rPr>
              <a:t>0.43]</a:t>
            </a:r>
            <a:endParaRPr lang="en-US" sz="2400" dirty="0">
              <a:solidFill>
                <a:srgbClr val="0070C0"/>
              </a:solidFill>
              <a:latin typeface="HelveticaNeue-Light"/>
              <a:cs typeface="HelveticaNeue-Light"/>
            </a:endParaRPr>
          </a:p>
          <a:p>
            <a:endParaRPr lang="en-US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699" y="176560"/>
            <a:ext cx="11658601" cy="658298"/>
          </a:xfrm>
          <a:prstGeom prst="rect">
            <a:avLst/>
          </a:prstGeo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>
              <a:spcBef>
                <a:spcPts val="70"/>
              </a:spcBef>
              <a:tabLst>
                <a:tab pos="1576927" algn="l"/>
                <a:tab pos="2261363" algn="l"/>
                <a:tab pos="3631128" algn="l"/>
                <a:tab pos="5565676" algn="l"/>
              </a:tabLst>
            </a:pPr>
            <a:r>
              <a:rPr lang="en-US" sz="4219" spc="-7" dirty="0">
                <a:solidFill>
                  <a:srgbClr val="000000"/>
                </a:solidFill>
              </a:rPr>
              <a:t>W</a:t>
            </a:r>
            <a:r>
              <a:rPr sz="4219" spc="-7" dirty="0">
                <a:solidFill>
                  <a:srgbClr val="000000"/>
                </a:solidFill>
              </a:rPr>
              <a:t>ords</a:t>
            </a:r>
            <a:r>
              <a:rPr lang="en-US" sz="4219" spc="-7" dirty="0">
                <a:solidFill>
                  <a:srgbClr val="000000"/>
                </a:solidFill>
              </a:rPr>
              <a:t> </a:t>
            </a:r>
            <a:r>
              <a:rPr sz="4219" spc="-18" dirty="0">
                <a:solidFill>
                  <a:srgbClr val="000000"/>
                </a:solidFill>
              </a:rPr>
              <a:t>as</a:t>
            </a:r>
            <a:r>
              <a:rPr lang="en-US" sz="4219" spc="-18" dirty="0">
                <a:solidFill>
                  <a:srgbClr val="000000"/>
                </a:solidFill>
              </a:rPr>
              <a:t> </a:t>
            </a:r>
            <a:r>
              <a:rPr sz="4219" spc="-7" dirty="0">
                <a:solidFill>
                  <a:srgbClr val="000000"/>
                </a:solidFill>
              </a:rPr>
              <a:t>basic</a:t>
            </a:r>
            <a:r>
              <a:rPr lang="en-US" sz="4219" spc="-7" dirty="0">
                <a:solidFill>
                  <a:srgbClr val="000000"/>
                </a:solidFill>
              </a:rPr>
              <a:t> </a:t>
            </a:r>
            <a:r>
              <a:rPr sz="4219" spc="-7" dirty="0">
                <a:solidFill>
                  <a:srgbClr val="000000"/>
                </a:solidFill>
              </a:rPr>
              <a:t>building</a:t>
            </a:r>
            <a:r>
              <a:rPr lang="en-US" sz="4219" spc="-7" dirty="0">
                <a:solidFill>
                  <a:srgbClr val="000000"/>
                </a:solidFill>
              </a:rPr>
              <a:t> </a:t>
            </a:r>
            <a:r>
              <a:rPr sz="4219" spc="-7" dirty="0">
                <a:solidFill>
                  <a:srgbClr val="000000"/>
                </a:solidFill>
              </a:rPr>
              <a:t>blocks</a:t>
            </a:r>
            <a:endParaRPr sz="4219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E2CD57-8B78-4813-BE68-25C83189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913E306C-514C-4B85-8F21-8FC252F2F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Neural networks </a:t>
            </a:r>
            <a:r>
              <a:rPr lang="en-US" b="1" dirty="0">
                <a:solidFill>
                  <a:srgbClr val="FFC000"/>
                </a:solidFill>
              </a:rPr>
              <a:t>compose</a:t>
            </a:r>
            <a:r>
              <a:rPr lang="en-US" dirty="0"/>
              <a:t> word embeddings into vectors for phrases, sentences, and documents.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93334"/>
            <a:ext cx="11658600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Composing embeddings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4169" y="4444007"/>
            <a:ext cx="381394" cy="3686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9500" y="4444007"/>
            <a:ext cx="381395" cy="36869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864864" y="4444007"/>
            <a:ext cx="381744" cy="368796"/>
            <a:chOff x="3329228" y="6320366"/>
            <a:chExt cx="542925" cy="52451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29228" y="6320366"/>
              <a:ext cx="186828" cy="5243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07028" y="6320366"/>
              <a:ext cx="187325" cy="524510"/>
            </a:xfrm>
            <a:custGeom>
              <a:avLst/>
              <a:gdLst/>
              <a:ahLst/>
              <a:cxnLst/>
              <a:rect l="l" t="t" r="r" b="b"/>
              <a:pathLst>
                <a:path w="187325" h="524509">
                  <a:moveTo>
                    <a:pt x="186828" y="0"/>
                  </a:moveTo>
                  <a:lnTo>
                    <a:pt x="0" y="0"/>
                  </a:lnTo>
                  <a:lnTo>
                    <a:pt x="0" y="524371"/>
                  </a:lnTo>
                  <a:lnTo>
                    <a:pt x="186828" y="524371"/>
                  </a:lnTo>
                  <a:lnTo>
                    <a:pt x="186828" y="0"/>
                  </a:lnTo>
                  <a:close/>
                </a:path>
              </a:pathLst>
            </a:custGeom>
            <a:solidFill>
              <a:srgbClr val="F39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4828" y="6320366"/>
              <a:ext cx="186828" cy="52437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339386" y="4006738"/>
            <a:ext cx="911721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spc="-7" dirty="0">
                <a:latin typeface="Helvetica"/>
                <a:cs typeface="Helvetica"/>
              </a:rPr>
              <a:t>neural</a:t>
            </a:r>
            <a:endParaRPr sz="2531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21659" y="4390715"/>
            <a:ext cx="1339900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dirty="0">
                <a:latin typeface="Helvetica"/>
                <a:cs typeface="Helvetica"/>
              </a:rPr>
              <a:t>network</a:t>
            </a:r>
            <a:r>
              <a:rPr sz="2531" spc="-7" dirty="0">
                <a:latin typeface="Helvetica"/>
                <a:cs typeface="Helvetica"/>
              </a:rPr>
              <a:t> </a:t>
            </a:r>
            <a:r>
              <a:rPr sz="2531" b="1" spc="-35" dirty="0">
                <a:latin typeface="Helvetica"/>
                <a:cs typeface="Helvetica"/>
              </a:rPr>
              <a:t>(</a:t>
            </a:r>
            <a:endParaRPr sz="2531">
              <a:latin typeface="Helvetica"/>
              <a:cs typeface="Helvetic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84395" y="4389226"/>
            <a:ext cx="402282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b="1" dirty="0">
                <a:latin typeface="Helvetica"/>
                <a:cs typeface="Helvetica"/>
              </a:rPr>
              <a:t>)</a:t>
            </a:r>
            <a:r>
              <a:rPr sz="2531" b="1" spc="-4" dirty="0">
                <a:latin typeface="Helvetica"/>
                <a:cs typeface="Helvetica"/>
              </a:rPr>
              <a:t> </a:t>
            </a:r>
            <a:r>
              <a:rPr sz="2531" b="1" spc="-35" dirty="0">
                <a:latin typeface="Helvetica"/>
                <a:cs typeface="Helvetica"/>
              </a:rPr>
              <a:t>=</a:t>
            </a:r>
            <a:endParaRPr sz="2531">
              <a:latin typeface="Helvetica"/>
              <a:cs typeface="Helvetic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43852" y="4444007"/>
            <a:ext cx="381395" cy="36869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574040" y="4003273"/>
            <a:ext cx="1917650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  <a:tabLst>
                <a:tab pos="1073757" algn="l"/>
              </a:tabLst>
            </a:pPr>
            <a:r>
              <a:rPr sz="1969" spc="-7" dirty="0">
                <a:solidFill>
                  <a:srgbClr val="C82506"/>
                </a:solidFill>
                <a:latin typeface="Helvetica"/>
                <a:cs typeface="Helvetica"/>
              </a:rPr>
              <a:t>students</a:t>
            </a:r>
            <a:r>
              <a:rPr sz="1969" dirty="0">
                <a:solidFill>
                  <a:srgbClr val="C82506"/>
                </a:solidFill>
                <a:latin typeface="Helvetica"/>
                <a:cs typeface="Helvetica"/>
              </a:rPr>
              <a:t>	</a:t>
            </a:r>
            <a:r>
              <a:rPr sz="1969" spc="-7" dirty="0">
                <a:solidFill>
                  <a:srgbClr val="C82506"/>
                </a:solidFill>
                <a:latin typeface="Helvetica"/>
                <a:cs typeface="Helvetica"/>
              </a:rPr>
              <a:t>opened</a:t>
            </a:r>
            <a:endParaRPr sz="1969">
              <a:latin typeface="Helvetica"/>
              <a:cs typeface="Helvetic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22741" y="4003273"/>
            <a:ext cx="504081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spc="-7" dirty="0">
                <a:solidFill>
                  <a:srgbClr val="C82506"/>
                </a:solidFill>
                <a:latin typeface="Helvetica"/>
                <a:cs typeface="Helvetica"/>
              </a:rPr>
              <a:t>their</a:t>
            </a:r>
            <a:endParaRPr sz="1969">
              <a:latin typeface="Helvetica"/>
              <a:cs typeface="Helvetica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26A1AF6-A513-4EE7-B853-255AE66D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FBFB651E-4763-4599-B866-7D6E5E52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Predict the next word from composed prefix representation: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95363"/>
            <a:ext cx="11658600" cy="620512"/>
          </a:xfrm>
        </p:spPr>
        <p:txBody>
          <a:bodyPr vert="horz" wrap="square" lIns="0" tIns="491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Next word prediction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4169" y="4444007"/>
            <a:ext cx="381394" cy="3686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9500" y="4444007"/>
            <a:ext cx="381395" cy="36869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864864" y="4444007"/>
            <a:ext cx="381744" cy="368796"/>
            <a:chOff x="3329228" y="6320366"/>
            <a:chExt cx="542925" cy="52451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29228" y="6320366"/>
              <a:ext cx="186828" cy="52437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07028" y="6320366"/>
              <a:ext cx="187325" cy="524510"/>
            </a:xfrm>
            <a:custGeom>
              <a:avLst/>
              <a:gdLst/>
              <a:ahLst/>
              <a:cxnLst/>
              <a:rect l="l" t="t" r="r" b="b"/>
              <a:pathLst>
                <a:path w="187325" h="524509">
                  <a:moveTo>
                    <a:pt x="186828" y="0"/>
                  </a:moveTo>
                  <a:lnTo>
                    <a:pt x="0" y="0"/>
                  </a:lnTo>
                  <a:lnTo>
                    <a:pt x="0" y="524371"/>
                  </a:lnTo>
                  <a:lnTo>
                    <a:pt x="186828" y="524371"/>
                  </a:lnTo>
                  <a:lnTo>
                    <a:pt x="186828" y="0"/>
                  </a:lnTo>
                  <a:close/>
                </a:path>
              </a:pathLst>
            </a:custGeom>
            <a:solidFill>
              <a:srgbClr val="F39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4828" y="6320366"/>
              <a:ext cx="186828" cy="52437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339386" y="4006738"/>
            <a:ext cx="911721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spc="-7" dirty="0">
                <a:latin typeface="Helvetica"/>
                <a:cs typeface="Helvetica"/>
              </a:rPr>
              <a:t>neural</a:t>
            </a:r>
            <a:endParaRPr sz="2531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21659" y="4390715"/>
            <a:ext cx="1339900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dirty="0">
                <a:latin typeface="Helvetica"/>
                <a:cs typeface="Helvetica"/>
              </a:rPr>
              <a:t>network</a:t>
            </a:r>
            <a:r>
              <a:rPr sz="2531" spc="-7" dirty="0">
                <a:latin typeface="Helvetica"/>
                <a:cs typeface="Helvetica"/>
              </a:rPr>
              <a:t> </a:t>
            </a:r>
            <a:r>
              <a:rPr sz="2531" b="1" spc="-35" dirty="0">
                <a:latin typeface="Helvetica"/>
                <a:cs typeface="Helvetica"/>
              </a:rPr>
              <a:t>(</a:t>
            </a:r>
            <a:endParaRPr sz="2531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4395" y="4389226"/>
            <a:ext cx="402282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b="1" dirty="0">
                <a:latin typeface="Helvetica"/>
                <a:cs typeface="Helvetica"/>
              </a:rPr>
              <a:t>)</a:t>
            </a:r>
            <a:r>
              <a:rPr sz="2531" b="1" spc="-4" dirty="0">
                <a:latin typeface="Helvetica"/>
                <a:cs typeface="Helvetica"/>
              </a:rPr>
              <a:t> </a:t>
            </a:r>
            <a:r>
              <a:rPr sz="2531" b="1" spc="-35" dirty="0">
                <a:latin typeface="Helvetica"/>
                <a:cs typeface="Helvetica"/>
              </a:rPr>
              <a:t>=</a:t>
            </a:r>
            <a:endParaRPr sz="2531">
              <a:latin typeface="Helvetica"/>
              <a:cs typeface="Helvetic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43852" y="4444007"/>
            <a:ext cx="381395" cy="36869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574040" y="4003273"/>
            <a:ext cx="1917650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  <a:tabLst>
                <a:tab pos="1073757" algn="l"/>
              </a:tabLst>
            </a:pPr>
            <a:r>
              <a:rPr sz="1969" spc="-7" dirty="0">
                <a:solidFill>
                  <a:srgbClr val="C82506"/>
                </a:solidFill>
                <a:latin typeface="Helvetica"/>
                <a:cs typeface="Helvetica"/>
              </a:rPr>
              <a:t>students</a:t>
            </a:r>
            <a:r>
              <a:rPr sz="1969" dirty="0">
                <a:solidFill>
                  <a:srgbClr val="C82506"/>
                </a:solidFill>
                <a:latin typeface="Helvetica"/>
                <a:cs typeface="Helvetica"/>
              </a:rPr>
              <a:t>	</a:t>
            </a:r>
            <a:r>
              <a:rPr sz="1969" spc="-7" dirty="0">
                <a:solidFill>
                  <a:srgbClr val="C82506"/>
                </a:solidFill>
                <a:latin typeface="Helvetica"/>
                <a:cs typeface="Helvetica"/>
              </a:rPr>
              <a:t>opened</a:t>
            </a:r>
            <a:endParaRPr sz="1969">
              <a:latin typeface="Helvetica"/>
              <a:cs typeface="Helvetic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22741" y="4003273"/>
            <a:ext cx="504081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spc="-7" dirty="0">
                <a:solidFill>
                  <a:srgbClr val="C82506"/>
                </a:solidFill>
                <a:latin typeface="Helvetica"/>
                <a:cs typeface="Helvetica"/>
              </a:rPr>
              <a:t>their</a:t>
            </a:r>
            <a:endParaRPr sz="1969">
              <a:latin typeface="Helvetica"/>
              <a:cs typeface="Helvetic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227393" y="3257936"/>
            <a:ext cx="214313" cy="1010841"/>
            <a:chOff x="8111492" y="4633509"/>
            <a:chExt cx="304800" cy="1437640"/>
          </a:xfrm>
        </p:grpSpPr>
        <p:sp>
          <p:nvSpPr>
            <p:cNvPr id="16" name="object 16"/>
            <p:cNvSpPr/>
            <p:nvPr/>
          </p:nvSpPr>
          <p:spPr>
            <a:xfrm>
              <a:off x="8263892" y="4900209"/>
              <a:ext cx="0" cy="1170940"/>
            </a:xfrm>
            <a:custGeom>
              <a:avLst/>
              <a:gdLst/>
              <a:ahLst/>
              <a:cxnLst/>
              <a:rect l="l" t="t" r="r" b="b"/>
              <a:pathLst>
                <a:path h="1170939">
                  <a:moveTo>
                    <a:pt x="0" y="1170390"/>
                  </a:move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11492" y="463350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0" y="304800"/>
                  </a:lnTo>
                  <a:lnTo>
                    <a:pt x="304800" y="3048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57461" y="2769931"/>
            <a:ext cx="2543614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 algn="ctr">
              <a:spcBef>
                <a:spcPts val="70"/>
              </a:spcBef>
              <a:tabLst>
                <a:tab pos="1050987" algn="l"/>
              </a:tabLst>
            </a:pPr>
            <a:r>
              <a:rPr sz="2531" spc="-7" dirty="0">
                <a:latin typeface="HelveticaNeue-Light"/>
                <a:cs typeface="HelveticaNeue-Light"/>
              </a:rPr>
              <a:t>predict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b="1" spc="-7" dirty="0">
                <a:latin typeface="Helvetica Neue"/>
                <a:cs typeface="Helvetica Neue"/>
              </a:rPr>
              <a:t>“books”</a:t>
            </a:r>
            <a:endParaRPr sz="2531" dirty="0">
              <a:latin typeface="Helvetica Neue"/>
              <a:cs typeface="Helvetica Neue"/>
            </a:endParaRPr>
          </a:p>
        </p:txBody>
      </p:sp>
      <p:sp>
        <p:nvSpPr>
          <p:cNvPr id="24" name="object 16">
            <a:extLst>
              <a:ext uri="{FF2B5EF4-FFF2-40B4-BE49-F238E27FC236}">
                <a16:creationId xmlns:a16="http://schemas.microsoft.com/office/drawing/2014/main" id="{D082D476-3F1E-4804-A46E-A9C7BBFA9510}"/>
              </a:ext>
            </a:extLst>
          </p:cNvPr>
          <p:cNvSpPr txBox="1"/>
          <p:nvPr/>
        </p:nvSpPr>
        <p:spPr>
          <a:xfrm>
            <a:off x="7691742" y="4161127"/>
            <a:ext cx="4312146" cy="196916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algn="ctr">
              <a:spcBef>
                <a:spcPts val="70"/>
              </a:spcBef>
              <a:tabLst>
                <a:tab pos="1291633" algn="l"/>
              </a:tabLst>
            </a:pPr>
            <a:r>
              <a:rPr lang="en-US" sz="2531" b="1" spc="-7" dirty="0" err="1">
                <a:latin typeface="Helvetica Neue"/>
                <a:cs typeface="Helvetica Neue"/>
              </a:rPr>
              <a:t>Softmax</a:t>
            </a:r>
            <a:r>
              <a:rPr lang="en-US" sz="2531" b="1" spc="-7" dirty="0">
                <a:latin typeface="Helvetica Neue"/>
                <a:cs typeface="Helvetica Neue"/>
              </a:rPr>
              <a:t> layer:</a:t>
            </a:r>
          </a:p>
          <a:p>
            <a:pPr algn="ctr">
              <a:spcBef>
                <a:spcPts val="70"/>
              </a:spcBef>
              <a:tabLst>
                <a:tab pos="1291633" algn="l"/>
              </a:tabLst>
            </a:pPr>
            <a:r>
              <a:rPr lang="en-US" sz="2531" spc="-7" dirty="0">
                <a:latin typeface="Helvetica Neue"/>
                <a:cs typeface="Helvetica Neue"/>
              </a:rPr>
              <a:t>convert a vector representation into a probability  distribution over  the  entire vocabulary</a:t>
            </a:r>
            <a:endParaRPr sz="2531" dirty="0">
              <a:latin typeface="HelveticaNeue-Light"/>
              <a:cs typeface="HelveticaNeue-Light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17ABA32-FA87-4271-B66A-F7E53490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5E6D166-1B8C-4CDE-BC09-3CD26B76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016369" y="2204853"/>
            <a:ext cx="988454" cy="349825"/>
          </a:xfrm>
          <a:prstGeom prst="rect">
            <a:avLst/>
          </a:prstGeom>
        </p:spPr>
        <p:txBody>
          <a:bodyPr vert="horz" wrap="square" lIns="0" tIns="11162" rIns="0" bIns="0" rtlCol="0">
            <a:spAutoFit/>
          </a:bodyPr>
          <a:lstStyle/>
          <a:p>
            <a:pPr marL="8929" algn="ctr">
              <a:spcBef>
                <a:spcPts val="88"/>
              </a:spcBef>
            </a:pPr>
            <a:r>
              <a:rPr sz="2200" i="1" spc="-60" dirty="0">
                <a:solidFill>
                  <a:srgbClr val="177245"/>
                </a:solidFill>
                <a:latin typeface="Arial"/>
                <a:cs typeface="Arial"/>
              </a:rPr>
              <a:t>laptops</a:t>
            </a:r>
            <a:endParaRPr sz="22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84517" y="2285569"/>
            <a:ext cx="3297734" cy="1576983"/>
            <a:chOff x="4210514" y="3250587"/>
            <a:chExt cx="4690110" cy="2242820"/>
          </a:xfrm>
        </p:grpSpPr>
        <p:sp>
          <p:nvSpPr>
            <p:cNvPr id="5" name="object 5"/>
            <p:cNvSpPr/>
            <p:nvPr/>
          </p:nvSpPr>
          <p:spPr>
            <a:xfrm>
              <a:off x="5036539" y="3250587"/>
              <a:ext cx="170180" cy="645795"/>
            </a:xfrm>
            <a:custGeom>
              <a:avLst/>
              <a:gdLst/>
              <a:ahLst/>
              <a:cxnLst/>
              <a:rect l="l" t="t" r="r" b="b"/>
              <a:pathLst>
                <a:path w="170179" h="645795">
                  <a:moveTo>
                    <a:pt x="94970" y="0"/>
                  </a:moveTo>
                  <a:lnTo>
                    <a:pt x="73699" y="34"/>
                  </a:lnTo>
                  <a:lnTo>
                    <a:pt x="74451" y="475117"/>
                  </a:lnTo>
                  <a:lnTo>
                    <a:pt x="0" y="475236"/>
                  </a:lnTo>
                  <a:lnTo>
                    <a:pt x="85356" y="645273"/>
                  </a:lnTo>
                  <a:lnTo>
                    <a:pt x="170173" y="474967"/>
                  </a:lnTo>
                  <a:lnTo>
                    <a:pt x="95722" y="475086"/>
                  </a:lnTo>
                  <a:lnTo>
                    <a:pt x="94970" y="0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10514" y="5462128"/>
              <a:ext cx="4690110" cy="21590"/>
            </a:xfrm>
            <a:custGeom>
              <a:avLst/>
              <a:gdLst/>
              <a:ahLst/>
              <a:cxnLst/>
              <a:rect l="l" t="t" r="r" b="b"/>
              <a:pathLst>
                <a:path w="4690109" h="21589">
                  <a:moveTo>
                    <a:pt x="0" y="0"/>
                  </a:moveTo>
                  <a:lnTo>
                    <a:pt x="751500" y="0"/>
                  </a:lnTo>
                </a:path>
                <a:path w="4690109" h="21589">
                  <a:moveTo>
                    <a:pt x="4258026" y="0"/>
                  </a:moveTo>
                  <a:lnTo>
                    <a:pt x="4689764" y="0"/>
                  </a:lnTo>
                </a:path>
                <a:path w="4690109" h="21589">
                  <a:moveTo>
                    <a:pt x="0" y="21272"/>
                  </a:moveTo>
                  <a:lnTo>
                    <a:pt x="4689764" y="21272"/>
                  </a:lnTo>
                </a:path>
              </a:pathLst>
            </a:custGeom>
            <a:ln w="19358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43338" y="5276407"/>
              <a:ext cx="320040" cy="195580"/>
            </a:xfrm>
            <a:custGeom>
              <a:avLst/>
              <a:gdLst/>
              <a:ahLst/>
              <a:cxnLst/>
              <a:rect l="l" t="t" r="r" b="b"/>
              <a:pathLst>
                <a:path w="320039" h="195579">
                  <a:moveTo>
                    <a:pt x="319764" y="0"/>
                  </a:moveTo>
                  <a:lnTo>
                    <a:pt x="0" y="0"/>
                  </a:lnTo>
                  <a:lnTo>
                    <a:pt x="0" y="195399"/>
                  </a:lnTo>
                  <a:lnTo>
                    <a:pt x="319764" y="195399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43338" y="5276406"/>
              <a:ext cx="320040" cy="195580"/>
            </a:xfrm>
            <a:custGeom>
              <a:avLst/>
              <a:gdLst/>
              <a:ahLst/>
              <a:cxnLst/>
              <a:rect l="l" t="t" r="r" b="b"/>
              <a:pathLst>
                <a:path w="320039" h="195579">
                  <a:moveTo>
                    <a:pt x="0" y="0"/>
                  </a:moveTo>
                  <a:lnTo>
                    <a:pt x="319764" y="0"/>
                  </a:lnTo>
                  <a:lnTo>
                    <a:pt x="319764" y="195399"/>
                  </a:lnTo>
                  <a:lnTo>
                    <a:pt x="0" y="195399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2015" y="3895863"/>
              <a:ext cx="320040" cy="1576070"/>
            </a:xfrm>
            <a:custGeom>
              <a:avLst/>
              <a:gdLst/>
              <a:ahLst/>
              <a:cxnLst/>
              <a:rect l="l" t="t" r="r" b="b"/>
              <a:pathLst>
                <a:path w="320039" h="1576070">
                  <a:moveTo>
                    <a:pt x="319764" y="0"/>
                  </a:moveTo>
                  <a:lnTo>
                    <a:pt x="0" y="0"/>
                  </a:lnTo>
                  <a:lnTo>
                    <a:pt x="0" y="1575944"/>
                  </a:lnTo>
                  <a:lnTo>
                    <a:pt x="319764" y="1575944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62015" y="3895860"/>
              <a:ext cx="320040" cy="1576070"/>
            </a:xfrm>
            <a:custGeom>
              <a:avLst/>
              <a:gdLst/>
              <a:ahLst/>
              <a:cxnLst/>
              <a:rect l="l" t="t" r="r" b="b"/>
              <a:pathLst>
                <a:path w="320039" h="1576070">
                  <a:moveTo>
                    <a:pt x="0" y="0"/>
                  </a:moveTo>
                  <a:lnTo>
                    <a:pt x="319764" y="0"/>
                  </a:lnTo>
                  <a:lnTo>
                    <a:pt x="319764" y="1575944"/>
                  </a:lnTo>
                  <a:lnTo>
                    <a:pt x="0" y="1575944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80689" y="5064338"/>
              <a:ext cx="320040" cy="407670"/>
            </a:xfrm>
            <a:custGeom>
              <a:avLst/>
              <a:gdLst/>
              <a:ahLst/>
              <a:cxnLst/>
              <a:rect l="l" t="t" r="r" b="b"/>
              <a:pathLst>
                <a:path w="320039" h="407670">
                  <a:moveTo>
                    <a:pt x="319764" y="0"/>
                  </a:moveTo>
                  <a:lnTo>
                    <a:pt x="0" y="0"/>
                  </a:lnTo>
                  <a:lnTo>
                    <a:pt x="0" y="407466"/>
                  </a:lnTo>
                  <a:lnTo>
                    <a:pt x="319764" y="407466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80689" y="5064339"/>
              <a:ext cx="320040" cy="407670"/>
            </a:xfrm>
            <a:custGeom>
              <a:avLst/>
              <a:gdLst/>
              <a:ahLst/>
              <a:cxnLst/>
              <a:rect l="l" t="t" r="r" b="b"/>
              <a:pathLst>
                <a:path w="320039" h="407670">
                  <a:moveTo>
                    <a:pt x="0" y="0"/>
                  </a:moveTo>
                  <a:lnTo>
                    <a:pt x="319764" y="0"/>
                  </a:lnTo>
                  <a:lnTo>
                    <a:pt x="319764" y="407466"/>
                  </a:lnTo>
                  <a:lnTo>
                    <a:pt x="0" y="407466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99366" y="4822586"/>
              <a:ext cx="320040" cy="649605"/>
            </a:xfrm>
            <a:custGeom>
              <a:avLst/>
              <a:gdLst/>
              <a:ahLst/>
              <a:cxnLst/>
              <a:rect l="l" t="t" r="r" b="b"/>
              <a:pathLst>
                <a:path w="320039" h="649604">
                  <a:moveTo>
                    <a:pt x="319764" y="0"/>
                  </a:moveTo>
                  <a:lnTo>
                    <a:pt x="0" y="0"/>
                  </a:lnTo>
                  <a:lnTo>
                    <a:pt x="0" y="649218"/>
                  </a:lnTo>
                  <a:lnTo>
                    <a:pt x="319764" y="649218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99366" y="4822586"/>
              <a:ext cx="320040" cy="649605"/>
            </a:xfrm>
            <a:custGeom>
              <a:avLst/>
              <a:gdLst/>
              <a:ahLst/>
              <a:cxnLst/>
              <a:rect l="l" t="t" r="r" b="b"/>
              <a:pathLst>
                <a:path w="320039" h="649604">
                  <a:moveTo>
                    <a:pt x="0" y="0"/>
                  </a:moveTo>
                  <a:lnTo>
                    <a:pt x="319764" y="0"/>
                  </a:lnTo>
                  <a:lnTo>
                    <a:pt x="319764" y="649218"/>
                  </a:lnTo>
                  <a:lnTo>
                    <a:pt x="0" y="649218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18043" y="5276407"/>
              <a:ext cx="320040" cy="195580"/>
            </a:xfrm>
            <a:custGeom>
              <a:avLst/>
              <a:gdLst/>
              <a:ahLst/>
              <a:cxnLst/>
              <a:rect l="l" t="t" r="r" b="b"/>
              <a:pathLst>
                <a:path w="320039" h="195579">
                  <a:moveTo>
                    <a:pt x="319764" y="0"/>
                  </a:moveTo>
                  <a:lnTo>
                    <a:pt x="0" y="0"/>
                  </a:lnTo>
                  <a:lnTo>
                    <a:pt x="0" y="195399"/>
                  </a:lnTo>
                  <a:lnTo>
                    <a:pt x="319764" y="195399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18043" y="5276406"/>
              <a:ext cx="320040" cy="195580"/>
            </a:xfrm>
            <a:custGeom>
              <a:avLst/>
              <a:gdLst/>
              <a:ahLst/>
              <a:cxnLst/>
              <a:rect l="l" t="t" r="r" b="b"/>
              <a:pathLst>
                <a:path w="320039" h="195579">
                  <a:moveTo>
                    <a:pt x="0" y="0"/>
                  </a:moveTo>
                  <a:lnTo>
                    <a:pt x="319764" y="0"/>
                  </a:lnTo>
                  <a:lnTo>
                    <a:pt x="319764" y="195399"/>
                  </a:lnTo>
                  <a:lnTo>
                    <a:pt x="0" y="195399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36720" y="4769386"/>
              <a:ext cx="320040" cy="702945"/>
            </a:xfrm>
            <a:custGeom>
              <a:avLst/>
              <a:gdLst/>
              <a:ahLst/>
              <a:cxnLst/>
              <a:rect l="l" t="t" r="r" b="b"/>
              <a:pathLst>
                <a:path w="320040" h="702945">
                  <a:moveTo>
                    <a:pt x="319764" y="0"/>
                  </a:moveTo>
                  <a:lnTo>
                    <a:pt x="0" y="0"/>
                  </a:lnTo>
                  <a:lnTo>
                    <a:pt x="0" y="702419"/>
                  </a:lnTo>
                  <a:lnTo>
                    <a:pt x="319764" y="702419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36720" y="4769384"/>
              <a:ext cx="320040" cy="702945"/>
            </a:xfrm>
            <a:custGeom>
              <a:avLst/>
              <a:gdLst/>
              <a:ahLst/>
              <a:cxnLst/>
              <a:rect l="l" t="t" r="r" b="b"/>
              <a:pathLst>
                <a:path w="320040" h="702945">
                  <a:moveTo>
                    <a:pt x="0" y="0"/>
                  </a:moveTo>
                  <a:lnTo>
                    <a:pt x="319764" y="0"/>
                  </a:lnTo>
                  <a:lnTo>
                    <a:pt x="319764" y="702419"/>
                  </a:lnTo>
                  <a:lnTo>
                    <a:pt x="0" y="702419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55398" y="4822586"/>
              <a:ext cx="320040" cy="649605"/>
            </a:xfrm>
            <a:custGeom>
              <a:avLst/>
              <a:gdLst/>
              <a:ahLst/>
              <a:cxnLst/>
              <a:rect l="l" t="t" r="r" b="b"/>
              <a:pathLst>
                <a:path w="320040" h="649604">
                  <a:moveTo>
                    <a:pt x="319764" y="0"/>
                  </a:moveTo>
                  <a:lnTo>
                    <a:pt x="0" y="0"/>
                  </a:lnTo>
                  <a:lnTo>
                    <a:pt x="0" y="649220"/>
                  </a:lnTo>
                  <a:lnTo>
                    <a:pt x="319764" y="649220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55398" y="4822586"/>
              <a:ext cx="320040" cy="649605"/>
            </a:xfrm>
            <a:custGeom>
              <a:avLst/>
              <a:gdLst/>
              <a:ahLst/>
              <a:cxnLst/>
              <a:rect l="l" t="t" r="r" b="b"/>
              <a:pathLst>
                <a:path w="320040" h="649604">
                  <a:moveTo>
                    <a:pt x="0" y="0"/>
                  </a:moveTo>
                  <a:lnTo>
                    <a:pt x="319764" y="0"/>
                  </a:lnTo>
                  <a:lnTo>
                    <a:pt x="319764" y="649221"/>
                  </a:lnTo>
                  <a:lnTo>
                    <a:pt x="0" y="649221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48872" y="3777006"/>
              <a:ext cx="170180" cy="512445"/>
            </a:xfrm>
            <a:custGeom>
              <a:avLst/>
              <a:gdLst/>
              <a:ahLst/>
              <a:cxnLst/>
              <a:rect l="l" t="t" r="r" b="b"/>
              <a:pathLst>
                <a:path w="170179" h="512445">
                  <a:moveTo>
                    <a:pt x="95719" y="0"/>
                  </a:moveTo>
                  <a:lnTo>
                    <a:pt x="74448" y="0"/>
                  </a:lnTo>
                  <a:lnTo>
                    <a:pt x="74451" y="341693"/>
                  </a:lnTo>
                  <a:lnTo>
                    <a:pt x="0" y="341693"/>
                  </a:lnTo>
                  <a:lnTo>
                    <a:pt x="85087" y="511865"/>
                  </a:lnTo>
                  <a:lnTo>
                    <a:pt x="170173" y="341693"/>
                  </a:lnTo>
                  <a:lnTo>
                    <a:pt x="95722" y="341693"/>
                  </a:lnTo>
                  <a:lnTo>
                    <a:pt x="95719" y="0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74073" y="4288873"/>
              <a:ext cx="320040" cy="1183005"/>
            </a:xfrm>
            <a:custGeom>
              <a:avLst/>
              <a:gdLst/>
              <a:ahLst/>
              <a:cxnLst/>
              <a:rect l="l" t="t" r="r" b="b"/>
              <a:pathLst>
                <a:path w="320040" h="1183004">
                  <a:moveTo>
                    <a:pt x="319764" y="0"/>
                  </a:moveTo>
                  <a:lnTo>
                    <a:pt x="0" y="0"/>
                  </a:lnTo>
                  <a:lnTo>
                    <a:pt x="0" y="1182934"/>
                  </a:lnTo>
                  <a:lnTo>
                    <a:pt x="319764" y="1182934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74073" y="4288872"/>
              <a:ext cx="320040" cy="1183005"/>
            </a:xfrm>
            <a:custGeom>
              <a:avLst/>
              <a:gdLst/>
              <a:ahLst/>
              <a:cxnLst/>
              <a:rect l="l" t="t" r="r" b="b"/>
              <a:pathLst>
                <a:path w="320040" h="1183004">
                  <a:moveTo>
                    <a:pt x="0" y="0"/>
                  </a:moveTo>
                  <a:lnTo>
                    <a:pt x="319764" y="0"/>
                  </a:lnTo>
                  <a:lnTo>
                    <a:pt x="319764" y="1182934"/>
                  </a:lnTo>
                  <a:lnTo>
                    <a:pt x="0" y="1182934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92752" y="5176394"/>
              <a:ext cx="320040" cy="295910"/>
            </a:xfrm>
            <a:custGeom>
              <a:avLst/>
              <a:gdLst/>
              <a:ahLst/>
              <a:cxnLst/>
              <a:rect l="l" t="t" r="r" b="b"/>
              <a:pathLst>
                <a:path w="320040" h="295910">
                  <a:moveTo>
                    <a:pt x="319764" y="0"/>
                  </a:moveTo>
                  <a:lnTo>
                    <a:pt x="0" y="0"/>
                  </a:lnTo>
                  <a:lnTo>
                    <a:pt x="0" y="295410"/>
                  </a:lnTo>
                  <a:lnTo>
                    <a:pt x="319764" y="295410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92752" y="5176392"/>
              <a:ext cx="320040" cy="295910"/>
            </a:xfrm>
            <a:custGeom>
              <a:avLst/>
              <a:gdLst/>
              <a:ahLst/>
              <a:cxnLst/>
              <a:rect l="l" t="t" r="r" b="b"/>
              <a:pathLst>
                <a:path w="320040" h="295910">
                  <a:moveTo>
                    <a:pt x="0" y="0"/>
                  </a:moveTo>
                  <a:lnTo>
                    <a:pt x="319764" y="0"/>
                  </a:lnTo>
                  <a:lnTo>
                    <a:pt x="319764" y="295410"/>
                  </a:lnTo>
                  <a:lnTo>
                    <a:pt x="0" y="295410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11427" y="4940005"/>
              <a:ext cx="320040" cy="532130"/>
            </a:xfrm>
            <a:custGeom>
              <a:avLst/>
              <a:gdLst/>
              <a:ahLst/>
              <a:cxnLst/>
              <a:rect l="l" t="t" r="r" b="b"/>
              <a:pathLst>
                <a:path w="320040" h="532129">
                  <a:moveTo>
                    <a:pt x="319764" y="0"/>
                  </a:moveTo>
                  <a:lnTo>
                    <a:pt x="0" y="0"/>
                  </a:lnTo>
                  <a:lnTo>
                    <a:pt x="0" y="531799"/>
                  </a:lnTo>
                  <a:lnTo>
                    <a:pt x="319764" y="531799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11427" y="4940006"/>
              <a:ext cx="320040" cy="532130"/>
            </a:xfrm>
            <a:custGeom>
              <a:avLst/>
              <a:gdLst/>
              <a:ahLst/>
              <a:cxnLst/>
              <a:rect l="l" t="t" r="r" b="b"/>
              <a:pathLst>
                <a:path w="320040" h="532129">
                  <a:moveTo>
                    <a:pt x="0" y="0"/>
                  </a:moveTo>
                  <a:lnTo>
                    <a:pt x="319764" y="0"/>
                  </a:lnTo>
                  <a:lnTo>
                    <a:pt x="319764" y="531799"/>
                  </a:lnTo>
                  <a:lnTo>
                    <a:pt x="0" y="531799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30105" y="4753748"/>
              <a:ext cx="320040" cy="718185"/>
            </a:xfrm>
            <a:custGeom>
              <a:avLst/>
              <a:gdLst/>
              <a:ahLst/>
              <a:cxnLst/>
              <a:rect l="l" t="t" r="r" b="b"/>
              <a:pathLst>
                <a:path w="320040" h="718185">
                  <a:moveTo>
                    <a:pt x="319764" y="0"/>
                  </a:moveTo>
                  <a:lnTo>
                    <a:pt x="0" y="0"/>
                  </a:lnTo>
                  <a:lnTo>
                    <a:pt x="0" y="718056"/>
                  </a:lnTo>
                  <a:lnTo>
                    <a:pt x="319764" y="718056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830105" y="4753748"/>
              <a:ext cx="320040" cy="718185"/>
            </a:xfrm>
            <a:custGeom>
              <a:avLst/>
              <a:gdLst/>
              <a:ahLst/>
              <a:cxnLst/>
              <a:rect l="l" t="t" r="r" b="b"/>
              <a:pathLst>
                <a:path w="320040" h="718185">
                  <a:moveTo>
                    <a:pt x="0" y="0"/>
                  </a:moveTo>
                  <a:lnTo>
                    <a:pt x="319764" y="0"/>
                  </a:lnTo>
                  <a:lnTo>
                    <a:pt x="319764" y="718056"/>
                  </a:lnTo>
                  <a:lnTo>
                    <a:pt x="0" y="718056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48777" y="5346942"/>
              <a:ext cx="320040" cy="125095"/>
            </a:xfrm>
            <a:custGeom>
              <a:avLst/>
              <a:gdLst/>
              <a:ahLst/>
              <a:cxnLst/>
              <a:rect l="l" t="t" r="r" b="b"/>
              <a:pathLst>
                <a:path w="320040" h="125095">
                  <a:moveTo>
                    <a:pt x="319764" y="0"/>
                  </a:moveTo>
                  <a:lnTo>
                    <a:pt x="0" y="0"/>
                  </a:lnTo>
                  <a:lnTo>
                    <a:pt x="0" y="124862"/>
                  </a:lnTo>
                  <a:lnTo>
                    <a:pt x="319764" y="124862"/>
                  </a:lnTo>
                  <a:lnTo>
                    <a:pt x="3197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48777" y="5346943"/>
              <a:ext cx="320040" cy="125095"/>
            </a:xfrm>
            <a:custGeom>
              <a:avLst/>
              <a:gdLst/>
              <a:ahLst/>
              <a:cxnLst/>
              <a:rect l="l" t="t" r="r" b="b"/>
              <a:pathLst>
                <a:path w="320040" h="125095">
                  <a:moveTo>
                    <a:pt x="0" y="0"/>
                  </a:moveTo>
                  <a:lnTo>
                    <a:pt x="319764" y="0"/>
                  </a:lnTo>
                  <a:lnTo>
                    <a:pt x="319764" y="124862"/>
                  </a:lnTo>
                  <a:lnTo>
                    <a:pt x="0" y="124862"/>
                  </a:lnTo>
                  <a:lnTo>
                    <a:pt x="0" y="0"/>
                  </a:lnTo>
                  <a:close/>
                </a:path>
              </a:pathLst>
            </a:custGeom>
            <a:ln w="2127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4788847" y="3922159"/>
            <a:ext cx="2689622" cy="119658"/>
          </a:xfrm>
          <a:custGeom>
            <a:avLst/>
            <a:gdLst/>
            <a:ahLst/>
            <a:cxnLst/>
            <a:rect l="l" t="t" r="r" b="b"/>
            <a:pathLst>
              <a:path w="3825240" h="170179">
                <a:moveTo>
                  <a:pt x="3655029" y="2"/>
                </a:moveTo>
                <a:lnTo>
                  <a:pt x="3655029" y="63817"/>
                </a:lnTo>
                <a:lnTo>
                  <a:pt x="170172" y="63814"/>
                </a:lnTo>
                <a:lnTo>
                  <a:pt x="170172" y="0"/>
                </a:lnTo>
                <a:lnTo>
                  <a:pt x="0" y="85086"/>
                </a:lnTo>
                <a:lnTo>
                  <a:pt x="170172" y="170173"/>
                </a:lnTo>
                <a:lnTo>
                  <a:pt x="170172" y="106358"/>
                </a:lnTo>
                <a:lnTo>
                  <a:pt x="3655029" y="106361"/>
                </a:lnTo>
                <a:lnTo>
                  <a:pt x="3655029" y="170176"/>
                </a:lnTo>
                <a:lnTo>
                  <a:pt x="3825201" y="85090"/>
                </a:lnTo>
                <a:lnTo>
                  <a:pt x="3655029" y="2"/>
                </a:lnTo>
                <a:close/>
              </a:path>
            </a:pathLst>
          </a:custGeom>
          <a:solidFill>
            <a:srgbClr val="1772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812118" y="3968142"/>
            <a:ext cx="151805" cy="346747"/>
          </a:xfrm>
          <a:prstGeom prst="rect">
            <a:avLst/>
          </a:prstGeom>
        </p:spPr>
        <p:txBody>
          <a:bodyPr vert="horz" wrap="square" lIns="0" tIns="11162" rIns="0" bIns="0" rtlCol="0">
            <a:spAutoFit/>
          </a:bodyPr>
          <a:lstStyle/>
          <a:p>
            <a:pPr marL="8929">
              <a:spcBef>
                <a:spcPts val="88"/>
              </a:spcBef>
            </a:pPr>
            <a:r>
              <a:rPr sz="2180" spc="-161" dirty="0">
                <a:solidFill>
                  <a:srgbClr val="177245"/>
                </a:solidFill>
                <a:latin typeface="Arial"/>
                <a:cs typeface="Arial"/>
              </a:rPr>
              <a:t>a</a:t>
            </a:r>
            <a:endParaRPr sz="218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76501" y="3974075"/>
            <a:ext cx="416123" cy="346747"/>
          </a:xfrm>
          <a:prstGeom prst="rect">
            <a:avLst/>
          </a:prstGeom>
        </p:spPr>
        <p:txBody>
          <a:bodyPr vert="horz" wrap="square" lIns="0" tIns="11162" rIns="0" bIns="0" rtlCol="0">
            <a:spAutoFit/>
          </a:bodyPr>
          <a:lstStyle/>
          <a:p>
            <a:pPr marL="8929">
              <a:spcBef>
                <a:spcPts val="88"/>
              </a:spcBef>
            </a:pPr>
            <a:r>
              <a:rPr sz="2180" spc="-120" dirty="0">
                <a:solidFill>
                  <a:srgbClr val="177245"/>
                </a:solidFill>
                <a:latin typeface="Arial"/>
                <a:cs typeface="Arial"/>
              </a:rPr>
              <a:t>zoo</a:t>
            </a:r>
            <a:endParaRPr sz="218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929612" y="4162811"/>
            <a:ext cx="214313" cy="1010841"/>
            <a:chOff x="6265759" y="5920442"/>
            <a:chExt cx="304800" cy="143764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06036" y="5958547"/>
              <a:ext cx="240740" cy="25386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418159" y="6187142"/>
              <a:ext cx="0" cy="1170940"/>
            </a:xfrm>
            <a:custGeom>
              <a:avLst/>
              <a:gdLst/>
              <a:ahLst/>
              <a:cxnLst/>
              <a:rect l="l" t="t" r="r" b="b"/>
              <a:pathLst>
                <a:path h="1170940">
                  <a:moveTo>
                    <a:pt x="0" y="1170390"/>
                  </a:move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65759" y="592044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0" y="304800"/>
                  </a:lnTo>
                  <a:lnTo>
                    <a:pt x="304800" y="3048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9" name="object 3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6070" y="5348883"/>
            <a:ext cx="381395" cy="368698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6443940" y="5280022"/>
            <a:ext cx="2676674" cy="904567"/>
          </a:xfrm>
          <a:prstGeom prst="rect">
            <a:avLst/>
          </a:prstGeom>
        </p:spPr>
        <p:txBody>
          <a:bodyPr vert="horz" wrap="square" lIns="0" tIns="5358" rIns="0" bIns="0" rtlCol="0">
            <a:spAutoFit/>
          </a:bodyPr>
          <a:lstStyle/>
          <a:p>
            <a:pPr marL="8483" marR="3572" algn="ctr">
              <a:lnSpc>
                <a:spcPct val="101200"/>
              </a:lnSpc>
              <a:spcBef>
                <a:spcPts val="42"/>
              </a:spcBef>
            </a:pPr>
            <a:r>
              <a:rPr sz="1969" dirty="0">
                <a:latin typeface="Helvetica Neue"/>
                <a:cs typeface="Helvetica Neue"/>
              </a:rPr>
              <a:t>Low-</a:t>
            </a:r>
            <a:r>
              <a:rPr sz="1969" spc="-7" dirty="0">
                <a:latin typeface="Helvetica Neue"/>
                <a:cs typeface="Helvetica Neue"/>
              </a:rPr>
              <a:t>dimensional </a:t>
            </a:r>
            <a:r>
              <a:rPr sz="1969" dirty="0">
                <a:latin typeface="Helvetica Neue"/>
                <a:cs typeface="Helvetica Neue"/>
              </a:rPr>
              <a:t>representation</a:t>
            </a:r>
            <a:r>
              <a:rPr sz="1969" spc="-77" dirty="0">
                <a:latin typeface="Helvetica Neue"/>
                <a:cs typeface="Helvetica Neue"/>
              </a:rPr>
              <a:t> </a:t>
            </a:r>
            <a:r>
              <a:rPr sz="1969" spc="-18" dirty="0">
                <a:latin typeface="Helvetica Neue"/>
                <a:cs typeface="Helvetica Neue"/>
              </a:rPr>
              <a:t>of </a:t>
            </a:r>
            <a:r>
              <a:rPr sz="1969" dirty="0">
                <a:latin typeface="Helvetica Neue"/>
                <a:cs typeface="Helvetica Neue"/>
              </a:rPr>
              <a:t>“students opened </a:t>
            </a:r>
            <a:r>
              <a:rPr sz="1969" spc="-7" dirty="0">
                <a:latin typeface="Helvetica Neue"/>
                <a:cs typeface="Helvetica Neue"/>
              </a:rPr>
              <a:t>their”</a:t>
            </a:r>
            <a:endParaRPr sz="1969">
              <a:latin typeface="Helvetica Neue"/>
              <a:cs typeface="Helvetica Neu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23376" y="2379390"/>
            <a:ext cx="2523530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dirty="0">
                <a:latin typeface="Helvetica Neue"/>
                <a:cs typeface="Helvetica Neue"/>
              </a:rPr>
              <a:t>Probability</a:t>
            </a:r>
            <a:r>
              <a:rPr sz="1969" spc="-46" dirty="0">
                <a:latin typeface="Helvetica Neue"/>
                <a:cs typeface="Helvetica Neue"/>
              </a:rPr>
              <a:t> </a:t>
            </a:r>
            <a:r>
              <a:rPr sz="1969" spc="-7" dirty="0">
                <a:latin typeface="Helvetica Neue"/>
                <a:cs typeface="Helvetica Neue"/>
              </a:rPr>
              <a:t>distribution</a:t>
            </a:r>
            <a:endParaRPr sz="1969">
              <a:latin typeface="Helvetica Neue"/>
              <a:cs typeface="Helvetica Neu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477183" y="2683000"/>
            <a:ext cx="1615827" cy="904567"/>
          </a:xfrm>
          <a:prstGeom prst="rect">
            <a:avLst/>
          </a:prstGeom>
        </p:spPr>
        <p:txBody>
          <a:bodyPr vert="horz" wrap="square" lIns="0" tIns="5358" rIns="0" bIns="0" rtlCol="0">
            <a:spAutoFit/>
          </a:bodyPr>
          <a:lstStyle/>
          <a:p>
            <a:pPr marL="196446" marR="3572" indent="-187963">
              <a:lnSpc>
                <a:spcPct val="101200"/>
              </a:lnSpc>
              <a:spcBef>
                <a:spcPts val="42"/>
              </a:spcBef>
            </a:pPr>
            <a:r>
              <a:rPr sz="1969" dirty="0">
                <a:latin typeface="Helvetica Neue"/>
                <a:cs typeface="Helvetica Neue"/>
              </a:rPr>
              <a:t>over the </a:t>
            </a:r>
            <a:r>
              <a:rPr sz="1969" spc="-14" dirty="0">
                <a:latin typeface="Helvetica Neue"/>
                <a:cs typeface="Helvetica Neue"/>
              </a:rPr>
              <a:t>entire </a:t>
            </a:r>
            <a:r>
              <a:rPr sz="1969" spc="-7" dirty="0">
                <a:latin typeface="Helvetica Neue"/>
                <a:cs typeface="Helvetica Neue"/>
              </a:rPr>
              <a:t>vocabulary</a:t>
            </a:r>
            <a:endParaRPr sz="1969">
              <a:latin typeface="Helvetica Neue"/>
              <a:cs typeface="Helvetica Neue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264B17-ED98-4FC1-8A2C-FCA4FF46A981}"/>
              </a:ext>
            </a:extLst>
          </p:cNvPr>
          <p:cNvSpPr txBox="1"/>
          <p:nvPr/>
        </p:nvSpPr>
        <p:spPr>
          <a:xfrm>
            <a:off x="4646804" y="1902807"/>
            <a:ext cx="9424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i="1" spc="-120" dirty="0">
                <a:solidFill>
                  <a:srgbClr val="177245"/>
                </a:solidFill>
                <a:latin typeface="Arial"/>
                <a:cs typeface="Arial"/>
              </a:rPr>
              <a:t>books</a:t>
            </a:r>
            <a:endParaRPr lang="en-US" sz="2200" dirty="0"/>
          </a:p>
        </p:txBody>
      </p:sp>
      <p:sp>
        <p:nvSpPr>
          <p:cNvPr id="47" name="object 43">
            <a:extLst>
              <a:ext uri="{FF2B5EF4-FFF2-40B4-BE49-F238E27FC236}">
                <a16:creationId xmlns:a16="http://schemas.microsoft.com/office/drawing/2014/main" id="{71D1D36A-EA23-498F-B235-D4CB545995EE}"/>
              </a:ext>
            </a:extLst>
          </p:cNvPr>
          <p:cNvSpPr txBox="1">
            <a:spLocks/>
          </p:cNvSpPr>
          <p:nvPr/>
        </p:nvSpPr>
        <p:spPr bwMode="auto">
          <a:xfrm>
            <a:off x="1768246" y="1353616"/>
            <a:ext cx="8655506" cy="439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182880" algn="l" rtl="0" eaLnBrk="1" fontAlgn="base" hangingPunct="1">
              <a:spcBef>
                <a:spcPct val="0"/>
              </a:spcBef>
              <a:spcAft>
                <a:spcPct val="0"/>
              </a:spcAft>
              <a:defRPr sz="40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7859" algn="ctr">
              <a:spcBef>
                <a:spcPts val="70"/>
              </a:spcBef>
              <a:tabLst>
                <a:tab pos="1709081" algn="l"/>
                <a:tab pos="2161354" algn="l"/>
                <a:tab pos="3565944" algn="l"/>
                <a:tab pos="4709350" algn="l"/>
              </a:tabLst>
            </a:pPr>
            <a:r>
              <a:rPr lang="en-US" sz="2800" i="1" spc="-35" dirty="0">
                <a:solidFill>
                  <a:srgbClr val="000000"/>
                </a:solidFill>
                <a:latin typeface="+mn-lt"/>
                <a:cs typeface="Times New Roman"/>
              </a:rPr>
              <a:t>P</a:t>
            </a:r>
            <a:r>
              <a:rPr lang="en-US" sz="2800" spc="-35" dirty="0">
                <a:solidFill>
                  <a:srgbClr val="000000"/>
                </a:solidFill>
                <a:latin typeface="+mn-lt"/>
                <a:cs typeface="Times New Roman"/>
              </a:rPr>
              <a:t>(</a:t>
            </a:r>
            <a:r>
              <a:rPr lang="en-US" sz="2800" i="1" spc="-35" dirty="0" err="1">
                <a:solidFill>
                  <a:srgbClr val="000000"/>
                </a:solidFill>
                <a:latin typeface="+mn-lt"/>
                <a:cs typeface="Times New Roman"/>
              </a:rPr>
              <a:t>w</a:t>
            </a:r>
            <a:r>
              <a:rPr lang="en-US" sz="1800" i="1" spc="-53" baseline="-19607" dirty="0" err="1">
                <a:solidFill>
                  <a:srgbClr val="000000"/>
                </a:solidFill>
                <a:latin typeface="+mn-lt"/>
                <a:cs typeface="Times New Roman"/>
              </a:rPr>
              <a:t>i</a:t>
            </a:r>
            <a:r>
              <a:rPr lang="en-US" sz="1800" i="1" spc="-237" baseline="-19607" dirty="0">
                <a:solidFill>
                  <a:srgbClr val="000000"/>
                </a:solidFill>
                <a:latin typeface="+mn-lt"/>
                <a:cs typeface="Times New Roman"/>
              </a:rPr>
              <a:t> </a:t>
            </a:r>
            <a:r>
              <a:rPr lang="en-US" sz="2800" spc="151" dirty="0">
                <a:solidFill>
                  <a:srgbClr val="000000"/>
                </a:solidFill>
                <a:latin typeface="+mn-lt"/>
                <a:cs typeface="Arial"/>
              </a:rPr>
              <a:t>|</a:t>
            </a:r>
            <a:r>
              <a:rPr lang="en-US" sz="2800" spc="-415" dirty="0">
                <a:solidFill>
                  <a:srgbClr val="000000"/>
                </a:solidFill>
                <a:latin typeface="+mn-lt"/>
                <a:cs typeface="Arial"/>
              </a:rPr>
              <a:t> </a:t>
            </a:r>
            <a:r>
              <a:rPr lang="en-US" sz="2800" spc="-7" dirty="0">
                <a:solidFill>
                  <a:srgbClr val="000000"/>
                </a:solidFill>
                <a:latin typeface="+mn-lt"/>
              </a:rPr>
              <a:t>vector </a:t>
            </a:r>
            <a:r>
              <a:rPr lang="en-US" sz="2800" spc="-18" dirty="0">
                <a:solidFill>
                  <a:srgbClr val="000000"/>
                </a:solidFill>
                <a:latin typeface="+mn-lt"/>
              </a:rPr>
              <a:t>for </a:t>
            </a:r>
            <a:r>
              <a:rPr lang="en-US" sz="2800" spc="-7" dirty="0">
                <a:solidFill>
                  <a:srgbClr val="000000"/>
                </a:solidFill>
                <a:latin typeface="+mn-lt"/>
              </a:rPr>
              <a:t>"students opened their"</a:t>
            </a:r>
            <a:r>
              <a:rPr lang="en-US" sz="2800" spc="-7" dirty="0">
                <a:solidFill>
                  <a:srgbClr val="000000"/>
                </a:solidFill>
                <a:latin typeface="+mn-lt"/>
                <a:cs typeface="Times New Roman"/>
              </a:rPr>
              <a:t>)</a:t>
            </a:r>
            <a:endParaRPr lang="en-US" sz="2800" dirty="0">
              <a:latin typeface="+mn-lt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46070" y="5348883"/>
            <a:ext cx="381395" cy="3686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48154" y="2459919"/>
            <a:ext cx="2727573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  <a:tabLst>
                <a:tab pos="827306" algn="l"/>
                <a:tab pos="1452808" algn="l"/>
                <a:tab pos="2078311" algn="l"/>
              </a:tabLst>
            </a:pPr>
            <a:r>
              <a:rPr sz="2531" spc="-7" dirty="0">
                <a:latin typeface="HelveticaNeue-Light"/>
                <a:cs typeface="HelveticaNeue-Light"/>
              </a:rPr>
              <a:t>&lt;0.6,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14" dirty="0">
                <a:latin typeface="HelveticaNeue-Light"/>
                <a:cs typeface="HelveticaNeue-Light"/>
              </a:rPr>
              <a:t>0.2,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14" dirty="0">
                <a:latin typeface="HelveticaNeue-Light"/>
                <a:cs typeface="HelveticaNeue-Light"/>
              </a:rPr>
              <a:t>0.1,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14" dirty="0">
                <a:latin typeface="HelveticaNeue-Light"/>
                <a:cs typeface="HelveticaNeue-Light"/>
              </a:rPr>
              <a:t>0.1&gt;</a:t>
            </a:r>
            <a:endParaRPr sz="2531">
              <a:latin typeface="HelveticaNeue-Light"/>
              <a:cs typeface="HelveticaNeue-Light"/>
            </a:endParaRPr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C0C25AFD-F33A-4A52-8C53-32432A8B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2AD37BB3-838C-4802-AEA0-64BCFB66B21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990600"/>
            <a:ext cx="4171950" cy="5410200"/>
          </a:xfrm>
        </p:spPr>
        <p:txBody>
          <a:bodyPr/>
          <a:lstStyle/>
          <a:p>
            <a:r>
              <a:rPr lang="en-US" dirty="0"/>
              <a:t>Let’s say  our output  vocabulary consists of just four words: “books”, “houses”, “lamps”, and “stamps”.</a:t>
            </a:r>
          </a:p>
        </p:txBody>
      </p:sp>
      <p:sp>
        <p:nvSpPr>
          <p:cNvPr id="4" name="object 4"/>
          <p:cNvSpPr txBox="1"/>
          <p:nvPr/>
        </p:nvSpPr>
        <p:spPr>
          <a:xfrm rot="19620000">
            <a:off x="4597332" y="2076945"/>
            <a:ext cx="867321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books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5" name="object 5"/>
          <p:cNvSpPr txBox="1"/>
          <p:nvPr/>
        </p:nvSpPr>
        <p:spPr>
          <a:xfrm rot="19620000">
            <a:off x="5420056" y="1993775"/>
            <a:ext cx="99647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houses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6" name="object 6"/>
          <p:cNvSpPr txBox="1"/>
          <p:nvPr/>
        </p:nvSpPr>
        <p:spPr>
          <a:xfrm rot="19620000">
            <a:off x="6212564" y="1993581"/>
            <a:ext cx="85180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lamps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7" name="object 7"/>
          <p:cNvSpPr txBox="1"/>
          <p:nvPr/>
        </p:nvSpPr>
        <p:spPr>
          <a:xfrm rot="19620000">
            <a:off x="6832310" y="1993804"/>
            <a:ext cx="10178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stamps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05844" y="3103584"/>
            <a:ext cx="2847956" cy="1414019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664" rIns="0" bIns="0" rtlCol="0">
            <a:spAutoFit/>
          </a:bodyPr>
          <a:lstStyle/>
          <a:p>
            <a:pPr marL="254487" marR="249129" algn="ctr">
              <a:lnSpc>
                <a:spcPct val="101600"/>
              </a:lnSpc>
              <a:spcBef>
                <a:spcPts val="186"/>
              </a:spcBef>
            </a:pPr>
            <a:r>
              <a:rPr sz="2250" dirty="0">
                <a:latin typeface="HelveticaNeue-Light"/>
                <a:cs typeface="HelveticaNeue-Light"/>
              </a:rPr>
              <a:t>We</a:t>
            </a:r>
            <a:r>
              <a:rPr sz="2250" spc="-11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want</a:t>
            </a:r>
            <a:r>
              <a:rPr sz="2250" spc="-11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to</a:t>
            </a:r>
            <a:r>
              <a:rPr sz="2250" spc="-11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get</a:t>
            </a:r>
            <a:r>
              <a:rPr sz="2250" spc="-11" dirty="0">
                <a:latin typeface="HelveticaNeue-Light"/>
                <a:cs typeface="HelveticaNeue-Light"/>
              </a:rPr>
              <a:t> </a:t>
            </a:r>
            <a:r>
              <a:rPr sz="2250" spc="-35" dirty="0">
                <a:latin typeface="HelveticaNeue-Light"/>
                <a:cs typeface="HelveticaNeue-Light"/>
              </a:rPr>
              <a:t>a </a:t>
            </a:r>
            <a:r>
              <a:rPr sz="2250" spc="-7" dirty="0">
                <a:latin typeface="HelveticaNeue-Light"/>
                <a:cs typeface="HelveticaNeue-Light"/>
              </a:rPr>
              <a:t>probability </a:t>
            </a:r>
            <a:r>
              <a:rPr sz="2250" dirty="0">
                <a:latin typeface="HelveticaNeue-Light"/>
                <a:cs typeface="HelveticaNeue-Light"/>
              </a:rPr>
              <a:t>distribution </a:t>
            </a:r>
            <a:r>
              <a:rPr sz="2250" spc="-14" dirty="0">
                <a:latin typeface="HelveticaNeue-Light"/>
                <a:cs typeface="HelveticaNeue-Light"/>
              </a:rPr>
              <a:t>over </a:t>
            </a:r>
            <a:r>
              <a:rPr sz="2250" dirty="0">
                <a:latin typeface="HelveticaNeue-Light"/>
                <a:cs typeface="HelveticaNeue-Light"/>
              </a:rPr>
              <a:t>these four </a:t>
            </a:r>
            <a:r>
              <a:rPr sz="2250" spc="-7" dirty="0">
                <a:latin typeface="HelveticaNeue-Light"/>
                <a:cs typeface="HelveticaNeue-Light"/>
              </a:rPr>
              <a:t>words</a:t>
            </a:r>
            <a:endParaRPr sz="2250" dirty="0">
              <a:latin typeface="HelveticaNeue-Light"/>
              <a:cs typeface="HelveticaNeue-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3940" y="5280022"/>
            <a:ext cx="2676674" cy="904567"/>
          </a:xfrm>
          <a:prstGeom prst="rect">
            <a:avLst/>
          </a:prstGeom>
        </p:spPr>
        <p:txBody>
          <a:bodyPr vert="horz" wrap="square" lIns="0" tIns="5358" rIns="0" bIns="0" rtlCol="0">
            <a:spAutoFit/>
          </a:bodyPr>
          <a:lstStyle/>
          <a:p>
            <a:pPr marL="8483" marR="3572" algn="ctr">
              <a:lnSpc>
                <a:spcPct val="101200"/>
              </a:lnSpc>
              <a:spcBef>
                <a:spcPts val="42"/>
              </a:spcBef>
            </a:pPr>
            <a:r>
              <a:rPr sz="1969" dirty="0">
                <a:latin typeface="Helvetica Neue"/>
                <a:cs typeface="Helvetica Neue"/>
              </a:rPr>
              <a:t>Low-</a:t>
            </a:r>
            <a:r>
              <a:rPr sz="1969" spc="-7" dirty="0">
                <a:latin typeface="Helvetica Neue"/>
                <a:cs typeface="Helvetica Neue"/>
              </a:rPr>
              <a:t>dimensional </a:t>
            </a:r>
            <a:r>
              <a:rPr sz="1969" dirty="0">
                <a:latin typeface="Helvetica Neue"/>
                <a:cs typeface="Helvetica Neue"/>
              </a:rPr>
              <a:t>representation</a:t>
            </a:r>
            <a:r>
              <a:rPr sz="1969" spc="-77" dirty="0">
                <a:latin typeface="Helvetica Neue"/>
                <a:cs typeface="Helvetica Neue"/>
              </a:rPr>
              <a:t> </a:t>
            </a:r>
            <a:r>
              <a:rPr sz="1969" spc="-18" dirty="0">
                <a:latin typeface="Helvetica Neue"/>
                <a:cs typeface="Helvetica Neue"/>
              </a:rPr>
              <a:t>of </a:t>
            </a:r>
            <a:r>
              <a:rPr sz="1969" dirty="0">
                <a:latin typeface="Helvetica Neue"/>
                <a:cs typeface="Helvetica Neue"/>
              </a:rPr>
              <a:t>“students opened </a:t>
            </a:r>
            <a:r>
              <a:rPr sz="1969" spc="-7" dirty="0">
                <a:latin typeface="Helvetica Neue"/>
                <a:cs typeface="Helvetica Neue"/>
              </a:rPr>
              <a:t>their”</a:t>
            </a:r>
            <a:endParaRPr sz="1969">
              <a:latin typeface="Helvetica Neue"/>
              <a:cs typeface="Helvetica Neue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/>
              <p:cNvSpPr txBox="1"/>
              <p:nvPr/>
            </p:nvSpPr>
            <p:spPr>
              <a:xfrm>
                <a:off x="1541159" y="4839424"/>
                <a:ext cx="3639505" cy="398483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264756" algn="l"/>
                    <a:tab pos="1514421" algn="l"/>
                    <a:tab pos="2139924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31" b="1" i="1" spc="-35" dirty="0" smtClean="0">
                          <a:latin typeface="Cambria Math" panose="02040503050406030204" pitchFamily="18" charset="0"/>
                          <a:cs typeface="HelveticaNeue-BoldItalic"/>
                        </a:rPr>
                        <m:t>𝒙</m:t>
                      </m:r>
                      <m:r>
                        <a:rPr lang="en-US" sz="2531" b="1" i="1" dirty="0">
                          <a:latin typeface="Cambria Math" panose="02040503050406030204" pitchFamily="18" charset="0"/>
                          <a:cs typeface="HelveticaNeue-BoldItalic"/>
                        </a:rPr>
                        <m:t>	</m:t>
                      </m:r>
                      <m:r>
                        <a:rPr lang="en-US" sz="2531" i="1" dirty="0">
                          <a:latin typeface="Cambria Math" panose="02040503050406030204" pitchFamily="18" charset="0"/>
                          <a:cs typeface="HelveticaNeue-Ligh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31" b="0" i="1" spc="225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31" b="0" i="1" spc="225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531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159" y="4839424"/>
                <a:ext cx="3639505" cy="3984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9967" y="6037158"/>
            <a:ext cx="381395" cy="3686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24924" y="5697708"/>
            <a:ext cx="2537817" cy="598521"/>
          </a:xfrm>
          <a:prstGeom prst="rect">
            <a:avLst/>
          </a:prstGeom>
        </p:spPr>
        <p:txBody>
          <a:bodyPr vert="horz" wrap="square" lIns="0" tIns="5358" rIns="0" bIns="0" rtlCol="0">
            <a:spAutoFit/>
          </a:bodyPr>
          <a:lstStyle/>
          <a:p>
            <a:pPr marL="574158" marR="3572" indent="-565676">
              <a:lnSpc>
                <a:spcPct val="101200"/>
              </a:lnSpc>
              <a:spcBef>
                <a:spcPts val="42"/>
              </a:spcBef>
            </a:pPr>
            <a:r>
              <a:rPr sz="1969" spc="-14" dirty="0">
                <a:latin typeface="Helvetica Neue"/>
                <a:cs typeface="Helvetica Neue"/>
              </a:rPr>
              <a:t>Here’s</a:t>
            </a:r>
            <a:r>
              <a:rPr sz="1969" spc="-35" dirty="0">
                <a:latin typeface="Helvetica Neue"/>
                <a:cs typeface="Helvetica Neue"/>
              </a:rPr>
              <a:t> </a:t>
            </a:r>
            <a:r>
              <a:rPr sz="1969" dirty="0">
                <a:latin typeface="Helvetica Neue"/>
                <a:cs typeface="Helvetica Neue"/>
              </a:rPr>
              <a:t>an</a:t>
            </a:r>
            <a:r>
              <a:rPr sz="1969" spc="-35" dirty="0">
                <a:latin typeface="Helvetica Neue"/>
                <a:cs typeface="Helvetica Neue"/>
              </a:rPr>
              <a:t> </a:t>
            </a:r>
            <a:r>
              <a:rPr sz="1969" dirty="0">
                <a:latin typeface="Helvetica Neue"/>
                <a:cs typeface="Helvetica Neue"/>
              </a:rPr>
              <a:t>example</a:t>
            </a:r>
            <a:r>
              <a:rPr sz="1969" spc="-32" dirty="0">
                <a:latin typeface="Helvetica Neue"/>
                <a:cs typeface="Helvetica Neue"/>
              </a:rPr>
              <a:t> </a:t>
            </a:r>
            <a:r>
              <a:rPr sz="1969" dirty="0">
                <a:latin typeface="Helvetica Neue"/>
                <a:cs typeface="Helvetica Neue"/>
              </a:rPr>
              <a:t>3-</a:t>
            </a:r>
            <a:r>
              <a:rPr sz="1969" spc="-35" dirty="0">
                <a:latin typeface="Helvetica Neue"/>
                <a:cs typeface="Helvetica Neue"/>
              </a:rPr>
              <a:t>d </a:t>
            </a:r>
            <a:r>
              <a:rPr sz="1969" dirty="0">
                <a:latin typeface="Helvetica Neue"/>
                <a:cs typeface="Helvetica Neue"/>
              </a:rPr>
              <a:t>prefix</a:t>
            </a:r>
            <a:r>
              <a:rPr sz="1969" spc="-39" dirty="0">
                <a:latin typeface="Helvetica Neue"/>
                <a:cs typeface="Helvetica Neue"/>
              </a:rPr>
              <a:t> </a:t>
            </a:r>
            <a:r>
              <a:rPr sz="1969" spc="-7" dirty="0">
                <a:latin typeface="Helvetica Neue"/>
                <a:cs typeface="Helvetica Neue"/>
              </a:rPr>
              <a:t>vector</a:t>
            </a:r>
            <a:endParaRPr sz="1969">
              <a:latin typeface="Helvetica Neue"/>
              <a:cs typeface="Helvetica Neue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D738C4F-3517-47FF-8CFC-76B470FC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9967" y="6037158"/>
            <a:ext cx="381395" cy="3686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624924" y="5697708"/>
            <a:ext cx="2537817" cy="598521"/>
          </a:xfrm>
          <a:prstGeom prst="rect">
            <a:avLst/>
          </a:prstGeom>
        </p:spPr>
        <p:txBody>
          <a:bodyPr vert="horz" wrap="square" lIns="0" tIns="5358" rIns="0" bIns="0" rtlCol="0">
            <a:spAutoFit/>
          </a:bodyPr>
          <a:lstStyle/>
          <a:p>
            <a:pPr marL="574158" marR="3572" indent="-565676">
              <a:lnSpc>
                <a:spcPct val="101200"/>
              </a:lnSpc>
              <a:spcBef>
                <a:spcPts val="42"/>
              </a:spcBef>
            </a:pPr>
            <a:r>
              <a:rPr sz="1969" spc="-14" dirty="0">
                <a:latin typeface="Helvetica Neue"/>
                <a:cs typeface="Helvetica Neue"/>
              </a:rPr>
              <a:t>Here’s</a:t>
            </a:r>
            <a:r>
              <a:rPr sz="1969" spc="-35" dirty="0">
                <a:latin typeface="Helvetica Neue"/>
                <a:cs typeface="Helvetica Neue"/>
              </a:rPr>
              <a:t> </a:t>
            </a:r>
            <a:r>
              <a:rPr sz="1969" dirty="0">
                <a:latin typeface="Helvetica Neue"/>
                <a:cs typeface="Helvetica Neue"/>
              </a:rPr>
              <a:t>an</a:t>
            </a:r>
            <a:r>
              <a:rPr sz="1969" spc="-35" dirty="0">
                <a:latin typeface="Helvetica Neue"/>
                <a:cs typeface="Helvetica Neue"/>
              </a:rPr>
              <a:t> </a:t>
            </a:r>
            <a:r>
              <a:rPr sz="1969" dirty="0">
                <a:latin typeface="Helvetica Neue"/>
                <a:cs typeface="Helvetica Neue"/>
              </a:rPr>
              <a:t>example</a:t>
            </a:r>
            <a:r>
              <a:rPr sz="1969" spc="-32" dirty="0">
                <a:latin typeface="Helvetica Neue"/>
                <a:cs typeface="Helvetica Neue"/>
              </a:rPr>
              <a:t> </a:t>
            </a:r>
            <a:r>
              <a:rPr sz="1969" dirty="0">
                <a:latin typeface="Helvetica Neue"/>
                <a:cs typeface="Helvetica Neue"/>
              </a:rPr>
              <a:t>3-</a:t>
            </a:r>
            <a:r>
              <a:rPr sz="1969" spc="-35" dirty="0">
                <a:latin typeface="Helvetica Neue"/>
                <a:cs typeface="Helvetica Neue"/>
              </a:rPr>
              <a:t>d </a:t>
            </a:r>
            <a:r>
              <a:rPr sz="1969" dirty="0">
                <a:latin typeface="Helvetica Neue"/>
                <a:cs typeface="Helvetica Neue"/>
              </a:rPr>
              <a:t>prefix</a:t>
            </a:r>
            <a:r>
              <a:rPr sz="1969" spc="-39" dirty="0">
                <a:latin typeface="Helvetica Neue"/>
                <a:cs typeface="Helvetica Neue"/>
              </a:rPr>
              <a:t> </a:t>
            </a:r>
            <a:r>
              <a:rPr sz="1969" spc="-7" dirty="0">
                <a:latin typeface="Helvetica Neue"/>
                <a:cs typeface="Helvetica Neue"/>
              </a:rPr>
              <a:t>vector</a:t>
            </a:r>
            <a:endParaRPr sz="1969">
              <a:latin typeface="Helvetica Neue"/>
              <a:cs typeface="Helvetica Neu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08860" y="1847838"/>
            <a:ext cx="3569643" cy="1210161"/>
          </a:xfrm>
          <a:prstGeom prst="rect">
            <a:avLst/>
          </a:prstGeom>
        </p:spPr>
        <p:txBody>
          <a:bodyPr vert="horz" wrap="square" lIns="0" tIns="4911" rIns="0" bIns="0" rtlCol="0">
            <a:spAutoFit/>
          </a:bodyPr>
          <a:lstStyle/>
          <a:p>
            <a:pPr marL="8929" marR="3572" algn="ctr">
              <a:lnSpc>
                <a:spcPct val="101299"/>
              </a:lnSpc>
              <a:spcBef>
                <a:spcPts val="39"/>
              </a:spcBef>
            </a:pPr>
            <a:r>
              <a:rPr sz="1969" b="1" dirty="0">
                <a:latin typeface="Helvetica Neue"/>
                <a:cs typeface="Helvetica Neue"/>
              </a:rPr>
              <a:t>W </a:t>
            </a:r>
            <a:r>
              <a:rPr sz="1969" dirty="0">
                <a:latin typeface="Helvetica Neue"/>
                <a:cs typeface="Helvetica Neue"/>
              </a:rPr>
              <a:t>is a </a:t>
            </a:r>
            <a:r>
              <a:rPr sz="1969" i="1" dirty="0">
                <a:latin typeface="Helvetica Neue"/>
                <a:cs typeface="Helvetica Neue"/>
              </a:rPr>
              <a:t>weight matrix</a:t>
            </a:r>
            <a:r>
              <a:rPr sz="1969" dirty="0">
                <a:latin typeface="Helvetica Neue"/>
                <a:cs typeface="Helvetica Neue"/>
              </a:rPr>
              <a:t>. It </a:t>
            </a:r>
            <a:r>
              <a:rPr sz="1969" spc="-7" dirty="0">
                <a:latin typeface="Helvetica Neue"/>
                <a:cs typeface="Helvetica Neue"/>
              </a:rPr>
              <a:t>contains </a:t>
            </a:r>
            <a:r>
              <a:rPr sz="1969" i="1" dirty="0">
                <a:latin typeface="Helvetica Neue"/>
                <a:cs typeface="Helvetica Neue"/>
              </a:rPr>
              <a:t>parameters </a:t>
            </a:r>
            <a:r>
              <a:rPr sz="1969" dirty="0">
                <a:latin typeface="Helvetica Neue"/>
                <a:cs typeface="Helvetica Neue"/>
              </a:rPr>
              <a:t>that we can </a:t>
            </a:r>
            <a:r>
              <a:rPr sz="1969" i="1" spc="-7" dirty="0">
                <a:latin typeface="Helvetica Neue"/>
                <a:cs typeface="Helvetica Neue"/>
              </a:rPr>
              <a:t>update </a:t>
            </a:r>
            <a:r>
              <a:rPr sz="1969" dirty="0">
                <a:latin typeface="Helvetica Neue"/>
                <a:cs typeface="Helvetica Neue"/>
              </a:rPr>
              <a:t>to</a:t>
            </a:r>
            <a:r>
              <a:rPr sz="1969" spc="-11" dirty="0">
                <a:latin typeface="Helvetica Neue"/>
                <a:cs typeface="Helvetica Neue"/>
              </a:rPr>
              <a:t> </a:t>
            </a:r>
            <a:r>
              <a:rPr sz="1969" dirty="0">
                <a:latin typeface="Helvetica Neue"/>
                <a:cs typeface="Helvetica Neue"/>
              </a:rPr>
              <a:t>control</a:t>
            </a:r>
            <a:r>
              <a:rPr sz="1969" spc="-11" dirty="0">
                <a:latin typeface="Helvetica Neue"/>
                <a:cs typeface="Helvetica Neue"/>
              </a:rPr>
              <a:t> </a:t>
            </a:r>
            <a:r>
              <a:rPr sz="1969" dirty="0">
                <a:latin typeface="Helvetica Neue"/>
                <a:cs typeface="Helvetica Neue"/>
              </a:rPr>
              <a:t>the</a:t>
            </a:r>
            <a:r>
              <a:rPr sz="1969" spc="-11" dirty="0">
                <a:latin typeface="Helvetica Neue"/>
                <a:cs typeface="Helvetica Neue"/>
              </a:rPr>
              <a:t> </a:t>
            </a:r>
            <a:r>
              <a:rPr sz="1969" dirty="0">
                <a:latin typeface="Helvetica Neue"/>
                <a:cs typeface="Helvetica Neue"/>
              </a:rPr>
              <a:t>final</a:t>
            </a:r>
            <a:r>
              <a:rPr sz="1969" spc="-7" dirty="0">
                <a:latin typeface="Helvetica Neue"/>
                <a:cs typeface="Helvetica Neue"/>
              </a:rPr>
              <a:t> probability </a:t>
            </a:r>
            <a:r>
              <a:rPr sz="1969" dirty="0">
                <a:latin typeface="Helvetica Neue"/>
                <a:cs typeface="Helvetica Neue"/>
              </a:rPr>
              <a:t>distribution of the next </a:t>
            </a:r>
            <a:r>
              <a:rPr sz="1969" spc="-14" dirty="0">
                <a:latin typeface="Helvetica Neue"/>
                <a:cs typeface="Helvetica Neue"/>
              </a:rPr>
              <a:t>word</a:t>
            </a:r>
            <a:endParaRPr sz="1969">
              <a:latin typeface="Helvetica Neue"/>
              <a:cs typeface="Helvetica Neue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CD419C6-D40A-458E-8742-E9855C58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5">
                <a:extLst>
                  <a:ext uri="{FF2B5EF4-FFF2-40B4-BE49-F238E27FC236}">
                    <a16:creationId xmlns:a16="http://schemas.microsoft.com/office/drawing/2014/main" id="{FCE1FD75-8E9B-4C13-98DF-2F5E42A1661F}"/>
                  </a:ext>
                </a:extLst>
              </p:cNvPr>
              <p:cNvSpPr txBox="1"/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4013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pc="-35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US" sz="3200" b="0" i="0" spc="-35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a-IR" sz="3200" i="1" spc="-35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fa-IR" sz="3200" i="1" spc="-35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3200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11" name="object 5">
                <a:extLst>
                  <a:ext uri="{FF2B5EF4-FFF2-40B4-BE49-F238E27FC236}">
                    <a16:creationId xmlns:a16="http://schemas.microsoft.com/office/drawing/2014/main" id="{FCE1FD75-8E9B-4C13-98DF-2F5E42A16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1DFAA6CD-598B-42C9-9841-49E6836452A4}"/>
                  </a:ext>
                </a:extLst>
              </p:cNvPr>
              <p:cNvSpPr txBox="1"/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264756" algn="l"/>
                    <a:tab pos="1514421" algn="l"/>
                    <a:tab pos="2139924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31" b="1" i="1" spc="-35" dirty="0" smtClean="0">
                          <a:latin typeface="Cambria Math" panose="02040503050406030204" pitchFamily="18" charset="0"/>
                          <a:cs typeface="HelveticaNeue-BoldItalic"/>
                        </a:rPr>
                        <m:t>𝒙</m:t>
                      </m:r>
                      <m:r>
                        <a:rPr lang="en-US" sz="2531" b="1" i="1" dirty="0">
                          <a:latin typeface="Cambria Math" panose="02040503050406030204" pitchFamily="18" charset="0"/>
                          <a:cs typeface="HelveticaNeue-BoldItalic"/>
                        </a:rPr>
                        <m:t>	</m:t>
                      </m:r>
                      <m:r>
                        <a:rPr lang="en-US" sz="2531" i="1" dirty="0">
                          <a:latin typeface="Cambria Math" panose="02040503050406030204" pitchFamily="18" charset="0"/>
                          <a:cs typeface="HelveticaNeue-Ligh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31" b="0" i="1" spc="225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31" b="0" i="1" spc="225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531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1DFAA6CD-598B-42C9-9841-49E683645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7608" y="3292934"/>
            <a:ext cx="2872233" cy="1767193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664" rIns="0" bIns="0" rtlCol="0">
            <a:spAutoFit/>
          </a:bodyPr>
          <a:lstStyle/>
          <a:p>
            <a:pPr marL="144209" marR="138852" algn="ctr">
              <a:lnSpc>
                <a:spcPct val="101600"/>
              </a:lnSpc>
              <a:spcBef>
                <a:spcPts val="186"/>
              </a:spcBef>
            </a:pPr>
            <a:r>
              <a:rPr sz="2250" dirty="0">
                <a:latin typeface="HelveticaNeue-Light"/>
                <a:cs typeface="HelveticaNeue-Light"/>
              </a:rPr>
              <a:t>first,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we’ll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project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spc="-18" dirty="0">
                <a:latin typeface="HelveticaNeue-Light"/>
                <a:cs typeface="HelveticaNeue-Light"/>
              </a:rPr>
              <a:t>our </a:t>
            </a:r>
            <a:r>
              <a:rPr sz="2250" dirty="0">
                <a:latin typeface="HelveticaNeue-Light"/>
                <a:cs typeface="HelveticaNeue-Light"/>
              </a:rPr>
              <a:t>3-d </a:t>
            </a:r>
            <a:r>
              <a:rPr sz="2250" spc="-7" dirty="0">
                <a:latin typeface="HelveticaNeue-Light"/>
                <a:cs typeface="HelveticaNeue-Light"/>
              </a:rPr>
              <a:t>prefix </a:t>
            </a:r>
            <a:r>
              <a:rPr sz="2250" dirty="0">
                <a:latin typeface="HelveticaNeue-Light"/>
                <a:cs typeface="HelveticaNeue-Light"/>
              </a:rPr>
              <a:t>representation</a:t>
            </a:r>
            <a:r>
              <a:rPr sz="2250" spc="-42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to</a:t>
            </a:r>
            <a:r>
              <a:rPr sz="2250" spc="-42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4-</a:t>
            </a:r>
            <a:r>
              <a:rPr sz="2250" spc="-35" dirty="0">
                <a:latin typeface="HelveticaNeue-Light"/>
                <a:cs typeface="HelveticaNeue-Light"/>
              </a:rPr>
              <a:t>d </a:t>
            </a:r>
            <a:r>
              <a:rPr sz="2250" dirty="0">
                <a:latin typeface="HelveticaNeue-Light"/>
                <a:cs typeface="HelveticaNeue-Light"/>
              </a:rPr>
              <a:t>with a matrix-</a:t>
            </a:r>
            <a:r>
              <a:rPr sz="2250" spc="-7" dirty="0">
                <a:latin typeface="HelveticaNeue-Light"/>
                <a:cs typeface="HelveticaNeue-Light"/>
              </a:rPr>
              <a:t>vector product</a:t>
            </a:r>
            <a:endParaRPr sz="2250">
              <a:latin typeface="HelveticaNeue-Light"/>
              <a:cs typeface="HelveticaNeue-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9967" y="6037158"/>
            <a:ext cx="381395" cy="36869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624924" y="5697708"/>
            <a:ext cx="2537817" cy="598521"/>
          </a:xfrm>
          <a:prstGeom prst="rect">
            <a:avLst/>
          </a:prstGeom>
        </p:spPr>
        <p:txBody>
          <a:bodyPr vert="horz" wrap="square" lIns="0" tIns="5358" rIns="0" bIns="0" rtlCol="0">
            <a:spAutoFit/>
          </a:bodyPr>
          <a:lstStyle/>
          <a:p>
            <a:pPr marL="574158" marR="3572" indent="-565676">
              <a:lnSpc>
                <a:spcPct val="101200"/>
              </a:lnSpc>
              <a:spcBef>
                <a:spcPts val="42"/>
              </a:spcBef>
            </a:pPr>
            <a:r>
              <a:rPr sz="1969" spc="-14" dirty="0">
                <a:latin typeface="Helvetica Neue"/>
                <a:cs typeface="Helvetica Neue"/>
              </a:rPr>
              <a:t>Here’s</a:t>
            </a:r>
            <a:r>
              <a:rPr sz="1969" spc="-35" dirty="0">
                <a:latin typeface="Helvetica Neue"/>
                <a:cs typeface="Helvetica Neue"/>
              </a:rPr>
              <a:t> </a:t>
            </a:r>
            <a:r>
              <a:rPr sz="1969" dirty="0">
                <a:latin typeface="Helvetica Neue"/>
                <a:cs typeface="Helvetica Neue"/>
              </a:rPr>
              <a:t>an</a:t>
            </a:r>
            <a:r>
              <a:rPr sz="1969" spc="-35" dirty="0">
                <a:latin typeface="Helvetica Neue"/>
                <a:cs typeface="Helvetica Neue"/>
              </a:rPr>
              <a:t> </a:t>
            </a:r>
            <a:r>
              <a:rPr sz="1969" dirty="0">
                <a:latin typeface="Helvetica Neue"/>
                <a:cs typeface="Helvetica Neue"/>
              </a:rPr>
              <a:t>example</a:t>
            </a:r>
            <a:r>
              <a:rPr sz="1969" spc="-32" dirty="0">
                <a:latin typeface="Helvetica Neue"/>
                <a:cs typeface="Helvetica Neue"/>
              </a:rPr>
              <a:t> </a:t>
            </a:r>
            <a:r>
              <a:rPr sz="1969" dirty="0">
                <a:latin typeface="Helvetica Neue"/>
                <a:cs typeface="Helvetica Neue"/>
              </a:rPr>
              <a:t>3-</a:t>
            </a:r>
            <a:r>
              <a:rPr sz="1969" spc="-35" dirty="0">
                <a:latin typeface="Helvetica Neue"/>
                <a:cs typeface="Helvetica Neue"/>
              </a:rPr>
              <a:t>d </a:t>
            </a:r>
            <a:r>
              <a:rPr sz="1969" dirty="0">
                <a:latin typeface="Helvetica Neue"/>
                <a:cs typeface="Helvetica Neue"/>
              </a:rPr>
              <a:t>prefix</a:t>
            </a:r>
            <a:r>
              <a:rPr sz="1969" spc="-39" dirty="0">
                <a:latin typeface="Helvetica Neue"/>
                <a:cs typeface="Helvetica Neue"/>
              </a:rPr>
              <a:t> </a:t>
            </a:r>
            <a:r>
              <a:rPr sz="1969" spc="-7" dirty="0">
                <a:latin typeface="Helvetica Neue"/>
                <a:cs typeface="Helvetica Neue"/>
              </a:rPr>
              <a:t>vector</a:t>
            </a:r>
            <a:endParaRPr sz="1969">
              <a:latin typeface="Helvetica Neue"/>
              <a:cs typeface="Helvetica Neu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08860" y="1838908"/>
            <a:ext cx="3569643" cy="1210161"/>
          </a:xfrm>
          <a:prstGeom prst="rect">
            <a:avLst/>
          </a:prstGeom>
        </p:spPr>
        <p:txBody>
          <a:bodyPr vert="horz" wrap="square" lIns="0" tIns="4911" rIns="0" bIns="0" rtlCol="0">
            <a:spAutoFit/>
          </a:bodyPr>
          <a:lstStyle/>
          <a:p>
            <a:pPr marL="8929" marR="3572" algn="ctr">
              <a:lnSpc>
                <a:spcPct val="101299"/>
              </a:lnSpc>
              <a:spcBef>
                <a:spcPts val="39"/>
              </a:spcBef>
            </a:pPr>
            <a:r>
              <a:rPr sz="1969" b="1" dirty="0">
                <a:latin typeface="Helvetica Neue"/>
                <a:cs typeface="Helvetica Neue"/>
              </a:rPr>
              <a:t>W </a:t>
            </a:r>
            <a:r>
              <a:rPr sz="1969" dirty="0">
                <a:latin typeface="Helvetica Neue"/>
                <a:cs typeface="Helvetica Neue"/>
              </a:rPr>
              <a:t>is a </a:t>
            </a:r>
            <a:r>
              <a:rPr sz="1969" i="1" dirty="0">
                <a:latin typeface="Helvetica Neue"/>
                <a:cs typeface="Helvetica Neue"/>
              </a:rPr>
              <a:t>weight matrix</a:t>
            </a:r>
            <a:r>
              <a:rPr sz="1969" dirty="0">
                <a:latin typeface="Helvetica Neue"/>
                <a:cs typeface="Helvetica Neue"/>
              </a:rPr>
              <a:t>. It </a:t>
            </a:r>
            <a:r>
              <a:rPr sz="1969" spc="-7" dirty="0">
                <a:latin typeface="Helvetica Neue"/>
                <a:cs typeface="Helvetica Neue"/>
              </a:rPr>
              <a:t>contains </a:t>
            </a:r>
            <a:r>
              <a:rPr sz="1969" i="1" dirty="0">
                <a:latin typeface="Helvetica Neue"/>
                <a:cs typeface="Helvetica Neue"/>
              </a:rPr>
              <a:t>parameters </a:t>
            </a:r>
            <a:r>
              <a:rPr sz="1969" dirty="0">
                <a:latin typeface="Helvetica Neue"/>
                <a:cs typeface="Helvetica Neue"/>
              </a:rPr>
              <a:t>that we can </a:t>
            </a:r>
            <a:r>
              <a:rPr sz="1969" i="1" spc="-7" dirty="0">
                <a:latin typeface="Helvetica Neue"/>
                <a:cs typeface="Helvetica Neue"/>
              </a:rPr>
              <a:t>update </a:t>
            </a:r>
            <a:r>
              <a:rPr sz="1969" dirty="0">
                <a:latin typeface="Helvetica Neue"/>
                <a:cs typeface="Helvetica Neue"/>
              </a:rPr>
              <a:t>to</a:t>
            </a:r>
            <a:r>
              <a:rPr sz="1969" spc="-11" dirty="0">
                <a:latin typeface="Helvetica Neue"/>
                <a:cs typeface="Helvetica Neue"/>
              </a:rPr>
              <a:t> </a:t>
            </a:r>
            <a:r>
              <a:rPr sz="1969" dirty="0">
                <a:latin typeface="Helvetica Neue"/>
                <a:cs typeface="Helvetica Neue"/>
              </a:rPr>
              <a:t>control</a:t>
            </a:r>
            <a:r>
              <a:rPr sz="1969" spc="-11" dirty="0">
                <a:latin typeface="Helvetica Neue"/>
                <a:cs typeface="Helvetica Neue"/>
              </a:rPr>
              <a:t> </a:t>
            </a:r>
            <a:r>
              <a:rPr sz="1969" dirty="0">
                <a:latin typeface="Helvetica Neue"/>
                <a:cs typeface="Helvetica Neue"/>
              </a:rPr>
              <a:t>the</a:t>
            </a:r>
            <a:r>
              <a:rPr sz="1969" spc="-11" dirty="0">
                <a:latin typeface="Helvetica Neue"/>
                <a:cs typeface="Helvetica Neue"/>
              </a:rPr>
              <a:t> </a:t>
            </a:r>
            <a:r>
              <a:rPr sz="1969" dirty="0">
                <a:latin typeface="Helvetica Neue"/>
                <a:cs typeface="Helvetica Neue"/>
              </a:rPr>
              <a:t>final</a:t>
            </a:r>
            <a:r>
              <a:rPr sz="1969" spc="-7" dirty="0">
                <a:latin typeface="Helvetica Neue"/>
                <a:cs typeface="Helvetica Neue"/>
              </a:rPr>
              <a:t> probability </a:t>
            </a:r>
            <a:r>
              <a:rPr sz="1969" dirty="0">
                <a:latin typeface="Helvetica Neue"/>
                <a:cs typeface="Helvetica Neue"/>
              </a:rPr>
              <a:t>distribution of the next </a:t>
            </a:r>
            <a:r>
              <a:rPr sz="1969" spc="-14" dirty="0">
                <a:latin typeface="Helvetica Neue"/>
                <a:cs typeface="Helvetica Neue"/>
              </a:rPr>
              <a:t>word</a:t>
            </a:r>
            <a:endParaRPr sz="1969">
              <a:latin typeface="Helvetica Neue"/>
              <a:cs typeface="Helvetica Neue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E9DF1EF-30BB-4B2F-ABB1-AF42E3CB3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5">
                <a:extLst>
                  <a:ext uri="{FF2B5EF4-FFF2-40B4-BE49-F238E27FC236}">
                    <a16:creationId xmlns:a16="http://schemas.microsoft.com/office/drawing/2014/main" id="{EF406E2A-7601-4339-BC57-B764A77996F2}"/>
                  </a:ext>
                </a:extLst>
              </p:cNvPr>
              <p:cNvSpPr txBox="1"/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4013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pc="-35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US" sz="3200" b="0" i="0" spc="-35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a-IR" sz="3200" i="1" spc="-35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fa-IR" sz="3200" i="1" spc="-35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3200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15" name="object 5">
                <a:extLst>
                  <a:ext uri="{FF2B5EF4-FFF2-40B4-BE49-F238E27FC236}">
                    <a16:creationId xmlns:a16="http://schemas.microsoft.com/office/drawing/2014/main" id="{EF406E2A-7601-4339-BC57-B764A7799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">
                <a:extLst>
                  <a:ext uri="{FF2B5EF4-FFF2-40B4-BE49-F238E27FC236}">
                    <a16:creationId xmlns:a16="http://schemas.microsoft.com/office/drawing/2014/main" id="{DEFF6EB9-FE17-4A8E-A197-49F88C1F7DE9}"/>
                  </a:ext>
                </a:extLst>
              </p:cNvPr>
              <p:cNvSpPr txBox="1"/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264756" algn="l"/>
                    <a:tab pos="1514421" algn="l"/>
                    <a:tab pos="2139924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31" b="1" i="1" spc="-35" dirty="0" smtClean="0">
                          <a:latin typeface="Cambria Math" panose="02040503050406030204" pitchFamily="18" charset="0"/>
                          <a:cs typeface="HelveticaNeue-BoldItalic"/>
                        </a:rPr>
                        <m:t>𝒙</m:t>
                      </m:r>
                      <m:r>
                        <a:rPr lang="en-US" sz="2531" b="1" i="1" dirty="0">
                          <a:latin typeface="Cambria Math" panose="02040503050406030204" pitchFamily="18" charset="0"/>
                          <a:cs typeface="HelveticaNeue-BoldItalic"/>
                        </a:rPr>
                        <m:t>	</m:t>
                      </m:r>
                      <m:r>
                        <a:rPr lang="en-US" sz="2531" i="1" dirty="0">
                          <a:latin typeface="Cambria Math" panose="02040503050406030204" pitchFamily="18" charset="0"/>
                          <a:cs typeface="HelveticaNeue-Ligh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31" b="0" i="1" spc="225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31" b="0" i="1" spc="225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531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17" name="object 2">
                <a:extLst>
                  <a:ext uri="{FF2B5EF4-FFF2-40B4-BE49-F238E27FC236}">
                    <a16:creationId xmlns:a16="http://schemas.microsoft.com/office/drawing/2014/main" id="{DEFF6EB9-FE17-4A8E-A197-49F88C1F7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bject 7">
            <a:extLst>
              <a:ext uri="{FF2B5EF4-FFF2-40B4-BE49-F238E27FC236}">
                <a16:creationId xmlns:a16="http://schemas.microsoft.com/office/drawing/2014/main" id="{E8559E7E-AB25-4003-82EE-91EBFC2F6F01}"/>
              </a:ext>
            </a:extLst>
          </p:cNvPr>
          <p:cNvSpPr txBox="1"/>
          <p:nvPr/>
        </p:nvSpPr>
        <p:spPr>
          <a:xfrm rot="19620000">
            <a:off x="5683977" y="3128228"/>
            <a:ext cx="867321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books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FBEED36E-72BE-4453-85FA-1A713B6E7CD2}"/>
              </a:ext>
            </a:extLst>
          </p:cNvPr>
          <p:cNvSpPr txBox="1"/>
          <p:nvPr/>
        </p:nvSpPr>
        <p:spPr>
          <a:xfrm rot="19620000">
            <a:off x="5732178" y="3611502"/>
            <a:ext cx="99647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houses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F8BF2A6F-D8F8-42BC-B3ED-4B076FFAB75A}"/>
              </a:ext>
            </a:extLst>
          </p:cNvPr>
          <p:cNvSpPr txBox="1"/>
          <p:nvPr/>
        </p:nvSpPr>
        <p:spPr>
          <a:xfrm rot="19620000">
            <a:off x="5691566" y="4164945"/>
            <a:ext cx="85180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lamps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14CBE79E-C361-4C23-9C01-7A3099DAB343}"/>
              </a:ext>
            </a:extLst>
          </p:cNvPr>
          <p:cNvSpPr txBox="1"/>
          <p:nvPr/>
        </p:nvSpPr>
        <p:spPr>
          <a:xfrm rot="19620000">
            <a:off x="5721634" y="4559576"/>
            <a:ext cx="10178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stamps</a:t>
            </a:r>
            <a:endParaRPr sz="2320">
              <a:latin typeface="Helvetica Neue"/>
              <a:cs typeface="Helvetica Neue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43517" y="4908315"/>
            <a:ext cx="2611487" cy="1766741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217" rIns="0" bIns="0" rtlCol="0">
            <a:spAutoFit/>
          </a:bodyPr>
          <a:lstStyle/>
          <a:p>
            <a:pPr marL="125011" marR="119654" algn="ctr">
              <a:lnSpc>
                <a:spcPct val="101699"/>
              </a:lnSpc>
              <a:spcBef>
                <a:spcPts val="183"/>
              </a:spcBef>
            </a:pPr>
            <a:r>
              <a:rPr sz="2250" dirty="0">
                <a:latin typeface="HelveticaNeue-Light"/>
                <a:cs typeface="HelveticaNeue-Light"/>
              </a:rPr>
              <a:t>intuition: </a:t>
            </a:r>
            <a:r>
              <a:rPr sz="2250" spc="-14" dirty="0">
                <a:latin typeface="HelveticaNeue-Light"/>
                <a:cs typeface="HelveticaNeue-Light"/>
              </a:rPr>
              <a:t>each </a:t>
            </a:r>
            <a:r>
              <a:rPr sz="2250" dirty="0">
                <a:latin typeface="HelveticaNeue-Light"/>
                <a:cs typeface="HelveticaNeue-Light"/>
              </a:rPr>
              <a:t>dimension of </a:t>
            </a:r>
            <a:r>
              <a:rPr sz="2250" b="1" i="1" spc="-35" dirty="0">
                <a:latin typeface="HelveticaNeue-BoldItalic"/>
                <a:cs typeface="HelveticaNeue-BoldItalic"/>
              </a:rPr>
              <a:t>x </a:t>
            </a:r>
            <a:r>
              <a:rPr sz="2250" dirty="0">
                <a:latin typeface="HelveticaNeue-Light"/>
                <a:cs typeface="HelveticaNeue-Light"/>
              </a:rPr>
              <a:t>corresponds</a:t>
            </a:r>
            <a:r>
              <a:rPr sz="2250" spc="-21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to</a:t>
            </a:r>
            <a:r>
              <a:rPr sz="2250" spc="-21" dirty="0">
                <a:latin typeface="HelveticaNeue-Light"/>
                <a:cs typeface="HelveticaNeue-Light"/>
              </a:rPr>
              <a:t> </a:t>
            </a:r>
            <a:r>
              <a:rPr sz="2250" spc="-35" dirty="0">
                <a:latin typeface="HelveticaNeue-Light"/>
                <a:cs typeface="HelveticaNeue-Light"/>
              </a:rPr>
              <a:t>a </a:t>
            </a:r>
            <a:r>
              <a:rPr sz="2250" i="1" dirty="0">
                <a:latin typeface="HelveticaNeue-LightItalic"/>
                <a:cs typeface="HelveticaNeue-LightItalic"/>
              </a:rPr>
              <a:t>feature</a:t>
            </a:r>
            <a:r>
              <a:rPr sz="2250" i="1" spc="-14" dirty="0">
                <a:latin typeface="HelveticaNeue-LightItalic"/>
                <a:cs typeface="HelveticaNeue-LightItalic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of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the</a:t>
            </a:r>
            <a:r>
              <a:rPr sz="2250" spc="-14" dirty="0">
                <a:latin typeface="HelveticaNeue-Light"/>
                <a:cs typeface="HelveticaNeue-Light"/>
              </a:rPr>
              <a:t> prefix</a:t>
            </a:r>
            <a:endParaRPr sz="2250">
              <a:latin typeface="HelveticaNeue-Light"/>
              <a:cs typeface="HelveticaNeue-Light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04FFD-03FE-46EC-9769-BFA0CFCA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6452356A-0965-4C0C-8423-041414980BFD}"/>
                  </a:ext>
                </a:extLst>
              </p:cNvPr>
              <p:cNvSpPr txBox="1"/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4013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pc="-35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US" sz="3200" b="0" i="0" spc="-35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a-IR" sz="3200" i="1" spc="-35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fa-IR" sz="3200" i="1" spc="-35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3200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6452356A-0965-4C0C-8423-041414980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">
                <a:extLst>
                  <a:ext uri="{FF2B5EF4-FFF2-40B4-BE49-F238E27FC236}">
                    <a16:creationId xmlns:a16="http://schemas.microsoft.com/office/drawing/2014/main" id="{24BB9A72-6D2E-489D-B013-F7BEB10F4794}"/>
                  </a:ext>
                </a:extLst>
              </p:cNvPr>
              <p:cNvSpPr txBox="1"/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264756" algn="l"/>
                    <a:tab pos="1514421" algn="l"/>
                    <a:tab pos="2139924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31" b="1" i="1" spc="-35" dirty="0" smtClean="0">
                          <a:latin typeface="Cambria Math" panose="02040503050406030204" pitchFamily="18" charset="0"/>
                          <a:cs typeface="HelveticaNeue-BoldItalic"/>
                        </a:rPr>
                        <m:t>𝒙</m:t>
                      </m:r>
                      <m:r>
                        <a:rPr lang="en-US" sz="2531" b="1" i="1" dirty="0">
                          <a:latin typeface="Cambria Math" panose="02040503050406030204" pitchFamily="18" charset="0"/>
                          <a:cs typeface="HelveticaNeue-BoldItalic"/>
                        </a:rPr>
                        <m:t>	</m:t>
                      </m:r>
                      <m:r>
                        <a:rPr lang="en-US" sz="2531" i="1" dirty="0">
                          <a:latin typeface="Cambria Math" panose="02040503050406030204" pitchFamily="18" charset="0"/>
                          <a:cs typeface="HelveticaNeue-Ligh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31" b="0" i="1" spc="225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31" b="0" i="1" spc="225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531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11" name="object 2">
                <a:extLst>
                  <a:ext uri="{FF2B5EF4-FFF2-40B4-BE49-F238E27FC236}">
                    <a16:creationId xmlns:a16="http://schemas.microsoft.com/office/drawing/2014/main" id="{24BB9A72-6D2E-489D-B013-F7BEB10F4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7">
            <a:extLst>
              <a:ext uri="{FF2B5EF4-FFF2-40B4-BE49-F238E27FC236}">
                <a16:creationId xmlns:a16="http://schemas.microsoft.com/office/drawing/2014/main" id="{A5EC519C-2B7E-4ACC-9D49-DAAB99A8180B}"/>
              </a:ext>
            </a:extLst>
          </p:cNvPr>
          <p:cNvSpPr txBox="1"/>
          <p:nvPr/>
        </p:nvSpPr>
        <p:spPr>
          <a:xfrm rot="19620000">
            <a:off x="5683977" y="3128228"/>
            <a:ext cx="867321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books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4C337E74-9EBE-4E25-A7E1-1E137F0BDB36}"/>
              </a:ext>
            </a:extLst>
          </p:cNvPr>
          <p:cNvSpPr txBox="1"/>
          <p:nvPr/>
        </p:nvSpPr>
        <p:spPr>
          <a:xfrm rot="19620000">
            <a:off x="5732178" y="3611502"/>
            <a:ext cx="99647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houses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30C37985-DB0D-4166-A1B3-06FC607AC879}"/>
              </a:ext>
            </a:extLst>
          </p:cNvPr>
          <p:cNvSpPr txBox="1"/>
          <p:nvPr/>
        </p:nvSpPr>
        <p:spPr>
          <a:xfrm rot="19620000">
            <a:off x="5691566" y="4164945"/>
            <a:ext cx="85180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lamps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E950931D-D66D-440F-BAEB-18CD5E3AA197}"/>
              </a:ext>
            </a:extLst>
          </p:cNvPr>
          <p:cNvSpPr txBox="1"/>
          <p:nvPr/>
        </p:nvSpPr>
        <p:spPr>
          <a:xfrm rot="19620000">
            <a:off x="5721634" y="4559576"/>
            <a:ext cx="10178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stamps</a:t>
            </a:r>
            <a:endParaRPr sz="2320">
              <a:latin typeface="Helvetica Neue"/>
              <a:cs typeface="Helvetica Neue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4965" y="1054099"/>
            <a:ext cx="2611487" cy="2120366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664" rIns="0" bIns="0" rtlCol="0">
            <a:spAutoFit/>
          </a:bodyPr>
          <a:lstStyle/>
          <a:p>
            <a:pPr marL="56255" marR="50897" algn="ctr">
              <a:lnSpc>
                <a:spcPct val="101600"/>
              </a:lnSpc>
              <a:spcBef>
                <a:spcPts val="186"/>
              </a:spcBef>
            </a:pPr>
            <a:r>
              <a:rPr sz="2250" dirty="0">
                <a:latin typeface="HelveticaNeue-Light"/>
                <a:cs typeface="HelveticaNeue-Light"/>
              </a:rPr>
              <a:t>intuition: each </a:t>
            </a:r>
            <a:r>
              <a:rPr sz="2250" spc="-18" dirty="0">
                <a:latin typeface="HelveticaNeue-Light"/>
                <a:cs typeface="HelveticaNeue-Light"/>
              </a:rPr>
              <a:t>row </a:t>
            </a:r>
            <a:r>
              <a:rPr sz="2250" dirty="0">
                <a:latin typeface="HelveticaNeue-Light"/>
                <a:cs typeface="HelveticaNeue-Light"/>
              </a:rPr>
              <a:t>of </a:t>
            </a:r>
            <a:r>
              <a:rPr sz="2250" b="1" dirty="0">
                <a:latin typeface="Helvetica Neue"/>
                <a:cs typeface="Helvetica Neue"/>
              </a:rPr>
              <a:t>W </a:t>
            </a:r>
            <a:r>
              <a:rPr sz="2250" spc="-7" dirty="0">
                <a:latin typeface="HelveticaNeue-Light"/>
                <a:cs typeface="HelveticaNeue-Light"/>
              </a:rPr>
              <a:t>contains </a:t>
            </a:r>
            <a:r>
              <a:rPr sz="2250" i="1" dirty="0">
                <a:latin typeface="HelveticaNeue-LightItalic"/>
                <a:cs typeface="HelveticaNeue-LightItalic"/>
              </a:rPr>
              <a:t>feature</a:t>
            </a:r>
            <a:r>
              <a:rPr sz="2250" i="1" spc="-21" dirty="0">
                <a:latin typeface="HelveticaNeue-LightItalic"/>
                <a:cs typeface="HelveticaNeue-LightItalic"/>
              </a:rPr>
              <a:t> </a:t>
            </a:r>
            <a:r>
              <a:rPr sz="2250" i="1" dirty="0">
                <a:latin typeface="HelveticaNeue-LightItalic"/>
                <a:cs typeface="HelveticaNeue-LightItalic"/>
              </a:rPr>
              <a:t>weights</a:t>
            </a:r>
            <a:r>
              <a:rPr sz="2250" i="1" spc="-14" dirty="0">
                <a:latin typeface="HelveticaNeue-LightItalic"/>
                <a:cs typeface="HelveticaNeue-LightItalic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for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spc="-35" dirty="0">
                <a:latin typeface="HelveticaNeue-Light"/>
                <a:cs typeface="HelveticaNeue-Light"/>
              </a:rPr>
              <a:t>a </a:t>
            </a:r>
            <a:r>
              <a:rPr sz="2250" dirty="0">
                <a:latin typeface="HelveticaNeue-Light"/>
                <a:cs typeface="HelveticaNeue-Light"/>
              </a:rPr>
              <a:t>corresponding</a:t>
            </a:r>
            <a:r>
              <a:rPr sz="2250" spc="-42" dirty="0">
                <a:latin typeface="HelveticaNeue-Light"/>
                <a:cs typeface="HelveticaNeue-Light"/>
              </a:rPr>
              <a:t> </a:t>
            </a:r>
            <a:r>
              <a:rPr sz="2250" spc="-14" dirty="0">
                <a:latin typeface="HelveticaNeue-Light"/>
                <a:cs typeface="HelveticaNeue-Light"/>
              </a:rPr>
              <a:t>word </a:t>
            </a:r>
            <a:r>
              <a:rPr sz="2250" dirty="0">
                <a:latin typeface="HelveticaNeue-Light"/>
                <a:cs typeface="HelveticaNeue-Light"/>
              </a:rPr>
              <a:t>in</a:t>
            </a:r>
            <a:r>
              <a:rPr sz="2250" spc="-7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the </a:t>
            </a:r>
            <a:r>
              <a:rPr sz="2250" spc="-7" dirty="0">
                <a:latin typeface="HelveticaNeue-Light"/>
                <a:cs typeface="HelveticaNeue-Light"/>
              </a:rPr>
              <a:t>vocabulary</a:t>
            </a:r>
            <a:endParaRPr sz="2250" dirty="0">
              <a:latin typeface="HelveticaNeue-Light"/>
              <a:cs typeface="HelveticaNeue-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43517" y="4908315"/>
            <a:ext cx="2611487" cy="1766741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217" rIns="0" bIns="0" rtlCol="0">
            <a:spAutoFit/>
          </a:bodyPr>
          <a:lstStyle/>
          <a:p>
            <a:pPr marL="125011" marR="119654" algn="ctr">
              <a:lnSpc>
                <a:spcPct val="101699"/>
              </a:lnSpc>
              <a:spcBef>
                <a:spcPts val="183"/>
              </a:spcBef>
            </a:pPr>
            <a:r>
              <a:rPr sz="2250" dirty="0">
                <a:latin typeface="HelveticaNeue-Light"/>
                <a:cs typeface="HelveticaNeue-Light"/>
              </a:rPr>
              <a:t>intuition: </a:t>
            </a:r>
            <a:r>
              <a:rPr sz="2250" spc="-14" dirty="0">
                <a:latin typeface="HelveticaNeue-Light"/>
                <a:cs typeface="HelveticaNeue-Light"/>
              </a:rPr>
              <a:t>each </a:t>
            </a:r>
            <a:r>
              <a:rPr sz="2250" dirty="0">
                <a:latin typeface="HelveticaNeue-Light"/>
                <a:cs typeface="HelveticaNeue-Light"/>
              </a:rPr>
              <a:t>dimension of </a:t>
            </a:r>
            <a:r>
              <a:rPr sz="2250" b="1" i="1" spc="-35" dirty="0">
                <a:latin typeface="HelveticaNeue-BoldItalic"/>
                <a:cs typeface="HelveticaNeue-BoldItalic"/>
              </a:rPr>
              <a:t>x </a:t>
            </a:r>
            <a:r>
              <a:rPr sz="2250" dirty="0">
                <a:latin typeface="HelveticaNeue-Light"/>
                <a:cs typeface="HelveticaNeue-Light"/>
              </a:rPr>
              <a:t>corresponds</a:t>
            </a:r>
            <a:r>
              <a:rPr sz="2250" spc="-21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to</a:t>
            </a:r>
            <a:r>
              <a:rPr sz="2250" spc="-21" dirty="0">
                <a:latin typeface="HelveticaNeue-Light"/>
                <a:cs typeface="HelveticaNeue-Light"/>
              </a:rPr>
              <a:t> </a:t>
            </a:r>
            <a:r>
              <a:rPr sz="2250" spc="-35" dirty="0">
                <a:latin typeface="HelveticaNeue-Light"/>
                <a:cs typeface="HelveticaNeue-Light"/>
              </a:rPr>
              <a:t>a </a:t>
            </a:r>
            <a:r>
              <a:rPr sz="2250" i="1" dirty="0">
                <a:latin typeface="HelveticaNeue-LightItalic"/>
                <a:cs typeface="HelveticaNeue-LightItalic"/>
              </a:rPr>
              <a:t>feature</a:t>
            </a:r>
            <a:r>
              <a:rPr sz="2250" i="1" spc="-14" dirty="0">
                <a:latin typeface="HelveticaNeue-LightItalic"/>
                <a:cs typeface="HelveticaNeue-LightItalic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of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the</a:t>
            </a:r>
            <a:r>
              <a:rPr sz="2250" spc="-14" dirty="0">
                <a:latin typeface="HelveticaNeue-Light"/>
                <a:cs typeface="HelveticaNeue-Light"/>
              </a:rPr>
              <a:t> prefix</a:t>
            </a:r>
            <a:endParaRPr sz="2250">
              <a:latin typeface="HelveticaNeue-Light"/>
              <a:cs typeface="HelveticaNeue-Ligh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63D94C-5FA1-4AD6-AAE7-2CB2C956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5">
                <a:extLst>
                  <a:ext uri="{FF2B5EF4-FFF2-40B4-BE49-F238E27FC236}">
                    <a16:creationId xmlns:a16="http://schemas.microsoft.com/office/drawing/2014/main" id="{618972A7-5020-4BCE-A3CE-154E0784CDDB}"/>
                  </a:ext>
                </a:extLst>
              </p:cNvPr>
              <p:cNvSpPr txBox="1"/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4013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pc="-35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US" sz="3200" b="0" i="0" spc="-35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a-IR" sz="3200" i="1" spc="-35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fa-IR" sz="3200" i="1" spc="-35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3200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11" name="object 5">
                <a:extLst>
                  <a:ext uri="{FF2B5EF4-FFF2-40B4-BE49-F238E27FC236}">
                    <a16:creationId xmlns:a16="http://schemas.microsoft.com/office/drawing/2014/main" id="{618972A7-5020-4BCE-A3CE-154E0784C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">
                <a:extLst>
                  <a:ext uri="{FF2B5EF4-FFF2-40B4-BE49-F238E27FC236}">
                    <a16:creationId xmlns:a16="http://schemas.microsoft.com/office/drawing/2014/main" id="{4EEFF98E-3262-4FE5-B206-BBC529C36341}"/>
                  </a:ext>
                </a:extLst>
              </p:cNvPr>
              <p:cNvSpPr txBox="1"/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264756" algn="l"/>
                    <a:tab pos="1514421" algn="l"/>
                    <a:tab pos="2139924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31" b="1" i="1" spc="-35" dirty="0" smtClean="0">
                          <a:latin typeface="Cambria Math" panose="02040503050406030204" pitchFamily="18" charset="0"/>
                          <a:cs typeface="HelveticaNeue-BoldItalic"/>
                        </a:rPr>
                        <m:t>𝒙</m:t>
                      </m:r>
                      <m:r>
                        <a:rPr lang="en-US" sz="2531" b="1" i="1" dirty="0">
                          <a:latin typeface="Cambria Math" panose="02040503050406030204" pitchFamily="18" charset="0"/>
                          <a:cs typeface="HelveticaNeue-BoldItalic"/>
                        </a:rPr>
                        <m:t>	</m:t>
                      </m:r>
                      <m:r>
                        <a:rPr lang="en-US" sz="2531" i="1" dirty="0">
                          <a:latin typeface="Cambria Math" panose="02040503050406030204" pitchFamily="18" charset="0"/>
                          <a:cs typeface="HelveticaNeue-Ligh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31" b="0" i="1" spc="225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31" b="0" i="1" spc="225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531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12" name="object 2">
                <a:extLst>
                  <a:ext uri="{FF2B5EF4-FFF2-40B4-BE49-F238E27FC236}">
                    <a16:creationId xmlns:a16="http://schemas.microsoft.com/office/drawing/2014/main" id="{4EEFF98E-3262-4FE5-B206-BBC529C36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7">
            <a:extLst>
              <a:ext uri="{FF2B5EF4-FFF2-40B4-BE49-F238E27FC236}">
                <a16:creationId xmlns:a16="http://schemas.microsoft.com/office/drawing/2014/main" id="{4DC1ADC7-B106-417C-AC2F-4C52AA67D2EC}"/>
              </a:ext>
            </a:extLst>
          </p:cNvPr>
          <p:cNvSpPr txBox="1"/>
          <p:nvPr/>
        </p:nvSpPr>
        <p:spPr>
          <a:xfrm rot="19620000">
            <a:off x="5683977" y="3128228"/>
            <a:ext cx="867321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books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FE93EB1C-3564-4892-9748-E69E87B3BBD6}"/>
              </a:ext>
            </a:extLst>
          </p:cNvPr>
          <p:cNvSpPr txBox="1"/>
          <p:nvPr/>
        </p:nvSpPr>
        <p:spPr>
          <a:xfrm rot="19620000">
            <a:off x="5732178" y="3611502"/>
            <a:ext cx="99647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houses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F3587B9B-79B3-4A8F-BB34-FD7F3E438CD5}"/>
              </a:ext>
            </a:extLst>
          </p:cNvPr>
          <p:cNvSpPr txBox="1"/>
          <p:nvPr/>
        </p:nvSpPr>
        <p:spPr>
          <a:xfrm rot="19620000">
            <a:off x="5691566" y="4164945"/>
            <a:ext cx="85180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lamps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0548DD9B-0BB3-416D-B633-5968306DB4DE}"/>
              </a:ext>
            </a:extLst>
          </p:cNvPr>
          <p:cNvSpPr txBox="1"/>
          <p:nvPr/>
        </p:nvSpPr>
        <p:spPr>
          <a:xfrm rot="19620000">
            <a:off x="5721634" y="4559576"/>
            <a:ext cx="10178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stamps</a:t>
            </a:r>
            <a:endParaRPr sz="2320">
              <a:latin typeface="Helvetica Neue"/>
              <a:cs typeface="Helvetica Neue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6643517" y="4908315"/>
            <a:ext cx="2611487" cy="1766741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217" rIns="0" bIns="0" rtlCol="0">
            <a:spAutoFit/>
          </a:bodyPr>
          <a:lstStyle/>
          <a:p>
            <a:pPr marL="125011" marR="119654" algn="ctr">
              <a:lnSpc>
                <a:spcPct val="101699"/>
              </a:lnSpc>
              <a:spcBef>
                <a:spcPts val="183"/>
              </a:spcBef>
            </a:pPr>
            <a:r>
              <a:rPr sz="2250" dirty="0">
                <a:latin typeface="HelveticaNeue-Light"/>
                <a:cs typeface="HelveticaNeue-Light"/>
              </a:rPr>
              <a:t>intuition: </a:t>
            </a:r>
            <a:r>
              <a:rPr sz="2250" spc="-14" dirty="0">
                <a:latin typeface="HelveticaNeue-Light"/>
                <a:cs typeface="HelveticaNeue-Light"/>
              </a:rPr>
              <a:t>each </a:t>
            </a:r>
            <a:r>
              <a:rPr sz="2250" dirty="0">
                <a:latin typeface="HelveticaNeue-Light"/>
                <a:cs typeface="HelveticaNeue-Light"/>
              </a:rPr>
              <a:t>dimension of </a:t>
            </a:r>
            <a:r>
              <a:rPr sz="2250" b="1" i="1" spc="-35" dirty="0">
                <a:latin typeface="HelveticaNeue-BoldItalic"/>
                <a:cs typeface="HelveticaNeue-BoldItalic"/>
              </a:rPr>
              <a:t>x </a:t>
            </a:r>
            <a:r>
              <a:rPr sz="2250" dirty="0">
                <a:latin typeface="HelveticaNeue-Light"/>
                <a:cs typeface="HelveticaNeue-Light"/>
              </a:rPr>
              <a:t>corresponds</a:t>
            </a:r>
            <a:r>
              <a:rPr sz="2250" spc="-21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to</a:t>
            </a:r>
            <a:r>
              <a:rPr sz="2250" spc="-21" dirty="0">
                <a:latin typeface="HelveticaNeue-Light"/>
                <a:cs typeface="HelveticaNeue-Light"/>
              </a:rPr>
              <a:t> </a:t>
            </a:r>
            <a:r>
              <a:rPr sz="2250" spc="-35" dirty="0">
                <a:latin typeface="HelveticaNeue-Light"/>
                <a:cs typeface="HelveticaNeue-Light"/>
              </a:rPr>
              <a:t>a </a:t>
            </a:r>
            <a:r>
              <a:rPr sz="2250" i="1" dirty="0">
                <a:latin typeface="HelveticaNeue-LightItalic"/>
                <a:cs typeface="HelveticaNeue-LightItalic"/>
              </a:rPr>
              <a:t>feature</a:t>
            </a:r>
            <a:r>
              <a:rPr sz="2250" i="1" spc="-14" dirty="0">
                <a:latin typeface="HelveticaNeue-LightItalic"/>
                <a:cs typeface="HelveticaNeue-LightItalic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of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the</a:t>
            </a:r>
            <a:r>
              <a:rPr sz="2250" spc="-14" dirty="0">
                <a:latin typeface="HelveticaNeue-Light"/>
                <a:cs typeface="HelveticaNeue-Light"/>
              </a:rPr>
              <a:t> prefix</a:t>
            </a:r>
            <a:endParaRPr sz="2250">
              <a:latin typeface="HelveticaNeue-Light"/>
              <a:cs typeface="HelveticaNeue-Light"/>
            </a:endParaRPr>
          </a:p>
        </p:txBody>
      </p:sp>
      <p:sp>
        <p:nvSpPr>
          <p:cNvPr id="7" name="object 7"/>
          <p:cNvSpPr txBox="1"/>
          <p:nvPr/>
        </p:nvSpPr>
        <p:spPr>
          <a:xfrm rot="19620000">
            <a:off x="5683977" y="3128228"/>
            <a:ext cx="867321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books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8" name="object 8"/>
          <p:cNvSpPr txBox="1"/>
          <p:nvPr/>
        </p:nvSpPr>
        <p:spPr>
          <a:xfrm rot="19620000">
            <a:off x="5732178" y="3611502"/>
            <a:ext cx="99647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houses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9" name="object 9"/>
          <p:cNvSpPr txBox="1"/>
          <p:nvPr/>
        </p:nvSpPr>
        <p:spPr>
          <a:xfrm rot="19620000">
            <a:off x="5691566" y="4164945"/>
            <a:ext cx="85180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lamps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10" name="object 10"/>
          <p:cNvSpPr txBox="1"/>
          <p:nvPr/>
        </p:nvSpPr>
        <p:spPr>
          <a:xfrm rot="19620000">
            <a:off x="5721634" y="4559576"/>
            <a:ext cx="10178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stamps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D701818-E303-45CE-96EC-09F378FAB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5">
                <a:extLst>
                  <a:ext uri="{FF2B5EF4-FFF2-40B4-BE49-F238E27FC236}">
                    <a16:creationId xmlns:a16="http://schemas.microsoft.com/office/drawing/2014/main" id="{3A830C8F-CD38-459D-816A-9B8D7F19A166}"/>
                  </a:ext>
                </a:extLst>
              </p:cNvPr>
              <p:cNvSpPr txBox="1"/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4013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pc="-35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US" sz="3200" b="0" i="0" spc="-35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a-IR" sz="3200" i="1" spc="-35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fa-IR" sz="3200" i="1" spc="-35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3200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15" name="object 5">
                <a:extLst>
                  <a:ext uri="{FF2B5EF4-FFF2-40B4-BE49-F238E27FC236}">
                    <a16:creationId xmlns:a16="http://schemas.microsoft.com/office/drawing/2014/main" id="{3A830C8F-CD38-459D-816A-9B8D7F19A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">
                <a:extLst>
                  <a:ext uri="{FF2B5EF4-FFF2-40B4-BE49-F238E27FC236}">
                    <a16:creationId xmlns:a16="http://schemas.microsoft.com/office/drawing/2014/main" id="{474F5648-BC7A-4889-B7C6-C125B31FF4F6}"/>
                  </a:ext>
                </a:extLst>
              </p:cNvPr>
              <p:cNvSpPr txBox="1"/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264756" algn="l"/>
                    <a:tab pos="1514421" algn="l"/>
                    <a:tab pos="2139924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31" b="1" i="1" spc="-35" dirty="0" smtClean="0">
                          <a:latin typeface="Cambria Math" panose="02040503050406030204" pitchFamily="18" charset="0"/>
                          <a:cs typeface="HelveticaNeue-BoldItalic"/>
                        </a:rPr>
                        <m:t>𝒙</m:t>
                      </m:r>
                      <m:r>
                        <a:rPr lang="en-US" sz="2531" b="1" i="1" dirty="0">
                          <a:latin typeface="Cambria Math" panose="02040503050406030204" pitchFamily="18" charset="0"/>
                          <a:cs typeface="HelveticaNeue-BoldItalic"/>
                        </a:rPr>
                        <m:t>	</m:t>
                      </m:r>
                      <m:r>
                        <a:rPr lang="en-US" sz="2531" i="1" dirty="0">
                          <a:latin typeface="Cambria Math" panose="02040503050406030204" pitchFamily="18" charset="0"/>
                          <a:cs typeface="HelveticaNeue-Ligh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31" b="0" i="1" spc="225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31" b="0" i="1" spc="225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531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16" name="object 2">
                <a:extLst>
                  <a:ext uri="{FF2B5EF4-FFF2-40B4-BE49-F238E27FC236}">
                    <a16:creationId xmlns:a16="http://schemas.microsoft.com/office/drawing/2014/main" id="{474F5648-BC7A-4889-B7C6-C125B31FF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2">
            <a:extLst>
              <a:ext uri="{FF2B5EF4-FFF2-40B4-BE49-F238E27FC236}">
                <a16:creationId xmlns:a16="http://schemas.microsoft.com/office/drawing/2014/main" id="{0E849791-6D48-4A1E-A240-489B8F642C24}"/>
              </a:ext>
            </a:extLst>
          </p:cNvPr>
          <p:cNvSpPr txBox="1"/>
          <p:nvPr/>
        </p:nvSpPr>
        <p:spPr>
          <a:xfrm>
            <a:off x="2634965" y="1054099"/>
            <a:ext cx="2611487" cy="2120366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664" rIns="0" bIns="0" rtlCol="0">
            <a:spAutoFit/>
          </a:bodyPr>
          <a:lstStyle/>
          <a:p>
            <a:pPr marL="56255" marR="50897" algn="ctr">
              <a:lnSpc>
                <a:spcPct val="101600"/>
              </a:lnSpc>
              <a:spcBef>
                <a:spcPts val="186"/>
              </a:spcBef>
            </a:pPr>
            <a:r>
              <a:rPr sz="2250" dirty="0">
                <a:latin typeface="HelveticaNeue-Light"/>
                <a:cs typeface="HelveticaNeue-Light"/>
              </a:rPr>
              <a:t>intuition: each </a:t>
            </a:r>
            <a:r>
              <a:rPr sz="2250" spc="-18" dirty="0">
                <a:latin typeface="HelveticaNeue-Light"/>
                <a:cs typeface="HelveticaNeue-Light"/>
              </a:rPr>
              <a:t>row </a:t>
            </a:r>
            <a:r>
              <a:rPr sz="2250" dirty="0">
                <a:latin typeface="HelveticaNeue-Light"/>
                <a:cs typeface="HelveticaNeue-Light"/>
              </a:rPr>
              <a:t>of </a:t>
            </a:r>
            <a:r>
              <a:rPr sz="2250" b="1" dirty="0">
                <a:latin typeface="Helvetica Neue"/>
                <a:cs typeface="Helvetica Neue"/>
              </a:rPr>
              <a:t>W </a:t>
            </a:r>
            <a:r>
              <a:rPr sz="2250" spc="-7" dirty="0">
                <a:latin typeface="HelveticaNeue-Light"/>
                <a:cs typeface="HelveticaNeue-Light"/>
              </a:rPr>
              <a:t>contains </a:t>
            </a:r>
            <a:r>
              <a:rPr sz="2250" i="1" dirty="0">
                <a:latin typeface="HelveticaNeue-LightItalic"/>
                <a:cs typeface="HelveticaNeue-LightItalic"/>
              </a:rPr>
              <a:t>feature</a:t>
            </a:r>
            <a:r>
              <a:rPr sz="2250" i="1" spc="-21" dirty="0">
                <a:latin typeface="HelveticaNeue-LightItalic"/>
                <a:cs typeface="HelveticaNeue-LightItalic"/>
              </a:rPr>
              <a:t> </a:t>
            </a:r>
            <a:r>
              <a:rPr sz="2250" i="1" dirty="0">
                <a:latin typeface="HelveticaNeue-LightItalic"/>
                <a:cs typeface="HelveticaNeue-LightItalic"/>
              </a:rPr>
              <a:t>weights</a:t>
            </a:r>
            <a:r>
              <a:rPr sz="2250" i="1" spc="-14" dirty="0">
                <a:latin typeface="HelveticaNeue-LightItalic"/>
                <a:cs typeface="HelveticaNeue-LightItalic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for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spc="-35" dirty="0">
                <a:latin typeface="HelveticaNeue-Light"/>
                <a:cs typeface="HelveticaNeue-Light"/>
              </a:rPr>
              <a:t>a </a:t>
            </a:r>
            <a:r>
              <a:rPr sz="2250" dirty="0">
                <a:latin typeface="HelveticaNeue-Light"/>
                <a:cs typeface="HelveticaNeue-Light"/>
              </a:rPr>
              <a:t>corresponding</a:t>
            </a:r>
            <a:r>
              <a:rPr sz="2250" spc="-42" dirty="0">
                <a:latin typeface="HelveticaNeue-Light"/>
                <a:cs typeface="HelveticaNeue-Light"/>
              </a:rPr>
              <a:t> </a:t>
            </a:r>
            <a:r>
              <a:rPr sz="2250" spc="-14" dirty="0">
                <a:latin typeface="HelveticaNeue-Light"/>
                <a:cs typeface="HelveticaNeue-Light"/>
              </a:rPr>
              <a:t>word </a:t>
            </a:r>
            <a:r>
              <a:rPr sz="2250" dirty="0">
                <a:latin typeface="HelveticaNeue-Light"/>
                <a:cs typeface="HelveticaNeue-Light"/>
              </a:rPr>
              <a:t>in</a:t>
            </a:r>
            <a:r>
              <a:rPr sz="2250" spc="-7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the </a:t>
            </a:r>
            <a:r>
              <a:rPr sz="2250" spc="-7" dirty="0">
                <a:latin typeface="HelveticaNeue-Light"/>
                <a:cs typeface="HelveticaNeue-Light"/>
              </a:rPr>
              <a:t>vocabulary</a:t>
            </a:r>
            <a:endParaRPr sz="2250" dirty="0">
              <a:latin typeface="HelveticaNeue-Light"/>
              <a:cs typeface="HelveticaNeue-Ligh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7426978" y="819397"/>
            <a:ext cx="3209330" cy="3174558"/>
          </a:xfrm>
          <a:prstGeom prst="rect">
            <a:avLst/>
          </a:prstGeom>
          <a:solidFill>
            <a:srgbClr val="FFACA3"/>
          </a:solidFill>
        </p:spPr>
        <p:txBody>
          <a:bodyPr vert="horz" wrap="square" lIns="0" tIns="21878" rIns="0" bIns="0" rtlCol="0">
            <a:spAutoFit/>
          </a:bodyPr>
          <a:lstStyle/>
          <a:p>
            <a:pPr marL="70988" marR="65631" algn="ctr">
              <a:lnSpc>
                <a:spcPct val="101899"/>
              </a:lnSpc>
              <a:spcBef>
                <a:spcPts val="172"/>
              </a:spcBef>
              <a:tabLst>
                <a:tab pos="422359" algn="l"/>
                <a:tab pos="594695" algn="l"/>
                <a:tab pos="678632" algn="l"/>
                <a:tab pos="916153" algn="l"/>
                <a:tab pos="1338513" algn="l"/>
                <a:tab pos="1422449" algn="l"/>
                <a:tab pos="1613091" algn="l"/>
                <a:tab pos="1708188" algn="l"/>
                <a:tab pos="1744352" algn="l"/>
                <a:tab pos="1881418" algn="l"/>
                <a:tab pos="2107778" algn="l"/>
                <a:tab pos="2143049" algn="l"/>
                <a:tab pos="2196625" algn="l"/>
              </a:tabLst>
            </a:pPr>
            <a:r>
              <a:rPr lang="en-US" sz="2531" spc="-7" dirty="0">
                <a:latin typeface="HelveticaNeue-Light"/>
                <a:cs typeface="HelveticaNeue-Light"/>
              </a:rPr>
              <a:t>CAUTION: we can’t easily interpret  these features! For example, the second dimension of x  likely  does   not correspond  to any linguistic property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43517" y="4908315"/>
            <a:ext cx="2611487" cy="1766741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217" rIns="0" bIns="0" rtlCol="0">
            <a:spAutoFit/>
          </a:bodyPr>
          <a:lstStyle/>
          <a:p>
            <a:pPr marL="125011" marR="119654" algn="ctr">
              <a:lnSpc>
                <a:spcPct val="101699"/>
              </a:lnSpc>
              <a:spcBef>
                <a:spcPts val="183"/>
              </a:spcBef>
            </a:pPr>
            <a:r>
              <a:rPr sz="2250" dirty="0">
                <a:latin typeface="HelveticaNeue-Light"/>
                <a:cs typeface="HelveticaNeue-Light"/>
              </a:rPr>
              <a:t>intuition: </a:t>
            </a:r>
            <a:r>
              <a:rPr sz="2250" spc="-14" dirty="0">
                <a:latin typeface="HelveticaNeue-Light"/>
                <a:cs typeface="HelveticaNeue-Light"/>
              </a:rPr>
              <a:t>each </a:t>
            </a:r>
            <a:r>
              <a:rPr sz="2250" dirty="0">
                <a:latin typeface="HelveticaNeue-Light"/>
                <a:cs typeface="HelveticaNeue-Light"/>
              </a:rPr>
              <a:t>dimension of </a:t>
            </a:r>
            <a:r>
              <a:rPr sz="2250" b="1" i="1" spc="-35" dirty="0">
                <a:latin typeface="HelveticaNeue-BoldItalic"/>
                <a:cs typeface="HelveticaNeue-BoldItalic"/>
              </a:rPr>
              <a:t>x </a:t>
            </a:r>
            <a:r>
              <a:rPr sz="2250" dirty="0">
                <a:latin typeface="HelveticaNeue-Light"/>
                <a:cs typeface="HelveticaNeue-Light"/>
              </a:rPr>
              <a:t>corresponds</a:t>
            </a:r>
            <a:r>
              <a:rPr sz="2250" spc="-21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to</a:t>
            </a:r>
            <a:r>
              <a:rPr sz="2250" spc="-21" dirty="0">
                <a:latin typeface="HelveticaNeue-Light"/>
                <a:cs typeface="HelveticaNeue-Light"/>
              </a:rPr>
              <a:t> </a:t>
            </a:r>
            <a:r>
              <a:rPr sz="2250" spc="-35" dirty="0">
                <a:latin typeface="HelveticaNeue-Light"/>
                <a:cs typeface="HelveticaNeue-Light"/>
              </a:rPr>
              <a:t>a </a:t>
            </a:r>
            <a:r>
              <a:rPr sz="2250" i="1" dirty="0">
                <a:latin typeface="HelveticaNeue-LightItalic"/>
                <a:cs typeface="HelveticaNeue-LightItalic"/>
              </a:rPr>
              <a:t>feature</a:t>
            </a:r>
            <a:r>
              <a:rPr sz="2250" i="1" spc="-14" dirty="0">
                <a:latin typeface="HelveticaNeue-LightItalic"/>
                <a:cs typeface="HelveticaNeue-LightItalic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of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the</a:t>
            </a:r>
            <a:r>
              <a:rPr sz="2250" spc="-14" dirty="0">
                <a:latin typeface="HelveticaNeue-Light"/>
                <a:cs typeface="HelveticaNeue-Light"/>
              </a:rPr>
              <a:t> prefix</a:t>
            </a:r>
            <a:endParaRPr sz="2250">
              <a:latin typeface="HelveticaNeue-Light"/>
              <a:cs typeface="HelveticaNeue-Light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01F8DB6-2DCE-4434-9278-7CE67542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68DAEEC5-37CF-4AF7-BE98-2E8A761FB9B1}"/>
                  </a:ext>
                </a:extLst>
              </p:cNvPr>
              <p:cNvSpPr txBox="1"/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4013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pc="-35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US" sz="3200" b="0" i="0" spc="-35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a-IR" sz="3200" i="1" spc="-35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fa-IR" sz="3200" i="1" spc="-35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3200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68DAEEC5-37CF-4AF7-BE98-2E8A761FB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">
                <a:extLst>
                  <a:ext uri="{FF2B5EF4-FFF2-40B4-BE49-F238E27FC236}">
                    <a16:creationId xmlns:a16="http://schemas.microsoft.com/office/drawing/2014/main" id="{3ECB930B-CEFB-4873-A7D7-A3711204AD9F}"/>
                  </a:ext>
                </a:extLst>
              </p:cNvPr>
              <p:cNvSpPr txBox="1"/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264756" algn="l"/>
                    <a:tab pos="1514421" algn="l"/>
                    <a:tab pos="2139924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31" b="1" i="1" spc="-35" dirty="0" smtClean="0">
                          <a:latin typeface="Cambria Math" panose="02040503050406030204" pitchFamily="18" charset="0"/>
                          <a:cs typeface="HelveticaNeue-BoldItalic"/>
                        </a:rPr>
                        <m:t>𝒙</m:t>
                      </m:r>
                      <m:r>
                        <a:rPr lang="en-US" sz="2531" b="1" i="1" dirty="0">
                          <a:latin typeface="Cambria Math" panose="02040503050406030204" pitchFamily="18" charset="0"/>
                          <a:cs typeface="HelveticaNeue-BoldItalic"/>
                        </a:rPr>
                        <m:t>	</m:t>
                      </m:r>
                      <m:r>
                        <a:rPr lang="en-US" sz="2531" i="1" dirty="0">
                          <a:latin typeface="Cambria Math" panose="02040503050406030204" pitchFamily="18" charset="0"/>
                          <a:cs typeface="HelveticaNeue-Ligh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31" b="0" i="1" spc="225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31" b="0" i="1" spc="225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531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17" name="object 2">
                <a:extLst>
                  <a:ext uri="{FF2B5EF4-FFF2-40B4-BE49-F238E27FC236}">
                    <a16:creationId xmlns:a16="http://schemas.microsoft.com/office/drawing/2014/main" id="{3ECB930B-CEFB-4873-A7D7-A3711204A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bject 7">
            <a:extLst>
              <a:ext uri="{FF2B5EF4-FFF2-40B4-BE49-F238E27FC236}">
                <a16:creationId xmlns:a16="http://schemas.microsoft.com/office/drawing/2014/main" id="{8239D784-EF3A-4EBA-AFD6-E6DDB2CF961E}"/>
              </a:ext>
            </a:extLst>
          </p:cNvPr>
          <p:cNvSpPr txBox="1"/>
          <p:nvPr/>
        </p:nvSpPr>
        <p:spPr>
          <a:xfrm rot="19620000">
            <a:off x="5683977" y="3128228"/>
            <a:ext cx="867321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books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7E7AFD5C-1860-4E23-BDE9-CAC48FBDF05E}"/>
              </a:ext>
            </a:extLst>
          </p:cNvPr>
          <p:cNvSpPr txBox="1"/>
          <p:nvPr/>
        </p:nvSpPr>
        <p:spPr>
          <a:xfrm rot="19620000">
            <a:off x="5732178" y="3611502"/>
            <a:ext cx="99647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houses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69B55210-C61A-4A91-BCE8-829C656AE6DA}"/>
              </a:ext>
            </a:extLst>
          </p:cNvPr>
          <p:cNvSpPr txBox="1"/>
          <p:nvPr/>
        </p:nvSpPr>
        <p:spPr>
          <a:xfrm rot="19620000">
            <a:off x="5691566" y="4164945"/>
            <a:ext cx="85180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lamps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BDAAD6E1-8FAF-4C9C-B659-A47E1384F048}"/>
              </a:ext>
            </a:extLst>
          </p:cNvPr>
          <p:cNvSpPr txBox="1"/>
          <p:nvPr/>
        </p:nvSpPr>
        <p:spPr>
          <a:xfrm rot="19620000">
            <a:off x="5721634" y="4559576"/>
            <a:ext cx="10178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stamps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CB3DF38D-9447-4E26-9867-8BBDD3D3AF66}"/>
              </a:ext>
            </a:extLst>
          </p:cNvPr>
          <p:cNvSpPr txBox="1"/>
          <p:nvPr/>
        </p:nvSpPr>
        <p:spPr>
          <a:xfrm>
            <a:off x="2634965" y="1054099"/>
            <a:ext cx="2611487" cy="2120366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664" rIns="0" bIns="0" rtlCol="0">
            <a:spAutoFit/>
          </a:bodyPr>
          <a:lstStyle/>
          <a:p>
            <a:pPr marL="56255" marR="50897" algn="ctr">
              <a:lnSpc>
                <a:spcPct val="101600"/>
              </a:lnSpc>
              <a:spcBef>
                <a:spcPts val="186"/>
              </a:spcBef>
            </a:pPr>
            <a:r>
              <a:rPr sz="2250" dirty="0">
                <a:latin typeface="HelveticaNeue-Light"/>
                <a:cs typeface="HelveticaNeue-Light"/>
              </a:rPr>
              <a:t>intuition: each </a:t>
            </a:r>
            <a:r>
              <a:rPr sz="2250" spc="-18" dirty="0">
                <a:latin typeface="HelveticaNeue-Light"/>
                <a:cs typeface="HelveticaNeue-Light"/>
              </a:rPr>
              <a:t>row </a:t>
            </a:r>
            <a:r>
              <a:rPr sz="2250" dirty="0">
                <a:latin typeface="HelveticaNeue-Light"/>
                <a:cs typeface="HelveticaNeue-Light"/>
              </a:rPr>
              <a:t>of </a:t>
            </a:r>
            <a:r>
              <a:rPr sz="2250" b="1" dirty="0">
                <a:latin typeface="Helvetica Neue"/>
                <a:cs typeface="Helvetica Neue"/>
              </a:rPr>
              <a:t>W </a:t>
            </a:r>
            <a:r>
              <a:rPr sz="2250" spc="-7" dirty="0">
                <a:latin typeface="HelveticaNeue-Light"/>
                <a:cs typeface="HelveticaNeue-Light"/>
              </a:rPr>
              <a:t>contains </a:t>
            </a:r>
            <a:r>
              <a:rPr sz="2250" i="1" dirty="0">
                <a:latin typeface="HelveticaNeue-LightItalic"/>
                <a:cs typeface="HelveticaNeue-LightItalic"/>
              </a:rPr>
              <a:t>feature</a:t>
            </a:r>
            <a:r>
              <a:rPr sz="2250" i="1" spc="-21" dirty="0">
                <a:latin typeface="HelveticaNeue-LightItalic"/>
                <a:cs typeface="HelveticaNeue-LightItalic"/>
              </a:rPr>
              <a:t> </a:t>
            </a:r>
            <a:r>
              <a:rPr sz="2250" i="1" dirty="0">
                <a:latin typeface="HelveticaNeue-LightItalic"/>
                <a:cs typeface="HelveticaNeue-LightItalic"/>
              </a:rPr>
              <a:t>weights</a:t>
            </a:r>
            <a:r>
              <a:rPr sz="2250" i="1" spc="-14" dirty="0">
                <a:latin typeface="HelveticaNeue-LightItalic"/>
                <a:cs typeface="HelveticaNeue-LightItalic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for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spc="-35" dirty="0">
                <a:latin typeface="HelveticaNeue-Light"/>
                <a:cs typeface="HelveticaNeue-Light"/>
              </a:rPr>
              <a:t>a </a:t>
            </a:r>
            <a:r>
              <a:rPr sz="2250" dirty="0">
                <a:latin typeface="HelveticaNeue-Light"/>
                <a:cs typeface="HelveticaNeue-Light"/>
              </a:rPr>
              <a:t>corresponding</a:t>
            </a:r>
            <a:r>
              <a:rPr sz="2250" spc="-42" dirty="0">
                <a:latin typeface="HelveticaNeue-Light"/>
                <a:cs typeface="HelveticaNeue-Light"/>
              </a:rPr>
              <a:t> </a:t>
            </a:r>
            <a:r>
              <a:rPr sz="2250" spc="-14" dirty="0">
                <a:latin typeface="HelveticaNeue-Light"/>
                <a:cs typeface="HelveticaNeue-Light"/>
              </a:rPr>
              <a:t>word </a:t>
            </a:r>
            <a:r>
              <a:rPr sz="2250" dirty="0">
                <a:latin typeface="HelveticaNeue-Light"/>
                <a:cs typeface="HelveticaNeue-Light"/>
              </a:rPr>
              <a:t>in</a:t>
            </a:r>
            <a:r>
              <a:rPr sz="2250" spc="-7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the </a:t>
            </a:r>
            <a:r>
              <a:rPr sz="2250" spc="-7" dirty="0">
                <a:latin typeface="HelveticaNeue-Light"/>
                <a:cs typeface="HelveticaNeue-Light"/>
              </a:rPr>
              <a:t>vocabulary</a:t>
            </a:r>
            <a:endParaRPr sz="2250" dirty="0">
              <a:latin typeface="HelveticaNeue-Light"/>
              <a:cs typeface="HelveticaNeue-Ligh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8C1C1FF-D335-492C-8CD8-5660058AE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object 6"/>
          <p:cNvSpPr txBox="1"/>
          <p:nvPr/>
        </p:nvSpPr>
        <p:spPr>
          <a:xfrm>
            <a:off x="7054392" y="530239"/>
            <a:ext cx="2733823" cy="1414019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664" rIns="0" bIns="0" rtlCol="0">
            <a:spAutoFit/>
          </a:bodyPr>
          <a:lstStyle/>
          <a:p>
            <a:pPr marL="43307" marR="37950" algn="ctr">
              <a:lnSpc>
                <a:spcPct val="101600"/>
              </a:lnSpc>
              <a:spcBef>
                <a:spcPts val="186"/>
              </a:spcBef>
            </a:pPr>
            <a:r>
              <a:rPr sz="2250" dirty="0">
                <a:latin typeface="HelveticaNeue-Light"/>
                <a:cs typeface="HelveticaNeue-Light"/>
              </a:rPr>
              <a:t>How did we </a:t>
            </a:r>
            <a:r>
              <a:rPr sz="2250" spc="-7" dirty="0">
                <a:latin typeface="HelveticaNeue-Light"/>
                <a:cs typeface="HelveticaNeue-Light"/>
              </a:rPr>
              <a:t>compute </a:t>
            </a:r>
            <a:r>
              <a:rPr sz="2250" dirty="0">
                <a:latin typeface="HelveticaNeue-Light"/>
                <a:cs typeface="HelveticaNeue-Light"/>
              </a:rPr>
              <a:t>this?</a:t>
            </a:r>
            <a:r>
              <a:rPr sz="2250" spc="-28" dirty="0">
                <a:latin typeface="HelveticaNeue-Light"/>
                <a:cs typeface="HelveticaNeue-Light"/>
              </a:rPr>
              <a:t> </a:t>
            </a:r>
            <a:r>
              <a:rPr sz="2250" spc="-35" dirty="0">
                <a:latin typeface="HelveticaNeue-Light"/>
                <a:cs typeface="HelveticaNeue-Light"/>
              </a:rPr>
              <a:t>It’s</a:t>
            </a:r>
            <a:r>
              <a:rPr sz="2250" spc="-28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just</a:t>
            </a:r>
            <a:r>
              <a:rPr sz="2250" spc="-28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the</a:t>
            </a:r>
            <a:r>
              <a:rPr sz="2250" spc="-28" dirty="0">
                <a:latin typeface="HelveticaNeue-Light"/>
                <a:cs typeface="HelveticaNeue-Light"/>
              </a:rPr>
              <a:t> </a:t>
            </a:r>
            <a:r>
              <a:rPr sz="2250" spc="-18" dirty="0">
                <a:latin typeface="HelveticaNeue-Light"/>
                <a:cs typeface="HelveticaNeue-Light"/>
              </a:rPr>
              <a:t>dot </a:t>
            </a:r>
            <a:r>
              <a:rPr sz="2250" dirty="0">
                <a:latin typeface="HelveticaNeue-Light"/>
                <a:cs typeface="HelveticaNeue-Light"/>
              </a:rPr>
              <a:t>product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of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each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spc="-18" dirty="0">
                <a:latin typeface="HelveticaNeue-Light"/>
                <a:cs typeface="HelveticaNeue-Light"/>
              </a:rPr>
              <a:t>row </a:t>
            </a:r>
            <a:r>
              <a:rPr sz="2250" dirty="0">
                <a:latin typeface="HelveticaNeue-Light"/>
                <a:cs typeface="HelveticaNeue-Light"/>
              </a:rPr>
              <a:t>of </a:t>
            </a:r>
            <a:r>
              <a:rPr sz="2250" b="1" dirty="0">
                <a:latin typeface="Helvetica Neue"/>
                <a:cs typeface="Helvetica Neue"/>
              </a:rPr>
              <a:t>W </a:t>
            </a:r>
            <a:r>
              <a:rPr sz="2250" dirty="0">
                <a:latin typeface="HelveticaNeue-Light"/>
                <a:cs typeface="HelveticaNeue-Light"/>
              </a:rPr>
              <a:t>with </a:t>
            </a:r>
            <a:r>
              <a:rPr sz="2250" b="1" i="1" spc="-18" dirty="0">
                <a:latin typeface="HelveticaNeue-BoldItalic"/>
                <a:cs typeface="HelveticaNeue-BoldItalic"/>
              </a:rPr>
              <a:t>x</a:t>
            </a:r>
            <a:r>
              <a:rPr sz="2250" spc="-18" dirty="0">
                <a:latin typeface="HelveticaNeue-Light"/>
                <a:cs typeface="HelveticaNeue-Light"/>
              </a:rPr>
              <a:t>!</a:t>
            </a:r>
            <a:endParaRPr sz="2250">
              <a:latin typeface="HelveticaNeue-Light"/>
              <a:cs typeface="HelveticaNeue-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5">
                <a:extLst>
                  <a:ext uri="{FF2B5EF4-FFF2-40B4-BE49-F238E27FC236}">
                    <a16:creationId xmlns:a16="http://schemas.microsoft.com/office/drawing/2014/main" id="{D7137CF5-A0AB-42A0-B0F6-42B8D83DEEE5}"/>
                  </a:ext>
                </a:extLst>
              </p:cNvPr>
              <p:cNvSpPr txBox="1"/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4013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pc="-35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US" sz="3200" b="0" i="0" spc="-35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a-IR" sz="3200" i="1" spc="-35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fa-IR" sz="3200" i="1" spc="-35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3200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9" name="object 5">
                <a:extLst>
                  <a:ext uri="{FF2B5EF4-FFF2-40B4-BE49-F238E27FC236}">
                    <a16:creationId xmlns:a16="http://schemas.microsoft.com/office/drawing/2014/main" id="{D7137CF5-A0AB-42A0-B0F6-42B8D83DE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">
                <a:extLst>
                  <a:ext uri="{FF2B5EF4-FFF2-40B4-BE49-F238E27FC236}">
                    <a16:creationId xmlns:a16="http://schemas.microsoft.com/office/drawing/2014/main" id="{19CD876D-2D5E-4BB2-ACB0-D4EE605D43D6}"/>
                  </a:ext>
                </a:extLst>
              </p:cNvPr>
              <p:cNvSpPr txBox="1"/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264756" algn="l"/>
                    <a:tab pos="1514421" algn="l"/>
                    <a:tab pos="2139924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31" b="1" i="1" spc="-35" dirty="0" smtClean="0">
                          <a:latin typeface="Cambria Math" panose="02040503050406030204" pitchFamily="18" charset="0"/>
                          <a:cs typeface="HelveticaNeue-BoldItalic"/>
                        </a:rPr>
                        <m:t>𝒙</m:t>
                      </m:r>
                      <m:r>
                        <a:rPr lang="en-US" sz="2531" b="1" i="1" dirty="0">
                          <a:latin typeface="Cambria Math" panose="02040503050406030204" pitchFamily="18" charset="0"/>
                          <a:cs typeface="HelveticaNeue-BoldItalic"/>
                        </a:rPr>
                        <m:t>	</m:t>
                      </m:r>
                      <m:r>
                        <a:rPr lang="en-US" sz="2531" i="1" dirty="0">
                          <a:latin typeface="Cambria Math" panose="02040503050406030204" pitchFamily="18" charset="0"/>
                          <a:cs typeface="HelveticaNeue-Ligh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31" b="0" i="1" spc="225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31" b="0" i="1" spc="225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531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12" name="object 2">
                <a:extLst>
                  <a:ext uri="{FF2B5EF4-FFF2-40B4-BE49-F238E27FC236}">
                    <a16:creationId xmlns:a16="http://schemas.microsoft.com/office/drawing/2014/main" id="{19CD876D-2D5E-4BB2-ACB0-D4EE605D4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5">
                <a:extLst>
                  <a:ext uri="{FF2B5EF4-FFF2-40B4-BE49-F238E27FC236}">
                    <a16:creationId xmlns:a16="http://schemas.microsoft.com/office/drawing/2014/main" id="{0BDF6348-1DC9-4D88-B376-BE5D8CC05AF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41120" y="1041197"/>
                <a:ext cx="5689600" cy="4706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8930" rIns="0" bIns="0" numCol="1" rtlCol="0" anchor="ctr" anchorCtr="0" compatLnSpc="1">
                <a:prstTxWarp prst="textNoShape">
                  <a:avLst/>
                </a:prstTxWarp>
                <a:spAutoFit/>
              </a:bodyPr>
              <a:lstStyle>
                <a:lvl1pPr marL="13716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000" kern="1200" baseline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4572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9144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13716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18288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8929" algn="ctr">
                  <a:spcBef>
                    <a:spcPts val="70"/>
                  </a:spcBef>
                  <a:tabLst>
                    <a:tab pos="568354" algn="l"/>
                    <a:tab pos="850522" algn="l"/>
                    <a:tab pos="1668899" algn="l"/>
                    <a:tab pos="2681490" algn="l"/>
                    <a:tab pos="357532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i="1" spc="-18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 Neue"/>
                        </a:rPr>
                        <m:t>𝑊</m:t>
                      </m:r>
                      <m:r>
                        <a:rPr lang="fa-IR" i="1" spc="-18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Neue-BoldItalic"/>
                        </a:rPr>
                        <m:t>𝑥</m:t>
                      </m:r>
                      <m:r>
                        <a:rPr lang="fa-IR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Neue-BoldItalic"/>
                        </a:rPr>
                        <m:t>	</m:t>
                      </m:r>
                      <m:r>
                        <a:rPr lang="fa-IR" i="1" baseline="30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Neue-BoldItalic"/>
                        </a:rPr>
                        <m:t>𝑇</m:t>
                      </m:r>
                      <m:r>
                        <a:rPr lang="fa-IR" i="1" spc="-35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a-IR" i="1" spc="-35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fa-IR" i="1" spc="-35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a-IR" dirty="0"/>
              </a:p>
            </p:txBody>
          </p:sp>
        </mc:Choice>
        <mc:Fallback xmlns="">
          <p:sp>
            <p:nvSpPr>
              <p:cNvPr id="13" name="object 5">
                <a:extLst>
                  <a:ext uri="{FF2B5EF4-FFF2-40B4-BE49-F238E27FC236}">
                    <a16:creationId xmlns:a16="http://schemas.microsoft.com/office/drawing/2014/main" id="{0BDF6348-1DC9-4D88-B376-BE5D8CC05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1120" y="1041197"/>
                <a:ext cx="5689600" cy="4706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bject 7">
            <a:extLst>
              <a:ext uri="{FF2B5EF4-FFF2-40B4-BE49-F238E27FC236}">
                <a16:creationId xmlns:a16="http://schemas.microsoft.com/office/drawing/2014/main" id="{D6260365-B33B-41E1-B43E-DA8F667826B8}"/>
              </a:ext>
            </a:extLst>
          </p:cNvPr>
          <p:cNvSpPr txBox="1"/>
          <p:nvPr/>
        </p:nvSpPr>
        <p:spPr>
          <a:xfrm rot="19620000">
            <a:off x="5683977" y="3128228"/>
            <a:ext cx="867321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books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F5054CE6-67E1-4995-92F6-BAA6EE0A2E9B}"/>
              </a:ext>
            </a:extLst>
          </p:cNvPr>
          <p:cNvSpPr txBox="1"/>
          <p:nvPr/>
        </p:nvSpPr>
        <p:spPr>
          <a:xfrm rot="19620000">
            <a:off x="5732178" y="3611502"/>
            <a:ext cx="99647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houses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9C8C3A14-D050-4EF4-844F-1B9F25BE521B}"/>
              </a:ext>
            </a:extLst>
          </p:cNvPr>
          <p:cNvSpPr txBox="1"/>
          <p:nvPr/>
        </p:nvSpPr>
        <p:spPr>
          <a:xfrm rot="19620000">
            <a:off x="5691566" y="4164945"/>
            <a:ext cx="85180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lamps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18" name="object 10">
            <a:extLst>
              <a:ext uri="{FF2B5EF4-FFF2-40B4-BE49-F238E27FC236}">
                <a16:creationId xmlns:a16="http://schemas.microsoft.com/office/drawing/2014/main" id="{7453864A-260F-487C-8F0F-50F1E942509A}"/>
              </a:ext>
            </a:extLst>
          </p:cNvPr>
          <p:cNvSpPr txBox="1"/>
          <p:nvPr/>
        </p:nvSpPr>
        <p:spPr>
          <a:xfrm rot="19620000">
            <a:off x="5721634" y="4559576"/>
            <a:ext cx="10178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stamps</a:t>
            </a:r>
            <a:endParaRPr sz="2320">
              <a:latin typeface="Helvetica Neue"/>
              <a:cs typeface="Helvetica Neue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/>
          <p:nvPr/>
        </p:nvSpPr>
        <p:spPr>
          <a:xfrm>
            <a:off x="7054392" y="530239"/>
            <a:ext cx="2733823" cy="1414019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664" rIns="0" bIns="0" rtlCol="0">
            <a:spAutoFit/>
          </a:bodyPr>
          <a:lstStyle/>
          <a:p>
            <a:pPr marL="43307" marR="37950" algn="ctr">
              <a:lnSpc>
                <a:spcPct val="101600"/>
              </a:lnSpc>
              <a:spcBef>
                <a:spcPts val="186"/>
              </a:spcBef>
            </a:pPr>
            <a:r>
              <a:rPr sz="2250" dirty="0">
                <a:latin typeface="HelveticaNeue-Light"/>
                <a:cs typeface="HelveticaNeue-Light"/>
              </a:rPr>
              <a:t>How did we </a:t>
            </a:r>
            <a:r>
              <a:rPr sz="2250" spc="-7" dirty="0">
                <a:latin typeface="HelveticaNeue-Light"/>
                <a:cs typeface="HelveticaNeue-Light"/>
              </a:rPr>
              <a:t>compute </a:t>
            </a:r>
            <a:r>
              <a:rPr sz="2250" dirty="0">
                <a:latin typeface="HelveticaNeue-Light"/>
                <a:cs typeface="HelveticaNeue-Light"/>
              </a:rPr>
              <a:t>this?</a:t>
            </a:r>
            <a:r>
              <a:rPr sz="2250" spc="-28" dirty="0">
                <a:latin typeface="HelveticaNeue-Light"/>
                <a:cs typeface="HelveticaNeue-Light"/>
              </a:rPr>
              <a:t> </a:t>
            </a:r>
            <a:r>
              <a:rPr sz="2250" spc="-35" dirty="0">
                <a:latin typeface="HelveticaNeue-Light"/>
                <a:cs typeface="HelveticaNeue-Light"/>
              </a:rPr>
              <a:t>It’s</a:t>
            </a:r>
            <a:r>
              <a:rPr sz="2250" spc="-28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just</a:t>
            </a:r>
            <a:r>
              <a:rPr sz="2250" spc="-28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the</a:t>
            </a:r>
            <a:r>
              <a:rPr sz="2250" spc="-28" dirty="0">
                <a:latin typeface="HelveticaNeue-Light"/>
                <a:cs typeface="HelveticaNeue-Light"/>
              </a:rPr>
              <a:t> </a:t>
            </a:r>
            <a:r>
              <a:rPr sz="2250" spc="-18" dirty="0">
                <a:latin typeface="HelveticaNeue-Light"/>
                <a:cs typeface="HelveticaNeue-Light"/>
              </a:rPr>
              <a:t>dot </a:t>
            </a:r>
            <a:r>
              <a:rPr sz="2250" dirty="0">
                <a:latin typeface="HelveticaNeue-Light"/>
                <a:cs typeface="HelveticaNeue-Light"/>
              </a:rPr>
              <a:t>product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of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each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spc="-18" dirty="0">
                <a:latin typeface="HelveticaNeue-Light"/>
                <a:cs typeface="HelveticaNeue-Light"/>
              </a:rPr>
              <a:t>row </a:t>
            </a:r>
            <a:r>
              <a:rPr sz="2250" dirty="0">
                <a:latin typeface="HelveticaNeue-Light"/>
                <a:cs typeface="HelveticaNeue-Light"/>
              </a:rPr>
              <a:t>of </a:t>
            </a:r>
            <a:r>
              <a:rPr sz="2250" b="1" dirty="0">
                <a:latin typeface="Helvetica Neue"/>
                <a:cs typeface="Helvetica Neue"/>
              </a:rPr>
              <a:t>W </a:t>
            </a:r>
            <a:r>
              <a:rPr sz="2250" dirty="0">
                <a:latin typeface="HelveticaNeue-Light"/>
                <a:cs typeface="HelveticaNeue-Light"/>
              </a:rPr>
              <a:t>with </a:t>
            </a:r>
            <a:r>
              <a:rPr sz="2250" b="1" i="1" spc="-18" dirty="0">
                <a:latin typeface="HelveticaNeue-BoldItalic"/>
                <a:cs typeface="HelveticaNeue-BoldItalic"/>
              </a:rPr>
              <a:t>x</a:t>
            </a:r>
            <a:r>
              <a:rPr sz="2250" spc="-18" dirty="0">
                <a:latin typeface="HelveticaNeue-Light"/>
                <a:cs typeface="HelveticaNeue-Light"/>
              </a:rPr>
              <a:t>!</a:t>
            </a:r>
            <a:endParaRPr sz="2250">
              <a:latin typeface="HelveticaNeue-Light"/>
              <a:cs typeface="HelveticaNeue-Light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88255BE-03C6-491A-9840-3CA3AB6EA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0" tIns="0" rIns="0" bIns="0" rtlCol="0" anchor="ctr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66" b="0" i="0" kern="1200">
                <a:solidFill>
                  <a:schemeClr val="tx1"/>
                </a:solidFill>
                <a:latin typeface="Gill Sans"/>
                <a:ea typeface="+mn-ea"/>
                <a:cs typeface="Gill San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81D60167-4931-47E6-BA6A-407CBD079E47}" type="slidenum">
              <a:rPr lang="en-US" smtClean="0"/>
              <a:pPr/>
              <a:t>49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F9035722-B747-49E2-A1CC-EB6526AC4D6D}"/>
                  </a:ext>
                </a:extLst>
              </p:cNvPr>
              <p:cNvSpPr txBox="1"/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4013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pc="-35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US" sz="3200" b="0" i="0" spc="-35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a-IR" sz="3200" i="1" spc="-35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fa-IR" sz="3200" i="1" spc="-35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3200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F9035722-B747-49E2-A1CC-EB6526AC4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">
                <a:extLst>
                  <a:ext uri="{FF2B5EF4-FFF2-40B4-BE49-F238E27FC236}">
                    <a16:creationId xmlns:a16="http://schemas.microsoft.com/office/drawing/2014/main" id="{96D6F222-43C3-4CD5-A871-76C665198701}"/>
                  </a:ext>
                </a:extLst>
              </p:cNvPr>
              <p:cNvSpPr txBox="1"/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264756" algn="l"/>
                    <a:tab pos="1514421" algn="l"/>
                    <a:tab pos="2139924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31" b="1" i="1" spc="-35" dirty="0" smtClean="0">
                          <a:latin typeface="Cambria Math" panose="02040503050406030204" pitchFamily="18" charset="0"/>
                          <a:cs typeface="HelveticaNeue-BoldItalic"/>
                        </a:rPr>
                        <m:t>𝒙</m:t>
                      </m:r>
                      <m:r>
                        <a:rPr lang="en-US" sz="2531" b="1" i="1" dirty="0">
                          <a:latin typeface="Cambria Math" panose="02040503050406030204" pitchFamily="18" charset="0"/>
                          <a:cs typeface="HelveticaNeue-BoldItalic"/>
                        </a:rPr>
                        <m:t>	</m:t>
                      </m:r>
                      <m:r>
                        <a:rPr lang="en-US" sz="2531" i="1" dirty="0">
                          <a:latin typeface="Cambria Math" panose="02040503050406030204" pitchFamily="18" charset="0"/>
                          <a:cs typeface="HelveticaNeue-Ligh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31" b="0" i="1" spc="225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31" b="0" i="1" spc="225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531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18" name="object 2">
                <a:extLst>
                  <a:ext uri="{FF2B5EF4-FFF2-40B4-BE49-F238E27FC236}">
                    <a16:creationId xmlns:a16="http://schemas.microsoft.com/office/drawing/2014/main" id="{96D6F222-43C3-4CD5-A871-76C665198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881E20-689D-4FD1-805F-4453E84B99F2}"/>
              </a:ext>
            </a:extLst>
          </p:cNvPr>
          <p:cNvCxnSpPr/>
          <p:nvPr/>
        </p:nvCxnSpPr>
        <p:spPr>
          <a:xfrm>
            <a:off x="2985419" y="3566160"/>
            <a:ext cx="1322421" cy="1974304"/>
          </a:xfrm>
          <a:prstGeom prst="straightConnector1">
            <a:avLst/>
          </a:prstGeom>
          <a:ln w="57150">
            <a:solidFill>
              <a:srgbClr val="7030A0"/>
            </a:solidFill>
            <a:prstDash val="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5FA020-0F2E-454B-9DFA-32F53AD2D095}"/>
              </a:ext>
            </a:extLst>
          </p:cNvPr>
          <p:cNvCxnSpPr>
            <a:cxnSpLocks/>
          </p:cNvCxnSpPr>
          <p:nvPr/>
        </p:nvCxnSpPr>
        <p:spPr>
          <a:xfrm>
            <a:off x="4005522" y="3657600"/>
            <a:ext cx="1283298" cy="1974304"/>
          </a:xfrm>
          <a:prstGeom prst="straightConnector1">
            <a:avLst/>
          </a:prstGeom>
          <a:ln w="57150">
            <a:solidFill>
              <a:srgbClr val="7030A0"/>
            </a:solidFill>
            <a:prstDash val="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B6D2AC-1CFC-41D1-911F-60A73BDED241}"/>
              </a:ext>
            </a:extLst>
          </p:cNvPr>
          <p:cNvCxnSpPr>
            <a:cxnSpLocks/>
          </p:cNvCxnSpPr>
          <p:nvPr/>
        </p:nvCxnSpPr>
        <p:spPr>
          <a:xfrm>
            <a:off x="4904791" y="3566160"/>
            <a:ext cx="1191209" cy="2065744"/>
          </a:xfrm>
          <a:prstGeom prst="straightConnector1">
            <a:avLst/>
          </a:prstGeom>
          <a:ln w="57150">
            <a:solidFill>
              <a:srgbClr val="7030A0"/>
            </a:solidFill>
            <a:prstDash val="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5">
                <a:extLst>
                  <a:ext uri="{FF2B5EF4-FFF2-40B4-BE49-F238E27FC236}">
                    <a16:creationId xmlns:a16="http://schemas.microsoft.com/office/drawing/2014/main" id="{225E5EEC-F84C-4E98-BD29-2AFFCD0E4CC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41120" y="1041197"/>
                <a:ext cx="5689600" cy="4706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8930" rIns="0" bIns="0" numCol="1" rtlCol="0" anchor="ctr" anchorCtr="0" compatLnSpc="1">
                <a:prstTxWarp prst="textNoShape">
                  <a:avLst/>
                </a:prstTxWarp>
                <a:spAutoFit/>
              </a:bodyPr>
              <a:lstStyle>
                <a:lvl1pPr marL="13716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000" kern="1200" baseline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4572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9144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13716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18288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8929" algn="ctr">
                  <a:spcBef>
                    <a:spcPts val="70"/>
                  </a:spcBef>
                  <a:tabLst>
                    <a:tab pos="568354" algn="l"/>
                    <a:tab pos="850522" algn="l"/>
                    <a:tab pos="1668899" algn="l"/>
                    <a:tab pos="2681490" algn="l"/>
                    <a:tab pos="357532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i="1" spc="-18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 Neue"/>
                        </a:rPr>
                        <m:t>𝑊</m:t>
                      </m:r>
                      <m:r>
                        <a:rPr lang="fa-IR" i="1" spc="-18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Neue-BoldItalic"/>
                        </a:rPr>
                        <m:t>𝑥</m:t>
                      </m:r>
                      <m:r>
                        <a:rPr lang="fa-IR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Neue-BoldItalic"/>
                        </a:rPr>
                        <m:t>	</m:t>
                      </m:r>
                      <m:r>
                        <a:rPr lang="fa-IR" i="1" baseline="30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Neue-BoldItalic"/>
                        </a:rPr>
                        <m:t>𝑇</m:t>
                      </m:r>
                      <m:r>
                        <a:rPr lang="fa-IR" i="1" spc="-35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a-IR" i="1" spc="-35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fa-IR" i="1" spc="-35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a-IR" dirty="0"/>
              </a:p>
            </p:txBody>
          </p:sp>
        </mc:Choice>
        <mc:Fallback xmlns="">
          <p:sp>
            <p:nvSpPr>
              <p:cNvPr id="26" name="object 5">
                <a:extLst>
                  <a:ext uri="{FF2B5EF4-FFF2-40B4-BE49-F238E27FC236}">
                    <a16:creationId xmlns:a16="http://schemas.microsoft.com/office/drawing/2014/main" id="{225E5EEC-F84C-4E98-BD29-2AFFCD0E4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1120" y="1041197"/>
                <a:ext cx="5689600" cy="4706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bject 7">
            <a:extLst>
              <a:ext uri="{FF2B5EF4-FFF2-40B4-BE49-F238E27FC236}">
                <a16:creationId xmlns:a16="http://schemas.microsoft.com/office/drawing/2014/main" id="{A05FCAF4-A2AD-4655-BF00-4194AFDC1257}"/>
              </a:ext>
            </a:extLst>
          </p:cNvPr>
          <p:cNvSpPr txBox="1"/>
          <p:nvPr/>
        </p:nvSpPr>
        <p:spPr>
          <a:xfrm rot="19620000">
            <a:off x="5683977" y="3128228"/>
            <a:ext cx="867321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books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48" name="object 8">
            <a:extLst>
              <a:ext uri="{FF2B5EF4-FFF2-40B4-BE49-F238E27FC236}">
                <a16:creationId xmlns:a16="http://schemas.microsoft.com/office/drawing/2014/main" id="{BC8511C5-BE78-4DF0-8B46-CF907F6BCEAB}"/>
              </a:ext>
            </a:extLst>
          </p:cNvPr>
          <p:cNvSpPr txBox="1"/>
          <p:nvPr/>
        </p:nvSpPr>
        <p:spPr>
          <a:xfrm rot="19620000">
            <a:off x="5732178" y="3611502"/>
            <a:ext cx="99647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houses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49" name="object 9">
            <a:extLst>
              <a:ext uri="{FF2B5EF4-FFF2-40B4-BE49-F238E27FC236}">
                <a16:creationId xmlns:a16="http://schemas.microsoft.com/office/drawing/2014/main" id="{0D85B23D-4030-4513-BF6A-E4B1D4FE40B6}"/>
              </a:ext>
            </a:extLst>
          </p:cNvPr>
          <p:cNvSpPr txBox="1"/>
          <p:nvPr/>
        </p:nvSpPr>
        <p:spPr>
          <a:xfrm rot="19620000">
            <a:off x="5691566" y="4164945"/>
            <a:ext cx="85180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lamps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50" name="object 10">
            <a:extLst>
              <a:ext uri="{FF2B5EF4-FFF2-40B4-BE49-F238E27FC236}">
                <a16:creationId xmlns:a16="http://schemas.microsoft.com/office/drawing/2014/main" id="{F47E2302-39DE-455B-832F-4EBF0EB9C295}"/>
              </a:ext>
            </a:extLst>
          </p:cNvPr>
          <p:cNvSpPr txBox="1"/>
          <p:nvPr/>
        </p:nvSpPr>
        <p:spPr>
          <a:xfrm rot="19620000">
            <a:off x="5721634" y="4559576"/>
            <a:ext cx="10178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stamps</a:t>
            </a:r>
            <a:endParaRPr sz="2320">
              <a:latin typeface="Helvetica Neue"/>
              <a:cs typeface="Helvetica Neue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6880990" y="704368"/>
            <a:ext cx="3356670" cy="1413424"/>
          </a:xfrm>
          <a:custGeom>
            <a:avLst/>
            <a:gdLst/>
            <a:ahLst/>
            <a:cxnLst/>
            <a:rect l="l" t="t" r="r" b="b"/>
            <a:pathLst>
              <a:path w="4773930" h="1577339">
                <a:moveTo>
                  <a:pt x="4773681" y="0"/>
                </a:moveTo>
                <a:lnTo>
                  <a:pt x="0" y="0"/>
                </a:lnTo>
                <a:lnTo>
                  <a:pt x="0" y="1577336"/>
                </a:lnTo>
                <a:lnTo>
                  <a:pt x="4773681" y="1577336"/>
                </a:lnTo>
                <a:lnTo>
                  <a:pt x="4773681" y="0"/>
                </a:lnTo>
                <a:close/>
              </a:path>
            </a:pathLst>
          </a:custGeom>
          <a:solidFill>
            <a:srgbClr val="F5D32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6965396" y="724512"/>
            <a:ext cx="3187898" cy="1393280"/>
          </a:xfrm>
          <a:prstGeom prst="rect">
            <a:avLst/>
          </a:prstGeom>
        </p:spPr>
        <p:txBody>
          <a:bodyPr vert="horz" wrap="square" lIns="0" tIns="3125" rIns="0" bIns="0" rtlCol="0">
            <a:spAutoFit/>
          </a:bodyPr>
          <a:lstStyle/>
          <a:p>
            <a:pPr marL="8929" marR="3572" algn="ctr">
              <a:lnSpc>
                <a:spcPct val="101600"/>
              </a:lnSpc>
              <a:spcBef>
                <a:spcPts val="25"/>
              </a:spcBef>
            </a:pPr>
            <a:r>
              <a:rPr sz="2250" dirty="0">
                <a:latin typeface="HelveticaNeue-Light"/>
                <a:cs typeface="HelveticaNeue-Light"/>
              </a:rPr>
              <a:t>How did we </a:t>
            </a:r>
            <a:r>
              <a:rPr sz="2250" spc="-7" dirty="0">
                <a:latin typeface="HelveticaNeue-Light"/>
                <a:cs typeface="HelveticaNeue-Light"/>
              </a:rPr>
              <a:t>compute </a:t>
            </a:r>
            <a:r>
              <a:rPr sz="2250" dirty="0">
                <a:latin typeface="HelveticaNeue-Light"/>
                <a:cs typeface="HelveticaNeue-Light"/>
              </a:rPr>
              <a:t>this?</a:t>
            </a:r>
            <a:r>
              <a:rPr sz="2250" spc="-7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Just the dot </a:t>
            </a:r>
            <a:r>
              <a:rPr sz="2250" spc="-14" dirty="0">
                <a:latin typeface="HelveticaNeue-Light"/>
                <a:cs typeface="HelveticaNeue-Light"/>
              </a:rPr>
              <a:t>product </a:t>
            </a:r>
            <a:r>
              <a:rPr sz="2250" dirty="0">
                <a:latin typeface="HelveticaNeue-Light"/>
                <a:cs typeface="HelveticaNeue-Light"/>
              </a:rPr>
              <a:t>of</a:t>
            </a:r>
            <a:r>
              <a:rPr sz="2250" spc="-7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each</a:t>
            </a:r>
            <a:r>
              <a:rPr sz="2250" spc="-7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row</a:t>
            </a:r>
            <a:r>
              <a:rPr sz="2250" spc="-7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of</a:t>
            </a:r>
            <a:r>
              <a:rPr sz="2250" spc="-7" dirty="0">
                <a:latin typeface="HelveticaNeue-Light"/>
                <a:cs typeface="HelveticaNeue-Light"/>
              </a:rPr>
              <a:t> </a:t>
            </a:r>
            <a:r>
              <a:rPr sz="2250" b="1" dirty="0">
                <a:latin typeface="Helvetica Neue"/>
                <a:cs typeface="Helvetica Neue"/>
              </a:rPr>
              <a:t>W</a:t>
            </a:r>
            <a:r>
              <a:rPr sz="2250" b="1" spc="-7" dirty="0">
                <a:latin typeface="Helvetica Neue"/>
                <a:cs typeface="Helvetica Neue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with</a:t>
            </a:r>
            <a:r>
              <a:rPr sz="2250" spc="-7" dirty="0">
                <a:latin typeface="HelveticaNeue-Light"/>
                <a:cs typeface="HelveticaNeue-Light"/>
              </a:rPr>
              <a:t> </a:t>
            </a:r>
            <a:r>
              <a:rPr sz="2250" b="1" i="1" spc="-18" dirty="0">
                <a:latin typeface="HelveticaNeue-BoldItalic"/>
                <a:cs typeface="HelveticaNeue-BoldItalic"/>
              </a:rPr>
              <a:t>x</a:t>
            </a:r>
            <a:r>
              <a:rPr sz="2250" spc="-18" dirty="0">
                <a:latin typeface="HelveticaNeue-Light"/>
                <a:cs typeface="HelveticaNeue-Light"/>
              </a:rPr>
              <a:t>!</a:t>
            </a:r>
            <a:endParaRPr sz="2250" dirty="0">
              <a:latin typeface="HelveticaNeue-Light"/>
              <a:cs typeface="HelveticaNeue-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20560" y="3075751"/>
            <a:ext cx="4644549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  <a:tabLst>
                <a:tab pos="544692" algn="l"/>
                <a:tab pos="747388" algn="l"/>
              </a:tabLst>
            </a:pPr>
            <a:r>
              <a:rPr sz="2531" spc="-18" dirty="0">
                <a:latin typeface="HelveticaNeue-Light"/>
                <a:cs typeface="HelveticaNeue-Light"/>
              </a:rPr>
              <a:t>1.2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spc="-35" dirty="0">
                <a:latin typeface="HelveticaNeue-Light"/>
                <a:cs typeface="HelveticaNeue-Light"/>
              </a:rPr>
              <a:t>*</a:t>
            </a:r>
            <a:r>
              <a:rPr sz="2531" dirty="0">
                <a:latin typeface="HelveticaNeue-Light"/>
                <a:cs typeface="HelveticaNeue-Light"/>
              </a:rPr>
              <a:t>	-</a:t>
            </a:r>
            <a:r>
              <a:rPr sz="2531" spc="-18" dirty="0">
                <a:latin typeface="HelveticaNeue-Light"/>
                <a:cs typeface="HelveticaNeue-Light"/>
              </a:rPr>
              <a:t>2.3</a:t>
            </a:r>
            <a:r>
              <a:rPr lang="en-US" sz="2531" spc="-18" dirty="0">
                <a:latin typeface="HelveticaNeue-Light"/>
                <a:cs typeface="HelveticaNeue-Light"/>
              </a:rPr>
              <a:t> </a:t>
            </a:r>
            <a:r>
              <a:rPr sz="2531" spc="-35" dirty="0">
                <a:latin typeface="HelveticaNeue-Light"/>
                <a:cs typeface="HelveticaNeue-Light"/>
              </a:rPr>
              <a:t>+</a:t>
            </a:r>
            <a:r>
              <a:rPr lang="en-US" sz="2531" spc="-35" dirty="0">
                <a:latin typeface="HelveticaNeue-Light"/>
                <a:cs typeface="HelveticaNeue-Light"/>
              </a:rPr>
              <a:t> </a:t>
            </a:r>
            <a:r>
              <a:rPr sz="2531" dirty="0">
                <a:latin typeface="HelveticaNeue-Light"/>
                <a:cs typeface="HelveticaNeue-Light"/>
              </a:rPr>
              <a:t>-</a:t>
            </a:r>
            <a:r>
              <a:rPr sz="2531" spc="-18" dirty="0">
                <a:latin typeface="HelveticaNeue-Light"/>
                <a:cs typeface="HelveticaNeue-Light"/>
              </a:rPr>
              <a:t>0.3</a:t>
            </a:r>
            <a:r>
              <a:rPr lang="en-US" sz="2531" spc="-18" dirty="0">
                <a:latin typeface="HelveticaNeue-Light"/>
                <a:cs typeface="HelveticaNeue-Light"/>
              </a:rPr>
              <a:t> </a:t>
            </a:r>
            <a:r>
              <a:rPr sz="2531" spc="-35" dirty="0">
                <a:latin typeface="HelveticaNeue-Light"/>
                <a:cs typeface="HelveticaNeue-Light"/>
              </a:rPr>
              <a:t>*</a:t>
            </a:r>
            <a:r>
              <a:rPr lang="en-US" sz="2531" spc="-35" dirty="0">
                <a:latin typeface="HelveticaNeue-Light"/>
                <a:cs typeface="HelveticaNeue-Light"/>
              </a:rPr>
              <a:t> </a:t>
            </a:r>
            <a:r>
              <a:rPr sz="2531" spc="-18" dirty="0">
                <a:latin typeface="HelveticaNeue-Light"/>
                <a:cs typeface="HelveticaNeue-Light"/>
              </a:rPr>
              <a:t>0.9</a:t>
            </a:r>
            <a:r>
              <a:rPr lang="en-US" sz="2531" spc="-18" dirty="0">
                <a:latin typeface="HelveticaNeue-Light"/>
                <a:cs typeface="HelveticaNeue-Light"/>
              </a:rPr>
              <a:t> </a:t>
            </a:r>
            <a:r>
              <a:rPr sz="2531" spc="-35" dirty="0">
                <a:latin typeface="HelveticaNeue-Light"/>
                <a:cs typeface="HelveticaNeue-Light"/>
              </a:rPr>
              <a:t>+</a:t>
            </a:r>
            <a:r>
              <a:rPr lang="en-US" sz="2531" spc="-35" dirty="0">
                <a:latin typeface="HelveticaNeue-Light"/>
                <a:cs typeface="HelveticaNeue-Light"/>
              </a:rPr>
              <a:t> </a:t>
            </a:r>
            <a:r>
              <a:rPr sz="2531" spc="-18" dirty="0">
                <a:latin typeface="HelveticaNeue-Light"/>
                <a:cs typeface="HelveticaNeue-Light"/>
              </a:rPr>
              <a:t>0.9</a:t>
            </a:r>
            <a:r>
              <a:rPr lang="en-US" sz="2531" spc="-18" dirty="0">
                <a:latin typeface="HelveticaNeue-Light"/>
                <a:cs typeface="HelveticaNeue-Light"/>
              </a:rPr>
              <a:t> </a:t>
            </a:r>
            <a:r>
              <a:rPr sz="2531" spc="-35" dirty="0">
                <a:latin typeface="HelveticaNeue-Light"/>
                <a:cs typeface="HelveticaNeue-Light"/>
              </a:rPr>
              <a:t>*</a:t>
            </a:r>
            <a:r>
              <a:rPr lang="en-US" sz="2531" spc="-35" dirty="0">
                <a:latin typeface="HelveticaNeue-Light"/>
                <a:cs typeface="HelveticaNeue-Light"/>
              </a:rPr>
              <a:t> </a:t>
            </a:r>
            <a:r>
              <a:rPr sz="2531" spc="-18" dirty="0">
                <a:latin typeface="HelveticaNeue-Light"/>
                <a:cs typeface="HelveticaNeue-Light"/>
              </a:rPr>
              <a:t>5.4</a:t>
            </a:r>
            <a:endParaRPr sz="2531" dirty="0">
              <a:latin typeface="HelveticaNeue-Light"/>
              <a:cs typeface="HelveticaNeue-Light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32F00B1-1C84-4422-9CD2-25C2517EB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66" b="0" i="0" kern="1200">
                <a:solidFill>
                  <a:schemeClr val="tx1"/>
                </a:solidFill>
                <a:latin typeface="Gill Sans"/>
                <a:ea typeface="+mn-ea"/>
                <a:cs typeface="Gill San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71435">
              <a:lnSpc>
                <a:spcPts val="1484"/>
              </a:lnSpc>
            </a:pPr>
            <a:fld id="{81D60167-4931-47E6-BA6A-407CBD079E47}" type="slidenum">
              <a:rPr lang="en-US" smtClean="0"/>
              <a:pPr marL="71435">
                <a:lnSpc>
                  <a:spcPts val="1484"/>
                </a:lnSpc>
              </a:pPr>
              <a:t>50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5">
                <a:extLst>
                  <a:ext uri="{FF2B5EF4-FFF2-40B4-BE49-F238E27FC236}">
                    <a16:creationId xmlns:a16="http://schemas.microsoft.com/office/drawing/2014/main" id="{659409ED-86F3-4C0F-A027-EF3AFD211AE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30960" y="1041197"/>
                <a:ext cx="5689600" cy="4706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8930" rIns="0" bIns="0" numCol="1" rtlCol="0" anchor="ctr" anchorCtr="0" compatLnSpc="1">
                <a:prstTxWarp prst="textNoShape">
                  <a:avLst/>
                </a:prstTxWarp>
                <a:spAutoFit/>
              </a:bodyPr>
              <a:lstStyle>
                <a:lvl1pPr marL="13716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000" kern="1200" baseline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4572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9144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13716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18288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8929" algn="ctr">
                  <a:spcBef>
                    <a:spcPts val="70"/>
                  </a:spcBef>
                  <a:tabLst>
                    <a:tab pos="568354" algn="l"/>
                    <a:tab pos="850522" algn="l"/>
                    <a:tab pos="1668899" algn="l"/>
                    <a:tab pos="2681490" algn="l"/>
                    <a:tab pos="357532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i="1" spc="-18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 Neue"/>
                        </a:rPr>
                        <m:t>𝑊</m:t>
                      </m:r>
                      <m:r>
                        <a:rPr lang="fa-IR" i="1" spc="-18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Neue-BoldItalic"/>
                        </a:rPr>
                        <m:t>𝑥</m:t>
                      </m:r>
                      <m:r>
                        <a:rPr lang="fa-IR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Neue-BoldItalic"/>
                        </a:rPr>
                        <m:t>	</m:t>
                      </m:r>
                      <m:r>
                        <a:rPr lang="fa-IR" i="1" baseline="30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Neue-BoldItalic"/>
                        </a:rPr>
                        <m:t>𝑇</m:t>
                      </m:r>
                      <m:r>
                        <a:rPr lang="fa-IR" i="1" spc="-35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a-IR" i="1" spc="-35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fa-IR" i="1" spc="-35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a-IR" dirty="0"/>
              </a:p>
            </p:txBody>
          </p:sp>
        </mc:Choice>
        <mc:Fallback xmlns="">
          <p:sp>
            <p:nvSpPr>
              <p:cNvPr id="25" name="object 5">
                <a:extLst>
                  <a:ext uri="{FF2B5EF4-FFF2-40B4-BE49-F238E27FC236}">
                    <a16:creationId xmlns:a16="http://schemas.microsoft.com/office/drawing/2014/main" id="{659409ED-86F3-4C0F-A027-EF3AFD211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0960" y="1041197"/>
                <a:ext cx="5689600" cy="4706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5">
                <a:extLst>
                  <a:ext uri="{FF2B5EF4-FFF2-40B4-BE49-F238E27FC236}">
                    <a16:creationId xmlns:a16="http://schemas.microsoft.com/office/drawing/2014/main" id="{93AB5D38-A738-4114-BF11-55F129A1B3B4}"/>
                  </a:ext>
                </a:extLst>
              </p:cNvPr>
              <p:cNvSpPr txBox="1"/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4013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pc="-35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US" sz="3200" b="0" i="0" spc="-35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a-IR" sz="3200" i="1" spc="-35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fa-IR" sz="3200" i="1" spc="-35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pc="-35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3200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26" name="object 5">
                <a:extLst>
                  <a:ext uri="{FF2B5EF4-FFF2-40B4-BE49-F238E27FC236}">
                    <a16:creationId xmlns:a16="http://schemas.microsoft.com/office/drawing/2014/main" id="{93AB5D38-A738-4114-BF11-55F129A1B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000" y="3237965"/>
                <a:ext cx="4456060" cy="18232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">
                <a:extLst>
                  <a:ext uri="{FF2B5EF4-FFF2-40B4-BE49-F238E27FC236}">
                    <a16:creationId xmlns:a16="http://schemas.microsoft.com/office/drawing/2014/main" id="{D2552442-B2B1-479D-8CC2-5CC8D194BC73}"/>
                  </a:ext>
                </a:extLst>
              </p:cNvPr>
              <p:cNvSpPr txBox="1"/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</p:spPr>
            <p:txBody>
              <a:bodyPr vert="horz" wrap="square" lIns="0" tIns="8930" rIns="0" bIns="0" rtlCol="0">
                <a:spAutoFit/>
              </a:bodyPr>
              <a:lstStyle/>
              <a:p>
                <a:pPr marL="8929">
                  <a:spcBef>
                    <a:spcPts val="70"/>
                  </a:spcBef>
                  <a:tabLst>
                    <a:tab pos="264756" algn="l"/>
                    <a:tab pos="1514421" algn="l"/>
                    <a:tab pos="2139924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31" b="1" i="1" spc="-35" dirty="0" smtClean="0">
                          <a:latin typeface="Cambria Math" panose="02040503050406030204" pitchFamily="18" charset="0"/>
                          <a:cs typeface="HelveticaNeue-BoldItalic"/>
                        </a:rPr>
                        <m:t>𝒙</m:t>
                      </m:r>
                      <m:r>
                        <a:rPr lang="en-US" sz="2531" b="1" i="1" dirty="0">
                          <a:latin typeface="Cambria Math" panose="02040503050406030204" pitchFamily="18" charset="0"/>
                          <a:cs typeface="HelveticaNeue-BoldItalic"/>
                        </a:rPr>
                        <m:t>	</m:t>
                      </m:r>
                      <m:r>
                        <a:rPr lang="en-US" sz="2531" i="1" dirty="0">
                          <a:latin typeface="Cambria Math" panose="02040503050406030204" pitchFamily="18" charset="0"/>
                          <a:cs typeface="HelveticaNeue-Ligh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31" b="0" i="1" spc="225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31" b="0" i="1" spc="225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531" b="0" i="1" spc="225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531" dirty="0">
                  <a:latin typeface="HelveticaNeue-Light"/>
                  <a:cs typeface="HelveticaNeue-Light"/>
                </a:endParaRPr>
              </a:p>
            </p:txBody>
          </p:sp>
        </mc:Choice>
        <mc:Fallback xmlns="">
          <p:sp>
            <p:nvSpPr>
              <p:cNvPr id="27" name="object 2">
                <a:extLst>
                  <a:ext uri="{FF2B5EF4-FFF2-40B4-BE49-F238E27FC236}">
                    <a16:creationId xmlns:a16="http://schemas.microsoft.com/office/drawing/2014/main" id="{D2552442-B2B1-479D-8CC2-5CC8D194B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419" y="5540464"/>
                <a:ext cx="3639505" cy="3984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1AB638D-C018-4BF8-8D61-09068CD2E340}"/>
              </a:ext>
            </a:extLst>
          </p:cNvPr>
          <p:cNvCxnSpPr/>
          <p:nvPr/>
        </p:nvCxnSpPr>
        <p:spPr>
          <a:xfrm>
            <a:off x="2985419" y="3566160"/>
            <a:ext cx="1322421" cy="1974304"/>
          </a:xfrm>
          <a:prstGeom prst="straightConnector1">
            <a:avLst/>
          </a:prstGeom>
          <a:ln w="57150">
            <a:solidFill>
              <a:srgbClr val="7030A0"/>
            </a:solidFill>
            <a:prstDash val="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DC55E2D-DB26-4DA9-A4F3-232BD28035BD}"/>
              </a:ext>
            </a:extLst>
          </p:cNvPr>
          <p:cNvCxnSpPr>
            <a:cxnSpLocks/>
          </p:cNvCxnSpPr>
          <p:nvPr/>
        </p:nvCxnSpPr>
        <p:spPr>
          <a:xfrm>
            <a:off x="4005522" y="3657600"/>
            <a:ext cx="1283298" cy="1974304"/>
          </a:xfrm>
          <a:prstGeom prst="straightConnector1">
            <a:avLst/>
          </a:prstGeom>
          <a:ln w="57150">
            <a:solidFill>
              <a:srgbClr val="7030A0"/>
            </a:solidFill>
            <a:prstDash val="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5F7F14-3E68-4055-9EBF-F32407A1D5A3}"/>
              </a:ext>
            </a:extLst>
          </p:cNvPr>
          <p:cNvCxnSpPr>
            <a:cxnSpLocks/>
          </p:cNvCxnSpPr>
          <p:nvPr/>
        </p:nvCxnSpPr>
        <p:spPr>
          <a:xfrm>
            <a:off x="4904791" y="3566160"/>
            <a:ext cx="1191209" cy="2065744"/>
          </a:xfrm>
          <a:prstGeom prst="straightConnector1">
            <a:avLst/>
          </a:prstGeom>
          <a:ln w="57150">
            <a:solidFill>
              <a:srgbClr val="7030A0"/>
            </a:solidFill>
            <a:prstDash val="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8DFF9C-03AC-4182-814F-A1666218568F}"/>
              </a:ext>
            </a:extLst>
          </p:cNvPr>
          <p:cNvCxnSpPr>
            <a:cxnSpLocks/>
          </p:cNvCxnSpPr>
          <p:nvPr/>
        </p:nvCxnSpPr>
        <p:spPr>
          <a:xfrm flipH="1" flipV="1">
            <a:off x="2985419" y="1466268"/>
            <a:ext cx="3979977" cy="1737931"/>
          </a:xfrm>
          <a:prstGeom prst="straightConnector1">
            <a:avLst/>
          </a:prstGeom>
          <a:ln w="57150">
            <a:solidFill>
              <a:srgbClr val="7030A0"/>
            </a:solidFill>
            <a:prstDash val="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bject 7">
            <a:extLst>
              <a:ext uri="{FF2B5EF4-FFF2-40B4-BE49-F238E27FC236}">
                <a16:creationId xmlns:a16="http://schemas.microsoft.com/office/drawing/2014/main" id="{9B08784E-7C3E-4F2F-B167-2E64B9BBFF15}"/>
              </a:ext>
            </a:extLst>
          </p:cNvPr>
          <p:cNvSpPr txBox="1"/>
          <p:nvPr/>
        </p:nvSpPr>
        <p:spPr>
          <a:xfrm rot="19620000">
            <a:off x="5683977" y="3128228"/>
            <a:ext cx="867321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books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33" name="object 8">
            <a:extLst>
              <a:ext uri="{FF2B5EF4-FFF2-40B4-BE49-F238E27FC236}">
                <a16:creationId xmlns:a16="http://schemas.microsoft.com/office/drawing/2014/main" id="{00DF0006-0687-4FEE-AB38-255643282CDE}"/>
              </a:ext>
            </a:extLst>
          </p:cNvPr>
          <p:cNvSpPr txBox="1"/>
          <p:nvPr/>
        </p:nvSpPr>
        <p:spPr>
          <a:xfrm rot="19620000">
            <a:off x="5732178" y="3611502"/>
            <a:ext cx="99647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houses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34" name="object 9">
            <a:extLst>
              <a:ext uri="{FF2B5EF4-FFF2-40B4-BE49-F238E27FC236}">
                <a16:creationId xmlns:a16="http://schemas.microsoft.com/office/drawing/2014/main" id="{40C51D4D-3C96-4EE2-BEF9-56D065A5B0FD}"/>
              </a:ext>
            </a:extLst>
          </p:cNvPr>
          <p:cNvSpPr txBox="1"/>
          <p:nvPr/>
        </p:nvSpPr>
        <p:spPr>
          <a:xfrm rot="19620000">
            <a:off x="5691566" y="4164945"/>
            <a:ext cx="85180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lamps</a:t>
            </a:r>
            <a:endParaRPr sz="2320">
              <a:latin typeface="Helvetica Neue"/>
              <a:cs typeface="Helvetica Neue"/>
            </a:endParaRPr>
          </a:p>
        </p:txBody>
      </p:sp>
      <p:sp>
        <p:nvSpPr>
          <p:cNvPr id="35" name="object 10">
            <a:extLst>
              <a:ext uri="{FF2B5EF4-FFF2-40B4-BE49-F238E27FC236}">
                <a16:creationId xmlns:a16="http://schemas.microsoft.com/office/drawing/2014/main" id="{2625FB07-3F62-4C4A-A92A-A05A42BB68C7}"/>
              </a:ext>
            </a:extLst>
          </p:cNvPr>
          <p:cNvSpPr txBox="1"/>
          <p:nvPr/>
        </p:nvSpPr>
        <p:spPr>
          <a:xfrm rot="19620000">
            <a:off x="5721634" y="4559576"/>
            <a:ext cx="10178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latin typeface="Helvetica Neue"/>
                <a:cs typeface="Helvetica Neue"/>
              </a:rPr>
              <a:t>stamps</a:t>
            </a:r>
            <a:endParaRPr sz="2320">
              <a:latin typeface="Helvetica Neue"/>
              <a:cs typeface="Helvetica Neue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417752" y="2452914"/>
            <a:ext cx="3517208" cy="1060846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664" rIns="0" bIns="0" rtlCol="0">
            <a:spAutoFit/>
          </a:bodyPr>
          <a:lstStyle/>
          <a:p>
            <a:pPr marL="196000" marR="190642" indent="28574" algn="just">
              <a:lnSpc>
                <a:spcPct val="101600"/>
              </a:lnSpc>
              <a:spcBef>
                <a:spcPts val="186"/>
              </a:spcBef>
            </a:pPr>
            <a:r>
              <a:rPr sz="2250" spc="-14" dirty="0">
                <a:latin typeface="HelveticaNeue-Light"/>
                <a:cs typeface="HelveticaNeue-Light"/>
              </a:rPr>
              <a:t>Okay,</a:t>
            </a:r>
            <a:r>
              <a:rPr sz="2250" spc="-28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so</a:t>
            </a:r>
            <a:r>
              <a:rPr sz="2250" spc="-28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how</a:t>
            </a:r>
            <a:r>
              <a:rPr sz="2250" spc="-28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do</a:t>
            </a:r>
            <a:r>
              <a:rPr sz="2250" spc="-28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we</a:t>
            </a:r>
            <a:r>
              <a:rPr sz="2250" spc="-25" dirty="0">
                <a:latin typeface="HelveticaNeue-Light"/>
                <a:cs typeface="HelveticaNeue-Light"/>
              </a:rPr>
              <a:t> </a:t>
            </a:r>
            <a:r>
              <a:rPr sz="2250" spc="-18" dirty="0">
                <a:latin typeface="HelveticaNeue-Light"/>
                <a:cs typeface="HelveticaNeue-Light"/>
              </a:rPr>
              <a:t>go </a:t>
            </a:r>
            <a:r>
              <a:rPr sz="2250" dirty="0">
                <a:latin typeface="HelveticaNeue-Light"/>
                <a:cs typeface="HelveticaNeue-Light"/>
              </a:rPr>
              <a:t>from</a:t>
            </a:r>
            <a:r>
              <a:rPr sz="2250" spc="-11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this</a:t>
            </a:r>
            <a:r>
              <a:rPr sz="2250" spc="-7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4-d</a:t>
            </a:r>
            <a:r>
              <a:rPr sz="2250" spc="-11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vector</a:t>
            </a:r>
            <a:r>
              <a:rPr sz="2250" spc="-7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to</a:t>
            </a:r>
            <a:r>
              <a:rPr sz="2250" spc="-7" dirty="0">
                <a:latin typeface="HelveticaNeue-Light"/>
                <a:cs typeface="HelveticaNeue-Light"/>
              </a:rPr>
              <a:t> </a:t>
            </a:r>
            <a:r>
              <a:rPr sz="2250" spc="-35" dirty="0">
                <a:latin typeface="HelveticaNeue-Light"/>
                <a:cs typeface="HelveticaNeue-Light"/>
              </a:rPr>
              <a:t>a</a:t>
            </a:r>
            <a:r>
              <a:rPr lang="en-US" sz="2250" spc="-35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probability</a:t>
            </a:r>
            <a:r>
              <a:rPr sz="2250" spc="-42" dirty="0">
                <a:latin typeface="HelveticaNeue-Light"/>
                <a:cs typeface="HelveticaNeue-Light"/>
              </a:rPr>
              <a:t> </a:t>
            </a:r>
            <a:r>
              <a:rPr sz="2250" spc="-7" dirty="0">
                <a:latin typeface="HelveticaNeue-Light"/>
                <a:cs typeface="HelveticaNeue-Light"/>
              </a:rPr>
              <a:t>distribution?</a:t>
            </a:r>
            <a:endParaRPr sz="2250" dirty="0">
              <a:latin typeface="HelveticaNeue-Light"/>
              <a:cs typeface="HelveticaNeue-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265D0-F702-467F-91DC-50F393B0A9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66970">
              <a:lnSpc>
                <a:spcPts val="1484"/>
              </a:lnSpc>
            </a:pPr>
            <a:fld id="{81D60167-4931-47E6-BA6A-407CBD079E47}" type="slidenum">
              <a:rPr lang="en-US" smtClean="0"/>
              <a:pPr marL="66970">
                <a:lnSpc>
                  <a:spcPts val="1484"/>
                </a:lnSpc>
              </a:pPr>
              <a:t>51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1D1A1C16-DAB6-44F2-8397-37F68788FAB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331556" y="3513760"/>
                <a:ext cx="5689600" cy="4706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8930" rIns="0" bIns="0" numCol="1" rtlCol="0" anchor="ctr" anchorCtr="0" compatLnSpc="1">
                <a:prstTxWarp prst="textNoShape">
                  <a:avLst/>
                </a:prstTxWarp>
                <a:spAutoFit/>
              </a:bodyPr>
              <a:lstStyle>
                <a:lvl1pPr marL="13716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000" kern="1200" baseline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4572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9144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13716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1828800" algn="ctr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8929" algn="ctr">
                  <a:spcBef>
                    <a:spcPts val="70"/>
                  </a:spcBef>
                  <a:tabLst>
                    <a:tab pos="568354" algn="l"/>
                    <a:tab pos="850522" algn="l"/>
                    <a:tab pos="1668899" algn="l"/>
                    <a:tab pos="2681490" algn="l"/>
                    <a:tab pos="357532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i="1" spc="-18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 Neue"/>
                        </a:rPr>
                        <m:t>𝑊</m:t>
                      </m:r>
                      <m:r>
                        <a:rPr lang="fa-IR" i="1" spc="-18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Neue-BoldItalic"/>
                        </a:rPr>
                        <m:t>𝑥</m:t>
                      </m:r>
                      <m:r>
                        <a:rPr lang="fa-IR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Neue-BoldItalic"/>
                        </a:rPr>
                        <m:t>	</m:t>
                      </m:r>
                      <m:r>
                        <a:rPr lang="fa-IR" i="1" baseline="30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HelveticaNeue-BoldItalic"/>
                        </a:rPr>
                        <m:t>𝑇</m:t>
                      </m:r>
                      <m:r>
                        <a:rPr lang="fa-IR" i="1" spc="-35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a-IR" i="1" spc="-35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fa-IR" i="1" spc="-35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fa-IR" i="1" spc="-35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a-IR" dirty="0"/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1D1A1C16-DAB6-44F2-8397-37F68788F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1556" y="3513760"/>
                <a:ext cx="5689600" cy="4706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6203" y="3726865"/>
            <a:ext cx="6079778" cy="971491"/>
          </a:xfrm>
          <a:prstGeom prst="rect">
            <a:avLst/>
          </a:prstGeom>
        </p:spPr>
        <p:txBody>
          <a:bodyPr vert="horz" wrap="square" lIns="0" tIns="101798" rIns="0" bIns="0" rtlCol="0">
            <a:spAutoFit/>
          </a:bodyPr>
          <a:lstStyle/>
          <a:p>
            <a:pPr marL="8929">
              <a:spcBef>
                <a:spcPts val="802"/>
              </a:spcBef>
              <a:tabLst>
                <a:tab pos="568354" algn="l"/>
                <a:tab pos="850522" algn="l"/>
                <a:tab pos="1668899" algn="l"/>
                <a:tab pos="2502902" algn="l"/>
                <a:tab pos="3217698" algn="l"/>
              </a:tabLst>
            </a:pPr>
            <a:r>
              <a:rPr lang="en-US" sz="2531" b="1" spc="-18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531" b="1" i="1" spc="-18" dirty="0" err="1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531" b="1" i="1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531" spc="-35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2531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531" spc="-7" dirty="0">
                <a:latin typeface="Calibri" panose="020F0502020204030204" pitchFamily="34" charset="0"/>
                <a:cs typeface="Calibri" panose="020F0502020204030204" pitchFamily="34" charset="0"/>
              </a:rPr>
              <a:t>&lt;1.8,</a:t>
            </a:r>
            <a:r>
              <a:rPr lang="en-US" sz="2531" dirty="0">
                <a:latin typeface="Calibri" panose="020F0502020204030204" pitchFamily="34" charset="0"/>
                <a:cs typeface="Calibri" panose="020F0502020204030204" pitchFamily="34" charset="0"/>
              </a:rPr>
              <a:t>	-</a:t>
            </a:r>
            <a:r>
              <a:rPr lang="en-US" sz="2531" spc="-14" dirty="0">
                <a:latin typeface="Calibri" panose="020F0502020204030204" pitchFamily="34" charset="0"/>
                <a:cs typeface="Calibri" panose="020F0502020204030204" pitchFamily="34" charset="0"/>
              </a:rPr>
              <a:t>1.9,</a:t>
            </a:r>
            <a:r>
              <a:rPr lang="en-US" sz="2531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531" spc="-14" dirty="0">
                <a:latin typeface="Calibri" panose="020F0502020204030204" pitchFamily="34" charset="0"/>
                <a:cs typeface="Calibri" panose="020F0502020204030204" pitchFamily="34" charset="0"/>
              </a:rPr>
              <a:t>2.9,</a:t>
            </a:r>
            <a:r>
              <a:rPr lang="en-US" sz="2531" dirty="0">
                <a:latin typeface="Calibri" panose="020F0502020204030204" pitchFamily="34" charset="0"/>
                <a:cs typeface="Calibri" panose="020F0502020204030204" pitchFamily="34" charset="0"/>
              </a:rPr>
              <a:t>	-</a:t>
            </a:r>
            <a:r>
              <a:rPr lang="en-US" sz="2531" spc="-14" dirty="0">
                <a:latin typeface="Calibri" panose="020F0502020204030204" pitchFamily="34" charset="0"/>
                <a:cs typeface="Calibri" panose="020F0502020204030204" pitchFamily="34" charset="0"/>
              </a:rPr>
              <a:t>0.9&gt;</a:t>
            </a:r>
            <a:endParaRPr lang="en-US" sz="253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752">
              <a:spcBef>
                <a:spcPts val="731"/>
              </a:spcBef>
              <a:tabLst>
                <a:tab pos="2006429" algn="l"/>
                <a:tab pos="2288598" algn="l"/>
                <a:tab pos="3285562" algn="l"/>
                <a:tab pos="4357979" algn="l"/>
                <a:tab pos="5251809" algn="l"/>
              </a:tabLst>
            </a:pPr>
            <a:r>
              <a:rPr sz="2531" b="1" i="1" spc="-7" dirty="0" err="1"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sz="2531" b="1" spc="-7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531" b="1" spc="-7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531" b="1" i="1" spc="-7" dirty="0" err="1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sz="2531" b="1" spc="-7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sz="2531" b="1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531" spc="-35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z="2531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531" spc="-7" dirty="0">
                <a:latin typeface="Calibri" panose="020F0502020204030204" pitchFamily="34" charset="0"/>
                <a:cs typeface="Calibri" panose="020F0502020204030204" pitchFamily="34" charset="0"/>
              </a:rPr>
              <a:t>&lt;0.24,</a:t>
            </a:r>
            <a:r>
              <a:rPr sz="2531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531" spc="-7" dirty="0">
                <a:latin typeface="Calibri" panose="020F0502020204030204" pitchFamily="34" charset="0"/>
                <a:cs typeface="Calibri" panose="020F0502020204030204" pitchFamily="34" charset="0"/>
              </a:rPr>
              <a:t>0.006,</a:t>
            </a:r>
            <a:r>
              <a:rPr sz="2531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531" spc="-7" dirty="0">
                <a:latin typeface="Calibri" panose="020F0502020204030204" pitchFamily="34" charset="0"/>
                <a:cs typeface="Calibri" panose="020F0502020204030204" pitchFamily="34" charset="0"/>
              </a:rPr>
              <a:t>0.73,</a:t>
            </a:r>
            <a:r>
              <a:rPr sz="2531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531" spc="-7" dirty="0">
                <a:latin typeface="Calibri" panose="020F0502020204030204" pitchFamily="34" charset="0"/>
                <a:cs typeface="Calibri" panose="020F0502020204030204" pitchFamily="34" charset="0"/>
              </a:rPr>
              <a:t>0.02&gt;</a:t>
            </a:r>
            <a:endParaRPr sz="253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/>
              <p:cNvSpPr txBox="1">
                <a:spLocks noGrp="1"/>
              </p:cNvSpPr>
              <p:nvPr>
                <p:ph idx="1"/>
              </p:nvPr>
            </p:nvSpPr>
            <p:spPr>
              <a:xfrm>
                <a:off x="266700" y="990600"/>
                <a:ext cx="11658600" cy="2389669"/>
              </a:xfrm>
            </p:spPr>
            <p:txBody>
              <a:bodyPr vert="horz" wrap="square" lIns="0" tIns="893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fa-I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a-IR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a-IR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lang="fa-IR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vector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is dimension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i="1" dirty="0"/>
              </a:p>
              <a:p>
                <a:r>
                  <a:rPr lang="en-US" dirty="0"/>
                  <a:t>Each dimension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of the softmaxed output represents the probability of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fa-IR" dirty="0"/>
              </a:p>
            </p:txBody>
          </p:sp>
        </mc:Choice>
        <mc:Fallback xmlns="">
          <p:sp>
            <p:nvSpPr>
              <p:cNvPr id="9" name="object 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990600"/>
                <a:ext cx="11658600" cy="2389669"/>
              </a:xfrm>
              <a:blipFill>
                <a:blip r:embed="rId2"/>
                <a:stretch>
                  <a:fillRect l="-1046" r="-2040" b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700" y="193334"/>
            <a:ext cx="11658600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We’ll use the </a:t>
            </a:r>
            <a:r>
              <a:rPr lang="en-US" dirty="0" err="1"/>
              <a:t>softmax</a:t>
            </a:r>
            <a:r>
              <a:rPr lang="en-US" dirty="0"/>
              <a:t> function!</a:t>
            </a: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8A980508-22AE-4DBC-8CBF-73230356B952}"/>
              </a:ext>
            </a:extLst>
          </p:cNvPr>
          <p:cNvSpPr txBox="1"/>
          <p:nvPr/>
        </p:nvSpPr>
        <p:spPr>
          <a:xfrm rot="19620000">
            <a:off x="5081916" y="4829123"/>
            <a:ext cx="867321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solidFill>
                  <a:srgbClr val="C00000"/>
                </a:solidFill>
                <a:latin typeface="Helvetica Neue"/>
                <a:cs typeface="Helvetica Neue"/>
              </a:rPr>
              <a:t>books</a:t>
            </a:r>
            <a:endParaRPr sz="2320">
              <a:solidFill>
                <a:srgbClr val="C00000"/>
              </a:solidFill>
              <a:latin typeface="Helvetica Neue"/>
              <a:cs typeface="Helvetica Neue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0C2CB3F5-8220-4FB5-ABAE-6EFF4D031FC1}"/>
              </a:ext>
            </a:extLst>
          </p:cNvPr>
          <p:cNvSpPr txBox="1"/>
          <p:nvPr/>
        </p:nvSpPr>
        <p:spPr>
          <a:xfrm rot="19620000">
            <a:off x="5971316" y="4864293"/>
            <a:ext cx="99647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solidFill>
                  <a:srgbClr val="C00000"/>
                </a:solidFill>
                <a:latin typeface="Helvetica Neue"/>
                <a:cs typeface="Helvetica Neue"/>
              </a:rPr>
              <a:t>houses</a:t>
            </a:r>
            <a:endParaRPr sz="2320" dirty="0">
              <a:solidFill>
                <a:srgbClr val="C00000"/>
              </a:solidFill>
              <a:latin typeface="Helvetica Neue"/>
              <a:cs typeface="Helvetica Neue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42C2C5F2-15C5-49A3-94D9-7B1CE699FFAE}"/>
              </a:ext>
            </a:extLst>
          </p:cNvPr>
          <p:cNvSpPr txBox="1"/>
          <p:nvPr/>
        </p:nvSpPr>
        <p:spPr>
          <a:xfrm rot="19620000">
            <a:off x="6982899" y="4824897"/>
            <a:ext cx="85180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solidFill>
                  <a:srgbClr val="C00000"/>
                </a:solidFill>
                <a:latin typeface="Helvetica Neue"/>
                <a:cs typeface="Helvetica Neue"/>
              </a:rPr>
              <a:t>lamps</a:t>
            </a:r>
            <a:endParaRPr sz="2320">
              <a:solidFill>
                <a:srgbClr val="C00000"/>
              </a:solidFill>
              <a:latin typeface="Helvetica Neue"/>
              <a:cs typeface="Helvetica Neue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D85EF702-8AA2-421D-A6AB-6E1F4CCE40EC}"/>
              </a:ext>
            </a:extLst>
          </p:cNvPr>
          <p:cNvSpPr txBox="1"/>
          <p:nvPr/>
        </p:nvSpPr>
        <p:spPr>
          <a:xfrm rot="19620000">
            <a:off x="7659794" y="4870106"/>
            <a:ext cx="10178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320" spc="-7" dirty="0">
                <a:solidFill>
                  <a:srgbClr val="C00000"/>
                </a:solidFill>
                <a:latin typeface="Helvetica Neue"/>
                <a:cs typeface="Helvetica Neue"/>
              </a:rPr>
              <a:t>stamps</a:t>
            </a:r>
            <a:endParaRPr sz="2320" dirty="0">
              <a:solidFill>
                <a:srgbClr val="C00000"/>
              </a:solidFill>
              <a:latin typeface="Helvetica Neue"/>
              <a:cs typeface="Helvetica Neue"/>
            </a:endParaRPr>
          </a:p>
        </p:txBody>
      </p:sp>
      <p:sp>
        <p:nvSpPr>
          <p:cNvPr id="18" name="object 10">
            <a:extLst>
              <a:ext uri="{FF2B5EF4-FFF2-40B4-BE49-F238E27FC236}">
                <a16:creationId xmlns:a16="http://schemas.microsoft.com/office/drawing/2014/main" id="{56EEBE81-4BC3-4F8D-8247-E31905E07FF1}"/>
              </a:ext>
            </a:extLst>
          </p:cNvPr>
          <p:cNvSpPr txBox="1"/>
          <p:nvPr/>
        </p:nvSpPr>
        <p:spPr>
          <a:xfrm>
            <a:off x="2803692" y="5785203"/>
            <a:ext cx="7331720" cy="707672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664" rIns="0" bIns="0" rtlCol="0">
            <a:spAutoFit/>
          </a:bodyPr>
          <a:lstStyle/>
          <a:p>
            <a:pPr marL="1344763" marR="312528" indent="-1026878">
              <a:lnSpc>
                <a:spcPct val="101600"/>
              </a:lnSpc>
              <a:spcBef>
                <a:spcPts val="186"/>
              </a:spcBef>
            </a:pPr>
            <a:r>
              <a:rPr sz="2250" dirty="0">
                <a:latin typeface="HelveticaNeue-Light"/>
                <a:cs typeface="HelveticaNeue-Light"/>
              </a:rPr>
              <a:t>We’ll</a:t>
            </a:r>
            <a:r>
              <a:rPr sz="2250" spc="-1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see</a:t>
            </a:r>
            <a:r>
              <a:rPr sz="2250" spc="-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the</a:t>
            </a:r>
            <a:r>
              <a:rPr sz="2250" spc="-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softmax</a:t>
            </a:r>
            <a:r>
              <a:rPr sz="2250" spc="-7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function</a:t>
            </a:r>
            <a:r>
              <a:rPr sz="2250" spc="-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over</a:t>
            </a:r>
            <a:r>
              <a:rPr sz="2250" spc="-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and</a:t>
            </a:r>
            <a:r>
              <a:rPr sz="2250" spc="-7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over</a:t>
            </a:r>
            <a:r>
              <a:rPr sz="2250" spc="-4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again</a:t>
            </a:r>
            <a:r>
              <a:rPr sz="2250" spc="-4" dirty="0">
                <a:latin typeface="HelveticaNeue-Light"/>
                <a:cs typeface="HelveticaNeue-Light"/>
              </a:rPr>
              <a:t> </a:t>
            </a:r>
            <a:r>
              <a:rPr sz="2250" spc="-14" dirty="0">
                <a:latin typeface="HelveticaNeue-Light"/>
                <a:cs typeface="HelveticaNeue-Light"/>
              </a:rPr>
              <a:t>this </a:t>
            </a:r>
            <a:r>
              <a:rPr sz="2250" spc="-7" dirty="0">
                <a:latin typeface="HelveticaNeue-Light"/>
                <a:cs typeface="HelveticaNeue-Light"/>
              </a:rPr>
              <a:t>semester,</a:t>
            </a:r>
            <a:r>
              <a:rPr sz="2250" spc="-32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so</a:t>
            </a:r>
            <a:r>
              <a:rPr sz="2250" spc="-32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be</a:t>
            </a:r>
            <a:r>
              <a:rPr sz="2250" spc="-32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sure</a:t>
            </a:r>
            <a:r>
              <a:rPr sz="2250" spc="-32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to</a:t>
            </a:r>
            <a:r>
              <a:rPr sz="2250" spc="-32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understand</a:t>
            </a:r>
            <a:r>
              <a:rPr sz="2250" spc="-28" dirty="0">
                <a:latin typeface="HelveticaNeue-Light"/>
                <a:cs typeface="HelveticaNeue-Light"/>
              </a:rPr>
              <a:t> </a:t>
            </a:r>
            <a:r>
              <a:rPr sz="2250" spc="-18" dirty="0">
                <a:latin typeface="HelveticaNeue-Light"/>
                <a:cs typeface="HelveticaNeue-Light"/>
              </a:rPr>
              <a:t>it!</a:t>
            </a:r>
            <a:endParaRPr sz="2250" dirty="0">
              <a:latin typeface="HelveticaNeue-Light"/>
              <a:cs typeface="HelveticaNeue-Ligh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83D3870-5CBB-4B84-8758-A2B12D18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385A74-20DF-4227-AE55-7102E03BF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Given a d-dimensional vector representation x of a prefix, we do the following to predict the next word:</a:t>
            </a:r>
          </a:p>
          <a:p>
            <a:pPr lvl="1"/>
            <a:r>
              <a:rPr lang="en-US" dirty="0"/>
              <a:t>Project it to a V-dimensional vector using a matrix-vector product (a.k.a. a “linear layer”, or a “feedforward layer”), where V is the size of the vocabulary.</a:t>
            </a:r>
          </a:p>
          <a:p>
            <a:pPr lvl="1"/>
            <a:r>
              <a:rPr lang="en-US" dirty="0"/>
              <a:t>Apply the </a:t>
            </a:r>
            <a:r>
              <a:rPr lang="en-US" dirty="0" err="1"/>
              <a:t>softmax</a:t>
            </a:r>
            <a:r>
              <a:rPr lang="en-US" dirty="0"/>
              <a:t> function to transform the resulting vector into a probability distribution.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93334"/>
            <a:ext cx="11658600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So to sum up…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2AAD93B-74F4-43F4-BFC8-CA20E254D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397F442-87F4-4A34-9A0D-3176717C0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66" b="0" i="0" kern="1200">
                <a:solidFill>
                  <a:schemeClr val="tx1"/>
                </a:solidFill>
                <a:latin typeface="Gill Sans"/>
                <a:ea typeface="+mn-ea"/>
                <a:cs typeface="Gill San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71435">
              <a:lnSpc>
                <a:spcPts val="1484"/>
              </a:lnSpc>
            </a:pPr>
            <a:fld id="{81D60167-4931-47E6-BA6A-407CBD079E47}" type="slidenum">
              <a:rPr lang="en-US" smtClean="0"/>
              <a:pPr marL="71435">
                <a:lnSpc>
                  <a:spcPts val="1484"/>
                </a:lnSpc>
              </a:pPr>
              <a:t>54</a:t>
            </a:fld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248534" y="501708"/>
            <a:ext cx="8156575" cy="1566863"/>
          </a:xfrm>
          <a:prstGeom prst="rect">
            <a:avLst/>
          </a:prstGeom>
        </p:spPr>
        <p:txBody>
          <a:bodyPr vert="horz" wrap="square" lIns="0" tIns="982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483" marR="3572">
              <a:lnSpc>
                <a:spcPct val="99800"/>
              </a:lnSpc>
              <a:spcBef>
                <a:spcPts val="77"/>
              </a:spcBef>
              <a:tabLst>
                <a:tab pos="834003" algn="l"/>
                <a:tab pos="985356" algn="l"/>
                <a:tab pos="1810876" algn="l"/>
                <a:tab pos="1961336" algn="l"/>
                <a:tab pos="2470310" algn="l"/>
                <a:tab pos="2548889" algn="l"/>
                <a:tab pos="2756049" algn="l"/>
                <a:tab pos="3097598" algn="l"/>
                <a:tab pos="3454327" algn="l"/>
                <a:tab pos="3526208" algn="l"/>
                <a:tab pos="3589607" algn="l"/>
                <a:tab pos="3938745" algn="l"/>
                <a:tab pos="4224931" algn="l"/>
                <a:tab pos="4495045" algn="l"/>
                <a:tab pos="4979463" algn="l"/>
                <a:tab pos="5002233" algn="l"/>
                <a:tab pos="5700956" algn="l"/>
                <a:tab pos="6368873" algn="l"/>
                <a:tab pos="6399679" algn="l"/>
              </a:tabLst>
            </a:pPr>
            <a:r>
              <a:rPr sz="3375" spc="-18" dirty="0">
                <a:solidFill>
                  <a:srgbClr val="000000"/>
                </a:solidFill>
              </a:rPr>
              <a:t>Now</a:t>
            </a:r>
            <a:r>
              <a:rPr sz="3375" dirty="0">
                <a:solidFill>
                  <a:srgbClr val="000000"/>
                </a:solidFill>
              </a:rPr>
              <a:t>	</a:t>
            </a:r>
            <a:r>
              <a:rPr sz="3375" spc="-14" dirty="0">
                <a:solidFill>
                  <a:srgbClr val="000000"/>
                </a:solidFill>
              </a:rPr>
              <a:t>that</a:t>
            </a:r>
            <a:r>
              <a:rPr sz="3375" dirty="0">
                <a:solidFill>
                  <a:srgbClr val="000000"/>
                </a:solidFill>
              </a:rPr>
              <a:t>	</a:t>
            </a:r>
            <a:r>
              <a:rPr sz="3375" spc="-18" dirty="0">
                <a:solidFill>
                  <a:srgbClr val="000000"/>
                </a:solidFill>
              </a:rPr>
              <a:t>we</a:t>
            </a:r>
            <a:r>
              <a:rPr sz="3375" dirty="0">
                <a:solidFill>
                  <a:srgbClr val="000000"/>
                </a:solidFill>
              </a:rPr>
              <a:t>	</a:t>
            </a:r>
            <a:r>
              <a:rPr sz="3375" spc="-14" dirty="0">
                <a:solidFill>
                  <a:srgbClr val="000000"/>
                </a:solidFill>
              </a:rPr>
              <a:t>know</a:t>
            </a:r>
            <a:r>
              <a:rPr sz="3375" dirty="0">
                <a:solidFill>
                  <a:srgbClr val="000000"/>
                </a:solidFill>
              </a:rPr>
              <a:t>		</a:t>
            </a:r>
            <a:r>
              <a:rPr sz="3375" spc="-18" dirty="0">
                <a:solidFill>
                  <a:srgbClr val="000000"/>
                </a:solidFill>
              </a:rPr>
              <a:t>how</a:t>
            </a:r>
            <a:r>
              <a:rPr sz="3375" dirty="0">
                <a:solidFill>
                  <a:srgbClr val="000000"/>
                </a:solidFill>
              </a:rPr>
              <a:t>	</a:t>
            </a:r>
            <a:r>
              <a:rPr sz="3375" spc="-18" dirty="0">
                <a:solidFill>
                  <a:srgbClr val="000000"/>
                </a:solidFill>
              </a:rPr>
              <a:t>to</a:t>
            </a:r>
            <a:r>
              <a:rPr sz="3375" dirty="0">
                <a:solidFill>
                  <a:srgbClr val="000000"/>
                </a:solidFill>
              </a:rPr>
              <a:t>	</a:t>
            </a:r>
            <a:r>
              <a:rPr sz="3375" spc="-7" dirty="0">
                <a:solidFill>
                  <a:srgbClr val="000000"/>
                </a:solidFill>
              </a:rPr>
              <a:t>predict</a:t>
            </a:r>
            <a:r>
              <a:rPr sz="3375" dirty="0">
                <a:solidFill>
                  <a:srgbClr val="000000"/>
                </a:solidFill>
              </a:rPr>
              <a:t>	</a:t>
            </a:r>
            <a:r>
              <a:rPr sz="3375" spc="-7" dirty="0">
                <a:solidFill>
                  <a:srgbClr val="000000"/>
                </a:solidFill>
                <a:latin typeface="Helvetica Neue"/>
                <a:cs typeface="Helvetica Neue"/>
              </a:rPr>
              <a:t>“books”</a:t>
            </a:r>
            <a:r>
              <a:rPr sz="3375" spc="-7" dirty="0">
                <a:solidFill>
                  <a:srgbClr val="000000"/>
                </a:solidFill>
              </a:rPr>
              <a:t>, </a:t>
            </a:r>
            <a:r>
              <a:rPr sz="3375" spc="67" dirty="0">
                <a:solidFill>
                  <a:srgbClr val="000000"/>
                </a:solidFill>
              </a:rPr>
              <a:t>let</a:t>
            </a:r>
            <a:r>
              <a:rPr sz="3375" spc="-309" dirty="0">
                <a:solidFill>
                  <a:srgbClr val="000000"/>
                </a:solidFill>
              </a:rPr>
              <a:t>’</a:t>
            </a:r>
            <a:r>
              <a:rPr sz="3375" spc="67" dirty="0">
                <a:solidFill>
                  <a:srgbClr val="000000"/>
                </a:solidFill>
              </a:rPr>
              <a:t>s</a:t>
            </a:r>
            <a:r>
              <a:rPr sz="3375" dirty="0">
                <a:solidFill>
                  <a:srgbClr val="000000"/>
                </a:solidFill>
              </a:rPr>
              <a:t>	</a:t>
            </a:r>
            <a:r>
              <a:rPr sz="3375" spc="-7" dirty="0">
                <a:solidFill>
                  <a:srgbClr val="000000"/>
                </a:solidFill>
              </a:rPr>
              <a:t>focus</a:t>
            </a:r>
            <a:r>
              <a:rPr sz="3375" dirty="0">
                <a:solidFill>
                  <a:srgbClr val="000000"/>
                </a:solidFill>
              </a:rPr>
              <a:t>	</a:t>
            </a:r>
            <a:r>
              <a:rPr sz="3375" spc="-25" dirty="0">
                <a:solidFill>
                  <a:srgbClr val="000000"/>
                </a:solidFill>
              </a:rPr>
              <a:t>on</a:t>
            </a:r>
            <a:r>
              <a:rPr sz="3375" dirty="0">
                <a:solidFill>
                  <a:srgbClr val="000000"/>
                </a:solidFill>
              </a:rPr>
              <a:t>		</a:t>
            </a:r>
            <a:r>
              <a:rPr sz="3375" spc="-18" dirty="0">
                <a:solidFill>
                  <a:srgbClr val="000000"/>
                </a:solidFill>
              </a:rPr>
              <a:t>how</a:t>
            </a:r>
            <a:r>
              <a:rPr sz="3375" dirty="0">
                <a:solidFill>
                  <a:srgbClr val="000000"/>
                </a:solidFill>
              </a:rPr>
              <a:t>	</a:t>
            </a:r>
            <a:r>
              <a:rPr sz="3375" spc="-18" dirty="0">
                <a:solidFill>
                  <a:srgbClr val="000000"/>
                </a:solidFill>
              </a:rPr>
              <a:t>to</a:t>
            </a:r>
            <a:r>
              <a:rPr sz="3375" dirty="0">
                <a:solidFill>
                  <a:srgbClr val="000000"/>
                </a:solidFill>
              </a:rPr>
              <a:t>	</a:t>
            </a:r>
            <a:r>
              <a:rPr sz="3375" spc="-7" dirty="0">
                <a:solidFill>
                  <a:srgbClr val="000000"/>
                </a:solidFill>
              </a:rPr>
              <a:t>compute</a:t>
            </a:r>
            <a:r>
              <a:rPr sz="3375" dirty="0">
                <a:solidFill>
                  <a:srgbClr val="000000"/>
                </a:solidFill>
              </a:rPr>
              <a:t>	</a:t>
            </a:r>
            <a:r>
              <a:rPr sz="3375" spc="-18" dirty="0">
                <a:solidFill>
                  <a:srgbClr val="000000"/>
                </a:solidFill>
              </a:rPr>
              <a:t>the</a:t>
            </a:r>
            <a:r>
              <a:rPr sz="3375" dirty="0">
                <a:solidFill>
                  <a:srgbClr val="000000"/>
                </a:solidFill>
              </a:rPr>
              <a:t>		</a:t>
            </a:r>
            <a:r>
              <a:rPr sz="3375" spc="-7" dirty="0">
                <a:solidFill>
                  <a:srgbClr val="000000"/>
                </a:solidFill>
              </a:rPr>
              <a:t>prefix representation</a:t>
            </a:r>
            <a:r>
              <a:rPr sz="3375" dirty="0">
                <a:solidFill>
                  <a:srgbClr val="000000"/>
                </a:solidFill>
              </a:rPr>
              <a:t>	</a:t>
            </a:r>
            <a:r>
              <a:rPr sz="3375" i="1" spc="-35" dirty="0">
                <a:solidFill>
                  <a:srgbClr val="000000"/>
                </a:solidFill>
                <a:latin typeface="HelveticaNeue-BoldItalic"/>
                <a:cs typeface="HelveticaNeue-BoldItalic"/>
              </a:rPr>
              <a:t>x</a:t>
            </a:r>
            <a:r>
              <a:rPr sz="3375" i="1" dirty="0">
                <a:solidFill>
                  <a:srgbClr val="000000"/>
                </a:solidFill>
                <a:latin typeface="HelveticaNeue-BoldItalic"/>
                <a:cs typeface="HelveticaNeue-BoldItalic"/>
              </a:rPr>
              <a:t>	</a:t>
            </a:r>
            <a:r>
              <a:rPr sz="3375" spc="-18" dirty="0">
                <a:solidFill>
                  <a:srgbClr val="000000"/>
                </a:solidFill>
              </a:rPr>
              <a:t>in</a:t>
            </a:r>
            <a:r>
              <a:rPr sz="3375" dirty="0">
                <a:solidFill>
                  <a:srgbClr val="000000"/>
                </a:solidFill>
              </a:rPr>
              <a:t>		</a:t>
            </a:r>
            <a:r>
              <a:rPr sz="3375" spc="-18" dirty="0">
                <a:solidFill>
                  <a:srgbClr val="000000"/>
                </a:solidFill>
              </a:rPr>
              <a:t>the</a:t>
            </a:r>
            <a:r>
              <a:rPr sz="3375" dirty="0">
                <a:solidFill>
                  <a:srgbClr val="000000"/>
                </a:solidFill>
              </a:rPr>
              <a:t>	</a:t>
            </a:r>
            <a:r>
              <a:rPr sz="3375" spc="-7" dirty="0">
                <a:solidFill>
                  <a:srgbClr val="000000"/>
                </a:solidFill>
              </a:rPr>
              <a:t>first</a:t>
            </a:r>
            <a:r>
              <a:rPr sz="3375" dirty="0">
                <a:solidFill>
                  <a:srgbClr val="000000"/>
                </a:solidFill>
              </a:rPr>
              <a:t>		</a:t>
            </a:r>
            <a:r>
              <a:rPr sz="3375" spc="-7" dirty="0">
                <a:solidFill>
                  <a:srgbClr val="000000"/>
                </a:solidFill>
              </a:rPr>
              <a:t>place!</a:t>
            </a:r>
            <a:endParaRPr sz="337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4169" y="4444007"/>
            <a:ext cx="381394" cy="3686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9500" y="4444007"/>
            <a:ext cx="381395" cy="36869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864864" y="4444007"/>
            <a:ext cx="381744" cy="368796"/>
            <a:chOff x="3329228" y="6320366"/>
            <a:chExt cx="542925" cy="52451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29228" y="6320366"/>
              <a:ext cx="186828" cy="52437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07028" y="6320366"/>
              <a:ext cx="187325" cy="524510"/>
            </a:xfrm>
            <a:custGeom>
              <a:avLst/>
              <a:gdLst/>
              <a:ahLst/>
              <a:cxnLst/>
              <a:rect l="l" t="t" r="r" b="b"/>
              <a:pathLst>
                <a:path w="187325" h="524509">
                  <a:moveTo>
                    <a:pt x="186828" y="0"/>
                  </a:moveTo>
                  <a:lnTo>
                    <a:pt x="0" y="0"/>
                  </a:lnTo>
                  <a:lnTo>
                    <a:pt x="0" y="524371"/>
                  </a:lnTo>
                  <a:lnTo>
                    <a:pt x="186828" y="524371"/>
                  </a:lnTo>
                  <a:lnTo>
                    <a:pt x="186828" y="0"/>
                  </a:lnTo>
                  <a:close/>
                </a:path>
              </a:pathLst>
            </a:custGeom>
            <a:solidFill>
              <a:srgbClr val="F39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4828" y="6320366"/>
              <a:ext cx="186828" cy="52437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339386" y="4006738"/>
            <a:ext cx="911721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spc="-7" dirty="0">
                <a:latin typeface="Helvetica"/>
                <a:cs typeface="Helvetica"/>
              </a:rPr>
              <a:t>neural</a:t>
            </a:r>
            <a:endParaRPr sz="2531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21659" y="4390715"/>
            <a:ext cx="1339900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dirty="0">
                <a:latin typeface="Helvetica"/>
                <a:cs typeface="Helvetica"/>
              </a:rPr>
              <a:t>network</a:t>
            </a:r>
            <a:r>
              <a:rPr sz="2531" spc="-7" dirty="0">
                <a:latin typeface="Helvetica"/>
                <a:cs typeface="Helvetica"/>
              </a:rPr>
              <a:t> </a:t>
            </a:r>
            <a:r>
              <a:rPr sz="2531" b="1" spc="-35" dirty="0">
                <a:latin typeface="Helvetica"/>
                <a:cs typeface="Helvetica"/>
              </a:rPr>
              <a:t>(</a:t>
            </a:r>
            <a:endParaRPr sz="2531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4395" y="4389226"/>
            <a:ext cx="402282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b="1" dirty="0">
                <a:latin typeface="Helvetica"/>
                <a:cs typeface="Helvetica"/>
              </a:rPr>
              <a:t>)</a:t>
            </a:r>
            <a:r>
              <a:rPr sz="2531" b="1" spc="-4" dirty="0">
                <a:latin typeface="Helvetica"/>
                <a:cs typeface="Helvetica"/>
              </a:rPr>
              <a:t> </a:t>
            </a:r>
            <a:r>
              <a:rPr sz="2531" b="1" spc="-35" dirty="0">
                <a:latin typeface="Helvetica"/>
                <a:cs typeface="Helvetica"/>
              </a:rPr>
              <a:t>=</a:t>
            </a:r>
            <a:endParaRPr sz="2531">
              <a:latin typeface="Helvetica"/>
              <a:cs typeface="Helvetic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43852" y="4444007"/>
            <a:ext cx="381395" cy="36869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574040" y="4003273"/>
            <a:ext cx="1917650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  <a:tabLst>
                <a:tab pos="1073757" algn="l"/>
              </a:tabLst>
            </a:pPr>
            <a:r>
              <a:rPr sz="1969" spc="-7" dirty="0">
                <a:solidFill>
                  <a:srgbClr val="C82506"/>
                </a:solidFill>
                <a:latin typeface="Helvetica"/>
                <a:cs typeface="Helvetica"/>
              </a:rPr>
              <a:t>students</a:t>
            </a:r>
            <a:r>
              <a:rPr sz="1969" dirty="0">
                <a:solidFill>
                  <a:srgbClr val="C82506"/>
                </a:solidFill>
                <a:latin typeface="Helvetica"/>
                <a:cs typeface="Helvetica"/>
              </a:rPr>
              <a:t>	</a:t>
            </a:r>
            <a:r>
              <a:rPr sz="1969" spc="-7" dirty="0">
                <a:solidFill>
                  <a:srgbClr val="C82506"/>
                </a:solidFill>
                <a:latin typeface="Helvetica"/>
                <a:cs typeface="Helvetica"/>
              </a:rPr>
              <a:t>opened</a:t>
            </a:r>
            <a:endParaRPr sz="1969">
              <a:latin typeface="Helvetica"/>
              <a:cs typeface="Helvetic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22741" y="4003273"/>
            <a:ext cx="504081" cy="312049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969" spc="-7" dirty="0">
                <a:solidFill>
                  <a:srgbClr val="C82506"/>
                </a:solidFill>
                <a:latin typeface="Helvetica"/>
                <a:cs typeface="Helvetica"/>
              </a:rPr>
              <a:t>their</a:t>
            </a:r>
            <a:endParaRPr sz="1969">
              <a:latin typeface="Helvetica"/>
              <a:cs typeface="Helvetic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227393" y="3257936"/>
            <a:ext cx="214313" cy="1037630"/>
            <a:chOff x="8111492" y="4633509"/>
            <a:chExt cx="304800" cy="1475740"/>
          </a:xfrm>
        </p:grpSpPr>
        <p:sp>
          <p:nvSpPr>
            <p:cNvPr id="16" name="object 16"/>
            <p:cNvSpPr/>
            <p:nvPr/>
          </p:nvSpPr>
          <p:spPr>
            <a:xfrm>
              <a:off x="8263892" y="4900209"/>
              <a:ext cx="0" cy="1170940"/>
            </a:xfrm>
            <a:custGeom>
              <a:avLst/>
              <a:gdLst/>
              <a:ahLst/>
              <a:cxnLst/>
              <a:rect l="l" t="t" r="r" b="b"/>
              <a:pathLst>
                <a:path h="1170939">
                  <a:moveTo>
                    <a:pt x="0" y="1170390"/>
                  </a:move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11492" y="463350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0" y="304800"/>
                  </a:lnTo>
                  <a:lnTo>
                    <a:pt x="304800" y="3048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67207" y="2817591"/>
            <a:ext cx="2534683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974"/>
              </a:lnSpc>
              <a:tabLst>
                <a:tab pos="1042057" algn="l"/>
              </a:tabLst>
            </a:pPr>
            <a:r>
              <a:rPr sz="2531" spc="-7" dirty="0">
                <a:latin typeface="HelveticaNeue-Light"/>
                <a:cs typeface="HelveticaNeue-Light"/>
              </a:rPr>
              <a:t>predict</a:t>
            </a:r>
            <a:r>
              <a:rPr sz="2531" dirty="0">
                <a:latin typeface="HelveticaNeue-Light"/>
                <a:cs typeface="HelveticaNeue-Light"/>
              </a:rPr>
              <a:t>	</a:t>
            </a:r>
            <a:r>
              <a:rPr sz="2531" b="1" spc="-7" dirty="0">
                <a:latin typeface="Helvetica Neue"/>
                <a:cs typeface="Helvetica Neue"/>
              </a:rPr>
              <a:t>“books”</a:t>
            </a:r>
            <a:endParaRPr sz="2531" dirty="0">
              <a:latin typeface="Helvetica Neue"/>
              <a:cs typeface="Helvetica Neue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49ABE59-A304-4BAA-AE24-4FCDD5AA2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b="1" spc="-7" dirty="0">
                <a:latin typeface="HelveticaNeue-Light"/>
              </a:rPr>
              <a:t>I</a:t>
            </a:r>
            <a:r>
              <a:rPr lang="en-US" b="1" dirty="0"/>
              <a:t>nput:</a:t>
            </a:r>
            <a:r>
              <a:rPr lang="en-US" dirty="0"/>
              <a:t> sequence of word embeddings corresponding to the tokens of a given prefix</a:t>
            </a:r>
          </a:p>
          <a:p>
            <a:r>
              <a:rPr lang="en-US" b="1" dirty="0"/>
              <a:t>Output:</a:t>
            </a:r>
            <a:r>
              <a:rPr lang="en-US" dirty="0"/>
              <a:t> single vector</a:t>
            </a:r>
          </a:p>
          <a:p>
            <a:r>
              <a:rPr lang="en-US" dirty="0"/>
              <a:t>Composition functions:</a:t>
            </a:r>
          </a:p>
          <a:p>
            <a:pPr lvl="1"/>
            <a:r>
              <a:rPr lang="en-US" dirty="0"/>
              <a:t>Element-wise functions</a:t>
            </a:r>
          </a:p>
          <a:p>
            <a:pPr lvl="2"/>
            <a:r>
              <a:rPr lang="en-US" dirty="0"/>
              <a:t>e.g., just sum up all of the word embeddings!</a:t>
            </a:r>
          </a:p>
          <a:p>
            <a:pPr lvl="1"/>
            <a:r>
              <a:rPr lang="en-US" dirty="0"/>
              <a:t>Concatenation</a:t>
            </a:r>
          </a:p>
          <a:p>
            <a:pPr lvl="1"/>
            <a:r>
              <a:rPr lang="en-US" dirty="0"/>
              <a:t>Feed-forward neural networks</a:t>
            </a:r>
          </a:p>
          <a:p>
            <a:pPr lvl="1"/>
            <a:r>
              <a:rPr lang="en-US" dirty="0"/>
              <a:t>Convolutional neural networks</a:t>
            </a:r>
          </a:p>
          <a:p>
            <a:pPr lvl="1"/>
            <a:r>
              <a:rPr lang="en-US" dirty="0"/>
              <a:t>Recurrent neural networks</a:t>
            </a:r>
          </a:p>
          <a:p>
            <a:pPr lvl="1"/>
            <a:r>
              <a:rPr lang="en-US" dirty="0"/>
              <a:t>Transformers (our focus this semester)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93334"/>
            <a:ext cx="11658600" cy="624570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Composition functions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9CB8661-EF76-443A-B066-D9A02870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1804-DCFC-40B2-838A-9D5A847F0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300287" y="3080158"/>
            <a:ext cx="7591425" cy="915987"/>
          </a:xfrm>
          <a:prstGeom prst="rect">
            <a:avLst/>
          </a:prstGeom>
        </p:spPr>
        <p:txBody>
          <a:bodyPr vert="horz" wrap="square" lIns="0" tIns="491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 marR="3572" indent="101795">
              <a:lnSpc>
                <a:spcPct val="100800"/>
              </a:lnSpc>
              <a:spcBef>
                <a:spcPts val="39"/>
              </a:spcBef>
              <a:tabLst>
                <a:tab pos="985356" algn="l"/>
                <a:tab pos="1782302" algn="l"/>
                <a:tab pos="1992589" algn="l"/>
                <a:tab pos="2478793" algn="l"/>
                <a:tab pos="2639522" algn="l"/>
                <a:tab pos="2898474" algn="l"/>
                <a:tab pos="3812395" algn="l"/>
                <a:tab pos="5452273" algn="l"/>
                <a:tab pos="5946067" algn="l"/>
                <a:tab pos="5964373" algn="l"/>
                <a:tab pos="6831861" algn="l"/>
              </a:tabLst>
            </a:pPr>
            <a:r>
              <a:rPr lang="en-US" sz="3023" spc="-7" dirty="0">
                <a:solidFill>
                  <a:srgbClr val="000000"/>
                </a:solidFill>
              </a:rPr>
              <a:t>Let’s</a:t>
            </a:r>
            <a:r>
              <a:rPr lang="en-US" sz="3023" dirty="0">
                <a:solidFill>
                  <a:srgbClr val="000000"/>
                </a:solidFill>
              </a:rPr>
              <a:t>	</a:t>
            </a:r>
            <a:r>
              <a:rPr lang="en-US" sz="3023" spc="-14" dirty="0">
                <a:solidFill>
                  <a:srgbClr val="000000"/>
                </a:solidFill>
              </a:rPr>
              <a:t>look</a:t>
            </a:r>
            <a:r>
              <a:rPr lang="en-US" sz="3023" dirty="0">
                <a:solidFill>
                  <a:srgbClr val="000000"/>
                </a:solidFill>
              </a:rPr>
              <a:t>	</a:t>
            </a:r>
            <a:r>
              <a:rPr lang="en-US" sz="3023" spc="-7" dirty="0">
                <a:solidFill>
                  <a:srgbClr val="000000"/>
                </a:solidFill>
              </a:rPr>
              <a:t>first</a:t>
            </a:r>
            <a:r>
              <a:rPr lang="en-US" sz="3023" dirty="0">
                <a:solidFill>
                  <a:srgbClr val="000000"/>
                </a:solidFill>
              </a:rPr>
              <a:t>	</a:t>
            </a:r>
            <a:r>
              <a:rPr lang="en-US" sz="3023" spc="-18" dirty="0">
                <a:solidFill>
                  <a:srgbClr val="000000"/>
                </a:solidFill>
              </a:rPr>
              <a:t>at</a:t>
            </a:r>
            <a:r>
              <a:rPr lang="en-US" sz="3023" dirty="0">
                <a:solidFill>
                  <a:srgbClr val="000000"/>
                </a:solidFill>
              </a:rPr>
              <a:t>	</a:t>
            </a:r>
            <a:r>
              <a:rPr lang="en-US" sz="3023" i="1" spc="-7" dirty="0">
                <a:solidFill>
                  <a:srgbClr val="C00000"/>
                </a:solidFill>
                <a:latin typeface="HelveticaNeue-LightItalic"/>
                <a:cs typeface="HelveticaNeue-LightItalic"/>
              </a:rPr>
              <a:t>concatenation</a:t>
            </a:r>
            <a:r>
              <a:rPr lang="en-US" sz="3023" spc="-7" dirty="0">
                <a:solidFill>
                  <a:srgbClr val="000000"/>
                </a:solidFill>
              </a:rPr>
              <a:t>,</a:t>
            </a:r>
            <a:r>
              <a:rPr lang="en-US" sz="3023" dirty="0">
                <a:solidFill>
                  <a:srgbClr val="000000"/>
                </a:solidFill>
              </a:rPr>
              <a:t>	</a:t>
            </a:r>
            <a:r>
              <a:rPr lang="en-US" sz="3023" spc="-18" dirty="0">
                <a:solidFill>
                  <a:srgbClr val="000000"/>
                </a:solidFill>
              </a:rPr>
              <a:t>an</a:t>
            </a:r>
            <a:r>
              <a:rPr lang="en-US" sz="3023" dirty="0">
                <a:solidFill>
                  <a:srgbClr val="000000"/>
                </a:solidFill>
              </a:rPr>
              <a:t>		</a:t>
            </a:r>
            <a:r>
              <a:rPr lang="en-US" sz="3023" spc="-14" dirty="0">
                <a:solidFill>
                  <a:srgbClr val="000000"/>
                </a:solidFill>
              </a:rPr>
              <a:t>easy</a:t>
            </a:r>
            <a:r>
              <a:rPr lang="en-US" sz="3023" dirty="0">
                <a:solidFill>
                  <a:srgbClr val="000000"/>
                </a:solidFill>
              </a:rPr>
              <a:t>	</a:t>
            </a:r>
            <a:r>
              <a:rPr lang="en-US" sz="3023" spc="-18" dirty="0">
                <a:solidFill>
                  <a:srgbClr val="000000"/>
                </a:solidFill>
              </a:rPr>
              <a:t>to </a:t>
            </a:r>
            <a:r>
              <a:rPr lang="en-US" sz="3023" spc="-7" dirty="0">
                <a:solidFill>
                  <a:srgbClr val="000000"/>
                </a:solidFill>
              </a:rPr>
              <a:t>understand</a:t>
            </a:r>
            <a:r>
              <a:rPr lang="en-US" sz="3023" dirty="0">
                <a:solidFill>
                  <a:srgbClr val="000000"/>
                </a:solidFill>
              </a:rPr>
              <a:t>	</a:t>
            </a:r>
            <a:r>
              <a:rPr lang="en-US" sz="3023" spc="-18" dirty="0">
                <a:solidFill>
                  <a:srgbClr val="000000"/>
                </a:solidFill>
              </a:rPr>
              <a:t>but</a:t>
            </a:r>
            <a:r>
              <a:rPr lang="en-US" sz="3023" dirty="0">
                <a:solidFill>
                  <a:srgbClr val="000000"/>
                </a:solidFill>
              </a:rPr>
              <a:t>	</a:t>
            </a:r>
            <a:r>
              <a:rPr lang="en-US" sz="3023" spc="-7" dirty="0">
                <a:solidFill>
                  <a:srgbClr val="000000"/>
                </a:solidFill>
              </a:rPr>
              <a:t>limited</a:t>
            </a:r>
            <a:r>
              <a:rPr lang="en-US" sz="3023" dirty="0">
                <a:solidFill>
                  <a:srgbClr val="000000"/>
                </a:solidFill>
              </a:rPr>
              <a:t>	</a:t>
            </a:r>
            <a:r>
              <a:rPr lang="en-US" sz="3023" spc="-7" dirty="0">
                <a:solidFill>
                  <a:srgbClr val="000000"/>
                </a:solidFill>
              </a:rPr>
              <a:t>composition</a:t>
            </a:r>
            <a:r>
              <a:rPr lang="en-US" sz="3023" dirty="0">
                <a:solidFill>
                  <a:srgbClr val="000000"/>
                </a:solidFill>
              </a:rPr>
              <a:t>	</a:t>
            </a:r>
            <a:r>
              <a:rPr lang="en-US" sz="3023" spc="-7" dirty="0">
                <a:solidFill>
                  <a:srgbClr val="000000"/>
                </a:solidFill>
              </a:rPr>
              <a:t>function</a:t>
            </a:r>
            <a:endParaRPr lang="en-US" sz="3023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2C0F8D1-AE35-491C-ADCE-B4544C06E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982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 fixed-window neural Language Model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1A56B3C-1797-44E9-B83E-4D98A14A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9032171" y="5362044"/>
            <a:ext cx="1204615" cy="262352"/>
          </a:xfrm>
          <a:prstGeom prst="rect">
            <a:avLst/>
          </a:prstGeom>
        </p:spPr>
        <p:txBody>
          <a:bodyPr vert="horz" wrap="square" lIns="0" tIns="8037" rIns="0" bIns="0" rtlCol="0">
            <a:spAutoFit/>
          </a:bodyPr>
          <a:lstStyle/>
          <a:p>
            <a:pPr marL="8929">
              <a:spcBef>
                <a:spcPts val="63"/>
              </a:spcBef>
              <a:tabLst>
                <a:tab pos="568354" algn="l"/>
                <a:tab pos="1195196" algn="l"/>
              </a:tabLst>
            </a:pPr>
            <a:r>
              <a:rPr sz="1652" i="1" spc="-7" dirty="0">
                <a:latin typeface="Arial"/>
                <a:cs typeface="Arial"/>
              </a:rPr>
              <a:t>their</a:t>
            </a:r>
            <a:r>
              <a:rPr sz="1652" i="1" dirty="0">
                <a:latin typeface="Arial"/>
                <a:cs typeface="Arial"/>
              </a:rPr>
              <a:t>	</a:t>
            </a:r>
            <a:r>
              <a:rPr sz="1652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652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5389" y="5362044"/>
            <a:ext cx="2289125" cy="262352"/>
          </a:xfrm>
          <a:prstGeom prst="rect">
            <a:avLst/>
          </a:prstGeom>
        </p:spPr>
        <p:txBody>
          <a:bodyPr vert="horz" wrap="square" lIns="0" tIns="8037" rIns="0" bIns="0" rtlCol="0">
            <a:spAutoFit/>
          </a:bodyPr>
          <a:lstStyle/>
          <a:p>
            <a:pPr marL="8929">
              <a:spcBef>
                <a:spcPts val="63"/>
              </a:spcBef>
              <a:tabLst>
                <a:tab pos="426824" algn="l"/>
                <a:tab pos="844718" algn="l"/>
                <a:tab pos="1680507" algn="l"/>
              </a:tabLst>
            </a:pPr>
            <a:r>
              <a:rPr sz="1652" i="1" spc="-18" dirty="0">
                <a:latin typeface="Arial"/>
                <a:cs typeface="Arial"/>
              </a:rPr>
              <a:t>as</a:t>
            </a:r>
            <a:r>
              <a:rPr sz="1652" i="1" dirty="0">
                <a:latin typeface="Arial"/>
                <a:cs typeface="Arial"/>
              </a:rPr>
              <a:t>	</a:t>
            </a:r>
            <a:r>
              <a:rPr sz="1652" i="1" spc="-18" dirty="0">
                <a:latin typeface="Arial"/>
                <a:cs typeface="Arial"/>
              </a:rPr>
              <a:t>the</a:t>
            </a:r>
            <a:r>
              <a:rPr sz="1652" i="1" dirty="0">
                <a:latin typeface="Arial"/>
                <a:cs typeface="Arial"/>
              </a:rPr>
              <a:t>	</a:t>
            </a:r>
            <a:r>
              <a:rPr sz="1652" i="1" spc="-7" dirty="0">
                <a:latin typeface="Arial"/>
                <a:cs typeface="Arial"/>
              </a:rPr>
              <a:t>proctor</a:t>
            </a:r>
            <a:r>
              <a:rPr sz="1652" i="1" dirty="0">
                <a:latin typeface="Arial"/>
                <a:cs typeface="Arial"/>
              </a:rPr>
              <a:t>	</a:t>
            </a:r>
            <a:r>
              <a:rPr sz="1652" i="1" spc="-46" dirty="0">
                <a:latin typeface="Arial"/>
                <a:cs typeface="Arial"/>
              </a:rPr>
              <a:t>started</a:t>
            </a:r>
            <a:endParaRPr sz="1652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3138" y="5362044"/>
            <a:ext cx="1005036" cy="262352"/>
          </a:xfrm>
          <a:prstGeom prst="rect">
            <a:avLst/>
          </a:prstGeom>
        </p:spPr>
        <p:txBody>
          <a:bodyPr vert="horz" wrap="square" lIns="0" tIns="8037" rIns="0" bIns="0" rtlCol="0">
            <a:spAutoFit/>
          </a:bodyPr>
          <a:lstStyle/>
          <a:p>
            <a:pPr marL="8929">
              <a:spcBef>
                <a:spcPts val="63"/>
              </a:spcBef>
              <a:tabLst>
                <a:tab pos="570140" algn="l"/>
              </a:tabLst>
            </a:pPr>
            <a:r>
              <a:rPr sz="1652" i="1" spc="-18" dirty="0">
                <a:latin typeface="Arial"/>
                <a:cs typeface="Arial"/>
              </a:rPr>
              <a:t>the</a:t>
            </a:r>
            <a:r>
              <a:rPr sz="1652" i="1" dirty="0">
                <a:latin typeface="Arial"/>
                <a:cs typeface="Arial"/>
              </a:rPr>
              <a:t>	</a:t>
            </a:r>
            <a:r>
              <a:rPr sz="1652" i="1" spc="-80" dirty="0">
                <a:latin typeface="Arial"/>
                <a:cs typeface="Arial"/>
              </a:rPr>
              <a:t>clock</a:t>
            </a:r>
            <a:endParaRPr sz="1652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79148" y="5509604"/>
            <a:ext cx="3633043" cy="7144"/>
          </a:xfrm>
          <a:custGeom>
            <a:avLst/>
            <a:gdLst/>
            <a:ahLst/>
            <a:cxnLst/>
            <a:rect l="l" t="t" r="r" b="b"/>
            <a:pathLst>
              <a:path w="5166995" h="10159">
                <a:moveTo>
                  <a:pt x="0" y="9563"/>
                </a:moveTo>
                <a:lnTo>
                  <a:pt x="5166860" y="0"/>
                </a:lnTo>
              </a:path>
            </a:pathLst>
          </a:custGeom>
          <a:ln w="7430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44815" y="5681719"/>
            <a:ext cx="693837" cy="29031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828" spc="-80" dirty="0">
                <a:solidFill>
                  <a:srgbClr val="C00000"/>
                </a:solidFill>
                <a:latin typeface="Arial"/>
                <a:cs typeface="Arial"/>
              </a:rPr>
              <a:t>discard</a:t>
            </a:r>
            <a:endParaRPr sz="1828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68316" y="5622555"/>
            <a:ext cx="3278088" cy="220563"/>
          </a:xfrm>
          <a:custGeom>
            <a:avLst/>
            <a:gdLst/>
            <a:ahLst/>
            <a:cxnLst/>
            <a:rect l="l" t="t" r="r" b="b"/>
            <a:pathLst>
              <a:path w="4662170" h="313690">
                <a:moveTo>
                  <a:pt x="4661763" y="0"/>
                </a:moveTo>
                <a:lnTo>
                  <a:pt x="4654735" y="49507"/>
                </a:lnTo>
                <a:lnTo>
                  <a:pt x="4635166" y="92505"/>
                </a:lnTo>
                <a:lnTo>
                  <a:pt x="4605327" y="126411"/>
                </a:lnTo>
                <a:lnTo>
                  <a:pt x="4567487" y="148647"/>
                </a:lnTo>
                <a:lnTo>
                  <a:pt x="4523918" y="156632"/>
                </a:lnTo>
                <a:lnTo>
                  <a:pt x="2468725" y="156632"/>
                </a:lnTo>
                <a:lnTo>
                  <a:pt x="2425156" y="164617"/>
                </a:lnTo>
                <a:lnTo>
                  <a:pt x="2387316" y="186853"/>
                </a:lnTo>
                <a:lnTo>
                  <a:pt x="2357477" y="220759"/>
                </a:lnTo>
                <a:lnTo>
                  <a:pt x="2337908" y="263756"/>
                </a:lnTo>
                <a:lnTo>
                  <a:pt x="2330880" y="313264"/>
                </a:lnTo>
                <a:lnTo>
                  <a:pt x="2323853" y="263756"/>
                </a:lnTo>
                <a:lnTo>
                  <a:pt x="2304285" y="220759"/>
                </a:lnTo>
                <a:lnTo>
                  <a:pt x="2274446" y="186853"/>
                </a:lnTo>
                <a:lnTo>
                  <a:pt x="2236606" y="164617"/>
                </a:lnTo>
                <a:lnTo>
                  <a:pt x="2193037" y="156632"/>
                </a:lnTo>
                <a:lnTo>
                  <a:pt x="137844" y="156632"/>
                </a:lnTo>
                <a:lnTo>
                  <a:pt x="94274" y="148647"/>
                </a:lnTo>
                <a:lnTo>
                  <a:pt x="56435" y="126411"/>
                </a:lnTo>
                <a:lnTo>
                  <a:pt x="26595" y="92505"/>
                </a:lnTo>
                <a:lnTo>
                  <a:pt x="7027" y="49507"/>
                </a:lnTo>
                <a:lnTo>
                  <a:pt x="0" y="0"/>
                </a:lnTo>
              </a:path>
            </a:pathLst>
          </a:custGeom>
          <a:ln w="37151">
            <a:solidFill>
              <a:srgbClr val="3A8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56466" y="5362044"/>
            <a:ext cx="2414141" cy="748831"/>
          </a:xfrm>
          <a:prstGeom prst="rect">
            <a:avLst/>
          </a:prstGeom>
        </p:spPr>
        <p:txBody>
          <a:bodyPr vert="horz" wrap="square" lIns="0" tIns="8037" rIns="0" bIns="0" rtlCol="0">
            <a:spAutoFit/>
          </a:bodyPr>
          <a:lstStyle/>
          <a:p>
            <a:pPr marL="8929">
              <a:spcBef>
                <a:spcPts val="63"/>
              </a:spcBef>
              <a:tabLst>
                <a:tab pos="733994" algn="l"/>
                <a:tab pos="1775159" algn="l"/>
              </a:tabLst>
            </a:pPr>
            <a:r>
              <a:rPr sz="1652" i="1" spc="-18" dirty="0">
                <a:latin typeface="Arial"/>
                <a:cs typeface="Arial"/>
              </a:rPr>
              <a:t>the</a:t>
            </a:r>
            <a:r>
              <a:rPr sz="1652" i="1" dirty="0">
                <a:latin typeface="Arial"/>
                <a:cs typeface="Arial"/>
              </a:rPr>
              <a:t>	</a:t>
            </a:r>
            <a:r>
              <a:rPr sz="1652" i="1" spc="-7" dirty="0">
                <a:latin typeface="Arial"/>
                <a:cs typeface="Arial"/>
              </a:rPr>
              <a:t>students</a:t>
            </a:r>
            <a:r>
              <a:rPr sz="1652" i="1" dirty="0">
                <a:latin typeface="Arial"/>
                <a:cs typeface="Arial"/>
              </a:rPr>
              <a:t>	</a:t>
            </a:r>
            <a:r>
              <a:rPr sz="1652" i="1" spc="-91" dirty="0">
                <a:latin typeface="Arial"/>
                <a:cs typeface="Arial"/>
              </a:rPr>
              <a:t>opened</a:t>
            </a:r>
            <a:endParaRPr sz="1652">
              <a:latin typeface="Arial"/>
              <a:cs typeface="Arial"/>
            </a:endParaRPr>
          </a:p>
          <a:p>
            <a:pPr marL="1021073">
              <a:spcBef>
                <a:spcPts val="1614"/>
              </a:spcBef>
            </a:pPr>
            <a:r>
              <a:rPr sz="1828" spc="-60" dirty="0">
                <a:solidFill>
                  <a:srgbClr val="3A87FF"/>
                </a:solidFill>
                <a:latin typeface="Arial"/>
                <a:cs typeface="Arial"/>
              </a:rPr>
              <a:t>fixed</a:t>
            </a:r>
            <a:r>
              <a:rPr sz="1828" spc="-95" dirty="0">
                <a:solidFill>
                  <a:srgbClr val="3A87FF"/>
                </a:solidFill>
                <a:latin typeface="Arial"/>
                <a:cs typeface="Arial"/>
              </a:rPr>
              <a:t> </a:t>
            </a:r>
            <a:r>
              <a:rPr sz="1828" spc="-7" dirty="0">
                <a:solidFill>
                  <a:srgbClr val="3A87FF"/>
                </a:solidFill>
                <a:latin typeface="Arial"/>
                <a:cs typeface="Arial"/>
              </a:rPr>
              <a:t>window</a:t>
            </a:r>
            <a:endParaRPr sz="1828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 Placeholder 50">
            <a:extLst>
              <a:ext uri="{FF2B5EF4-FFF2-40B4-BE49-F238E27FC236}">
                <a16:creationId xmlns:a16="http://schemas.microsoft.com/office/drawing/2014/main" id="{C40EB9FC-7724-42A6-B8FC-35D73DD8F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937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 fixed-window neural Language Model</a:t>
            </a:r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E97FB39F-E479-4562-84F9-0EFC397A6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335017" y="5608047"/>
            <a:ext cx="1462236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  <a:tabLst>
                <a:tab pos="733548" algn="l"/>
              </a:tabLst>
            </a:pPr>
            <a:r>
              <a:rPr sz="1617" i="1" spc="-18" dirty="0">
                <a:latin typeface="Arial"/>
                <a:cs typeface="Arial"/>
              </a:rPr>
              <a:t>the</a:t>
            </a:r>
            <a:r>
              <a:rPr sz="1617" i="1" dirty="0">
                <a:latin typeface="Arial"/>
                <a:cs typeface="Arial"/>
              </a:rPr>
              <a:t>	</a:t>
            </a:r>
            <a:r>
              <a:rPr sz="1617" i="1" spc="-56" dirty="0">
                <a:latin typeface="Arial"/>
                <a:cs typeface="Arial"/>
              </a:rPr>
              <a:t>students</a:t>
            </a:r>
            <a:endParaRPr sz="161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0099" y="5608047"/>
            <a:ext cx="647402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i="1" spc="-74" dirty="0">
                <a:latin typeface="Arial"/>
                <a:cs typeface="Arial"/>
              </a:rPr>
              <a:t>opened</a:t>
            </a:r>
            <a:endParaRPr sz="161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08640" y="5608047"/>
            <a:ext cx="414784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i="1" spc="-7" dirty="0">
                <a:latin typeface="Arial"/>
                <a:cs typeface="Arial"/>
              </a:rPr>
              <a:t>their</a:t>
            </a:r>
            <a:endParaRPr sz="1617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06170" y="1726303"/>
            <a:ext cx="7479953" cy="3860750"/>
            <a:chOff x="1254641" y="2455186"/>
            <a:chExt cx="10638155" cy="5490845"/>
          </a:xfrm>
        </p:grpSpPr>
        <p:sp>
          <p:nvSpPr>
            <p:cNvPr id="7" name="object 7"/>
            <p:cNvSpPr/>
            <p:nvPr/>
          </p:nvSpPr>
          <p:spPr>
            <a:xfrm>
              <a:off x="8349742" y="2455188"/>
              <a:ext cx="1211580" cy="604520"/>
            </a:xfrm>
            <a:custGeom>
              <a:avLst/>
              <a:gdLst/>
              <a:ahLst/>
              <a:cxnLst/>
              <a:rect l="l" t="t" r="r" b="b"/>
              <a:pathLst>
                <a:path w="1211579" h="604519">
                  <a:moveTo>
                    <a:pt x="98996" y="276326"/>
                  </a:moveTo>
                  <a:lnTo>
                    <a:pt x="55689" y="276390"/>
                  </a:lnTo>
                  <a:lnTo>
                    <a:pt x="55245" y="0"/>
                  </a:lnTo>
                  <a:lnTo>
                    <a:pt x="42875" y="25"/>
                  </a:lnTo>
                  <a:lnTo>
                    <a:pt x="43307" y="276402"/>
                  </a:lnTo>
                  <a:lnTo>
                    <a:pt x="0" y="276479"/>
                  </a:lnTo>
                  <a:lnTo>
                    <a:pt x="49657" y="375399"/>
                  </a:lnTo>
                  <a:lnTo>
                    <a:pt x="98996" y="276326"/>
                  </a:lnTo>
                  <a:close/>
                </a:path>
                <a:path w="1211579" h="604519">
                  <a:moveTo>
                    <a:pt x="1211516" y="505040"/>
                  </a:moveTo>
                  <a:lnTo>
                    <a:pt x="1168209" y="505040"/>
                  </a:lnTo>
                  <a:lnTo>
                    <a:pt x="1168209" y="306247"/>
                  </a:lnTo>
                  <a:lnTo>
                    <a:pt x="1155827" y="306247"/>
                  </a:lnTo>
                  <a:lnTo>
                    <a:pt x="1155827" y="505040"/>
                  </a:lnTo>
                  <a:lnTo>
                    <a:pt x="1112520" y="505040"/>
                  </a:lnTo>
                  <a:lnTo>
                    <a:pt x="1162011" y="604037"/>
                  </a:lnTo>
                  <a:lnTo>
                    <a:pt x="1211516" y="505040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5320" y="6640593"/>
              <a:ext cx="204228" cy="21482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537" y="6640593"/>
              <a:ext cx="204228" cy="21482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3755" y="6640593"/>
              <a:ext cx="204228" cy="2148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2969" y="6640593"/>
              <a:ext cx="204228" cy="21482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30586" y="6517536"/>
              <a:ext cx="5450205" cy="475615"/>
            </a:xfrm>
            <a:custGeom>
              <a:avLst/>
              <a:gdLst/>
              <a:ahLst/>
              <a:cxnLst/>
              <a:rect l="l" t="t" r="r" b="b"/>
              <a:pathLst>
                <a:path w="5450205" h="475615">
                  <a:moveTo>
                    <a:pt x="0" y="79202"/>
                  </a:moveTo>
                  <a:lnTo>
                    <a:pt x="6224" y="48373"/>
                  </a:lnTo>
                  <a:lnTo>
                    <a:pt x="23197" y="23197"/>
                  </a:lnTo>
                  <a:lnTo>
                    <a:pt x="48372" y="6224"/>
                  </a:lnTo>
                  <a:lnTo>
                    <a:pt x="79201" y="0"/>
                  </a:lnTo>
                  <a:lnTo>
                    <a:pt x="5370587" y="0"/>
                  </a:lnTo>
                  <a:lnTo>
                    <a:pt x="5401416" y="6224"/>
                  </a:lnTo>
                  <a:lnTo>
                    <a:pt x="5426592" y="23197"/>
                  </a:lnTo>
                  <a:lnTo>
                    <a:pt x="5443565" y="48373"/>
                  </a:lnTo>
                  <a:lnTo>
                    <a:pt x="5449789" y="79202"/>
                  </a:lnTo>
                  <a:lnTo>
                    <a:pt x="5449789" y="395996"/>
                  </a:lnTo>
                  <a:lnTo>
                    <a:pt x="5443565" y="426825"/>
                  </a:lnTo>
                  <a:lnTo>
                    <a:pt x="5426592" y="452001"/>
                  </a:lnTo>
                  <a:lnTo>
                    <a:pt x="5401416" y="468974"/>
                  </a:lnTo>
                  <a:lnTo>
                    <a:pt x="5370587" y="475199"/>
                  </a:lnTo>
                  <a:lnTo>
                    <a:pt x="79201" y="475199"/>
                  </a:lnTo>
                  <a:lnTo>
                    <a:pt x="48372" y="468974"/>
                  </a:lnTo>
                  <a:lnTo>
                    <a:pt x="23197" y="452001"/>
                  </a:lnTo>
                  <a:lnTo>
                    <a:pt x="6224" y="426825"/>
                  </a:lnTo>
                  <a:lnTo>
                    <a:pt x="0" y="395996"/>
                  </a:lnTo>
                  <a:lnTo>
                    <a:pt x="0" y="79202"/>
                  </a:lnTo>
                  <a:close/>
                </a:path>
              </a:pathLst>
            </a:custGeom>
            <a:ln w="24749">
              <a:solidFill>
                <a:srgbClr val="0047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4960" y="6640593"/>
              <a:ext cx="204228" cy="21482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4178" y="6640593"/>
              <a:ext cx="204228" cy="21482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3395" y="6640593"/>
              <a:ext cx="204228" cy="21482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2610" y="6640593"/>
              <a:ext cx="204228" cy="2148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19910" y="6639557"/>
              <a:ext cx="204228" cy="21482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9127" y="6639557"/>
              <a:ext cx="204228" cy="21482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8343" y="6639557"/>
              <a:ext cx="204228" cy="21482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27559" y="6639557"/>
              <a:ext cx="204228" cy="21482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13984" y="6639560"/>
              <a:ext cx="204228" cy="21482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83200" y="6639560"/>
              <a:ext cx="204228" cy="21482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52418" y="6639560"/>
              <a:ext cx="204228" cy="21482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21633" y="6639560"/>
              <a:ext cx="204228" cy="21482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980110" y="6992683"/>
              <a:ext cx="4303395" cy="953135"/>
            </a:xfrm>
            <a:custGeom>
              <a:avLst/>
              <a:gdLst/>
              <a:ahLst/>
              <a:cxnLst/>
              <a:rect l="l" t="t" r="r" b="b"/>
              <a:pathLst>
                <a:path w="4303395" h="953134">
                  <a:moveTo>
                    <a:pt x="143764" y="123228"/>
                  </a:moveTo>
                  <a:lnTo>
                    <a:pt x="71882" y="0"/>
                  </a:lnTo>
                  <a:lnTo>
                    <a:pt x="0" y="123228"/>
                  </a:lnTo>
                  <a:lnTo>
                    <a:pt x="1993" y="130810"/>
                  </a:lnTo>
                  <a:lnTo>
                    <a:pt x="13804" y="137693"/>
                  </a:lnTo>
                  <a:lnTo>
                    <a:pt x="21386" y="135699"/>
                  </a:lnTo>
                  <a:lnTo>
                    <a:pt x="59512" y="70332"/>
                  </a:lnTo>
                  <a:lnTo>
                    <a:pt x="59512" y="953008"/>
                  </a:lnTo>
                  <a:lnTo>
                    <a:pt x="84264" y="953008"/>
                  </a:lnTo>
                  <a:lnTo>
                    <a:pt x="84264" y="70332"/>
                  </a:lnTo>
                  <a:lnTo>
                    <a:pt x="122389" y="135699"/>
                  </a:lnTo>
                  <a:lnTo>
                    <a:pt x="129971" y="137693"/>
                  </a:lnTo>
                  <a:lnTo>
                    <a:pt x="141782" y="130810"/>
                  </a:lnTo>
                  <a:lnTo>
                    <a:pt x="143764" y="123228"/>
                  </a:lnTo>
                  <a:close/>
                </a:path>
                <a:path w="4303395" h="953134">
                  <a:moveTo>
                    <a:pt x="1489125" y="123228"/>
                  </a:moveTo>
                  <a:lnTo>
                    <a:pt x="1417243" y="0"/>
                  </a:lnTo>
                  <a:lnTo>
                    <a:pt x="1345361" y="123228"/>
                  </a:lnTo>
                  <a:lnTo>
                    <a:pt x="1347355" y="130810"/>
                  </a:lnTo>
                  <a:lnTo>
                    <a:pt x="1359154" y="137693"/>
                  </a:lnTo>
                  <a:lnTo>
                    <a:pt x="1366735" y="135699"/>
                  </a:lnTo>
                  <a:lnTo>
                    <a:pt x="1404861" y="70332"/>
                  </a:lnTo>
                  <a:lnTo>
                    <a:pt x="1404861" y="953008"/>
                  </a:lnTo>
                  <a:lnTo>
                    <a:pt x="1429613" y="953008"/>
                  </a:lnTo>
                  <a:lnTo>
                    <a:pt x="1429613" y="70332"/>
                  </a:lnTo>
                  <a:lnTo>
                    <a:pt x="1467751" y="135699"/>
                  </a:lnTo>
                  <a:lnTo>
                    <a:pt x="1475320" y="137693"/>
                  </a:lnTo>
                  <a:lnTo>
                    <a:pt x="1487131" y="130810"/>
                  </a:lnTo>
                  <a:lnTo>
                    <a:pt x="1489125" y="123228"/>
                  </a:lnTo>
                  <a:close/>
                </a:path>
                <a:path w="4303395" h="953134">
                  <a:moveTo>
                    <a:pt x="2933357" y="123228"/>
                  </a:moveTo>
                  <a:lnTo>
                    <a:pt x="2861475" y="0"/>
                  </a:lnTo>
                  <a:lnTo>
                    <a:pt x="2789593" y="123228"/>
                  </a:lnTo>
                  <a:lnTo>
                    <a:pt x="2791587" y="130810"/>
                  </a:lnTo>
                  <a:lnTo>
                    <a:pt x="2803398" y="137693"/>
                  </a:lnTo>
                  <a:lnTo>
                    <a:pt x="2810967" y="135699"/>
                  </a:lnTo>
                  <a:lnTo>
                    <a:pt x="2849105" y="70332"/>
                  </a:lnTo>
                  <a:lnTo>
                    <a:pt x="2849105" y="953008"/>
                  </a:lnTo>
                  <a:lnTo>
                    <a:pt x="2873845" y="953008"/>
                  </a:lnTo>
                  <a:lnTo>
                    <a:pt x="2873845" y="70332"/>
                  </a:lnTo>
                  <a:lnTo>
                    <a:pt x="2911983" y="135699"/>
                  </a:lnTo>
                  <a:lnTo>
                    <a:pt x="2919552" y="137693"/>
                  </a:lnTo>
                  <a:lnTo>
                    <a:pt x="2931363" y="130810"/>
                  </a:lnTo>
                  <a:lnTo>
                    <a:pt x="2933357" y="123228"/>
                  </a:lnTo>
                  <a:close/>
                </a:path>
                <a:path w="4303395" h="953134">
                  <a:moveTo>
                    <a:pt x="4303280" y="123228"/>
                  </a:moveTo>
                  <a:lnTo>
                    <a:pt x="4231398" y="0"/>
                  </a:lnTo>
                  <a:lnTo>
                    <a:pt x="4159516" y="123228"/>
                  </a:lnTo>
                  <a:lnTo>
                    <a:pt x="4161510" y="130810"/>
                  </a:lnTo>
                  <a:lnTo>
                    <a:pt x="4173309" y="137693"/>
                  </a:lnTo>
                  <a:lnTo>
                    <a:pt x="4180890" y="135699"/>
                  </a:lnTo>
                  <a:lnTo>
                    <a:pt x="4219016" y="70332"/>
                  </a:lnTo>
                  <a:lnTo>
                    <a:pt x="4219016" y="953008"/>
                  </a:lnTo>
                  <a:lnTo>
                    <a:pt x="4243768" y="953008"/>
                  </a:lnTo>
                  <a:lnTo>
                    <a:pt x="4243768" y="70332"/>
                  </a:lnTo>
                  <a:lnTo>
                    <a:pt x="4281906" y="135699"/>
                  </a:lnTo>
                  <a:lnTo>
                    <a:pt x="4289476" y="137693"/>
                  </a:lnTo>
                  <a:lnTo>
                    <a:pt x="4301287" y="130810"/>
                  </a:lnTo>
                  <a:lnTo>
                    <a:pt x="4303280" y="1232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86080" y="5524776"/>
              <a:ext cx="144145" cy="993140"/>
            </a:xfrm>
            <a:custGeom>
              <a:avLst/>
              <a:gdLst/>
              <a:ahLst/>
              <a:cxnLst/>
              <a:rect l="l" t="t" r="r" b="b"/>
              <a:pathLst>
                <a:path w="144145" h="993140">
                  <a:moveTo>
                    <a:pt x="72233" y="0"/>
                  </a:moveTo>
                  <a:lnTo>
                    <a:pt x="0" y="123022"/>
                  </a:lnTo>
                  <a:lnTo>
                    <a:pt x="1972" y="130605"/>
                  </a:lnTo>
                  <a:lnTo>
                    <a:pt x="13759" y="137525"/>
                  </a:lnTo>
                  <a:lnTo>
                    <a:pt x="21343" y="135554"/>
                  </a:lnTo>
                  <a:lnTo>
                    <a:pt x="59658" y="70298"/>
                  </a:lnTo>
                  <a:lnTo>
                    <a:pt x="57028" y="992725"/>
                  </a:lnTo>
                  <a:lnTo>
                    <a:pt x="81777" y="992795"/>
                  </a:lnTo>
                  <a:lnTo>
                    <a:pt x="84408" y="70369"/>
                  </a:lnTo>
                  <a:lnTo>
                    <a:pt x="122350" y="135843"/>
                  </a:lnTo>
                  <a:lnTo>
                    <a:pt x="129922" y="137857"/>
                  </a:lnTo>
                  <a:lnTo>
                    <a:pt x="141749" y="131003"/>
                  </a:lnTo>
                  <a:lnTo>
                    <a:pt x="143765" y="123433"/>
                  </a:lnTo>
                  <a:lnTo>
                    <a:pt x="72233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8112" y="5865494"/>
              <a:ext cx="447479" cy="35113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6696" y="5318807"/>
              <a:ext cx="2535555" cy="35553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4641" y="3386742"/>
              <a:ext cx="4284560" cy="39804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48862" y="4420486"/>
              <a:ext cx="270525" cy="238368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2422904" y="5549177"/>
            <a:ext cx="2054275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spc="-56" dirty="0">
                <a:latin typeface="Arial"/>
                <a:cs typeface="Arial"/>
              </a:rPr>
              <a:t>words</a:t>
            </a:r>
            <a:r>
              <a:rPr sz="1617" spc="-53" dirty="0">
                <a:latin typeface="Arial"/>
                <a:cs typeface="Arial"/>
              </a:rPr>
              <a:t> </a:t>
            </a:r>
            <a:r>
              <a:rPr sz="1617" spc="183" dirty="0">
                <a:latin typeface="Arial"/>
                <a:cs typeface="Arial"/>
              </a:rPr>
              <a:t>/</a:t>
            </a:r>
            <a:r>
              <a:rPr sz="1617" spc="-42" dirty="0">
                <a:latin typeface="Arial"/>
                <a:cs typeface="Arial"/>
              </a:rPr>
              <a:t> </a:t>
            </a:r>
            <a:r>
              <a:rPr sz="1617" spc="-56" dirty="0">
                <a:latin typeface="Arial"/>
                <a:cs typeface="Arial"/>
              </a:rPr>
              <a:t>one-</a:t>
            </a:r>
            <a:r>
              <a:rPr sz="1617" dirty="0">
                <a:latin typeface="Arial"/>
                <a:cs typeface="Arial"/>
              </a:rPr>
              <a:t>hot</a:t>
            </a:r>
            <a:r>
              <a:rPr sz="1617" spc="-49" dirty="0">
                <a:latin typeface="Arial"/>
                <a:cs typeface="Arial"/>
              </a:rPr>
              <a:t> </a:t>
            </a:r>
            <a:r>
              <a:rPr sz="1617" spc="-46" dirty="0">
                <a:latin typeface="Arial"/>
                <a:cs typeface="Arial"/>
              </a:rPr>
              <a:t>vectors</a:t>
            </a:r>
            <a:endParaRPr sz="1617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223901" y="5865330"/>
            <a:ext cx="3566071" cy="533995"/>
            <a:chOff x="6684304" y="8341802"/>
            <a:chExt cx="5071745" cy="759460"/>
          </a:xfrm>
        </p:grpSpPr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65440" y="8341802"/>
              <a:ext cx="573124" cy="41579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44020" y="8341802"/>
              <a:ext cx="551803" cy="4157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34910" y="8341802"/>
              <a:ext cx="572269" cy="41579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03145" y="8341802"/>
              <a:ext cx="607501" cy="41579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684304" y="8360606"/>
              <a:ext cx="5071745" cy="741045"/>
            </a:xfrm>
            <a:custGeom>
              <a:avLst/>
              <a:gdLst/>
              <a:ahLst/>
              <a:cxnLst/>
              <a:rect l="l" t="t" r="r" b="b"/>
              <a:pathLst>
                <a:path w="5071745" h="741045">
                  <a:moveTo>
                    <a:pt x="5071490" y="0"/>
                  </a:moveTo>
                  <a:lnTo>
                    <a:pt x="0" y="0"/>
                  </a:lnTo>
                  <a:lnTo>
                    <a:pt x="0" y="740570"/>
                  </a:lnTo>
                  <a:lnTo>
                    <a:pt x="5071490" y="740570"/>
                  </a:lnTo>
                  <a:lnTo>
                    <a:pt x="50714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2300768" y="5823586"/>
            <a:ext cx="2338239" cy="892969"/>
            <a:chOff x="1104736" y="8282433"/>
            <a:chExt cx="3325495" cy="1270000"/>
          </a:xfrm>
        </p:grpSpPr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00558" y="8368873"/>
              <a:ext cx="2688344" cy="36127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104736" y="8282433"/>
              <a:ext cx="3325495" cy="1270000"/>
            </a:xfrm>
            <a:custGeom>
              <a:avLst/>
              <a:gdLst/>
              <a:ahLst/>
              <a:cxnLst/>
              <a:rect l="l" t="t" r="r" b="b"/>
              <a:pathLst>
                <a:path w="3325495" h="1270000">
                  <a:moveTo>
                    <a:pt x="3325097" y="0"/>
                  </a:moveTo>
                  <a:lnTo>
                    <a:pt x="0" y="0"/>
                  </a:lnTo>
                  <a:lnTo>
                    <a:pt x="0" y="1269999"/>
                  </a:lnTo>
                  <a:lnTo>
                    <a:pt x="3325097" y="1269999"/>
                  </a:lnTo>
                  <a:lnTo>
                    <a:pt x="33250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749068" y="5727126"/>
            <a:ext cx="1607716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1</a:t>
            </a:r>
            <a:r>
              <a:rPr sz="2531" spc="-35" dirty="0">
                <a:latin typeface="Times New Roman"/>
                <a:cs typeface="Times New Roman"/>
              </a:rPr>
              <a:t>,</a:t>
            </a:r>
            <a:r>
              <a:rPr sz="2531" spc="-197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2</a:t>
            </a:r>
            <a:r>
              <a:rPr sz="2531" spc="-35" dirty="0">
                <a:latin typeface="Times New Roman"/>
                <a:cs typeface="Times New Roman"/>
              </a:rPr>
              <a:t>,</a:t>
            </a:r>
            <a:r>
              <a:rPr sz="2531" spc="-197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3</a:t>
            </a:r>
            <a:r>
              <a:rPr sz="2531" spc="-35" dirty="0">
                <a:latin typeface="Times New Roman"/>
                <a:cs typeface="Times New Roman"/>
              </a:rPr>
              <a:t>,</a:t>
            </a:r>
            <a:r>
              <a:rPr sz="2531" spc="-197" dirty="0">
                <a:latin typeface="Times New Roman"/>
                <a:cs typeface="Times New Roman"/>
              </a:rPr>
              <a:t> </a:t>
            </a: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4</a:t>
            </a:r>
            <a:endParaRPr sz="2689" baseline="-19607" dirty="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417841" y="1525671"/>
            <a:ext cx="6442323" cy="290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18288">
              <a:lnSpc>
                <a:spcPts val="1392"/>
              </a:lnSpc>
            </a:pPr>
            <a:r>
              <a:rPr sz="1266" i="1" spc="-7" dirty="0">
                <a:solidFill>
                  <a:srgbClr val="177245"/>
                </a:solidFill>
                <a:latin typeface="Arial"/>
                <a:cs typeface="Arial"/>
              </a:rPr>
              <a:t>books</a:t>
            </a:r>
            <a:endParaRPr sz="1266">
              <a:latin typeface="Arial"/>
              <a:cs typeface="Arial"/>
            </a:endParaRPr>
          </a:p>
          <a:p>
            <a:pPr marL="5549603">
              <a:lnSpc>
                <a:spcPts val="1438"/>
              </a:lnSpc>
            </a:pPr>
            <a:r>
              <a:rPr sz="1266" i="1" spc="-7" dirty="0">
                <a:solidFill>
                  <a:srgbClr val="177245"/>
                </a:solidFill>
                <a:latin typeface="Arial"/>
                <a:cs typeface="Arial"/>
              </a:rPr>
              <a:t>laptops</a:t>
            </a:r>
            <a:endParaRPr sz="1266">
              <a:latin typeface="Arial"/>
              <a:cs typeface="Arial"/>
            </a:endParaRPr>
          </a:p>
          <a:p>
            <a:pPr>
              <a:spcBef>
                <a:spcPts val="1318"/>
              </a:spcBef>
            </a:pPr>
            <a:r>
              <a:rPr sz="1617" dirty="0">
                <a:solidFill>
                  <a:srgbClr val="177245"/>
                </a:solidFill>
                <a:latin typeface="Arial"/>
                <a:cs typeface="Arial"/>
              </a:rPr>
              <a:t>output</a:t>
            </a:r>
            <a:r>
              <a:rPr sz="1617" spc="-21" dirty="0">
                <a:solidFill>
                  <a:srgbClr val="177245"/>
                </a:solidFill>
                <a:latin typeface="Arial"/>
                <a:cs typeface="Arial"/>
              </a:rPr>
              <a:t> </a:t>
            </a:r>
            <a:r>
              <a:rPr sz="1617" spc="-7" dirty="0">
                <a:solidFill>
                  <a:srgbClr val="177245"/>
                </a:solidFill>
                <a:latin typeface="Arial"/>
                <a:cs typeface="Arial"/>
              </a:rPr>
              <a:t>distribution</a:t>
            </a:r>
            <a:endParaRPr sz="1617">
              <a:latin typeface="Arial"/>
              <a:cs typeface="Arial"/>
            </a:endParaRPr>
          </a:p>
          <a:p>
            <a:pPr marL="20537">
              <a:spcBef>
                <a:spcPts val="158"/>
              </a:spcBef>
            </a:pPr>
            <a:r>
              <a:rPr sz="2180" i="1" dirty="0">
                <a:latin typeface="Times New Roman"/>
                <a:cs typeface="Times New Roman"/>
              </a:rPr>
              <a:t>y</a:t>
            </a:r>
            <a:r>
              <a:rPr sz="2180" dirty="0">
                <a:latin typeface="Times New Roman"/>
                <a:cs typeface="Times New Roman"/>
              </a:rPr>
              <a:t>̂</a:t>
            </a:r>
            <a:r>
              <a:rPr sz="2180" spc="35" dirty="0">
                <a:latin typeface="Times New Roman"/>
                <a:cs typeface="Times New Roman"/>
              </a:rPr>
              <a:t> </a:t>
            </a:r>
            <a:r>
              <a:rPr sz="2180" spc="257" dirty="0">
                <a:latin typeface="Times New Roman"/>
                <a:cs typeface="Times New Roman"/>
              </a:rPr>
              <a:t>=</a:t>
            </a:r>
            <a:r>
              <a:rPr sz="2180" spc="67" dirty="0">
                <a:latin typeface="Times New Roman"/>
                <a:cs typeface="Times New Roman"/>
              </a:rPr>
              <a:t> </a:t>
            </a:r>
            <a:r>
              <a:rPr sz="2180" spc="-7" dirty="0">
                <a:latin typeface="HelveticaNeue-Light"/>
                <a:cs typeface="HelveticaNeue-Light"/>
              </a:rPr>
              <a:t>softmax</a:t>
            </a:r>
            <a:r>
              <a:rPr sz="2180" spc="-7" dirty="0">
                <a:latin typeface="Times New Roman"/>
                <a:cs typeface="Times New Roman"/>
              </a:rPr>
              <a:t>(</a:t>
            </a:r>
            <a:r>
              <a:rPr sz="2180" i="1" spc="-7" dirty="0">
                <a:latin typeface="Times New Roman"/>
                <a:cs typeface="Times New Roman"/>
              </a:rPr>
              <a:t>W</a:t>
            </a:r>
            <a:r>
              <a:rPr sz="2320" spc="-11" baseline="-20202" dirty="0">
                <a:latin typeface="Times New Roman"/>
                <a:cs typeface="Times New Roman"/>
              </a:rPr>
              <a:t>2</a:t>
            </a:r>
            <a:r>
              <a:rPr sz="2180" i="1" spc="-7" dirty="0">
                <a:latin typeface="Times New Roman"/>
                <a:cs typeface="Times New Roman"/>
              </a:rPr>
              <a:t>h</a:t>
            </a:r>
            <a:r>
              <a:rPr sz="2180" i="1" spc="-56" dirty="0">
                <a:latin typeface="Times New Roman"/>
                <a:cs typeface="Times New Roman"/>
              </a:rPr>
              <a:t> </a:t>
            </a:r>
            <a:r>
              <a:rPr sz="2180" spc="257" dirty="0">
                <a:latin typeface="Times New Roman"/>
                <a:cs typeface="Times New Roman"/>
              </a:rPr>
              <a:t>+</a:t>
            </a:r>
            <a:r>
              <a:rPr sz="2180" spc="-56" dirty="0">
                <a:latin typeface="Times New Roman"/>
                <a:cs typeface="Times New Roman"/>
              </a:rPr>
              <a:t> </a:t>
            </a:r>
            <a:r>
              <a:rPr sz="2180" i="1" spc="-18" dirty="0">
                <a:latin typeface="Times New Roman"/>
                <a:cs typeface="Times New Roman"/>
              </a:rPr>
              <a:t>b</a:t>
            </a:r>
            <a:r>
              <a:rPr sz="2320" spc="-26" baseline="-20202" dirty="0">
                <a:latin typeface="Times New Roman"/>
                <a:cs typeface="Times New Roman"/>
              </a:rPr>
              <a:t>2</a:t>
            </a:r>
            <a:r>
              <a:rPr sz="2180" spc="-18" dirty="0">
                <a:latin typeface="Times New Roman"/>
                <a:cs typeface="Times New Roman"/>
              </a:rPr>
              <a:t>)</a:t>
            </a:r>
            <a:endParaRPr sz="2180">
              <a:latin typeface="Times New Roman"/>
              <a:cs typeface="Times New Roman"/>
            </a:endParaRPr>
          </a:p>
          <a:p>
            <a:pPr marL="4834361">
              <a:spcBef>
                <a:spcPts val="503"/>
              </a:spcBef>
              <a:tabLst>
                <a:tab pos="6209930" algn="l"/>
              </a:tabLst>
            </a:pPr>
            <a:r>
              <a:rPr sz="1898" spc="-53" baseline="1543" dirty="0">
                <a:solidFill>
                  <a:srgbClr val="177245"/>
                </a:solidFill>
                <a:latin typeface="Arial"/>
                <a:cs typeface="Arial"/>
              </a:rPr>
              <a:t>a</a:t>
            </a:r>
            <a:r>
              <a:rPr sz="1898" baseline="1543" dirty="0">
                <a:solidFill>
                  <a:srgbClr val="177245"/>
                </a:solidFill>
                <a:latin typeface="Arial"/>
                <a:cs typeface="Arial"/>
              </a:rPr>
              <a:t>	</a:t>
            </a:r>
            <a:r>
              <a:rPr sz="1266" spc="-88" dirty="0">
                <a:solidFill>
                  <a:srgbClr val="177245"/>
                </a:solidFill>
                <a:latin typeface="Arial"/>
                <a:cs typeface="Arial"/>
              </a:rPr>
              <a:t>zoo</a:t>
            </a:r>
            <a:endParaRPr sz="1266">
              <a:latin typeface="Arial"/>
              <a:cs typeface="Arial"/>
            </a:endParaRPr>
          </a:p>
          <a:p>
            <a:pPr marL="5726404">
              <a:spcBef>
                <a:spcPts val="1076"/>
              </a:spcBef>
            </a:pPr>
            <a:r>
              <a:rPr sz="2180" i="1" spc="-18" dirty="0">
                <a:latin typeface="Times New Roman"/>
                <a:cs typeface="Times New Roman"/>
              </a:rPr>
              <a:t>W</a:t>
            </a:r>
            <a:r>
              <a:rPr sz="2320" spc="-26" baseline="-20202" dirty="0">
                <a:latin typeface="Times New Roman"/>
                <a:cs typeface="Times New Roman"/>
              </a:rPr>
              <a:t>2</a:t>
            </a:r>
            <a:endParaRPr sz="2320" baseline="-20202">
              <a:latin typeface="Times New Roman"/>
              <a:cs typeface="Times New Roman"/>
            </a:endParaRPr>
          </a:p>
          <a:p>
            <a:pPr marL="45093">
              <a:spcBef>
                <a:spcPts val="506"/>
              </a:spcBef>
            </a:pPr>
            <a:r>
              <a:rPr sz="1617" spc="-35" dirty="0">
                <a:solidFill>
                  <a:srgbClr val="A4001D"/>
                </a:solidFill>
                <a:latin typeface="Arial"/>
                <a:cs typeface="Arial"/>
              </a:rPr>
              <a:t>hidden</a:t>
            </a:r>
            <a:r>
              <a:rPr sz="1617" spc="-74" dirty="0">
                <a:solidFill>
                  <a:srgbClr val="A4001D"/>
                </a:solidFill>
                <a:latin typeface="Arial"/>
                <a:cs typeface="Arial"/>
              </a:rPr>
              <a:t> </a:t>
            </a:r>
            <a:r>
              <a:rPr sz="1617" spc="-14" dirty="0">
                <a:solidFill>
                  <a:srgbClr val="A4001D"/>
                </a:solidFill>
                <a:latin typeface="Arial"/>
                <a:cs typeface="Arial"/>
              </a:rPr>
              <a:t>layer</a:t>
            </a:r>
            <a:endParaRPr sz="1617">
              <a:latin typeface="Arial"/>
              <a:cs typeface="Arial"/>
            </a:endParaRPr>
          </a:p>
          <a:p>
            <a:pPr marL="97777">
              <a:lnSpc>
                <a:spcPts val="2275"/>
              </a:lnSpc>
              <a:spcBef>
                <a:spcPts val="1034"/>
              </a:spcBef>
            </a:pPr>
            <a:r>
              <a:rPr sz="2180" i="1" dirty="0">
                <a:latin typeface="Times New Roman"/>
                <a:cs typeface="Times New Roman"/>
              </a:rPr>
              <a:t>h</a:t>
            </a:r>
            <a:r>
              <a:rPr sz="2180" i="1" spc="67" dirty="0">
                <a:latin typeface="Times New Roman"/>
                <a:cs typeface="Times New Roman"/>
              </a:rPr>
              <a:t> </a:t>
            </a:r>
            <a:r>
              <a:rPr sz="2180" spc="257" dirty="0">
                <a:latin typeface="Times New Roman"/>
                <a:cs typeface="Times New Roman"/>
              </a:rPr>
              <a:t>=</a:t>
            </a:r>
            <a:r>
              <a:rPr sz="2180" spc="70" dirty="0">
                <a:latin typeface="Times New Roman"/>
                <a:cs typeface="Times New Roman"/>
              </a:rPr>
              <a:t> </a:t>
            </a:r>
            <a:r>
              <a:rPr sz="2180" i="1" dirty="0">
                <a:latin typeface="Times New Roman"/>
                <a:cs typeface="Times New Roman"/>
              </a:rPr>
              <a:t>f</a:t>
            </a:r>
            <a:r>
              <a:rPr sz="2180" dirty="0">
                <a:latin typeface="Times New Roman"/>
                <a:cs typeface="Times New Roman"/>
              </a:rPr>
              <a:t>(</a:t>
            </a:r>
            <a:r>
              <a:rPr sz="2180" i="1" dirty="0">
                <a:latin typeface="Times New Roman"/>
                <a:cs typeface="Times New Roman"/>
              </a:rPr>
              <a:t>W</a:t>
            </a:r>
            <a:r>
              <a:rPr sz="2320" baseline="-20202" dirty="0">
                <a:latin typeface="Times New Roman"/>
                <a:cs typeface="Times New Roman"/>
              </a:rPr>
              <a:t>1</a:t>
            </a:r>
            <a:r>
              <a:rPr sz="2180" i="1" dirty="0">
                <a:latin typeface="Times New Roman"/>
                <a:cs typeface="Times New Roman"/>
              </a:rPr>
              <a:t>c</a:t>
            </a:r>
            <a:r>
              <a:rPr sz="2180" i="1" spc="-53" dirty="0">
                <a:latin typeface="Times New Roman"/>
                <a:cs typeface="Times New Roman"/>
              </a:rPr>
              <a:t> </a:t>
            </a:r>
            <a:r>
              <a:rPr sz="2180" spc="257" dirty="0">
                <a:latin typeface="Times New Roman"/>
                <a:cs typeface="Times New Roman"/>
              </a:rPr>
              <a:t>+</a:t>
            </a:r>
            <a:r>
              <a:rPr sz="2180" spc="-56" dirty="0">
                <a:latin typeface="Times New Roman"/>
                <a:cs typeface="Times New Roman"/>
              </a:rPr>
              <a:t> </a:t>
            </a:r>
            <a:r>
              <a:rPr sz="2180" i="1" spc="-18" dirty="0">
                <a:latin typeface="Times New Roman"/>
                <a:cs typeface="Times New Roman"/>
              </a:rPr>
              <a:t>b</a:t>
            </a:r>
            <a:r>
              <a:rPr sz="2320" spc="-26" baseline="-20202" dirty="0">
                <a:latin typeface="Times New Roman"/>
                <a:cs typeface="Times New Roman"/>
              </a:rPr>
              <a:t>1</a:t>
            </a:r>
            <a:r>
              <a:rPr sz="2180" spc="-18" dirty="0">
                <a:latin typeface="Times New Roman"/>
                <a:cs typeface="Times New Roman"/>
              </a:rPr>
              <a:t>)</a:t>
            </a:r>
            <a:endParaRPr sz="2180">
              <a:latin typeface="Times New Roman"/>
              <a:cs typeface="Times New Roman"/>
            </a:endParaRPr>
          </a:p>
          <a:p>
            <a:pPr marL="5726404">
              <a:lnSpc>
                <a:spcPts val="2275"/>
              </a:lnSpc>
            </a:pPr>
            <a:r>
              <a:rPr sz="2180" i="1" spc="-18" dirty="0">
                <a:latin typeface="Times New Roman"/>
                <a:cs typeface="Times New Roman"/>
              </a:rPr>
              <a:t>W</a:t>
            </a:r>
            <a:r>
              <a:rPr sz="2320" spc="-26" baseline="-20202" dirty="0">
                <a:latin typeface="Times New Roman"/>
                <a:cs typeface="Times New Roman"/>
              </a:rPr>
              <a:t>1</a:t>
            </a:r>
            <a:endParaRPr sz="2320" baseline="-20202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23333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1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275358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2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256321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3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237285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4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300768" y="4720955"/>
            <a:ext cx="2666850" cy="892969"/>
          </a:xfrm>
          <a:custGeom>
            <a:avLst/>
            <a:gdLst/>
            <a:ahLst/>
            <a:cxnLst/>
            <a:rect l="l" t="t" r="r" b="b"/>
            <a:pathLst>
              <a:path w="3792854" h="1270000">
                <a:moveTo>
                  <a:pt x="3792722" y="0"/>
                </a:moveTo>
                <a:lnTo>
                  <a:pt x="0" y="0"/>
                </a:lnTo>
                <a:lnTo>
                  <a:pt x="0" y="1269999"/>
                </a:lnTo>
                <a:lnTo>
                  <a:pt x="3792722" y="1269999"/>
                </a:lnTo>
                <a:lnTo>
                  <a:pt x="37927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43597" y="1448520"/>
            <a:ext cx="7943404" cy="3117800"/>
          </a:xfrm>
          <a:custGeom>
            <a:avLst/>
            <a:gdLst/>
            <a:ahLst/>
            <a:cxnLst/>
            <a:rect l="l" t="t" r="r" b="b"/>
            <a:pathLst>
              <a:path w="11297285" h="4434205">
                <a:moveTo>
                  <a:pt x="11296675" y="209207"/>
                </a:moveTo>
                <a:lnTo>
                  <a:pt x="11186109" y="209207"/>
                </a:lnTo>
                <a:lnTo>
                  <a:pt x="11186109" y="0"/>
                </a:lnTo>
                <a:lnTo>
                  <a:pt x="0" y="0"/>
                </a:lnTo>
                <a:lnTo>
                  <a:pt x="0" y="4224858"/>
                </a:lnTo>
                <a:lnTo>
                  <a:pt x="5451233" y="4224858"/>
                </a:lnTo>
                <a:lnTo>
                  <a:pt x="5451233" y="4434065"/>
                </a:lnTo>
                <a:lnTo>
                  <a:pt x="11296675" y="4434065"/>
                </a:lnTo>
                <a:lnTo>
                  <a:pt x="11296675" y="2092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99">
            <a:extLst>
              <a:ext uri="{FF2B5EF4-FFF2-40B4-BE49-F238E27FC236}">
                <a16:creationId xmlns:a16="http://schemas.microsoft.com/office/drawing/2014/main" id="{F77486A6-C42D-402C-9972-5CE0AB1862F4}"/>
              </a:ext>
            </a:extLst>
          </p:cNvPr>
          <p:cNvSpPr txBox="1"/>
          <p:nvPr/>
        </p:nvSpPr>
        <p:spPr>
          <a:xfrm>
            <a:off x="2413974" y="4412922"/>
            <a:ext cx="2768650" cy="713757"/>
          </a:xfrm>
          <a:prstGeom prst="rect">
            <a:avLst/>
          </a:prstGeom>
        </p:spPr>
        <p:txBody>
          <a:bodyPr vert="horz" wrap="square" lIns="0" tIns="36611" rIns="0" bIns="0" rtlCol="0">
            <a:spAutoFit/>
          </a:bodyPr>
          <a:lstStyle/>
          <a:p>
            <a:pPr marL="17859">
              <a:spcBef>
                <a:spcPts val="288"/>
              </a:spcBef>
            </a:pPr>
            <a:r>
              <a:rPr sz="1617" spc="-60" dirty="0">
                <a:solidFill>
                  <a:srgbClr val="0047B6"/>
                </a:solidFill>
                <a:latin typeface="Arial"/>
                <a:cs typeface="Arial"/>
              </a:rPr>
              <a:t>concatenated</a:t>
            </a:r>
            <a:r>
              <a:rPr sz="1617" spc="-70" dirty="0">
                <a:solidFill>
                  <a:srgbClr val="0047B6"/>
                </a:solidFill>
                <a:latin typeface="Arial"/>
                <a:cs typeface="Arial"/>
              </a:rPr>
              <a:t> </a:t>
            </a:r>
            <a:r>
              <a:rPr sz="1617" spc="-14" dirty="0">
                <a:solidFill>
                  <a:srgbClr val="0047B6"/>
                </a:solidFill>
                <a:latin typeface="Arial"/>
                <a:cs typeface="Arial"/>
              </a:rPr>
              <a:t>word</a:t>
            </a:r>
            <a:r>
              <a:rPr sz="1617" spc="-67" dirty="0">
                <a:solidFill>
                  <a:srgbClr val="0047B6"/>
                </a:solidFill>
                <a:latin typeface="Arial"/>
                <a:cs typeface="Arial"/>
              </a:rPr>
              <a:t> </a:t>
            </a:r>
            <a:r>
              <a:rPr sz="1617" spc="-46" dirty="0">
                <a:solidFill>
                  <a:srgbClr val="0047B6"/>
                </a:solidFill>
                <a:latin typeface="Arial"/>
                <a:cs typeface="Arial"/>
              </a:rPr>
              <a:t>embeddings</a:t>
            </a:r>
            <a:endParaRPr sz="1617" dirty="0">
              <a:latin typeface="Arial"/>
              <a:cs typeface="Arial"/>
            </a:endParaRPr>
          </a:p>
          <a:p>
            <a:pPr marL="256273">
              <a:spcBef>
                <a:spcPts val="295"/>
              </a:spcBef>
            </a:pPr>
            <a:r>
              <a:rPr sz="2531" i="1" dirty="0">
                <a:latin typeface="Times New Roman"/>
                <a:cs typeface="Times New Roman"/>
              </a:rPr>
              <a:t>x</a:t>
            </a:r>
            <a:r>
              <a:rPr sz="2531" i="1" spc="98" dirty="0">
                <a:latin typeface="Times New Roman"/>
                <a:cs typeface="Times New Roman"/>
              </a:rPr>
              <a:t> </a:t>
            </a:r>
            <a:r>
              <a:rPr sz="2531" spc="299" dirty="0">
                <a:latin typeface="Times New Roman"/>
                <a:cs typeface="Times New Roman"/>
              </a:rPr>
              <a:t>=</a:t>
            </a:r>
            <a:r>
              <a:rPr sz="2531" spc="84" dirty="0">
                <a:latin typeface="Times New Roman"/>
                <a:cs typeface="Times New Roman"/>
              </a:rPr>
              <a:t> </a:t>
            </a:r>
            <a:r>
              <a:rPr sz="2531" spc="-28" dirty="0">
                <a:latin typeface="Times New Roman"/>
                <a:cs typeface="Times New Roman"/>
              </a:rPr>
              <a:t>[</a:t>
            </a:r>
            <a:r>
              <a:rPr sz="2531" i="1" spc="-28" dirty="0">
                <a:latin typeface="Times New Roman"/>
                <a:cs typeface="Times New Roman"/>
              </a:rPr>
              <a:t>c</a:t>
            </a:r>
            <a:r>
              <a:rPr sz="2689" spc="-42" baseline="-19607" dirty="0">
                <a:latin typeface="Times New Roman"/>
                <a:cs typeface="Times New Roman"/>
              </a:rPr>
              <a:t>1</a:t>
            </a:r>
            <a:r>
              <a:rPr sz="2531" spc="-28" dirty="0">
                <a:latin typeface="Times New Roman"/>
                <a:cs typeface="Times New Roman"/>
              </a:rPr>
              <a:t>;</a:t>
            </a:r>
            <a:r>
              <a:rPr sz="2531" spc="-204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2</a:t>
            </a:r>
            <a:r>
              <a:rPr sz="2531" spc="-35" dirty="0">
                <a:latin typeface="Times New Roman"/>
                <a:cs typeface="Times New Roman"/>
              </a:rPr>
              <a:t>;</a:t>
            </a:r>
            <a:r>
              <a:rPr sz="2531" spc="-200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3</a:t>
            </a:r>
            <a:r>
              <a:rPr sz="2531" spc="-35" dirty="0">
                <a:latin typeface="Times New Roman"/>
                <a:cs typeface="Times New Roman"/>
              </a:rPr>
              <a:t>;</a:t>
            </a:r>
            <a:r>
              <a:rPr sz="2531" spc="-204" dirty="0">
                <a:latin typeface="Times New Roman"/>
                <a:cs typeface="Times New Roman"/>
              </a:rPr>
              <a:t> </a:t>
            </a: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4</a:t>
            </a:r>
            <a:r>
              <a:rPr sz="2531" spc="-18" dirty="0">
                <a:latin typeface="Times New Roman"/>
                <a:cs typeface="Times New Roman"/>
              </a:rPr>
              <a:t>]</a:t>
            </a:r>
            <a:endParaRPr sz="253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ontent Placeholder 104">
            <a:extLst>
              <a:ext uri="{FF2B5EF4-FFF2-40B4-BE49-F238E27FC236}">
                <a16:creationId xmlns:a16="http://schemas.microsoft.com/office/drawing/2014/main" id="{55B31C62-A545-4366-BE8D-532A96191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937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 fixed-window neural Language Model</a:t>
            </a:r>
          </a:p>
        </p:txBody>
      </p:sp>
      <p:sp>
        <p:nvSpPr>
          <p:cNvPr id="103" name="Slide Number Placeholder 102">
            <a:extLst>
              <a:ext uri="{FF2B5EF4-FFF2-40B4-BE49-F238E27FC236}">
                <a16:creationId xmlns:a16="http://schemas.microsoft.com/office/drawing/2014/main" id="{BBA003CB-5BAD-4FA8-B626-1E3A911A7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335017" y="5608047"/>
            <a:ext cx="1462236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  <a:tabLst>
                <a:tab pos="733548" algn="l"/>
              </a:tabLst>
            </a:pPr>
            <a:r>
              <a:rPr sz="1617" i="1" spc="-18" dirty="0">
                <a:latin typeface="Arial"/>
                <a:cs typeface="Arial"/>
              </a:rPr>
              <a:t>the</a:t>
            </a:r>
            <a:r>
              <a:rPr sz="1617" i="1" dirty="0">
                <a:latin typeface="Arial"/>
                <a:cs typeface="Arial"/>
              </a:rPr>
              <a:t>	</a:t>
            </a:r>
            <a:r>
              <a:rPr sz="1617" i="1" spc="-56" dirty="0">
                <a:latin typeface="Arial"/>
                <a:cs typeface="Arial"/>
              </a:rPr>
              <a:t>students</a:t>
            </a:r>
            <a:endParaRPr sz="161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0099" y="5608047"/>
            <a:ext cx="647402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i="1" spc="-74" dirty="0">
                <a:latin typeface="Arial"/>
                <a:cs typeface="Arial"/>
              </a:rPr>
              <a:t>opened</a:t>
            </a:r>
            <a:endParaRPr sz="161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08640" y="5608047"/>
            <a:ext cx="414784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i="1" spc="-7" dirty="0">
                <a:latin typeface="Arial"/>
                <a:cs typeface="Arial"/>
              </a:rPr>
              <a:t>their</a:t>
            </a:r>
            <a:endParaRPr sz="1617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19790" y="1726303"/>
            <a:ext cx="7666583" cy="3860750"/>
            <a:chOff x="989567" y="2455186"/>
            <a:chExt cx="10903585" cy="5490845"/>
          </a:xfrm>
        </p:grpSpPr>
        <p:sp>
          <p:nvSpPr>
            <p:cNvPr id="7" name="object 7"/>
            <p:cNvSpPr/>
            <p:nvPr/>
          </p:nvSpPr>
          <p:spPr>
            <a:xfrm>
              <a:off x="8349747" y="2455186"/>
              <a:ext cx="99060" cy="375920"/>
            </a:xfrm>
            <a:custGeom>
              <a:avLst/>
              <a:gdLst/>
              <a:ahLst/>
              <a:cxnLst/>
              <a:rect l="l" t="t" r="r" b="b"/>
              <a:pathLst>
                <a:path w="99059" h="375919">
                  <a:moveTo>
                    <a:pt x="55250" y="0"/>
                  </a:moveTo>
                  <a:lnTo>
                    <a:pt x="42875" y="20"/>
                  </a:lnTo>
                  <a:lnTo>
                    <a:pt x="43312" y="276404"/>
                  </a:lnTo>
                  <a:lnTo>
                    <a:pt x="0" y="276473"/>
                  </a:lnTo>
                  <a:lnTo>
                    <a:pt x="49655" y="375394"/>
                  </a:lnTo>
                  <a:lnTo>
                    <a:pt x="98999" y="276317"/>
                  </a:lnTo>
                  <a:lnTo>
                    <a:pt x="55686" y="276386"/>
                  </a:lnTo>
                  <a:lnTo>
                    <a:pt x="55250" y="0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69198" y="3741772"/>
              <a:ext cx="2728595" cy="12700"/>
            </a:xfrm>
            <a:custGeom>
              <a:avLst/>
              <a:gdLst/>
              <a:ahLst/>
              <a:cxnLst/>
              <a:rect l="l" t="t" r="r" b="b"/>
              <a:pathLst>
                <a:path w="2728595" h="12700">
                  <a:moveTo>
                    <a:pt x="0" y="0"/>
                  </a:moveTo>
                  <a:lnTo>
                    <a:pt x="437193" y="0"/>
                  </a:lnTo>
                </a:path>
                <a:path w="2728595" h="12700">
                  <a:moveTo>
                    <a:pt x="2477149" y="0"/>
                  </a:moveTo>
                  <a:lnTo>
                    <a:pt x="2728316" y="0"/>
                  </a:lnTo>
                </a:path>
                <a:path w="2728595" h="12700">
                  <a:moveTo>
                    <a:pt x="0" y="12375"/>
                  </a:moveTo>
                  <a:lnTo>
                    <a:pt x="2728316" y="12375"/>
                  </a:lnTo>
                </a:path>
              </a:pathLst>
            </a:custGeom>
            <a:ln w="11262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20997" y="3633728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186026" y="0"/>
                  </a:moveTo>
                  <a:lnTo>
                    <a:pt x="0" y="0"/>
                  </a:lnTo>
                  <a:lnTo>
                    <a:pt x="0" y="113675"/>
                  </a:lnTo>
                  <a:lnTo>
                    <a:pt x="186026" y="113675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20997" y="3633727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0" y="0"/>
                  </a:moveTo>
                  <a:lnTo>
                    <a:pt x="186026" y="0"/>
                  </a:lnTo>
                  <a:lnTo>
                    <a:pt x="186026" y="113675"/>
                  </a:lnTo>
                  <a:lnTo>
                    <a:pt x="0" y="113675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06391" y="2830582"/>
              <a:ext cx="186055" cy="916940"/>
            </a:xfrm>
            <a:custGeom>
              <a:avLst/>
              <a:gdLst/>
              <a:ahLst/>
              <a:cxnLst/>
              <a:rect l="l" t="t" r="r" b="b"/>
              <a:pathLst>
                <a:path w="186054" h="916939">
                  <a:moveTo>
                    <a:pt x="186026" y="0"/>
                  </a:moveTo>
                  <a:lnTo>
                    <a:pt x="0" y="0"/>
                  </a:lnTo>
                  <a:lnTo>
                    <a:pt x="0" y="916821"/>
                  </a:lnTo>
                  <a:lnTo>
                    <a:pt x="186026" y="916821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06391" y="2830580"/>
              <a:ext cx="186055" cy="916940"/>
            </a:xfrm>
            <a:custGeom>
              <a:avLst/>
              <a:gdLst/>
              <a:ahLst/>
              <a:cxnLst/>
              <a:rect l="l" t="t" r="r" b="b"/>
              <a:pathLst>
                <a:path w="186054" h="916939">
                  <a:moveTo>
                    <a:pt x="0" y="0"/>
                  </a:moveTo>
                  <a:lnTo>
                    <a:pt x="186026" y="0"/>
                  </a:lnTo>
                  <a:lnTo>
                    <a:pt x="186026" y="916821"/>
                  </a:lnTo>
                  <a:lnTo>
                    <a:pt x="0" y="916821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91782" y="3510354"/>
              <a:ext cx="186055" cy="237490"/>
            </a:xfrm>
            <a:custGeom>
              <a:avLst/>
              <a:gdLst/>
              <a:ahLst/>
              <a:cxnLst/>
              <a:rect l="l" t="t" r="r" b="b"/>
              <a:pathLst>
                <a:path w="186054" h="237489">
                  <a:moveTo>
                    <a:pt x="186026" y="0"/>
                  </a:moveTo>
                  <a:lnTo>
                    <a:pt x="0" y="0"/>
                  </a:lnTo>
                  <a:lnTo>
                    <a:pt x="0" y="237047"/>
                  </a:lnTo>
                  <a:lnTo>
                    <a:pt x="186026" y="237047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91782" y="3510354"/>
              <a:ext cx="186055" cy="237490"/>
            </a:xfrm>
            <a:custGeom>
              <a:avLst/>
              <a:gdLst/>
              <a:ahLst/>
              <a:cxnLst/>
              <a:rect l="l" t="t" r="r" b="b"/>
              <a:pathLst>
                <a:path w="186054" h="237489">
                  <a:moveTo>
                    <a:pt x="0" y="0"/>
                  </a:moveTo>
                  <a:lnTo>
                    <a:pt x="186026" y="0"/>
                  </a:lnTo>
                  <a:lnTo>
                    <a:pt x="186026" y="237047"/>
                  </a:lnTo>
                  <a:lnTo>
                    <a:pt x="0" y="237047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77177" y="3369712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186026" y="0"/>
                  </a:moveTo>
                  <a:lnTo>
                    <a:pt x="0" y="0"/>
                  </a:lnTo>
                  <a:lnTo>
                    <a:pt x="0" y="377689"/>
                  </a:lnTo>
                  <a:lnTo>
                    <a:pt x="186026" y="377689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77177" y="3369712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0" y="0"/>
                  </a:moveTo>
                  <a:lnTo>
                    <a:pt x="186026" y="0"/>
                  </a:lnTo>
                  <a:lnTo>
                    <a:pt x="186026" y="377689"/>
                  </a:lnTo>
                  <a:lnTo>
                    <a:pt x="0" y="377689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62570" y="3633728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186026" y="0"/>
                  </a:moveTo>
                  <a:lnTo>
                    <a:pt x="0" y="0"/>
                  </a:lnTo>
                  <a:lnTo>
                    <a:pt x="0" y="113675"/>
                  </a:lnTo>
                  <a:lnTo>
                    <a:pt x="186026" y="113675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862570" y="3633727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0" y="0"/>
                  </a:moveTo>
                  <a:lnTo>
                    <a:pt x="186026" y="0"/>
                  </a:lnTo>
                  <a:lnTo>
                    <a:pt x="186026" y="113675"/>
                  </a:lnTo>
                  <a:lnTo>
                    <a:pt x="0" y="113675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47964" y="3338762"/>
              <a:ext cx="186055" cy="408940"/>
            </a:xfrm>
            <a:custGeom>
              <a:avLst/>
              <a:gdLst/>
              <a:ahLst/>
              <a:cxnLst/>
              <a:rect l="l" t="t" r="r" b="b"/>
              <a:pathLst>
                <a:path w="186054" h="408939">
                  <a:moveTo>
                    <a:pt x="186026" y="0"/>
                  </a:moveTo>
                  <a:lnTo>
                    <a:pt x="0" y="0"/>
                  </a:lnTo>
                  <a:lnTo>
                    <a:pt x="0" y="408639"/>
                  </a:lnTo>
                  <a:lnTo>
                    <a:pt x="186026" y="408639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47964" y="3338762"/>
              <a:ext cx="186055" cy="408940"/>
            </a:xfrm>
            <a:custGeom>
              <a:avLst/>
              <a:gdLst/>
              <a:ahLst/>
              <a:cxnLst/>
              <a:rect l="l" t="t" r="r" b="b"/>
              <a:pathLst>
                <a:path w="186054" h="408939">
                  <a:moveTo>
                    <a:pt x="0" y="0"/>
                  </a:moveTo>
                  <a:lnTo>
                    <a:pt x="186026" y="0"/>
                  </a:lnTo>
                  <a:lnTo>
                    <a:pt x="186026" y="408639"/>
                  </a:lnTo>
                  <a:lnTo>
                    <a:pt x="0" y="408639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33358" y="3369713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186026" y="0"/>
                  </a:moveTo>
                  <a:lnTo>
                    <a:pt x="0" y="0"/>
                  </a:lnTo>
                  <a:lnTo>
                    <a:pt x="0" y="377690"/>
                  </a:lnTo>
                  <a:lnTo>
                    <a:pt x="186026" y="377690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33358" y="3369712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0" y="0"/>
                  </a:moveTo>
                  <a:lnTo>
                    <a:pt x="186026" y="0"/>
                  </a:lnTo>
                  <a:lnTo>
                    <a:pt x="186026" y="377690"/>
                  </a:lnTo>
                  <a:lnTo>
                    <a:pt x="0" y="377690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462266" y="2761435"/>
              <a:ext cx="99060" cy="297815"/>
            </a:xfrm>
            <a:custGeom>
              <a:avLst/>
              <a:gdLst/>
              <a:ahLst/>
              <a:cxnLst/>
              <a:rect l="l" t="t" r="r" b="b"/>
              <a:pathLst>
                <a:path w="99059" h="297814">
                  <a:moveTo>
                    <a:pt x="55685" y="0"/>
                  </a:moveTo>
                  <a:lnTo>
                    <a:pt x="43310" y="0"/>
                  </a:lnTo>
                  <a:lnTo>
                    <a:pt x="43312" y="198784"/>
                  </a:lnTo>
                  <a:lnTo>
                    <a:pt x="0" y="198784"/>
                  </a:lnTo>
                  <a:lnTo>
                    <a:pt x="49499" y="297783"/>
                  </a:lnTo>
                  <a:lnTo>
                    <a:pt x="98999" y="198784"/>
                  </a:lnTo>
                  <a:lnTo>
                    <a:pt x="55686" y="198784"/>
                  </a:lnTo>
                  <a:lnTo>
                    <a:pt x="55685" y="0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418750" y="3059220"/>
              <a:ext cx="186055" cy="688340"/>
            </a:xfrm>
            <a:custGeom>
              <a:avLst/>
              <a:gdLst/>
              <a:ahLst/>
              <a:cxnLst/>
              <a:rect l="l" t="t" r="r" b="b"/>
              <a:pathLst>
                <a:path w="186054" h="688339">
                  <a:moveTo>
                    <a:pt x="186026" y="0"/>
                  </a:moveTo>
                  <a:lnTo>
                    <a:pt x="0" y="0"/>
                  </a:lnTo>
                  <a:lnTo>
                    <a:pt x="0" y="688183"/>
                  </a:lnTo>
                  <a:lnTo>
                    <a:pt x="186026" y="688183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418750" y="3059219"/>
              <a:ext cx="186055" cy="688340"/>
            </a:xfrm>
            <a:custGeom>
              <a:avLst/>
              <a:gdLst/>
              <a:ahLst/>
              <a:cxnLst/>
              <a:rect l="l" t="t" r="r" b="b"/>
              <a:pathLst>
                <a:path w="186054" h="688339">
                  <a:moveTo>
                    <a:pt x="0" y="0"/>
                  </a:moveTo>
                  <a:lnTo>
                    <a:pt x="186026" y="0"/>
                  </a:lnTo>
                  <a:lnTo>
                    <a:pt x="186026" y="688183"/>
                  </a:lnTo>
                  <a:lnTo>
                    <a:pt x="0" y="688183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604145" y="3575543"/>
              <a:ext cx="186055" cy="172085"/>
            </a:xfrm>
            <a:custGeom>
              <a:avLst/>
              <a:gdLst/>
              <a:ahLst/>
              <a:cxnLst/>
              <a:rect l="l" t="t" r="r" b="b"/>
              <a:pathLst>
                <a:path w="186054" h="172085">
                  <a:moveTo>
                    <a:pt x="186026" y="0"/>
                  </a:moveTo>
                  <a:lnTo>
                    <a:pt x="0" y="0"/>
                  </a:lnTo>
                  <a:lnTo>
                    <a:pt x="0" y="171858"/>
                  </a:lnTo>
                  <a:lnTo>
                    <a:pt x="186026" y="171858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604145" y="3575543"/>
              <a:ext cx="186055" cy="172085"/>
            </a:xfrm>
            <a:custGeom>
              <a:avLst/>
              <a:gdLst/>
              <a:ahLst/>
              <a:cxnLst/>
              <a:rect l="l" t="t" r="r" b="b"/>
              <a:pathLst>
                <a:path w="186054" h="172085">
                  <a:moveTo>
                    <a:pt x="0" y="0"/>
                  </a:moveTo>
                  <a:lnTo>
                    <a:pt x="186026" y="0"/>
                  </a:lnTo>
                  <a:lnTo>
                    <a:pt x="186026" y="171858"/>
                  </a:lnTo>
                  <a:lnTo>
                    <a:pt x="0" y="171858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789536" y="3438022"/>
              <a:ext cx="186055" cy="309880"/>
            </a:xfrm>
            <a:custGeom>
              <a:avLst/>
              <a:gdLst/>
              <a:ahLst/>
              <a:cxnLst/>
              <a:rect l="l" t="t" r="r" b="b"/>
              <a:pathLst>
                <a:path w="186054" h="309879">
                  <a:moveTo>
                    <a:pt x="186026" y="0"/>
                  </a:moveTo>
                  <a:lnTo>
                    <a:pt x="0" y="0"/>
                  </a:lnTo>
                  <a:lnTo>
                    <a:pt x="0" y="309379"/>
                  </a:lnTo>
                  <a:lnTo>
                    <a:pt x="186026" y="309379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789536" y="3438023"/>
              <a:ext cx="186055" cy="309880"/>
            </a:xfrm>
            <a:custGeom>
              <a:avLst/>
              <a:gdLst/>
              <a:ahLst/>
              <a:cxnLst/>
              <a:rect l="l" t="t" r="r" b="b"/>
              <a:pathLst>
                <a:path w="186054" h="309879">
                  <a:moveTo>
                    <a:pt x="0" y="0"/>
                  </a:moveTo>
                  <a:lnTo>
                    <a:pt x="186026" y="0"/>
                  </a:lnTo>
                  <a:lnTo>
                    <a:pt x="186026" y="309379"/>
                  </a:lnTo>
                  <a:lnTo>
                    <a:pt x="0" y="309379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974930" y="3329665"/>
              <a:ext cx="186055" cy="417830"/>
            </a:xfrm>
            <a:custGeom>
              <a:avLst/>
              <a:gdLst/>
              <a:ahLst/>
              <a:cxnLst/>
              <a:rect l="l" t="t" r="r" b="b"/>
              <a:pathLst>
                <a:path w="186054" h="417829">
                  <a:moveTo>
                    <a:pt x="186026" y="0"/>
                  </a:moveTo>
                  <a:lnTo>
                    <a:pt x="0" y="0"/>
                  </a:lnTo>
                  <a:lnTo>
                    <a:pt x="0" y="417736"/>
                  </a:lnTo>
                  <a:lnTo>
                    <a:pt x="186026" y="417736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974930" y="3329665"/>
              <a:ext cx="186055" cy="417830"/>
            </a:xfrm>
            <a:custGeom>
              <a:avLst/>
              <a:gdLst/>
              <a:ahLst/>
              <a:cxnLst/>
              <a:rect l="l" t="t" r="r" b="b"/>
              <a:pathLst>
                <a:path w="186054" h="417829">
                  <a:moveTo>
                    <a:pt x="0" y="0"/>
                  </a:moveTo>
                  <a:lnTo>
                    <a:pt x="186026" y="0"/>
                  </a:lnTo>
                  <a:lnTo>
                    <a:pt x="186026" y="417736"/>
                  </a:lnTo>
                  <a:lnTo>
                    <a:pt x="0" y="417736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160321" y="3674761"/>
              <a:ext cx="186055" cy="73025"/>
            </a:xfrm>
            <a:custGeom>
              <a:avLst/>
              <a:gdLst/>
              <a:ahLst/>
              <a:cxnLst/>
              <a:rect l="l" t="t" r="r" b="b"/>
              <a:pathLst>
                <a:path w="186054" h="73025">
                  <a:moveTo>
                    <a:pt x="186026" y="0"/>
                  </a:moveTo>
                  <a:lnTo>
                    <a:pt x="0" y="0"/>
                  </a:lnTo>
                  <a:lnTo>
                    <a:pt x="0" y="72640"/>
                  </a:lnTo>
                  <a:lnTo>
                    <a:pt x="186026" y="72640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160321" y="3674762"/>
              <a:ext cx="186055" cy="73025"/>
            </a:xfrm>
            <a:custGeom>
              <a:avLst/>
              <a:gdLst/>
              <a:ahLst/>
              <a:cxnLst/>
              <a:rect l="l" t="t" r="r" b="b"/>
              <a:pathLst>
                <a:path w="186054" h="73025">
                  <a:moveTo>
                    <a:pt x="0" y="0"/>
                  </a:moveTo>
                  <a:lnTo>
                    <a:pt x="186026" y="0"/>
                  </a:lnTo>
                  <a:lnTo>
                    <a:pt x="186026" y="72640"/>
                  </a:lnTo>
                  <a:lnTo>
                    <a:pt x="0" y="72640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5320" y="6640593"/>
              <a:ext cx="204228" cy="21482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537" y="6640593"/>
              <a:ext cx="204228" cy="21482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3755" y="6640593"/>
              <a:ext cx="204228" cy="21482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2969" y="6640593"/>
              <a:ext cx="204228" cy="21482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430586" y="6517536"/>
              <a:ext cx="5450205" cy="475615"/>
            </a:xfrm>
            <a:custGeom>
              <a:avLst/>
              <a:gdLst/>
              <a:ahLst/>
              <a:cxnLst/>
              <a:rect l="l" t="t" r="r" b="b"/>
              <a:pathLst>
                <a:path w="5450205" h="475615">
                  <a:moveTo>
                    <a:pt x="0" y="79202"/>
                  </a:moveTo>
                  <a:lnTo>
                    <a:pt x="6224" y="48373"/>
                  </a:lnTo>
                  <a:lnTo>
                    <a:pt x="23197" y="23197"/>
                  </a:lnTo>
                  <a:lnTo>
                    <a:pt x="48372" y="6224"/>
                  </a:lnTo>
                  <a:lnTo>
                    <a:pt x="79201" y="0"/>
                  </a:lnTo>
                  <a:lnTo>
                    <a:pt x="5370587" y="0"/>
                  </a:lnTo>
                  <a:lnTo>
                    <a:pt x="5401416" y="6224"/>
                  </a:lnTo>
                  <a:lnTo>
                    <a:pt x="5426592" y="23197"/>
                  </a:lnTo>
                  <a:lnTo>
                    <a:pt x="5443565" y="48373"/>
                  </a:lnTo>
                  <a:lnTo>
                    <a:pt x="5449789" y="79202"/>
                  </a:lnTo>
                  <a:lnTo>
                    <a:pt x="5449789" y="395996"/>
                  </a:lnTo>
                  <a:lnTo>
                    <a:pt x="5443565" y="426825"/>
                  </a:lnTo>
                  <a:lnTo>
                    <a:pt x="5426592" y="452001"/>
                  </a:lnTo>
                  <a:lnTo>
                    <a:pt x="5401416" y="468974"/>
                  </a:lnTo>
                  <a:lnTo>
                    <a:pt x="5370587" y="475199"/>
                  </a:lnTo>
                  <a:lnTo>
                    <a:pt x="79201" y="475199"/>
                  </a:lnTo>
                  <a:lnTo>
                    <a:pt x="48372" y="468974"/>
                  </a:lnTo>
                  <a:lnTo>
                    <a:pt x="23197" y="452001"/>
                  </a:lnTo>
                  <a:lnTo>
                    <a:pt x="6224" y="426825"/>
                  </a:lnTo>
                  <a:lnTo>
                    <a:pt x="0" y="395996"/>
                  </a:lnTo>
                  <a:lnTo>
                    <a:pt x="0" y="79202"/>
                  </a:lnTo>
                  <a:close/>
                </a:path>
              </a:pathLst>
            </a:custGeom>
            <a:ln w="24749">
              <a:solidFill>
                <a:srgbClr val="0047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4961" y="6640593"/>
              <a:ext cx="204228" cy="21482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4178" y="6640593"/>
              <a:ext cx="204228" cy="21482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3395" y="6640593"/>
              <a:ext cx="204228" cy="21482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2610" y="6640593"/>
              <a:ext cx="204228" cy="21482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19910" y="6639557"/>
              <a:ext cx="204228" cy="21482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9127" y="6639557"/>
              <a:ext cx="204228" cy="21482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8343" y="6639557"/>
              <a:ext cx="204228" cy="21482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27558" y="6639557"/>
              <a:ext cx="204228" cy="21482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13984" y="6639560"/>
              <a:ext cx="204228" cy="21482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83201" y="6639560"/>
              <a:ext cx="204228" cy="21482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52418" y="6639560"/>
              <a:ext cx="204228" cy="21482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21632" y="6639560"/>
              <a:ext cx="204228" cy="214828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980111" y="6992683"/>
              <a:ext cx="4303395" cy="953135"/>
            </a:xfrm>
            <a:custGeom>
              <a:avLst/>
              <a:gdLst/>
              <a:ahLst/>
              <a:cxnLst/>
              <a:rect l="l" t="t" r="r" b="b"/>
              <a:pathLst>
                <a:path w="4303395" h="953134">
                  <a:moveTo>
                    <a:pt x="143764" y="123228"/>
                  </a:moveTo>
                  <a:lnTo>
                    <a:pt x="71882" y="0"/>
                  </a:lnTo>
                  <a:lnTo>
                    <a:pt x="0" y="123228"/>
                  </a:lnTo>
                  <a:lnTo>
                    <a:pt x="1993" y="130810"/>
                  </a:lnTo>
                  <a:lnTo>
                    <a:pt x="13804" y="137693"/>
                  </a:lnTo>
                  <a:lnTo>
                    <a:pt x="21386" y="135699"/>
                  </a:lnTo>
                  <a:lnTo>
                    <a:pt x="59512" y="70332"/>
                  </a:lnTo>
                  <a:lnTo>
                    <a:pt x="59512" y="953008"/>
                  </a:lnTo>
                  <a:lnTo>
                    <a:pt x="84264" y="953008"/>
                  </a:lnTo>
                  <a:lnTo>
                    <a:pt x="84264" y="70332"/>
                  </a:lnTo>
                  <a:lnTo>
                    <a:pt x="122389" y="135699"/>
                  </a:lnTo>
                  <a:lnTo>
                    <a:pt x="129971" y="137693"/>
                  </a:lnTo>
                  <a:lnTo>
                    <a:pt x="141782" y="130810"/>
                  </a:lnTo>
                  <a:lnTo>
                    <a:pt x="143764" y="123228"/>
                  </a:lnTo>
                  <a:close/>
                </a:path>
                <a:path w="4303395" h="953134">
                  <a:moveTo>
                    <a:pt x="1489125" y="123228"/>
                  </a:moveTo>
                  <a:lnTo>
                    <a:pt x="1417243" y="0"/>
                  </a:lnTo>
                  <a:lnTo>
                    <a:pt x="1345361" y="123228"/>
                  </a:lnTo>
                  <a:lnTo>
                    <a:pt x="1347355" y="130810"/>
                  </a:lnTo>
                  <a:lnTo>
                    <a:pt x="1359154" y="137693"/>
                  </a:lnTo>
                  <a:lnTo>
                    <a:pt x="1366735" y="135699"/>
                  </a:lnTo>
                  <a:lnTo>
                    <a:pt x="1404861" y="70332"/>
                  </a:lnTo>
                  <a:lnTo>
                    <a:pt x="1404861" y="953008"/>
                  </a:lnTo>
                  <a:lnTo>
                    <a:pt x="1429613" y="953008"/>
                  </a:lnTo>
                  <a:lnTo>
                    <a:pt x="1429613" y="70332"/>
                  </a:lnTo>
                  <a:lnTo>
                    <a:pt x="1467751" y="135699"/>
                  </a:lnTo>
                  <a:lnTo>
                    <a:pt x="1475320" y="137693"/>
                  </a:lnTo>
                  <a:lnTo>
                    <a:pt x="1487131" y="130810"/>
                  </a:lnTo>
                  <a:lnTo>
                    <a:pt x="1489125" y="123228"/>
                  </a:lnTo>
                  <a:close/>
                </a:path>
                <a:path w="4303395" h="953134">
                  <a:moveTo>
                    <a:pt x="2933357" y="123228"/>
                  </a:moveTo>
                  <a:lnTo>
                    <a:pt x="2861475" y="0"/>
                  </a:lnTo>
                  <a:lnTo>
                    <a:pt x="2789593" y="123228"/>
                  </a:lnTo>
                  <a:lnTo>
                    <a:pt x="2791587" y="130810"/>
                  </a:lnTo>
                  <a:lnTo>
                    <a:pt x="2803398" y="137693"/>
                  </a:lnTo>
                  <a:lnTo>
                    <a:pt x="2810967" y="135699"/>
                  </a:lnTo>
                  <a:lnTo>
                    <a:pt x="2849105" y="70332"/>
                  </a:lnTo>
                  <a:lnTo>
                    <a:pt x="2849105" y="953008"/>
                  </a:lnTo>
                  <a:lnTo>
                    <a:pt x="2873845" y="953008"/>
                  </a:lnTo>
                  <a:lnTo>
                    <a:pt x="2873845" y="70332"/>
                  </a:lnTo>
                  <a:lnTo>
                    <a:pt x="2911983" y="135699"/>
                  </a:lnTo>
                  <a:lnTo>
                    <a:pt x="2919552" y="137693"/>
                  </a:lnTo>
                  <a:lnTo>
                    <a:pt x="2931363" y="130810"/>
                  </a:lnTo>
                  <a:lnTo>
                    <a:pt x="2933357" y="123228"/>
                  </a:lnTo>
                  <a:close/>
                </a:path>
                <a:path w="4303395" h="953134">
                  <a:moveTo>
                    <a:pt x="4303280" y="123228"/>
                  </a:moveTo>
                  <a:lnTo>
                    <a:pt x="4231398" y="0"/>
                  </a:lnTo>
                  <a:lnTo>
                    <a:pt x="4159516" y="123228"/>
                  </a:lnTo>
                  <a:lnTo>
                    <a:pt x="4161510" y="130810"/>
                  </a:lnTo>
                  <a:lnTo>
                    <a:pt x="4173309" y="137693"/>
                  </a:lnTo>
                  <a:lnTo>
                    <a:pt x="4180890" y="135699"/>
                  </a:lnTo>
                  <a:lnTo>
                    <a:pt x="4219016" y="70332"/>
                  </a:lnTo>
                  <a:lnTo>
                    <a:pt x="4219016" y="953008"/>
                  </a:lnTo>
                  <a:lnTo>
                    <a:pt x="4243768" y="953008"/>
                  </a:lnTo>
                  <a:lnTo>
                    <a:pt x="4243768" y="70332"/>
                  </a:lnTo>
                  <a:lnTo>
                    <a:pt x="4281906" y="135699"/>
                  </a:lnTo>
                  <a:lnTo>
                    <a:pt x="4289476" y="137693"/>
                  </a:lnTo>
                  <a:lnTo>
                    <a:pt x="4301287" y="130810"/>
                  </a:lnTo>
                  <a:lnTo>
                    <a:pt x="4303280" y="1232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086080" y="5524776"/>
              <a:ext cx="144145" cy="993140"/>
            </a:xfrm>
            <a:custGeom>
              <a:avLst/>
              <a:gdLst/>
              <a:ahLst/>
              <a:cxnLst/>
              <a:rect l="l" t="t" r="r" b="b"/>
              <a:pathLst>
                <a:path w="144145" h="993140">
                  <a:moveTo>
                    <a:pt x="72233" y="0"/>
                  </a:moveTo>
                  <a:lnTo>
                    <a:pt x="0" y="123022"/>
                  </a:lnTo>
                  <a:lnTo>
                    <a:pt x="1972" y="130605"/>
                  </a:lnTo>
                  <a:lnTo>
                    <a:pt x="13759" y="137525"/>
                  </a:lnTo>
                  <a:lnTo>
                    <a:pt x="21343" y="135554"/>
                  </a:lnTo>
                  <a:lnTo>
                    <a:pt x="59658" y="70298"/>
                  </a:lnTo>
                  <a:lnTo>
                    <a:pt x="57028" y="992725"/>
                  </a:lnTo>
                  <a:lnTo>
                    <a:pt x="81777" y="992795"/>
                  </a:lnTo>
                  <a:lnTo>
                    <a:pt x="84408" y="70369"/>
                  </a:lnTo>
                  <a:lnTo>
                    <a:pt x="122350" y="135843"/>
                  </a:lnTo>
                  <a:lnTo>
                    <a:pt x="129922" y="137857"/>
                  </a:lnTo>
                  <a:lnTo>
                    <a:pt x="141749" y="131003"/>
                  </a:lnTo>
                  <a:lnTo>
                    <a:pt x="143765" y="123433"/>
                  </a:lnTo>
                  <a:lnTo>
                    <a:pt x="72233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69817" y="5172690"/>
              <a:ext cx="204228" cy="21482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38950" y="5172690"/>
              <a:ext cx="204228" cy="21482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08081" y="5172690"/>
              <a:ext cx="204228" cy="21482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77212" y="5172690"/>
              <a:ext cx="204228" cy="214828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7455085" y="5049635"/>
              <a:ext cx="3406775" cy="475615"/>
            </a:xfrm>
            <a:custGeom>
              <a:avLst/>
              <a:gdLst/>
              <a:ahLst/>
              <a:cxnLst/>
              <a:rect l="l" t="t" r="r" b="b"/>
              <a:pathLst>
                <a:path w="3406775" h="475614">
                  <a:moveTo>
                    <a:pt x="0" y="79201"/>
                  </a:moveTo>
                  <a:lnTo>
                    <a:pt x="6224" y="48372"/>
                  </a:lnTo>
                  <a:lnTo>
                    <a:pt x="23197" y="23197"/>
                  </a:lnTo>
                  <a:lnTo>
                    <a:pt x="48372" y="6224"/>
                  </a:lnTo>
                  <a:lnTo>
                    <a:pt x="79200" y="0"/>
                  </a:lnTo>
                  <a:lnTo>
                    <a:pt x="3327257" y="0"/>
                  </a:lnTo>
                  <a:lnTo>
                    <a:pt x="3358086" y="6224"/>
                  </a:lnTo>
                  <a:lnTo>
                    <a:pt x="3383261" y="23197"/>
                  </a:lnTo>
                  <a:lnTo>
                    <a:pt x="3400234" y="48372"/>
                  </a:lnTo>
                  <a:lnTo>
                    <a:pt x="3406458" y="79201"/>
                  </a:lnTo>
                  <a:lnTo>
                    <a:pt x="3406458" y="395998"/>
                  </a:lnTo>
                  <a:lnTo>
                    <a:pt x="3400234" y="426826"/>
                  </a:lnTo>
                  <a:lnTo>
                    <a:pt x="3383261" y="452001"/>
                  </a:lnTo>
                  <a:lnTo>
                    <a:pt x="3358086" y="468975"/>
                  </a:lnTo>
                  <a:lnTo>
                    <a:pt x="3327257" y="475199"/>
                  </a:lnTo>
                  <a:lnTo>
                    <a:pt x="79200" y="475199"/>
                  </a:lnTo>
                  <a:lnTo>
                    <a:pt x="48372" y="468975"/>
                  </a:lnTo>
                  <a:lnTo>
                    <a:pt x="23197" y="452001"/>
                  </a:lnTo>
                  <a:lnTo>
                    <a:pt x="6224" y="426826"/>
                  </a:lnTo>
                  <a:lnTo>
                    <a:pt x="0" y="395998"/>
                  </a:lnTo>
                  <a:lnTo>
                    <a:pt x="0" y="79201"/>
                  </a:lnTo>
                  <a:close/>
                </a:path>
              </a:pathLst>
            </a:custGeom>
            <a:ln w="2474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6343" y="5172690"/>
              <a:ext cx="204228" cy="21482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15474" y="5172690"/>
              <a:ext cx="204228" cy="214828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84607" y="5172690"/>
              <a:ext cx="204228" cy="21482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53737" y="5172690"/>
              <a:ext cx="204228" cy="21482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2869" y="5172690"/>
              <a:ext cx="204228" cy="21482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92000" y="5172690"/>
              <a:ext cx="204228" cy="21482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61132" y="5172690"/>
              <a:ext cx="204228" cy="21482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30266" y="5172690"/>
              <a:ext cx="204228" cy="214828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98112" y="5865494"/>
              <a:ext cx="447479" cy="351137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9086432" y="4030569"/>
              <a:ext cx="144145" cy="1019175"/>
            </a:xfrm>
            <a:custGeom>
              <a:avLst/>
              <a:gdLst/>
              <a:ahLst/>
              <a:cxnLst/>
              <a:rect l="l" t="t" r="r" b="b"/>
              <a:pathLst>
                <a:path w="144145" h="1019175">
                  <a:moveTo>
                    <a:pt x="71882" y="0"/>
                  </a:moveTo>
                  <a:lnTo>
                    <a:pt x="0" y="123228"/>
                  </a:lnTo>
                  <a:lnTo>
                    <a:pt x="1993" y="130804"/>
                  </a:lnTo>
                  <a:lnTo>
                    <a:pt x="13801" y="137692"/>
                  </a:lnTo>
                  <a:lnTo>
                    <a:pt x="21377" y="135699"/>
                  </a:lnTo>
                  <a:lnTo>
                    <a:pt x="59507" y="70333"/>
                  </a:lnTo>
                  <a:lnTo>
                    <a:pt x="59505" y="1019065"/>
                  </a:lnTo>
                  <a:lnTo>
                    <a:pt x="84255" y="1019065"/>
                  </a:lnTo>
                  <a:lnTo>
                    <a:pt x="84256" y="70333"/>
                  </a:lnTo>
                  <a:lnTo>
                    <a:pt x="122387" y="135699"/>
                  </a:lnTo>
                  <a:lnTo>
                    <a:pt x="129964" y="137692"/>
                  </a:lnTo>
                  <a:lnTo>
                    <a:pt x="141771" y="130804"/>
                  </a:lnTo>
                  <a:lnTo>
                    <a:pt x="143766" y="123228"/>
                  </a:lnTo>
                  <a:lnTo>
                    <a:pt x="71882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688" y="4384842"/>
              <a:ext cx="308222" cy="314111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8120997" y="3809288"/>
              <a:ext cx="2225675" cy="99060"/>
            </a:xfrm>
            <a:custGeom>
              <a:avLst/>
              <a:gdLst/>
              <a:ahLst/>
              <a:cxnLst/>
              <a:rect l="l" t="t" r="r" b="b"/>
              <a:pathLst>
                <a:path w="2225675" h="99060">
                  <a:moveTo>
                    <a:pt x="2126349" y="1"/>
                  </a:moveTo>
                  <a:lnTo>
                    <a:pt x="2126349" y="37125"/>
                  </a:lnTo>
                  <a:lnTo>
                    <a:pt x="99000" y="37124"/>
                  </a:lnTo>
                  <a:lnTo>
                    <a:pt x="99000" y="0"/>
                  </a:lnTo>
                  <a:lnTo>
                    <a:pt x="0" y="49499"/>
                  </a:lnTo>
                  <a:lnTo>
                    <a:pt x="99000" y="98999"/>
                  </a:lnTo>
                  <a:lnTo>
                    <a:pt x="99000" y="61874"/>
                  </a:lnTo>
                  <a:lnTo>
                    <a:pt x="2126349" y="61876"/>
                  </a:lnTo>
                  <a:lnTo>
                    <a:pt x="2126349" y="99001"/>
                  </a:lnTo>
                  <a:lnTo>
                    <a:pt x="2225349" y="49500"/>
                  </a:lnTo>
                  <a:lnTo>
                    <a:pt x="2126349" y="1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54641" y="3386742"/>
              <a:ext cx="4284560" cy="398043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989567" y="3323876"/>
              <a:ext cx="4916805" cy="1270000"/>
            </a:xfrm>
            <a:custGeom>
              <a:avLst/>
              <a:gdLst/>
              <a:ahLst/>
              <a:cxnLst/>
              <a:rect l="l" t="t" r="r" b="b"/>
              <a:pathLst>
                <a:path w="4916805" h="1270000">
                  <a:moveTo>
                    <a:pt x="4916666" y="0"/>
                  </a:moveTo>
                  <a:lnTo>
                    <a:pt x="0" y="0"/>
                  </a:lnTo>
                  <a:lnTo>
                    <a:pt x="0" y="1270000"/>
                  </a:lnTo>
                  <a:lnTo>
                    <a:pt x="4916666" y="1270000"/>
                  </a:lnTo>
                  <a:lnTo>
                    <a:pt x="4916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2" name="object 7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32059" y="4742793"/>
            <a:ext cx="2256776" cy="269371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2422904" y="5549177"/>
            <a:ext cx="2054275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spc="-56" dirty="0">
                <a:latin typeface="Arial"/>
                <a:cs typeface="Arial"/>
              </a:rPr>
              <a:t>words</a:t>
            </a:r>
            <a:r>
              <a:rPr sz="1617" spc="-53" dirty="0">
                <a:latin typeface="Arial"/>
                <a:cs typeface="Arial"/>
              </a:rPr>
              <a:t> </a:t>
            </a:r>
            <a:r>
              <a:rPr sz="1617" spc="183" dirty="0">
                <a:latin typeface="Arial"/>
                <a:cs typeface="Arial"/>
              </a:rPr>
              <a:t>/</a:t>
            </a:r>
            <a:r>
              <a:rPr sz="1617" spc="-42" dirty="0">
                <a:latin typeface="Arial"/>
                <a:cs typeface="Arial"/>
              </a:rPr>
              <a:t> </a:t>
            </a:r>
            <a:r>
              <a:rPr sz="1617" spc="-56" dirty="0">
                <a:latin typeface="Arial"/>
                <a:cs typeface="Arial"/>
              </a:rPr>
              <a:t>one-</a:t>
            </a:r>
            <a:r>
              <a:rPr sz="1617" dirty="0">
                <a:latin typeface="Arial"/>
                <a:cs typeface="Arial"/>
              </a:rPr>
              <a:t>hot</a:t>
            </a:r>
            <a:r>
              <a:rPr sz="1617" spc="-49" dirty="0">
                <a:latin typeface="Arial"/>
                <a:cs typeface="Arial"/>
              </a:rPr>
              <a:t> </a:t>
            </a:r>
            <a:r>
              <a:rPr sz="1617" spc="-46" dirty="0">
                <a:latin typeface="Arial"/>
                <a:cs typeface="Arial"/>
              </a:rPr>
              <a:t>vectors</a:t>
            </a:r>
            <a:endParaRPr sz="1617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6223901" y="5865330"/>
            <a:ext cx="3566071" cy="533995"/>
            <a:chOff x="6684304" y="8341802"/>
            <a:chExt cx="5071745" cy="759460"/>
          </a:xfrm>
        </p:grpSpPr>
        <p:pic>
          <p:nvPicPr>
            <p:cNvPr id="75" name="object 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65440" y="8341802"/>
              <a:ext cx="573124" cy="415799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944020" y="8341802"/>
              <a:ext cx="551803" cy="415799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34910" y="8341802"/>
              <a:ext cx="572269" cy="415799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03145" y="8341802"/>
              <a:ext cx="607501" cy="415799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6684304" y="8360606"/>
              <a:ext cx="5071745" cy="741045"/>
            </a:xfrm>
            <a:custGeom>
              <a:avLst/>
              <a:gdLst/>
              <a:ahLst/>
              <a:cxnLst/>
              <a:rect l="l" t="t" r="r" b="b"/>
              <a:pathLst>
                <a:path w="5071745" h="741045">
                  <a:moveTo>
                    <a:pt x="5071490" y="0"/>
                  </a:moveTo>
                  <a:lnTo>
                    <a:pt x="0" y="0"/>
                  </a:lnTo>
                  <a:lnTo>
                    <a:pt x="0" y="740570"/>
                  </a:lnTo>
                  <a:lnTo>
                    <a:pt x="5071490" y="740570"/>
                  </a:lnTo>
                  <a:lnTo>
                    <a:pt x="50714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0" name="object 80"/>
          <p:cNvGrpSpPr/>
          <p:nvPr/>
        </p:nvGrpSpPr>
        <p:grpSpPr>
          <a:xfrm>
            <a:off x="2300768" y="5823586"/>
            <a:ext cx="2338239" cy="892969"/>
            <a:chOff x="1104736" y="8282433"/>
            <a:chExt cx="3325495" cy="1270000"/>
          </a:xfrm>
        </p:grpSpPr>
        <p:pic>
          <p:nvPicPr>
            <p:cNvPr id="81" name="object 8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00558" y="8368873"/>
              <a:ext cx="2688344" cy="361279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104736" y="8282433"/>
              <a:ext cx="3325495" cy="1270000"/>
            </a:xfrm>
            <a:custGeom>
              <a:avLst/>
              <a:gdLst/>
              <a:ahLst/>
              <a:cxnLst/>
              <a:rect l="l" t="t" r="r" b="b"/>
              <a:pathLst>
                <a:path w="3325495" h="1270000">
                  <a:moveTo>
                    <a:pt x="3325097" y="0"/>
                  </a:moveTo>
                  <a:lnTo>
                    <a:pt x="0" y="0"/>
                  </a:lnTo>
                  <a:lnTo>
                    <a:pt x="0" y="1269999"/>
                  </a:lnTo>
                  <a:lnTo>
                    <a:pt x="3325097" y="1269999"/>
                  </a:lnTo>
                  <a:lnTo>
                    <a:pt x="33250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2454041" y="3429091"/>
            <a:ext cx="1072455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spc="-35" dirty="0">
                <a:solidFill>
                  <a:srgbClr val="A4001D"/>
                </a:solidFill>
                <a:latin typeface="Arial"/>
                <a:cs typeface="Arial"/>
              </a:rPr>
              <a:t>hidden</a:t>
            </a:r>
            <a:r>
              <a:rPr sz="1617" spc="-74" dirty="0">
                <a:solidFill>
                  <a:srgbClr val="A4001D"/>
                </a:solidFill>
                <a:latin typeface="Arial"/>
                <a:cs typeface="Arial"/>
              </a:rPr>
              <a:t> </a:t>
            </a:r>
            <a:r>
              <a:rPr sz="1617" spc="-42" dirty="0">
                <a:solidFill>
                  <a:srgbClr val="A4001D"/>
                </a:solidFill>
                <a:latin typeface="Arial"/>
                <a:cs typeface="Arial"/>
              </a:rPr>
              <a:t>layer</a:t>
            </a:r>
            <a:endParaRPr sz="1617">
              <a:latin typeface="Arial"/>
              <a:cs typeface="Aria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2219789" y="3674369"/>
            <a:ext cx="3457129" cy="410766"/>
            <a:chOff x="989567" y="5225770"/>
            <a:chExt cx="4916805" cy="584200"/>
          </a:xfrm>
        </p:grpSpPr>
        <p:pic>
          <p:nvPicPr>
            <p:cNvPr id="85" name="object 8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16625" y="5225770"/>
              <a:ext cx="2732394" cy="491767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989567" y="5273768"/>
              <a:ext cx="4916805" cy="535940"/>
            </a:xfrm>
            <a:custGeom>
              <a:avLst/>
              <a:gdLst/>
              <a:ahLst/>
              <a:cxnLst/>
              <a:rect l="l" t="t" r="r" b="b"/>
              <a:pathLst>
                <a:path w="4916805" h="535939">
                  <a:moveTo>
                    <a:pt x="4916666" y="0"/>
                  </a:moveTo>
                  <a:lnTo>
                    <a:pt x="0" y="0"/>
                  </a:lnTo>
                  <a:lnTo>
                    <a:pt x="0" y="535576"/>
                  </a:lnTo>
                  <a:lnTo>
                    <a:pt x="4916666" y="535576"/>
                  </a:lnTo>
                  <a:lnTo>
                    <a:pt x="4916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2749068" y="5727126"/>
            <a:ext cx="1551586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1</a:t>
            </a:r>
            <a:r>
              <a:rPr sz="2531" spc="-35" dirty="0">
                <a:latin typeface="Times New Roman"/>
                <a:cs typeface="Times New Roman"/>
              </a:rPr>
              <a:t>,</a:t>
            </a:r>
            <a:r>
              <a:rPr sz="2531" spc="-197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2</a:t>
            </a:r>
            <a:r>
              <a:rPr sz="2531" spc="-35" dirty="0">
                <a:latin typeface="Times New Roman"/>
                <a:cs typeface="Times New Roman"/>
              </a:rPr>
              <a:t>,</a:t>
            </a:r>
            <a:r>
              <a:rPr sz="2531" spc="-197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3</a:t>
            </a:r>
            <a:r>
              <a:rPr sz="2531" spc="-35" dirty="0">
                <a:latin typeface="Times New Roman"/>
                <a:cs typeface="Times New Roman"/>
              </a:rPr>
              <a:t>,</a:t>
            </a:r>
            <a:r>
              <a:rPr sz="2531" spc="-197" dirty="0">
                <a:latin typeface="Times New Roman"/>
                <a:cs typeface="Times New Roman"/>
              </a:rPr>
              <a:t> </a:t>
            </a: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4</a:t>
            </a:r>
            <a:endParaRPr sz="2689" baseline="-19607" dirty="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417841" y="1525671"/>
            <a:ext cx="6442323" cy="13946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18288">
              <a:lnSpc>
                <a:spcPts val="1392"/>
              </a:lnSpc>
            </a:pPr>
            <a:r>
              <a:rPr sz="1266" i="1" spc="-7" dirty="0">
                <a:solidFill>
                  <a:srgbClr val="177245"/>
                </a:solidFill>
                <a:latin typeface="Arial"/>
                <a:cs typeface="Arial"/>
              </a:rPr>
              <a:t>books</a:t>
            </a:r>
            <a:endParaRPr sz="1266">
              <a:latin typeface="Arial"/>
              <a:cs typeface="Arial"/>
            </a:endParaRPr>
          </a:p>
          <a:p>
            <a:pPr marL="5549603">
              <a:lnSpc>
                <a:spcPts val="1438"/>
              </a:lnSpc>
            </a:pPr>
            <a:r>
              <a:rPr sz="1266" i="1" spc="-7" dirty="0">
                <a:solidFill>
                  <a:srgbClr val="177245"/>
                </a:solidFill>
                <a:latin typeface="Arial"/>
                <a:cs typeface="Arial"/>
              </a:rPr>
              <a:t>laptops</a:t>
            </a:r>
            <a:endParaRPr sz="1266">
              <a:latin typeface="Arial"/>
              <a:cs typeface="Arial"/>
            </a:endParaRPr>
          </a:p>
          <a:p>
            <a:pPr>
              <a:spcBef>
                <a:spcPts val="1318"/>
              </a:spcBef>
            </a:pPr>
            <a:r>
              <a:rPr sz="1617" dirty="0">
                <a:solidFill>
                  <a:srgbClr val="177245"/>
                </a:solidFill>
                <a:latin typeface="Arial"/>
                <a:cs typeface="Arial"/>
              </a:rPr>
              <a:t>output</a:t>
            </a:r>
            <a:r>
              <a:rPr sz="1617" spc="-21" dirty="0">
                <a:solidFill>
                  <a:srgbClr val="177245"/>
                </a:solidFill>
                <a:latin typeface="Arial"/>
                <a:cs typeface="Arial"/>
              </a:rPr>
              <a:t> </a:t>
            </a:r>
            <a:r>
              <a:rPr sz="1617" spc="-7" dirty="0">
                <a:solidFill>
                  <a:srgbClr val="177245"/>
                </a:solidFill>
                <a:latin typeface="Arial"/>
                <a:cs typeface="Arial"/>
              </a:rPr>
              <a:t>distribution</a:t>
            </a:r>
            <a:endParaRPr sz="1617">
              <a:latin typeface="Arial"/>
              <a:cs typeface="Arial"/>
            </a:endParaRPr>
          </a:p>
          <a:p>
            <a:pPr marL="20537">
              <a:spcBef>
                <a:spcPts val="158"/>
              </a:spcBef>
            </a:pPr>
            <a:r>
              <a:rPr sz="2180" i="1" dirty="0">
                <a:latin typeface="Times New Roman"/>
                <a:cs typeface="Times New Roman"/>
              </a:rPr>
              <a:t>y</a:t>
            </a:r>
            <a:r>
              <a:rPr sz="2180" dirty="0">
                <a:latin typeface="Times New Roman"/>
                <a:cs typeface="Times New Roman"/>
              </a:rPr>
              <a:t>̂</a:t>
            </a:r>
            <a:r>
              <a:rPr sz="2180" spc="35" dirty="0">
                <a:latin typeface="Times New Roman"/>
                <a:cs typeface="Times New Roman"/>
              </a:rPr>
              <a:t> </a:t>
            </a:r>
            <a:r>
              <a:rPr sz="2180" spc="257" dirty="0">
                <a:latin typeface="Times New Roman"/>
                <a:cs typeface="Times New Roman"/>
              </a:rPr>
              <a:t>=</a:t>
            </a:r>
            <a:r>
              <a:rPr sz="2180" spc="67" dirty="0">
                <a:latin typeface="Times New Roman"/>
                <a:cs typeface="Times New Roman"/>
              </a:rPr>
              <a:t> </a:t>
            </a:r>
            <a:r>
              <a:rPr sz="2180" spc="-7" dirty="0">
                <a:latin typeface="HelveticaNeue-Light"/>
                <a:cs typeface="HelveticaNeue-Light"/>
              </a:rPr>
              <a:t>softmax</a:t>
            </a:r>
            <a:r>
              <a:rPr sz="2180" spc="-7" dirty="0">
                <a:latin typeface="Times New Roman"/>
                <a:cs typeface="Times New Roman"/>
              </a:rPr>
              <a:t>(</a:t>
            </a:r>
            <a:r>
              <a:rPr sz="2180" i="1" spc="-7" dirty="0">
                <a:latin typeface="Times New Roman"/>
                <a:cs typeface="Times New Roman"/>
              </a:rPr>
              <a:t>W</a:t>
            </a:r>
            <a:r>
              <a:rPr sz="2320" spc="-11" baseline="-20202" dirty="0">
                <a:latin typeface="Times New Roman"/>
                <a:cs typeface="Times New Roman"/>
              </a:rPr>
              <a:t>2</a:t>
            </a:r>
            <a:r>
              <a:rPr sz="2180" i="1" spc="-7" dirty="0">
                <a:latin typeface="Times New Roman"/>
                <a:cs typeface="Times New Roman"/>
              </a:rPr>
              <a:t>h</a:t>
            </a:r>
            <a:r>
              <a:rPr sz="2180" i="1" spc="-56" dirty="0">
                <a:latin typeface="Times New Roman"/>
                <a:cs typeface="Times New Roman"/>
              </a:rPr>
              <a:t> </a:t>
            </a:r>
            <a:r>
              <a:rPr sz="2180" spc="257" dirty="0">
                <a:latin typeface="Times New Roman"/>
                <a:cs typeface="Times New Roman"/>
              </a:rPr>
              <a:t>+</a:t>
            </a:r>
            <a:r>
              <a:rPr sz="2180" spc="-56" dirty="0">
                <a:latin typeface="Times New Roman"/>
                <a:cs typeface="Times New Roman"/>
              </a:rPr>
              <a:t> </a:t>
            </a:r>
            <a:r>
              <a:rPr sz="2180" i="1" spc="-18" dirty="0">
                <a:latin typeface="Times New Roman"/>
                <a:cs typeface="Times New Roman"/>
              </a:rPr>
              <a:t>b</a:t>
            </a:r>
            <a:r>
              <a:rPr sz="2320" spc="-26" baseline="-20202" dirty="0">
                <a:latin typeface="Times New Roman"/>
                <a:cs typeface="Times New Roman"/>
              </a:rPr>
              <a:t>2</a:t>
            </a:r>
            <a:r>
              <a:rPr sz="2180" spc="-18" dirty="0">
                <a:latin typeface="Times New Roman"/>
                <a:cs typeface="Times New Roman"/>
              </a:rPr>
              <a:t>)</a:t>
            </a:r>
            <a:endParaRPr sz="2180">
              <a:latin typeface="Times New Roman"/>
              <a:cs typeface="Times New Roman"/>
            </a:endParaRPr>
          </a:p>
          <a:p>
            <a:pPr marL="4834361">
              <a:spcBef>
                <a:spcPts val="503"/>
              </a:spcBef>
              <a:tabLst>
                <a:tab pos="6209930" algn="l"/>
              </a:tabLst>
            </a:pPr>
            <a:r>
              <a:rPr sz="1898" spc="-53" baseline="1543" dirty="0">
                <a:solidFill>
                  <a:srgbClr val="177245"/>
                </a:solidFill>
                <a:latin typeface="Arial"/>
                <a:cs typeface="Arial"/>
              </a:rPr>
              <a:t>a</a:t>
            </a:r>
            <a:r>
              <a:rPr sz="1898" baseline="1543" dirty="0">
                <a:solidFill>
                  <a:srgbClr val="177245"/>
                </a:solidFill>
                <a:latin typeface="Arial"/>
                <a:cs typeface="Arial"/>
              </a:rPr>
              <a:t>	</a:t>
            </a:r>
            <a:r>
              <a:rPr sz="1266" spc="-88" dirty="0">
                <a:solidFill>
                  <a:srgbClr val="177245"/>
                </a:solidFill>
                <a:latin typeface="Arial"/>
                <a:cs typeface="Arial"/>
              </a:rPr>
              <a:t>zoo</a:t>
            </a:r>
            <a:endParaRPr sz="1266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8018985" y="4025657"/>
            <a:ext cx="1458218" cy="521047"/>
          </a:xfrm>
          <a:custGeom>
            <a:avLst/>
            <a:gdLst/>
            <a:ahLst/>
            <a:cxnLst/>
            <a:rect l="l" t="t" r="r" b="b"/>
            <a:pathLst>
              <a:path w="2073909" h="741045">
                <a:moveTo>
                  <a:pt x="2073888" y="0"/>
                </a:moveTo>
                <a:lnTo>
                  <a:pt x="0" y="0"/>
                </a:lnTo>
                <a:lnTo>
                  <a:pt x="0" y="740570"/>
                </a:lnTo>
                <a:lnTo>
                  <a:pt x="2073888" y="740570"/>
                </a:lnTo>
                <a:lnTo>
                  <a:pt x="20738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8135773" y="4055944"/>
            <a:ext cx="248692" cy="344494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180" i="1" dirty="0">
                <a:latin typeface="Times New Roman"/>
                <a:cs typeface="Times New Roman"/>
              </a:rPr>
              <a:t>W</a:t>
            </a:r>
            <a:endParaRPr sz="218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356638" y="4205428"/>
            <a:ext cx="116532" cy="247096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547" dirty="0">
                <a:latin typeface="Times New Roman"/>
                <a:cs typeface="Times New Roman"/>
              </a:rPr>
              <a:t>1</a:t>
            </a:r>
            <a:endParaRPr sz="1547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144703" y="3038372"/>
            <a:ext cx="319236" cy="341788"/>
          </a:xfrm>
          <a:prstGeom prst="rect">
            <a:avLst/>
          </a:prstGeom>
        </p:spPr>
        <p:txBody>
          <a:bodyPr vert="horz" wrap="square" lIns="0" tIns="6251" rIns="0" bIns="0" rtlCol="0">
            <a:spAutoFit/>
          </a:bodyPr>
          <a:lstStyle/>
          <a:p>
            <a:pPr>
              <a:spcBef>
                <a:spcPts val="49"/>
              </a:spcBef>
            </a:pPr>
            <a:r>
              <a:rPr sz="2180" i="1" spc="-60" dirty="0">
                <a:latin typeface="Times New Roman"/>
                <a:cs typeface="Times New Roman"/>
              </a:rPr>
              <a:t>W</a:t>
            </a:r>
            <a:r>
              <a:rPr sz="2320" spc="-89" baseline="-20202" dirty="0">
                <a:latin typeface="Times New Roman"/>
                <a:cs typeface="Times New Roman"/>
              </a:rPr>
              <a:t>2</a:t>
            </a:r>
            <a:endParaRPr sz="2320" baseline="-20202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323333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1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275358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2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8256321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3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9237285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4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488154" y="3796206"/>
            <a:ext cx="1446609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dirty="0">
                <a:latin typeface="Times New Roman"/>
                <a:cs typeface="Times New Roman"/>
              </a:rPr>
              <a:t>h</a:t>
            </a:r>
            <a:r>
              <a:rPr sz="2531" i="1" spc="70" dirty="0">
                <a:latin typeface="Times New Roman"/>
                <a:cs typeface="Times New Roman"/>
              </a:rPr>
              <a:t> </a:t>
            </a:r>
            <a:r>
              <a:rPr sz="2531" spc="299" dirty="0">
                <a:latin typeface="Times New Roman"/>
                <a:cs typeface="Times New Roman"/>
              </a:rPr>
              <a:t>=</a:t>
            </a:r>
            <a:r>
              <a:rPr sz="2531" spc="70" dirty="0">
                <a:latin typeface="Times New Roman"/>
                <a:cs typeface="Times New Roman"/>
              </a:rPr>
              <a:t> </a:t>
            </a:r>
            <a:r>
              <a:rPr sz="2531" i="1" spc="-7" dirty="0">
                <a:latin typeface="Times New Roman"/>
                <a:cs typeface="Times New Roman"/>
              </a:rPr>
              <a:t>f</a:t>
            </a:r>
            <a:r>
              <a:rPr sz="2531" spc="-7" dirty="0">
                <a:latin typeface="Times New Roman"/>
                <a:cs typeface="Times New Roman"/>
              </a:rPr>
              <a:t>(</a:t>
            </a:r>
            <a:r>
              <a:rPr sz="2531" i="1" spc="-7" dirty="0">
                <a:latin typeface="Times New Roman"/>
                <a:cs typeface="Times New Roman"/>
              </a:rPr>
              <a:t>W</a:t>
            </a:r>
            <a:r>
              <a:rPr sz="2689" spc="-11" baseline="-19607" dirty="0">
                <a:latin typeface="Times New Roman"/>
                <a:cs typeface="Times New Roman"/>
              </a:rPr>
              <a:t>1</a:t>
            </a:r>
            <a:r>
              <a:rPr sz="2531" i="1" spc="-7" dirty="0">
                <a:latin typeface="Times New Roman"/>
                <a:cs typeface="Times New Roman"/>
              </a:rPr>
              <a:t>x</a:t>
            </a:r>
            <a:r>
              <a:rPr sz="2531" spc="-7" dirty="0">
                <a:latin typeface="Times New Roman"/>
                <a:cs typeface="Times New Roman"/>
              </a:rPr>
              <a:t>)</a:t>
            </a:r>
            <a:endParaRPr sz="2531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2300768" y="4720955"/>
            <a:ext cx="2666850" cy="892969"/>
          </a:xfrm>
          <a:custGeom>
            <a:avLst/>
            <a:gdLst/>
            <a:ahLst/>
            <a:cxnLst/>
            <a:rect l="l" t="t" r="r" b="b"/>
            <a:pathLst>
              <a:path w="3792854" h="1270000">
                <a:moveTo>
                  <a:pt x="3792722" y="0"/>
                </a:moveTo>
                <a:lnTo>
                  <a:pt x="0" y="0"/>
                </a:lnTo>
                <a:lnTo>
                  <a:pt x="0" y="1269999"/>
                </a:lnTo>
                <a:lnTo>
                  <a:pt x="3792722" y="1269999"/>
                </a:lnTo>
                <a:lnTo>
                  <a:pt x="37927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2413974" y="4412922"/>
            <a:ext cx="2768650" cy="713757"/>
          </a:xfrm>
          <a:prstGeom prst="rect">
            <a:avLst/>
          </a:prstGeom>
        </p:spPr>
        <p:txBody>
          <a:bodyPr vert="horz" wrap="square" lIns="0" tIns="36611" rIns="0" bIns="0" rtlCol="0">
            <a:spAutoFit/>
          </a:bodyPr>
          <a:lstStyle/>
          <a:p>
            <a:pPr marL="17859">
              <a:spcBef>
                <a:spcPts val="288"/>
              </a:spcBef>
            </a:pPr>
            <a:r>
              <a:rPr sz="1617" spc="-60" dirty="0">
                <a:solidFill>
                  <a:srgbClr val="0047B6"/>
                </a:solidFill>
                <a:latin typeface="Arial"/>
                <a:cs typeface="Arial"/>
              </a:rPr>
              <a:t>concatenated</a:t>
            </a:r>
            <a:r>
              <a:rPr sz="1617" spc="-70" dirty="0">
                <a:solidFill>
                  <a:srgbClr val="0047B6"/>
                </a:solidFill>
                <a:latin typeface="Arial"/>
                <a:cs typeface="Arial"/>
              </a:rPr>
              <a:t> </a:t>
            </a:r>
            <a:r>
              <a:rPr sz="1617" spc="-14" dirty="0">
                <a:solidFill>
                  <a:srgbClr val="0047B6"/>
                </a:solidFill>
                <a:latin typeface="Arial"/>
                <a:cs typeface="Arial"/>
              </a:rPr>
              <a:t>word</a:t>
            </a:r>
            <a:r>
              <a:rPr sz="1617" spc="-67" dirty="0">
                <a:solidFill>
                  <a:srgbClr val="0047B6"/>
                </a:solidFill>
                <a:latin typeface="Arial"/>
                <a:cs typeface="Arial"/>
              </a:rPr>
              <a:t> </a:t>
            </a:r>
            <a:r>
              <a:rPr sz="1617" spc="-46" dirty="0">
                <a:solidFill>
                  <a:srgbClr val="0047B6"/>
                </a:solidFill>
                <a:latin typeface="Arial"/>
                <a:cs typeface="Arial"/>
              </a:rPr>
              <a:t>embeddings</a:t>
            </a:r>
            <a:endParaRPr sz="1617" dirty="0">
              <a:latin typeface="Arial"/>
              <a:cs typeface="Arial"/>
            </a:endParaRPr>
          </a:p>
          <a:p>
            <a:pPr marL="256273">
              <a:spcBef>
                <a:spcPts val="295"/>
              </a:spcBef>
            </a:pPr>
            <a:r>
              <a:rPr sz="2531" i="1" dirty="0">
                <a:latin typeface="Times New Roman"/>
                <a:cs typeface="Times New Roman"/>
              </a:rPr>
              <a:t>x</a:t>
            </a:r>
            <a:r>
              <a:rPr sz="2531" i="1" spc="98" dirty="0">
                <a:latin typeface="Times New Roman"/>
                <a:cs typeface="Times New Roman"/>
              </a:rPr>
              <a:t> </a:t>
            </a:r>
            <a:r>
              <a:rPr sz="2531" spc="299" dirty="0">
                <a:latin typeface="Times New Roman"/>
                <a:cs typeface="Times New Roman"/>
              </a:rPr>
              <a:t>=</a:t>
            </a:r>
            <a:r>
              <a:rPr sz="2531" spc="84" dirty="0">
                <a:latin typeface="Times New Roman"/>
                <a:cs typeface="Times New Roman"/>
              </a:rPr>
              <a:t> </a:t>
            </a:r>
            <a:r>
              <a:rPr sz="2531" spc="-28" dirty="0">
                <a:latin typeface="Times New Roman"/>
                <a:cs typeface="Times New Roman"/>
              </a:rPr>
              <a:t>[</a:t>
            </a:r>
            <a:r>
              <a:rPr sz="2531" i="1" spc="-28" dirty="0">
                <a:latin typeface="Times New Roman"/>
                <a:cs typeface="Times New Roman"/>
              </a:rPr>
              <a:t>c</a:t>
            </a:r>
            <a:r>
              <a:rPr sz="2689" spc="-42" baseline="-19607" dirty="0">
                <a:latin typeface="Times New Roman"/>
                <a:cs typeface="Times New Roman"/>
              </a:rPr>
              <a:t>1</a:t>
            </a:r>
            <a:r>
              <a:rPr sz="2531" spc="-28" dirty="0">
                <a:latin typeface="Times New Roman"/>
                <a:cs typeface="Times New Roman"/>
              </a:rPr>
              <a:t>;</a:t>
            </a:r>
            <a:r>
              <a:rPr sz="2531" spc="-204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2</a:t>
            </a:r>
            <a:r>
              <a:rPr sz="2531" spc="-35" dirty="0">
                <a:latin typeface="Times New Roman"/>
                <a:cs typeface="Times New Roman"/>
              </a:rPr>
              <a:t>;</a:t>
            </a:r>
            <a:r>
              <a:rPr sz="2531" spc="-200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3</a:t>
            </a:r>
            <a:r>
              <a:rPr sz="2531" spc="-35" dirty="0">
                <a:latin typeface="Times New Roman"/>
                <a:cs typeface="Times New Roman"/>
              </a:rPr>
              <a:t>;</a:t>
            </a:r>
            <a:r>
              <a:rPr sz="2531" spc="-204" dirty="0">
                <a:latin typeface="Times New Roman"/>
                <a:cs typeface="Times New Roman"/>
              </a:rPr>
              <a:t> </a:t>
            </a: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4</a:t>
            </a:r>
            <a:r>
              <a:rPr sz="2531" spc="-18" dirty="0">
                <a:latin typeface="Times New Roman"/>
                <a:cs typeface="Times New Roman"/>
              </a:rPr>
              <a:t>]</a:t>
            </a:r>
            <a:endParaRPr sz="2531" dirty="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1943597" y="1448520"/>
            <a:ext cx="7943404" cy="2077938"/>
          </a:xfrm>
          <a:custGeom>
            <a:avLst/>
            <a:gdLst/>
            <a:ahLst/>
            <a:cxnLst/>
            <a:rect l="l" t="t" r="r" b="b"/>
            <a:pathLst>
              <a:path w="11297285" h="2955290">
                <a:moveTo>
                  <a:pt x="11296675" y="209207"/>
                </a:moveTo>
                <a:lnTo>
                  <a:pt x="11186109" y="209207"/>
                </a:lnTo>
                <a:lnTo>
                  <a:pt x="11186109" y="0"/>
                </a:lnTo>
                <a:lnTo>
                  <a:pt x="0" y="0"/>
                </a:lnTo>
                <a:lnTo>
                  <a:pt x="0" y="2135911"/>
                </a:lnTo>
                <a:lnTo>
                  <a:pt x="5451233" y="2135911"/>
                </a:lnTo>
                <a:lnTo>
                  <a:pt x="5451233" y="2954972"/>
                </a:lnTo>
                <a:lnTo>
                  <a:pt x="11296675" y="2954972"/>
                </a:lnTo>
                <a:lnTo>
                  <a:pt x="11296675" y="2092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ontent Placeholder 107">
            <a:extLst>
              <a:ext uri="{FF2B5EF4-FFF2-40B4-BE49-F238E27FC236}">
                <a16:creationId xmlns:a16="http://schemas.microsoft.com/office/drawing/2014/main" id="{A218FB07-1BD8-4B2F-8C48-034FA9C06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937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 fixed-window neural Language Model</a:t>
            </a:r>
          </a:p>
        </p:txBody>
      </p:sp>
      <p:sp>
        <p:nvSpPr>
          <p:cNvPr id="103" name="Slide Number Placeholder 102">
            <a:extLst>
              <a:ext uri="{FF2B5EF4-FFF2-40B4-BE49-F238E27FC236}">
                <a16:creationId xmlns:a16="http://schemas.microsoft.com/office/drawing/2014/main" id="{099EAA2D-9268-4E6A-A067-4F517E097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335017" y="5608047"/>
            <a:ext cx="1462236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  <a:tabLst>
                <a:tab pos="733548" algn="l"/>
              </a:tabLst>
            </a:pPr>
            <a:r>
              <a:rPr sz="1617" i="1" spc="-18" dirty="0">
                <a:latin typeface="Arial"/>
                <a:cs typeface="Arial"/>
              </a:rPr>
              <a:t>the</a:t>
            </a:r>
            <a:r>
              <a:rPr sz="1617" i="1" dirty="0">
                <a:latin typeface="Arial"/>
                <a:cs typeface="Arial"/>
              </a:rPr>
              <a:t>	</a:t>
            </a:r>
            <a:r>
              <a:rPr sz="1617" i="1" spc="-56" dirty="0">
                <a:latin typeface="Arial"/>
                <a:cs typeface="Arial"/>
              </a:rPr>
              <a:t>students</a:t>
            </a:r>
            <a:endParaRPr sz="161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0099" y="5608047"/>
            <a:ext cx="647402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i="1" spc="-74" dirty="0">
                <a:latin typeface="Arial"/>
                <a:cs typeface="Arial"/>
              </a:rPr>
              <a:t>opened</a:t>
            </a:r>
            <a:endParaRPr sz="161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08640" y="5608047"/>
            <a:ext cx="414784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i="1" spc="-7" dirty="0">
                <a:latin typeface="Arial"/>
                <a:cs typeface="Arial"/>
              </a:rPr>
              <a:t>their</a:t>
            </a:r>
            <a:endParaRPr sz="1617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2059" y="4742793"/>
            <a:ext cx="2256776" cy="26937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219790" y="1726303"/>
            <a:ext cx="7666583" cy="3860750"/>
            <a:chOff x="989567" y="2455186"/>
            <a:chExt cx="10903585" cy="5490845"/>
          </a:xfrm>
        </p:grpSpPr>
        <p:sp>
          <p:nvSpPr>
            <p:cNvPr id="8" name="object 8"/>
            <p:cNvSpPr/>
            <p:nvPr/>
          </p:nvSpPr>
          <p:spPr>
            <a:xfrm>
              <a:off x="8349747" y="2455186"/>
              <a:ext cx="99060" cy="375920"/>
            </a:xfrm>
            <a:custGeom>
              <a:avLst/>
              <a:gdLst/>
              <a:ahLst/>
              <a:cxnLst/>
              <a:rect l="l" t="t" r="r" b="b"/>
              <a:pathLst>
                <a:path w="99059" h="375919">
                  <a:moveTo>
                    <a:pt x="55250" y="0"/>
                  </a:moveTo>
                  <a:lnTo>
                    <a:pt x="42875" y="20"/>
                  </a:lnTo>
                  <a:lnTo>
                    <a:pt x="43312" y="276404"/>
                  </a:lnTo>
                  <a:lnTo>
                    <a:pt x="0" y="276473"/>
                  </a:lnTo>
                  <a:lnTo>
                    <a:pt x="49655" y="375394"/>
                  </a:lnTo>
                  <a:lnTo>
                    <a:pt x="98999" y="276317"/>
                  </a:lnTo>
                  <a:lnTo>
                    <a:pt x="55686" y="276386"/>
                  </a:lnTo>
                  <a:lnTo>
                    <a:pt x="55250" y="0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69198" y="3741772"/>
              <a:ext cx="2728595" cy="12700"/>
            </a:xfrm>
            <a:custGeom>
              <a:avLst/>
              <a:gdLst/>
              <a:ahLst/>
              <a:cxnLst/>
              <a:rect l="l" t="t" r="r" b="b"/>
              <a:pathLst>
                <a:path w="2728595" h="12700">
                  <a:moveTo>
                    <a:pt x="0" y="0"/>
                  </a:moveTo>
                  <a:lnTo>
                    <a:pt x="437193" y="0"/>
                  </a:lnTo>
                </a:path>
                <a:path w="2728595" h="12700">
                  <a:moveTo>
                    <a:pt x="2477149" y="0"/>
                  </a:moveTo>
                  <a:lnTo>
                    <a:pt x="2728316" y="0"/>
                  </a:lnTo>
                </a:path>
                <a:path w="2728595" h="12700">
                  <a:moveTo>
                    <a:pt x="0" y="12375"/>
                  </a:moveTo>
                  <a:lnTo>
                    <a:pt x="2728316" y="12375"/>
                  </a:lnTo>
                </a:path>
              </a:pathLst>
            </a:custGeom>
            <a:ln w="11262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20997" y="3633728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186026" y="0"/>
                  </a:moveTo>
                  <a:lnTo>
                    <a:pt x="0" y="0"/>
                  </a:lnTo>
                  <a:lnTo>
                    <a:pt x="0" y="113675"/>
                  </a:lnTo>
                  <a:lnTo>
                    <a:pt x="186026" y="113675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20997" y="3633727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0" y="0"/>
                  </a:moveTo>
                  <a:lnTo>
                    <a:pt x="186026" y="0"/>
                  </a:lnTo>
                  <a:lnTo>
                    <a:pt x="186026" y="113675"/>
                  </a:lnTo>
                  <a:lnTo>
                    <a:pt x="0" y="113675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06391" y="2830582"/>
              <a:ext cx="186055" cy="916940"/>
            </a:xfrm>
            <a:custGeom>
              <a:avLst/>
              <a:gdLst/>
              <a:ahLst/>
              <a:cxnLst/>
              <a:rect l="l" t="t" r="r" b="b"/>
              <a:pathLst>
                <a:path w="186054" h="916939">
                  <a:moveTo>
                    <a:pt x="186026" y="0"/>
                  </a:moveTo>
                  <a:lnTo>
                    <a:pt x="0" y="0"/>
                  </a:lnTo>
                  <a:lnTo>
                    <a:pt x="0" y="916821"/>
                  </a:lnTo>
                  <a:lnTo>
                    <a:pt x="186026" y="916821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06391" y="2830580"/>
              <a:ext cx="186055" cy="916940"/>
            </a:xfrm>
            <a:custGeom>
              <a:avLst/>
              <a:gdLst/>
              <a:ahLst/>
              <a:cxnLst/>
              <a:rect l="l" t="t" r="r" b="b"/>
              <a:pathLst>
                <a:path w="186054" h="916939">
                  <a:moveTo>
                    <a:pt x="0" y="0"/>
                  </a:moveTo>
                  <a:lnTo>
                    <a:pt x="186026" y="0"/>
                  </a:lnTo>
                  <a:lnTo>
                    <a:pt x="186026" y="916821"/>
                  </a:lnTo>
                  <a:lnTo>
                    <a:pt x="0" y="916821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91782" y="3510354"/>
              <a:ext cx="186055" cy="237490"/>
            </a:xfrm>
            <a:custGeom>
              <a:avLst/>
              <a:gdLst/>
              <a:ahLst/>
              <a:cxnLst/>
              <a:rect l="l" t="t" r="r" b="b"/>
              <a:pathLst>
                <a:path w="186054" h="237489">
                  <a:moveTo>
                    <a:pt x="186026" y="0"/>
                  </a:moveTo>
                  <a:lnTo>
                    <a:pt x="0" y="0"/>
                  </a:lnTo>
                  <a:lnTo>
                    <a:pt x="0" y="237047"/>
                  </a:lnTo>
                  <a:lnTo>
                    <a:pt x="186026" y="237047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91782" y="3510354"/>
              <a:ext cx="186055" cy="237490"/>
            </a:xfrm>
            <a:custGeom>
              <a:avLst/>
              <a:gdLst/>
              <a:ahLst/>
              <a:cxnLst/>
              <a:rect l="l" t="t" r="r" b="b"/>
              <a:pathLst>
                <a:path w="186054" h="237489">
                  <a:moveTo>
                    <a:pt x="0" y="0"/>
                  </a:moveTo>
                  <a:lnTo>
                    <a:pt x="186026" y="0"/>
                  </a:lnTo>
                  <a:lnTo>
                    <a:pt x="186026" y="237047"/>
                  </a:lnTo>
                  <a:lnTo>
                    <a:pt x="0" y="237047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77177" y="3369712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186026" y="0"/>
                  </a:moveTo>
                  <a:lnTo>
                    <a:pt x="0" y="0"/>
                  </a:lnTo>
                  <a:lnTo>
                    <a:pt x="0" y="377689"/>
                  </a:lnTo>
                  <a:lnTo>
                    <a:pt x="186026" y="377689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77177" y="3369712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0" y="0"/>
                  </a:moveTo>
                  <a:lnTo>
                    <a:pt x="186026" y="0"/>
                  </a:lnTo>
                  <a:lnTo>
                    <a:pt x="186026" y="377689"/>
                  </a:lnTo>
                  <a:lnTo>
                    <a:pt x="0" y="377689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862570" y="3633728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186026" y="0"/>
                  </a:moveTo>
                  <a:lnTo>
                    <a:pt x="0" y="0"/>
                  </a:lnTo>
                  <a:lnTo>
                    <a:pt x="0" y="113675"/>
                  </a:lnTo>
                  <a:lnTo>
                    <a:pt x="186026" y="113675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862570" y="3633727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0" y="0"/>
                  </a:moveTo>
                  <a:lnTo>
                    <a:pt x="186026" y="0"/>
                  </a:lnTo>
                  <a:lnTo>
                    <a:pt x="186026" y="113675"/>
                  </a:lnTo>
                  <a:lnTo>
                    <a:pt x="0" y="113675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47964" y="3338762"/>
              <a:ext cx="186055" cy="408940"/>
            </a:xfrm>
            <a:custGeom>
              <a:avLst/>
              <a:gdLst/>
              <a:ahLst/>
              <a:cxnLst/>
              <a:rect l="l" t="t" r="r" b="b"/>
              <a:pathLst>
                <a:path w="186054" h="408939">
                  <a:moveTo>
                    <a:pt x="186026" y="0"/>
                  </a:moveTo>
                  <a:lnTo>
                    <a:pt x="0" y="0"/>
                  </a:lnTo>
                  <a:lnTo>
                    <a:pt x="0" y="408639"/>
                  </a:lnTo>
                  <a:lnTo>
                    <a:pt x="186026" y="408639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47964" y="3338762"/>
              <a:ext cx="186055" cy="408940"/>
            </a:xfrm>
            <a:custGeom>
              <a:avLst/>
              <a:gdLst/>
              <a:ahLst/>
              <a:cxnLst/>
              <a:rect l="l" t="t" r="r" b="b"/>
              <a:pathLst>
                <a:path w="186054" h="408939">
                  <a:moveTo>
                    <a:pt x="0" y="0"/>
                  </a:moveTo>
                  <a:lnTo>
                    <a:pt x="186026" y="0"/>
                  </a:lnTo>
                  <a:lnTo>
                    <a:pt x="186026" y="408639"/>
                  </a:lnTo>
                  <a:lnTo>
                    <a:pt x="0" y="408639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33358" y="3369713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186026" y="0"/>
                  </a:moveTo>
                  <a:lnTo>
                    <a:pt x="0" y="0"/>
                  </a:lnTo>
                  <a:lnTo>
                    <a:pt x="0" y="377690"/>
                  </a:lnTo>
                  <a:lnTo>
                    <a:pt x="186026" y="377690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233358" y="3369712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0" y="0"/>
                  </a:moveTo>
                  <a:lnTo>
                    <a:pt x="186026" y="0"/>
                  </a:lnTo>
                  <a:lnTo>
                    <a:pt x="186026" y="377690"/>
                  </a:lnTo>
                  <a:lnTo>
                    <a:pt x="0" y="377690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462266" y="2761435"/>
              <a:ext cx="99060" cy="297815"/>
            </a:xfrm>
            <a:custGeom>
              <a:avLst/>
              <a:gdLst/>
              <a:ahLst/>
              <a:cxnLst/>
              <a:rect l="l" t="t" r="r" b="b"/>
              <a:pathLst>
                <a:path w="99059" h="297814">
                  <a:moveTo>
                    <a:pt x="55685" y="0"/>
                  </a:moveTo>
                  <a:lnTo>
                    <a:pt x="43310" y="0"/>
                  </a:lnTo>
                  <a:lnTo>
                    <a:pt x="43312" y="198784"/>
                  </a:lnTo>
                  <a:lnTo>
                    <a:pt x="0" y="198784"/>
                  </a:lnTo>
                  <a:lnTo>
                    <a:pt x="49499" y="297783"/>
                  </a:lnTo>
                  <a:lnTo>
                    <a:pt x="98999" y="198784"/>
                  </a:lnTo>
                  <a:lnTo>
                    <a:pt x="55686" y="198784"/>
                  </a:lnTo>
                  <a:lnTo>
                    <a:pt x="55685" y="0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418750" y="3059220"/>
              <a:ext cx="186055" cy="688340"/>
            </a:xfrm>
            <a:custGeom>
              <a:avLst/>
              <a:gdLst/>
              <a:ahLst/>
              <a:cxnLst/>
              <a:rect l="l" t="t" r="r" b="b"/>
              <a:pathLst>
                <a:path w="186054" h="688339">
                  <a:moveTo>
                    <a:pt x="186026" y="0"/>
                  </a:moveTo>
                  <a:lnTo>
                    <a:pt x="0" y="0"/>
                  </a:lnTo>
                  <a:lnTo>
                    <a:pt x="0" y="688183"/>
                  </a:lnTo>
                  <a:lnTo>
                    <a:pt x="186026" y="688183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418750" y="3059219"/>
              <a:ext cx="186055" cy="688340"/>
            </a:xfrm>
            <a:custGeom>
              <a:avLst/>
              <a:gdLst/>
              <a:ahLst/>
              <a:cxnLst/>
              <a:rect l="l" t="t" r="r" b="b"/>
              <a:pathLst>
                <a:path w="186054" h="688339">
                  <a:moveTo>
                    <a:pt x="0" y="0"/>
                  </a:moveTo>
                  <a:lnTo>
                    <a:pt x="186026" y="0"/>
                  </a:lnTo>
                  <a:lnTo>
                    <a:pt x="186026" y="688183"/>
                  </a:lnTo>
                  <a:lnTo>
                    <a:pt x="0" y="688183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604145" y="3575543"/>
              <a:ext cx="186055" cy="172085"/>
            </a:xfrm>
            <a:custGeom>
              <a:avLst/>
              <a:gdLst/>
              <a:ahLst/>
              <a:cxnLst/>
              <a:rect l="l" t="t" r="r" b="b"/>
              <a:pathLst>
                <a:path w="186054" h="172085">
                  <a:moveTo>
                    <a:pt x="186026" y="0"/>
                  </a:moveTo>
                  <a:lnTo>
                    <a:pt x="0" y="0"/>
                  </a:lnTo>
                  <a:lnTo>
                    <a:pt x="0" y="171858"/>
                  </a:lnTo>
                  <a:lnTo>
                    <a:pt x="186026" y="171858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604145" y="3575543"/>
              <a:ext cx="186055" cy="172085"/>
            </a:xfrm>
            <a:custGeom>
              <a:avLst/>
              <a:gdLst/>
              <a:ahLst/>
              <a:cxnLst/>
              <a:rect l="l" t="t" r="r" b="b"/>
              <a:pathLst>
                <a:path w="186054" h="172085">
                  <a:moveTo>
                    <a:pt x="0" y="0"/>
                  </a:moveTo>
                  <a:lnTo>
                    <a:pt x="186026" y="0"/>
                  </a:lnTo>
                  <a:lnTo>
                    <a:pt x="186026" y="171858"/>
                  </a:lnTo>
                  <a:lnTo>
                    <a:pt x="0" y="171858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789536" y="3438022"/>
              <a:ext cx="186055" cy="309880"/>
            </a:xfrm>
            <a:custGeom>
              <a:avLst/>
              <a:gdLst/>
              <a:ahLst/>
              <a:cxnLst/>
              <a:rect l="l" t="t" r="r" b="b"/>
              <a:pathLst>
                <a:path w="186054" h="309879">
                  <a:moveTo>
                    <a:pt x="186026" y="0"/>
                  </a:moveTo>
                  <a:lnTo>
                    <a:pt x="0" y="0"/>
                  </a:lnTo>
                  <a:lnTo>
                    <a:pt x="0" y="309379"/>
                  </a:lnTo>
                  <a:lnTo>
                    <a:pt x="186026" y="309379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789536" y="3438023"/>
              <a:ext cx="186055" cy="309880"/>
            </a:xfrm>
            <a:custGeom>
              <a:avLst/>
              <a:gdLst/>
              <a:ahLst/>
              <a:cxnLst/>
              <a:rect l="l" t="t" r="r" b="b"/>
              <a:pathLst>
                <a:path w="186054" h="309879">
                  <a:moveTo>
                    <a:pt x="0" y="0"/>
                  </a:moveTo>
                  <a:lnTo>
                    <a:pt x="186026" y="0"/>
                  </a:lnTo>
                  <a:lnTo>
                    <a:pt x="186026" y="309379"/>
                  </a:lnTo>
                  <a:lnTo>
                    <a:pt x="0" y="309379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974930" y="3329665"/>
              <a:ext cx="186055" cy="417830"/>
            </a:xfrm>
            <a:custGeom>
              <a:avLst/>
              <a:gdLst/>
              <a:ahLst/>
              <a:cxnLst/>
              <a:rect l="l" t="t" r="r" b="b"/>
              <a:pathLst>
                <a:path w="186054" h="417829">
                  <a:moveTo>
                    <a:pt x="186026" y="0"/>
                  </a:moveTo>
                  <a:lnTo>
                    <a:pt x="0" y="0"/>
                  </a:lnTo>
                  <a:lnTo>
                    <a:pt x="0" y="417736"/>
                  </a:lnTo>
                  <a:lnTo>
                    <a:pt x="186026" y="417736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974930" y="3329665"/>
              <a:ext cx="186055" cy="417830"/>
            </a:xfrm>
            <a:custGeom>
              <a:avLst/>
              <a:gdLst/>
              <a:ahLst/>
              <a:cxnLst/>
              <a:rect l="l" t="t" r="r" b="b"/>
              <a:pathLst>
                <a:path w="186054" h="417829">
                  <a:moveTo>
                    <a:pt x="0" y="0"/>
                  </a:moveTo>
                  <a:lnTo>
                    <a:pt x="186026" y="0"/>
                  </a:lnTo>
                  <a:lnTo>
                    <a:pt x="186026" y="417736"/>
                  </a:lnTo>
                  <a:lnTo>
                    <a:pt x="0" y="417736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160321" y="3674761"/>
              <a:ext cx="186055" cy="73025"/>
            </a:xfrm>
            <a:custGeom>
              <a:avLst/>
              <a:gdLst/>
              <a:ahLst/>
              <a:cxnLst/>
              <a:rect l="l" t="t" r="r" b="b"/>
              <a:pathLst>
                <a:path w="186054" h="73025">
                  <a:moveTo>
                    <a:pt x="186026" y="0"/>
                  </a:moveTo>
                  <a:lnTo>
                    <a:pt x="0" y="0"/>
                  </a:lnTo>
                  <a:lnTo>
                    <a:pt x="0" y="72640"/>
                  </a:lnTo>
                  <a:lnTo>
                    <a:pt x="186026" y="72640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160321" y="3674762"/>
              <a:ext cx="186055" cy="73025"/>
            </a:xfrm>
            <a:custGeom>
              <a:avLst/>
              <a:gdLst/>
              <a:ahLst/>
              <a:cxnLst/>
              <a:rect l="l" t="t" r="r" b="b"/>
              <a:pathLst>
                <a:path w="186054" h="73025">
                  <a:moveTo>
                    <a:pt x="0" y="0"/>
                  </a:moveTo>
                  <a:lnTo>
                    <a:pt x="186026" y="0"/>
                  </a:lnTo>
                  <a:lnTo>
                    <a:pt x="186026" y="72640"/>
                  </a:lnTo>
                  <a:lnTo>
                    <a:pt x="0" y="72640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45320" y="6640593"/>
              <a:ext cx="204228" cy="21482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4537" y="6640593"/>
              <a:ext cx="204228" cy="21482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3755" y="6640593"/>
              <a:ext cx="204228" cy="21482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2969" y="6640593"/>
              <a:ext cx="204228" cy="21482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430586" y="6517536"/>
              <a:ext cx="5450205" cy="475615"/>
            </a:xfrm>
            <a:custGeom>
              <a:avLst/>
              <a:gdLst/>
              <a:ahLst/>
              <a:cxnLst/>
              <a:rect l="l" t="t" r="r" b="b"/>
              <a:pathLst>
                <a:path w="5450205" h="475615">
                  <a:moveTo>
                    <a:pt x="0" y="79202"/>
                  </a:moveTo>
                  <a:lnTo>
                    <a:pt x="6224" y="48373"/>
                  </a:lnTo>
                  <a:lnTo>
                    <a:pt x="23197" y="23197"/>
                  </a:lnTo>
                  <a:lnTo>
                    <a:pt x="48372" y="6224"/>
                  </a:lnTo>
                  <a:lnTo>
                    <a:pt x="79201" y="0"/>
                  </a:lnTo>
                  <a:lnTo>
                    <a:pt x="5370587" y="0"/>
                  </a:lnTo>
                  <a:lnTo>
                    <a:pt x="5401416" y="6224"/>
                  </a:lnTo>
                  <a:lnTo>
                    <a:pt x="5426592" y="23197"/>
                  </a:lnTo>
                  <a:lnTo>
                    <a:pt x="5443565" y="48373"/>
                  </a:lnTo>
                  <a:lnTo>
                    <a:pt x="5449789" y="79202"/>
                  </a:lnTo>
                  <a:lnTo>
                    <a:pt x="5449789" y="395996"/>
                  </a:lnTo>
                  <a:lnTo>
                    <a:pt x="5443565" y="426825"/>
                  </a:lnTo>
                  <a:lnTo>
                    <a:pt x="5426592" y="452001"/>
                  </a:lnTo>
                  <a:lnTo>
                    <a:pt x="5401416" y="468974"/>
                  </a:lnTo>
                  <a:lnTo>
                    <a:pt x="5370587" y="475199"/>
                  </a:lnTo>
                  <a:lnTo>
                    <a:pt x="79201" y="475199"/>
                  </a:lnTo>
                  <a:lnTo>
                    <a:pt x="48372" y="468974"/>
                  </a:lnTo>
                  <a:lnTo>
                    <a:pt x="23197" y="452001"/>
                  </a:lnTo>
                  <a:lnTo>
                    <a:pt x="6224" y="426825"/>
                  </a:lnTo>
                  <a:lnTo>
                    <a:pt x="0" y="395996"/>
                  </a:lnTo>
                  <a:lnTo>
                    <a:pt x="0" y="79202"/>
                  </a:lnTo>
                  <a:close/>
                </a:path>
              </a:pathLst>
            </a:custGeom>
            <a:ln w="24749">
              <a:solidFill>
                <a:srgbClr val="0047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4961" y="6640593"/>
              <a:ext cx="204228" cy="21482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4178" y="6640593"/>
              <a:ext cx="204228" cy="21482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3395" y="6640593"/>
              <a:ext cx="204228" cy="21482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2610" y="6640593"/>
              <a:ext cx="204228" cy="21482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19910" y="6639557"/>
              <a:ext cx="204228" cy="21482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9127" y="6639557"/>
              <a:ext cx="204228" cy="21482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58343" y="6639557"/>
              <a:ext cx="204228" cy="21482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27558" y="6639557"/>
              <a:ext cx="204228" cy="21482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13984" y="6639560"/>
              <a:ext cx="204228" cy="21482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83201" y="6639560"/>
              <a:ext cx="204228" cy="21482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52418" y="6639560"/>
              <a:ext cx="204228" cy="21482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1632" y="6639560"/>
              <a:ext cx="204228" cy="214828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980111" y="6992683"/>
              <a:ext cx="4303395" cy="953135"/>
            </a:xfrm>
            <a:custGeom>
              <a:avLst/>
              <a:gdLst/>
              <a:ahLst/>
              <a:cxnLst/>
              <a:rect l="l" t="t" r="r" b="b"/>
              <a:pathLst>
                <a:path w="4303395" h="953134">
                  <a:moveTo>
                    <a:pt x="143764" y="123228"/>
                  </a:moveTo>
                  <a:lnTo>
                    <a:pt x="71882" y="0"/>
                  </a:lnTo>
                  <a:lnTo>
                    <a:pt x="0" y="123228"/>
                  </a:lnTo>
                  <a:lnTo>
                    <a:pt x="1993" y="130810"/>
                  </a:lnTo>
                  <a:lnTo>
                    <a:pt x="13804" y="137693"/>
                  </a:lnTo>
                  <a:lnTo>
                    <a:pt x="21386" y="135699"/>
                  </a:lnTo>
                  <a:lnTo>
                    <a:pt x="59512" y="70332"/>
                  </a:lnTo>
                  <a:lnTo>
                    <a:pt x="59512" y="953008"/>
                  </a:lnTo>
                  <a:lnTo>
                    <a:pt x="84264" y="953008"/>
                  </a:lnTo>
                  <a:lnTo>
                    <a:pt x="84264" y="70332"/>
                  </a:lnTo>
                  <a:lnTo>
                    <a:pt x="122389" y="135699"/>
                  </a:lnTo>
                  <a:lnTo>
                    <a:pt x="129971" y="137693"/>
                  </a:lnTo>
                  <a:lnTo>
                    <a:pt x="141782" y="130810"/>
                  </a:lnTo>
                  <a:lnTo>
                    <a:pt x="143764" y="123228"/>
                  </a:lnTo>
                  <a:close/>
                </a:path>
                <a:path w="4303395" h="953134">
                  <a:moveTo>
                    <a:pt x="1489125" y="123228"/>
                  </a:moveTo>
                  <a:lnTo>
                    <a:pt x="1417243" y="0"/>
                  </a:lnTo>
                  <a:lnTo>
                    <a:pt x="1345361" y="123228"/>
                  </a:lnTo>
                  <a:lnTo>
                    <a:pt x="1347355" y="130810"/>
                  </a:lnTo>
                  <a:lnTo>
                    <a:pt x="1359154" y="137693"/>
                  </a:lnTo>
                  <a:lnTo>
                    <a:pt x="1366735" y="135699"/>
                  </a:lnTo>
                  <a:lnTo>
                    <a:pt x="1404861" y="70332"/>
                  </a:lnTo>
                  <a:lnTo>
                    <a:pt x="1404861" y="953008"/>
                  </a:lnTo>
                  <a:lnTo>
                    <a:pt x="1429613" y="953008"/>
                  </a:lnTo>
                  <a:lnTo>
                    <a:pt x="1429613" y="70332"/>
                  </a:lnTo>
                  <a:lnTo>
                    <a:pt x="1467751" y="135699"/>
                  </a:lnTo>
                  <a:lnTo>
                    <a:pt x="1475320" y="137693"/>
                  </a:lnTo>
                  <a:lnTo>
                    <a:pt x="1487131" y="130810"/>
                  </a:lnTo>
                  <a:lnTo>
                    <a:pt x="1489125" y="123228"/>
                  </a:lnTo>
                  <a:close/>
                </a:path>
                <a:path w="4303395" h="953134">
                  <a:moveTo>
                    <a:pt x="2933357" y="123228"/>
                  </a:moveTo>
                  <a:lnTo>
                    <a:pt x="2861475" y="0"/>
                  </a:lnTo>
                  <a:lnTo>
                    <a:pt x="2789593" y="123228"/>
                  </a:lnTo>
                  <a:lnTo>
                    <a:pt x="2791587" y="130810"/>
                  </a:lnTo>
                  <a:lnTo>
                    <a:pt x="2803398" y="137693"/>
                  </a:lnTo>
                  <a:lnTo>
                    <a:pt x="2810967" y="135699"/>
                  </a:lnTo>
                  <a:lnTo>
                    <a:pt x="2849105" y="70332"/>
                  </a:lnTo>
                  <a:lnTo>
                    <a:pt x="2849105" y="953008"/>
                  </a:lnTo>
                  <a:lnTo>
                    <a:pt x="2873845" y="953008"/>
                  </a:lnTo>
                  <a:lnTo>
                    <a:pt x="2873845" y="70332"/>
                  </a:lnTo>
                  <a:lnTo>
                    <a:pt x="2911983" y="135699"/>
                  </a:lnTo>
                  <a:lnTo>
                    <a:pt x="2919552" y="137693"/>
                  </a:lnTo>
                  <a:lnTo>
                    <a:pt x="2931363" y="130810"/>
                  </a:lnTo>
                  <a:lnTo>
                    <a:pt x="2933357" y="123228"/>
                  </a:lnTo>
                  <a:close/>
                </a:path>
                <a:path w="4303395" h="953134">
                  <a:moveTo>
                    <a:pt x="4303280" y="123228"/>
                  </a:moveTo>
                  <a:lnTo>
                    <a:pt x="4231398" y="0"/>
                  </a:lnTo>
                  <a:lnTo>
                    <a:pt x="4159516" y="123228"/>
                  </a:lnTo>
                  <a:lnTo>
                    <a:pt x="4161510" y="130810"/>
                  </a:lnTo>
                  <a:lnTo>
                    <a:pt x="4173309" y="137693"/>
                  </a:lnTo>
                  <a:lnTo>
                    <a:pt x="4180890" y="135699"/>
                  </a:lnTo>
                  <a:lnTo>
                    <a:pt x="4219016" y="70332"/>
                  </a:lnTo>
                  <a:lnTo>
                    <a:pt x="4219016" y="953008"/>
                  </a:lnTo>
                  <a:lnTo>
                    <a:pt x="4243768" y="953008"/>
                  </a:lnTo>
                  <a:lnTo>
                    <a:pt x="4243768" y="70332"/>
                  </a:lnTo>
                  <a:lnTo>
                    <a:pt x="4281906" y="135699"/>
                  </a:lnTo>
                  <a:lnTo>
                    <a:pt x="4289476" y="137693"/>
                  </a:lnTo>
                  <a:lnTo>
                    <a:pt x="4301287" y="130810"/>
                  </a:lnTo>
                  <a:lnTo>
                    <a:pt x="4303280" y="1232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086080" y="5524776"/>
              <a:ext cx="144145" cy="993140"/>
            </a:xfrm>
            <a:custGeom>
              <a:avLst/>
              <a:gdLst/>
              <a:ahLst/>
              <a:cxnLst/>
              <a:rect l="l" t="t" r="r" b="b"/>
              <a:pathLst>
                <a:path w="144145" h="993140">
                  <a:moveTo>
                    <a:pt x="72233" y="0"/>
                  </a:moveTo>
                  <a:lnTo>
                    <a:pt x="0" y="123022"/>
                  </a:lnTo>
                  <a:lnTo>
                    <a:pt x="1972" y="130605"/>
                  </a:lnTo>
                  <a:lnTo>
                    <a:pt x="13759" y="137525"/>
                  </a:lnTo>
                  <a:lnTo>
                    <a:pt x="21343" y="135554"/>
                  </a:lnTo>
                  <a:lnTo>
                    <a:pt x="59658" y="70298"/>
                  </a:lnTo>
                  <a:lnTo>
                    <a:pt x="57028" y="992725"/>
                  </a:lnTo>
                  <a:lnTo>
                    <a:pt x="81777" y="992795"/>
                  </a:lnTo>
                  <a:lnTo>
                    <a:pt x="84408" y="70369"/>
                  </a:lnTo>
                  <a:lnTo>
                    <a:pt x="122350" y="135843"/>
                  </a:lnTo>
                  <a:lnTo>
                    <a:pt x="129922" y="137857"/>
                  </a:lnTo>
                  <a:lnTo>
                    <a:pt x="141749" y="131003"/>
                  </a:lnTo>
                  <a:lnTo>
                    <a:pt x="143765" y="123433"/>
                  </a:lnTo>
                  <a:lnTo>
                    <a:pt x="72233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69817" y="5172690"/>
              <a:ext cx="204228" cy="21482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8950" y="5172690"/>
              <a:ext cx="204228" cy="21482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08081" y="5172690"/>
              <a:ext cx="204228" cy="21482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77212" y="5172690"/>
              <a:ext cx="204228" cy="214828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7455085" y="5049635"/>
              <a:ext cx="3406775" cy="475615"/>
            </a:xfrm>
            <a:custGeom>
              <a:avLst/>
              <a:gdLst/>
              <a:ahLst/>
              <a:cxnLst/>
              <a:rect l="l" t="t" r="r" b="b"/>
              <a:pathLst>
                <a:path w="3406775" h="475614">
                  <a:moveTo>
                    <a:pt x="0" y="79201"/>
                  </a:moveTo>
                  <a:lnTo>
                    <a:pt x="6224" y="48372"/>
                  </a:lnTo>
                  <a:lnTo>
                    <a:pt x="23197" y="23197"/>
                  </a:lnTo>
                  <a:lnTo>
                    <a:pt x="48372" y="6224"/>
                  </a:lnTo>
                  <a:lnTo>
                    <a:pt x="79200" y="0"/>
                  </a:lnTo>
                  <a:lnTo>
                    <a:pt x="3327257" y="0"/>
                  </a:lnTo>
                  <a:lnTo>
                    <a:pt x="3358086" y="6224"/>
                  </a:lnTo>
                  <a:lnTo>
                    <a:pt x="3383261" y="23197"/>
                  </a:lnTo>
                  <a:lnTo>
                    <a:pt x="3400234" y="48372"/>
                  </a:lnTo>
                  <a:lnTo>
                    <a:pt x="3406458" y="79201"/>
                  </a:lnTo>
                  <a:lnTo>
                    <a:pt x="3406458" y="395998"/>
                  </a:lnTo>
                  <a:lnTo>
                    <a:pt x="3400234" y="426826"/>
                  </a:lnTo>
                  <a:lnTo>
                    <a:pt x="3383261" y="452001"/>
                  </a:lnTo>
                  <a:lnTo>
                    <a:pt x="3358086" y="468975"/>
                  </a:lnTo>
                  <a:lnTo>
                    <a:pt x="3327257" y="475199"/>
                  </a:lnTo>
                  <a:lnTo>
                    <a:pt x="79200" y="475199"/>
                  </a:lnTo>
                  <a:lnTo>
                    <a:pt x="48372" y="468975"/>
                  </a:lnTo>
                  <a:lnTo>
                    <a:pt x="23197" y="452001"/>
                  </a:lnTo>
                  <a:lnTo>
                    <a:pt x="6224" y="426826"/>
                  </a:lnTo>
                  <a:lnTo>
                    <a:pt x="0" y="395998"/>
                  </a:lnTo>
                  <a:lnTo>
                    <a:pt x="0" y="79201"/>
                  </a:lnTo>
                  <a:close/>
                </a:path>
              </a:pathLst>
            </a:custGeom>
            <a:ln w="2474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46343" y="5172690"/>
              <a:ext cx="204228" cy="214828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15474" y="5172690"/>
              <a:ext cx="204228" cy="21482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84607" y="5172690"/>
              <a:ext cx="204228" cy="21482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53737" y="5172690"/>
              <a:ext cx="204228" cy="21482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22869" y="5172690"/>
              <a:ext cx="204228" cy="21482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92000" y="5172690"/>
              <a:ext cx="204228" cy="21482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61132" y="5172690"/>
              <a:ext cx="204228" cy="214828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30266" y="5172690"/>
              <a:ext cx="204228" cy="21482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98112" y="5865494"/>
              <a:ext cx="447479" cy="35113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9086432" y="4030569"/>
              <a:ext cx="144145" cy="1019175"/>
            </a:xfrm>
            <a:custGeom>
              <a:avLst/>
              <a:gdLst/>
              <a:ahLst/>
              <a:cxnLst/>
              <a:rect l="l" t="t" r="r" b="b"/>
              <a:pathLst>
                <a:path w="144145" h="1019175">
                  <a:moveTo>
                    <a:pt x="71882" y="0"/>
                  </a:moveTo>
                  <a:lnTo>
                    <a:pt x="0" y="123228"/>
                  </a:lnTo>
                  <a:lnTo>
                    <a:pt x="1993" y="130804"/>
                  </a:lnTo>
                  <a:lnTo>
                    <a:pt x="13801" y="137692"/>
                  </a:lnTo>
                  <a:lnTo>
                    <a:pt x="21377" y="135699"/>
                  </a:lnTo>
                  <a:lnTo>
                    <a:pt x="59507" y="70333"/>
                  </a:lnTo>
                  <a:lnTo>
                    <a:pt x="59505" y="1019065"/>
                  </a:lnTo>
                  <a:lnTo>
                    <a:pt x="84255" y="1019065"/>
                  </a:lnTo>
                  <a:lnTo>
                    <a:pt x="84256" y="70333"/>
                  </a:lnTo>
                  <a:lnTo>
                    <a:pt x="122387" y="135699"/>
                  </a:lnTo>
                  <a:lnTo>
                    <a:pt x="129964" y="137692"/>
                  </a:lnTo>
                  <a:lnTo>
                    <a:pt x="141771" y="130804"/>
                  </a:lnTo>
                  <a:lnTo>
                    <a:pt x="143766" y="123228"/>
                  </a:lnTo>
                  <a:lnTo>
                    <a:pt x="71882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688" y="4384842"/>
              <a:ext cx="308222" cy="314111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8120997" y="3809288"/>
              <a:ext cx="2225675" cy="99060"/>
            </a:xfrm>
            <a:custGeom>
              <a:avLst/>
              <a:gdLst/>
              <a:ahLst/>
              <a:cxnLst/>
              <a:rect l="l" t="t" r="r" b="b"/>
              <a:pathLst>
                <a:path w="2225675" h="99060">
                  <a:moveTo>
                    <a:pt x="2126349" y="1"/>
                  </a:moveTo>
                  <a:lnTo>
                    <a:pt x="2126349" y="37125"/>
                  </a:lnTo>
                  <a:lnTo>
                    <a:pt x="99000" y="37124"/>
                  </a:lnTo>
                  <a:lnTo>
                    <a:pt x="99000" y="0"/>
                  </a:lnTo>
                  <a:lnTo>
                    <a:pt x="0" y="49499"/>
                  </a:lnTo>
                  <a:lnTo>
                    <a:pt x="99000" y="98999"/>
                  </a:lnTo>
                  <a:lnTo>
                    <a:pt x="99000" y="61874"/>
                  </a:lnTo>
                  <a:lnTo>
                    <a:pt x="2126349" y="61876"/>
                  </a:lnTo>
                  <a:lnTo>
                    <a:pt x="2126349" y="99001"/>
                  </a:lnTo>
                  <a:lnTo>
                    <a:pt x="2225349" y="49500"/>
                  </a:lnTo>
                  <a:lnTo>
                    <a:pt x="2126349" y="1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54641" y="3386742"/>
              <a:ext cx="4284560" cy="398043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989567" y="3323876"/>
              <a:ext cx="4916805" cy="1038860"/>
            </a:xfrm>
            <a:custGeom>
              <a:avLst/>
              <a:gdLst/>
              <a:ahLst/>
              <a:cxnLst/>
              <a:rect l="l" t="t" r="r" b="b"/>
              <a:pathLst>
                <a:path w="4916805" h="1038860">
                  <a:moveTo>
                    <a:pt x="0" y="1038749"/>
                  </a:moveTo>
                  <a:lnTo>
                    <a:pt x="4916666" y="1038749"/>
                  </a:lnTo>
                  <a:lnTo>
                    <a:pt x="4916666" y="0"/>
                  </a:lnTo>
                  <a:lnTo>
                    <a:pt x="0" y="0"/>
                  </a:lnTo>
                  <a:lnTo>
                    <a:pt x="0" y="10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2422904" y="5549177"/>
            <a:ext cx="2054275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spc="-56" dirty="0">
                <a:latin typeface="Arial"/>
                <a:cs typeface="Arial"/>
              </a:rPr>
              <a:t>words</a:t>
            </a:r>
            <a:r>
              <a:rPr sz="1617" spc="-53" dirty="0">
                <a:latin typeface="Arial"/>
                <a:cs typeface="Arial"/>
              </a:rPr>
              <a:t> </a:t>
            </a:r>
            <a:r>
              <a:rPr sz="1617" spc="183" dirty="0">
                <a:latin typeface="Arial"/>
                <a:cs typeface="Arial"/>
              </a:rPr>
              <a:t>/</a:t>
            </a:r>
            <a:r>
              <a:rPr sz="1617" spc="-42" dirty="0">
                <a:latin typeface="Arial"/>
                <a:cs typeface="Arial"/>
              </a:rPr>
              <a:t> </a:t>
            </a:r>
            <a:r>
              <a:rPr sz="1617" spc="-56" dirty="0">
                <a:latin typeface="Arial"/>
                <a:cs typeface="Arial"/>
              </a:rPr>
              <a:t>one-</a:t>
            </a:r>
            <a:r>
              <a:rPr sz="1617" dirty="0">
                <a:latin typeface="Arial"/>
                <a:cs typeface="Arial"/>
              </a:rPr>
              <a:t>hot</a:t>
            </a:r>
            <a:r>
              <a:rPr sz="1617" spc="-49" dirty="0">
                <a:latin typeface="Arial"/>
                <a:cs typeface="Arial"/>
              </a:rPr>
              <a:t> </a:t>
            </a:r>
            <a:r>
              <a:rPr sz="1617" spc="-46" dirty="0">
                <a:latin typeface="Arial"/>
                <a:cs typeface="Arial"/>
              </a:rPr>
              <a:t>vectors</a:t>
            </a:r>
            <a:endParaRPr sz="1617">
              <a:latin typeface="Arial"/>
              <a:cs typeface="Arial"/>
            </a:endParaRPr>
          </a:p>
        </p:txBody>
      </p:sp>
      <p:pic>
        <p:nvPicPr>
          <p:cNvPr id="74" name="object 7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280951" y="5865330"/>
            <a:ext cx="402978" cy="292359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219015" y="5865330"/>
            <a:ext cx="387986" cy="29235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228234" y="5865330"/>
            <a:ext cx="402377" cy="292359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221525" y="5865330"/>
            <a:ext cx="427149" cy="29235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438455" y="5884364"/>
            <a:ext cx="1890242" cy="254024"/>
          </a:xfrm>
          <a:prstGeom prst="rect">
            <a:avLst/>
          </a:prstGeom>
        </p:spPr>
      </p:pic>
      <p:sp>
        <p:nvSpPr>
          <p:cNvPr id="79" name="object 79"/>
          <p:cNvSpPr txBox="1"/>
          <p:nvPr/>
        </p:nvSpPr>
        <p:spPr>
          <a:xfrm>
            <a:off x="2454041" y="3429091"/>
            <a:ext cx="1072455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spc="-35" dirty="0">
                <a:solidFill>
                  <a:srgbClr val="A4001D"/>
                </a:solidFill>
                <a:latin typeface="Arial"/>
                <a:cs typeface="Arial"/>
              </a:rPr>
              <a:t>hidden</a:t>
            </a:r>
            <a:r>
              <a:rPr sz="1617" spc="-74" dirty="0">
                <a:solidFill>
                  <a:srgbClr val="A4001D"/>
                </a:solidFill>
                <a:latin typeface="Arial"/>
                <a:cs typeface="Arial"/>
              </a:rPr>
              <a:t> </a:t>
            </a:r>
            <a:r>
              <a:rPr sz="1617" spc="-42" dirty="0">
                <a:solidFill>
                  <a:srgbClr val="A4001D"/>
                </a:solidFill>
                <a:latin typeface="Arial"/>
                <a:cs typeface="Arial"/>
              </a:rPr>
              <a:t>layer</a:t>
            </a:r>
            <a:endParaRPr sz="1617">
              <a:latin typeface="Arial"/>
              <a:cs typeface="Arial"/>
            </a:endParaRPr>
          </a:p>
        </p:txBody>
      </p:sp>
      <p:pic>
        <p:nvPicPr>
          <p:cNvPr id="80" name="object 8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379439" y="3674370"/>
            <a:ext cx="1921215" cy="345774"/>
          </a:xfrm>
          <a:prstGeom prst="rect">
            <a:avLst/>
          </a:prstGeom>
        </p:spPr>
      </p:pic>
      <p:sp>
        <p:nvSpPr>
          <p:cNvPr id="81" name="object 81"/>
          <p:cNvSpPr/>
          <p:nvPr/>
        </p:nvSpPr>
        <p:spPr>
          <a:xfrm>
            <a:off x="2300768" y="6628933"/>
            <a:ext cx="2338239" cy="87957"/>
          </a:xfrm>
          <a:custGeom>
            <a:avLst/>
            <a:gdLst/>
            <a:ahLst/>
            <a:cxnLst/>
            <a:rect l="l" t="t" r="r" b="b"/>
            <a:pathLst>
              <a:path w="3325495" h="125095">
                <a:moveTo>
                  <a:pt x="0" y="124617"/>
                </a:moveTo>
                <a:lnTo>
                  <a:pt x="3325097" y="124617"/>
                </a:lnTo>
                <a:lnTo>
                  <a:pt x="3325097" y="0"/>
                </a:lnTo>
                <a:lnTo>
                  <a:pt x="0" y="0"/>
                </a:lnTo>
                <a:lnTo>
                  <a:pt x="0" y="1246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2749068" y="5727126"/>
            <a:ext cx="1437680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1</a:t>
            </a:r>
            <a:r>
              <a:rPr sz="2531" spc="-35" dirty="0">
                <a:latin typeface="Times New Roman"/>
                <a:cs typeface="Times New Roman"/>
              </a:rPr>
              <a:t>,</a:t>
            </a:r>
            <a:r>
              <a:rPr sz="2531" spc="-197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2</a:t>
            </a:r>
            <a:r>
              <a:rPr sz="2531" spc="-35" dirty="0">
                <a:latin typeface="Times New Roman"/>
                <a:cs typeface="Times New Roman"/>
              </a:rPr>
              <a:t>,</a:t>
            </a:r>
            <a:r>
              <a:rPr sz="2531" spc="-197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3</a:t>
            </a:r>
            <a:r>
              <a:rPr sz="2531" spc="-35" dirty="0">
                <a:latin typeface="Times New Roman"/>
                <a:cs typeface="Times New Roman"/>
              </a:rPr>
              <a:t>,</a:t>
            </a:r>
            <a:r>
              <a:rPr sz="2531" spc="-197" dirty="0">
                <a:latin typeface="Times New Roman"/>
                <a:cs typeface="Times New Roman"/>
              </a:rPr>
              <a:t> </a:t>
            </a: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4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417841" y="1525671"/>
            <a:ext cx="6442323" cy="13946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18288">
              <a:lnSpc>
                <a:spcPts val="1392"/>
              </a:lnSpc>
            </a:pPr>
            <a:r>
              <a:rPr sz="1266" i="1" spc="-7" dirty="0">
                <a:solidFill>
                  <a:srgbClr val="177245"/>
                </a:solidFill>
                <a:latin typeface="Arial"/>
                <a:cs typeface="Arial"/>
              </a:rPr>
              <a:t>books</a:t>
            </a:r>
            <a:endParaRPr sz="1266">
              <a:latin typeface="Arial"/>
              <a:cs typeface="Arial"/>
            </a:endParaRPr>
          </a:p>
          <a:p>
            <a:pPr marL="5549603">
              <a:lnSpc>
                <a:spcPts val="1438"/>
              </a:lnSpc>
            </a:pPr>
            <a:r>
              <a:rPr sz="1266" i="1" spc="-7" dirty="0">
                <a:solidFill>
                  <a:srgbClr val="177245"/>
                </a:solidFill>
                <a:latin typeface="Arial"/>
                <a:cs typeface="Arial"/>
              </a:rPr>
              <a:t>laptops</a:t>
            </a:r>
            <a:endParaRPr sz="1266">
              <a:latin typeface="Arial"/>
              <a:cs typeface="Arial"/>
            </a:endParaRPr>
          </a:p>
          <a:p>
            <a:pPr>
              <a:spcBef>
                <a:spcPts val="1318"/>
              </a:spcBef>
            </a:pPr>
            <a:r>
              <a:rPr sz="1617" dirty="0">
                <a:solidFill>
                  <a:srgbClr val="177245"/>
                </a:solidFill>
                <a:latin typeface="Arial"/>
                <a:cs typeface="Arial"/>
              </a:rPr>
              <a:t>output</a:t>
            </a:r>
            <a:r>
              <a:rPr sz="1617" spc="-21" dirty="0">
                <a:solidFill>
                  <a:srgbClr val="177245"/>
                </a:solidFill>
                <a:latin typeface="Arial"/>
                <a:cs typeface="Arial"/>
              </a:rPr>
              <a:t> </a:t>
            </a:r>
            <a:r>
              <a:rPr sz="1617" spc="-7" dirty="0">
                <a:solidFill>
                  <a:srgbClr val="177245"/>
                </a:solidFill>
                <a:latin typeface="Arial"/>
                <a:cs typeface="Arial"/>
              </a:rPr>
              <a:t>distribution</a:t>
            </a:r>
            <a:endParaRPr sz="1617">
              <a:latin typeface="Arial"/>
              <a:cs typeface="Arial"/>
            </a:endParaRPr>
          </a:p>
          <a:p>
            <a:pPr marL="20537">
              <a:spcBef>
                <a:spcPts val="158"/>
              </a:spcBef>
            </a:pPr>
            <a:r>
              <a:rPr sz="2180" i="1" dirty="0">
                <a:latin typeface="Times New Roman"/>
                <a:cs typeface="Times New Roman"/>
              </a:rPr>
              <a:t>y</a:t>
            </a:r>
            <a:r>
              <a:rPr sz="2180" dirty="0">
                <a:latin typeface="Times New Roman"/>
                <a:cs typeface="Times New Roman"/>
              </a:rPr>
              <a:t>̂</a:t>
            </a:r>
            <a:r>
              <a:rPr sz="2180" spc="35" dirty="0">
                <a:latin typeface="Times New Roman"/>
                <a:cs typeface="Times New Roman"/>
              </a:rPr>
              <a:t> </a:t>
            </a:r>
            <a:r>
              <a:rPr sz="2180" spc="257" dirty="0">
                <a:latin typeface="Times New Roman"/>
                <a:cs typeface="Times New Roman"/>
              </a:rPr>
              <a:t>=</a:t>
            </a:r>
            <a:r>
              <a:rPr sz="2180" spc="67" dirty="0">
                <a:latin typeface="Times New Roman"/>
                <a:cs typeface="Times New Roman"/>
              </a:rPr>
              <a:t> </a:t>
            </a:r>
            <a:r>
              <a:rPr sz="2180" spc="-7" dirty="0">
                <a:latin typeface="HelveticaNeue-Light"/>
                <a:cs typeface="HelveticaNeue-Light"/>
              </a:rPr>
              <a:t>softmax</a:t>
            </a:r>
            <a:r>
              <a:rPr sz="2180" spc="-7" dirty="0">
                <a:latin typeface="Times New Roman"/>
                <a:cs typeface="Times New Roman"/>
              </a:rPr>
              <a:t>(</a:t>
            </a:r>
            <a:r>
              <a:rPr sz="2180" i="1" spc="-7" dirty="0">
                <a:latin typeface="Times New Roman"/>
                <a:cs typeface="Times New Roman"/>
              </a:rPr>
              <a:t>W</a:t>
            </a:r>
            <a:r>
              <a:rPr sz="2320" spc="-11" baseline="-20202" dirty="0">
                <a:latin typeface="Times New Roman"/>
                <a:cs typeface="Times New Roman"/>
              </a:rPr>
              <a:t>2</a:t>
            </a:r>
            <a:r>
              <a:rPr sz="2180" i="1" spc="-7" dirty="0">
                <a:latin typeface="Times New Roman"/>
                <a:cs typeface="Times New Roman"/>
              </a:rPr>
              <a:t>h</a:t>
            </a:r>
            <a:r>
              <a:rPr sz="2180" i="1" spc="-56" dirty="0">
                <a:latin typeface="Times New Roman"/>
                <a:cs typeface="Times New Roman"/>
              </a:rPr>
              <a:t> </a:t>
            </a:r>
            <a:r>
              <a:rPr sz="2180" spc="257" dirty="0">
                <a:latin typeface="Times New Roman"/>
                <a:cs typeface="Times New Roman"/>
              </a:rPr>
              <a:t>+</a:t>
            </a:r>
            <a:r>
              <a:rPr sz="2180" spc="-56" dirty="0">
                <a:latin typeface="Times New Roman"/>
                <a:cs typeface="Times New Roman"/>
              </a:rPr>
              <a:t> </a:t>
            </a:r>
            <a:r>
              <a:rPr sz="2180" i="1" spc="-18" dirty="0">
                <a:latin typeface="Times New Roman"/>
                <a:cs typeface="Times New Roman"/>
              </a:rPr>
              <a:t>b</a:t>
            </a:r>
            <a:r>
              <a:rPr sz="2320" spc="-26" baseline="-20202" dirty="0">
                <a:latin typeface="Times New Roman"/>
                <a:cs typeface="Times New Roman"/>
              </a:rPr>
              <a:t>2</a:t>
            </a:r>
            <a:r>
              <a:rPr sz="2180" spc="-18" dirty="0">
                <a:latin typeface="Times New Roman"/>
                <a:cs typeface="Times New Roman"/>
              </a:rPr>
              <a:t>)</a:t>
            </a:r>
            <a:endParaRPr sz="2180">
              <a:latin typeface="Times New Roman"/>
              <a:cs typeface="Times New Roman"/>
            </a:endParaRPr>
          </a:p>
          <a:p>
            <a:pPr marL="4834361">
              <a:spcBef>
                <a:spcPts val="503"/>
              </a:spcBef>
              <a:tabLst>
                <a:tab pos="6209930" algn="l"/>
              </a:tabLst>
            </a:pPr>
            <a:r>
              <a:rPr sz="1898" spc="-53" baseline="1543" dirty="0">
                <a:solidFill>
                  <a:srgbClr val="177245"/>
                </a:solidFill>
                <a:latin typeface="Arial"/>
                <a:cs typeface="Arial"/>
              </a:rPr>
              <a:t>a</a:t>
            </a:r>
            <a:r>
              <a:rPr sz="1898" baseline="1543" dirty="0">
                <a:solidFill>
                  <a:srgbClr val="177245"/>
                </a:solidFill>
                <a:latin typeface="Arial"/>
                <a:cs typeface="Arial"/>
              </a:rPr>
              <a:t>	</a:t>
            </a:r>
            <a:r>
              <a:rPr sz="1266" spc="-88" dirty="0">
                <a:solidFill>
                  <a:srgbClr val="177245"/>
                </a:solidFill>
                <a:latin typeface="Arial"/>
                <a:cs typeface="Arial"/>
              </a:rPr>
              <a:t>zoo</a:t>
            </a:r>
            <a:endParaRPr sz="1266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135773" y="4055944"/>
            <a:ext cx="248692" cy="344494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180" i="1" dirty="0">
                <a:latin typeface="Times New Roman"/>
                <a:cs typeface="Times New Roman"/>
              </a:rPr>
              <a:t>W</a:t>
            </a:r>
            <a:endParaRPr sz="218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356638" y="4205428"/>
            <a:ext cx="116532" cy="247096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547" dirty="0">
                <a:latin typeface="Times New Roman"/>
                <a:cs typeface="Times New Roman"/>
              </a:rPr>
              <a:t>1</a:t>
            </a:r>
            <a:endParaRPr sz="1547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117914" y="3035809"/>
            <a:ext cx="372814" cy="344494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180" i="1" spc="-18" dirty="0">
                <a:latin typeface="Times New Roman"/>
                <a:cs typeface="Times New Roman"/>
              </a:rPr>
              <a:t>W</a:t>
            </a:r>
            <a:r>
              <a:rPr sz="2320" spc="-26" baseline="-20202" dirty="0">
                <a:latin typeface="Times New Roman"/>
                <a:cs typeface="Times New Roman"/>
              </a:rPr>
              <a:t>2</a:t>
            </a:r>
            <a:endParaRPr sz="2320" baseline="-20202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323333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1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275358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2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256321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3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237285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4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488154" y="3796206"/>
            <a:ext cx="1446609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dirty="0">
                <a:latin typeface="Times New Roman"/>
                <a:cs typeface="Times New Roman"/>
              </a:rPr>
              <a:t>h</a:t>
            </a:r>
            <a:r>
              <a:rPr sz="2531" i="1" spc="70" dirty="0">
                <a:latin typeface="Times New Roman"/>
                <a:cs typeface="Times New Roman"/>
              </a:rPr>
              <a:t> </a:t>
            </a:r>
            <a:r>
              <a:rPr sz="2531" spc="299" dirty="0">
                <a:latin typeface="Times New Roman"/>
                <a:cs typeface="Times New Roman"/>
              </a:rPr>
              <a:t>=</a:t>
            </a:r>
            <a:r>
              <a:rPr sz="2531" spc="70" dirty="0">
                <a:latin typeface="Times New Roman"/>
                <a:cs typeface="Times New Roman"/>
              </a:rPr>
              <a:t> </a:t>
            </a:r>
            <a:r>
              <a:rPr sz="2531" i="1" spc="-7" dirty="0">
                <a:latin typeface="Times New Roman"/>
                <a:cs typeface="Times New Roman"/>
              </a:rPr>
              <a:t>f</a:t>
            </a:r>
            <a:r>
              <a:rPr sz="2531" spc="-7" dirty="0">
                <a:latin typeface="Times New Roman"/>
                <a:cs typeface="Times New Roman"/>
              </a:rPr>
              <a:t>(</a:t>
            </a:r>
            <a:r>
              <a:rPr sz="2531" i="1" spc="-7" dirty="0">
                <a:latin typeface="Times New Roman"/>
                <a:cs typeface="Times New Roman"/>
              </a:rPr>
              <a:t>W</a:t>
            </a:r>
            <a:r>
              <a:rPr sz="2689" spc="-11" baseline="-19607" dirty="0">
                <a:latin typeface="Times New Roman"/>
                <a:cs typeface="Times New Roman"/>
              </a:rPr>
              <a:t>1</a:t>
            </a:r>
            <a:r>
              <a:rPr sz="2531" i="1" spc="-7" dirty="0">
                <a:latin typeface="Times New Roman"/>
                <a:cs typeface="Times New Roman"/>
              </a:rPr>
              <a:t>x</a:t>
            </a:r>
            <a:r>
              <a:rPr sz="2531" spc="-7" dirty="0">
                <a:latin typeface="Times New Roman"/>
                <a:cs typeface="Times New Roman"/>
              </a:rPr>
              <a:t>)</a:t>
            </a:r>
            <a:endParaRPr sz="2531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413974" y="4412922"/>
            <a:ext cx="2768650" cy="713757"/>
          </a:xfrm>
          <a:prstGeom prst="rect">
            <a:avLst/>
          </a:prstGeom>
        </p:spPr>
        <p:txBody>
          <a:bodyPr vert="horz" wrap="square" lIns="0" tIns="36611" rIns="0" bIns="0" rtlCol="0">
            <a:spAutoFit/>
          </a:bodyPr>
          <a:lstStyle/>
          <a:p>
            <a:pPr marL="17859">
              <a:spcBef>
                <a:spcPts val="288"/>
              </a:spcBef>
            </a:pPr>
            <a:r>
              <a:rPr sz="1617" spc="-60" dirty="0">
                <a:solidFill>
                  <a:srgbClr val="0047B6"/>
                </a:solidFill>
                <a:latin typeface="Arial"/>
                <a:cs typeface="Arial"/>
              </a:rPr>
              <a:t>concatenated</a:t>
            </a:r>
            <a:r>
              <a:rPr sz="1617" spc="-70" dirty="0">
                <a:solidFill>
                  <a:srgbClr val="0047B6"/>
                </a:solidFill>
                <a:latin typeface="Arial"/>
                <a:cs typeface="Arial"/>
              </a:rPr>
              <a:t> </a:t>
            </a:r>
            <a:r>
              <a:rPr sz="1617" spc="-14" dirty="0">
                <a:solidFill>
                  <a:srgbClr val="0047B6"/>
                </a:solidFill>
                <a:latin typeface="Arial"/>
                <a:cs typeface="Arial"/>
              </a:rPr>
              <a:t>word</a:t>
            </a:r>
            <a:r>
              <a:rPr sz="1617" spc="-67" dirty="0">
                <a:solidFill>
                  <a:srgbClr val="0047B6"/>
                </a:solidFill>
                <a:latin typeface="Arial"/>
                <a:cs typeface="Arial"/>
              </a:rPr>
              <a:t> </a:t>
            </a:r>
            <a:r>
              <a:rPr sz="1617" spc="-46" dirty="0">
                <a:solidFill>
                  <a:srgbClr val="0047B6"/>
                </a:solidFill>
                <a:latin typeface="Arial"/>
                <a:cs typeface="Arial"/>
              </a:rPr>
              <a:t>embeddings</a:t>
            </a:r>
            <a:endParaRPr sz="1617">
              <a:latin typeface="Arial"/>
              <a:cs typeface="Arial"/>
            </a:endParaRPr>
          </a:p>
          <a:p>
            <a:pPr marL="256273">
              <a:spcBef>
                <a:spcPts val="295"/>
              </a:spcBef>
            </a:pPr>
            <a:r>
              <a:rPr sz="2531" i="1" dirty="0">
                <a:latin typeface="Times New Roman"/>
                <a:cs typeface="Times New Roman"/>
              </a:rPr>
              <a:t>x</a:t>
            </a:r>
            <a:r>
              <a:rPr sz="2531" i="1" spc="98" dirty="0">
                <a:latin typeface="Times New Roman"/>
                <a:cs typeface="Times New Roman"/>
              </a:rPr>
              <a:t> </a:t>
            </a:r>
            <a:r>
              <a:rPr sz="2531" spc="299" dirty="0">
                <a:latin typeface="Times New Roman"/>
                <a:cs typeface="Times New Roman"/>
              </a:rPr>
              <a:t>=</a:t>
            </a:r>
            <a:r>
              <a:rPr sz="2531" spc="84" dirty="0">
                <a:latin typeface="Times New Roman"/>
                <a:cs typeface="Times New Roman"/>
              </a:rPr>
              <a:t> </a:t>
            </a:r>
            <a:r>
              <a:rPr sz="2531" spc="-28" dirty="0">
                <a:latin typeface="Times New Roman"/>
                <a:cs typeface="Times New Roman"/>
              </a:rPr>
              <a:t>[</a:t>
            </a:r>
            <a:r>
              <a:rPr sz="2531" i="1" spc="-28" dirty="0">
                <a:latin typeface="Times New Roman"/>
                <a:cs typeface="Times New Roman"/>
              </a:rPr>
              <a:t>c</a:t>
            </a:r>
            <a:r>
              <a:rPr sz="2689" spc="-42" baseline="-19607" dirty="0">
                <a:latin typeface="Times New Roman"/>
                <a:cs typeface="Times New Roman"/>
              </a:rPr>
              <a:t>1</a:t>
            </a:r>
            <a:r>
              <a:rPr sz="2531" spc="-28" dirty="0">
                <a:latin typeface="Times New Roman"/>
                <a:cs typeface="Times New Roman"/>
              </a:rPr>
              <a:t>;</a:t>
            </a:r>
            <a:r>
              <a:rPr sz="2531" spc="-204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2</a:t>
            </a:r>
            <a:r>
              <a:rPr sz="2531" spc="-35" dirty="0">
                <a:latin typeface="Times New Roman"/>
                <a:cs typeface="Times New Roman"/>
              </a:rPr>
              <a:t>;</a:t>
            </a:r>
            <a:r>
              <a:rPr sz="2531" spc="-200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3</a:t>
            </a:r>
            <a:r>
              <a:rPr sz="2531" spc="-35" dirty="0">
                <a:latin typeface="Times New Roman"/>
                <a:cs typeface="Times New Roman"/>
              </a:rPr>
              <a:t>;</a:t>
            </a:r>
            <a:r>
              <a:rPr sz="2531" spc="-204" dirty="0">
                <a:latin typeface="Times New Roman"/>
                <a:cs typeface="Times New Roman"/>
              </a:rPr>
              <a:t> </a:t>
            </a: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4</a:t>
            </a:r>
            <a:r>
              <a:rPr sz="2531" spc="-18" dirty="0">
                <a:latin typeface="Times New Roman"/>
                <a:cs typeface="Times New Roman"/>
              </a:rPr>
              <a:t>]</a:t>
            </a:r>
            <a:endParaRPr sz="2531">
              <a:latin typeface="Times New Roman"/>
              <a:cs typeface="Times New Roman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1943597" y="1448520"/>
            <a:ext cx="7943404" cy="1618953"/>
            <a:chOff x="596759" y="2060117"/>
            <a:chExt cx="11297285" cy="2302511"/>
          </a:xfrm>
        </p:grpSpPr>
        <p:sp>
          <p:nvSpPr>
            <p:cNvPr id="94" name="object 94"/>
            <p:cNvSpPr/>
            <p:nvPr/>
          </p:nvSpPr>
          <p:spPr>
            <a:xfrm>
              <a:off x="596759" y="2060117"/>
              <a:ext cx="11297285" cy="2302511"/>
            </a:xfrm>
            <a:custGeom>
              <a:avLst/>
              <a:gdLst/>
              <a:ahLst/>
              <a:cxnLst/>
              <a:rect l="l" t="t" r="r" b="b"/>
              <a:pathLst>
                <a:path w="11297285" h="2302510">
                  <a:moveTo>
                    <a:pt x="11296675" y="209207"/>
                  </a:moveTo>
                  <a:lnTo>
                    <a:pt x="11186109" y="209207"/>
                  </a:lnTo>
                  <a:lnTo>
                    <a:pt x="11186109" y="0"/>
                  </a:lnTo>
                  <a:lnTo>
                    <a:pt x="0" y="0"/>
                  </a:lnTo>
                  <a:lnTo>
                    <a:pt x="0" y="2135911"/>
                  </a:lnTo>
                  <a:lnTo>
                    <a:pt x="5451233" y="2135911"/>
                  </a:lnTo>
                  <a:lnTo>
                    <a:pt x="5451233" y="2302510"/>
                  </a:lnTo>
                  <a:lnTo>
                    <a:pt x="11296675" y="2302510"/>
                  </a:lnTo>
                  <a:lnTo>
                    <a:pt x="11296675" y="2135911"/>
                  </a:lnTo>
                  <a:lnTo>
                    <a:pt x="11296675" y="2092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524649" y="2125013"/>
              <a:ext cx="9955529" cy="2071370"/>
            </a:xfrm>
            <a:custGeom>
              <a:avLst/>
              <a:gdLst/>
              <a:ahLst/>
              <a:cxnLst/>
              <a:rect l="l" t="t" r="r" b="b"/>
              <a:pathLst>
                <a:path w="9955530" h="2071370">
                  <a:moveTo>
                    <a:pt x="9955498" y="0"/>
                  </a:moveTo>
                  <a:lnTo>
                    <a:pt x="0" y="0"/>
                  </a:lnTo>
                  <a:lnTo>
                    <a:pt x="0" y="2071011"/>
                  </a:lnTo>
                  <a:lnTo>
                    <a:pt x="9955498" y="2071011"/>
                  </a:lnTo>
                  <a:lnTo>
                    <a:pt x="9955498" y="0"/>
                  </a:lnTo>
                  <a:close/>
                </a:path>
              </a:pathLst>
            </a:custGeom>
            <a:solidFill>
              <a:srgbClr val="F5D3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2402716" y="1503577"/>
            <a:ext cx="7376190" cy="1414299"/>
          </a:xfrm>
          <a:prstGeom prst="rect">
            <a:avLst/>
          </a:prstGeom>
        </p:spPr>
        <p:txBody>
          <a:bodyPr vert="horz" wrap="square" lIns="0" tIns="29021" rIns="0" bIns="0" rtlCol="0">
            <a:spAutoFit/>
          </a:bodyPr>
          <a:lstStyle/>
          <a:p>
            <a:pPr algn="ctr">
              <a:spcBef>
                <a:spcPts val="229"/>
              </a:spcBef>
            </a:pPr>
            <a:r>
              <a:rPr sz="2250" i="1" dirty="0">
                <a:latin typeface="HelveticaNeue-LightItalic"/>
                <a:cs typeface="HelveticaNeue-LightItalic"/>
              </a:rPr>
              <a:t>f</a:t>
            </a:r>
            <a:r>
              <a:rPr sz="2250" i="1" spc="-7" dirty="0">
                <a:latin typeface="HelveticaNeue-LightItalic"/>
                <a:cs typeface="HelveticaNeue-LightItalic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is a </a:t>
            </a:r>
            <a:r>
              <a:rPr sz="2250" i="1" dirty="0">
                <a:latin typeface="HelveticaNeue-LightItalic"/>
                <a:cs typeface="HelveticaNeue-LightItalic"/>
              </a:rPr>
              <a:t>nonlinearity</a:t>
            </a:r>
            <a:r>
              <a:rPr sz="2250" dirty="0">
                <a:latin typeface="HelveticaNeue-Light"/>
                <a:cs typeface="HelveticaNeue-Light"/>
              </a:rPr>
              <a:t>, or an element-wise nonlinear </a:t>
            </a:r>
            <a:r>
              <a:rPr sz="2250" spc="-7" dirty="0">
                <a:latin typeface="HelveticaNeue-Light"/>
                <a:cs typeface="HelveticaNeue-Light"/>
              </a:rPr>
              <a:t>function.</a:t>
            </a:r>
            <a:endParaRPr sz="2250" dirty="0">
              <a:latin typeface="HelveticaNeue-Light"/>
              <a:cs typeface="HelveticaNeue-Light"/>
            </a:endParaRPr>
          </a:p>
          <a:p>
            <a:pPr marL="170551" marR="165193" algn="ctr">
              <a:lnSpc>
                <a:spcPts val="2742"/>
              </a:lnSpc>
              <a:spcBef>
                <a:spcPts val="98"/>
              </a:spcBef>
            </a:pPr>
            <a:r>
              <a:rPr sz="2250" dirty="0">
                <a:latin typeface="HelveticaNeue-Light"/>
                <a:cs typeface="HelveticaNeue-Light"/>
              </a:rPr>
              <a:t>The</a:t>
            </a:r>
            <a:r>
              <a:rPr sz="2250" spc="-7" dirty="0">
                <a:latin typeface="HelveticaNeue-Light"/>
                <a:cs typeface="HelveticaNeue-Light"/>
              </a:rPr>
              <a:t> </a:t>
            </a:r>
            <a:r>
              <a:rPr sz="2250" dirty="0">
                <a:latin typeface="HelveticaNeue-Light"/>
                <a:cs typeface="HelveticaNeue-Light"/>
              </a:rPr>
              <a:t>most commonly-used choice today is the </a:t>
            </a:r>
            <a:r>
              <a:rPr sz="2250" spc="-14" dirty="0">
                <a:latin typeface="HelveticaNeue-Light"/>
                <a:cs typeface="HelveticaNeue-Light"/>
              </a:rPr>
              <a:t>rectified </a:t>
            </a:r>
            <a:r>
              <a:rPr sz="2250" dirty="0">
                <a:latin typeface="HelveticaNeue-Light"/>
                <a:cs typeface="HelveticaNeue-Light"/>
              </a:rPr>
              <a:t>linear unit (</a:t>
            </a:r>
            <a:r>
              <a:rPr sz="2250" dirty="0">
                <a:latin typeface="Helvetica Neue"/>
                <a:cs typeface="Helvetica Neue"/>
              </a:rPr>
              <a:t>ReLu</a:t>
            </a:r>
            <a:r>
              <a:rPr sz="2250" dirty="0">
                <a:latin typeface="HelveticaNeue-Light"/>
                <a:cs typeface="HelveticaNeue-Light"/>
              </a:rPr>
              <a:t>), which is just </a:t>
            </a:r>
            <a:r>
              <a:rPr sz="2250" dirty="0">
                <a:latin typeface="Helvetica Neue"/>
                <a:cs typeface="Helvetica Neue"/>
              </a:rPr>
              <a:t>ReLu</a:t>
            </a:r>
            <a:r>
              <a:rPr sz="2250" dirty="0">
                <a:latin typeface="HelveticaNeue-Light"/>
                <a:cs typeface="HelveticaNeue-Light"/>
              </a:rPr>
              <a:t>(x) = max(0, </a:t>
            </a:r>
            <a:r>
              <a:rPr sz="2250" spc="-18" dirty="0">
                <a:latin typeface="HelveticaNeue-Light"/>
                <a:cs typeface="HelveticaNeue-Light"/>
              </a:rPr>
              <a:t>x).</a:t>
            </a:r>
            <a:endParaRPr sz="2250" dirty="0">
              <a:latin typeface="HelveticaNeue-Light"/>
              <a:cs typeface="HelveticaNeue-Light"/>
            </a:endParaRPr>
          </a:p>
          <a:p>
            <a:pPr algn="ctr">
              <a:lnSpc>
                <a:spcPts val="2644"/>
              </a:lnSpc>
            </a:pPr>
            <a:r>
              <a:rPr sz="2250" dirty="0">
                <a:latin typeface="HelveticaNeue-Light"/>
                <a:cs typeface="HelveticaNeue-Light"/>
              </a:rPr>
              <a:t>Other choices include </a:t>
            </a:r>
            <a:r>
              <a:rPr sz="2250" dirty="0">
                <a:latin typeface="Helvetica Neue"/>
                <a:cs typeface="Helvetica Neue"/>
              </a:rPr>
              <a:t>tanh </a:t>
            </a:r>
            <a:r>
              <a:rPr sz="2250" dirty="0">
                <a:latin typeface="HelveticaNeue-Light"/>
                <a:cs typeface="HelveticaNeue-Light"/>
              </a:rPr>
              <a:t>and </a:t>
            </a:r>
            <a:r>
              <a:rPr sz="2250" spc="-7" dirty="0">
                <a:latin typeface="Helvetica Neue"/>
                <a:cs typeface="Helvetica Neue"/>
              </a:rPr>
              <a:t>sigmoid</a:t>
            </a:r>
            <a:r>
              <a:rPr sz="2250" spc="-7" dirty="0">
                <a:latin typeface="HelveticaNeue-Light"/>
                <a:cs typeface="HelveticaNeue-Light"/>
              </a:rPr>
              <a:t>.</a:t>
            </a:r>
            <a:endParaRPr sz="2250" dirty="0">
              <a:latin typeface="HelveticaNeue-Light"/>
              <a:cs typeface="HelveticaNeue-Light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988518" y="3067471"/>
            <a:ext cx="8572500" cy="3561606"/>
            <a:chOff x="660648" y="4362625"/>
            <a:chExt cx="12192000" cy="5065395"/>
          </a:xfrm>
        </p:grpSpPr>
        <p:sp>
          <p:nvSpPr>
            <p:cNvPr id="98" name="object 98"/>
            <p:cNvSpPr/>
            <p:nvPr/>
          </p:nvSpPr>
          <p:spPr>
            <a:xfrm>
              <a:off x="660648" y="4362625"/>
              <a:ext cx="12192000" cy="5065395"/>
            </a:xfrm>
            <a:custGeom>
              <a:avLst/>
              <a:gdLst/>
              <a:ahLst/>
              <a:cxnLst/>
              <a:rect l="l" t="t" r="r" b="b"/>
              <a:pathLst>
                <a:path w="12192000" h="5065395">
                  <a:moveTo>
                    <a:pt x="12191602" y="0"/>
                  </a:moveTo>
                  <a:lnTo>
                    <a:pt x="0" y="0"/>
                  </a:lnTo>
                  <a:lnTo>
                    <a:pt x="0" y="5065189"/>
                  </a:lnTo>
                  <a:lnTo>
                    <a:pt x="12191602" y="5065189"/>
                  </a:lnTo>
                  <a:lnTo>
                    <a:pt x="12191602" y="0"/>
                  </a:lnTo>
                  <a:close/>
                </a:path>
              </a:pathLst>
            </a:custGeom>
            <a:solidFill>
              <a:srgbClr val="FFFFFF">
                <a:alpha val="88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104765" y="4752300"/>
              <a:ext cx="6795770" cy="3107690"/>
            </a:xfrm>
            <a:custGeom>
              <a:avLst/>
              <a:gdLst/>
              <a:ahLst/>
              <a:cxnLst/>
              <a:rect l="l" t="t" r="r" b="b"/>
              <a:pathLst>
                <a:path w="6795770" h="3107690">
                  <a:moveTo>
                    <a:pt x="6795270" y="0"/>
                  </a:moveTo>
                  <a:lnTo>
                    <a:pt x="0" y="0"/>
                  </a:lnTo>
                  <a:lnTo>
                    <a:pt x="0" y="3107217"/>
                  </a:lnTo>
                  <a:lnTo>
                    <a:pt x="6795270" y="3107217"/>
                  </a:lnTo>
                  <a:lnTo>
                    <a:pt x="6795270" y="0"/>
                  </a:lnTo>
                  <a:close/>
                </a:path>
              </a:pathLst>
            </a:custGeom>
            <a:solidFill>
              <a:srgbClr val="F2F5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42144" y="4752300"/>
              <a:ext cx="6520511" cy="296791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ontent Placeholder 108">
            <a:extLst>
              <a:ext uri="{FF2B5EF4-FFF2-40B4-BE49-F238E27FC236}">
                <a16:creationId xmlns:a16="http://schemas.microsoft.com/office/drawing/2014/main" id="{E8DC3985-D8BC-4763-96E9-8A15DCA13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937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 fixed-window neural Language Model</a:t>
            </a:r>
          </a:p>
        </p:txBody>
      </p:sp>
      <p:sp>
        <p:nvSpPr>
          <p:cNvPr id="107" name="Slide Number Placeholder 106">
            <a:extLst>
              <a:ext uri="{FF2B5EF4-FFF2-40B4-BE49-F238E27FC236}">
                <a16:creationId xmlns:a16="http://schemas.microsoft.com/office/drawing/2014/main" id="{988F9D4E-C773-4FD5-B3D8-D5B49368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335017" y="5608047"/>
            <a:ext cx="1462236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  <a:tabLst>
                <a:tab pos="733548" algn="l"/>
              </a:tabLst>
            </a:pPr>
            <a:r>
              <a:rPr sz="1617" i="1" spc="-18" dirty="0">
                <a:latin typeface="Arial"/>
                <a:cs typeface="Arial"/>
              </a:rPr>
              <a:t>the</a:t>
            </a:r>
            <a:r>
              <a:rPr sz="1617" i="1" dirty="0">
                <a:latin typeface="Arial"/>
                <a:cs typeface="Arial"/>
              </a:rPr>
              <a:t>	</a:t>
            </a:r>
            <a:r>
              <a:rPr sz="1617" i="1" spc="-56" dirty="0">
                <a:latin typeface="Arial"/>
                <a:cs typeface="Arial"/>
              </a:rPr>
              <a:t>students</a:t>
            </a:r>
            <a:endParaRPr sz="161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0099" y="5608047"/>
            <a:ext cx="647402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i="1" spc="-74" dirty="0">
                <a:latin typeface="Arial"/>
                <a:cs typeface="Arial"/>
              </a:rPr>
              <a:t>opened</a:t>
            </a:r>
            <a:endParaRPr sz="161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08640" y="5608047"/>
            <a:ext cx="414784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i="1" spc="-7" dirty="0">
                <a:latin typeface="Arial"/>
                <a:cs typeface="Arial"/>
              </a:rPr>
              <a:t>their</a:t>
            </a:r>
            <a:endParaRPr sz="161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27608" y="1508970"/>
            <a:ext cx="1237208" cy="369441"/>
          </a:xfrm>
          <a:prstGeom prst="rect">
            <a:avLst/>
          </a:prstGeom>
        </p:spPr>
        <p:txBody>
          <a:bodyPr vert="horz" wrap="square" lIns="0" tIns="10268" rIns="0" bIns="0" rtlCol="0">
            <a:spAutoFit/>
          </a:bodyPr>
          <a:lstStyle/>
          <a:p>
            <a:pPr marL="8929">
              <a:lnSpc>
                <a:spcPts val="1438"/>
              </a:lnSpc>
              <a:spcBef>
                <a:spcPts val="80"/>
              </a:spcBef>
            </a:pPr>
            <a:r>
              <a:rPr sz="1266" i="1" spc="-7" dirty="0">
                <a:solidFill>
                  <a:srgbClr val="177245"/>
                </a:solidFill>
                <a:latin typeface="Arial"/>
                <a:cs typeface="Arial"/>
              </a:rPr>
              <a:t>books</a:t>
            </a:r>
            <a:endParaRPr sz="1266">
              <a:latin typeface="Arial"/>
              <a:cs typeface="Arial"/>
            </a:endParaRPr>
          </a:p>
          <a:p>
            <a:pPr marL="739798">
              <a:lnSpc>
                <a:spcPts val="1438"/>
              </a:lnSpc>
            </a:pPr>
            <a:r>
              <a:rPr sz="1266" i="1" spc="-35" dirty="0">
                <a:solidFill>
                  <a:srgbClr val="177245"/>
                </a:solidFill>
                <a:latin typeface="Arial"/>
                <a:cs typeface="Arial"/>
              </a:rPr>
              <a:t>laptops</a:t>
            </a:r>
            <a:endParaRPr sz="1266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57030" y="1726303"/>
            <a:ext cx="1918543" cy="917525"/>
            <a:chOff x="7869197" y="2455186"/>
            <a:chExt cx="2728595" cy="1304925"/>
          </a:xfrm>
        </p:grpSpPr>
        <p:sp>
          <p:nvSpPr>
            <p:cNvPr id="8" name="object 8"/>
            <p:cNvSpPr/>
            <p:nvPr/>
          </p:nvSpPr>
          <p:spPr>
            <a:xfrm>
              <a:off x="8349746" y="2455186"/>
              <a:ext cx="99060" cy="375920"/>
            </a:xfrm>
            <a:custGeom>
              <a:avLst/>
              <a:gdLst/>
              <a:ahLst/>
              <a:cxnLst/>
              <a:rect l="l" t="t" r="r" b="b"/>
              <a:pathLst>
                <a:path w="99059" h="375919">
                  <a:moveTo>
                    <a:pt x="55250" y="0"/>
                  </a:moveTo>
                  <a:lnTo>
                    <a:pt x="42875" y="20"/>
                  </a:lnTo>
                  <a:lnTo>
                    <a:pt x="43312" y="276404"/>
                  </a:lnTo>
                  <a:lnTo>
                    <a:pt x="0" y="276473"/>
                  </a:lnTo>
                  <a:lnTo>
                    <a:pt x="49655" y="375394"/>
                  </a:lnTo>
                  <a:lnTo>
                    <a:pt x="98999" y="276317"/>
                  </a:lnTo>
                  <a:lnTo>
                    <a:pt x="55686" y="276386"/>
                  </a:lnTo>
                  <a:lnTo>
                    <a:pt x="55250" y="0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69197" y="3741772"/>
              <a:ext cx="2728595" cy="12700"/>
            </a:xfrm>
            <a:custGeom>
              <a:avLst/>
              <a:gdLst/>
              <a:ahLst/>
              <a:cxnLst/>
              <a:rect l="l" t="t" r="r" b="b"/>
              <a:pathLst>
                <a:path w="2728595" h="12700">
                  <a:moveTo>
                    <a:pt x="0" y="0"/>
                  </a:moveTo>
                  <a:lnTo>
                    <a:pt x="437193" y="0"/>
                  </a:lnTo>
                </a:path>
                <a:path w="2728595" h="12700">
                  <a:moveTo>
                    <a:pt x="2477149" y="0"/>
                  </a:moveTo>
                  <a:lnTo>
                    <a:pt x="2728316" y="0"/>
                  </a:lnTo>
                </a:path>
                <a:path w="2728595" h="12700">
                  <a:moveTo>
                    <a:pt x="0" y="12375"/>
                  </a:moveTo>
                  <a:lnTo>
                    <a:pt x="2728316" y="12375"/>
                  </a:lnTo>
                </a:path>
              </a:pathLst>
            </a:custGeom>
            <a:ln w="11262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20997" y="3633728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186026" y="0"/>
                  </a:moveTo>
                  <a:lnTo>
                    <a:pt x="0" y="0"/>
                  </a:lnTo>
                  <a:lnTo>
                    <a:pt x="0" y="113675"/>
                  </a:lnTo>
                  <a:lnTo>
                    <a:pt x="186026" y="113675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20997" y="3633727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0" y="0"/>
                  </a:moveTo>
                  <a:lnTo>
                    <a:pt x="186026" y="0"/>
                  </a:lnTo>
                  <a:lnTo>
                    <a:pt x="186026" y="113675"/>
                  </a:lnTo>
                  <a:lnTo>
                    <a:pt x="0" y="113675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06391" y="2830582"/>
              <a:ext cx="186055" cy="916940"/>
            </a:xfrm>
            <a:custGeom>
              <a:avLst/>
              <a:gdLst/>
              <a:ahLst/>
              <a:cxnLst/>
              <a:rect l="l" t="t" r="r" b="b"/>
              <a:pathLst>
                <a:path w="186054" h="916939">
                  <a:moveTo>
                    <a:pt x="186026" y="0"/>
                  </a:moveTo>
                  <a:lnTo>
                    <a:pt x="0" y="0"/>
                  </a:lnTo>
                  <a:lnTo>
                    <a:pt x="0" y="916821"/>
                  </a:lnTo>
                  <a:lnTo>
                    <a:pt x="186026" y="916821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06391" y="2830580"/>
              <a:ext cx="186055" cy="916940"/>
            </a:xfrm>
            <a:custGeom>
              <a:avLst/>
              <a:gdLst/>
              <a:ahLst/>
              <a:cxnLst/>
              <a:rect l="l" t="t" r="r" b="b"/>
              <a:pathLst>
                <a:path w="186054" h="916939">
                  <a:moveTo>
                    <a:pt x="0" y="0"/>
                  </a:moveTo>
                  <a:lnTo>
                    <a:pt x="186026" y="0"/>
                  </a:lnTo>
                  <a:lnTo>
                    <a:pt x="186026" y="916821"/>
                  </a:lnTo>
                  <a:lnTo>
                    <a:pt x="0" y="916821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91782" y="3510354"/>
              <a:ext cx="186055" cy="237490"/>
            </a:xfrm>
            <a:custGeom>
              <a:avLst/>
              <a:gdLst/>
              <a:ahLst/>
              <a:cxnLst/>
              <a:rect l="l" t="t" r="r" b="b"/>
              <a:pathLst>
                <a:path w="186054" h="237489">
                  <a:moveTo>
                    <a:pt x="186026" y="0"/>
                  </a:moveTo>
                  <a:lnTo>
                    <a:pt x="0" y="0"/>
                  </a:lnTo>
                  <a:lnTo>
                    <a:pt x="0" y="237047"/>
                  </a:lnTo>
                  <a:lnTo>
                    <a:pt x="186026" y="237047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91782" y="3510354"/>
              <a:ext cx="186055" cy="237490"/>
            </a:xfrm>
            <a:custGeom>
              <a:avLst/>
              <a:gdLst/>
              <a:ahLst/>
              <a:cxnLst/>
              <a:rect l="l" t="t" r="r" b="b"/>
              <a:pathLst>
                <a:path w="186054" h="237489">
                  <a:moveTo>
                    <a:pt x="0" y="0"/>
                  </a:moveTo>
                  <a:lnTo>
                    <a:pt x="186026" y="0"/>
                  </a:lnTo>
                  <a:lnTo>
                    <a:pt x="186026" y="237047"/>
                  </a:lnTo>
                  <a:lnTo>
                    <a:pt x="0" y="237047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77177" y="3369712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186026" y="0"/>
                  </a:moveTo>
                  <a:lnTo>
                    <a:pt x="0" y="0"/>
                  </a:lnTo>
                  <a:lnTo>
                    <a:pt x="0" y="377689"/>
                  </a:lnTo>
                  <a:lnTo>
                    <a:pt x="186026" y="377689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77177" y="3369712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0" y="0"/>
                  </a:moveTo>
                  <a:lnTo>
                    <a:pt x="186026" y="0"/>
                  </a:lnTo>
                  <a:lnTo>
                    <a:pt x="186026" y="377689"/>
                  </a:lnTo>
                  <a:lnTo>
                    <a:pt x="0" y="377689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862570" y="3633728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186026" y="0"/>
                  </a:moveTo>
                  <a:lnTo>
                    <a:pt x="0" y="0"/>
                  </a:lnTo>
                  <a:lnTo>
                    <a:pt x="0" y="113675"/>
                  </a:lnTo>
                  <a:lnTo>
                    <a:pt x="186026" y="113675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862570" y="3633727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0" y="0"/>
                  </a:moveTo>
                  <a:lnTo>
                    <a:pt x="186026" y="0"/>
                  </a:lnTo>
                  <a:lnTo>
                    <a:pt x="186026" y="113675"/>
                  </a:lnTo>
                  <a:lnTo>
                    <a:pt x="0" y="113675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47963" y="3338762"/>
              <a:ext cx="186055" cy="408940"/>
            </a:xfrm>
            <a:custGeom>
              <a:avLst/>
              <a:gdLst/>
              <a:ahLst/>
              <a:cxnLst/>
              <a:rect l="l" t="t" r="r" b="b"/>
              <a:pathLst>
                <a:path w="186054" h="408939">
                  <a:moveTo>
                    <a:pt x="186026" y="0"/>
                  </a:moveTo>
                  <a:lnTo>
                    <a:pt x="0" y="0"/>
                  </a:lnTo>
                  <a:lnTo>
                    <a:pt x="0" y="408639"/>
                  </a:lnTo>
                  <a:lnTo>
                    <a:pt x="186026" y="408639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47963" y="3338762"/>
              <a:ext cx="186055" cy="408940"/>
            </a:xfrm>
            <a:custGeom>
              <a:avLst/>
              <a:gdLst/>
              <a:ahLst/>
              <a:cxnLst/>
              <a:rect l="l" t="t" r="r" b="b"/>
              <a:pathLst>
                <a:path w="186054" h="408939">
                  <a:moveTo>
                    <a:pt x="0" y="0"/>
                  </a:moveTo>
                  <a:lnTo>
                    <a:pt x="186026" y="0"/>
                  </a:lnTo>
                  <a:lnTo>
                    <a:pt x="186026" y="408639"/>
                  </a:lnTo>
                  <a:lnTo>
                    <a:pt x="0" y="408639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33358" y="3369713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186026" y="0"/>
                  </a:moveTo>
                  <a:lnTo>
                    <a:pt x="0" y="0"/>
                  </a:lnTo>
                  <a:lnTo>
                    <a:pt x="0" y="377690"/>
                  </a:lnTo>
                  <a:lnTo>
                    <a:pt x="186026" y="377690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233358" y="3369712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0" y="0"/>
                  </a:moveTo>
                  <a:lnTo>
                    <a:pt x="186026" y="0"/>
                  </a:lnTo>
                  <a:lnTo>
                    <a:pt x="186026" y="377690"/>
                  </a:lnTo>
                  <a:lnTo>
                    <a:pt x="0" y="377690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462265" y="2761435"/>
              <a:ext cx="99060" cy="297815"/>
            </a:xfrm>
            <a:custGeom>
              <a:avLst/>
              <a:gdLst/>
              <a:ahLst/>
              <a:cxnLst/>
              <a:rect l="l" t="t" r="r" b="b"/>
              <a:pathLst>
                <a:path w="99059" h="297814">
                  <a:moveTo>
                    <a:pt x="55685" y="0"/>
                  </a:moveTo>
                  <a:lnTo>
                    <a:pt x="43310" y="0"/>
                  </a:lnTo>
                  <a:lnTo>
                    <a:pt x="43312" y="198784"/>
                  </a:lnTo>
                  <a:lnTo>
                    <a:pt x="0" y="198784"/>
                  </a:lnTo>
                  <a:lnTo>
                    <a:pt x="49499" y="297783"/>
                  </a:lnTo>
                  <a:lnTo>
                    <a:pt x="98999" y="198784"/>
                  </a:lnTo>
                  <a:lnTo>
                    <a:pt x="55686" y="198784"/>
                  </a:lnTo>
                  <a:lnTo>
                    <a:pt x="55685" y="0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418750" y="3059220"/>
              <a:ext cx="186055" cy="688340"/>
            </a:xfrm>
            <a:custGeom>
              <a:avLst/>
              <a:gdLst/>
              <a:ahLst/>
              <a:cxnLst/>
              <a:rect l="l" t="t" r="r" b="b"/>
              <a:pathLst>
                <a:path w="186054" h="688339">
                  <a:moveTo>
                    <a:pt x="186026" y="0"/>
                  </a:moveTo>
                  <a:lnTo>
                    <a:pt x="0" y="0"/>
                  </a:lnTo>
                  <a:lnTo>
                    <a:pt x="0" y="688183"/>
                  </a:lnTo>
                  <a:lnTo>
                    <a:pt x="186026" y="688183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418750" y="3059219"/>
              <a:ext cx="186055" cy="688340"/>
            </a:xfrm>
            <a:custGeom>
              <a:avLst/>
              <a:gdLst/>
              <a:ahLst/>
              <a:cxnLst/>
              <a:rect l="l" t="t" r="r" b="b"/>
              <a:pathLst>
                <a:path w="186054" h="688339">
                  <a:moveTo>
                    <a:pt x="0" y="0"/>
                  </a:moveTo>
                  <a:lnTo>
                    <a:pt x="186026" y="0"/>
                  </a:lnTo>
                  <a:lnTo>
                    <a:pt x="186026" y="688183"/>
                  </a:lnTo>
                  <a:lnTo>
                    <a:pt x="0" y="688183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604144" y="3575543"/>
              <a:ext cx="186055" cy="172085"/>
            </a:xfrm>
            <a:custGeom>
              <a:avLst/>
              <a:gdLst/>
              <a:ahLst/>
              <a:cxnLst/>
              <a:rect l="l" t="t" r="r" b="b"/>
              <a:pathLst>
                <a:path w="186054" h="172085">
                  <a:moveTo>
                    <a:pt x="186026" y="0"/>
                  </a:moveTo>
                  <a:lnTo>
                    <a:pt x="0" y="0"/>
                  </a:lnTo>
                  <a:lnTo>
                    <a:pt x="0" y="171858"/>
                  </a:lnTo>
                  <a:lnTo>
                    <a:pt x="186026" y="171858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604144" y="3575543"/>
              <a:ext cx="186055" cy="172085"/>
            </a:xfrm>
            <a:custGeom>
              <a:avLst/>
              <a:gdLst/>
              <a:ahLst/>
              <a:cxnLst/>
              <a:rect l="l" t="t" r="r" b="b"/>
              <a:pathLst>
                <a:path w="186054" h="172085">
                  <a:moveTo>
                    <a:pt x="0" y="0"/>
                  </a:moveTo>
                  <a:lnTo>
                    <a:pt x="186026" y="0"/>
                  </a:lnTo>
                  <a:lnTo>
                    <a:pt x="186026" y="171858"/>
                  </a:lnTo>
                  <a:lnTo>
                    <a:pt x="0" y="171858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789536" y="3438022"/>
              <a:ext cx="186055" cy="309880"/>
            </a:xfrm>
            <a:custGeom>
              <a:avLst/>
              <a:gdLst/>
              <a:ahLst/>
              <a:cxnLst/>
              <a:rect l="l" t="t" r="r" b="b"/>
              <a:pathLst>
                <a:path w="186054" h="309879">
                  <a:moveTo>
                    <a:pt x="186026" y="0"/>
                  </a:moveTo>
                  <a:lnTo>
                    <a:pt x="0" y="0"/>
                  </a:lnTo>
                  <a:lnTo>
                    <a:pt x="0" y="309379"/>
                  </a:lnTo>
                  <a:lnTo>
                    <a:pt x="186026" y="309379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789536" y="3438023"/>
              <a:ext cx="186055" cy="309880"/>
            </a:xfrm>
            <a:custGeom>
              <a:avLst/>
              <a:gdLst/>
              <a:ahLst/>
              <a:cxnLst/>
              <a:rect l="l" t="t" r="r" b="b"/>
              <a:pathLst>
                <a:path w="186054" h="309879">
                  <a:moveTo>
                    <a:pt x="0" y="0"/>
                  </a:moveTo>
                  <a:lnTo>
                    <a:pt x="186026" y="0"/>
                  </a:lnTo>
                  <a:lnTo>
                    <a:pt x="186026" y="309379"/>
                  </a:lnTo>
                  <a:lnTo>
                    <a:pt x="0" y="309379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974930" y="3329665"/>
              <a:ext cx="186055" cy="417830"/>
            </a:xfrm>
            <a:custGeom>
              <a:avLst/>
              <a:gdLst/>
              <a:ahLst/>
              <a:cxnLst/>
              <a:rect l="l" t="t" r="r" b="b"/>
              <a:pathLst>
                <a:path w="186054" h="417829">
                  <a:moveTo>
                    <a:pt x="186026" y="0"/>
                  </a:moveTo>
                  <a:lnTo>
                    <a:pt x="0" y="0"/>
                  </a:lnTo>
                  <a:lnTo>
                    <a:pt x="0" y="417736"/>
                  </a:lnTo>
                  <a:lnTo>
                    <a:pt x="186026" y="417736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974930" y="3329665"/>
              <a:ext cx="186055" cy="417830"/>
            </a:xfrm>
            <a:custGeom>
              <a:avLst/>
              <a:gdLst/>
              <a:ahLst/>
              <a:cxnLst/>
              <a:rect l="l" t="t" r="r" b="b"/>
              <a:pathLst>
                <a:path w="186054" h="417829">
                  <a:moveTo>
                    <a:pt x="0" y="0"/>
                  </a:moveTo>
                  <a:lnTo>
                    <a:pt x="186026" y="0"/>
                  </a:lnTo>
                  <a:lnTo>
                    <a:pt x="186026" y="417736"/>
                  </a:lnTo>
                  <a:lnTo>
                    <a:pt x="0" y="417736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160321" y="3674761"/>
              <a:ext cx="186055" cy="73025"/>
            </a:xfrm>
            <a:custGeom>
              <a:avLst/>
              <a:gdLst/>
              <a:ahLst/>
              <a:cxnLst/>
              <a:rect l="l" t="t" r="r" b="b"/>
              <a:pathLst>
                <a:path w="186054" h="73025">
                  <a:moveTo>
                    <a:pt x="186026" y="0"/>
                  </a:moveTo>
                  <a:lnTo>
                    <a:pt x="0" y="0"/>
                  </a:lnTo>
                  <a:lnTo>
                    <a:pt x="0" y="72640"/>
                  </a:lnTo>
                  <a:lnTo>
                    <a:pt x="186026" y="72640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160321" y="3674762"/>
              <a:ext cx="186055" cy="73025"/>
            </a:xfrm>
            <a:custGeom>
              <a:avLst/>
              <a:gdLst/>
              <a:ahLst/>
              <a:cxnLst/>
              <a:rect l="l" t="t" r="r" b="b"/>
              <a:pathLst>
                <a:path w="186054" h="73025">
                  <a:moveTo>
                    <a:pt x="0" y="0"/>
                  </a:moveTo>
                  <a:lnTo>
                    <a:pt x="186026" y="0"/>
                  </a:lnTo>
                  <a:lnTo>
                    <a:pt x="186026" y="72640"/>
                  </a:lnTo>
                  <a:lnTo>
                    <a:pt x="0" y="72640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6036805" y="2833994"/>
            <a:ext cx="3849588" cy="2753023"/>
            <a:chOff x="6418211" y="4030569"/>
            <a:chExt cx="5474970" cy="391541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5320" y="6640593"/>
              <a:ext cx="204228" cy="21482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538" y="6640593"/>
              <a:ext cx="204228" cy="21482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3755" y="6640593"/>
              <a:ext cx="204228" cy="21482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2969" y="6640593"/>
              <a:ext cx="204228" cy="21482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430586" y="6517537"/>
              <a:ext cx="5450205" cy="475615"/>
            </a:xfrm>
            <a:custGeom>
              <a:avLst/>
              <a:gdLst/>
              <a:ahLst/>
              <a:cxnLst/>
              <a:rect l="l" t="t" r="r" b="b"/>
              <a:pathLst>
                <a:path w="5450205" h="475615">
                  <a:moveTo>
                    <a:pt x="0" y="79202"/>
                  </a:moveTo>
                  <a:lnTo>
                    <a:pt x="6224" y="48373"/>
                  </a:lnTo>
                  <a:lnTo>
                    <a:pt x="23197" y="23197"/>
                  </a:lnTo>
                  <a:lnTo>
                    <a:pt x="48372" y="6224"/>
                  </a:lnTo>
                  <a:lnTo>
                    <a:pt x="79201" y="0"/>
                  </a:lnTo>
                  <a:lnTo>
                    <a:pt x="5370587" y="0"/>
                  </a:lnTo>
                  <a:lnTo>
                    <a:pt x="5401416" y="6224"/>
                  </a:lnTo>
                  <a:lnTo>
                    <a:pt x="5426592" y="23197"/>
                  </a:lnTo>
                  <a:lnTo>
                    <a:pt x="5443565" y="48373"/>
                  </a:lnTo>
                  <a:lnTo>
                    <a:pt x="5449789" y="79202"/>
                  </a:lnTo>
                  <a:lnTo>
                    <a:pt x="5449789" y="395996"/>
                  </a:lnTo>
                  <a:lnTo>
                    <a:pt x="5443565" y="426825"/>
                  </a:lnTo>
                  <a:lnTo>
                    <a:pt x="5426592" y="452001"/>
                  </a:lnTo>
                  <a:lnTo>
                    <a:pt x="5401416" y="468974"/>
                  </a:lnTo>
                  <a:lnTo>
                    <a:pt x="5370587" y="475199"/>
                  </a:lnTo>
                  <a:lnTo>
                    <a:pt x="79201" y="475199"/>
                  </a:lnTo>
                  <a:lnTo>
                    <a:pt x="48372" y="468974"/>
                  </a:lnTo>
                  <a:lnTo>
                    <a:pt x="23197" y="452001"/>
                  </a:lnTo>
                  <a:lnTo>
                    <a:pt x="6224" y="426825"/>
                  </a:lnTo>
                  <a:lnTo>
                    <a:pt x="0" y="395996"/>
                  </a:lnTo>
                  <a:lnTo>
                    <a:pt x="0" y="79202"/>
                  </a:lnTo>
                  <a:close/>
                </a:path>
              </a:pathLst>
            </a:custGeom>
            <a:ln w="24749">
              <a:solidFill>
                <a:srgbClr val="0047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4961" y="6640593"/>
              <a:ext cx="204228" cy="21482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4178" y="6640593"/>
              <a:ext cx="204228" cy="21482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3395" y="6640593"/>
              <a:ext cx="204228" cy="21482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2610" y="6640593"/>
              <a:ext cx="204228" cy="21482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19910" y="6639557"/>
              <a:ext cx="204228" cy="21482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9127" y="6639557"/>
              <a:ext cx="204228" cy="21482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8343" y="6639557"/>
              <a:ext cx="204228" cy="21482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27558" y="6639557"/>
              <a:ext cx="204228" cy="21482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13984" y="6639560"/>
              <a:ext cx="204228" cy="21482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83201" y="6639560"/>
              <a:ext cx="204228" cy="21482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52418" y="6639560"/>
              <a:ext cx="204228" cy="21482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21633" y="6639560"/>
              <a:ext cx="204228" cy="21482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980110" y="6992683"/>
              <a:ext cx="4303395" cy="953135"/>
            </a:xfrm>
            <a:custGeom>
              <a:avLst/>
              <a:gdLst/>
              <a:ahLst/>
              <a:cxnLst/>
              <a:rect l="l" t="t" r="r" b="b"/>
              <a:pathLst>
                <a:path w="4303395" h="953134">
                  <a:moveTo>
                    <a:pt x="143764" y="123228"/>
                  </a:moveTo>
                  <a:lnTo>
                    <a:pt x="71882" y="0"/>
                  </a:lnTo>
                  <a:lnTo>
                    <a:pt x="0" y="123228"/>
                  </a:lnTo>
                  <a:lnTo>
                    <a:pt x="1993" y="130810"/>
                  </a:lnTo>
                  <a:lnTo>
                    <a:pt x="13804" y="137693"/>
                  </a:lnTo>
                  <a:lnTo>
                    <a:pt x="21386" y="135699"/>
                  </a:lnTo>
                  <a:lnTo>
                    <a:pt x="59512" y="70332"/>
                  </a:lnTo>
                  <a:lnTo>
                    <a:pt x="59512" y="953008"/>
                  </a:lnTo>
                  <a:lnTo>
                    <a:pt x="84264" y="953008"/>
                  </a:lnTo>
                  <a:lnTo>
                    <a:pt x="84264" y="70332"/>
                  </a:lnTo>
                  <a:lnTo>
                    <a:pt x="122389" y="135699"/>
                  </a:lnTo>
                  <a:lnTo>
                    <a:pt x="129971" y="137693"/>
                  </a:lnTo>
                  <a:lnTo>
                    <a:pt x="141782" y="130810"/>
                  </a:lnTo>
                  <a:lnTo>
                    <a:pt x="143764" y="123228"/>
                  </a:lnTo>
                  <a:close/>
                </a:path>
                <a:path w="4303395" h="953134">
                  <a:moveTo>
                    <a:pt x="1489125" y="123228"/>
                  </a:moveTo>
                  <a:lnTo>
                    <a:pt x="1417243" y="0"/>
                  </a:lnTo>
                  <a:lnTo>
                    <a:pt x="1345361" y="123228"/>
                  </a:lnTo>
                  <a:lnTo>
                    <a:pt x="1347355" y="130810"/>
                  </a:lnTo>
                  <a:lnTo>
                    <a:pt x="1359154" y="137693"/>
                  </a:lnTo>
                  <a:lnTo>
                    <a:pt x="1366735" y="135699"/>
                  </a:lnTo>
                  <a:lnTo>
                    <a:pt x="1404861" y="70332"/>
                  </a:lnTo>
                  <a:lnTo>
                    <a:pt x="1404861" y="953008"/>
                  </a:lnTo>
                  <a:lnTo>
                    <a:pt x="1429613" y="953008"/>
                  </a:lnTo>
                  <a:lnTo>
                    <a:pt x="1429613" y="70332"/>
                  </a:lnTo>
                  <a:lnTo>
                    <a:pt x="1467751" y="135699"/>
                  </a:lnTo>
                  <a:lnTo>
                    <a:pt x="1475320" y="137693"/>
                  </a:lnTo>
                  <a:lnTo>
                    <a:pt x="1487131" y="130810"/>
                  </a:lnTo>
                  <a:lnTo>
                    <a:pt x="1489125" y="123228"/>
                  </a:lnTo>
                  <a:close/>
                </a:path>
                <a:path w="4303395" h="953134">
                  <a:moveTo>
                    <a:pt x="2933357" y="123228"/>
                  </a:moveTo>
                  <a:lnTo>
                    <a:pt x="2861475" y="0"/>
                  </a:lnTo>
                  <a:lnTo>
                    <a:pt x="2789593" y="123228"/>
                  </a:lnTo>
                  <a:lnTo>
                    <a:pt x="2791587" y="130810"/>
                  </a:lnTo>
                  <a:lnTo>
                    <a:pt x="2803398" y="137693"/>
                  </a:lnTo>
                  <a:lnTo>
                    <a:pt x="2810967" y="135699"/>
                  </a:lnTo>
                  <a:lnTo>
                    <a:pt x="2849105" y="70332"/>
                  </a:lnTo>
                  <a:lnTo>
                    <a:pt x="2849105" y="953008"/>
                  </a:lnTo>
                  <a:lnTo>
                    <a:pt x="2873845" y="953008"/>
                  </a:lnTo>
                  <a:lnTo>
                    <a:pt x="2873845" y="70332"/>
                  </a:lnTo>
                  <a:lnTo>
                    <a:pt x="2911983" y="135699"/>
                  </a:lnTo>
                  <a:lnTo>
                    <a:pt x="2919552" y="137693"/>
                  </a:lnTo>
                  <a:lnTo>
                    <a:pt x="2931363" y="130810"/>
                  </a:lnTo>
                  <a:lnTo>
                    <a:pt x="2933357" y="123228"/>
                  </a:lnTo>
                  <a:close/>
                </a:path>
                <a:path w="4303395" h="953134">
                  <a:moveTo>
                    <a:pt x="4303280" y="123228"/>
                  </a:moveTo>
                  <a:lnTo>
                    <a:pt x="4231398" y="0"/>
                  </a:lnTo>
                  <a:lnTo>
                    <a:pt x="4159516" y="123228"/>
                  </a:lnTo>
                  <a:lnTo>
                    <a:pt x="4161510" y="130810"/>
                  </a:lnTo>
                  <a:lnTo>
                    <a:pt x="4173309" y="137693"/>
                  </a:lnTo>
                  <a:lnTo>
                    <a:pt x="4180890" y="135699"/>
                  </a:lnTo>
                  <a:lnTo>
                    <a:pt x="4219016" y="70332"/>
                  </a:lnTo>
                  <a:lnTo>
                    <a:pt x="4219016" y="953008"/>
                  </a:lnTo>
                  <a:lnTo>
                    <a:pt x="4243768" y="953008"/>
                  </a:lnTo>
                  <a:lnTo>
                    <a:pt x="4243768" y="70332"/>
                  </a:lnTo>
                  <a:lnTo>
                    <a:pt x="4281906" y="135699"/>
                  </a:lnTo>
                  <a:lnTo>
                    <a:pt x="4289476" y="137693"/>
                  </a:lnTo>
                  <a:lnTo>
                    <a:pt x="4301287" y="130810"/>
                  </a:lnTo>
                  <a:lnTo>
                    <a:pt x="4303280" y="1232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086080" y="5524776"/>
              <a:ext cx="144145" cy="993140"/>
            </a:xfrm>
            <a:custGeom>
              <a:avLst/>
              <a:gdLst/>
              <a:ahLst/>
              <a:cxnLst/>
              <a:rect l="l" t="t" r="r" b="b"/>
              <a:pathLst>
                <a:path w="144145" h="993140">
                  <a:moveTo>
                    <a:pt x="72233" y="0"/>
                  </a:moveTo>
                  <a:lnTo>
                    <a:pt x="0" y="123022"/>
                  </a:lnTo>
                  <a:lnTo>
                    <a:pt x="1972" y="130605"/>
                  </a:lnTo>
                  <a:lnTo>
                    <a:pt x="13759" y="137525"/>
                  </a:lnTo>
                  <a:lnTo>
                    <a:pt x="21343" y="135554"/>
                  </a:lnTo>
                  <a:lnTo>
                    <a:pt x="59658" y="70298"/>
                  </a:lnTo>
                  <a:lnTo>
                    <a:pt x="57028" y="992725"/>
                  </a:lnTo>
                  <a:lnTo>
                    <a:pt x="81777" y="992795"/>
                  </a:lnTo>
                  <a:lnTo>
                    <a:pt x="84408" y="70369"/>
                  </a:lnTo>
                  <a:lnTo>
                    <a:pt x="122350" y="135843"/>
                  </a:lnTo>
                  <a:lnTo>
                    <a:pt x="129922" y="137857"/>
                  </a:lnTo>
                  <a:lnTo>
                    <a:pt x="141749" y="131003"/>
                  </a:lnTo>
                  <a:lnTo>
                    <a:pt x="143765" y="123433"/>
                  </a:lnTo>
                  <a:lnTo>
                    <a:pt x="72233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69817" y="5172690"/>
              <a:ext cx="204228" cy="21482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38950" y="5172690"/>
              <a:ext cx="204228" cy="21482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08081" y="5172690"/>
              <a:ext cx="204228" cy="21482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77212" y="5172690"/>
              <a:ext cx="204228" cy="21482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455085" y="5049635"/>
              <a:ext cx="3406775" cy="475615"/>
            </a:xfrm>
            <a:custGeom>
              <a:avLst/>
              <a:gdLst/>
              <a:ahLst/>
              <a:cxnLst/>
              <a:rect l="l" t="t" r="r" b="b"/>
              <a:pathLst>
                <a:path w="3406775" h="475614">
                  <a:moveTo>
                    <a:pt x="0" y="79201"/>
                  </a:moveTo>
                  <a:lnTo>
                    <a:pt x="6224" y="48372"/>
                  </a:lnTo>
                  <a:lnTo>
                    <a:pt x="23197" y="23197"/>
                  </a:lnTo>
                  <a:lnTo>
                    <a:pt x="48372" y="6224"/>
                  </a:lnTo>
                  <a:lnTo>
                    <a:pt x="79200" y="0"/>
                  </a:lnTo>
                  <a:lnTo>
                    <a:pt x="3327257" y="0"/>
                  </a:lnTo>
                  <a:lnTo>
                    <a:pt x="3358086" y="6224"/>
                  </a:lnTo>
                  <a:lnTo>
                    <a:pt x="3383261" y="23197"/>
                  </a:lnTo>
                  <a:lnTo>
                    <a:pt x="3400234" y="48372"/>
                  </a:lnTo>
                  <a:lnTo>
                    <a:pt x="3406458" y="79201"/>
                  </a:lnTo>
                  <a:lnTo>
                    <a:pt x="3406458" y="395998"/>
                  </a:lnTo>
                  <a:lnTo>
                    <a:pt x="3400234" y="426826"/>
                  </a:lnTo>
                  <a:lnTo>
                    <a:pt x="3383261" y="452001"/>
                  </a:lnTo>
                  <a:lnTo>
                    <a:pt x="3358086" y="468975"/>
                  </a:lnTo>
                  <a:lnTo>
                    <a:pt x="3327257" y="475199"/>
                  </a:lnTo>
                  <a:lnTo>
                    <a:pt x="79200" y="475199"/>
                  </a:lnTo>
                  <a:lnTo>
                    <a:pt x="48372" y="468975"/>
                  </a:lnTo>
                  <a:lnTo>
                    <a:pt x="23197" y="452001"/>
                  </a:lnTo>
                  <a:lnTo>
                    <a:pt x="6224" y="426826"/>
                  </a:lnTo>
                  <a:lnTo>
                    <a:pt x="0" y="395998"/>
                  </a:lnTo>
                  <a:lnTo>
                    <a:pt x="0" y="79201"/>
                  </a:lnTo>
                  <a:close/>
                </a:path>
              </a:pathLst>
            </a:custGeom>
            <a:ln w="2474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6342" y="5172690"/>
              <a:ext cx="204228" cy="21482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15474" y="5172690"/>
              <a:ext cx="204228" cy="21482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84607" y="5172690"/>
              <a:ext cx="204228" cy="21482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53737" y="5172690"/>
              <a:ext cx="204228" cy="21482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2869" y="5172690"/>
              <a:ext cx="204228" cy="21482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92000" y="5172690"/>
              <a:ext cx="204228" cy="214828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61132" y="5172690"/>
              <a:ext cx="204228" cy="21482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30267" y="5172690"/>
              <a:ext cx="204228" cy="21482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98112" y="5865494"/>
              <a:ext cx="447479" cy="351137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9086432" y="4030569"/>
              <a:ext cx="144145" cy="1019175"/>
            </a:xfrm>
            <a:custGeom>
              <a:avLst/>
              <a:gdLst/>
              <a:ahLst/>
              <a:cxnLst/>
              <a:rect l="l" t="t" r="r" b="b"/>
              <a:pathLst>
                <a:path w="144145" h="1019175">
                  <a:moveTo>
                    <a:pt x="71882" y="0"/>
                  </a:moveTo>
                  <a:lnTo>
                    <a:pt x="0" y="123228"/>
                  </a:lnTo>
                  <a:lnTo>
                    <a:pt x="1993" y="130804"/>
                  </a:lnTo>
                  <a:lnTo>
                    <a:pt x="13801" y="137692"/>
                  </a:lnTo>
                  <a:lnTo>
                    <a:pt x="21377" y="135699"/>
                  </a:lnTo>
                  <a:lnTo>
                    <a:pt x="59507" y="70333"/>
                  </a:lnTo>
                  <a:lnTo>
                    <a:pt x="59505" y="1019065"/>
                  </a:lnTo>
                  <a:lnTo>
                    <a:pt x="84255" y="1019065"/>
                  </a:lnTo>
                  <a:lnTo>
                    <a:pt x="84256" y="70333"/>
                  </a:lnTo>
                  <a:lnTo>
                    <a:pt x="122387" y="135699"/>
                  </a:lnTo>
                  <a:lnTo>
                    <a:pt x="129964" y="137692"/>
                  </a:lnTo>
                  <a:lnTo>
                    <a:pt x="141771" y="130804"/>
                  </a:lnTo>
                  <a:lnTo>
                    <a:pt x="143766" y="123228"/>
                  </a:lnTo>
                  <a:lnTo>
                    <a:pt x="71882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688" y="4384842"/>
              <a:ext cx="308222" cy="31411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9237307" y="4274527"/>
              <a:ext cx="2073910" cy="2192020"/>
            </a:xfrm>
            <a:custGeom>
              <a:avLst/>
              <a:gdLst/>
              <a:ahLst/>
              <a:cxnLst/>
              <a:rect l="l" t="t" r="r" b="b"/>
              <a:pathLst>
                <a:path w="2073909" h="2192020">
                  <a:moveTo>
                    <a:pt x="2073884" y="1450860"/>
                  </a:moveTo>
                  <a:lnTo>
                    <a:pt x="0" y="1450860"/>
                  </a:lnTo>
                  <a:lnTo>
                    <a:pt x="0" y="2191423"/>
                  </a:lnTo>
                  <a:lnTo>
                    <a:pt x="2073884" y="2191423"/>
                  </a:lnTo>
                  <a:lnTo>
                    <a:pt x="2073884" y="1450860"/>
                  </a:lnTo>
                  <a:close/>
                </a:path>
                <a:path w="2073909" h="2192020">
                  <a:moveTo>
                    <a:pt x="2073884" y="0"/>
                  </a:moveTo>
                  <a:lnTo>
                    <a:pt x="0" y="0"/>
                  </a:lnTo>
                  <a:lnTo>
                    <a:pt x="0" y="740562"/>
                  </a:lnTo>
                  <a:lnTo>
                    <a:pt x="2073884" y="740562"/>
                  </a:lnTo>
                  <a:lnTo>
                    <a:pt x="20738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2" name="object 7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32059" y="4742793"/>
            <a:ext cx="2256776" cy="269371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2422904" y="5549177"/>
            <a:ext cx="2054275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spc="-56" dirty="0">
                <a:latin typeface="Arial"/>
                <a:cs typeface="Arial"/>
              </a:rPr>
              <a:t>words</a:t>
            </a:r>
            <a:r>
              <a:rPr sz="1617" spc="-53" dirty="0">
                <a:latin typeface="Arial"/>
                <a:cs typeface="Arial"/>
              </a:rPr>
              <a:t> </a:t>
            </a:r>
            <a:r>
              <a:rPr sz="1617" spc="183" dirty="0">
                <a:latin typeface="Arial"/>
                <a:cs typeface="Arial"/>
              </a:rPr>
              <a:t>/</a:t>
            </a:r>
            <a:r>
              <a:rPr sz="1617" spc="-42" dirty="0">
                <a:latin typeface="Arial"/>
                <a:cs typeface="Arial"/>
              </a:rPr>
              <a:t> </a:t>
            </a:r>
            <a:r>
              <a:rPr sz="1617" spc="-56" dirty="0">
                <a:latin typeface="Arial"/>
                <a:cs typeface="Arial"/>
              </a:rPr>
              <a:t>one-</a:t>
            </a:r>
            <a:r>
              <a:rPr sz="1617" dirty="0">
                <a:latin typeface="Arial"/>
                <a:cs typeface="Arial"/>
              </a:rPr>
              <a:t>hot</a:t>
            </a:r>
            <a:r>
              <a:rPr sz="1617" spc="-49" dirty="0">
                <a:latin typeface="Arial"/>
                <a:cs typeface="Arial"/>
              </a:rPr>
              <a:t> </a:t>
            </a:r>
            <a:r>
              <a:rPr sz="1617" spc="-46" dirty="0">
                <a:latin typeface="Arial"/>
                <a:cs typeface="Arial"/>
              </a:rPr>
              <a:t>vectors</a:t>
            </a:r>
            <a:endParaRPr sz="1617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6223901" y="5865330"/>
            <a:ext cx="3566071" cy="533995"/>
            <a:chOff x="6684304" y="8341802"/>
            <a:chExt cx="5071745" cy="759460"/>
          </a:xfrm>
        </p:grpSpPr>
        <p:pic>
          <p:nvPicPr>
            <p:cNvPr id="75" name="object 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65440" y="8341802"/>
              <a:ext cx="573124" cy="415799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944020" y="8341802"/>
              <a:ext cx="551803" cy="415799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34910" y="8341802"/>
              <a:ext cx="572269" cy="415799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103145" y="8341802"/>
              <a:ext cx="607501" cy="415799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6684304" y="8360606"/>
              <a:ext cx="5071745" cy="741045"/>
            </a:xfrm>
            <a:custGeom>
              <a:avLst/>
              <a:gdLst/>
              <a:ahLst/>
              <a:cxnLst/>
              <a:rect l="l" t="t" r="r" b="b"/>
              <a:pathLst>
                <a:path w="5071745" h="741045">
                  <a:moveTo>
                    <a:pt x="5071490" y="0"/>
                  </a:moveTo>
                  <a:lnTo>
                    <a:pt x="0" y="0"/>
                  </a:lnTo>
                  <a:lnTo>
                    <a:pt x="0" y="740570"/>
                  </a:lnTo>
                  <a:lnTo>
                    <a:pt x="5071490" y="740570"/>
                  </a:lnTo>
                  <a:lnTo>
                    <a:pt x="50714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0" name="object 80"/>
          <p:cNvGrpSpPr/>
          <p:nvPr/>
        </p:nvGrpSpPr>
        <p:grpSpPr>
          <a:xfrm>
            <a:off x="2300768" y="5823586"/>
            <a:ext cx="2338239" cy="892969"/>
            <a:chOff x="1104736" y="8282433"/>
            <a:chExt cx="3325495" cy="1270000"/>
          </a:xfrm>
        </p:grpSpPr>
        <p:pic>
          <p:nvPicPr>
            <p:cNvPr id="81" name="object 8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00558" y="8368873"/>
              <a:ext cx="2688344" cy="361279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104736" y="8282433"/>
              <a:ext cx="3325495" cy="1270000"/>
            </a:xfrm>
            <a:custGeom>
              <a:avLst/>
              <a:gdLst/>
              <a:ahLst/>
              <a:cxnLst/>
              <a:rect l="l" t="t" r="r" b="b"/>
              <a:pathLst>
                <a:path w="3325495" h="1270000">
                  <a:moveTo>
                    <a:pt x="3325097" y="0"/>
                  </a:moveTo>
                  <a:lnTo>
                    <a:pt x="0" y="0"/>
                  </a:lnTo>
                  <a:lnTo>
                    <a:pt x="0" y="1269999"/>
                  </a:lnTo>
                  <a:lnTo>
                    <a:pt x="3325097" y="1269999"/>
                  </a:lnTo>
                  <a:lnTo>
                    <a:pt x="33250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2454041" y="3429091"/>
            <a:ext cx="1072455" cy="50987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spc="-35" dirty="0">
                <a:solidFill>
                  <a:srgbClr val="A4001D"/>
                </a:solidFill>
                <a:latin typeface="Arial"/>
                <a:cs typeface="Arial"/>
              </a:rPr>
              <a:t>hidden</a:t>
            </a:r>
            <a:r>
              <a:rPr sz="1617" spc="-74" dirty="0">
                <a:solidFill>
                  <a:srgbClr val="A4001D"/>
                </a:solidFill>
                <a:latin typeface="Arial"/>
                <a:cs typeface="Arial"/>
              </a:rPr>
              <a:t> </a:t>
            </a:r>
            <a:r>
              <a:rPr sz="1617" spc="-42" dirty="0">
                <a:solidFill>
                  <a:srgbClr val="A4001D"/>
                </a:solidFill>
                <a:latin typeface="Arial"/>
                <a:cs typeface="Arial"/>
              </a:rPr>
              <a:t>layer</a:t>
            </a:r>
            <a:endParaRPr sz="1617">
              <a:latin typeface="Arial"/>
              <a:cs typeface="Aria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2219789" y="3674369"/>
            <a:ext cx="3457129" cy="410766"/>
            <a:chOff x="989567" y="5225770"/>
            <a:chExt cx="4916805" cy="584200"/>
          </a:xfrm>
        </p:grpSpPr>
        <p:pic>
          <p:nvPicPr>
            <p:cNvPr id="85" name="object 8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16625" y="5225770"/>
              <a:ext cx="2732394" cy="491767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989567" y="5273768"/>
              <a:ext cx="4916805" cy="535940"/>
            </a:xfrm>
            <a:custGeom>
              <a:avLst/>
              <a:gdLst/>
              <a:ahLst/>
              <a:cxnLst/>
              <a:rect l="l" t="t" r="r" b="b"/>
              <a:pathLst>
                <a:path w="4916805" h="535939">
                  <a:moveTo>
                    <a:pt x="4916666" y="0"/>
                  </a:moveTo>
                  <a:lnTo>
                    <a:pt x="0" y="0"/>
                  </a:lnTo>
                  <a:lnTo>
                    <a:pt x="0" y="535576"/>
                  </a:lnTo>
                  <a:lnTo>
                    <a:pt x="4916666" y="535576"/>
                  </a:lnTo>
                  <a:lnTo>
                    <a:pt x="4916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/>
          <p:nvPr/>
        </p:nvSpPr>
        <p:spPr>
          <a:xfrm>
            <a:off x="7234076" y="2678405"/>
            <a:ext cx="1564928" cy="69652"/>
          </a:xfrm>
          <a:custGeom>
            <a:avLst/>
            <a:gdLst/>
            <a:ahLst/>
            <a:cxnLst/>
            <a:rect l="l" t="t" r="r" b="b"/>
            <a:pathLst>
              <a:path w="2225675" h="99060">
                <a:moveTo>
                  <a:pt x="2126349" y="1"/>
                </a:moveTo>
                <a:lnTo>
                  <a:pt x="2126349" y="37125"/>
                </a:lnTo>
                <a:lnTo>
                  <a:pt x="99000" y="37124"/>
                </a:lnTo>
                <a:lnTo>
                  <a:pt x="99000" y="0"/>
                </a:lnTo>
                <a:lnTo>
                  <a:pt x="0" y="49499"/>
                </a:lnTo>
                <a:lnTo>
                  <a:pt x="99000" y="98999"/>
                </a:lnTo>
                <a:lnTo>
                  <a:pt x="99000" y="61874"/>
                </a:lnTo>
                <a:lnTo>
                  <a:pt x="2126349" y="61876"/>
                </a:lnTo>
                <a:lnTo>
                  <a:pt x="2126349" y="99001"/>
                </a:lnTo>
                <a:lnTo>
                  <a:pt x="2225349" y="49500"/>
                </a:lnTo>
                <a:lnTo>
                  <a:pt x="2126349" y="1"/>
                </a:lnTo>
                <a:close/>
              </a:path>
            </a:pathLst>
          </a:custGeom>
          <a:solidFill>
            <a:srgbClr val="1772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7243880" y="2701422"/>
            <a:ext cx="95994" cy="205165"/>
          </a:xfrm>
          <a:prstGeom prst="rect">
            <a:avLst/>
          </a:prstGeom>
        </p:spPr>
        <p:txBody>
          <a:bodyPr vert="horz" wrap="square" lIns="0" tIns="10268" rIns="0" bIns="0" rtlCol="0">
            <a:spAutoFit/>
          </a:bodyPr>
          <a:lstStyle/>
          <a:p>
            <a:pPr marL="8929">
              <a:spcBef>
                <a:spcPts val="80"/>
              </a:spcBef>
            </a:pPr>
            <a:r>
              <a:rPr sz="1266" spc="-91" dirty="0">
                <a:solidFill>
                  <a:srgbClr val="177245"/>
                </a:solidFill>
                <a:latin typeface="Arial"/>
                <a:cs typeface="Arial"/>
              </a:rPr>
              <a:t>a</a:t>
            </a:r>
            <a:endParaRPr sz="1266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619383" y="2704873"/>
            <a:ext cx="249585" cy="205165"/>
          </a:xfrm>
          <a:prstGeom prst="rect">
            <a:avLst/>
          </a:prstGeom>
        </p:spPr>
        <p:txBody>
          <a:bodyPr vert="horz" wrap="square" lIns="0" tIns="10268" rIns="0" bIns="0" rtlCol="0">
            <a:spAutoFit/>
          </a:bodyPr>
          <a:lstStyle/>
          <a:p>
            <a:pPr marL="8929">
              <a:spcBef>
                <a:spcPts val="80"/>
              </a:spcBef>
            </a:pPr>
            <a:r>
              <a:rPr sz="1266" spc="-67" dirty="0">
                <a:solidFill>
                  <a:srgbClr val="177245"/>
                </a:solidFill>
                <a:latin typeface="Arial"/>
                <a:cs typeface="Arial"/>
              </a:rPr>
              <a:t>zoo</a:t>
            </a:r>
            <a:endParaRPr sz="1266">
              <a:latin typeface="Arial"/>
              <a:cs typeface="Arial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2219789" y="2337100"/>
            <a:ext cx="3457129" cy="735806"/>
            <a:chOff x="989567" y="3323876"/>
            <a:chExt cx="4916805" cy="1046480"/>
          </a:xfrm>
        </p:grpSpPr>
        <p:pic>
          <p:nvPicPr>
            <p:cNvPr id="91" name="object 9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54641" y="3386742"/>
              <a:ext cx="4284560" cy="398043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989567" y="3323876"/>
              <a:ext cx="4916805" cy="1046480"/>
            </a:xfrm>
            <a:custGeom>
              <a:avLst/>
              <a:gdLst/>
              <a:ahLst/>
              <a:cxnLst/>
              <a:rect l="l" t="t" r="r" b="b"/>
              <a:pathLst>
                <a:path w="4916805" h="1046479">
                  <a:moveTo>
                    <a:pt x="4916666" y="0"/>
                  </a:moveTo>
                  <a:lnTo>
                    <a:pt x="0" y="0"/>
                  </a:lnTo>
                  <a:lnTo>
                    <a:pt x="0" y="1046377"/>
                  </a:lnTo>
                  <a:lnTo>
                    <a:pt x="4916666" y="1046377"/>
                  </a:lnTo>
                  <a:lnTo>
                    <a:pt x="4916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2399982" y="2005883"/>
            <a:ext cx="2473970" cy="736500"/>
          </a:xfrm>
          <a:prstGeom prst="rect">
            <a:avLst/>
          </a:prstGeom>
        </p:spPr>
        <p:txBody>
          <a:bodyPr vert="horz" wrap="square" lIns="0" tIns="46434" rIns="0" bIns="0" rtlCol="0">
            <a:spAutoFit/>
          </a:bodyPr>
          <a:lstStyle/>
          <a:p>
            <a:pPr marL="17859">
              <a:spcBef>
                <a:spcPts val="366"/>
              </a:spcBef>
            </a:pPr>
            <a:r>
              <a:rPr sz="1617" dirty="0">
                <a:solidFill>
                  <a:srgbClr val="177245"/>
                </a:solidFill>
                <a:latin typeface="Arial"/>
                <a:cs typeface="Arial"/>
              </a:rPr>
              <a:t>output</a:t>
            </a:r>
            <a:r>
              <a:rPr sz="1617" spc="-21" dirty="0">
                <a:solidFill>
                  <a:srgbClr val="177245"/>
                </a:solidFill>
                <a:latin typeface="Arial"/>
                <a:cs typeface="Arial"/>
              </a:rPr>
              <a:t> </a:t>
            </a:r>
            <a:r>
              <a:rPr sz="1617" spc="-7" dirty="0">
                <a:solidFill>
                  <a:srgbClr val="177245"/>
                </a:solidFill>
                <a:latin typeface="Arial"/>
                <a:cs typeface="Arial"/>
              </a:rPr>
              <a:t>distribution</a:t>
            </a:r>
            <a:endParaRPr sz="1617">
              <a:latin typeface="Arial"/>
              <a:cs typeface="Arial"/>
            </a:endParaRPr>
          </a:p>
          <a:p>
            <a:pPr marL="49558">
              <a:spcBef>
                <a:spcPts val="422"/>
              </a:spcBef>
            </a:pPr>
            <a:r>
              <a:rPr sz="2531" i="1" dirty="0">
                <a:latin typeface="Times New Roman"/>
                <a:cs typeface="Times New Roman"/>
              </a:rPr>
              <a:t>y</a:t>
            </a:r>
            <a:r>
              <a:rPr sz="2531" dirty="0">
                <a:latin typeface="Times New Roman"/>
                <a:cs typeface="Times New Roman"/>
              </a:rPr>
              <a:t>̂</a:t>
            </a:r>
            <a:r>
              <a:rPr sz="2531" spc="49" dirty="0">
                <a:latin typeface="Times New Roman"/>
                <a:cs typeface="Times New Roman"/>
              </a:rPr>
              <a:t> </a:t>
            </a:r>
            <a:r>
              <a:rPr sz="2531" spc="299" dirty="0">
                <a:latin typeface="Times New Roman"/>
                <a:cs typeface="Times New Roman"/>
              </a:rPr>
              <a:t>=</a:t>
            </a:r>
            <a:r>
              <a:rPr sz="2531" spc="88" dirty="0">
                <a:latin typeface="Times New Roman"/>
                <a:cs typeface="Times New Roman"/>
              </a:rPr>
              <a:t> </a:t>
            </a:r>
            <a:r>
              <a:rPr sz="2531" spc="-7" dirty="0">
                <a:latin typeface="HelveticaNeue-Light"/>
                <a:cs typeface="HelveticaNeue-Light"/>
              </a:rPr>
              <a:t>softmax</a:t>
            </a:r>
            <a:r>
              <a:rPr sz="2531" spc="-7" dirty="0">
                <a:latin typeface="Times New Roman"/>
                <a:cs typeface="Times New Roman"/>
              </a:rPr>
              <a:t>(</a:t>
            </a:r>
            <a:r>
              <a:rPr sz="2531" i="1" spc="-7" dirty="0">
                <a:latin typeface="Times New Roman"/>
                <a:cs typeface="Times New Roman"/>
              </a:rPr>
              <a:t>W</a:t>
            </a:r>
            <a:r>
              <a:rPr sz="2689" spc="-11" baseline="-19607" dirty="0">
                <a:latin typeface="Times New Roman"/>
                <a:cs typeface="Times New Roman"/>
              </a:rPr>
              <a:t>2</a:t>
            </a:r>
            <a:r>
              <a:rPr sz="2531" i="1" spc="-7" dirty="0">
                <a:latin typeface="Times New Roman"/>
                <a:cs typeface="Times New Roman"/>
              </a:rPr>
              <a:t>h</a:t>
            </a:r>
            <a:r>
              <a:rPr sz="2531" spc="-7" dirty="0">
                <a:latin typeface="Times New Roman"/>
                <a:cs typeface="Times New Roman"/>
              </a:rPr>
              <a:t>)</a:t>
            </a:r>
            <a:endParaRPr sz="2531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749068" y="5727126"/>
            <a:ext cx="1551586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1</a:t>
            </a:r>
            <a:r>
              <a:rPr sz="2531" spc="-35" dirty="0">
                <a:latin typeface="Times New Roman"/>
                <a:cs typeface="Times New Roman"/>
              </a:rPr>
              <a:t>,</a:t>
            </a:r>
            <a:r>
              <a:rPr sz="2531" spc="-197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2</a:t>
            </a:r>
            <a:r>
              <a:rPr sz="2531" spc="-35" dirty="0">
                <a:latin typeface="Times New Roman"/>
                <a:cs typeface="Times New Roman"/>
              </a:rPr>
              <a:t>,</a:t>
            </a:r>
            <a:r>
              <a:rPr sz="2531" spc="-197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3</a:t>
            </a:r>
            <a:r>
              <a:rPr sz="2531" spc="-35" dirty="0">
                <a:latin typeface="Times New Roman"/>
                <a:cs typeface="Times New Roman"/>
              </a:rPr>
              <a:t>,</a:t>
            </a:r>
            <a:r>
              <a:rPr sz="2531" spc="-197" dirty="0">
                <a:latin typeface="Times New Roman"/>
                <a:cs typeface="Times New Roman"/>
              </a:rPr>
              <a:t> </a:t>
            </a: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4</a:t>
            </a:r>
            <a:endParaRPr sz="2689" baseline="-19607" dirty="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8135773" y="4055944"/>
            <a:ext cx="248692" cy="344494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180" i="1" dirty="0">
                <a:latin typeface="Times New Roman"/>
                <a:cs typeface="Times New Roman"/>
              </a:rPr>
              <a:t>W</a:t>
            </a:r>
            <a:endParaRPr sz="218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8356638" y="4205428"/>
            <a:ext cx="116532" cy="247096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547" dirty="0">
                <a:latin typeface="Times New Roman"/>
                <a:cs typeface="Times New Roman"/>
              </a:rPr>
              <a:t>1</a:t>
            </a:r>
            <a:endParaRPr sz="1547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8117914" y="3035809"/>
            <a:ext cx="372814" cy="344494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180" i="1" spc="-18" dirty="0">
                <a:latin typeface="Times New Roman"/>
                <a:cs typeface="Times New Roman"/>
              </a:rPr>
              <a:t>W</a:t>
            </a:r>
            <a:r>
              <a:rPr sz="2320" spc="-26" baseline="-20202" dirty="0">
                <a:latin typeface="Times New Roman"/>
                <a:cs typeface="Times New Roman"/>
              </a:rPr>
              <a:t>2</a:t>
            </a:r>
            <a:endParaRPr sz="2320" baseline="-20202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323333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1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275358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2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8256321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3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9237285" y="5728724"/>
            <a:ext cx="29914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4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488154" y="3796206"/>
            <a:ext cx="1446609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531" i="1" dirty="0">
                <a:latin typeface="Times New Roman"/>
                <a:cs typeface="Times New Roman"/>
              </a:rPr>
              <a:t>h</a:t>
            </a:r>
            <a:r>
              <a:rPr sz="2531" i="1" spc="70" dirty="0">
                <a:latin typeface="Times New Roman"/>
                <a:cs typeface="Times New Roman"/>
              </a:rPr>
              <a:t> </a:t>
            </a:r>
            <a:r>
              <a:rPr sz="2531" spc="299" dirty="0">
                <a:latin typeface="Times New Roman"/>
                <a:cs typeface="Times New Roman"/>
              </a:rPr>
              <a:t>=</a:t>
            </a:r>
            <a:r>
              <a:rPr sz="2531" spc="70" dirty="0">
                <a:latin typeface="Times New Roman"/>
                <a:cs typeface="Times New Roman"/>
              </a:rPr>
              <a:t> </a:t>
            </a:r>
            <a:r>
              <a:rPr sz="2531" i="1" spc="-7" dirty="0">
                <a:latin typeface="Times New Roman"/>
                <a:cs typeface="Times New Roman"/>
              </a:rPr>
              <a:t>f</a:t>
            </a:r>
            <a:r>
              <a:rPr sz="2531" spc="-7" dirty="0">
                <a:latin typeface="Times New Roman"/>
                <a:cs typeface="Times New Roman"/>
              </a:rPr>
              <a:t>(</a:t>
            </a:r>
            <a:r>
              <a:rPr sz="2531" i="1" spc="-7" dirty="0">
                <a:latin typeface="Times New Roman"/>
                <a:cs typeface="Times New Roman"/>
              </a:rPr>
              <a:t>W</a:t>
            </a:r>
            <a:r>
              <a:rPr sz="2689" spc="-11" baseline="-19607" dirty="0">
                <a:latin typeface="Times New Roman"/>
                <a:cs typeface="Times New Roman"/>
              </a:rPr>
              <a:t>1</a:t>
            </a:r>
            <a:r>
              <a:rPr sz="2531" i="1" spc="-7" dirty="0">
                <a:latin typeface="Times New Roman"/>
                <a:cs typeface="Times New Roman"/>
              </a:rPr>
              <a:t>x</a:t>
            </a:r>
            <a:r>
              <a:rPr sz="2531" spc="-7" dirty="0">
                <a:latin typeface="Times New Roman"/>
                <a:cs typeface="Times New Roman"/>
              </a:rPr>
              <a:t>)</a:t>
            </a:r>
            <a:endParaRPr sz="2531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2300768" y="4720955"/>
            <a:ext cx="2666850" cy="892969"/>
          </a:xfrm>
          <a:custGeom>
            <a:avLst/>
            <a:gdLst/>
            <a:ahLst/>
            <a:cxnLst/>
            <a:rect l="l" t="t" r="r" b="b"/>
            <a:pathLst>
              <a:path w="3792854" h="1270000">
                <a:moveTo>
                  <a:pt x="3792722" y="0"/>
                </a:moveTo>
                <a:lnTo>
                  <a:pt x="0" y="0"/>
                </a:lnTo>
                <a:lnTo>
                  <a:pt x="0" y="1269999"/>
                </a:lnTo>
                <a:lnTo>
                  <a:pt x="3792722" y="1269999"/>
                </a:lnTo>
                <a:lnTo>
                  <a:pt x="37927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2413974" y="4412922"/>
            <a:ext cx="2768650" cy="713757"/>
          </a:xfrm>
          <a:prstGeom prst="rect">
            <a:avLst/>
          </a:prstGeom>
        </p:spPr>
        <p:txBody>
          <a:bodyPr vert="horz" wrap="square" lIns="0" tIns="36611" rIns="0" bIns="0" rtlCol="0">
            <a:spAutoFit/>
          </a:bodyPr>
          <a:lstStyle/>
          <a:p>
            <a:pPr marL="17859">
              <a:spcBef>
                <a:spcPts val="288"/>
              </a:spcBef>
            </a:pPr>
            <a:r>
              <a:rPr sz="1617" spc="-60" dirty="0">
                <a:solidFill>
                  <a:srgbClr val="0047B6"/>
                </a:solidFill>
                <a:latin typeface="Arial"/>
                <a:cs typeface="Arial"/>
              </a:rPr>
              <a:t>concatenated</a:t>
            </a:r>
            <a:r>
              <a:rPr sz="1617" spc="-70" dirty="0">
                <a:solidFill>
                  <a:srgbClr val="0047B6"/>
                </a:solidFill>
                <a:latin typeface="Arial"/>
                <a:cs typeface="Arial"/>
              </a:rPr>
              <a:t> </a:t>
            </a:r>
            <a:r>
              <a:rPr sz="1617" spc="-14" dirty="0">
                <a:solidFill>
                  <a:srgbClr val="0047B6"/>
                </a:solidFill>
                <a:latin typeface="Arial"/>
                <a:cs typeface="Arial"/>
              </a:rPr>
              <a:t>word</a:t>
            </a:r>
            <a:r>
              <a:rPr sz="1617" spc="-67" dirty="0">
                <a:solidFill>
                  <a:srgbClr val="0047B6"/>
                </a:solidFill>
                <a:latin typeface="Arial"/>
                <a:cs typeface="Arial"/>
              </a:rPr>
              <a:t> </a:t>
            </a:r>
            <a:r>
              <a:rPr sz="1617" spc="-46" dirty="0">
                <a:solidFill>
                  <a:srgbClr val="0047B6"/>
                </a:solidFill>
                <a:latin typeface="Arial"/>
                <a:cs typeface="Arial"/>
              </a:rPr>
              <a:t>embeddings</a:t>
            </a:r>
            <a:endParaRPr sz="1617">
              <a:latin typeface="Arial"/>
              <a:cs typeface="Arial"/>
            </a:endParaRPr>
          </a:p>
          <a:p>
            <a:pPr marL="256273">
              <a:spcBef>
                <a:spcPts val="295"/>
              </a:spcBef>
            </a:pPr>
            <a:r>
              <a:rPr sz="2531" i="1" dirty="0">
                <a:latin typeface="Times New Roman"/>
                <a:cs typeface="Times New Roman"/>
              </a:rPr>
              <a:t>x</a:t>
            </a:r>
            <a:r>
              <a:rPr sz="2531" i="1" spc="98" dirty="0">
                <a:latin typeface="Times New Roman"/>
                <a:cs typeface="Times New Roman"/>
              </a:rPr>
              <a:t> </a:t>
            </a:r>
            <a:r>
              <a:rPr sz="2531" spc="299" dirty="0">
                <a:latin typeface="Times New Roman"/>
                <a:cs typeface="Times New Roman"/>
              </a:rPr>
              <a:t>=</a:t>
            </a:r>
            <a:r>
              <a:rPr sz="2531" spc="84" dirty="0">
                <a:latin typeface="Times New Roman"/>
                <a:cs typeface="Times New Roman"/>
              </a:rPr>
              <a:t> </a:t>
            </a:r>
            <a:r>
              <a:rPr sz="2531" spc="-28" dirty="0">
                <a:latin typeface="Times New Roman"/>
                <a:cs typeface="Times New Roman"/>
              </a:rPr>
              <a:t>[</a:t>
            </a:r>
            <a:r>
              <a:rPr sz="2531" i="1" spc="-28" dirty="0">
                <a:latin typeface="Times New Roman"/>
                <a:cs typeface="Times New Roman"/>
              </a:rPr>
              <a:t>c</a:t>
            </a:r>
            <a:r>
              <a:rPr sz="2689" spc="-42" baseline="-19607" dirty="0">
                <a:latin typeface="Times New Roman"/>
                <a:cs typeface="Times New Roman"/>
              </a:rPr>
              <a:t>1</a:t>
            </a:r>
            <a:r>
              <a:rPr sz="2531" spc="-28" dirty="0">
                <a:latin typeface="Times New Roman"/>
                <a:cs typeface="Times New Roman"/>
              </a:rPr>
              <a:t>;</a:t>
            </a:r>
            <a:r>
              <a:rPr sz="2531" spc="-204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2</a:t>
            </a:r>
            <a:r>
              <a:rPr sz="2531" spc="-35" dirty="0">
                <a:latin typeface="Times New Roman"/>
                <a:cs typeface="Times New Roman"/>
              </a:rPr>
              <a:t>;</a:t>
            </a:r>
            <a:r>
              <a:rPr sz="2531" spc="-200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3</a:t>
            </a:r>
            <a:r>
              <a:rPr sz="2531" spc="-35" dirty="0">
                <a:latin typeface="Times New Roman"/>
                <a:cs typeface="Times New Roman"/>
              </a:rPr>
              <a:t>;</a:t>
            </a:r>
            <a:r>
              <a:rPr sz="2531" spc="-204" dirty="0">
                <a:latin typeface="Times New Roman"/>
                <a:cs typeface="Times New Roman"/>
              </a:rPr>
              <a:t> </a:t>
            </a: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4</a:t>
            </a:r>
            <a:r>
              <a:rPr sz="2531" spc="-18" dirty="0">
                <a:latin typeface="Times New Roman"/>
                <a:cs typeface="Times New Roman"/>
              </a:rPr>
              <a:t>]</a:t>
            </a:r>
            <a:endParaRPr sz="253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5017" y="5608047"/>
            <a:ext cx="1462236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  <a:tabLst>
                <a:tab pos="733548" algn="l"/>
              </a:tabLst>
            </a:pPr>
            <a:r>
              <a:rPr sz="1617" i="1" spc="-18" dirty="0">
                <a:latin typeface="Arial"/>
                <a:cs typeface="Arial"/>
              </a:rPr>
              <a:t>the</a:t>
            </a:r>
            <a:r>
              <a:rPr sz="1617" i="1" dirty="0">
                <a:latin typeface="Arial"/>
                <a:cs typeface="Arial"/>
              </a:rPr>
              <a:t>	</a:t>
            </a:r>
            <a:r>
              <a:rPr sz="1617" i="1" spc="-56" dirty="0">
                <a:latin typeface="Arial"/>
                <a:cs typeface="Arial"/>
              </a:rPr>
              <a:t>students</a:t>
            </a:r>
            <a:endParaRPr sz="1617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00099" y="5608047"/>
            <a:ext cx="647402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i="1" spc="-74" dirty="0">
                <a:latin typeface="Arial"/>
                <a:cs typeface="Arial"/>
              </a:rPr>
              <a:t>opened</a:t>
            </a:r>
            <a:endParaRPr sz="161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08640" y="5608047"/>
            <a:ext cx="414784" cy="261023"/>
          </a:xfrm>
          <a:prstGeom prst="rect">
            <a:avLst/>
          </a:prstGeom>
        </p:spPr>
        <p:txBody>
          <a:bodyPr vert="horz" wrap="square" lIns="0" tIns="12055" rIns="0" bIns="0" rtlCol="0">
            <a:spAutoFit/>
          </a:bodyPr>
          <a:lstStyle/>
          <a:p>
            <a:pPr marL="8929">
              <a:spcBef>
                <a:spcPts val="95"/>
              </a:spcBef>
            </a:pPr>
            <a:r>
              <a:rPr sz="1617" i="1" spc="-7" dirty="0">
                <a:latin typeface="Arial"/>
                <a:cs typeface="Arial"/>
              </a:rPr>
              <a:t>their</a:t>
            </a:r>
            <a:endParaRPr sz="161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27608" y="1508969"/>
            <a:ext cx="403175" cy="205165"/>
          </a:xfrm>
          <a:prstGeom prst="rect">
            <a:avLst/>
          </a:prstGeom>
        </p:spPr>
        <p:txBody>
          <a:bodyPr vert="horz" wrap="square" lIns="0" tIns="10268" rIns="0" bIns="0" rtlCol="0">
            <a:spAutoFit/>
          </a:bodyPr>
          <a:lstStyle/>
          <a:p>
            <a:pPr marL="8929">
              <a:spcBef>
                <a:spcPts val="80"/>
              </a:spcBef>
            </a:pPr>
            <a:r>
              <a:rPr sz="1266" i="1" spc="-67" dirty="0">
                <a:solidFill>
                  <a:srgbClr val="177245"/>
                </a:solidFill>
                <a:latin typeface="Arial"/>
                <a:cs typeface="Arial"/>
              </a:rPr>
              <a:t>books</a:t>
            </a:r>
            <a:endParaRPr sz="126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58846" y="1681712"/>
            <a:ext cx="505867" cy="205165"/>
          </a:xfrm>
          <a:prstGeom prst="rect">
            <a:avLst/>
          </a:prstGeom>
        </p:spPr>
        <p:txBody>
          <a:bodyPr vert="horz" wrap="square" lIns="0" tIns="10268" rIns="0" bIns="0" rtlCol="0">
            <a:spAutoFit/>
          </a:bodyPr>
          <a:lstStyle/>
          <a:p>
            <a:pPr marL="8929">
              <a:spcBef>
                <a:spcPts val="80"/>
              </a:spcBef>
            </a:pPr>
            <a:r>
              <a:rPr sz="1266" i="1" spc="-35" dirty="0">
                <a:solidFill>
                  <a:srgbClr val="177245"/>
                </a:solidFill>
                <a:latin typeface="Arial"/>
                <a:cs typeface="Arial"/>
              </a:rPr>
              <a:t>laptops</a:t>
            </a:r>
            <a:endParaRPr sz="1266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57030" y="1726303"/>
            <a:ext cx="1918543" cy="917525"/>
            <a:chOff x="7869197" y="2455186"/>
            <a:chExt cx="2728595" cy="1304925"/>
          </a:xfrm>
        </p:grpSpPr>
        <p:sp>
          <p:nvSpPr>
            <p:cNvPr id="8" name="object 8"/>
            <p:cNvSpPr/>
            <p:nvPr/>
          </p:nvSpPr>
          <p:spPr>
            <a:xfrm>
              <a:off x="8349746" y="2455186"/>
              <a:ext cx="99060" cy="375920"/>
            </a:xfrm>
            <a:custGeom>
              <a:avLst/>
              <a:gdLst/>
              <a:ahLst/>
              <a:cxnLst/>
              <a:rect l="l" t="t" r="r" b="b"/>
              <a:pathLst>
                <a:path w="99059" h="375919">
                  <a:moveTo>
                    <a:pt x="55250" y="0"/>
                  </a:moveTo>
                  <a:lnTo>
                    <a:pt x="42875" y="20"/>
                  </a:lnTo>
                  <a:lnTo>
                    <a:pt x="43312" y="276404"/>
                  </a:lnTo>
                  <a:lnTo>
                    <a:pt x="0" y="276473"/>
                  </a:lnTo>
                  <a:lnTo>
                    <a:pt x="49655" y="375394"/>
                  </a:lnTo>
                  <a:lnTo>
                    <a:pt x="98999" y="276317"/>
                  </a:lnTo>
                  <a:lnTo>
                    <a:pt x="55686" y="276386"/>
                  </a:lnTo>
                  <a:lnTo>
                    <a:pt x="55250" y="0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69197" y="3741772"/>
              <a:ext cx="2728595" cy="12700"/>
            </a:xfrm>
            <a:custGeom>
              <a:avLst/>
              <a:gdLst/>
              <a:ahLst/>
              <a:cxnLst/>
              <a:rect l="l" t="t" r="r" b="b"/>
              <a:pathLst>
                <a:path w="2728595" h="12700">
                  <a:moveTo>
                    <a:pt x="0" y="0"/>
                  </a:moveTo>
                  <a:lnTo>
                    <a:pt x="437193" y="0"/>
                  </a:lnTo>
                </a:path>
                <a:path w="2728595" h="12700">
                  <a:moveTo>
                    <a:pt x="2477149" y="0"/>
                  </a:moveTo>
                  <a:lnTo>
                    <a:pt x="2728316" y="0"/>
                  </a:lnTo>
                </a:path>
                <a:path w="2728595" h="12700">
                  <a:moveTo>
                    <a:pt x="0" y="12375"/>
                  </a:moveTo>
                  <a:lnTo>
                    <a:pt x="2728316" y="12375"/>
                  </a:lnTo>
                </a:path>
              </a:pathLst>
            </a:custGeom>
            <a:ln w="11262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20997" y="3633728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186026" y="0"/>
                  </a:moveTo>
                  <a:lnTo>
                    <a:pt x="0" y="0"/>
                  </a:lnTo>
                  <a:lnTo>
                    <a:pt x="0" y="113675"/>
                  </a:lnTo>
                  <a:lnTo>
                    <a:pt x="186026" y="113675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20997" y="3633727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0" y="0"/>
                  </a:moveTo>
                  <a:lnTo>
                    <a:pt x="186026" y="0"/>
                  </a:lnTo>
                  <a:lnTo>
                    <a:pt x="186026" y="113675"/>
                  </a:lnTo>
                  <a:lnTo>
                    <a:pt x="0" y="113675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06391" y="2830582"/>
              <a:ext cx="186055" cy="916940"/>
            </a:xfrm>
            <a:custGeom>
              <a:avLst/>
              <a:gdLst/>
              <a:ahLst/>
              <a:cxnLst/>
              <a:rect l="l" t="t" r="r" b="b"/>
              <a:pathLst>
                <a:path w="186054" h="916939">
                  <a:moveTo>
                    <a:pt x="186026" y="0"/>
                  </a:moveTo>
                  <a:lnTo>
                    <a:pt x="0" y="0"/>
                  </a:lnTo>
                  <a:lnTo>
                    <a:pt x="0" y="916821"/>
                  </a:lnTo>
                  <a:lnTo>
                    <a:pt x="186026" y="916821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06391" y="2830580"/>
              <a:ext cx="186055" cy="916940"/>
            </a:xfrm>
            <a:custGeom>
              <a:avLst/>
              <a:gdLst/>
              <a:ahLst/>
              <a:cxnLst/>
              <a:rect l="l" t="t" r="r" b="b"/>
              <a:pathLst>
                <a:path w="186054" h="916939">
                  <a:moveTo>
                    <a:pt x="0" y="0"/>
                  </a:moveTo>
                  <a:lnTo>
                    <a:pt x="186026" y="0"/>
                  </a:lnTo>
                  <a:lnTo>
                    <a:pt x="186026" y="916821"/>
                  </a:lnTo>
                  <a:lnTo>
                    <a:pt x="0" y="916821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91782" y="3510354"/>
              <a:ext cx="186055" cy="237490"/>
            </a:xfrm>
            <a:custGeom>
              <a:avLst/>
              <a:gdLst/>
              <a:ahLst/>
              <a:cxnLst/>
              <a:rect l="l" t="t" r="r" b="b"/>
              <a:pathLst>
                <a:path w="186054" h="237489">
                  <a:moveTo>
                    <a:pt x="186026" y="0"/>
                  </a:moveTo>
                  <a:lnTo>
                    <a:pt x="0" y="0"/>
                  </a:lnTo>
                  <a:lnTo>
                    <a:pt x="0" y="237047"/>
                  </a:lnTo>
                  <a:lnTo>
                    <a:pt x="186026" y="237047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91782" y="3510354"/>
              <a:ext cx="186055" cy="237490"/>
            </a:xfrm>
            <a:custGeom>
              <a:avLst/>
              <a:gdLst/>
              <a:ahLst/>
              <a:cxnLst/>
              <a:rect l="l" t="t" r="r" b="b"/>
              <a:pathLst>
                <a:path w="186054" h="237489">
                  <a:moveTo>
                    <a:pt x="0" y="0"/>
                  </a:moveTo>
                  <a:lnTo>
                    <a:pt x="186026" y="0"/>
                  </a:lnTo>
                  <a:lnTo>
                    <a:pt x="186026" y="237047"/>
                  </a:lnTo>
                  <a:lnTo>
                    <a:pt x="0" y="237047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77177" y="3369712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186026" y="0"/>
                  </a:moveTo>
                  <a:lnTo>
                    <a:pt x="0" y="0"/>
                  </a:lnTo>
                  <a:lnTo>
                    <a:pt x="0" y="377689"/>
                  </a:lnTo>
                  <a:lnTo>
                    <a:pt x="186026" y="377689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77177" y="3369712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0" y="0"/>
                  </a:moveTo>
                  <a:lnTo>
                    <a:pt x="186026" y="0"/>
                  </a:lnTo>
                  <a:lnTo>
                    <a:pt x="186026" y="377689"/>
                  </a:lnTo>
                  <a:lnTo>
                    <a:pt x="0" y="377689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862570" y="3633728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186026" y="0"/>
                  </a:moveTo>
                  <a:lnTo>
                    <a:pt x="0" y="0"/>
                  </a:lnTo>
                  <a:lnTo>
                    <a:pt x="0" y="113675"/>
                  </a:lnTo>
                  <a:lnTo>
                    <a:pt x="186026" y="113675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862570" y="3633727"/>
              <a:ext cx="186055" cy="114300"/>
            </a:xfrm>
            <a:custGeom>
              <a:avLst/>
              <a:gdLst/>
              <a:ahLst/>
              <a:cxnLst/>
              <a:rect l="l" t="t" r="r" b="b"/>
              <a:pathLst>
                <a:path w="186054" h="114300">
                  <a:moveTo>
                    <a:pt x="0" y="0"/>
                  </a:moveTo>
                  <a:lnTo>
                    <a:pt x="186026" y="0"/>
                  </a:lnTo>
                  <a:lnTo>
                    <a:pt x="186026" y="113675"/>
                  </a:lnTo>
                  <a:lnTo>
                    <a:pt x="0" y="113675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47963" y="3338762"/>
              <a:ext cx="186055" cy="408940"/>
            </a:xfrm>
            <a:custGeom>
              <a:avLst/>
              <a:gdLst/>
              <a:ahLst/>
              <a:cxnLst/>
              <a:rect l="l" t="t" r="r" b="b"/>
              <a:pathLst>
                <a:path w="186054" h="408939">
                  <a:moveTo>
                    <a:pt x="186026" y="0"/>
                  </a:moveTo>
                  <a:lnTo>
                    <a:pt x="0" y="0"/>
                  </a:lnTo>
                  <a:lnTo>
                    <a:pt x="0" y="408639"/>
                  </a:lnTo>
                  <a:lnTo>
                    <a:pt x="186026" y="408639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47963" y="3338762"/>
              <a:ext cx="186055" cy="408940"/>
            </a:xfrm>
            <a:custGeom>
              <a:avLst/>
              <a:gdLst/>
              <a:ahLst/>
              <a:cxnLst/>
              <a:rect l="l" t="t" r="r" b="b"/>
              <a:pathLst>
                <a:path w="186054" h="408939">
                  <a:moveTo>
                    <a:pt x="0" y="0"/>
                  </a:moveTo>
                  <a:lnTo>
                    <a:pt x="186026" y="0"/>
                  </a:lnTo>
                  <a:lnTo>
                    <a:pt x="186026" y="408639"/>
                  </a:lnTo>
                  <a:lnTo>
                    <a:pt x="0" y="408639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33358" y="3369713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186026" y="0"/>
                  </a:moveTo>
                  <a:lnTo>
                    <a:pt x="0" y="0"/>
                  </a:lnTo>
                  <a:lnTo>
                    <a:pt x="0" y="377690"/>
                  </a:lnTo>
                  <a:lnTo>
                    <a:pt x="186026" y="377690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233358" y="3369712"/>
              <a:ext cx="186055" cy="377825"/>
            </a:xfrm>
            <a:custGeom>
              <a:avLst/>
              <a:gdLst/>
              <a:ahLst/>
              <a:cxnLst/>
              <a:rect l="l" t="t" r="r" b="b"/>
              <a:pathLst>
                <a:path w="186054" h="377825">
                  <a:moveTo>
                    <a:pt x="0" y="0"/>
                  </a:moveTo>
                  <a:lnTo>
                    <a:pt x="186026" y="0"/>
                  </a:lnTo>
                  <a:lnTo>
                    <a:pt x="186026" y="377690"/>
                  </a:lnTo>
                  <a:lnTo>
                    <a:pt x="0" y="377690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462265" y="2761435"/>
              <a:ext cx="99060" cy="297815"/>
            </a:xfrm>
            <a:custGeom>
              <a:avLst/>
              <a:gdLst/>
              <a:ahLst/>
              <a:cxnLst/>
              <a:rect l="l" t="t" r="r" b="b"/>
              <a:pathLst>
                <a:path w="99059" h="297814">
                  <a:moveTo>
                    <a:pt x="55685" y="0"/>
                  </a:moveTo>
                  <a:lnTo>
                    <a:pt x="43310" y="0"/>
                  </a:lnTo>
                  <a:lnTo>
                    <a:pt x="43312" y="198784"/>
                  </a:lnTo>
                  <a:lnTo>
                    <a:pt x="0" y="198784"/>
                  </a:lnTo>
                  <a:lnTo>
                    <a:pt x="49499" y="297783"/>
                  </a:lnTo>
                  <a:lnTo>
                    <a:pt x="98999" y="198784"/>
                  </a:lnTo>
                  <a:lnTo>
                    <a:pt x="55686" y="198784"/>
                  </a:lnTo>
                  <a:lnTo>
                    <a:pt x="55685" y="0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418750" y="3059220"/>
              <a:ext cx="186055" cy="688340"/>
            </a:xfrm>
            <a:custGeom>
              <a:avLst/>
              <a:gdLst/>
              <a:ahLst/>
              <a:cxnLst/>
              <a:rect l="l" t="t" r="r" b="b"/>
              <a:pathLst>
                <a:path w="186054" h="688339">
                  <a:moveTo>
                    <a:pt x="186026" y="0"/>
                  </a:moveTo>
                  <a:lnTo>
                    <a:pt x="0" y="0"/>
                  </a:lnTo>
                  <a:lnTo>
                    <a:pt x="0" y="688183"/>
                  </a:lnTo>
                  <a:lnTo>
                    <a:pt x="186026" y="688183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418750" y="3059219"/>
              <a:ext cx="186055" cy="688340"/>
            </a:xfrm>
            <a:custGeom>
              <a:avLst/>
              <a:gdLst/>
              <a:ahLst/>
              <a:cxnLst/>
              <a:rect l="l" t="t" r="r" b="b"/>
              <a:pathLst>
                <a:path w="186054" h="688339">
                  <a:moveTo>
                    <a:pt x="0" y="0"/>
                  </a:moveTo>
                  <a:lnTo>
                    <a:pt x="186026" y="0"/>
                  </a:lnTo>
                  <a:lnTo>
                    <a:pt x="186026" y="688183"/>
                  </a:lnTo>
                  <a:lnTo>
                    <a:pt x="0" y="688183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604144" y="3575543"/>
              <a:ext cx="186055" cy="172085"/>
            </a:xfrm>
            <a:custGeom>
              <a:avLst/>
              <a:gdLst/>
              <a:ahLst/>
              <a:cxnLst/>
              <a:rect l="l" t="t" r="r" b="b"/>
              <a:pathLst>
                <a:path w="186054" h="172085">
                  <a:moveTo>
                    <a:pt x="186026" y="0"/>
                  </a:moveTo>
                  <a:lnTo>
                    <a:pt x="0" y="0"/>
                  </a:lnTo>
                  <a:lnTo>
                    <a:pt x="0" y="171858"/>
                  </a:lnTo>
                  <a:lnTo>
                    <a:pt x="186026" y="171858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604144" y="3575543"/>
              <a:ext cx="186055" cy="172085"/>
            </a:xfrm>
            <a:custGeom>
              <a:avLst/>
              <a:gdLst/>
              <a:ahLst/>
              <a:cxnLst/>
              <a:rect l="l" t="t" r="r" b="b"/>
              <a:pathLst>
                <a:path w="186054" h="172085">
                  <a:moveTo>
                    <a:pt x="0" y="0"/>
                  </a:moveTo>
                  <a:lnTo>
                    <a:pt x="186026" y="0"/>
                  </a:lnTo>
                  <a:lnTo>
                    <a:pt x="186026" y="171858"/>
                  </a:lnTo>
                  <a:lnTo>
                    <a:pt x="0" y="171858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789536" y="3438022"/>
              <a:ext cx="186055" cy="309880"/>
            </a:xfrm>
            <a:custGeom>
              <a:avLst/>
              <a:gdLst/>
              <a:ahLst/>
              <a:cxnLst/>
              <a:rect l="l" t="t" r="r" b="b"/>
              <a:pathLst>
                <a:path w="186054" h="309879">
                  <a:moveTo>
                    <a:pt x="186026" y="0"/>
                  </a:moveTo>
                  <a:lnTo>
                    <a:pt x="0" y="0"/>
                  </a:lnTo>
                  <a:lnTo>
                    <a:pt x="0" y="309379"/>
                  </a:lnTo>
                  <a:lnTo>
                    <a:pt x="186026" y="309379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789536" y="3438023"/>
              <a:ext cx="186055" cy="309880"/>
            </a:xfrm>
            <a:custGeom>
              <a:avLst/>
              <a:gdLst/>
              <a:ahLst/>
              <a:cxnLst/>
              <a:rect l="l" t="t" r="r" b="b"/>
              <a:pathLst>
                <a:path w="186054" h="309879">
                  <a:moveTo>
                    <a:pt x="0" y="0"/>
                  </a:moveTo>
                  <a:lnTo>
                    <a:pt x="186026" y="0"/>
                  </a:lnTo>
                  <a:lnTo>
                    <a:pt x="186026" y="309379"/>
                  </a:lnTo>
                  <a:lnTo>
                    <a:pt x="0" y="309379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974930" y="3329665"/>
              <a:ext cx="186055" cy="417830"/>
            </a:xfrm>
            <a:custGeom>
              <a:avLst/>
              <a:gdLst/>
              <a:ahLst/>
              <a:cxnLst/>
              <a:rect l="l" t="t" r="r" b="b"/>
              <a:pathLst>
                <a:path w="186054" h="417829">
                  <a:moveTo>
                    <a:pt x="186026" y="0"/>
                  </a:moveTo>
                  <a:lnTo>
                    <a:pt x="0" y="0"/>
                  </a:lnTo>
                  <a:lnTo>
                    <a:pt x="0" y="417736"/>
                  </a:lnTo>
                  <a:lnTo>
                    <a:pt x="186026" y="417736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974930" y="3329665"/>
              <a:ext cx="186055" cy="417830"/>
            </a:xfrm>
            <a:custGeom>
              <a:avLst/>
              <a:gdLst/>
              <a:ahLst/>
              <a:cxnLst/>
              <a:rect l="l" t="t" r="r" b="b"/>
              <a:pathLst>
                <a:path w="186054" h="417829">
                  <a:moveTo>
                    <a:pt x="0" y="0"/>
                  </a:moveTo>
                  <a:lnTo>
                    <a:pt x="186026" y="0"/>
                  </a:lnTo>
                  <a:lnTo>
                    <a:pt x="186026" y="417736"/>
                  </a:lnTo>
                  <a:lnTo>
                    <a:pt x="0" y="417736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160321" y="3674761"/>
              <a:ext cx="186055" cy="73025"/>
            </a:xfrm>
            <a:custGeom>
              <a:avLst/>
              <a:gdLst/>
              <a:ahLst/>
              <a:cxnLst/>
              <a:rect l="l" t="t" r="r" b="b"/>
              <a:pathLst>
                <a:path w="186054" h="73025">
                  <a:moveTo>
                    <a:pt x="186026" y="0"/>
                  </a:moveTo>
                  <a:lnTo>
                    <a:pt x="0" y="0"/>
                  </a:lnTo>
                  <a:lnTo>
                    <a:pt x="0" y="72640"/>
                  </a:lnTo>
                  <a:lnTo>
                    <a:pt x="186026" y="72640"/>
                  </a:lnTo>
                  <a:lnTo>
                    <a:pt x="18602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160321" y="3674762"/>
              <a:ext cx="186055" cy="73025"/>
            </a:xfrm>
            <a:custGeom>
              <a:avLst/>
              <a:gdLst/>
              <a:ahLst/>
              <a:cxnLst/>
              <a:rect l="l" t="t" r="r" b="b"/>
              <a:pathLst>
                <a:path w="186054" h="73025">
                  <a:moveTo>
                    <a:pt x="0" y="0"/>
                  </a:moveTo>
                  <a:lnTo>
                    <a:pt x="186026" y="0"/>
                  </a:lnTo>
                  <a:lnTo>
                    <a:pt x="186026" y="72640"/>
                  </a:lnTo>
                  <a:lnTo>
                    <a:pt x="0" y="72640"/>
                  </a:lnTo>
                  <a:lnTo>
                    <a:pt x="0" y="0"/>
                  </a:lnTo>
                  <a:close/>
                </a:path>
              </a:pathLst>
            </a:custGeom>
            <a:ln w="12374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6036805" y="2833994"/>
            <a:ext cx="3849588" cy="2753023"/>
            <a:chOff x="6418211" y="4030569"/>
            <a:chExt cx="5474970" cy="3915410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45320" y="6640593"/>
              <a:ext cx="204228" cy="21482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4538" y="6640593"/>
              <a:ext cx="204228" cy="21482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3755" y="6640593"/>
              <a:ext cx="204228" cy="21482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2969" y="6640593"/>
              <a:ext cx="204228" cy="21482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430586" y="6517537"/>
              <a:ext cx="5450205" cy="475615"/>
            </a:xfrm>
            <a:custGeom>
              <a:avLst/>
              <a:gdLst/>
              <a:ahLst/>
              <a:cxnLst/>
              <a:rect l="l" t="t" r="r" b="b"/>
              <a:pathLst>
                <a:path w="5450205" h="475615">
                  <a:moveTo>
                    <a:pt x="0" y="79202"/>
                  </a:moveTo>
                  <a:lnTo>
                    <a:pt x="6224" y="48373"/>
                  </a:lnTo>
                  <a:lnTo>
                    <a:pt x="23197" y="23197"/>
                  </a:lnTo>
                  <a:lnTo>
                    <a:pt x="48372" y="6224"/>
                  </a:lnTo>
                  <a:lnTo>
                    <a:pt x="79201" y="0"/>
                  </a:lnTo>
                  <a:lnTo>
                    <a:pt x="5370587" y="0"/>
                  </a:lnTo>
                  <a:lnTo>
                    <a:pt x="5401416" y="6224"/>
                  </a:lnTo>
                  <a:lnTo>
                    <a:pt x="5426592" y="23197"/>
                  </a:lnTo>
                  <a:lnTo>
                    <a:pt x="5443565" y="48373"/>
                  </a:lnTo>
                  <a:lnTo>
                    <a:pt x="5449789" y="79202"/>
                  </a:lnTo>
                  <a:lnTo>
                    <a:pt x="5449789" y="395996"/>
                  </a:lnTo>
                  <a:lnTo>
                    <a:pt x="5443565" y="426825"/>
                  </a:lnTo>
                  <a:lnTo>
                    <a:pt x="5426592" y="452001"/>
                  </a:lnTo>
                  <a:lnTo>
                    <a:pt x="5401416" y="468974"/>
                  </a:lnTo>
                  <a:lnTo>
                    <a:pt x="5370587" y="475199"/>
                  </a:lnTo>
                  <a:lnTo>
                    <a:pt x="79201" y="475199"/>
                  </a:lnTo>
                  <a:lnTo>
                    <a:pt x="48372" y="468974"/>
                  </a:lnTo>
                  <a:lnTo>
                    <a:pt x="23197" y="452001"/>
                  </a:lnTo>
                  <a:lnTo>
                    <a:pt x="6224" y="426825"/>
                  </a:lnTo>
                  <a:lnTo>
                    <a:pt x="0" y="395996"/>
                  </a:lnTo>
                  <a:lnTo>
                    <a:pt x="0" y="79202"/>
                  </a:lnTo>
                  <a:close/>
                </a:path>
              </a:pathLst>
            </a:custGeom>
            <a:ln w="24749">
              <a:solidFill>
                <a:srgbClr val="0047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4961" y="6640593"/>
              <a:ext cx="204228" cy="21482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4178" y="6640593"/>
              <a:ext cx="204228" cy="21482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3395" y="6640593"/>
              <a:ext cx="204228" cy="21482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2610" y="6640593"/>
              <a:ext cx="204228" cy="21482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19910" y="6639557"/>
              <a:ext cx="204228" cy="21482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9127" y="6639557"/>
              <a:ext cx="204228" cy="21482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58343" y="6639557"/>
              <a:ext cx="204228" cy="21482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27558" y="6639557"/>
              <a:ext cx="204228" cy="21482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13984" y="6639560"/>
              <a:ext cx="204228" cy="21482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83201" y="6639560"/>
              <a:ext cx="204228" cy="21482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52418" y="6639560"/>
              <a:ext cx="204228" cy="21482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1633" y="6639560"/>
              <a:ext cx="204228" cy="21482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980110" y="6992683"/>
              <a:ext cx="4303395" cy="953135"/>
            </a:xfrm>
            <a:custGeom>
              <a:avLst/>
              <a:gdLst/>
              <a:ahLst/>
              <a:cxnLst/>
              <a:rect l="l" t="t" r="r" b="b"/>
              <a:pathLst>
                <a:path w="4303395" h="953134">
                  <a:moveTo>
                    <a:pt x="143764" y="123228"/>
                  </a:moveTo>
                  <a:lnTo>
                    <a:pt x="71882" y="0"/>
                  </a:lnTo>
                  <a:lnTo>
                    <a:pt x="0" y="123228"/>
                  </a:lnTo>
                  <a:lnTo>
                    <a:pt x="1993" y="130810"/>
                  </a:lnTo>
                  <a:lnTo>
                    <a:pt x="13804" y="137693"/>
                  </a:lnTo>
                  <a:lnTo>
                    <a:pt x="21386" y="135699"/>
                  </a:lnTo>
                  <a:lnTo>
                    <a:pt x="59512" y="70332"/>
                  </a:lnTo>
                  <a:lnTo>
                    <a:pt x="59512" y="953008"/>
                  </a:lnTo>
                  <a:lnTo>
                    <a:pt x="84264" y="953008"/>
                  </a:lnTo>
                  <a:lnTo>
                    <a:pt x="84264" y="70332"/>
                  </a:lnTo>
                  <a:lnTo>
                    <a:pt x="122389" y="135699"/>
                  </a:lnTo>
                  <a:lnTo>
                    <a:pt x="129971" y="137693"/>
                  </a:lnTo>
                  <a:lnTo>
                    <a:pt x="141782" y="130810"/>
                  </a:lnTo>
                  <a:lnTo>
                    <a:pt x="143764" y="123228"/>
                  </a:lnTo>
                  <a:close/>
                </a:path>
                <a:path w="4303395" h="953134">
                  <a:moveTo>
                    <a:pt x="1489125" y="123228"/>
                  </a:moveTo>
                  <a:lnTo>
                    <a:pt x="1417243" y="0"/>
                  </a:lnTo>
                  <a:lnTo>
                    <a:pt x="1345361" y="123228"/>
                  </a:lnTo>
                  <a:lnTo>
                    <a:pt x="1347355" y="130810"/>
                  </a:lnTo>
                  <a:lnTo>
                    <a:pt x="1359154" y="137693"/>
                  </a:lnTo>
                  <a:lnTo>
                    <a:pt x="1366735" y="135699"/>
                  </a:lnTo>
                  <a:lnTo>
                    <a:pt x="1404861" y="70332"/>
                  </a:lnTo>
                  <a:lnTo>
                    <a:pt x="1404861" y="953008"/>
                  </a:lnTo>
                  <a:lnTo>
                    <a:pt x="1429613" y="953008"/>
                  </a:lnTo>
                  <a:lnTo>
                    <a:pt x="1429613" y="70332"/>
                  </a:lnTo>
                  <a:lnTo>
                    <a:pt x="1467751" y="135699"/>
                  </a:lnTo>
                  <a:lnTo>
                    <a:pt x="1475320" y="137693"/>
                  </a:lnTo>
                  <a:lnTo>
                    <a:pt x="1487131" y="130810"/>
                  </a:lnTo>
                  <a:lnTo>
                    <a:pt x="1489125" y="123228"/>
                  </a:lnTo>
                  <a:close/>
                </a:path>
                <a:path w="4303395" h="953134">
                  <a:moveTo>
                    <a:pt x="2933357" y="123228"/>
                  </a:moveTo>
                  <a:lnTo>
                    <a:pt x="2861475" y="0"/>
                  </a:lnTo>
                  <a:lnTo>
                    <a:pt x="2789593" y="123228"/>
                  </a:lnTo>
                  <a:lnTo>
                    <a:pt x="2791587" y="130810"/>
                  </a:lnTo>
                  <a:lnTo>
                    <a:pt x="2803398" y="137693"/>
                  </a:lnTo>
                  <a:lnTo>
                    <a:pt x="2810967" y="135699"/>
                  </a:lnTo>
                  <a:lnTo>
                    <a:pt x="2849105" y="70332"/>
                  </a:lnTo>
                  <a:lnTo>
                    <a:pt x="2849105" y="953008"/>
                  </a:lnTo>
                  <a:lnTo>
                    <a:pt x="2873845" y="953008"/>
                  </a:lnTo>
                  <a:lnTo>
                    <a:pt x="2873845" y="70332"/>
                  </a:lnTo>
                  <a:lnTo>
                    <a:pt x="2911983" y="135699"/>
                  </a:lnTo>
                  <a:lnTo>
                    <a:pt x="2919552" y="137693"/>
                  </a:lnTo>
                  <a:lnTo>
                    <a:pt x="2931363" y="130810"/>
                  </a:lnTo>
                  <a:lnTo>
                    <a:pt x="2933357" y="123228"/>
                  </a:lnTo>
                  <a:close/>
                </a:path>
                <a:path w="4303395" h="953134">
                  <a:moveTo>
                    <a:pt x="4303280" y="123228"/>
                  </a:moveTo>
                  <a:lnTo>
                    <a:pt x="4231398" y="0"/>
                  </a:lnTo>
                  <a:lnTo>
                    <a:pt x="4159516" y="123228"/>
                  </a:lnTo>
                  <a:lnTo>
                    <a:pt x="4161510" y="130810"/>
                  </a:lnTo>
                  <a:lnTo>
                    <a:pt x="4173309" y="137693"/>
                  </a:lnTo>
                  <a:lnTo>
                    <a:pt x="4180890" y="135699"/>
                  </a:lnTo>
                  <a:lnTo>
                    <a:pt x="4219016" y="70332"/>
                  </a:lnTo>
                  <a:lnTo>
                    <a:pt x="4219016" y="953008"/>
                  </a:lnTo>
                  <a:lnTo>
                    <a:pt x="4243768" y="953008"/>
                  </a:lnTo>
                  <a:lnTo>
                    <a:pt x="4243768" y="70332"/>
                  </a:lnTo>
                  <a:lnTo>
                    <a:pt x="4281906" y="135699"/>
                  </a:lnTo>
                  <a:lnTo>
                    <a:pt x="4289476" y="137693"/>
                  </a:lnTo>
                  <a:lnTo>
                    <a:pt x="4301287" y="130810"/>
                  </a:lnTo>
                  <a:lnTo>
                    <a:pt x="4303280" y="1232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086080" y="5524776"/>
              <a:ext cx="144145" cy="993140"/>
            </a:xfrm>
            <a:custGeom>
              <a:avLst/>
              <a:gdLst/>
              <a:ahLst/>
              <a:cxnLst/>
              <a:rect l="l" t="t" r="r" b="b"/>
              <a:pathLst>
                <a:path w="144145" h="993140">
                  <a:moveTo>
                    <a:pt x="72233" y="0"/>
                  </a:moveTo>
                  <a:lnTo>
                    <a:pt x="0" y="123022"/>
                  </a:lnTo>
                  <a:lnTo>
                    <a:pt x="1972" y="130605"/>
                  </a:lnTo>
                  <a:lnTo>
                    <a:pt x="13759" y="137525"/>
                  </a:lnTo>
                  <a:lnTo>
                    <a:pt x="21343" y="135554"/>
                  </a:lnTo>
                  <a:lnTo>
                    <a:pt x="59658" y="70298"/>
                  </a:lnTo>
                  <a:lnTo>
                    <a:pt x="57028" y="992725"/>
                  </a:lnTo>
                  <a:lnTo>
                    <a:pt x="81777" y="992795"/>
                  </a:lnTo>
                  <a:lnTo>
                    <a:pt x="84408" y="70369"/>
                  </a:lnTo>
                  <a:lnTo>
                    <a:pt x="122350" y="135843"/>
                  </a:lnTo>
                  <a:lnTo>
                    <a:pt x="129922" y="137857"/>
                  </a:lnTo>
                  <a:lnTo>
                    <a:pt x="141749" y="131003"/>
                  </a:lnTo>
                  <a:lnTo>
                    <a:pt x="143765" y="123433"/>
                  </a:lnTo>
                  <a:lnTo>
                    <a:pt x="72233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69817" y="5172690"/>
              <a:ext cx="204228" cy="21482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8950" y="5172690"/>
              <a:ext cx="204228" cy="21482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08081" y="5172690"/>
              <a:ext cx="204228" cy="21482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77212" y="5172690"/>
              <a:ext cx="204228" cy="21482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455085" y="5049635"/>
              <a:ext cx="3406775" cy="475615"/>
            </a:xfrm>
            <a:custGeom>
              <a:avLst/>
              <a:gdLst/>
              <a:ahLst/>
              <a:cxnLst/>
              <a:rect l="l" t="t" r="r" b="b"/>
              <a:pathLst>
                <a:path w="3406775" h="475614">
                  <a:moveTo>
                    <a:pt x="0" y="79201"/>
                  </a:moveTo>
                  <a:lnTo>
                    <a:pt x="6224" y="48372"/>
                  </a:lnTo>
                  <a:lnTo>
                    <a:pt x="23197" y="23197"/>
                  </a:lnTo>
                  <a:lnTo>
                    <a:pt x="48372" y="6224"/>
                  </a:lnTo>
                  <a:lnTo>
                    <a:pt x="79200" y="0"/>
                  </a:lnTo>
                  <a:lnTo>
                    <a:pt x="3327257" y="0"/>
                  </a:lnTo>
                  <a:lnTo>
                    <a:pt x="3358086" y="6224"/>
                  </a:lnTo>
                  <a:lnTo>
                    <a:pt x="3383261" y="23197"/>
                  </a:lnTo>
                  <a:lnTo>
                    <a:pt x="3400234" y="48372"/>
                  </a:lnTo>
                  <a:lnTo>
                    <a:pt x="3406458" y="79201"/>
                  </a:lnTo>
                  <a:lnTo>
                    <a:pt x="3406458" y="395998"/>
                  </a:lnTo>
                  <a:lnTo>
                    <a:pt x="3400234" y="426826"/>
                  </a:lnTo>
                  <a:lnTo>
                    <a:pt x="3383261" y="452001"/>
                  </a:lnTo>
                  <a:lnTo>
                    <a:pt x="3358086" y="468975"/>
                  </a:lnTo>
                  <a:lnTo>
                    <a:pt x="3327257" y="475199"/>
                  </a:lnTo>
                  <a:lnTo>
                    <a:pt x="79200" y="475199"/>
                  </a:lnTo>
                  <a:lnTo>
                    <a:pt x="48372" y="468975"/>
                  </a:lnTo>
                  <a:lnTo>
                    <a:pt x="23197" y="452001"/>
                  </a:lnTo>
                  <a:lnTo>
                    <a:pt x="6224" y="426826"/>
                  </a:lnTo>
                  <a:lnTo>
                    <a:pt x="0" y="395998"/>
                  </a:lnTo>
                  <a:lnTo>
                    <a:pt x="0" y="79201"/>
                  </a:lnTo>
                  <a:close/>
                </a:path>
              </a:pathLst>
            </a:custGeom>
            <a:ln w="2474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46342" y="5172690"/>
              <a:ext cx="204228" cy="21482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15474" y="5172690"/>
              <a:ext cx="204228" cy="21482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84607" y="5172690"/>
              <a:ext cx="204228" cy="21482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53737" y="5172690"/>
              <a:ext cx="204228" cy="21482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22869" y="5172690"/>
              <a:ext cx="204228" cy="21482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92000" y="5172690"/>
              <a:ext cx="204228" cy="214828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61132" y="5172690"/>
              <a:ext cx="204228" cy="21482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30267" y="5172690"/>
              <a:ext cx="204228" cy="21482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98112" y="5865494"/>
              <a:ext cx="447479" cy="351137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9086432" y="4030569"/>
              <a:ext cx="144145" cy="1019175"/>
            </a:xfrm>
            <a:custGeom>
              <a:avLst/>
              <a:gdLst/>
              <a:ahLst/>
              <a:cxnLst/>
              <a:rect l="l" t="t" r="r" b="b"/>
              <a:pathLst>
                <a:path w="144145" h="1019175">
                  <a:moveTo>
                    <a:pt x="71882" y="0"/>
                  </a:moveTo>
                  <a:lnTo>
                    <a:pt x="0" y="123228"/>
                  </a:lnTo>
                  <a:lnTo>
                    <a:pt x="1993" y="130804"/>
                  </a:lnTo>
                  <a:lnTo>
                    <a:pt x="13801" y="137692"/>
                  </a:lnTo>
                  <a:lnTo>
                    <a:pt x="21377" y="135699"/>
                  </a:lnTo>
                  <a:lnTo>
                    <a:pt x="59507" y="70333"/>
                  </a:lnTo>
                  <a:lnTo>
                    <a:pt x="59505" y="1019065"/>
                  </a:lnTo>
                  <a:lnTo>
                    <a:pt x="84255" y="1019065"/>
                  </a:lnTo>
                  <a:lnTo>
                    <a:pt x="84256" y="70333"/>
                  </a:lnTo>
                  <a:lnTo>
                    <a:pt x="122387" y="135699"/>
                  </a:lnTo>
                  <a:lnTo>
                    <a:pt x="129964" y="137692"/>
                  </a:lnTo>
                  <a:lnTo>
                    <a:pt x="141771" y="130804"/>
                  </a:lnTo>
                  <a:lnTo>
                    <a:pt x="143766" y="123228"/>
                  </a:lnTo>
                  <a:lnTo>
                    <a:pt x="71882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688" y="4384842"/>
              <a:ext cx="308222" cy="31411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9237307" y="4274527"/>
              <a:ext cx="2073910" cy="2192020"/>
            </a:xfrm>
            <a:custGeom>
              <a:avLst/>
              <a:gdLst/>
              <a:ahLst/>
              <a:cxnLst/>
              <a:rect l="l" t="t" r="r" b="b"/>
              <a:pathLst>
                <a:path w="2073909" h="2192020">
                  <a:moveTo>
                    <a:pt x="2073884" y="1450860"/>
                  </a:moveTo>
                  <a:lnTo>
                    <a:pt x="0" y="1450860"/>
                  </a:lnTo>
                  <a:lnTo>
                    <a:pt x="0" y="2191423"/>
                  </a:lnTo>
                  <a:lnTo>
                    <a:pt x="2073884" y="2191423"/>
                  </a:lnTo>
                  <a:lnTo>
                    <a:pt x="2073884" y="1450860"/>
                  </a:lnTo>
                  <a:close/>
                </a:path>
                <a:path w="2073909" h="2192020">
                  <a:moveTo>
                    <a:pt x="2073884" y="0"/>
                  </a:moveTo>
                  <a:lnTo>
                    <a:pt x="0" y="0"/>
                  </a:lnTo>
                  <a:lnTo>
                    <a:pt x="0" y="740562"/>
                  </a:lnTo>
                  <a:lnTo>
                    <a:pt x="2073884" y="740562"/>
                  </a:lnTo>
                  <a:lnTo>
                    <a:pt x="20738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6223901" y="5851762"/>
            <a:ext cx="3566071" cy="521047"/>
            <a:chOff x="6684304" y="8322505"/>
            <a:chExt cx="5071745" cy="741045"/>
          </a:xfrm>
        </p:grpSpPr>
        <p:pic>
          <p:nvPicPr>
            <p:cNvPr id="73" name="object 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65440" y="8341802"/>
              <a:ext cx="573124" cy="41579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944020" y="8341802"/>
              <a:ext cx="551803" cy="415799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34910" y="8341802"/>
              <a:ext cx="572269" cy="415799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103145" y="8341802"/>
              <a:ext cx="607501" cy="415799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6684304" y="8322505"/>
              <a:ext cx="5071745" cy="741045"/>
            </a:xfrm>
            <a:custGeom>
              <a:avLst/>
              <a:gdLst/>
              <a:ahLst/>
              <a:cxnLst/>
              <a:rect l="l" t="t" r="r" b="b"/>
              <a:pathLst>
                <a:path w="5071745" h="741045">
                  <a:moveTo>
                    <a:pt x="5071490" y="0"/>
                  </a:moveTo>
                  <a:lnTo>
                    <a:pt x="0" y="0"/>
                  </a:lnTo>
                  <a:lnTo>
                    <a:pt x="0" y="740570"/>
                  </a:lnTo>
                  <a:lnTo>
                    <a:pt x="5071490" y="740570"/>
                  </a:lnTo>
                  <a:lnTo>
                    <a:pt x="50714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/>
          <p:nvPr/>
        </p:nvSpPr>
        <p:spPr>
          <a:xfrm>
            <a:off x="7234076" y="2678405"/>
            <a:ext cx="1564928" cy="69652"/>
          </a:xfrm>
          <a:custGeom>
            <a:avLst/>
            <a:gdLst/>
            <a:ahLst/>
            <a:cxnLst/>
            <a:rect l="l" t="t" r="r" b="b"/>
            <a:pathLst>
              <a:path w="2225675" h="99060">
                <a:moveTo>
                  <a:pt x="2126349" y="1"/>
                </a:moveTo>
                <a:lnTo>
                  <a:pt x="2126349" y="37125"/>
                </a:lnTo>
                <a:lnTo>
                  <a:pt x="99000" y="37124"/>
                </a:lnTo>
                <a:lnTo>
                  <a:pt x="99000" y="0"/>
                </a:lnTo>
                <a:lnTo>
                  <a:pt x="0" y="49499"/>
                </a:lnTo>
                <a:lnTo>
                  <a:pt x="99000" y="98999"/>
                </a:lnTo>
                <a:lnTo>
                  <a:pt x="99000" y="61874"/>
                </a:lnTo>
                <a:lnTo>
                  <a:pt x="2126349" y="61876"/>
                </a:lnTo>
                <a:lnTo>
                  <a:pt x="2126349" y="99001"/>
                </a:lnTo>
                <a:lnTo>
                  <a:pt x="2225349" y="49500"/>
                </a:lnTo>
                <a:lnTo>
                  <a:pt x="2126349" y="1"/>
                </a:lnTo>
                <a:close/>
              </a:path>
            </a:pathLst>
          </a:custGeom>
          <a:solidFill>
            <a:srgbClr val="1772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7243880" y="2701422"/>
            <a:ext cx="95994" cy="205165"/>
          </a:xfrm>
          <a:prstGeom prst="rect">
            <a:avLst/>
          </a:prstGeom>
        </p:spPr>
        <p:txBody>
          <a:bodyPr vert="horz" wrap="square" lIns="0" tIns="10268" rIns="0" bIns="0" rtlCol="0">
            <a:spAutoFit/>
          </a:bodyPr>
          <a:lstStyle/>
          <a:p>
            <a:pPr marL="8929">
              <a:spcBef>
                <a:spcPts val="80"/>
              </a:spcBef>
            </a:pPr>
            <a:r>
              <a:rPr sz="1266" spc="-91" dirty="0">
                <a:solidFill>
                  <a:srgbClr val="177245"/>
                </a:solidFill>
                <a:latin typeface="Arial"/>
                <a:cs typeface="Arial"/>
              </a:rPr>
              <a:t>a</a:t>
            </a:r>
            <a:endParaRPr sz="1266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619383" y="2704873"/>
            <a:ext cx="249585" cy="205165"/>
          </a:xfrm>
          <a:prstGeom prst="rect">
            <a:avLst/>
          </a:prstGeom>
        </p:spPr>
        <p:txBody>
          <a:bodyPr vert="horz" wrap="square" lIns="0" tIns="10268" rIns="0" bIns="0" rtlCol="0">
            <a:spAutoFit/>
          </a:bodyPr>
          <a:lstStyle/>
          <a:p>
            <a:pPr marL="8929">
              <a:spcBef>
                <a:spcPts val="80"/>
              </a:spcBef>
            </a:pPr>
            <a:r>
              <a:rPr sz="1266" spc="-67" dirty="0">
                <a:solidFill>
                  <a:srgbClr val="177245"/>
                </a:solidFill>
                <a:latin typeface="Arial"/>
                <a:cs typeface="Arial"/>
              </a:rPr>
              <a:t>zoo</a:t>
            </a:r>
            <a:endParaRPr sz="1266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135773" y="4055944"/>
            <a:ext cx="248692" cy="344494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180" i="1" dirty="0">
                <a:latin typeface="Times New Roman"/>
                <a:cs typeface="Times New Roman"/>
              </a:rPr>
              <a:t>W</a:t>
            </a:r>
            <a:endParaRPr sz="218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356638" y="4205428"/>
            <a:ext cx="116532" cy="247096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547" dirty="0">
                <a:latin typeface="Times New Roman"/>
                <a:cs typeface="Times New Roman"/>
              </a:rPr>
              <a:t>1</a:t>
            </a:r>
            <a:endParaRPr sz="1547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117914" y="3035809"/>
            <a:ext cx="372814" cy="344494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26788">
              <a:spcBef>
                <a:spcPts val="70"/>
              </a:spcBef>
            </a:pPr>
            <a:r>
              <a:rPr sz="2180" i="1" spc="-18" dirty="0">
                <a:latin typeface="Times New Roman"/>
                <a:cs typeface="Times New Roman"/>
              </a:rPr>
              <a:t>W</a:t>
            </a:r>
            <a:r>
              <a:rPr sz="2320" spc="-26" baseline="-20202" dirty="0">
                <a:latin typeface="Times New Roman"/>
                <a:cs typeface="Times New Roman"/>
              </a:rPr>
              <a:t>2</a:t>
            </a:r>
            <a:endParaRPr sz="2320" baseline="-20202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341192" y="5728724"/>
            <a:ext cx="15180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i="1" spc="-626" dirty="0">
                <a:latin typeface="Times New Roman"/>
                <a:cs typeface="Times New Roman"/>
              </a:rPr>
              <a:t>c</a:t>
            </a:r>
            <a:endParaRPr sz="2531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472630" y="5902317"/>
            <a:ext cx="132159" cy="285377"/>
          </a:xfrm>
          <a:prstGeom prst="rect">
            <a:avLst/>
          </a:prstGeom>
        </p:spPr>
        <p:txBody>
          <a:bodyPr vert="horz" wrap="square" lIns="0" tIns="9376" rIns="0" bIns="0" rtlCol="0">
            <a:spAutoFit/>
          </a:bodyPr>
          <a:lstStyle/>
          <a:p>
            <a:pPr marL="8929">
              <a:spcBef>
                <a:spcPts val="74"/>
              </a:spcBef>
            </a:pPr>
            <a:r>
              <a:rPr sz="1793" dirty="0">
                <a:latin typeface="Times New Roman"/>
                <a:cs typeface="Times New Roman"/>
              </a:rPr>
              <a:t>1</a:t>
            </a:r>
            <a:endParaRPr sz="1793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293217" y="5728724"/>
            <a:ext cx="15180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i="1" spc="-949" dirty="0">
                <a:latin typeface="Times New Roman"/>
                <a:cs typeface="Times New Roman"/>
              </a:rPr>
              <a:t>c</a:t>
            </a:r>
            <a:endParaRPr sz="2531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424655" y="5902317"/>
            <a:ext cx="132159" cy="285377"/>
          </a:xfrm>
          <a:prstGeom prst="rect">
            <a:avLst/>
          </a:prstGeom>
        </p:spPr>
        <p:txBody>
          <a:bodyPr vert="horz" wrap="square" lIns="0" tIns="9376" rIns="0" bIns="0" rtlCol="0">
            <a:spAutoFit/>
          </a:bodyPr>
          <a:lstStyle/>
          <a:p>
            <a:pPr marL="8929">
              <a:spcBef>
                <a:spcPts val="74"/>
              </a:spcBef>
            </a:pPr>
            <a:r>
              <a:rPr sz="1793" dirty="0">
                <a:latin typeface="Times New Roman"/>
                <a:cs typeface="Times New Roman"/>
              </a:rPr>
              <a:t>2</a:t>
            </a:r>
            <a:endParaRPr sz="1793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8274181" y="5728724"/>
            <a:ext cx="15180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i="1" spc="-805" dirty="0">
                <a:latin typeface="Times New Roman"/>
                <a:cs typeface="Times New Roman"/>
              </a:rPr>
              <a:t>c</a:t>
            </a:r>
            <a:endParaRPr sz="2531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405618" y="5902317"/>
            <a:ext cx="132159" cy="285377"/>
          </a:xfrm>
          <a:prstGeom prst="rect">
            <a:avLst/>
          </a:prstGeom>
        </p:spPr>
        <p:txBody>
          <a:bodyPr vert="horz" wrap="square" lIns="0" tIns="9376" rIns="0" bIns="0" rtlCol="0">
            <a:spAutoFit/>
          </a:bodyPr>
          <a:lstStyle/>
          <a:p>
            <a:pPr marL="8929">
              <a:spcBef>
                <a:spcPts val="74"/>
              </a:spcBef>
            </a:pPr>
            <a:r>
              <a:rPr sz="1793" dirty="0">
                <a:latin typeface="Times New Roman"/>
                <a:cs typeface="Times New Roman"/>
              </a:rPr>
              <a:t>3</a:t>
            </a:r>
            <a:endParaRPr sz="1793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255145" y="5728724"/>
            <a:ext cx="151805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i="1" spc="-946" dirty="0">
                <a:latin typeface="Times New Roman"/>
                <a:cs typeface="Times New Roman"/>
              </a:rPr>
              <a:t>c</a:t>
            </a:r>
            <a:endParaRPr sz="2531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9386582" y="5902317"/>
            <a:ext cx="132159" cy="285377"/>
          </a:xfrm>
          <a:prstGeom prst="rect">
            <a:avLst/>
          </a:prstGeom>
        </p:spPr>
        <p:txBody>
          <a:bodyPr vert="horz" wrap="square" lIns="0" tIns="9376" rIns="0" bIns="0" rtlCol="0">
            <a:spAutoFit/>
          </a:bodyPr>
          <a:lstStyle/>
          <a:p>
            <a:pPr marL="8929">
              <a:spcBef>
                <a:spcPts val="74"/>
              </a:spcBef>
            </a:pPr>
            <a:r>
              <a:rPr sz="1793" dirty="0">
                <a:latin typeface="Times New Roman"/>
                <a:cs typeface="Times New Roman"/>
              </a:rPr>
              <a:t>4</a:t>
            </a:r>
            <a:endParaRPr sz="1793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>
            <a:spLocks noGrp="1"/>
          </p:cNvSpPr>
          <p:nvPr>
            <p:ph type="title"/>
          </p:nvPr>
        </p:nvSpPr>
        <p:spPr>
          <a:xfrm>
            <a:off x="1866478" y="1235686"/>
            <a:ext cx="3600896" cy="707672"/>
          </a:xfrm>
          <a:prstGeom prst="rect">
            <a:avLst/>
          </a:prstGeom>
          <a:solidFill>
            <a:srgbClr val="F5D328"/>
          </a:solidFill>
        </p:spPr>
        <p:txBody>
          <a:bodyPr vert="horz" wrap="square" lIns="0" tIns="2366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94678" marR="74114" indent="-315206">
              <a:lnSpc>
                <a:spcPct val="101600"/>
              </a:lnSpc>
              <a:spcBef>
                <a:spcPts val="186"/>
              </a:spcBef>
            </a:pPr>
            <a:r>
              <a:rPr sz="2250" dirty="0">
                <a:solidFill>
                  <a:srgbClr val="000000"/>
                </a:solidFill>
              </a:rPr>
              <a:t>how</a:t>
            </a:r>
            <a:r>
              <a:rPr sz="2250" spc="-11" dirty="0">
                <a:solidFill>
                  <a:srgbClr val="000000"/>
                </a:solidFill>
              </a:rPr>
              <a:t> </a:t>
            </a:r>
            <a:r>
              <a:rPr sz="2250" dirty="0">
                <a:solidFill>
                  <a:srgbClr val="000000"/>
                </a:solidFill>
              </a:rPr>
              <a:t>does</a:t>
            </a:r>
            <a:r>
              <a:rPr sz="2250" spc="-7" dirty="0">
                <a:solidFill>
                  <a:srgbClr val="000000"/>
                </a:solidFill>
              </a:rPr>
              <a:t> </a:t>
            </a:r>
            <a:r>
              <a:rPr sz="2250" dirty="0">
                <a:solidFill>
                  <a:srgbClr val="000000"/>
                </a:solidFill>
              </a:rPr>
              <a:t>this</a:t>
            </a:r>
            <a:r>
              <a:rPr sz="2250" spc="-11" dirty="0">
                <a:solidFill>
                  <a:srgbClr val="000000"/>
                </a:solidFill>
              </a:rPr>
              <a:t> </a:t>
            </a:r>
            <a:r>
              <a:rPr sz="2250" dirty="0">
                <a:solidFill>
                  <a:srgbClr val="000000"/>
                </a:solidFill>
              </a:rPr>
              <a:t>compare</a:t>
            </a:r>
            <a:r>
              <a:rPr sz="2250" spc="-7" dirty="0">
                <a:solidFill>
                  <a:srgbClr val="000000"/>
                </a:solidFill>
              </a:rPr>
              <a:t> </a:t>
            </a:r>
            <a:r>
              <a:rPr sz="2250" dirty="0">
                <a:solidFill>
                  <a:srgbClr val="000000"/>
                </a:solidFill>
              </a:rPr>
              <a:t>to</a:t>
            </a:r>
            <a:r>
              <a:rPr sz="2250" spc="-7" dirty="0">
                <a:solidFill>
                  <a:srgbClr val="000000"/>
                </a:solidFill>
              </a:rPr>
              <a:t> </a:t>
            </a:r>
            <a:r>
              <a:rPr sz="2250" spc="-35" dirty="0">
                <a:solidFill>
                  <a:srgbClr val="000000"/>
                </a:solidFill>
              </a:rPr>
              <a:t>a </a:t>
            </a:r>
            <a:r>
              <a:rPr sz="2250" dirty="0">
                <a:solidFill>
                  <a:srgbClr val="000000"/>
                </a:solidFill>
              </a:rPr>
              <a:t>normal</a:t>
            </a:r>
            <a:r>
              <a:rPr sz="2250" spc="-7" dirty="0">
                <a:solidFill>
                  <a:srgbClr val="000000"/>
                </a:solidFill>
              </a:rPr>
              <a:t> </a:t>
            </a:r>
            <a:r>
              <a:rPr sz="2250" dirty="0">
                <a:solidFill>
                  <a:srgbClr val="000000"/>
                </a:solidFill>
              </a:rPr>
              <a:t>n-gram </a:t>
            </a:r>
            <a:r>
              <a:rPr sz="2250" spc="-7" dirty="0">
                <a:solidFill>
                  <a:srgbClr val="000000"/>
                </a:solidFill>
              </a:rPr>
              <a:t>model?</a:t>
            </a:r>
            <a:endParaRPr sz="2250"/>
          </a:p>
        </p:txBody>
      </p:sp>
      <p:sp>
        <p:nvSpPr>
          <p:cNvPr id="93" name="object 93"/>
          <p:cNvSpPr txBox="1"/>
          <p:nvPr/>
        </p:nvSpPr>
        <p:spPr>
          <a:xfrm>
            <a:off x="2322450" y="2222590"/>
            <a:ext cx="3275449" cy="3614630"/>
          </a:xfrm>
          <a:prstGeom prst="rect">
            <a:avLst/>
          </a:prstGeom>
        </p:spPr>
        <p:txBody>
          <a:bodyPr vert="horz" wrap="square" lIns="0" tIns="11162" rIns="0" bIns="0" rtlCol="0">
            <a:spAutoFit/>
          </a:bodyPr>
          <a:lstStyle/>
          <a:p>
            <a:pPr marL="8929">
              <a:spcBef>
                <a:spcPts val="88"/>
              </a:spcBef>
            </a:pPr>
            <a:r>
              <a:rPr sz="1617" b="1" dirty="0">
                <a:solidFill>
                  <a:srgbClr val="00B050"/>
                </a:solidFill>
                <a:latin typeface="Arial"/>
                <a:cs typeface="Arial"/>
              </a:rPr>
              <a:t>Improvements </a:t>
            </a:r>
            <a:r>
              <a:rPr sz="1617" dirty="0">
                <a:latin typeface="Arial"/>
                <a:cs typeface="Arial"/>
              </a:rPr>
              <a:t>over </a:t>
            </a:r>
            <a:r>
              <a:rPr sz="1617" i="1" dirty="0">
                <a:latin typeface="Arial"/>
                <a:cs typeface="Arial"/>
              </a:rPr>
              <a:t>n</a:t>
            </a:r>
            <a:r>
              <a:rPr sz="1617" dirty="0">
                <a:latin typeface="Arial"/>
                <a:cs typeface="Arial"/>
              </a:rPr>
              <a:t>-gram LM:</a:t>
            </a:r>
          </a:p>
          <a:p>
            <a:pPr marL="268774" indent="-259845">
              <a:spcBef>
                <a:spcPts val="4"/>
              </a:spcBef>
              <a:buChar char="•"/>
              <a:tabLst>
                <a:tab pos="268774" algn="l"/>
              </a:tabLst>
            </a:pPr>
            <a:r>
              <a:rPr sz="1617" dirty="0">
                <a:latin typeface="Arial"/>
                <a:cs typeface="Arial"/>
              </a:rPr>
              <a:t>No sparsity problem</a:t>
            </a:r>
          </a:p>
          <a:p>
            <a:pPr marL="268774" indent="-259845">
              <a:spcBef>
                <a:spcPts val="28"/>
              </a:spcBef>
              <a:buChar char="•"/>
              <a:tabLst>
                <a:tab pos="268774" algn="l"/>
              </a:tabLst>
            </a:pPr>
            <a:r>
              <a:rPr sz="1617" dirty="0">
                <a:latin typeface="Arial"/>
                <a:cs typeface="Arial"/>
              </a:rPr>
              <a:t>Model size is O(</a:t>
            </a:r>
            <a:r>
              <a:rPr sz="1617" i="1" dirty="0">
                <a:latin typeface="Arial"/>
                <a:cs typeface="Arial"/>
              </a:rPr>
              <a:t>n</a:t>
            </a:r>
            <a:r>
              <a:rPr sz="1617" dirty="0">
                <a:latin typeface="Arial"/>
                <a:cs typeface="Arial"/>
              </a:rPr>
              <a:t>) not O(exp(</a:t>
            </a:r>
            <a:r>
              <a:rPr sz="1617" i="1" dirty="0">
                <a:latin typeface="Arial"/>
                <a:cs typeface="Arial"/>
              </a:rPr>
              <a:t>n</a:t>
            </a:r>
            <a:r>
              <a:rPr sz="1617" dirty="0">
                <a:latin typeface="Arial"/>
                <a:cs typeface="Arial"/>
              </a:rPr>
              <a:t>))</a:t>
            </a:r>
            <a:endParaRPr lang="en-US" sz="1617" dirty="0">
              <a:latin typeface="Arial"/>
              <a:cs typeface="Arial"/>
            </a:endParaRPr>
          </a:p>
          <a:p>
            <a:pPr marL="8929">
              <a:spcBef>
                <a:spcPts val="88"/>
              </a:spcBef>
            </a:pPr>
            <a:endParaRPr lang="en-US" sz="1617" dirty="0">
              <a:latin typeface="Arial"/>
              <a:cs typeface="Arial"/>
            </a:endParaRPr>
          </a:p>
          <a:p>
            <a:pPr marL="8929">
              <a:spcBef>
                <a:spcPts val="88"/>
              </a:spcBef>
            </a:pPr>
            <a:r>
              <a:rPr lang="en-US" sz="1617" dirty="0">
                <a:latin typeface="Arial"/>
                <a:cs typeface="Arial"/>
              </a:rPr>
              <a:t>Remaining </a:t>
            </a:r>
            <a:r>
              <a:rPr lang="en-US" sz="1617" b="1" dirty="0">
                <a:solidFill>
                  <a:srgbClr val="C00000"/>
                </a:solidFill>
                <a:latin typeface="Arial"/>
                <a:cs typeface="Arial"/>
              </a:rPr>
              <a:t>problems</a:t>
            </a:r>
            <a:r>
              <a:rPr lang="en-US" sz="1617" dirty="0">
                <a:latin typeface="Arial"/>
                <a:cs typeface="Arial"/>
              </a:rPr>
              <a:t>:</a:t>
            </a:r>
          </a:p>
          <a:p>
            <a:pPr marL="268774" indent="-259845">
              <a:spcBef>
                <a:spcPts val="32"/>
              </a:spcBef>
              <a:buChar char="•"/>
              <a:tabLst>
                <a:tab pos="268774" algn="l"/>
              </a:tabLst>
            </a:pPr>
            <a:r>
              <a:rPr lang="en-US" sz="1617" dirty="0">
                <a:latin typeface="Arial"/>
                <a:cs typeface="Arial"/>
              </a:rPr>
              <a:t>Fixed window is </a:t>
            </a:r>
            <a:r>
              <a:rPr lang="en-US" sz="1617" dirty="0">
                <a:solidFill>
                  <a:srgbClr val="C00000"/>
                </a:solidFill>
                <a:latin typeface="Arial"/>
                <a:cs typeface="Arial"/>
              </a:rPr>
              <a:t>too small</a:t>
            </a:r>
            <a:endParaRPr lang="en-US" sz="1617" dirty="0">
              <a:latin typeface="Arial"/>
              <a:cs typeface="Arial"/>
            </a:endParaRPr>
          </a:p>
          <a:p>
            <a:pPr marL="268774" indent="-259845">
              <a:buChar char="•"/>
              <a:tabLst>
                <a:tab pos="268774" algn="l"/>
              </a:tabLst>
            </a:pPr>
            <a:r>
              <a:rPr lang="en-US" sz="1617" dirty="0">
                <a:latin typeface="Arial"/>
                <a:cs typeface="Arial"/>
              </a:rPr>
              <a:t>Enlarging window enlarges </a:t>
            </a:r>
            <a:r>
              <a:rPr lang="en-US" sz="1617" b="1" i="1" dirty="0">
                <a:latin typeface="Arial"/>
                <a:cs typeface="Arial"/>
              </a:rPr>
              <a:t>W</a:t>
            </a:r>
          </a:p>
          <a:p>
            <a:pPr marL="268774" marR="3572" indent="-260291">
              <a:lnSpc>
                <a:spcPts val="1969"/>
              </a:lnSpc>
              <a:spcBef>
                <a:spcPts val="74"/>
              </a:spcBef>
              <a:buChar char="•"/>
              <a:tabLst>
                <a:tab pos="268774" algn="l"/>
              </a:tabLst>
            </a:pPr>
            <a:r>
              <a:rPr lang="en-US" sz="1617" dirty="0">
                <a:latin typeface="Arial"/>
                <a:cs typeface="Arial"/>
              </a:rPr>
              <a:t>Window can never be large enough!</a:t>
            </a:r>
          </a:p>
          <a:p>
            <a:pPr marL="268774" marR="3572" indent="-260291">
              <a:lnSpc>
                <a:spcPts val="1969"/>
              </a:lnSpc>
              <a:spcBef>
                <a:spcPts val="74"/>
              </a:spcBef>
              <a:buFontTx/>
              <a:buChar char="•"/>
              <a:tabLst>
                <a:tab pos="268774" algn="l"/>
              </a:tabLst>
            </a:pPr>
            <a:r>
              <a:rPr lang="en-US" sz="1617" dirty="0">
                <a:latin typeface="Arial"/>
                <a:cs typeface="Arial"/>
              </a:rPr>
              <a:t>Each uses different rows of </a:t>
            </a:r>
            <a:r>
              <a:rPr lang="en-US" sz="1617" b="1" i="1" dirty="0">
                <a:latin typeface="Arial"/>
                <a:cs typeface="Arial"/>
              </a:rPr>
              <a:t>W</a:t>
            </a:r>
            <a:r>
              <a:rPr lang="en-US" sz="1617" i="1" dirty="0">
                <a:latin typeface="Arial"/>
                <a:cs typeface="Arial"/>
              </a:rPr>
              <a:t>. </a:t>
            </a:r>
            <a:r>
              <a:rPr lang="en-US" sz="1617" dirty="0">
                <a:latin typeface="Arial"/>
                <a:cs typeface="Arial"/>
              </a:rPr>
              <a:t>We </a:t>
            </a:r>
            <a:r>
              <a:rPr lang="en-US" sz="1617" dirty="0">
                <a:solidFill>
                  <a:srgbClr val="C00000"/>
                </a:solidFill>
                <a:latin typeface="Arial"/>
                <a:cs typeface="Arial"/>
              </a:rPr>
              <a:t>don’t share weights </a:t>
            </a:r>
            <a:r>
              <a:rPr lang="en-US" sz="1617" dirty="0">
                <a:latin typeface="Arial"/>
                <a:cs typeface="Arial"/>
              </a:rPr>
              <a:t>across the window.</a:t>
            </a:r>
          </a:p>
          <a:p>
            <a:pPr marL="268774" marR="3572" indent="-260291">
              <a:lnSpc>
                <a:spcPts val="1969"/>
              </a:lnSpc>
              <a:spcBef>
                <a:spcPts val="74"/>
              </a:spcBef>
              <a:buChar char="•"/>
              <a:tabLst>
                <a:tab pos="268774" algn="l"/>
              </a:tabLst>
            </a:pPr>
            <a:endParaRPr lang="en-US" sz="1617" dirty="0">
              <a:latin typeface="Arial"/>
              <a:cs typeface="Arial"/>
            </a:endParaRPr>
          </a:p>
          <a:p>
            <a:pPr marL="268774" indent="-259845">
              <a:spcBef>
                <a:spcPts val="28"/>
              </a:spcBef>
              <a:buChar char="•"/>
              <a:tabLst>
                <a:tab pos="268774" algn="l"/>
              </a:tabLst>
            </a:pPr>
            <a:endParaRPr sz="1617" dirty="0">
              <a:latin typeface="Arial"/>
              <a:cs typeface="Arial"/>
            </a:endParaRPr>
          </a:p>
        </p:txBody>
      </p:sp>
      <p:sp>
        <p:nvSpPr>
          <p:cNvPr id="102" name="Slide Number Placeholder 101">
            <a:extLst>
              <a:ext uri="{FF2B5EF4-FFF2-40B4-BE49-F238E27FC236}">
                <a16:creationId xmlns:a16="http://schemas.microsoft.com/office/drawing/2014/main" id="{CC50EC4D-FA5D-47B4-B336-64FA9D9EBF1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66" b="0" i="0" kern="1200">
                <a:solidFill>
                  <a:schemeClr val="tx1"/>
                </a:solidFill>
                <a:latin typeface="Gill Sans"/>
                <a:ea typeface="+mn-ea"/>
                <a:cs typeface="Gill San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71435">
              <a:lnSpc>
                <a:spcPts val="1484"/>
              </a:lnSpc>
            </a:pPr>
            <a:fld id="{81D60167-4931-47E6-BA6A-407CBD079E47}" type="slidenum">
              <a:rPr lang="en-US" smtClean="0"/>
              <a:pPr marL="71435">
                <a:lnSpc>
                  <a:spcPts val="1484"/>
                </a:lnSpc>
              </a:pPr>
              <a:t>62</a:t>
            </a:fld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0779" y="3086275"/>
            <a:ext cx="7038868" cy="658298"/>
          </a:xfrm>
          <a:prstGeom prst="rect">
            <a:avLst/>
          </a:prstGeo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 algn="l">
              <a:spcBef>
                <a:spcPts val="70"/>
              </a:spcBef>
              <a:tabLst>
                <a:tab pos="2410930" algn="l"/>
                <a:tab pos="4049023" algn="l"/>
              </a:tabLst>
            </a:pPr>
            <a:r>
              <a:rPr sz="4219" spc="-7" dirty="0">
                <a:solidFill>
                  <a:srgbClr val="000000"/>
                </a:solidFill>
              </a:rPr>
              <a:t>Recurrent</a:t>
            </a:r>
            <a:r>
              <a:rPr sz="4219" dirty="0">
                <a:solidFill>
                  <a:srgbClr val="000000"/>
                </a:solidFill>
              </a:rPr>
              <a:t>	</a:t>
            </a:r>
            <a:r>
              <a:rPr sz="4219" spc="-7" dirty="0">
                <a:solidFill>
                  <a:srgbClr val="000000"/>
                </a:solidFill>
              </a:rPr>
              <a:t>Neural</a:t>
            </a:r>
            <a:r>
              <a:rPr lang="en-US" sz="4219" spc="-7" dirty="0">
                <a:solidFill>
                  <a:srgbClr val="000000"/>
                </a:solidFill>
              </a:rPr>
              <a:t> </a:t>
            </a:r>
            <a:r>
              <a:rPr sz="4219" spc="-7" dirty="0">
                <a:solidFill>
                  <a:srgbClr val="000000"/>
                </a:solidFill>
              </a:rPr>
              <a:t>Networks!</a:t>
            </a:r>
            <a:endParaRPr sz="4219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668F3-27EE-478D-98D4-4795601170A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1435">
              <a:lnSpc>
                <a:spcPts val="1484"/>
              </a:lnSpc>
            </a:pPr>
            <a:fld id="{81D60167-4931-47E6-BA6A-407CBD079E47}" type="slidenum">
              <a:rPr lang="en-US" smtClean="0"/>
              <a:pPr marL="71435">
                <a:lnSpc>
                  <a:spcPts val="1484"/>
                </a:lnSpc>
              </a:pPr>
              <a:t>63</a:t>
            </a:fld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5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An RNN Language Model</a:t>
            </a:r>
          </a:p>
        </p:txBody>
      </p:sp>
      <p:sp>
        <p:nvSpPr>
          <p:cNvPr id="130" name="Slide Number Placeholder 129">
            <a:extLst>
              <a:ext uri="{FF2B5EF4-FFF2-40B4-BE49-F238E27FC236}">
                <a16:creationId xmlns:a16="http://schemas.microsoft.com/office/drawing/2014/main" id="{58A2F761-37C0-445E-A21E-3B76A10E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8376976" y="687790"/>
            <a:ext cx="424160" cy="216390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8929">
              <a:spcBef>
                <a:spcPts val="84"/>
              </a:spcBef>
            </a:pPr>
            <a:r>
              <a:rPr sz="1336" i="1" spc="-70" dirty="0">
                <a:solidFill>
                  <a:srgbClr val="177245"/>
                </a:solidFill>
                <a:latin typeface="Arial"/>
                <a:cs typeface="Arial"/>
              </a:rPr>
              <a:t>books</a:t>
            </a:r>
            <a:endParaRPr sz="133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8467" y="965293"/>
            <a:ext cx="532656" cy="216390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8929">
              <a:spcBef>
                <a:spcPts val="84"/>
              </a:spcBef>
            </a:pPr>
            <a:r>
              <a:rPr sz="1336" i="1" spc="-35" dirty="0">
                <a:solidFill>
                  <a:srgbClr val="177245"/>
                </a:solidFill>
                <a:latin typeface="Arial"/>
                <a:cs typeface="Arial"/>
              </a:rPr>
              <a:t>laptops</a:t>
            </a:r>
            <a:endParaRPr sz="1336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96519" y="916597"/>
            <a:ext cx="2024360" cy="968871"/>
            <a:chOff x="9489804" y="1303604"/>
            <a:chExt cx="2879090" cy="1377950"/>
          </a:xfrm>
        </p:grpSpPr>
        <p:sp>
          <p:nvSpPr>
            <p:cNvPr id="7" name="object 7"/>
            <p:cNvSpPr/>
            <p:nvPr/>
          </p:nvSpPr>
          <p:spPr>
            <a:xfrm>
              <a:off x="9996805" y="1303603"/>
              <a:ext cx="1278255" cy="643255"/>
            </a:xfrm>
            <a:custGeom>
              <a:avLst/>
              <a:gdLst/>
              <a:ahLst/>
              <a:cxnLst/>
              <a:rect l="l" t="t" r="r" b="b"/>
              <a:pathLst>
                <a:path w="1278254" h="643255">
                  <a:moveTo>
                    <a:pt x="104444" y="296887"/>
                  </a:moveTo>
                  <a:lnTo>
                    <a:pt x="58750" y="296964"/>
                  </a:lnTo>
                  <a:lnTo>
                    <a:pt x="58280" y="0"/>
                  </a:lnTo>
                  <a:lnTo>
                    <a:pt x="45224" y="25"/>
                  </a:lnTo>
                  <a:lnTo>
                    <a:pt x="45694" y="296976"/>
                  </a:lnTo>
                  <a:lnTo>
                    <a:pt x="0" y="297053"/>
                  </a:lnTo>
                  <a:lnTo>
                    <a:pt x="52387" y="401421"/>
                  </a:lnTo>
                  <a:lnTo>
                    <a:pt x="104444" y="296887"/>
                  </a:lnTo>
                  <a:close/>
                </a:path>
                <a:path w="1278254" h="643255">
                  <a:moveTo>
                    <a:pt x="1278204" y="538200"/>
                  </a:moveTo>
                  <a:lnTo>
                    <a:pt x="1232509" y="538200"/>
                  </a:lnTo>
                  <a:lnTo>
                    <a:pt x="1232509" y="323113"/>
                  </a:lnTo>
                  <a:lnTo>
                    <a:pt x="1219454" y="323113"/>
                  </a:lnTo>
                  <a:lnTo>
                    <a:pt x="1219454" y="538200"/>
                  </a:lnTo>
                  <a:lnTo>
                    <a:pt x="1173746" y="538200"/>
                  </a:lnTo>
                  <a:lnTo>
                    <a:pt x="1225981" y="642645"/>
                  </a:lnTo>
                  <a:lnTo>
                    <a:pt x="1278204" y="538200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124653" y="1946243"/>
              <a:ext cx="196850" cy="726440"/>
            </a:xfrm>
            <a:custGeom>
              <a:avLst/>
              <a:gdLst/>
              <a:ahLst/>
              <a:cxnLst/>
              <a:rect l="l" t="t" r="r" b="b"/>
              <a:pathLst>
                <a:path w="196850" h="726439">
                  <a:moveTo>
                    <a:pt x="196266" y="0"/>
                  </a:moveTo>
                  <a:lnTo>
                    <a:pt x="0" y="0"/>
                  </a:lnTo>
                  <a:lnTo>
                    <a:pt x="0" y="726066"/>
                  </a:lnTo>
                  <a:lnTo>
                    <a:pt x="196266" y="726066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124653" y="1946243"/>
              <a:ext cx="196850" cy="726440"/>
            </a:xfrm>
            <a:custGeom>
              <a:avLst/>
              <a:gdLst/>
              <a:ahLst/>
              <a:cxnLst/>
              <a:rect l="l" t="t" r="r" b="b"/>
              <a:pathLst>
                <a:path w="196850" h="726439">
                  <a:moveTo>
                    <a:pt x="0" y="0"/>
                  </a:moveTo>
                  <a:lnTo>
                    <a:pt x="196266" y="0"/>
                  </a:lnTo>
                  <a:lnTo>
                    <a:pt x="196266" y="726066"/>
                  </a:lnTo>
                  <a:lnTo>
                    <a:pt x="0" y="726066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125321" y="2655071"/>
              <a:ext cx="194945" cy="17780"/>
            </a:xfrm>
            <a:custGeom>
              <a:avLst/>
              <a:gdLst/>
              <a:ahLst/>
              <a:cxnLst/>
              <a:rect l="l" t="t" r="r" b="b"/>
              <a:pathLst>
                <a:path w="194945" h="17780">
                  <a:moveTo>
                    <a:pt x="0" y="17238"/>
                  </a:moveTo>
                  <a:lnTo>
                    <a:pt x="194930" y="17238"/>
                  </a:lnTo>
                  <a:lnTo>
                    <a:pt x="194930" y="0"/>
                  </a:lnTo>
                  <a:lnTo>
                    <a:pt x="0" y="0"/>
                  </a:lnTo>
                  <a:lnTo>
                    <a:pt x="0" y="17238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125321" y="2670219"/>
              <a:ext cx="194945" cy="0"/>
            </a:xfrm>
            <a:custGeom>
              <a:avLst/>
              <a:gdLst/>
              <a:ahLst/>
              <a:cxnLst/>
              <a:rect l="l" t="t" r="r" b="b"/>
              <a:pathLst>
                <a:path w="194945">
                  <a:moveTo>
                    <a:pt x="0" y="0"/>
                  </a:moveTo>
                  <a:lnTo>
                    <a:pt x="194930" y="0"/>
                  </a:lnTo>
                </a:path>
              </a:pathLst>
            </a:custGeom>
            <a:ln w="418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89804" y="2663690"/>
              <a:ext cx="461645" cy="0"/>
            </a:xfrm>
            <a:custGeom>
              <a:avLst/>
              <a:gdLst/>
              <a:ahLst/>
              <a:cxnLst/>
              <a:rect l="l" t="t" r="r" b="b"/>
              <a:pathLst>
                <a:path w="461645">
                  <a:moveTo>
                    <a:pt x="0" y="0"/>
                  </a:moveTo>
                  <a:lnTo>
                    <a:pt x="461257" y="0"/>
                  </a:lnTo>
                </a:path>
              </a:pathLst>
            </a:custGeom>
            <a:ln w="17238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89804" y="2670219"/>
              <a:ext cx="657225" cy="0"/>
            </a:xfrm>
            <a:custGeom>
              <a:avLst/>
              <a:gdLst/>
              <a:ahLst/>
              <a:cxnLst/>
              <a:rect l="l" t="t" r="r" b="b"/>
              <a:pathLst>
                <a:path w="657225">
                  <a:moveTo>
                    <a:pt x="0" y="0"/>
                  </a:moveTo>
                  <a:lnTo>
                    <a:pt x="656856" y="0"/>
                  </a:lnTo>
                </a:path>
              </a:pathLst>
            </a:custGeom>
            <a:ln w="418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103312" y="2663690"/>
              <a:ext cx="265430" cy="0"/>
            </a:xfrm>
            <a:custGeom>
              <a:avLst/>
              <a:gdLst/>
              <a:ahLst/>
              <a:cxnLst/>
              <a:rect l="l" t="t" r="r" b="b"/>
              <a:pathLst>
                <a:path w="265429">
                  <a:moveTo>
                    <a:pt x="0" y="0"/>
                  </a:moveTo>
                  <a:lnTo>
                    <a:pt x="264993" y="0"/>
                  </a:lnTo>
                </a:path>
              </a:pathLst>
            </a:custGeom>
            <a:ln w="17238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03312" y="2670219"/>
              <a:ext cx="265430" cy="0"/>
            </a:xfrm>
            <a:custGeom>
              <a:avLst/>
              <a:gdLst/>
              <a:ahLst/>
              <a:cxnLst/>
              <a:rect l="l" t="t" r="r" b="b"/>
              <a:pathLst>
                <a:path w="265429">
                  <a:moveTo>
                    <a:pt x="0" y="0"/>
                  </a:moveTo>
                  <a:lnTo>
                    <a:pt x="264993" y="0"/>
                  </a:lnTo>
                </a:path>
              </a:pathLst>
            </a:custGeom>
            <a:ln w="418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89804" y="2678838"/>
              <a:ext cx="2879090" cy="0"/>
            </a:xfrm>
            <a:custGeom>
              <a:avLst/>
              <a:gdLst/>
              <a:ahLst/>
              <a:cxnLst/>
              <a:rect l="l" t="t" r="r" b="b"/>
              <a:pathLst>
                <a:path w="2879090">
                  <a:moveTo>
                    <a:pt x="0" y="0"/>
                  </a:moveTo>
                  <a:lnTo>
                    <a:pt x="2878501" y="0"/>
                  </a:lnTo>
                </a:path>
              </a:pathLst>
            </a:custGeom>
            <a:ln w="418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55463" y="2552376"/>
              <a:ext cx="196850" cy="120014"/>
            </a:xfrm>
            <a:custGeom>
              <a:avLst/>
              <a:gdLst/>
              <a:ahLst/>
              <a:cxnLst/>
              <a:rect l="l" t="t" r="r" b="b"/>
              <a:pathLst>
                <a:path w="196850" h="120014">
                  <a:moveTo>
                    <a:pt x="196266" y="0"/>
                  </a:moveTo>
                  <a:lnTo>
                    <a:pt x="0" y="0"/>
                  </a:lnTo>
                  <a:lnTo>
                    <a:pt x="0" y="119933"/>
                  </a:lnTo>
                  <a:lnTo>
                    <a:pt x="196266" y="119933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55463" y="2552376"/>
              <a:ext cx="196850" cy="120014"/>
            </a:xfrm>
            <a:custGeom>
              <a:avLst/>
              <a:gdLst/>
              <a:ahLst/>
              <a:cxnLst/>
              <a:rect l="l" t="t" r="r" b="b"/>
              <a:pathLst>
                <a:path w="196850" h="120014">
                  <a:moveTo>
                    <a:pt x="0" y="0"/>
                  </a:moveTo>
                  <a:lnTo>
                    <a:pt x="196266" y="0"/>
                  </a:lnTo>
                  <a:lnTo>
                    <a:pt x="196266" y="119933"/>
                  </a:lnTo>
                  <a:lnTo>
                    <a:pt x="0" y="119933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951062" y="1705020"/>
              <a:ext cx="196850" cy="967740"/>
            </a:xfrm>
            <a:custGeom>
              <a:avLst/>
              <a:gdLst/>
              <a:ahLst/>
              <a:cxnLst/>
              <a:rect l="l" t="t" r="r" b="b"/>
              <a:pathLst>
                <a:path w="196850" h="967739">
                  <a:moveTo>
                    <a:pt x="196266" y="0"/>
                  </a:moveTo>
                  <a:lnTo>
                    <a:pt x="0" y="0"/>
                  </a:lnTo>
                  <a:lnTo>
                    <a:pt x="0" y="967289"/>
                  </a:lnTo>
                  <a:lnTo>
                    <a:pt x="196266" y="967289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51062" y="1705019"/>
              <a:ext cx="196850" cy="967740"/>
            </a:xfrm>
            <a:custGeom>
              <a:avLst/>
              <a:gdLst/>
              <a:ahLst/>
              <a:cxnLst/>
              <a:rect l="l" t="t" r="r" b="b"/>
              <a:pathLst>
                <a:path w="196850" h="967739">
                  <a:moveTo>
                    <a:pt x="0" y="0"/>
                  </a:moveTo>
                  <a:lnTo>
                    <a:pt x="196266" y="0"/>
                  </a:lnTo>
                  <a:lnTo>
                    <a:pt x="196266" y="967289"/>
                  </a:lnTo>
                  <a:lnTo>
                    <a:pt x="0" y="967289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146661" y="2422213"/>
              <a:ext cx="196850" cy="250190"/>
            </a:xfrm>
            <a:custGeom>
              <a:avLst/>
              <a:gdLst/>
              <a:ahLst/>
              <a:cxnLst/>
              <a:rect l="l" t="t" r="r" b="b"/>
              <a:pathLst>
                <a:path w="196850" h="250189">
                  <a:moveTo>
                    <a:pt x="196266" y="0"/>
                  </a:moveTo>
                  <a:lnTo>
                    <a:pt x="0" y="0"/>
                  </a:lnTo>
                  <a:lnTo>
                    <a:pt x="0" y="250096"/>
                  </a:lnTo>
                  <a:lnTo>
                    <a:pt x="196266" y="250096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146661" y="2422212"/>
              <a:ext cx="196850" cy="250190"/>
            </a:xfrm>
            <a:custGeom>
              <a:avLst/>
              <a:gdLst/>
              <a:ahLst/>
              <a:cxnLst/>
              <a:rect l="l" t="t" r="r" b="b"/>
              <a:pathLst>
                <a:path w="196850" h="250189">
                  <a:moveTo>
                    <a:pt x="0" y="0"/>
                  </a:moveTo>
                  <a:lnTo>
                    <a:pt x="196266" y="0"/>
                  </a:lnTo>
                  <a:lnTo>
                    <a:pt x="196266" y="250096"/>
                  </a:lnTo>
                  <a:lnTo>
                    <a:pt x="0" y="250096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342260" y="2273829"/>
              <a:ext cx="196850" cy="398780"/>
            </a:xfrm>
            <a:custGeom>
              <a:avLst/>
              <a:gdLst/>
              <a:ahLst/>
              <a:cxnLst/>
              <a:rect l="l" t="t" r="r" b="b"/>
              <a:pathLst>
                <a:path w="196850" h="398780">
                  <a:moveTo>
                    <a:pt x="196266" y="0"/>
                  </a:moveTo>
                  <a:lnTo>
                    <a:pt x="0" y="0"/>
                  </a:lnTo>
                  <a:lnTo>
                    <a:pt x="0" y="398480"/>
                  </a:lnTo>
                  <a:lnTo>
                    <a:pt x="196266" y="398480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342260" y="2273829"/>
              <a:ext cx="196850" cy="398780"/>
            </a:xfrm>
            <a:custGeom>
              <a:avLst/>
              <a:gdLst/>
              <a:ahLst/>
              <a:cxnLst/>
              <a:rect l="l" t="t" r="r" b="b"/>
              <a:pathLst>
                <a:path w="196850" h="398780">
                  <a:moveTo>
                    <a:pt x="0" y="0"/>
                  </a:moveTo>
                  <a:lnTo>
                    <a:pt x="196266" y="0"/>
                  </a:lnTo>
                  <a:lnTo>
                    <a:pt x="196266" y="398480"/>
                  </a:lnTo>
                  <a:lnTo>
                    <a:pt x="0" y="398480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537856" y="2552376"/>
              <a:ext cx="196850" cy="120014"/>
            </a:xfrm>
            <a:custGeom>
              <a:avLst/>
              <a:gdLst/>
              <a:ahLst/>
              <a:cxnLst/>
              <a:rect l="l" t="t" r="r" b="b"/>
              <a:pathLst>
                <a:path w="196850" h="120014">
                  <a:moveTo>
                    <a:pt x="196266" y="0"/>
                  </a:moveTo>
                  <a:lnTo>
                    <a:pt x="0" y="0"/>
                  </a:lnTo>
                  <a:lnTo>
                    <a:pt x="0" y="119933"/>
                  </a:lnTo>
                  <a:lnTo>
                    <a:pt x="196266" y="119933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537856" y="2552376"/>
              <a:ext cx="196850" cy="120014"/>
            </a:xfrm>
            <a:custGeom>
              <a:avLst/>
              <a:gdLst/>
              <a:ahLst/>
              <a:cxnLst/>
              <a:rect l="l" t="t" r="r" b="b"/>
              <a:pathLst>
                <a:path w="196850" h="120014">
                  <a:moveTo>
                    <a:pt x="0" y="0"/>
                  </a:moveTo>
                  <a:lnTo>
                    <a:pt x="196266" y="0"/>
                  </a:lnTo>
                  <a:lnTo>
                    <a:pt x="196266" y="119933"/>
                  </a:lnTo>
                  <a:lnTo>
                    <a:pt x="0" y="119933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733455" y="2241176"/>
              <a:ext cx="196850" cy="431165"/>
            </a:xfrm>
            <a:custGeom>
              <a:avLst/>
              <a:gdLst/>
              <a:ahLst/>
              <a:cxnLst/>
              <a:rect l="l" t="t" r="r" b="b"/>
              <a:pathLst>
                <a:path w="196850" h="431164">
                  <a:moveTo>
                    <a:pt x="196266" y="0"/>
                  </a:moveTo>
                  <a:lnTo>
                    <a:pt x="0" y="0"/>
                  </a:lnTo>
                  <a:lnTo>
                    <a:pt x="0" y="431133"/>
                  </a:lnTo>
                  <a:lnTo>
                    <a:pt x="196266" y="431133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733455" y="2241175"/>
              <a:ext cx="196850" cy="431165"/>
            </a:xfrm>
            <a:custGeom>
              <a:avLst/>
              <a:gdLst/>
              <a:ahLst/>
              <a:cxnLst/>
              <a:rect l="l" t="t" r="r" b="b"/>
              <a:pathLst>
                <a:path w="196850" h="431164">
                  <a:moveTo>
                    <a:pt x="0" y="0"/>
                  </a:moveTo>
                  <a:lnTo>
                    <a:pt x="196266" y="0"/>
                  </a:lnTo>
                  <a:lnTo>
                    <a:pt x="196266" y="431133"/>
                  </a:lnTo>
                  <a:lnTo>
                    <a:pt x="0" y="431133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929054" y="2273828"/>
              <a:ext cx="196850" cy="398780"/>
            </a:xfrm>
            <a:custGeom>
              <a:avLst/>
              <a:gdLst/>
              <a:ahLst/>
              <a:cxnLst/>
              <a:rect l="l" t="t" r="r" b="b"/>
              <a:pathLst>
                <a:path w="196850" h="398780">
                  <a:moveTo>
                    <a:pt x="196266" y="0"/>
                  </a:moveTo>
                  <a:lnTo>
                    <a:pt x="0" y="0"/>
                  </a:lnTo>
                  <a:lnTo>
                    <a:pt x="0" y="398481"/>
                  </a:lnTo>
                  <a:lnTo>
                    <a:pt x="196266" y="398481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929054" y="2273828"/>
              <a:ext cx="196850" cy="398780"/>
            </a:xfrm>
            <a:custGeom>
              <a:avLst/>
              <a:gdLst/>
              <a:ahLst/>
              <a:cxnLst/>
              <a:rect l="l" t="t" r="r" b="b"/>
              <a:pathLst>
                <a:path w="196850" h="398780">
                  <a:moveTo>
                    <a:pt x="0" y="0"/>
                  </a:moveTo>
                  <a:lnTo>
                    <a:pt x="196266" y="0"/>
                  </a:lnTo>
                  <a:lnTo>
                    <a:pt x="196266" y="398481"/>
                  </a:lnTo>
                  <a:lnTo>
                    <a:pt x="0" y="398481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320251" y="2490991"/>
              <a:ext cx="196850" cy="181610"/>
            </a:xfrm>
            <a:custGeom>
              <a:avLst/>
              <a:gdLst/>
              <a:ahLst/>
              <a:cxnLst/>
              <a:rect l="l" t="t" r="r" b="b"/>
              <a:pathLst>
                <a:path w="196850" h="181610">
                  <a:moveTo>
                    <a:pt x="196266" y="0"/>
                  </a:moveTo>
                  <a:lnTo>
                    <a:pt x="0" y="0"/>
                  </a:lnTo>
                  <a:lnTo>
                    <a:pt x="0" y="181318"/>
                  </a:lnTo>
                  <a:lnTo>
                    <a:pt x="196266" y="181318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320251" y="2490990"/>
              <a:ext cx="196850" cy="181610"/>
            </a:xfrm>
            <a:custGeom>
              <a:avLst/>
              <a:gdLst/>
              <a:ahLst/>
              <a:cxnLst/>
              <a:rect l="l" t="t" r="r" b="b"/>
              <a:pathLst>
                <a:path w="196850" h="181610">
                  <a:moveTo>
                    <a:pt x="0" y="0"/>
                  </a:moveTo>
                  <a:lnTo>
                    <a:pt x="196266" y="0"/>
                  </a:lnTo>
                  <a:lnTo>
                    <a:pt x="196266" y="181318"/>
                  </a:lnTo>
                  <a:lnTo>
                    <a:pt x="0" y="181318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515850" y="2345900"/>
              <a:ext cx="196850" cy="327025"/>
            </a:xfrm>
            <a:custGeom>
              <a:avLst/>
              <a:gdLst/>
              <a:ahLst/>
              <a:cxnLst/>
              <a:rect l="l" t="t" r="r" b="b"/>
              <a:pathLst>
                <a:path w="196850" h="327025">
                  <a:moveTo>
                    <a:pt x="196266" y="0"/>
                  </a:moveTo>
                  <a:lnTo>
                    <a:pt x="0" y="0"/>
                  </a:lnTo>
                  <a:lnTo>
                    <a:pt x="0" y="326409"/>
                  </a:lnTo>
                  <a:lnTo>
                    <a:pt x="196266" y="326409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515850" y="2345900"/>
              <a:ext cx="196850" cy="327025"/>
            </a:xfrm>
            <a:custGeom>
              <a:avLst/>
              <a:gdLst/>
              <a:ahLst/>
              <a:cxnLst/>
              <a:rect l="l" t="t" r="r" b="b"/>
              <a:pathLst>
                <a:path w="196850" h="327025">
                  <a:moveTo>
                    <a:pt x="0" y="0"/>
                  </a:moveTo>
                  <a:lnTo>
                    <a:pt x="196266" y="0"/>
                  </a:lnTo>
                  <a:lnTo>
                    <a:pt x="196266" y="326409"/>
                  </a:lnTo>
                  <a:lnTo>
                    <a:pt x="0" y="326409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711449" y="2231578"/>
              <a:ext cx="196850" cy="441325"/>
            </a:xfrm>
            <a:custGeom>
              <a:avLst/>
              <a:gdLst/>
              <a:ahLst/>
              <a:cxnLst/>
              <a:rect l="l" t="t" r="r" b="b"/>
              <a:pathLst>
                <a:path w="196850" h="441325">
                  <a:moveTo>
                    <a:pt x="196266" y="0"/>
                  </a:moveTo>
                  <a:lnTo>
                    <a:pt x="0" y="0"/>
                  </a:lnTo>
                  <a:lnTo>
                    <a:pt x="0" y="440731"/>
                  </a:lnTo>
                  <a:lnTo>
                    <a:pt x="196266" y="440731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711449" y="2231579"/>
              <a:ext cx="196850" cy="441325"/>
            </a:xfrm>
            <a:custGeom>
              <a:avLst/>
              <a:gdLst/>
              <a:ahLst/>
              <a:cxnLst/>
              <a:rect l="l" t="t" r="r" b="b"/>
              <a:pathLst>
                <a:path w="196850" h="441325">
                  <a:moveTo>
                    <a:pt x="0" y="0"/>
                  </a:moveTo>
                  <a:lnTo>
                    <a:pt x="196266" y="0"/>
                  </a:lnTo>
                  <a:lnTo>
                    <a:pt x="196266" y="440731"/>
                  </a:lnTo>
                  <a:lnTo>
                    <a:pt x="0" y="440731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1907046" y="2595671"/>
              <a:ext cx="196850" cy="76835"/>
            </a:xfrm>
            <a:custGeom>
              <a:avLst/>
              <a:gdLst/>
              <a:ahLst/>
              <a:cxnLst/>
              <a:rect l="l" t="t" r="r" b="b"/>
              <a:pathLst>
                <a:path w="196850" h="76835">
                  <a:moveTo>
                    <a:pt x="196266" y="0"/>
                  </a:moveTo>
                  <a:lnTo>
                    <a:pt x="0" y="0"/>
                  </a:lnTo>
                  <a:lnTo>
                    <a:pt x="0" y="76638"/>
                  </a:lnTo>
                  <a:lnTo>
                    <a:pt x="196266" y="76638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1907046" y="2595670"/>
              <a:ext cx="196850" cy="76835"/>
            </a:xfrm>
            <a:custGeom>
              <a:avLst/>
              <a:gdLst/>
              <a:ahLst/>
              <a:cxnLst/>
              <a:rect l="l" t="t" r="r" b="b"/>
              <a:pathLst>
                <a:path w="196850" h="76835">
                  <a:moveTo>
                    <a:pt x="0" y="0"/>
                  </a:moveTo>
                  <a:lnTo>
                    <a:pt x="196266" y="0"/>
                  </a:lnTo>
                  <a:lnTo>
                    <a:pt x="196266" y="76638"/>
                  </a:lnTo>
                  <a:lnTo>
                    <a:pt x="0" y="76638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7203" y="415681"/>
            <a:ext cx="3052398" cy="197776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8383310" y="1921110"/>
            <a:ext cx="1651099" cy="73670"/>
          </a:xfrm>
          <a:custGeom>
            <a:avLst/>
            <a:gdLst/>
            <a:ahLst/>
            <a:cxnLst/>
            <a:rect l="l" t="t" r="r" b="b"/>
            <a:pathLst>
              <a:path w="2348229" h="104775">
                <a:moveTo>
                  <a:pt x="2243400" y="1"/>
                </a:moveTo>
                <a:lnTo>
                  <a:pt x="2243400" y="39170"/>
                </a:lnTo>
                <a:lnTo>
                  <a:pt x="104448" y="39168"/>
                </a:lnTo>
                <a:lnTo>
                  <a:pt x="104448" y="0"/>
                </a:lnTo>
                <a:lnTo>
                  <a:pt x="0" y="52224"/>
                </a:lnTo>
                <a:lnTo>
                  <a:pt x="104448" y="104449"/>
                </a:lnTo>
                <a:lnTo>
                  <a:pt x="104448" y="65280"/>
                </a:lnTo>
                <a:lnTo>
                  <a:pt x="2243400" y="65283"/>
                </a:lnTo>
                <a:lnTo>
                  <a:pt x="2243400" y="104451"/>
                </a:lnTo>
                <a:lnTo>
                  <a:pt x="2347849" y="52226"/>
                </a:lnTo>
                <a:lnTo>
                  <a:pt x="2243400" y="1"/>
                </a:lnTo>
                <a:close/>
              </a:path>
            </a:pathLst>
          </a:custGeom>
          <a:solidFill>
            <a:srgbClr val="17724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1898102" y="1680023"/>
            <a:ext cx="7946529" cy="3576786"/>
            <a:chOff x="532056" y="2389366"/>
            <a:chExt cx="11301730" cy="5086985"/>
          </a:xfrm>
        </p:grpSpPr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36866" y="6563799"/>
              <a:ext cx="449432" cy="27995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4952" y="6251439"/>
              <a:ext cx="226653" cy="21547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84952" y="6535474"/>
              <a:ext cx="226653" cy="21547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4952" y="6819510"/>
              <a:ext cx="226653" cy="21547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4952" y="7103546"/>
              <a:ext cx="226653" cy="21547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140078" y="6138571"/>
              <a:ext cx="501650" cy="1311275"/>
            </a:xfrm>
            <a:custGeom>
              <a:avLst/>
              <a:gdLst/>
              <a:ahLst/>
              <a:cxnLst/>
              <a:rect l="l" t="t" r="r" b="b"/>
              <a:pathLst>
                <a:path w="501650" h="131127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227681"/>
                  </a:lnTo>
                  <a:lnTo>
                    <a:pt x="494790" y="1260207"/>
                  </a:lnTo>
                  <a:lnTo>
                    <a:pt x="476882" y="1286768"/>
                  </a:lnTo>
                  <a:lnTo>
                    <a:pt x="450321" y="1304676"/>
                  </a:lnTo>
                  <a:lnTo>
                    <a:pt x="417795" y="1311243"/>
                  </a:lnTo>
                  <a:lnTo>
                    <a:pt x="83561" y="1311243"/>
                  </a:lnTo>
                  <a:lnTo>
                    <a:pt x="51035" y="1304676"/>
                  </a:lnTo>
                  <a:lnTo>
                    <a:pt x="24474" y="1286768"/>
                  </a:lnTo>
                  <a:lnTo>
                    <a:pt x="6566" y="1260207"/>
                  </a:lnTo>
                  <a:lnTo>
                    <a:pt x="0" y="1227681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1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0047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383864" y="7449755"/>
              <a:ext cx="13970" cy="12065"/>
            </a:xfrm>
            <a:custGeom>
              <a:avLst/>
              <a:gdLst/>
              <a:ahLst/>
              <a:cxnLst/>
              <a:rect l="l" t="t" r="r" b="b"/>
              <a:pathLst>
                <a:path w="13970" h="12065">
                  <a:moveTo>
                    <a:pt x="6894" y="0"/>
                  </a:moveTo>
                  <a:lnTo>
                    <a:pt x="0" y="11819"/>
                  </a:lnTo>
                  <a:lnTo>
                    <a:pt x="13789" y="11819"/>
                  </a:lnTo>
                  <a:lnTo>
                    <a:pt x="689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59882" y="5755267"/>
              <a:ext cx="449121" cy="27255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314918" y="5553287"/>
              <a:ext cx="151765" cy="585470"/>
            </a:xfrm>
            <a:custGeom>
              <a:avLst/>
              <a:gdLst/>
              <a:ahLst/>
              <a:cxnLst/>
              <a:rect l="l" t="t" r="r" b="b"/>
              <a:pathLst>
                <a:path w="151765" h="585470">
                  <a:moveTo>
                    <a:pt x="75840" y="0"/>
                  </a:moveTo>
                  <a:lnTo>
                    <a:pt x="0" y="130012"/>
                  </a:lnTo>
                  <a:lnTo>
                    <a:pt x="2104" y="138005"/>
                  </a:lnTo>
                  <a:lnTo>
                    <a:pt x="14561" y="145271"/>
                  </a:lnTo>
                  <a:lnTo>
                    <a:pt x="22555" y="143168"/>
                  </a:lnTo>
                  <a:lnTo>
                    <a:pt x="62783" y="74206"/>
                  </a:lnTo>
                  <a:lnTo>
                    <a:pt x="62782" y="585284"/>
                  </a:lnTo>
                  <a:lnTo>
                    <a:pt x="88894" y="585284"/>
                  </a:lnTo>
                  <a:lnTo>
                    <a:pt x="88896" y="74206"/>
                  </a:lnTo>
                  <a:lnTo>
                    <a:pt x="129125" y="143168"/>
                  </a:lnTo>
                  <a:lnTo>
                    <a:pt x="137119" y="145271"/>
                  </a:lnTo>
                  <a:lnTo>
                    <a:pt x="149576" y="138005"/>
                  </a:lnTo>
                  <a:lnTo>
                    <a:pt x="151679" y="130012"/>
                  </a:lnTo>
                  <a:lnTo>
                    <a:pt x="7584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84952" y="4210799"/>
              <a:ext cx="226653" cy="238501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84952" y="4529384"/>
              <a:ext cx="226653" cy="23850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84952" y="4847967"/>
              <a:ext cx="226653" cy="238501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84952" y="5166552"/>
              <a:ext cx="226653" cy="238501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181579" y="4743577"/>
              <a:ext cx="958850" cy="150495"/>
            </a:xfrm>
            <a:custGeom>
              <a:avLst/>
              <a:gdLst/>
              <a:ahLst/>
              <a:cxnLst/>
              <a:rect l="l" t="t" r="r" b="b"/>
              <a:pathLst>
                <a:path w="958850" h="150495">
                  <a:moveTo>
                    <a:pt x="828107" y="0"/>
                  </a:moveTo>
                  <a:lnTo>
                    <a:pt x="824876" y="852"/>
                  </a:lnTo>
                  <a:lnTo>
                    <a:pt x="821644" y="1701"/>
                  </a:lnTo>
                  <a:lnTo>
                    <a:pt x="818737" y="3784"/>
                  </a:lnTo>
                  <a:lnTo>
                    <a:pt x="813287" y="13127"/>
                  </a:lnTo>
                  <a:lnTo>
                    <a:pt x="815390" y="21122"/>
                  </a:lnTo>
                  <a:lnTo>
                    <a:pt x="884354" y="61351"/>
                  </a:lnTo>
                  <a:lnTo>
                    <a:pt x="0" y="61348"/>
                  </a:lnTo>
                  <a:lnTo>
                    <a:pt x="0" y="87461"/>
                  </a:lnTo>
                  <a:lnTo>
                    <a:pt x="884354" y="87463"/>
                  </a:lnTo>
                  <a:lnTo>
                    <a:pt x="815390" y="127692"/>
                  </a:lnTo>
                  <a:lnTo>
                    <a:pt x="813287" y="135685"/>
                  </a:lnTo>
                  <a:lnTo>
                    <a:pt x="820554" y="148142"/>
                  </a:lnTo>
                  <a:lnTo>
                    <a:pt x="828548" y="150246"/>
                  </a:lnTo>
                  <a:lnTo>
                    <a:pt x="958560" y="74406"/>
                  </a:lnTo>
                  <a:lnTo>
                    <a:pt x="831662" y="383"/>
                  </a:lnTo>
                  <a:lnTo>
                    <a:pt x="828107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36951" y="4374172"/>
              <a:ext cx="585816" cy="40048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39674" y="3759496"/>
              <a:ext cx="447098" cy="28828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140078" y="4082618"/>
              <a:ext cx="501650" cy="1471295"/>
            </a:xfrm>
            <a:custGeom>
              <a:avLst/>
              <a:gdLst/>
              <a:ahLst/>
              <a:cxnLst/>
              <a:rect l="l" t="t" r="r" b="b"/>
              <a:pathLst>
                <a:path w="501650" h="147129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387168"/>
                  </a:lnTo>
                  <a:lnTo>
                    <a:pt x="494790" y="1419694"/>
                  </a:lnTo>
                  <a:lnTo>
                    <a:pt x="476882" y="1446255"/>
                  </a:lnTo>
                  <a:lnTo>
                    <a:pt x="450321" y="1464163"/>
                  </a:lnTo>
                  <a:lnTo>
                    <a:pt x="417795" y="1470730"/>
                  </a:lnTo>
                  <a:lnTo>
                    <a:pt x="83562" y="1470730"/>
                  </a:lnTo>
                  <a:lnTo>
                    <a:pt x="51035" y="1464163"/>
                  </a:lnTo>
                  <a:lnTo>
                    <a:pt x="24474" y="1446255"/>
                  </a:lnTo>
                  <a:lnTo>
                    <a:pt x="6566" y="1419694"/>
                  </a:lnTo>
                  <a:lnTo>
                    <a:pt x="0" y="1387168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2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90480" y="3759496"/>
              <a:ext cx="442520" cy="28828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9589292" y="4095291"/>
              <a:ext cx="501650" cy="1471295"/>
            </a:xfrm>
            <a:custGeom>
              <a:avLst/>
              <a:gdLst/>
              <a:ahLst/>
              <a:cxnLst/>
              <a:rect l="l" t="t" r="r" b="b"/>
              <a:pathLst>
                <a:path w="501650" h="147129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387168"/>
                  </a:lnTo>
                  <a:lnTo>
                    <a:pt x="494790" y="1419694"/>
                  </a:lnTo>
                  <a:lnTo>
                    <a:pt x="476882" y="1446255"/>
                  </a:lnTo>
                  <a:lnTo>
                    <a:pt x="450321" y="1464163"/>
                  </a:lnTo>
                  <a:lnTo>
                    <a:pt x="417795" y="1470730"/>
                  </a:lnTo>
                  <a:lnTo>
                    <a:pt x="83562" y="1470730"/>
                  </a:lnTo>
                  <a:lnTo>
                    <a:pt x="51035" y="1464163"/>
                  </a:lnTo>
                  <a:lnTo>
                    <a:pt x="24474" y="1446255"/>
                  </a:lnTo>
                  <a:lnTo>
                    <a:pt x="6566" y="1419694"/>
                  </a:lnTo>
                  <a:lnTo>
                    <a:pt x="0" y="1387168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2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630794" y="4756252"/>
              <a:ext cx="958850" cy="150495"/>
            </a:xfrm>
            <a:custGeom>
              <a:avLst/>
              <a:gdLst/>
              <a:ahLst/>
              <a:cxnLst/>
              <a:rect l="l" t="t" r="r" b="b"/>
              <a:pathLst>
                <a:path w="958850" h="150495">
                  <a:moveTo>
                    <a:pt x="828107" y="0"/>
                  </a:moveTo>
                  <a:lnTo>
                    <a:pt x="824876" y="849"/>
                  </a:lnTo>
                  <a:lnTo>
                    <a:pt x="821644" y="1700"/>
                  </a:lnTo>
                  <a:lnTo>
                    <a:pt x="818737" y="3782"/>
                  </a:lnTo>
                  <a:lnTo>
                    <a:pt x="813287" y="13125"/>
                  </a:lnTo>
                  <a:lnTo>
                    <a:pt x="815392" y="21118"/>
                  </a:lnTo>
                  <a:lnTo>
                    <a:pt x="884354" y="61348"/>
                  </a:lnTo>
                  <a:lnTo>
                    <a:pt x="0" y="61348"/>
                  </a:lnTo>
                  <a:lnTo>
                    <a:pt x="0" y="87459"/>
                  </a:lnTo>
                  <a:lnTo>
                    <a:pt x="884354" y="87459"/>
                  </a:lnTo>
                  <a:lnTo>
                    <a:pt x="815392" y="127689"/>
                  </a:lnTo>
                  <a:lnTo>
                    <a:pt x="813287" y="135682"/>
                  </a:lnTo>
                  <a:lnTo>
                    <a:pt x="820553" y="148140"/>
                  </a:lnTo>
                  <a:lnTo>
                    <a:pt x="828549" y="150244"/>
                  </a:lnTo>
                  <a:lnTo>
                    <a:pt x="958559" y="74404"/>
                  </a:lnTo>
                  <a:lnTo>
                    <a:pt x="831663" y="380"/>
                  </a:lnTo>
                  <a:lnTo>
                    <a:pt x="828107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86165" y="4374172"/>
              <a:ext cx="585816" cy="40048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01115" y="6563799"/>
              <a:ext cx="449180" cy="27995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34166" y="6264113"/>
              <a:ext cx="226653" cy="21547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34166" y="6548147"/>
              <a:ext cx="226653" cy="21547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34166" y="6832185"/>
              <a:ext cx="226653" cy="21547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34166" y="7116219"/>
              <a:ext cx="226653" cy="21547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9589292" y="6151246"/>
              <a:ext cx="501650" cy="1311275"/>
            </a:xfrm>
            <a:custGeom>
              <a:avLst/>
              <a:gdLst/>
              <a:ahLst/>
              <a:cxnLst/>
              <a:rect l="l" t="t" r="r" b="b"/>
              <a:pathLst>
                <a:path w="501650" h="131127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227681"/>
                  </a:lnTo>
                  <a:lnTo>
                    <a:pt x="494790" y="1260207"/>
                  </a:lnTo>
                  <a:lnTo>
                    <a:pt x="476882" y="1286768"/>
                  </a:lnTo>
                  <a:lnTo>
                    <a:pt x="450321" y="1304676"/>
                  </a:lnTo>
                  <a:lnTo>
                    <a:pt x="417795" y="1311243"/>
                  </a:lnTo>
                  <a:lnTo>
                    <a:pt x="83561" y="1311243"/>
                  </a:lnTo>
                  <a:lnTo>
                    <a:pt x="51035" y="1304676"/>
                  </a:lnTo>
                  <a:lnTo>
                    <a:pt x="24474" y="1286768"/>
                  </a:lnTo>
                  <a:lnTo>
                    <a:pt x="6566" y="1260207"/>
                  </a:lnTo>
                  <a:lnTo>
                    <a:pt x="0" y="1227681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1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0047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09095" y="5755267"/>
              <a:ext cx="449121" cy="27255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9764133" y="5565960"/>
              <a:ext cx="151765" cy="585470"/>
            </a:xfrm>
            <a:custGeom>
              <a:avLst/>
              <a:gdLst/>
              <a:ahLst/>
              <a:cxnLst/>
              <a:rect l="l" t="t" r="r" b="b"/>
              <a:pathLst>
                <a:path w="151765" h="585470">
                  <a:moveTo>
                    <a:pt x="75839" y="0"/>
                  </a:moveTo>
                  <a:lnTo>
                    <a:pt x="0" y="130011"/>
                  </a:lnTo>
                  <a:lnTo>
                    <a:pt x="2103" y="138005"/>
                  </a:lnTo>
                  <a:lnTo>
                    <a:pt x="14560" y="145274"/>
                  </a:lnTo>
                  <a:lnTo>
                    <a:pt x="22553" y="143168"/>
                  </a:lnTo>
                  <a:lnTo>
                    <a:pt x="62783" y="74206"/>
                  </a:lnTo>
                  <a:lnTo>
                    <a:pt x="62783" y="585285"/>
                  </a:lnTo>
                  <a:lnTo>
                    <a:pt x="88896" y="585285"/>
                  </a:lnTo>
                  <a:lnTo>
                    <a:pt x="88896" y="74206"/>
                  </a:lnTo>
                  <a:lnTo>
                    <a:pt x="129124" y="143168"/>
                  </a:lnTo>
                  <a:lnTo>
                    <a:pt x="137118" y="145274"/>
                  </a:lnTo>
                  <a:lnTo>
                    <a:pt x="149575" y="138007"/>
                  </a:lnTo>
                  <a:lnTo>
                    <a:pt x="151679" y="130011"/>
                  </a:lnTo>
                  <a:lnTo>
                    <a:pt x="75839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734166" y="4223474"/>
              <a:ext cx="226653" cy="238501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734166" y="4542057"/>
              <a:ext cx="226653" cy="238501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734166" y="4860642"/>
              <a:ext cx="226653" cy="238501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734166" y="5179225"/>
              <a:ext cx="226653" cy="238501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10106357" y="4743577"/>
              <a:ext cx="958850" cy="150495"/>
            </a:xfrm>
            <a:custGeom>
              <a:avLst/>
              <a:gdLst/>
              <a:ahLst/>
              <a:cxnLst/>
              <a:rect l="l" t="t" r="r" b="b"/>
              <a:pathLst>
                <a:path w="958850" h="150495">
                  <a:moveTo>
                    <a:pt x="828107" y="0"/>
                  </a:moveTo>
                  <a:lnTo>
                    <a:pt x="824876" y="852"/>
                  </a:lnTo>
                  <a:lnTo>
                    <a:pt x="821644" y="1701"/>
                  </a:lnTo>
                  <a:lnTo>
                    <a:pt x="818738" y="3784"/>
                  </a:lnTo>
                  <a:lnTo>
                    <a:pt x="813287" y="13127"/>
                  </a:lnTo>
                  <a:lnTo>
                    <a:pt x="815390" y="21122"/>
                  </a:lnTo>
                  <a:lnTo>
                    <a:pt x="884354" y="61351"/>
                  </a:lnTo>
                  <a:lnTo>
                    <a:pt x="1" y="61348"/>
                  </a:lnTo>
                  <a:lnTo>
                    <a:pt x="0" y="87461"/>
                  </a:lnTo>
                  <a:lnTo>
                    <a:pt x="884354" y="87463"/>
                  </a:lnTo>
                  <a:lnTo>
                    <a:pt x="815390" y="127692"/>
                  </a:lnTo>
                  <a:lnTo>
                    <a:pt x="813287" y="135685"/>
                  </a:lnTo>
                  <a:lnTo>
                    <a:pt x="820554" y="148142"/>
                  </a:lnTo>
                  <a:lnTo>
                    <a:pt x="828548" y="150246"/>
                  </a:lnTo>
                  <a:lnTo>
                    <a:pt x="958560" y="74406"/>
                  </a:lnTo>
                  <a:lnTo>
                    <a:pt x="831662" y="383"/>
                  </a:lnTo>
                  <a:lnTo>
                    <a:pt x="828107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61727" y="4374172"/>
              <a:ext cx="585816" cy="400485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11239698" y="2945762"/>
              <a:ext cx="151765" cy="1137285"/>
            </a:xfrm>
            <a:custGeom>
              <a:avLst/>
              <a:gdLst/>
              <a:ahLst/>
              <a:cxnLst/>
              <a:rect l="l" t="t" r="r" b="b"/>
              <a:pathLst>
                <a:path w="151765" h="1137285">
                  <a:moveTo>
                    <a:pt x="75839" y="0"/>
                  </a:moveTo>
                  <a:lnTo>
                    <a:pt x="0" y="130009"/>
                  </a:lnTo>
                  <a:lnTo>
                    <a:pt x="2103" y="138005"/>
                  </a:lnTo>
                  <a:lnTo>
                    <a:pt x="14560" y="145271"/>
                  </a:lnTo>
                  <a:lnTo>
                    <a:pt x="22553" y="143167"/>
                  </a:lnTo>
                  <a:lnTo>
                    <a:pt x="62782" y="74203"/>
                  </a:lnTo>
                  <a:lnTo>
                    <a:pt x="62781" y="1136855"/>
                  </a:lnTo>
                  <a:lnTo>
                    <a:pt x="88893" y="1136855"/>
                  </a:lnTo>
                  <a:lnTo>
                    <a:pt x="88894" y="74203"/>
                  </a:lnTo>
                  <a:lnTo>
                    <a:pt x="129124" y="143167"/>
                  </a:lnTo>
                  <a:lnTo>
                    <a:pt x="137118" y="145271"/>
                  </a:lnTo>
                  <a:lnTo>
                    <a:pt x="149575" y="138005"/>
                  </a:lnTo>
                  <a:lnTo>
                    <a:pt x="151678" y="130009"/>
                  </a:lnTo>
                  <a:lnTo>
                    <a:pt x="75839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763055" y="3792085"/>
              <a:ext cx="441820" cy="255692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09731" y="4210799"/>
              <a:ext cx="226653" cy="23850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09731" y="4529384"/>
              <a:ext cx="226653" cy="238501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09731" y="4847967"/>
              <a:ext cx="226653" cy="238501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09731" y="5166552"/>
              <a:ext cx="226653" cy="238501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583312" y="6563799"/>
              <a:ext cx="449144" cy="279955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9731" y="6251439"/>
              <a:ext cx="226653" cy="21547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09731" y="6535474"/>
              <a:ext cx="226653" cy="21547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9731" y="6819510"/>
              <a:ext cx="226653" cy="21547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9731" y="7103546"/>
              <a:ext cx="226653" cy="215470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11064856" y="6138571"/>
              <a:ext cx="501650" cy="1311275"/>
            </a:xfrm>
            <a:custGeom>
              <a:avLst/>
              <a:gdLst/>
              <a:ahLst/>
              <a:cxnLst/>
              <a:rect l="l" t="t" r="r" b="b"/>
              <a:pathLst>
                <a:path w="501650" h="131127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227681"/>
                  </a:lnTo>
                  <a:lnTo>
                    <a:pt x="494790" y="1260207"/>
                  </a:lnTo>
                  <a:lnTo>
                    <a:pt x="476882" y="1286768"/>
                  </a:lnTo>
                  <a:lnTo>
                    <a:pt x="450321" y="1304676"/>
                  </a:lnTo>
                  <a:lnTo>
                    <a:pt x="417795" y="1311243"/>
                  </a:lnTo>
                  <a:lnTo>
                    <a:pt x="83561" y="1311243"/>
                  </a:lnTo>
                  <a:lnTo>
                    <a:pt x="51035" y="1304676"/>
                  </a:lnTo>
                  <a:lnTo>
                    <a:pt x="24474" y="1286768"/>
                  </a:lnTo>
                  <a:lnTo>
                    <a:pt x="6566" y="1260207"/>
                  </a:lnTo>
                  <a:lnTo>
                    <a:pt x="0" y="1227681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1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0047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1308642" y="7449755"/>
              <a:ext cx="13970" cy="12065"/>
            </a:xfrm>
            <a:custGeom>
              <a:avLst/>
              <a:gdLst/>
              <a:ahLst/>
              <a:cxnLst/>
              <a:rect l="l" t="t" r="r" b="b"/>
              <a:pathLst>
                <a:path w="13970" h="12065">
                  <a:moveTo>
                    <a:pt x="6894" y="0"/>
                  </a:moveTo>
                  <a:lnTo>
                    <a:pt x="0" y="11819"/>
                  </a:lnTo>
                  <a:lnTo>
                    <a:pt x="13789" y="11819"/>
                  </a:lnTo>
                  <a:lnTo>
                    <a:pt x="689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84658" y="5755267"/>
              <a:ext cx="449121" cy="272550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11239696" y="5553287"/>
              <a:ext cx="151765" cy="585470"/>
            </a:xfrm>
            <a:custGeom>
              <a:avLst/>
              <a:gdLst/>
              <a:ahLst/>
              <a:cxnLst/>
              <a:rect l="l" t="t" r="r" b="b"/>
              <a:pathLst>
                <a:path w="151765" h="585470">
                  <a:moveTo>
                    <a:pt x="75840" y="0"/>
                  </a:moveTo>
                  <a:lnTo>
                    <a:pt x="0" y="130012"/>
                  </a:lnTo>
                  <a:lnTo>
                    <a:pt x="2104" y="138005"/>
                  </a:lnTo>
                  <a:lnTo>
                    <a:pt x="14561" y="145271"/>
                  </a:lnTo>
                  <a:lnTo>
                    <a:pt x="22555" y="143168"/>
                  </a:lnTo>
                  <a:lnTo>
                    <a:pt x="62783" y="74206"/>
                  </a:lnTo>
                  <a:lnTo>
                    <a:pt x="62782" y="585284"/>
                  </a:lnTo>
                  <a:lnTo>
                    <a:pt x="88894" y="585284"/>
                  </a:lnTo>
                  <a:lnTo>
                    <a:pt x="88896" y="74206"/>
                  </a:lnTo>
                  <a:lnTo>
                    <a:pt x="129125" y="143168"/>
                  </a:lnTo>
                  <a:lnTo>
                    <a:pt x="137119" y="145271"/>
                  </a:lnTo>
                  <a:lnTo>
                    <a:pt x="149576" y="138005"/>
                  </a:lnTo>
                  <a:lnTo>
                    <a:pt x="151679" y="130012"/>
                  </a:lnTo>
                  <a:lnTo>
                    <a:pt x="7584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1064856" y="4082618"/>
              <a:ext cx="501650" cy="1471295"/>
            </a:xfrm>
            <a:custGeom>
              <a:avLst/>
              <a:gdLst/>
              <a:ahLst/>
              <a:cxnLst/>
              <a:rect l="l" t="t" r="r" b="b"/>
              <a:pathLst>
                <a:path w="501650" h="147129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387168"/>
                  </a:lnTo>
                  <a:lnTo>
                    <a:pt x="494790" y="1419694"/>
                  </a:lnTo>
                  <a:lnTo>
                    <a:pt x="476882" y="1446255"/>
                  </a:lnTo>
                  <a:lnTo>
                    <a:pt x="450321" y="1464163"/>
                  </a:lnTo>
                  <a:lnTo>
                    <a:pt x="417795" y="1470730"/>
                  </a:lnTo>
                  <a:lnTo>
                    <a:pt x="83562" y="1470730"/>
                  </a:lnTo>
                  <a:lnTo>
                    <a:pt x="51035" y="1464163"/>
                  </a:lnTo>
                  <a:lnTo>
                    <a:pt x="24474" y="1446255"/>
                  </a:lnTo>
                  <a:lnTo>
                    <a:pt x="6566" y="1419694"/>
                  </a:lnTo>
                  <a:lnTo>
                    <a:pt x="0" y="1387168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2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445008" y="3786063"/>
              <a:ext cx="429809" cy="249316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21253" y="4168407"/>
              <a:ext cx="226653" cy="238501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21253" y="4486990"/>
              <a:ext cx="226653" cy="238501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21253" y="4805575"/>
              <a:ext cx="226653" cy="238501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21253" y="5124158"/>
              <a:ext cx="226653" cy="238501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6676379" y="4040223"/>
              <a:ext cx="501650" cy="1471295"/>
            </a:xfrm>
            <a:custGeom>
              <a:avLst/>
              <a:gdLst/>
              <a:ahLst/>
              <a:cxnLst/>
              <a:rect l="l" t="t" r="r" b="b"/>
              <a:pathLst>
                <a:path w="501650" h="147129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387168"/>
                  </a:lnTo>
                  <a:lnTo>
                    <a:pt x="494790" y="1419694"/>
                  </a:lnTo>
                  <a:lnTo>
                    <a:pt x="476882" y="1446255"/>
                  </a:lnTo>
                  <a:lnTo>
                    <a:pt x="450321" y="1464163"/>
                  </a:lnTo>
                  <a:lnTo>
                    <a:pt x="417795" y="1470730"/>
                  </a:lnTo>
                  <a:lnTo>
                    <a:pt x="83562" y="1470730"/>
                  </a:lnTo>
                  <a:lnTo>
                    <a:pt x="51035" y="1464163"/>
                  </a:lnTo>
                  <a:lnTo>
                    <a:pt x="24474" y="1446255"/>
                  </a:lnTo>
                  <a:lnTo>
                    <a:pt x="6566" y="1419694"/>
                  </a:lnTo>
                  <a:lnTo>
                    <a:pt x="0" y="1387168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2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96183" y="5755267"/>
              <a:ext cx="449121" cy="27255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21253" y="6209044"/>
              <a:ext cx="226653" cy="215470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21253" y="6493080"/>
              <a:ext cx="226653" cy="215470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21253" y="6777115"/>
              <a:ext cx="226653" cy="21547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21253" y="7061152"/>
              <a:ext cx="226653" cy="215470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676379" y="6096179"/>
              <a:ext cx="501650" cy="1311275"/>
            </a:xfrm>
            <a:custGeom>
              <a:avLst/>
              <a:gdLst/>
              <a:ahLst/>
              <a:cxnLst/>
              <a:rect l="l" t="t" r="r" b="b"/>
              <a:pathLst>
                <a:path w="501650" h="131127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227681"/>
                  </a:lnTo>
                  <a:lnTo>
                    <a:pt x="494790" y="1260207"/>
                  </a:lnTo>
                  <a:lnTo>
                    <a:pt x="476882" y="1286768"/>
                  </a:lnTo>
                  <a:lnTo>
                    <a:pt x="450321" y="1304676"/>
                  </a:lnTo>
                  <a:lnTo>
                    <a:pt x="417795" y="1311243"/>
                  </a:lnTo>
                  <a:lnTo>
                    <a:pt x="83561" y="1311243"/>
                  </a:lnTo>
                  <a:lnTo>
                    <a:pt x="51035" y="1304676"/>
                  </a:lnTo>
                  <a:lnTo>
                    <a:pt x="24474" y="1286768"/>
                  </a:lnTo>
                  <a:lnTo>
                    <a:pt x="6566" y="1260207"/>
                  </a:lnTo>
                  <a:lnTo>
                    <a:pt x="0" y="1227681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1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0047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895435" y="7407361"/>
              <a:ext cx="63500" cy="54610"/>
            </a:xfrm>
            <a:custGeom>
              <a:avLst/>
              <a:gdLst/>
              <a:ahLst/>
              <a:cxnLst/>
              <a:rect l="l" t="t" r="r" b="b"/>
              <a:pathLst>
                <a:path w="63500" h="54609">
                  <a:moveTo>
                    <a:pt x="31624" y="0"/>
                  </a:moveTo>
                  <a:lnTo>
                    <a:pt x="0" y="54213"/>
                  </a:lnTo>
                  <a:lnTo>
                    <a:pt x="63249" y="54213"/>
                  </a:lnTo>
                  <a:lnTo>
                    <a:pt x="3162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719902" y="4746193"/>
              <a:ext cx="1283335" cy="1350010"/>
            </a:xfrm>
            <a:custGeom>
              <a:avLst/>
              <a:gdLst/>
              <a:ahLst/>
              <a:cxnLst/>
              <a:rect l="l" t="t" r="r" b="b"/>
              <a:pathLst>
                <a:path w="1283334" h="1350010">
                  <a:moveTo>
                    <a:pt x="958570" y="74409"/>
                  </a:moveTo>
                  <a:lnTo>
                    <a:pt x="831672" y="381"/>
                  </a:lnTo>
                  <a:lnTo>
                    <a:pt x="828116" y="0"/>
                  </a:lnTo>
                  <a:lnTo>
                    <a:pt x="824877" y="850"/>
                  </a:lnTo>
                  <a:lnTo>
                    <a:pt x="821651" y="1701"/>
                  </a:lnTo>
                  <a:lnTo>
                    <a:pt x="818743" y="3784"/>
                  </a:lnTo>
                  <a:lnTo>
                    <a:pt x="813295" y="13131"/>
                  </a:lnTo>
                  <a:lnTo>
                    <a:pt x="815390" y="21120"/>
                  </a:lnTo>
                  <a:lnTo>
                    <a:pt x="884364" y="61353"/>
                  </a:lnTo>
                  <a:lnTo>
                    <a:pt x="0" y="61353"/>
                  </a:lnTo>
                  <a:lnTo>
                    <a:pt x="0" y="87464"/>
                  </a:lnTo>
                  <a:lnTo>
                    <a:pt x="884364" y="87464"/>
                  </a:lnTo>
                  <a:lnTo>
                    <a:pt x="815390" y="127698"/>
                  </a:lnTo>
                  <a:lnTo>
                    <a:pt x="813295" y="135686"/>
                  </a:lnTo>
                  <a:lnTo>
                    <a:pt x="820559" y="148145"/>
                  </a:lnTo>
                  <a:lnTo>
                    <a:pt x="828548" y="150241"/>
                  </a:lnTo>
                  <a:lnTo>
                    <a:pt x="958570" y="74409"/>
                  </a:lnTo>
                  <a:close/>
                </a:path>
                <a:path w="1283334" h="1350010">
                  <a:moveTo>
                    <a:pt x="1282992" y="894715"/>
                  </a:moveTo>
                  <a:lnTo>
                    <a:pt x="1207147" y="764705"/>
                  </a:lnTo>
                  <a:lnTo>
                    <a:pt x="1131316" y="894715"/>
                  </a:lnTo>
                  <a:lnTo>
                    <a:pt x="1133411" y="902716"/>
                  </a:lnTo>
                  <a:lnTo>
                    <a:pt x="1145870" y="909980"/>
                  </a:lnTo>
                  <a:lnTo>
                    <a:pt x="1153871" y="907872"/>
                  </a:lnTo>
                  <a:lnTo>
                    <a:pt x="1194092" y="838911"/>
                  </a:lnTo>
                  <a:lnTo>
                    <a:pt x="1194092" y="1349984"/>
                  </a:lnTo>
                  <a:lnTo>
                    <a:pt x="1220203" y="1349997"/>
                  </a:lnTo>
                  <a:lnTo>
                    <a:pt x="1220203" y="838911"/>
                  </a:lnTo>
                  <a:lnTo>
                    <a:pt x="1260436" y="907872"/>
                  </a:lnTo>
                  <a:lnTo>
                    <a:pt x="1268425" y="909980"/>
                  </a:lnTo>
                  <a:lnTo>
                    <a:pt x="1280883" y="902716"/>
                  </a:lnTo>
                  <a:lnTo>
                    <a:pt x="1282992" y="894715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75282" y="4374172"/>
              <a:ext cx="585816" cy="40048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871609" y="3805609"/>
              <a:ext cx="419743" cy="241772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50261" y="4173922"/>
              <a:ext cx="226653" cy="238501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50261" y="4492505"/>
              <a:ext cx="226653" cy="238501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50261" y="4811090"/>
              <a:ext cx="226653" cy="238501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50261" y="5129672"/>
              <a:ext cx="226653" cy="238501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5205387" y="4045738"/>
              <a:ext cx="501650" cy="1471295"/>
            </a:xfrm>
            <a:custGeom>
              <a:avLst/>
              <a:gdLst/>
              <a:ahLst/>
              <a:cxnLst/>
              <a:rect l="l" t="t" r="r" b="b"/>
              <a:pathLst>
                <a:path w="501650" h="147129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387168"/>
                  </a:lnTo>
                  <a:lnTo>
                    <a:pt x="494790" y="1419694"/>
                  </a:lnTo>
                  <a:lnTo>
                    <a:pt x="476882" y="1446255"/>
                  </a:lnTo>
                  <a:lnTo>
                    <a:pt x="450321" y="1464163"/>
                  </a:lnTo>
                  <a:lnTo>
                    <a:pt x="417795" y="1470730"/>
                  </a:lnTo>
                  <a:lnTo>
                    <a:pt x="83562" y="1470730"/>
                  </a:lnTo>
                  <a:lnTo>
                    <a:pt x="51035" y="1464163"/>
                  </a:lnTo>
                  <a:lnTo>
                    <a:pt x="24474" y="1446255"/>
                  </a:lnTo>
                  <a:lnTo>
                    <a:pt x="6566" y="1419694"/>
                  </a:lnTo>
                  <a:lnTo>
                    <a:pt x="0" y="1387168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2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51374" y="6598677"/>
              <a:ext cx="447502" cy="277427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459740" y="3367241"/>
              <a:ext cx="271287" cy="236995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66556" y="2389366"/>
              <a:ext cx="3759281" cy="440489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32056" y="4539424"/>
              <a:ext cx="4081028" cy="546662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4741" y="5083114"/>
              <a:ext cx="486903" cy="335795"/>
            </a:xfrm>
            <a:prstGeom prst="rect">
              <a:avLst/>
            </a:prstGeom>
          </p:spPr>
        </p:pic>
      </p:grpSp>
      <p:sp>
        <p:nvSpPr>
          <p:cNvPr id="119" name="object 119"/>
          <p:cNvSpPr txBox="1"/>
          <p:nvPr/>
        </p:nvSpPr>
        <p:spPr>
          <a:xfrm>
            <a:off x="8394143" y="1945884"/>
            <a:ext cx="100013" cy="216390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8929">
              <a:spcBef>
                <a:spcPts val="84"/>
              </a:spcBef>
            </a:pPr>
            <a:r>
              <a:rPr sz="1336" spc="-98" dirty="0">
                <a:solidFill>
                  <a:srgbClr val="177245"/>
                </a:solidFill>
                <a:latin typeface="Arial"/>
                <a:cs typeface="Arial"/>
              </a:rPr>
              <a:t>a</a:t>
            </a:r>
            <a:endParaRPr sz="1336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2285839" y="3595130"/>
            <a:ext cx="1715839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336" spc="-70" dirty="0">
                <a:latin typeface="Arial"/>
                <a:cs typeface="Arial"/>
              </a:rPr>
              <a:t>is</a:t>
            </a:r>
            <a:r>
              <a:rPr sz="1336" spc="-67" dirty="0">
                <a:latin typeface="Arial"/>
                <a:cs typeface="Arial"/>
              </a:rPr>
              <a:t> </a:t>
            </a:r>
            <a:r>
              <a:rPr sz="1336" spc="-7" dirty="0">
                <a:latin typeface="Arial"/>
                <a:cs typeface="Arial"/>
              </a:rPr>
              <a:t>the</a:t>
            </a:r>
            <a:r>
              <a:rPr sz="1336" spc="-63" dirty="0">
                <a:latin typeface="Arial"/>
                <a:cs typeface="Arial"/>
              </a:rPr>
              <a:t> </a:t>
            </a:r>
            <a:r>
              <a:rPr sz="1336" dirty="0">
                <a:latin typeface="Arial"/>
                <a:cs typeface="Arial"/>
              </a:rPr>
              <a:t>initial</a:t>
            </a:r>
            <a:r>
              <a:rPr sz="1336" spc="-63" dirty="0">
                <a:latin typeface="Arial"/>
                <a:cs typeface="Arial"/>
              </a:rPr>
              <a:t> </a:t>
            </a:r>
            <a:r>
              <a:rPr sz="1336" spc="-39" dirty="0">
                <a:latin typeface="Arial"/>
                <a:cs typeface="Arial"/>
              </a:rPr>
              <a:t>hidden</a:t>
            </a:r>
            <a:r>
              <a:rPr sz="1336" spc="-63" dirty="0">
                <a:latin typeface="Arial"/>
                <a:cs typeface="Arial"/>
              </a:rPr>
              <a:t> </a:t>
            </a:r>
            <a:r>
              <a:rPr sz="1336" spc="-32" dirty="0">
                <a:latin typeface="Arial"/>
                <a:cs typeface="Arial"/>
              </a:rPr>
              <a:t>state</a:t>
            </a:r>
            <a:endParaRPr sz="1336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6203528" y="5265666"/>
            <a:ext cx="1670298" cy="62457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35717">
              <a:lnSpc>
                <a:spcPts val="2025"/>
              </a:lnSpc>
              <a:spcBef>
                <a:spcPts val="70"/>
              </a:spcBef>
              <a:tabLst>
                <a:tab pos="709438" algn="l"/>
              </a:tabLst>
            </a:pPr>
            <a:r>
              <a:rPr sz="1898" i="1" spc="-18" dirty="0">
                <a:latin typeface="Helvetica Neue"/>
                <a:cs typeface="Helvetica Neue"/>
              </a:rPr>
              <a:t>the</a:t>
            </a:r>
            <a:r>
              <a:rPr sz="1898" i="1" dirty="0">
                <a:latin typeface="Helvetica Neue"/>
                <a:cs typeface="Helvetica Neue"/>
              </a:rPr>
              <a:t>	</a:t>
            </a:r>
            <a:r>
              <a:rPr sz="1898" i="1" spc="-7" dirty="0">
                <a:latin typeface="Helvetica Neue"/>
                <a:cs typeface="Helvetica Neue"/>
              </a:rPr>
              <a:t>students</a:t>
            </a:r>
            <a:endParaRPr sz="1898">
              <a:latin typeface="Helvetica Neue"/>
              <a:cs typeface="Helvetica Neue"/>
            </a:endParaRPr>
          </a:p>
          <a:p>
            <a:pPr marL="112510">
              <a:lnSpc>
                <a:spcPts val="2784"/>
              </a:lnSpc>
              <a:tabLst>
                <a:tab pos="1069739" algn="l"/>
              </a:tabLst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1</a:t>
            </a:r>
            <a:r>
              <a:rPr sz="2689" baseline="-19607" dirty="0">
                <a:latin typeface="Times New Roman"/>
                <a:cs typeface="Times New Roman"/>
              </a:rPr>
              <a:t>	</a:t>
            </a: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2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8092889" y="5265666"/>
            <a:ext cx="1694408" cy="62457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algn="ctr">
              <a:lnSpc>
                <a:spcPts val="2025"/>
              </a:lnSpc>
              <a:spcBef>
                <a:spcPts val="70"/>
              </a:spcBef>
              <a:tabLst>
                <a:tab pos="1149209" algn="l"/>
              </a:tabLst>
            </a:pPr>
            <a:r>
              <a:rPr sz="1898" i="1" spc="-7" dirty="0">
                <a:latin typeface="Helvetica Neue"/>
                <a:cs typeface="Helvetica Neue"/>
              </a:rPr>
              <a:t>opened</a:t>
            </a:r>
            <a:r>
              <a:rPr sz="1898" i="1" dirty="0">
                <a:latin typeface="Helvetica Neue"/>
                <a:cs typeface="Helvetica Neue"/>
              </a:rPr>
              <a:t>	</a:t>
            </a:r>
            <a:r>
              <a:rPr sz="1898" i="1" spc="-7" dirty="0">
                <a:latin typeface="Helvetica Neue"/>
                <a:cs typeface="Helvetica Neue"/>
              </a:rPr>
              <a:t>their</a:t>
            </a:r>
            <a:endParaRPr sz="1898">
              <a:latin typeface="Helvetica Neue"/>
              <a:cs typeface="Helvetica Neue"/>
            </a:endParaRPr>
          </a:p>
          <a:p>
            <a:pPr marL="48665" algn="ctr">
              <a:lnSpc>
                <a:spcPts val="2784"/>
              </a:lnSpc>
              <a:tabLst>
                <a:tab pos="1029556" algn="l"/>
              </a:tabLst>
            </a:pP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3</a:t>
            </a:r>
            <a:r>
              <a:rPr sz="2689" baseline="-19607" dirty="0">
                <a:latin typeface="Times New Roman"/>
                <a:cs typeface="Times New Roman"/>
              </a:rPr>
              <a:t>	</a:t>
            </a: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4</a:t>
            </a:r>
            <a:endParaRPr sz="2689" baseline="-19607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1743018" y="1633302"/>
            <a:ext cx="8192988" cy="3221385"/>
          </a:xfrm>
          <a:custGeom>
            <a:avLst/>
            <a:gdLst/>
            <a:ahLst/>
            <a:cxnLst/>
            <a:rect l="l" t="t" r="r" b="b"/>
            <a:pathLst>
              <a:path w="11652250" h="4581525">
                <a:moveTo>
                  <a:pt x="4916665" y="0"/>
                </a:moveTo>
                <a:lnTo>
                  <a:pt x="0" y="0"/>
                </a:lnTo>
                <a:lnTo>
                  <a:pt x="0" y="1270000"/>
                </a:lnTo>
                <a:lnTo>
                  <a:pt x="4916665" y="1270000"/>
                </a:lnTo>
                <a:lnTo>
                  <a:pt x="4916665" y="0"/>
                </a:lnTo>
                <a:close/>
              </a:path>
              <a:path w="11652250" h="4581525">
                <a:moveTo>
                  <a:pt x="6324066" y="4265231"/>
                </a:moveTo>
                <a:lnTo>
                  <a:pt x="5801830" y="4265231"/>
                </a:lnTo>
                <a:lnTo>
                  <a:pt x="5801830" y="4581487"/>
                </a:lnTo>
                <a:lnTo>
                  <a:pt x="6324066" y="4581487"/>
                </a:lnTo>
                <a:lnTo>
                  <a:pt x="6324066" y="4265231"/>
                </a:lnTo>
                <a:close/>
              </a:path>
              <a:path w="11652250" h="4581525">
                <a:moveTo>
                  <a:pt x="7793228" y="4199178"/>
                </a:moveTo>
                <a:lnTo>
                  <a:pt x="7270991" y="4199178"/>
                </a:lnTo>
                <a:lnTo>
                  <a:pt x="7270991" y="4515434"/>
                </a:lnTo>
                <a:lnTo>
                  <a:pt x="7793228" y="4515434"/>
                </a:lnTo>
                <a:lnTo>
                  <a:pt x="7793228" y="4199178"/>
                </a:lnTo>
                <a:close/>
              </a:path>
              <a:path w="11652250" h="4581525">
                <a:moveTo>
                  <a:pt x="9262389" y="4199178"/>
                </a:moveTo>
                <a:lnTo>
                  <a:pt x="8740153" y="4199178"/>
                </a:lnTo>
                <a:lnTo>
                  <a:pt x="8740153" y="4515434"/>
                </a:lnTo>
                <a:lnTo>
                  <a:pt x="9262389" y="4515434"/>
                </a:lnTo>
                <a:lnTo>
                  <a:pt x="9262389" y="4199178"/>
                </a:lnTo>
                <a:close/>
              </a:path>
              <a:path w="11652250" h="4581525">
                <a:moveTo>
                  <a:pt x="10731551" y="4199178"/>
                </a:moveTo>
                <a:lnTo>
                  <a:pt x="10209314" y="4199178"/>
                </a:lnTo>
                <a:lnTo>
                  <a:pt x="10209314" y="4515434"/>
                </a:lnTo>
                <a:lnTo>
                  <a:pt x="10731551" y="4515434"/>
                </a:lnTo>
                <a:lnTo>
                  <a:pt x="10731551" y="4199178"/>
                </a:lnTo>
                <a:close/>
              </a:path>
              <a:path w="11652250" h="4581525">
                <a:moveTo>
                  <a:pt x="11651793" y="986396"/>
                </a:moveTo>
                <a:lnTo>
                  <a:pt x="11129556" y="986396"/>
                </a:lnTo>
                <a:lnTo>
                  <a:pt x="11129556" y="1302651"/>
                </a:lnTo>
                <a:lnTo>
                  <a:pt x="11651793" y="1302651"/>
                </a:lnTo>
                <a:lnTo>
                  <a:pt x="11651793" y="9863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1897870" y="1197809"/>
            <a:ext cx="2356098" cy="795177"/>
          </a:xfrm>
          <a:prstGeom prst="rect">
            <a:avLst/>
          </a:prstGeom>
        </p:spPr>
        <p:txBody>
          <a:bodyPr vert="horz" wrap="square" lIns="0" tIns="91082" rIns="0" bIns="0" rtlCol="0">
            <a:spAutoFit/>
          </a:bodyPr>
          <a:lstStyle/>
          <a:p>
            <a:pPr marL="17859">
              <a:spcBef>
                <a:spcPts val="716"/>
              </a:spcBef>
            </a:pPr>
            <a:r>
              <a:rPr sz="1723" dirty="0">
                <a:solidFill>
                  <a:srgbClr val="177245"/>
                </a:solidFill>
                <a:latin typeface="Arial"/>
                <a:cs typeface="Arial"/>
              </a:rPr>
              <a:t>output</a:t>
            </a:r>
            <a:r>
              <a:rPr sz="1723" spc="-77" dirty="0">
                <a:solidFill>
                  <a:srgbClr val="177245"/>
                </a:solidFill>
                <a:latin typeface="Arial"/>
                <a:cs typeface="Arial"/>
              </a:rPr>
              <a:t> </a:t>
            </a:r>
            <a:r>
              <a:rPr sz="1723" spc="-7" dirty="0">
                <a:solidFill>
                  <a:srgbClr val="177245"/>
                </a:solidFill>
                <a:latin typeface="Arial"/>
                <a:cs typeface="Arial"/>
              </a:rPr>
              <a:t>distribution</a:t>
            </a:r>
            <a:endParaRPr sz="1723">
              <a:latin typeface="Arial"/>
              <a:cs typeface="Arial"/>
            </a:endParaRPr>
          </a:p>
          <a:p>
            <a:pPr marL="63399">
              <a:spcBef>
                <a:spcPts val="798"/>
              </a:spcBef>
            </a:pPr>
            <a:r>
              <a:rPr sz="2180" i="1" dirty="0">
                <a:latin typeface="Times New Roman"/>
                <a:cs typeface="Times New Roman"/>
              </a:rPr>
              <a:t>y</a:t>
            </a:r>
            <a:r>
              <a:rPr sz="2180" dirty="0">
                <a:latin typeface="Times New Roman"/>
                <a:cs typeface="Times New Roman"/>
              </a:rPr>
              <a:t>̂</a:t>
            </a:r>
            <a:r>
              <a:rPr sz="2180" spc="42" dirty="0">
                <a:latin typeface="Times New Roman"/>
                <a:cs typeface="Times New Roman"/>
              </a:rPr>
              <a:t> </a:t>
            </a:r>
            <a:r>
              <a:rPr sz="2180" spc="257" dirty="0">
                <a:latin typeface="Times New Roman"/>
                <a:cs typeface="Times New Roman"/>
              </a:rPr>
              <a:t>=</a:t>
            </a:r>
            <a:r>
              <a:rPr sz="2180" spc="74" dirty="0">
                <a:latin typeface="Times New Roman"/>
                <a:cs typeface="Times New Roman"/>
              </a:rPr>
              <a:t> </a:t>
            </a:r>
            <a:r>
              <a:rPr sz="2180" spc="-7" dirty="0">
                <a:latin typeface="HelveticaNeue-Light"/>
                <a:cs typeface="HelveticaNeue-Light"/>
              </a:rPr>
              <a:t>softmax</a:t>
            </a:r>
            <a:r>
              <a:rPr sz="2180" spc="-7" dirty="0">
                <a:latin typeface="Times New Roman"/>
                <a:cs typeface="Times New Roman"/>
              </a:rPr>
              <a:t>(</a:t>
            </a:r>
            <a:r>
              <a:rPr sz="2180" i="1" spc="-7" dirty="0">
                <a:latin typeface="Times New Roman"/>
                <a:cs typeface="Times New Roman"/>
              </a:rPr>
              <a:t>W</a:t>
            </a:r>
            <a:r>
              <a:rPr sz="2320" spc="-11" baseline="-20202" dirty="0">
                <a:latin typeface="Times New Roman"/>
                <a:cs typeface="Times New Roman"/>
              </a:rPr>
              <a:t>2</a:t>
            </a:r>
            <a:r>
              <a:rPr sz="2180" i="1" spc="-7" dirty="0">
                <a:latin typeface="Times New Roman"/>
                <a:cs typeface="Times New Roman"/>
              </a:rPr>
              <a:t>h</a:t>
            </a:r>
            <a:r>
              <a:rPr sz="2320" spc="-11" baseline="29040" dirty="0">
                <a:latin typeface="Times New Roman"/>
                <a:cs typeface="Times New Roman"/>
              </a:rPr>
              <a:t>(</a:t>
            </a:r>
            <a:r>
              <a:rPr sz="2320" i="1" spc="-11" baseline="29040" dirty="0">
                <a:latin typeface="Times New Roman"/>
                <a:cs typeface="Times New Roman"/>
              </a:rPr>
              <a:t>t</a:t>
            </a:r>
            <a:r>
              <a:rPr sz="2320" spc="-11" baseline="29040" dirty="0">
                <a:latin typeface="Times New Roman"/>
                <a:cs typeface="Times New Roman"/>
              </a:rPr>
              <a:t>)</a:t>
            </a:r>
            <a:r>
              <a:rPr sz="2180" spc="-7" dirty="0">
                <a:latin typeface="Times New Roman"/>
                <a:cs typeface="Times New Roman"/>
              </a:rPr>
              <a:t>)</a:t>
            </a:r>
            <a:endParaRPr sz="218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9558364" y="1916833"/>
            <a:ext cx="567035" cy="636073"/>
          </a:xfrm>
          <a:prstGeom prst="rect">
            <a:avLst/>
          </a:prstGeom>
        </p:spPr>
        <p:txBody>
          <a:bodyPr vert="horz" wrap="square" lIns="0" tIns="43308" rIns="0" bIns="0" rtlCol="0">
            <a:spAutoFit/>
          </a:bodyPr>
          <a:lstStyle/>
          <a:p>
            <a:pPr marL="295562">
              <a:spcBef>
                <a:spcPts val="340"/>
              </a:spcBef>
            </a:pPr>
            <a:r>
              <a:rPr sz="1336" spc="-21" dirty="0">
                <a:solidFill>
                  <a:srgbClr val="177245"/>
                </a:solidFill>
                <a:latin typeface="Arial"/>
                <a:cs typeface="Arial"/>
              </a:rPr>
              <a:t>zoo</a:t>
            </a:r>
            <a:endParaRPr sz="1336" dirty="0">
              <a:latin typeface="Arial"/>
              <a:cs typeface="Arial"/>
            </a:endParaRPr>
          </a:p>
          <a:p>
            <a:pPr marL="26788">
              <a:spcBef>
                <a:spcPts val="418"/>
              </a:spcBef>
            </a:pPr>
            <a:r>
              <a:rPr sz="2180" i="1" spc="-18" dirty="0">
                <a:latin typeface="Times New Roman"/>
                <a:cs typeface="Times New Roman"/>
              </a:rPr>
              <a:t>W</a:t>
            </a:r>
            <a:r>
              <a:rPr sz="2320" spc="-26" baseline="-20202" dirty="0">
                <a:latin typeface="Times New Roman"/>
                <a:cs typeface="Times New Roman"/>
              </a:rPr>
              <a:t>2</a:t>
            </a:r>
            <a:endParaRPr sz="2320" baseline="-20202" dirty="0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1616633" y="3165658"/>
            <a:ext cx="3457129" cy="892969"/>
          </a:xfrm>
          <a:custGeom>
            <a:avLst/>
            <a:gdLst/>
            <a:ahLst/>
            <a:cxnLst/>
            <a:rect l="l" t="t" r="r" b="b"/>
            <a:pathLst>
              <a:path w="4916805" h="1270000">
                <a:moveTo>
                  <a:pt x="4916666" y="0"/>
                </a:moveTo>
                <a:lnTo>
                  <a:pt x="0" y="0"/>
                </a:lnTo>
                <a:lnTo>
                  <a:pt x="0" y="1270000"/>
                </a:lnTo>
                <a:lnTo>
                  <a:pt x="4916666" y="1270000"/>
                </a:lnTo>
                <a:lnTo>
                  <a:pt x="49166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 txBox="1"/>
          <p:nvPr/>
        </p:nvSpPr>
        <p:spPr>
          <a:xfrm>
            <a:off x="1754417" y="2546557"/>
            <a:ext cx="2943225" cy="2257323"/>
          </a:xfrm>
          <a:prstGeom prst="rect">
            <a:avLst/>
          </a:prstGeom>
        </p:spPr>
        <p:txBody>
          <a:bodyPr vert="horz" wrap="square" lIns="0" tIns="65633" rIns="0" bIns="0" rtlCol="0">
            <a:spAutoFit/>
          </a:bodyPr>
          <a:lstStyle/>
          <a:p>
            <a:pPr marL="200464">
              <a:spcBef>
                <a:spcPts val="517"/>
              </a:spcBef>
            </a:pPr>
            <a:r>
              <a:rPr sz="1723" spc="-53" dirty="0">
                <a:solidFill>
                  <a:srgbClr val="A4001D"/>
                </a:solidFill>
                <a:latin typeface="Arial"/>
                <a:cs typeface="Arial"/>
              </a:rPr>
              <a:t>hidden</a:t>
            </a:r>
            <a:r>
              <a:rPr sz="1723" spc="-46" dirty="0">
                <a:solidFill>
                  <a:srgbClr val="A4001D"/>
                </a:solidFill>
                <a:latin typeface="Arial"/>
                <a:cs typeface="Arial"/>
              </a:rPr>
              <a:t> </a:t>
            </a:r>
            <a:r>
              <a:rPr sz="1723" spc="-7" dirty="0">
                <a:solidFill>
                  <a:srgbClr val="A4001D"/>
                </a:solidFill>
                <a:latin typeface="Arial"/>
                <a:cs typeface="Arial"/>
              </a:rPr>
              <a:t>states</a:t>
            </a:r>
            <a:endParaRPr sz="1723" dirty="0">
              <a:latin typeface="Arial"/>
              <a:cs typeface="Arial"/>
            </a:endParaRPr>
          </a:p>
          <a:p>
            <a:pPr marL="44647">
              <a:spcBef>
                <a:spcPts val="548"/>
              </a:spcBef>
            </a:pPr>
            <a:r>
              <a:rPr sz="2180" i="1" dirty="0">
                <a:latin typeface="Times New Roman"/>
                <a:cs typeface="Times New Roman"/>
              </a:rPr>
              <a:t>h</a:t>
            </a:r>
            <a:r>
              <a:rPr sz="2320" baseline="29040" dirty="0">
                <a:latin typeface="Times New Roman"/>
                <a:cs typeface="Times New Roman"/>
              </a:rPr>
              <a:t>(</a:t>
            </a:r>
            <a:r>
              <a:rPr sz="2320" i="1" baseline="29040" dirty="0">
                <a:latin typeface="Times New Roman"/>
                <a:cs typeface="Times New Roman"/>
              </a:rPr>
              <a:t>t</a:t>
            </a:r>
            <a:r>
              <a:rPr sz="2320" baseline="29040" dirty="0">
                <a:latin typeface="Times New Roman"/>
                <a:cs typeface="Times New Roman"/>
              </a:rPr>
              <a:t>)</a:t>
            </a:r>
            <a:r>
              <a:rPr sz="2320" spc="380" baseline="29040" dirty="0">
                <a:latin typeface="Times New Roman"/>
                <a:cs typeface="Times New Roman"/>
              </a:rPr>
              <a:t> </a:t>
            </a:r>
            <a:r>
              <a:rPr sz="2180" spc="257" dirty="0">
                <a:latin typeface="Times New Roman"/>
                <a:cs typeface="Times New Roman"/>
              </a:rPr>
              <a:t>=</a:t>
            </a:r>
            <a:r>
              <a:rPr sz="2180" spc="95" dirty="0">
                <a:latin typeface="Times New Roman"/>
                <a:cs typeface="Times New Roman"/>
              </a:rPr>
              <a:t> </a:t>
            </a:r>
            <a:r>
              <a:rPr sz="2180" i="1" spc="32" dirty="0">
                <a:latin typeface="Times New Roman"/>
                <a:cs typeface="Times New Roman"/>
              </a:rPr>
              <a:t>f</a:t>
            </a:r>
            <a:r>
              <a:rPr sz="2180" spc="32" dirty="0">
                <a:latin typeface="Times New Roman"/>
                <a:cs typeface="Times New Roman"/>
              </a:rPr>
              <a:t>(</a:t>
            </a:r>
            <a:r>
              <a:rPr sz="2180" i="1" spc="32" dirty="0">
                <a:latin typeface="Times New Roman"/>
                <a:cs typeface="Times New Roman"/>
              </a:rPr>
              <a:t>W</a:t>
            </a:r>
            <a:r>
              <a:rPr sz="2320" i="1" spc="47" baseline="-20202" dirty="0">
                <a:latin typeface="Times New Roman"/>
                <a:cs typeface="Times New Roman"/>
              </a:rPr>
              <a:t>h</a:t>
            </a:r>
            <a:r>
              <a:rPr sz="2180" i="1" spc="32" dirty="0">
                <a:latin typeface="Times New Roman"/>
                <a:cs typeface="Times New Roman"/>
              </a:rPr>
              <a:t>h</a:t>
            </a:r>
            <a:r>
              <a:rPr sz="2320" spc="47" baseline="29040" dirty="0">
                <a:latin typeface="Times New Roman"/>
                <a:cs typeface="Times New Roman"/>
              </a:rPr>
              <a:t>(</a:t>
            </a:r>
            <a:r>
              <a:rPr sz="2320" i="1" spc="47" baseline="29040" dirty="0">
                <a:latin typeface="Times New Roman"/>
                <a:cs typeface="Times New Roman"/>
              </a:rPr>
              <a:t>t</a:t>
            </a:r>
            <a:r>
              <a:rPr sz="2320" spc="47" baseline="29040" dirty="0">
                <a:latin typeface="Times New Roman"/>
                <a:cs typeface="Times New Roman"/>
              </a:rPr>
              <a:t>−1)</a:t>
            </a:r>
            <a:r>
              <a:rPr sz="2320" spc="184" baseline="29040" dirty="0">
                <a:latin typeface="Times New Roman"/>
                <a:cs typeface="Times New Roman"/>
              </a:rPr>
              <a:t> </a:t>
            </a:r>
            <a:r>
              <a:rPr sz="2180" spc="257" dirty="0">
                <a:latin typeface="Times New Roman"/>
                <a:cs typeface="Times New Roman"/>
              </a:rPr>
              <a:t>+</a:t>
            </a:r>
            <a:r>
              <a:rPr sz="2180" spc="-35" dirty="0">
                <a:latin typeface="Times New Roman"/>
                <a:cs typeface="Times New Roman"/>
              </a:rPr>
              <a:t> </a:t>
            </a:r>
            <a:r>
              <a:rPr sz="2180" i="1" spc="-7" dirty="0">
                <a:latin typeface="Times New Roman"/>
                <a:cs typeface="Times New Roman"/>
              </a:rPr>
              <a:t>W</a:t>
            </a:r>
            <a:r>
              <a:rPr sz="2320" i="1" spc="-11" baseline="-20202" dirty="0">
                <a:latin typeface="Times New Roman"/>
                <a:cs typeface="Times New Roman"/>
              </a:rPr>
              <a:t>e</a:t>
            </a:r>
            <a:r>
              <a:rPr sz="2180" i="1" spc="-7" dirty="0">
                <a:latin typeface="Times New Roman"/>
                <a:cs typeface="Times New Roman"/>
              </a:rPr>
              <a:t>c</a:t>
            </a:r>
            <a:r>
              <a:rPr sz="2320" i="1" spc="-11" baseline="-20202" dirty="0">
                <a:latin typeface="Times New Roman"/>
                <a:cs typeface="Times New Roman"/>
              </a:rPr>
              <a:t>t</a:t>
            </a:r>
            <a:r>
              <a:rPr sz="2180" spc="-7" dirty="0">
                <a:latin typeface="Times New Roman"/>
                <a:cs typeface="Times New Roman"/>
              </a:rPr>
              <a:t>)</a:t>
            </a:r>
            <a:endParaRPr sz="2180" dirty="0">
              <a:latin typeface="Times New Roman"/>
              <a:cs typeface="Times New Roman"/>
            </a:endParaRPr>
          </a:p>
          <a:p>
            <a:pPr marL="69649">
              <a:spcBef>
                <a:spcPts val="939"/>
              </a:spcBef>
            </a:pPr>
            <a:r>
              <a:rPr sz="2039" dirty="0">
                <a:latin typeface="Helvetica Neue"/>
                <a:cs typeface="Helvetica Neue"/>
              </a:rPr>
              <a:t>h</a:t>
            </a:r>
            <a:r>
              <a:rPr sz="2004" baseline="20467" dirty="0">
                <a:latin typeface="Helvetica Neue"/>
                <a:cs typeface="Helvetica Neue"/>
              </a:rPr>
              <a:t>(0)</a:t>
            </a:r>
            <a:r>
              <a:rPr sz="2004" spc="290" baseline="20467" dirty="0">
                <a:latin typeface="Helvetica Neue"/>
                <a:cs typeface="Helvetica Neue"/>
              </a:rPr>
              <a:t> </a:t>
            </a:r>
            <a:r>
              <a:rPr sz="2039" dirty="0">
                <a:latin typeface="Helvetica Neue"/>
                <a:cs typeface="Helvetica Neue"/>
              </a:rPr>
              <a:t>is</a:t>
            </a:r>
            <a:r>
              <a:rPr sz="2039" spc="4" dirty="0">
                <a:latin typeface="Helvetica Neue"/>
                <a:cs typeface="Helvetica Neue"/>
              </a:rPr>
              <a:t> </a:t>
            </a:r>
            <a:r>
              <a:rPr sz="2039" dirty="0">
                <a:latin typeface="Helvetica Neue"/>
                <a:cs typeface="Helvetica Neue"/>
              </a:rPr>
              <a:t>initial</a:t>
            </a:r>
            <a:r>
              <a:rPr sz="2039" spc="4" dirty="0">
                <a:latin typeface="Helvetica Neue"/>
                <a:cs typeface="Helvetica Neue"/>
              </a:rPr>
              <a:t> </a:t>
            </a:r>
            <a:r>
              <a:rPr sz="2039" dirty="0">
                <a:latin typeface="Helvetica Neue"/>
                <a:cs typeface="Helvetica Neue"/>
              </a:rPr>
              <a:t>hidden</a:t>
            </a:r>
            <a:r>
              <a:rPr sz="2039" spc="4" dirty="0">
                <a:latin typeface="Helvetica Neue"/>
                <a:cs typeface="Helvetica Neue"/>
              </a:rPr>
              <a:t> </a:t>
            </a:r>
            <a:r>
              <a:rPr sz="2039" spc="-7" dirty="0">
                <a:latin typeface="Helvetica Neue"/>
                <a:cs typeface="Helvetica Neue"/>
              </a:rPr>
              <a:t>state!</a:t>
            </a:r>
            <a:endParaRPr sz="2039" dirty="0">
              <a:latin typeface="Helvetica Neue"/>
              <a:cs typeface="Helvetica Neue"/>
            </a:endParaRPr>
          </a:p>
          <a:p>
            <a:pPr>
              <a:spcBef>
                <a:spcPts val="39"/>
              </a:spcBef>
            </a:pPr>
            <a:endParaRPr sz="3129" dirty="0">
              <a:latin typeface="Helvetica Neue"/>
              <a:cs typeface="Helvetica Neue"/>
            </a:endParaRPr>
          </a:p>
          <a:p>
            <a:pPr marL="200464">
              <a:lnSpc>
                <a:spcPts val="1930"/>
              </a:lnSpc>
            </a:pPr>
            <a:r>
              <a:rPr sz="1723" spc="-35" dirty="0">
                <a:solidFill>
                  <a:srgbClr val="0047B6"/>
                </a:solidFill>
                <a:latin typeface="Arial"/>
                <a:cs typeface="Arial"/>
              </a:rPr>
              <a:t>word</a:t>
            </a:r>
            <a:r>
              <a:rPr sz="1723" spc="-70" dirty="0">
                <a:solidFill>
                  <a:srgbClr val="0047B6"/>
                </a:solidFill>
                <a:latin typeface="Arial"/>
                <a:cs typeface="Arial"/>
              </a:rPr>
              <a:t> </a:t>
            </a:r>
            <a:r>
              <a:rPr sz="1723" spc="-7" dirty="0">
                <a:solidFill>
                  <a:srgbClr val="0047B6"/>
                </a:solidFill>
                <a:latin typeface="Arial"/>
                <a:cs typeface="Arial"/>
              </a:rPr>
              <a:t>embeddings</a:t>
            </a:r>
            <a:endParaRPr sz="1723" dirty="0">
              <a:latin typeface="Arial"/>
              <a:cs typeface="Arial"/>
            </a:endParaRPr>
          </a:p>
          <a:p>
            <a:pPr marL="447808">
              <a:lnSpc>
                <a:spcPts val="2900"/>
              </a:lnSpc>
            </a:pP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1</a:t>
            </a:r>
            <a:r>
              <a:rPr sz="2531" spc="-35" dirty="0">
                <a:latin typeface="Times New Roman"/>
                <a:cs typeface="Times New Roman"/>
              </a:rPr>
              <a:t>,</a:t>
            </a:r>
            <a:r>
              <a:rPr sz="2531" spc="-197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2</a:t>
            </a:r>
            <a:r>
              <a:rPr sz="2531" spc="-35" dirty="0">
                <a:latin typeface="Times New Roman"/>
                <a:cs typeface="Times New Roman"/>
              </a:rPr>
              <a:t>,</a:t>
            </a:r>
            <a:r>
              <a:rPr sz="2531" spc="-197" dirty="0">
                <a:latin typeface="Times New Roman"/>
                <a:cs typeface="Times New Roman"/>
              </a:rPr>
              <a:t> 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689" spc="-53" baseline="-19607" dirty="0">
                <a:latin typeface="Times New Roman"/>
                <a:cs typeface="Times New Roman"/>
              </a:rPr>
              <a:t>3</a:t>
            </a:r>
            <a:r>
              <a:rPr sz="2531" spc="-35" dirty="0">
                <a:latin typeface="Times New Roman"/>
                <a:cs typeface="Times New Roman"/>
              </a:rPr>
              <a:t>,</a:t>
            </a:r>
            <a:r>
              <a:rPr sz="2531" spc="-197" dirty="0">
                <a:latin typeface="Times New Roman"/>
                <a:cs typeface="Times New Roman"/>
              </a:rPr>
              <a:t> </a:t>
            </a:r>
            <a:r>
              <a:rPr sz="2531" i="1" spc="-18" dirty="0">
                <a:latin typeface="Times New Roman"/>
                <a:cs typeface="Times New Roman"/>
              </a:rPr>
              <a:t>c</a:t>
            </a:r>
            <a:r>
              <a:rPr sz="2689" spc="-26" baseline="-19607" dirty="0">
                <a:latin typeface="Times New Roman"/>
                <a:cs typeface="Times New Roman"/>
              </a:rPr>
              <a:t>4</a:t>
            </a:r>
            <a:endParaRPr sz="2689" baseline="-19607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86701" y="687790"/>
            <a:ext cx="424160" cy="216390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8929">
              <a:spcBef>
                <a:spcPts val="84"/>
              </a:spcBef>
            </a:pPr>
            <a:r>
              <a:rPr sz="1336" i="1" spc="-70" dirty="0">
                <a:solidFill>
                  <a:srgbClr val="177245"/>
                </a:solidFill>
                <a:latin typeface="Arial"/>
                <a:cs typeface="Arial"/>
              </a:rPr>
              <a:t>books</a:t>
            </a:r>
            <a:endParaRPr sz="133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58192" y="870043"/>
            <a:ext cx="532656" cy="216390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8929">
              <a:spcBef>
                <a:spcPts val="84"/>
              </a:spcBef>
            </a:pPr>
            <a:r>
              <a:rPr sz="1336" i="1" spc="-35" dirty="0">
                <a:solidFill>
                  <a:srgbClr val="177245"/>
                </a:solidFill>
                <a:latin typeface="Arial"/>
                <a:cs typeface="Arial"/>
              </a:rPr>
              <a:t>laptops</a:t>
            </a:r>
            <a:endParaRPr sz="1336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806244" y="916597"/>
            <a:ext cx="2024360" cy="968871"/>
            <a:chOff x="9489804" y="1303604"/>
            <a:chExt cx="2879090" cy="1377950"/>
          </a:xfrm>
        </p:grpSpPr>
        <p:sp>
          <p:nvSpPr>
            <p:cNvPr id="6" name="object 6"/>
            <p:cNvSpPr/>
            <p:nvPr/>
          </p:nvSpPr>
          <p:spPr>
            <a:xfrm>
              <a:off x="9996805" y="1303603"/>
              <a:ext cx="1278255" cy="643255"/>
            </a:xfrm>
            <a:custGeom>
              <a:avLst/>
              <a:gdLst/>
              <a:ahLst/>
              <a:cxnLst/>
              <a:rect l="l" t="t" r="r" b="b"/>
              <a:pathLst>
                <a:path w="1278254" h="643255">
                  <a:moveTo>
                    <a:pt x="104444" y="296887"/>
                  </a:moveTo>
                  <a:lnTo>
                    <a:pt x="58750" y="296964"/>
                  </a:lnTo>
                  <a:lnTo>
                    <a:pt x="58280" y="0"/>
                  </a:lnTo>
                  <a:lnTo>
                    <a:pt x="45224" y="25"/>
                  </a:lnTo>
                  <a:lnTo>
                    <a:pt x="45694" y="296976"/>
                  </a:lnTo>
                  <a:lnTo>
                    <a:pt x="0" y="297053"/>
                  </a:lnTo>
                  <a:lnTo>
                    <a:pt x="52387" y="401421"/>
                  </a:lnTo>
                  <a:lnTo>
                    <a:pt x="104444" y="296887"/>
                  </a:lnTo>
                  <a:close/>
                </a:path>
                <a:path w="1278254" h="643255">
                  <a:moveTo>
                    <a:pt x="1278204" y="538200"/>
                  </a:moveTo>
                  <a:lnTo>
                    <a:pt x="1232509" y="538200"/>
                  </a:lnTo>
                  <a:lnTo>
                    <a:pt x="1232509" y="323113"/>
                  </a:lnTo>
                  <a:lnTo>
                    <a:pt x="1219454" y="323113"/>
                  </a:lnTo>
                  <a:lnTo>
                    <a:pt x="1219454" y="538200"/>
                  </a:lnTo>
                  <a:lnTo>
                    <a:pt x="1173746" y="538200"/>
                  </a:lnTo>
                  <a:lnTo>
                    <a:pt x="1225981" y="642645"/>
                  </a:lnTo>
                  <a:lnTo>
                    <a:pt x="1278204" y="538200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24653" y="1946243"/>
              <a:ext cx="196850" cy="726440"/>
            </a:xfrm>
            <a:custGeom>
              <a:avLst/>
              <a:gdLst/>
              <a:ahLst/>
              <a:cxnLst/>
              <a:rect l="l" t="t" r="r" b="b"/>
              <a:pathLst>
                <a:path w="196850" h="726439">
                  <a:moveTo>
                    <a:pt x="196266" y="0"/>
                  </a:moveTo>
                  <a:lnTo>
                    <a:pt x="0" y="0"/>
                  </a:lnTo>
                  <a:lnTo>
                    <a:pt x="0" y="726066"/>
                  </a:lnTo>
                  <a:lnTo>
                    <a:pt x="196266" y="726066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124653" y="1946243"/>
              <a:ext cx="196850" cy="726440"/>
            </a:xfrm>
            <a:custGeom>
              <a:avLst/>
              <a:gdLst/>
              <a:ahLst/>
              <a:cxnLst/>
              <a:rect l="l" t="t" r="r" b="b"/>
              <a:pathLst>
                <a:path w="196850" h="726439">
                  <a:moveTo>
                    <a:pt x="0" y="0"/>
                  </a:moveTo>
                  <a:lnTo>
                    <a:pt x="196266" y="0"/>
                  </a:lnTo>
                  <a:lnTo>
                    <a:pt x="196266" y="726066"/>
                  </a:lnTo>
                  <a:lnTo>
                    <a:pt x="0" y="726066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125321" y="2655071"/>
              <a:ext cx="194945" cy="17780"/>
            </a:xfrm>
            <a:custGeom>
              <a:avLst/>
              <a:gdLst/>
              <a:ahLst/>
              <a:cxnLst/>
              <a:rect l="l" t="t" r="r" b="b"/>
              <a:pathLst>
                <a:path w="194945" h="17780">
                  <a:moveTo>
                    <a:pt x="0" y="17238"/>
                  </a:moveTo>
                  <a:lnTo>
                    <a:pt x="194930" y="17238"/>
                  </a:lnTo>
                  <a:lnTo>
                    <a:pt x="194930" y="0"/>
                  </a:lnTo>
                  <a:lnTo>
                    <a:pt x="0" y="0"/>
                  </a:lnTo>
                  <a:lnTo>
                    <a:pt x="0" y="17238"/>
                  </a:lnTo>
                  <a:close/>
                </a:path>
              </a:pathLst>
            </a:custGeom>
            <a:solidFill>
              <a:srgbClr val="177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125321" y="2670219"/>
              <a:ext cx="194945" cy="0"/>
            </a:xfrm>
            <a:custGeom>
              <a:avLst/>
              <a:gdLst/>
              <a:ahLst/>
              <a:cxnLst/>
              <a:rect l="l" t="t" r="r" b="b"/>
              <a:pathLst>
                <a:path w="194945">
                  <a:moveTo>
                    <a:pt x="0" y="0"/>
                  </a:moveTo>
                  <a:lnTo>
                    <a:pt x="194930" y="0"/>
                  </a:lnTo>
                </a:path>
              </a:pathLst>
            </a:custGeom>
            <a:ln w="418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489804" y="2663690"/>
              <a:ext cx="461645" cy="0"/>
            </a:xfrm>
            <a:custGeom>
              <a:avLst/>
              <a:gdLst/>
              <a:ahLst/>
              <a:cxnLst/>
              <a:rect l="l" t="t" r="r" b="b"/>
              <a:pathLst>
                <a:path w="461645">
                  <a:moveTo>
                    <a:pt x="0" y="0"/>
                  </a:moveTo>
                  <a:lnTo>
                    <a:pt x="461257" y="0"/>
                  </a:lnTo>
                </a:path>
              </a:pathLst>
            </a:custGeom>
            <a:ln w="17238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89804" y="2670219"/>
              <a:ext cx="657225" cy="0"/>
            </a:xfrm>
            <a:custGeom>
              <a:avLst/>
              <a:gdLst/>
              <a:ahLst/>
              <a:cxnLst/>
              <a:rect l="l" t="t" r="r" b="b"/>
              <a:pathLst>
                <a:path w="657225">
                  <a:moveTo>
                    <a:pt x="0" y="0"/>
                  </a:moveTo>
                  <a:lnTo>
                    <a:pt x="656856" y="0"/>
                  </a:lnTo>
                </a:path>
              </a:pathLst>
            </a:custGeom>
            <a:ln w="418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103312" y="2663690"/>
              <a:ext cx="265430" cy="0"/>
            </a:xfrm>
            <a:custGeom>
              <a:avLst/>
              <a:gdLst/>
              <a:ahLst/>
              <a:cxnLst/>
              <a:rect l="l" t="t" r="r" b="b"/>
              <a:pathLst>
                <a:path w="265429">
                  <a:moveTo>
                    <a:pt x="0" y="0"/>
                  </a:moveTo>
                  <a:lnTo>
                    <a:pt x="264993" y="0"/>
                  </a:lnTo>
                </a:path>
              </a:pathLst>
            </a:custGeom>
            <a:ln w="17238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103312" y="2670219"/>
              <a:ext cx="265430" cy="0"/>
            </a:xfrm>
            <a:custGeom>
              <a:avLst/>
              <a:gdLst/>
              <a:ahLst/>
              <a:cxnLst/>
              <a:rect l="l" t="t" r="r" b="b"/>
              <a:pathLst>
                <a:path w="265429">
                  <a:moveTo>
                    <a:pt x="0" y="0"/>
                  </a:moveTo>
                  <a:lnTo>
                    <a:pt x="264993" y="0"/>
                  </a:lnTo>
                </a:path>
              </a:pathLst>
            </a:custGeom>
            <a:ln w="418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489804" y="2678838"/>
              <a:ext cx="2879090" cy="0"/>
            </a:xfrm>
            <a:custGeom>
              <a:avLst/>
              <a:gdLst/>
              <a:ahLst/>
              <a:cxnLst/>
              <a:rect l="l" t="t" r="r" b="b"/>
              <a:pathLst>
                <a:path w="2879090">
                  <a:moveTo>
                    <a:pt x="0" y="0"/>
                  </a:moveTo>
                  <a:lnTo>
                    <a:pt x="2878501" y="0"/>
                  </a:lnTo>
                </a:path>
              </a:pathLst>
            </a:custGeom>
            <a:ln w="4181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755463" y="2552376"/>
              <a:ext cx="196850" cy="120014"/>
            </a:xfrm>
            <a:custGeom>
              <a:avLst/>
              <a:gdLst/>
              <a:ahLst/>
              <a:cxnLst/>
              <a:rect l="l" t="t" r="r" b="b"/>
              <a:pathLst>
                <a:path w="196850" h="120014">
                  <a:moveTo>
                    <a:pt x="196266" y="0"/>
                  </a:moveTo>
                  <a:lnTo>
                    <a:pt x="0" y="0"/>
                  </a:lnTo>
                  <a:lnTo>
                    <a:pt x="0" y="119933"/>
                  </a:lnTo>
                  <a:lnTo>
                    <a:pt x="196266" y="119933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55463" y="2552376"/>
              <a:ext cx="196850" cy="120014"/>
            </a:xfrm>
            <a:custGeom>
              <a:avLst/>
              <a:gdLst/>
              <a:ahLst/>
              <a:cxnLst/>
              <a:rect l="l" t="t" r="r" b="b"/>
              <a:pathLst>
                <a:path w="196850" h="120014">
                  <a:moveTo>
                    <a:pt x="0" y="0"/>
                  </a:moveTo>
                  <a:lnTo>
                    <a:pt x="196266" y="0"/>
                  </a:lnTo>
                  <a:lnTo>
                    <a:pt x="196266" y="119933"/>
                  </a:lnTo>
                  <a:lnTo>
                    <a:pt x="0" y="119933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951062" y="1705020"/>
              <a:ext cx="196850" cy="967740"/>
            </a:xfrm>
            <a:custGeom>
              <a:avLst/>
              <a:gdLst/>
              <a:ahLst/>
              <a:cxnLst/>
              <a:rect l="l" t="t" r="r" b="b"/>
              <a:pathLst>
                <a:path w="196850" h="967739">
                  <a:moveTo>
                    <a:pt x="196266" y="0"/>
                  </a:moveTo>
                  <a:lnTo>
                    <a:pt x="0" y="0"/>
                  </a:lnTo>
                  <a:lnTo>
                    <a:pt x="0" y="967289"/>
                  </a:lnTo>
                  <a:lnTo>
                    <a:pt x="196266" y="967289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951062" y="1705019"/>
              <a:ext cx="196850" cy="967740"/>
            </a:xfrm>
            <a:custGeom>
              <a:avLst/>
              <a:gdLst/>
              <a:ahLst/>
              <a:cxnLst/>
              <a:rect l="l" t="t" r="r" b="b"/>
              <a:pathLst>
                <a:path w="196850" h="967739">
                  <a:moveTo>
                    <a:pt x="0" y="0"/>
                  </a:moveTo>
                  <a:lnTo>
                    <a:pt x="196266" y="0"/>
                  </a:lnTo>
                  <a:lnTo>
                    <a:pt x="196266" y="967289"/>
                  </a:lnTo>
                  <a:lnTo>
                    <a:pt x="0" y="967289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146661" y="2422213"/>
              <a:ext cx="196850" cy="250190"/>
            </a:xfrm>
            <a:custGeom>
              <a:avLst/>
              <a:gdLst/>
              <a:ahLst/>
              <a:cxnLst/>
              <a:rect l="l" t="t" r="r" b="b"/>
              <a:pathLst>
                <a:path w="196850" h="250189">
                  <a:moveTo>
                    <a:pt x="196266" y="0"/>
                  </a:moveTo>
                  <a:lnTo>
                    <a:pt x="0" y="0"/>
                  </a:lnTo>
                  <a:lnTo>
                    <a:pt x="0" y="250096"/>
                  </a:lnTo>
                  <a:lnTo>
                    <a:pt x="196266" y="250096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146661" y="2422212"/>
              <a:ext cx="196850" cy="250190"/>
            </a:xfrm>
            <a:custGeom>
              <a:avLst/>
              <a:gdLst/>
              <a:ahLst/>
              <a:cxnLst/>
              <a:rect l="l" t="t" r="r" b="b"/>
              <a:pathLst>
                <a:path w="196850" h="250189">
                  <a:moveTo>
                    <a:pt x="0" y="0"/>
                  </a:moveTo>
                  <a:lnTo>
                    <a:pt x="196266" y="0"/>
                  </a:lnTo>
                  <a:lnTo>
                    <a:pt x="196266" y="250096"/>
                  </a:lnTo>
                  <a:lnTo>
                    <a:pt x="0" y="250096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342260" y="2273829"/>
              <a:ext cx="196850" cy="398780"/>
            </a:xfrm>
            <a:custGeom>
              <a:avLst/>
              <a:gdLst/>
              <a:ahLst/>
              <a:cxnLst/>
              <a:rect l="l" t="t" r="r" b="b"/>
              <a:pathLst>
                <a:path w="196850" h="398780">
                  <a:moveTo>
                    <a:pt x="196266" y="0"/>
                  </a:moveTo>
                  <a:lnTo>
                    <a:pt x="0" y="0"/>
                  </a:lnTo>
                  <a:lnTo>
                    <a:pt x="0" y="398480"/>
                  </a:lnTo>
                  <a:lnTo>
                    <a:pt x="196266" y="398480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342260" y="2273829"/>
              <a:ext cx="196850" cy="398780"/>
            </a:xfrm>
            <a:custGeom>
              <a:avLst/>
              <a:gdLst/>
              <a:ahLst/>
              <a:cxnLst/>
              <a:rect l="l" t="t" r="r" b="b"/>
              <a:pathLst>
                <a:path w="196850" h="398780">
                  <a:moveTo>
                    <a:pt x="0" y="0"/>
                  </a:moveTo>
                  <a:lnTo>
                    <a:pt x="196266" y="0"/>
                  </a:lnTo>
                  <a:lnTo>
                    <a:pt x="196266" y="398480"/>
                  </a:lnTo>
                  <a:lnTo>
                    <a:pt x="0" y="398480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537856" y="2552376"/>
              <a:ext cx="196850" cy="120014"/>
            </a:xfrm>
            <a:custGeom>
              <a:avLst/>
              <a:gdLst/>
              <a:ahLst/>
              <a:cxnLst/>
              <a:rect l="l" t="t" r="r" b="b"/>
              <a:pathLst>
                <a:path w="196850" h="120014">
                  <a:moveTo>
                    <a:pt x="196266" y="0"/>
                  </a:moveTo>
                  <a:lnTo>
                    <a:pt x="0" y="0"/>
                  </a:lnTo>
                  <a:lnTo>
                    <a:pt x="0" y="119933"/>
                  </a:lnTo>
                  <a:lnTo>
                    <a:pt x="196266" y="119933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537856" y="2552376"/>
              <a:ext cx="196850" cy="120014"/>
            </a:xfrm>
            <a:custGeom>
              <a:avLst/>
              <a:gdLst/>
              <a:ahLst/>
              <a:cxnLst/>
              <a:rect l="l" t="t" r="r" b="b"/>
              <a:pathLst>
                <a:path w="196850" h="120014">
                  <a:moveTo>
                    <a:pt x="0" y="0"/>
                  </a:moveTo>
                  <a:lnTo>
                    <a:pt x="196266" y="0"/>
                  </a:lnTo>
                  <a:lnTo>
                    <a:pt x="196266" y="119933"/>
                  </a:lnTo>
                  <a:lnTo>
                    <a:pt x="0" y="119933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733455" y="2241176"/>
              <a:ext cx="196850" cy="431165"/>
            </a:xfrm>
            <a:custGeom>
              <a:avLst/>
              <a:gdLst/>
              <a:ahLst/>
              <a:cxnLst/>
              <a:rect l="l" t="t" r="r" b="b"/>
              <a:pathLst>
                <a:path w="196850" h="431164">
                  <a:moveTo>
                    <a:pt x="196266" y="0"/>
                  </a:moveTo>
                  <a:lnTo>
                    <a:pt x="0" y="0"/>
                  </a:lnTo>
                  <a:lnTo>
                    <a:pt x="0" y="431133"/>
                  </a:lnTo>
                  <a:lnTo>
                    <a:pt x="196266" y="431133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733455" y="2241175"/>
              <a:ext cx="196850" cy="431165"/>
            </a:xfrm>
            <a:custGeom>
              <a:avLst/>
              <a:gdLst/>
              <a:ahLst/>
              <a:cxnLst/>
              <a:rect l="l" t="t" r="r" b="b"/>
              <a:pathLst>
                <a:path w="196850" h="431164">
                  <a:moveTo>
                    <a:pt x="0" y="0"/>
                  </a:moveTo>
                  <a:lnTo>
                    <a:pt x="196266" y="0"/>
                  </a:lnTo>
                  <a:lnTo>
                    <a:pt x="196266" y="431133"/>
                  </a:lnTo>
                  <a:lnTo>
                    <a:pt x="0" y="431133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929054" y="2273828"/>
              <a:ext cx="196850" cy="398780"/>
            </a:xfrm>
            <a:custGeom>
              <a:avLst/>
              <a:gdLst/>
              <a:ahLst/>
              <a:cxnLst/>
              <a:rect l="l" t="t" r="r" b="b"/>
              <a:pathLst>
                <a:path w="196850" h="398780">
                  <a:moveTo>
                    <a:pt x="196266" y="0"/>
                  </a:moveTo>
                  <a:lnTo>
                    <a:pt x="0" y="0"/>
                  </a:lnTo>
                  <a:lnTo>
                    <a:pt x="0" y="398481"/>
                  </a:lnTo>
                  <a:lnTo>
                    <a:pt x="196266" y="398481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929054" y="2273828"/>
              <a:ext cx="196850" cy="398780"/>
            </a:xfrm>
            <a:custGeom>
              <a:avLst/>
              <a:gdLst/>
              <a:ahLst/>
              <a:cxnLst/>
              <a:rect l="l" t="t" r="r" b="b"/>
              <a:pathLst>
                <a:path w="196850" h="398780">
                  <a:moveTo>
                    <a:pt x="0" y="0"/>
                  </a:moveTo>
                  <a:lnTo>
                    <a:pt x="196266" y="0"/>
                  </a:lnTo>
                  <a:lnTo>
                    <a:pt x="196266" y="398481"/>
                  </a:lnTo>
                  <a:lnTo>
                    <a:pt x="0" y="398481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320251" y="2490991"/>
              <a:ext cx="196850" cy="181610"/>
            </a:xfrm>
            <a:custGeom>
              <a:avLst/>
              <a:gdLst/>
              <a:ahLst/>
              <a:cxnLst/>
              <a:rect l="l" t="t" r="r" b="b"/>
              <a:pathLst>
                <a:path w="196850" h="181610">
                  <a:moveTo>
                    <a:pt x="196266" y="0"/>
                  </a:moveTo>
                  <a:lnTo>
                    <a:pt x="0" y="0"/>
                  </a:lnTo>
                  <a:lnTo>
                    <a:pt x="0" y="181318"/>
                  </a:lnTo>
                  <a:lnTo>
                    <a:pt x="196266" y="181318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320251" y="2490990"/>
              <a:ext cx="196850" cy="181610"/>
            </a:xfrm>
            <a:custGeom>
              <a:avLst/>
              <a:gdLst/>
              <a:ahLst/>
              <a:cxnLst/>
              <a:rect l="l" t="t" r="r" b="b"/>
              <a:pathLst>
                <a:path w="196850" h="181610">
                  <a:moveTo>
                    <a:pt x="0" y="0"/>
                  </a:moveTo>
                  <a:lnTo>
                    <a:pt x="196266" y="0"/>
                  </a:lnTo>
                  <a:lnTo>
                    <a:pt x="196266" y="181318"/>
                  </a:lnTo>
                  <a:lnTo>
                    <a:pt x="0" y="181318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515850" y="2345900"/>
              <a:ext cx="196850" cy="327025"/>
            </a:xfrm>
            <a:custGeom>
              <a:avLst/>
              <a:gdLst/>
              <a:ahLst/>
              <a:cxnLst/>
              <a:rect l="l" t="t" r="r" b="b"/>
              <a:pathLst>
                <a:path w="196850" h="327025">
                  <a:moveTo>
                    <a:pt x="196266" y="0"/>
                  </a:moveTo>
                  <a:lnTo>
                    <a:pt x="0" y="0"/>
                  </a:lnTo>
                  <a:lnTo>
                    <a:pt x="0" y="326409"/>
                  </a:lnTo>
                  <a:lnTo>
                    <a:pt x="196266" y="326409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515850" y="2345900"/>
              <a:ext cx="196850" cy="327025"/>
            </a:xfrm>
            <a:custGeom>
              <a:avLst/>
              <a:gdLst/>
              <a:ahLst/>
              <a:cxnLst/>
              <a:rect l="l" t="t" r="r" b="b"/>
              <a:pathLst>
                <a:path w="196850" h="327025">
                  <a:moveTo>
                    <a:pt x="0" y="0"/>
                  </a:moveTo>
                  <a:lnTo>
                    <a:pt x="196266" y="0"/>
                  </a:lnTo>
                  <a:lnTo>
                    <a:pt x="196266" y="326409"/>
                  </a:lnTo>
                  <a:lnTo>
                    <a:pt x="0" y="326409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711449" y="2231578"/>
              <a:ext cx="196850" cy="441325"/>
            </a:xfrm>
            <a:custGeom>
              <a:avLst/>
              <a:gdLst/>
              <a:ahLst/>
              <a:cxnLst/>
              <a:rect l="l" t="t" r="r" b="b"/>
              <a:pathLst>
                <a:path w="196850" h="441325">
                  <a:moveTo>
                    <a:pt x="196266" y="0"/>
                  </a:moveTo>
                  <a:lnTo>
                    <a:pt x="0" y="0"/>
                  </a:lnTo>
                  <a:lnTo>
                    <a:pt x="0" y="440731"/>
                  </a:lnTo>
                  <a:lnTo>
                    <a:pt x="196266" y="440731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711449" y="2231579"/>
              <a:ext cx="196850" cy="441325"/>
            </a:xfrm>
            <a:custGeom>
              <a:avLst/>
              <a:gdLst/>
              <a:ahLst/>
              <a:cxnLst/>
              <a:rect l="l" t="t" r="r" b="b"/>
              <a:pathLst>
                <a:path w="196850" h="441325">
                  <a:moveTo>
                    <a:pt x="0" y="0"/>
                  </a:moveTo>
                  <a:lnTo>
                    <a:pt x="196266" y="0"/>
                  </a:lnTo>
                  <a:lnTo>
                    <a:pt x="196266" y="440731"/>
                  </a:lnTo>
                  <a:lnTo>
                    <a:pt x="0" y="440731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907046" y="2595671"/>
              <a:ext cx="196850" cy="76835"/>
            </a:xfrm>
            <a:custGeom>
              <a:avLst/>
              <a:gdLst/>
              <a:ahLst/>
              <a:cxnLst/>
              <a:rect l="l" t="t" r="r" b="b"/>
              <a:pathLst>
                <a:path w="196850" h="76835">
                  <a:moveTo>
                    <a:pt x="196266" y="0"/>
                  </a:moveTo>
                  <a:lnTo>
                    <a:pt x="0" y="0"/>
                  </a:lnTo>
                  <a:lnTo>
                    <a:pt x="0" y="76638"/>
                  </a:lnTo>
                  <a:lnTo>
                    <a:pt x="196266" y="76638"/>
                  </a:lnTo>
                  <a:lnTo>
                    <a:pt x="1962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1907046" y="2595670"/>
              <a:ext cx="196850" cy="76835"/>
            </a:xfrm>
            <a:custGeom>
              <a:avLst/>
              <a:gdLst/>
              <a:ahLst/>
              <a:cxnLst/>
              <a:rect l="l" t="t" r="r" b="b"/>
              <a:pathLst>
                <a:path w="196850" h="76835">
                  <a:moveTo>
                    <a:pt x="0" y="0"/>
                  </a:moveTo>
                  <a:lnTo>
                    <a:pt x="196266" y="0"/>
                  </a:lnTo>
                  <a:lnTo>
                    <a:pt x="196266" y="76638"/>
                  </a:lnTo>
                  <a:lnTo>
                    <a:pt x="0" y="76638"/>
                  </a:lnTo>
                  <a:lnTo>
                    <a:pt x="0" y="0"/>
                  </a:lnTo>
                  <a:close/>
                </a:path>
              </a:pathLst>
            </a:custGeom>
            <a:ln w="13056">
              <a:solidFill>
                <a:srgbClr val="1772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6559076" y="2071239"/>
            <a:ext cx="4895701" cy="3185220"/>
            <a:chOff x="4871609" y="2945762"/>
            <a:chExt cx="6962775" cy="4530090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6866" y="6563799"/>
              <a:ext cx="449432" cy="27995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4952" y="6251439"/>
              <a:ext cx="226653" cy="21547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4952" y="6535473"/>
              <a:ext cx="226653" cy="21547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4952" y="6819510"/>
              <a:ext cx="226653" cy="21547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4952" y="7103546"/>
              <a:ext cx="226653" cy="21547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140078" y="6138571"/>
              <a:ext cx="501650" cy="1311275"/>
            </a:xfrm>
            <a:custGeom>
              <a:avLst/>
              <a:gdLst/>
              <a:ahLst/>
              <a:cxnLst/>
              <a:rect l="l" t="t" r="r" b="b"/>
              <a:pathLst>
                <a:path w="501650" h="131127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227681"/>
                  </a:lnTo>
                  <a:lnTo>
                    <a:pt x="494790" y="1260207"/>
                  </a:lnTo>
                  <a:lnTo>
                    <a:pt x="476882" y="1286768"/>
                  </a:lnTo>
                  <a:lnTo>
                    <a:pt x="450321" y="1304676"/>
                  </a:lnTo>
                  <a:lnTo>
                    <a:pt x="417795" y="1311243"/>
                  </a:lnTo>
                  <a:lnTo>
                    <a:pt x="83561" y="1311243"/>
                  </a:lnTo>
                  <a:lnTo>
                    <a:pt x="51035" y="1304676"/>
                  </a:lnTo>
                  <a:lnTo>
                    <a:pt x="24474" y="1286768"/>
                  </a:lnTo>
                  <a:lnTo>
                    <a:pt x="6566" y="1260207"/>
                  </a:lnTo>
                  <a:lnTo>
                    <a:pt x="0" y="1227681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1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0047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383864" y="7449755"/>
              <a:ext cx="13970" cy="12065"/>
            </a:xfrm>
            <a:custGeom>
              <a:avLst/>
              <a:gdLst/>
              <a:ahLst/>
              <a:cxnLst/>
              <a:rect l="l" t="t" r="r" b="b"/>
              <a:pathLst>
                <a:path w="13970" h="12065">
                  <a:moveTo>
                    <a:pt x="6894" y="0"/>
                  </a:moveTo>
                  <a:lnTo>
                    <a:pt x="0" y="11819"/>
                  </a:lnTo>
                  <a:lnTo>
                    <a:pt x="13789" y="11819"/>
                  </a:lnTo>
                  <a:lnTo>
                    <a:pt x="689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59882" y="5755267"/>
              <a:ext cx="449121" cy="27255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314918" y="5553287"/>
              <a:ext cx="151765" cy="585470"/>
            </a:xfrm>
            <a:custGeom>
              <a:avLst/>
              <a:gdLst/>
              <a:ahLst/>
              <a:cxnLst/>
              <a:rect l="l" t="t" r="r" b="b"/>
              <a:pathLst>
                <a:path w="151765" h="585470">
                  <a:moveTo>
                    <a:pt x="75840" y="0"/>
                  </a:moveTo>
                  <a:lnTo>
                    <a:pt x="0" y="130012"/>
                  </a:lnTo>
                  <a:lnTo>
                    <a:pt x="2104" y="138005"/>
                  </a:lnTo>
                  <a:lnTo>
                    <a:pt x="14561" y="145271"/>
                  </a:lnTo>
                  <a:lnTo>
                    <a:pt x="22555" y="143168"/>
                  </a:lnTo>
                  <a:lnTo>
                    <a:pt x="62783" y="74206"/>
                  </a:lnTo>
                  <a:lnTo>
                    <a:pt x="62782" y="585284"/>
                  </a:lnTo>
                  <a:lnTo>
                    <a:pt x="88894" y="585284"/>
                  </a:lnTo>
                  <a:lnTo>
                    <a:pt x="88896" y="74206"/>
                  </a:lnTo>
                  <a:lnTo>
                    <a:pt x="129125" y="143168"/>
                  </a:lnTo>
                  <a:lnTo>
                    <a:pt x="137119" y="145271"/>
                  </a:lnTo>
                  <a:lnTo>
                    <a:pt x="149576" y="138005"/>
                  </a:lnTo>
                  <a:lnTo>
                    <a:pt x="151679" y="130012"/>
                  </a:lnTo>
                  <a:lnTo>
                    <a:pt x="7584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84952" y="4210799"/>
              <a:ext cx="226653" cy="23850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84952" y="4529384"/>
              <a:ext cx="226653" cy="23850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84952" y="4847967"/>
              <a:ext cx="226653" cy="23850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84952" y="5166552"/>
              <a:ext cx="226653" cy="238501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181579" y="4743576"/>
              <a:ext cx="958850" cy="150495"/>
            </a:xfrm>
            <a:custGeom>
              <a:avLst/>
              <a:gdLst/>
              <a:ahLst/>
              <a:cxnLst/>
              <a:rect l="l" t="t" r="r" b="b"/>
              <a:pathLst>
                <a:path w="958850" h="150495">
                  <a:moveTo>
                    <a:pt x="828107" y="0"/>
                  </a:moveTo>
                  <a:lnTo>
                    <a:pt x="824876" y="852"/>
                  </a:lnTo>
                  <a:lnTo>
                    <a:pt x="821644" y="1701"/>
                  </a:lnTo>
                  <a:lnTo>
                    <a:pt x="818737" y="3784"/>
                  </a:lnTo>
                  <a:lnTo>
                    <a:pt x="813287" y="13127"/>
                  </a:lnTo>
                  <a:lnTo>
                    <a:pt x="815390" y="21122"/>
                  </a:lnTo>
                  <a:lnTo>
                    <a:pt x="884354" y="61351"/>
                  </a:lnTo>
                  <a:lnTo>
                    <a:pt x="0" y="61348"/>
                  </a:lnTo>
                  <a:lnTo>
                    <a:pt x="0" y="87461"/>
                  </a:lnTo>
                  <a:lnTo>
                    <a:pt x="884354" y="87463"/>
                  </a:lnTo>
                  <a:lnTo>
                    <a:pt x="815390" y="127692"/>
                  </a:lnTo>
                  <a:lnTo>
                    <a:pt x="813287" y="135685"/>
                  </a:lnTo>
                  <a:lnTo>
                    <a:pt x="820554" y="148142"/>
                  </a:lnTo>
                  <a:lnTo>
                    <a:pt x="828548" y="150246"/>
                  </a:lnTo>
                  <a:lnTo>
                    <a:pt x="958560" y="74406"/>
                  </a:lnTo>
                  <a:lnTo>
                    <a:pt x="831662" y="383"/>
                  </a:lnTo>
                  <a:lnTo>
                    <a:pt x="828107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36951" y="4374172"/>
              <a:ext cx="585816" cy="40048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39674" y="3759496"/>
              <a:ext cx="447098" cy="28828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8140078" y="4082618"/>
              <a:ext cx="501650" cy="1471295"/>
            </a:xfrm>
            <a:custGeom>
              <a:avLst/>
              <a:gdLst/>
              <a:ahLst/>
              <a:cxnLst/>
              <a:rect l="l" t="t" r="r" b="b"/>
              <a:pathLst>
                <a:path w="501650" h="147129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387168"/>
                  </a:lnTo>
                  <a:lnTo>
                    <a:pt x="494790" y="1419694"/>
                  </a:lnTo>
                  <a:lnTo>
                    <a:pt x="476882" y="1446255"/>
                  </a:lnTo>
                  <a:lnTo>
                    <a:pt x="450321" y="1464163"/>
                  </a:lnTo>
                  <a:lnTo>
                    <a:pt x="417795" y="1470730"/>
                  </a:lnTo>
                  <a:lnTo>
                    <a:pt x="83562" y="1470730"/>
                  </a:lnTo>
                  <a:lnTo>
                    <a:pt x="51035" y="1464163"/>
                  </a:lnTo>
                  <a:lnTo>
                    <a:pt x="24474" y="1446255"/>
                  </a:lnTo>
                  <a:lnTo>
                    <a:pt x="6566" y="1419694"/>
                  </a:lnTo>
                  <a:lnTo>
                    <a:pt x="0" y="1387168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2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90480" y="3759496"/>
              <a:ext cx="442520" cy="28828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9589291" y="4095291"/>
              <a:ext cx="501650" cy="1471295"/>
            </a:xfrm>
            <a:custGeom>
              <a:avLst/>
              <a:gdLst/>
              <a:ahLst/>
              <a:cxnLst/>
              <a:rect l="l" t="t" r="r" b="b"/>
              <a:pathLst>
                <a:path w="501650" h="147129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387168"/>
                  </a:lnTo>
                  <a:lnTo>
                    <a:pt x="494790" y="1419694"/>
                  </a:lnTo>
                  <a:lnTo>
                    <a:pt x="476882" y="1446255"/>
                  </a:lnTo>
                  <a:lnTo>
                    <a:pt x="450321" y="1464163"/>
                  </a:lnTo>
                  <a:lnTo>
                    <a:pt x="417795" y="1470730"/>
                  </a:lnTo>
                  <a:lnTo>
                    <a:pt x="83562" y="1470730"/>
                  </a:lnTo>
                  <a:lnTo>
                    <a:pt x="51035" y="1464163"/>
                  </a:lnTo>
                  <a:lnTo>
                    <a:pt x="24474" y="1446255"/>
                  </a:lnTo>
                  <a:lnTo>
                    <a:pt x="6566" y="1419694"/>
                  </a:lnTo>
                  <a:lnTo>
                    <a:pt x="0" y="1387168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2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630794" y="4756252"/>
              <a:ext cx="958850" cy="150495"/>
            </a:xfrm>
            <a:custGeom>
              <a:avLst/>
              <a:gdLst/>
              <a:ahLst/>
              <a:cxnLst/>
              <a:rect l="l" t="t" r="r" b="b"/>
              <a:pathLst>
                <a:path w="958850" h="150495">
                  <a:moveTo>
                    <a:pt x="828107" y="0"/>
                  </a:moveTo>
                  <a:lnTo>
                    <a:pt x="824876" y="849"/>
                  </a:lnTo>
                  <a:lnTo>
                    <a:pt x="821644" y="1700"/>
                  </a:lnTo>
                  <a:lnTo>
                    <a:pt x="818737" y="3782"/>
                  </a:lnTo>
                  <a:lnTo>
                    <a:pt x="813287" y="13125"/>
                  </a:lnTo>
                  <a:lnTo>
                    <a:pt x="815392" y="21118"/>
                  </a:lnTo>
                  <a:lnTo>
                    <a:pt x="884354" y="61348"/>
                  </a:lnTo>
                  <a:lnTo>
                    <a:pt x="0" y="61348"/>
                  </a:lnTo>
                  <a:lnTo>
                    <a:pt x="0" y="87459"/>
                  </a:lnTo>
                  <a:lnTo>
                    <a:pt x="884354" y="87459"/>
                  </a:lnTo>
                  <a:lnTo>
                    <a:pt x="815392" y="127689"/>
                  </a:lnTo>
                  <a:lnTo>
                    <a:pt x="813287" y="135682"/>
                  </a:lnTo>
                  <a:lnTo>
                    <a:pt x="820553" y="148140"/>
                  </a:lnTo>
                  <a:lnTo>
                    <a:pt x="828549" y="150244"/>
                  </a:lnTo>
                  <a:lnTo>
                    <a:pt x="958559" y="74404"/>
                  </a:lnTo>
                  <a:lnTo>
                    <a:pt x="831663" y="380"/>
                  </a:lnTo>
                  <a:lnTo>
                    <a:pt x="828107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86164" y="4374172"/>
              <a:ext cx="585816" cy="40048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01116" y="6563799"/>
              <a:ext cx="449180" cy="27995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34167" y="6264112"/>
              <a:ext cx="226653" cy="21547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34167" y="6548147"/>
              <a:ext cx="226653" cy="21547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34167" y="6832185"/>
              <a:ext cx="226653" cy="21547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34167" y="7116219"/>
              <a:ext cx="226653" cy="21547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9589291" y="6151246"/>
              <a:ext cx="501650" cy="1311275"/>
            </a:xfrm>
            <a:custGeom>
              <a:avLst/>
              <a:gdLst/>
              <a:ahLst/>
              <a:cxnLst/>
              <a:rect l="l" t="t" r="r" b="b"/>
              <a:pathLst>
                <a:path w="501650" h="131127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227681"/>
                  </a:lnTo>
                  <a:lnTo>
                    <a:pt x="494790" y="1260207"/>
                  </a:lnTo>
                  <a:lnTo>
                    <a:pt x="476882" y="1286768"/>
                  </a:lnTo>
                  <a:lnTo>
                    <a:pt x="450321" y="1304676"/>
                  </a:lnTo>
                  <a:lnTo>
                    <a:pt x="417795" y="1311243"/>
                  </a:lnTo>
                  <a:lnTo>
                    <a:pt x="83561" y="1311243"/>
                  </a:lnTo>
                  <a:lnTo>
                    <a:pt x="51035" y="1304676"/>
                  </a:lnTo>
                  <a:lnTo>
                    <a:pt x="24474" y="1286768"/>
                  </a:lnTo>
                  <a:lnTo>
                    <a:pt x="6566" y="1260207"/>
                  </a:lnTo>
                  <a:lnTo>
                    <a:pt x="0" y="1227681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1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0047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9096" y="5755267"/>
              <a:ext cx="449121" cy="27255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9764133" y="5565960"/>
              <a:ext cx="151765" cy="585470"/>
            </a:xfrm>
            <a:custGeom>
              <a:avLst/>
              <a:gdLst/>
              <a:ahLst/>
              <a:cxnLst/>
              <a:rect l="l" t="t" r="r" b="b"/>
              <a:pathLst>
                <a:path w="151765" h="585470">
                  <a:moveTo>
                    <a:pt x="75839" y="0"/>
                  </a:moveTo>
                  <a:lnTo>
                    <a:pt x="0" y="130011"/>
                  </a:lnTo>
                  <a:lnTo>
                    <a:pt x="2103" y="138005"/>
                  </a:lnTo>
                  <a:lnTo>
                    <a:pt x="14560" y="145274"/>
                  </a:lnTo>
                  <a:lnTo>
                    <a:pt x="22553" y="143168"/>
                  </a:lnTo>
                  <a:lnTo>
                    <a:pt x="62783" y="74206"/>
                  </a:lnTo>
                  <a:lnTo>
                    <a:pt x="62783" y="585285"/>
                  </a:lnTo>
                  <a:lnTo>
                    <a:pt x="88896" y="585285"/>
                  </a:lnTo>
                  <a:lnTo>
                    <a:pt x="88896" y="74206"/>
                  </a:lnTo>
                  <a:lnTo>
                    <a:pt x="129124" y="143168"/>
                  </a:lnTo>
                  <a:lnTo>
                    <a:pt x="137118" y="145274"/>
                  </a:lnTo>
                  <a:lnTo>
                    <a:pt x="149575" y="138007"/>
                  </a:lnTo>
                  <a:lnTo>
                    <a:pt x="151679" y="130011"/>
                  </a:lnTo>
                  <a:lnTo>
                    <a:pt x="75839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34167" y="4223474"/>
              <a:ext cx="226653" cy="238501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34167" y="4542057"/>
              <a:ext cx="226653" cy="23850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34167" y="4860642"/>
              <a:ext cx="226653" cy="238501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34167" y="5179225"/>
              <a:ext cx="226653" cy="238501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0106357" y="4743576"/>
              <a:ext cx="958850" cy="150495"/>
            </a:xfrm>
            <a:custGeom>
              <a:avLst/>
              <a:gdLst/>
              <a:ahLst/>
              <a:cxnLst/>
              <a:rect l="l" t="t" r="r" b="b"/>
              <a:pathLst>
                <a:path w="958850" h="150495">
                  <a:moveTo>
                    <a:pt x="828107" y="0"/>
                  </a:moveTo>
                  <a:lnTo>
                    <a:pt x="824876" y="852"/>
                  </a:lnTo>
                  <a:lnTo>
                    <a:pt x="821644" y="1701"/>
                  </a:lnTo>
                  <a:lnTo>
                    <a:pt x="818738" y="3784"/>
                  </a:lnTo>
                  <a:lnTo>
                    <a:pt x="813287" y="13127"/>
                  </a:lnTo>
                  <a:lnTo>
                    <a:pt x="815390" y="21122"/>
                  </a:lnTo>
                  <a:lnTo>
                    <a:pt x="884354" y="61351"/>
                  </a:lnTo>
                  <a:lnTo>
                    <a:pt x="1" y="61348"/>
                  </a:lnTo>
                  <a:lnTo>
                    <a:pt x="0" y="87461"/>
                  </a:lnTo>
                  <a:lnTo>
                    <a:pt x="884354" y="87463"/>
                  </a:lnTo>
                  <a:lnTo>
                    <a:pt x="815390" y="127692"/>
                  </a:lnTo>
                  <a:lnTo>
                    <a:pt x="813287" y="135685"/>
                  </a:lnTo>
                  <a:lnTo>
                    <a:pt x="820554" y="148142"/>
                  </a:lnTo>
                  <a:lnTo>
                    <a:pt x="828548" y="150246"/>
                  </a:lnTo>
                  <a:lnTo>
                    <a:pt x="958560" y="74406"/>
                  </a:lnTo>
                  <a:lnTo>
                    <a:pt x="831662" y="383"/>
                  </a:lnTo>
                  <a:lnTo>
                    <a:pt x="828107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61727" y="4374172"/>
              <a:ext cx="585816" cy="40048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1239698" y="2945762"/>
              <a:ext cx="151765" cy="1137285"/>
            </a:xfrm>
            <a:custGeom>
              <a:avLst/>
              <a:gdLst/>
              <a:ahLst/>
              <a:cxnLst/>
              <a:rect l="l" t="t" r="r" b="b"/>
              <a:pathLst>
                <a:path w="151765" h="1137285">
                  <a:moveTo>
                    <a:pt x="75839" y="0"/>
                  </a:moveTo>
                  <a:lnTo>
                    <a:pt x="0" y="130009"/>
                  </a:lnTo>
                  <a:lnTo>
                    <a:pt x="2103" y="138005"/>
                  </a:lnTo>
                  <a:lnTo>
                    <a:pt x="14560" y="145271"/>
                  </a:lnTo>
                  <a:lnTo>
                    <a:pt x="22553" y="143167"/>
                  </a:lnTo>
                  <a:lnTo>
                    <a:pt x="62782" y="74203"/>
                  </a:lnTo>
                  <a:lnTo>
                    <a:pt x="62781" y="1136855"/>
                  </a:lnTo>
                  <a:lnTo>
                    <a:pt x="88893" y="1136855"/>
                  </a:lnTo>
                  <a:lnTo>
                    <a:pt x="88894" y="74203"/>
                  </a:lnTo>
                  <a:lnTo>
                    <a:pt x="129124" y="143167"/>
                  </a:lnTo>
                  <a:lnTo>
                    <a:pt x="137118" y="145271"/>
                  </a:lnTo>
                  <a:lnTo>
                    <a:pt x="149575" y="138005"/>
                  </a:lnTo>
                  <a:lnTo>
                    <a:pt x="151678" y="130009"/>
                  </a:lnTo>
                  <a:lnTo>
                    <a:pt x="75839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763055" y="3792085"/>
              <a:ext cx="441820" cy="25569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09732" y="4210799"/>
              <a:ext cx="226653" cy="238501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09732" y="4529384"/>
              <a:ext cx="226653" cy="238501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09732" y="4847967"/>
              <a:ext cx="226653" cy="238501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09732" y="5166552"/>
              <a:ext cx="226653" cy="23850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583312" y="6563799"/>
              <a:ext cx="449144" cy="279955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09732" y="6251439"/>
              <a:ext cx="226653" cy="21547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9732" y="6535473"/>
              <a:ext cx="226653" cy="21547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09732" y="6819510"/>
              <a:ext cx="226653" cy="21547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09732" y="7103546"/>
              <a:ext cx="226653" cy="215470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11064856" y="6138571"/>
              <a:ext cx="501650" cy="1311275"/>
            </a:xfrm>
            <a:custGeom>
              <a:avLst/>
              <a:gdLst/>
              <a:ahLst/>
              <a:cxnLst/>
              <a:rect l="l" t="t" r="r" b="b"/>
              <a:pathLst>
                <a:path w="501650" h="131127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227681"/>
                  </a:lnTo>
                  <a:lnTo>
                    <a:pt x="494790" y="1260207"/>
                  </a:lnTo>
                  <a:lnTo>
                    <a:pt x="476882" y="1286768"/>
                  </a:lnTo>
                  <a:lnTo>
                    <a:pt x="450321" y="1304676"/>
                  </a:lnTo>
                  <a:lnTo>
                    <a:pt x="417795" y="1311243"/>
                  </a:lnTo>
                  <a:lnTo>
                    <a:pt x="83561" y="1311243"/>
                  </a:lnTo>
                  <a:lnTo>
                    <a:pt x="51035" y="1304676"/>
                  </a:lnTo>
                  <a:lnTo>
                    <a:pt x="24474" y="1286768"/>
                  </a:lnTo>
                  <a:lnTo>
                    <a:pt x="6566" y="1260207"/>
                  </a:lnTo>
                  <a:lnTo>
                    <a:pt x="0" y="1227681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1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0047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1308642" y="7449755"/>
              <a:ext cx="13970" cy="12065"/>
            </a:xfrm>
            <a:custGeom>
              <a:avLst/>
              <a:gdLst/>
              <a:ahLst/>
              <a:cxnLst/>
              <a:rect l="l" t="t" r="r" b="b"/>
              <a:pathLst>
                <a:path w="13970" h="12065">
                  <a:moveTo>
                    <a:pt x="6894" y="0"/>
                  </a:moveTo>
                  <a:lnTo>
                    <a:pt x="0" y="11819"/>
                  </a:lnTo>
                  <a:lnTo>
                    <a:pt x="13789" y="11819"/>
                  </a:lnTo>
                  <a:lnTo>
                    <a:pt x="689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84658" y="5755267"/>
              <a:ext cx="449121" cy="272550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11239696" y="5553287"/>
              <a:ext cx="151765" cy="585470"/>
            </a:xfrm>
            <a:custGeom>
              <a:avLst/>
              <a:gdLst/>
              <a:ahLst/>
              <a:cxnLst/>
              <a:rect l="l" t="t" r="r" b="b"/>
              <a:pathLst>
                <a:path w="151765" h="585470">
                  <a:moveTo>
                    <a:pt x="75840" y="0"/>
                  </a:moveTo>
                  <a:lnTo>
                    <a:pt x="0" y="130012"/>
                  </a:lnTo>
                  <a:lnTo>
                    <a:pt x="2104" y="138005"/>
                  </a:lnTo>
                  <a:lnTo>
                    <a:pt x="14561" y="145271"/>
                  </a:lnTo>
                  <a:lnTo>
                    <a:pt x="22555" y="143168"/>
                  </a:lnTo>
                  <a:lnTo>
                    <a:pt x="62783" y="74206"/>
                  </a:lnTo>
                  <a:lnTo>
                    <a:pt x="62782" y="585284"/>
                  </a:lnTo>
                  <a:lnTo>
                    <a:pt x="88894" y="585284"/>
                  </a:lnTo>
                  <a:lnTo>
                    <a:pt x="88896" y="74206"/>
                  </a:lnTo>
                  <a:lnTo>
                    <a:pt x="129125" y="143168"/>
                  </a:lnTo>
                  <a:lnTo>
                    <a:pt x="137119" y="145271"/>
                  </a:lnTo>
                  <a:lnTo>
                    <a:pt x="149576" y="138005"/>
                  </a:lnTo>
                  <a:lnTo>
                    <a:pt x="151679" y="130012"/>
                  </a:lnTo>
                  <a:lnTo>
                    <a:pt x="7584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1064856" y="4082618"/>
              <a:ext cx="501650" cy="1471295"/>
            </a:xfrm>
            <a:custGeom>
              <a:avLst/>
              <a:gdLst/>
              <a:ahLst/>
              <a:cxnLst/>
              <a:rect l="l" t="t" r="r" b="b"/>
              <a:pathLst>
                <a:path w="501650" h="147129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387168"/>
                  </a:lnTo>
                  <a:lnTo>
                    <a:pt x="494790" y="1419694"/>
                  </a:lnTo>
                  <a:lnTo>
                    <a:pt x="476882" y="1446255"/>
                  </a:lnTo>
                  <a:lnTo>
                    <a:pt x="450321" y="1464163"/>
                  </a:lnTo>
                  <a:lnTo>
                    <a:pt x="417795" y="1470730"/>
                  </a:lnTo>
                  <a:lnTo>
                    <a:pt x="83562" y="1470730"/>
                  </a:lnTo>
                  <a:lnTo>
                    <a:pt x="51035" y="1464163"/>
                  </a:lnTo>
                  <a:lnTo>
                    <a:pt x="24474" y="1446255"/>
                  </a:lnTo>
                  <a:lnTo>
                    <a:pt x="6566" y="1419694"/>
                  </a:lnTo>
                  <a:lnTo>
                    <a:pt x="0" y="1387168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2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45008" y="3786063"/>
              <a:ext cx="429809" cy="249316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21253" y="4168407"/>
              <a:ext cx="226653" cy="238501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21253" y="4486990"/>
              <a:ext cx="226653" cy="238501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21253" y="4805575"/>
              <a:ext cx="226653" cy="238501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21253" y="5124158"/>
              <a:ext cx="226653" cy="238501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6676379" y="4040223"/>
              <a:ext cx="501650" cy="1471295"/>
            </a:xfrm>
            <a:custGeom>
              <a:avLst/>
              <a:gdLst/>
              <a:ahLst/>
              <a:cxnLst/>
              <a:rect l="l" t="t" r="r" b="b"/>
              <a:pathLst>
                <a:path w="501650" h="147129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387168"/>
                  </a:lnTo>
                  <a:lnTo>
                    <a:pt x="494790" y="1419694"/>
                  </a:lnTo>
                  <a:lnTo>
                    <a:pt x="476882" y="1446255"/>
                  </a:lnTo>
                  <a:lnTo>
                    <a:pt x="450321" y="1464163"/>
                  </a:lnTo>
                  <a:lnTo>
                    <a:pt x="417795" y="1470730"/>
                  </a:lnTo>
                  <a:lnTo>
                    <a:pt x="83562" y="1470730"/>
                  </a:lnTo>
                  <a:lnTo>
                    <a:pt x="51035" y="1464163"/>
                  </a:lnTo>
                  <a:lnTo>
                    <a:pt x="24474" y="1446255"/>
                  </a:lnTo>
                  <a:lnTo>
                    <a:pt x="6566" y="1419694"/>
                  </a:lnTo>
                  <a:lnTo>
                    <a:pt x="0" y="1387168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2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96183" y="5755267"/>
              <a:ext cx="449121" cy="272550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21253" y="6209044"/>
              <a:ext cx="226653" cy="215470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21253" y="6493080"/>
              <a:ext cx="226653" cy="21547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21253" y="6777115"/>
              <a:ext cx="226653" cy="21547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21253" y="7061152"/>
              <a:ext cx="226653" cy="215470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6676379" y="6096179"/>
              <a:ext cx="501650" cy="1311275"/>
            </a:xfrm>
            <a:custGeom>
              <a:avLst/>
              <a:gdLst/>
              <a:ahLst/>
              <a:cxnLst/>
              <a:rect l="l" t="t" r="r" b="b"/>
              <a:pathLst>
                <a:path w="501650" h="131127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227681"/>
                  </a:lnTo>
                  <a:lnTo>
                    <a:pt x="494790" y="1260207"/>
                  </a:lnTo>
                  <a:lnTo>
                    <a:pt x="476882" y="1286768"/>
                  </a:lnTo>
                  <a:lnTo>
                    <a:pt x="450321" y="1304676"/>
                  </a:lnTo>
                  <a:lnTo>
                    <a:pt x="417795" y="1311243"/>
                  </a:lnTo>
                  <a:lnTo>
                    <a:pt x="83561" y="1311243"/>
                  </a:lnTo>
                  <a:lnTo>
                    <a:pt x="51035" y="1304676"/>
                  </a:lnTo>
                  <a:lnTo>
                    <a:pt x="24474" y="1286768"/>
                  </a:lnTo>
                  <a:lnTo>
                    <a:pt x="6566" y="1260207"/>
                  </a:lnTo>
                  <a:lnTo>
                    <a:pt x="0" y="1227681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1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0047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95435" y="7407361"/>
              <a:ext cx="63500" cy="54610"/>
            </a:xfrm>
            <a:custGeom>
              <a:avLst/>
              <a:gdLst/>
              <a:ahLst/>
              <a:cxnLst/>
              <a:rect l="l" t="t" r="r" b="b"/>
              <a:pathLst>
                <a:path w="63500" h="54609">
                  <a:moveTo>
                    <a:pt x="31624" y="0"/>
                  </a:moveTo>
                  <a:lnTo>
                    <a:pt x="0" y="54213"/>
                  </a:lnTo>
                  <a:lnTo>
                    <a:pt x="63249" y="54213"/>
                  </a:lnTo>
                  <a:lnTo>
                    <a:pt x="3162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719902" y="4746192"/>
              <a:ext cx="1283335" cy="1350010"/>
            </a:xfrm>
            <a:custGeom>
              <a:avLst/>
              <a:gdLst/>
              <a:ahLst/>
              <a:cxnLst/>
              <a:rect l="l" t="t" r="r" b="b"/>
              <a:pathLst>
                <a:path w="1283334" h="1350010">
                  <a:moveTo>
                    <a:pt x="958570" y="74409"/>
                  </a:moveTo>
                  <a:lnTo>
                    <a:pt x="831672" y="381"/>
                  </a:lnTo>
                  <a:lnTo>
                    <a:pt x="828116" y="0"/>
                  </a:lnTo>
                  <a:lnTo>
                    <a:pt x="824877" y="850"/>
                  </a:lnTo>
                  <a:lnTo>
                    <a:pt x="821651" y="1701"/>
                  </a:lnTo>
                  <a:lnTo>
                    <a:pt x="818743" y="3784"/>
                  </a:lnTo>
                  <a:lnTo>
                    <a:pt x="813295" y="13131"/>
                  </a:lnTo>
                  <a:lnTo>
                    <a:pt x="815390" y="21120"/>
                  </a:lnTo>
                  <a:lnTo>
                    <a:pt x="884364" y="61353"/>
                  </a:lnTo>
                  <a:lnTo>
                    <a:pt x="0" y="61353"/>
                  </a:lnTo>
                  <a:lnTo>
                    <a:pt x="0" y="87464"/>
                  </a:lnTo>
                  <a:lnTo>
                    <a:pt x="884364" y="87464"/>
                  </a:lnTo>
                  <a:lnTo>
                    <a:pt x="815390" y="127698"/>
                  </a:lnTo>
                  <a:lnTo>
                    <a:pt x="813295" y="135686"/>
                  </a:lnTo>
                  <a:lnTo>
                    <a:pt x="820559" y="148145"/>
                  </a:lnTo>
                  <a:lnTo>
                    <a:pt x="828548" y="150241"/>
                  </a:lnTo>
                  <a:lnTo>
                    <a:pt x="958570" y="74409"/>
                  </a:lnTo>
                  <a:close/>
                </a:path>
                <a:path w="1283334" h="1350010">
                  <a:moveTo>
                    <a:pt x="1282992" y="894715"/>
                  </a:moveTo>
                  <a:lnTo>
                    <a:pt x="1207147" y="764705"/>
                  </a:lnTo>
                  <a:lnTo>
                    <a:pt x="1131316" y="894715"/>
                  </a:lnTo>
                  <a:lnTo>
                    <a:pt x="1133411" y="902716"/>
                  </a:lnTo>
                  <a:lnTo>
                    <a:pt x="1145870" y="909980"/>
                  </a:lnTo>
                  <a:lnTo>
                    <a:pt x="1153871" y="907872"/>
                  </a:lnTo>
                  <a:lnTo>
                    <a:pt x="1194092" y="838911"/>
                  </a:lnTo>
                  <a:lnTo>
                    <a:pt x="1194092" y="1349984"/>
                  </a:lnTo>
                  <a:lnTo>
                    <a:pt x="1220203" y="1349997"/>
                  </a:lnTo>
                  <a:lnTo>
                    <a:pt x="1220203" y="838911"/>
                  </a:lnTo>
                  <a:lnTo>
                    <a:pt x="1260436" y="907872"/>
                  </a:lnTo>
                  <a:lnTo>
                    <a:pt x="1268425" y="909980"/>
                  </a:lnTo>
                  <a:lnTo>
                    <a:pt x="1280883" y="902716"/>
                  </a:lnTo>
                  <a:lnTo>
                    <a:pt x="1282992" y="894715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75282" y="4374172"/>
              <a:ext cx="585816" cy="400485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71609" y="3805609"/>
              <a:ext cx="419743" cy="241772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50261" y="4173922"/>
              <a:ext cx="226653" cy="238501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50261" y="4492505"/>
              <a:ext cx="226653" cy="238501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50261" y="4811090"/>
              <a:ext cx="226653" cy="238501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50261" y="5129672"/>
              <a:ext cx="226653" cy="238501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5205387" y="4045738"/>
              <a:ext cx="501650" cy="1471295"/>
            </a:xfrm>
            <a:custGeom>
              <a:avLst/>
              <a:gdLst/>
              <a:ahLst/>
              <a:cxnLst/>
              <a:rect l="l" t="t" r="r" b="b"/>
              <a:pathLst>
                <a:path w="501650" h="1471295">
                  <a:moveTo>
                    <a:pt x="417795" y="0"/>
                  </a:moveTo>
                  <a:lnTo>
                    <a:pt x="450321" y="6566"/>
                  </a:lnTo>
                  <a:lnTo>
                    <a:pt x="476882" y="24474"/>
                  </a:lnTo>
                  <a:lnTo>
                    <a:pt x="494790" y="51035"/>
                  </a:lnTo>
                  <a:lnTo>
                    <a:pt x="501357" y="83561"/>
                  </a:lnTo>
                  <a:lnTo>
                    <a:pt x="501357" y="1387168"/>
                  </a:lnTo>
                  <a:lnTo>
                    <a:pt x="494790" y="1419694"/>
                  </a:lnTo>
                  <a:lnTo>
                    <a:pt x="476882" y="1446255"/>
                  </a:lnTo>
                  <a:lnTo>
                    <a:pt x="450321" y="1464163"/>
                  </a:lnTo>
                  <a:lnTo>
                    <a:pt x="417795" y="1470730"/>
                  </a:lnTo>
                  <a:lnTo>
                    <a:pt x="83562" y="1470730"/>
                  </a:lnTo>
                  <a:lnTo>
                    <a:pt x="51035" y="1464163"/>
                  </a:lnTo>
                  <a:lnTo>
                    <a:pt x="24474" y="1446255"/>
                  </a:lnTo>
                  <a:lnTo>
                    <a:pt x="6566" y="1419694"/>
                  </a:lnTo>
                  <a:lnTo>
                    <a:pt x="0" y="1387168"/>
                  </a:lnTo>
                  <a:lnTo>
                    <a:pt x="0" y="83561"/>
                  </a:lnTo>
                  <a:lnTo>
                    <a:pt x="6566" y="51035"/>
                  </a:lnTo>
                  <a:lnTo>
                    <a:pt x="24474" y="24474"/>
                  </a:lnTo>
                  <a:lnTo>
                    <a:pt x="51035" y="6566"/>
                  </a:lnTo>
                  <a:lnTo>
                    <a:pt x="83562" y="0"/>
                  </a:lnTo>
                  <a:lnTo>
                    <a:pt x="417795" y="0"/>
                  </a:lnTo>
                  <a:close/>
                </a:path>
              </a:pathLst>
            </a:custGeom>
            <a:ln w="26112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51374" y="6598677"/>
              <a:ext cx="447502" cy="277427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459740" y="3367241"/>
              <a:ext cx="271287" cy="236995"/>
            </a:xfrm>
            <a:prstGeom prst="rect">
              <a:avLst/>
            </a:prstGeom>
          </p:spPr>
        </p:pic>
      </p:grpSp>
      <p:pic>
        <p:nvPicPr>
          <p:cNvPr id="113" name="object 11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056928" y="415681"/>
            <a:ext cx="3052398" cy="197776"/>
          </a:xfrm>
          <a:prstGeom prst="rect">
            <a:avLst/>
          </a:prstGeom>
        </p:spPr>
      </p:pic>
      <p:sp>
        <p:nvSpPr>
          <p:cNvPr id="114" name="object 114"/>
          <p:cNvSpPr/>
          <p:nvPr/>
        </p:nvSpPr>
        <p:spPr>
          <a:xfrm>
            <a:off x="9993035" y="1921110"/>
            <a:ext cx="1651099" cy="73670"/>
          </a:xfrm>
          <a:custGeom>
            <a:avLst/>
            <a:gdLst/>
            <a:ahLst/>
            <a:cxnLst/>
            <a:rect l="l" t="t" r="r" b="b"/>
            <a:pathLst>
              <a:path w="2348229" h="104775">
                <a:moveTo>
                  <a:pt x="2243400" y="1"/>
                </a:moveTo>
                <a:lnTo>
                  <a:pt x="2243400" y="39170"/>
                </a:lnTo>
                <a:lnTo>
                  <a:pt x="104448" y="39168"/>
                </a:lnTo>
                <a:lnTo>
                  <a:pt x="104448" y="0"/>
                </a:lnTo>
                <a:lnTo>
                  <a:pt x="0" y="52224"/>
                </a:lnTo>
                <a:lnTo>
                  <a:pt x="104448" y="104449"/>
                </a:lnTo>
                <a:lnTo>
                  <a:pt x="104448" y="65280"/>
                </a:lnTo>
                <a:lnTo>
                  <a:pt x="2243400" y="65283"/>
                </a:lnTo>
                <a:lnTo>
                  <a:pt x="2243400" y="104451"/>
                </a:lnTo>
                <a:lnTo>
                  <a:pt x="2347849" y="52226"/>
                </a:lnTo>
                <a:lnTo>
                  <a:pt x="2243400" y="1"/>
                </a:lnTo>
                <a:close/>
              </a:path>
            </a:pathLst>
          </a:custGeom>
          <a:solidFill>
            <a:srgbClr val="1772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10003868" y="1945884"/>
            <a:ext cx="100013" cy="216390"/>
          </a:xfrm>
          <a:prstGeom prst="rect">
            <a:avLst/>
          </a:prstGeom>
        </p:spPr>
        <p:txBody>
          <a:bodyPr vert="horz" wrap="square" lIns="0" tIns="10716" rIns="0" bIns="0" rtlCol="0">
            <a:spAutoFit/>
          </a:bodyPr>
          <a:lstStyle/>
          <a:p>
            <a:pPr marL="8929">
              <a:spcBef>
                <a:spcPts val="84"/>
              </a:spcBef>
            </a:pPr>
            <a:r>
              <a:rPr sz="1336" spc="-98" dirty="0">
                <a:solidFill>
                  <a:srgbClr val="177245"/>
                </a:solidFill>
                <a:latin typeface="Arial"/>
                <a:cs typeface="Arial"/>
              </a:rPr>
              <a:t>a</a:t>
            </a:r>
            <a:endParaRPr sz="1336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916862" y="5490494"/>
            <a:ext cx="160734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i="1" dirty="0">
                <a:latin typeface="Times New Roman"/>
                <a:cs typeface="Times New Roman"/>
              </a:rPr>
              <a:t>c</a:t>
            </a:r>
            <a:endParaRPr sz="2531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840042" y="5150419"/>
            <a:ext cx="357633" cy="808727"/>
          </a:xfrm>
          <a:prstGeom prst="rect">
            <a:avLst/>
          </a:prstGeom>
        </p:spPr>
        <p:txBody>
          <a:bodyPr vert="horz" wrap="square" lIns="0" tIns="124123" rIns="0" bIns="0" rtlCol="0">
            <a:spAutoFit/>
          </a:bodyPr>
          <a:lstStyle/>
          <a:p>
            <a:pPr marL="8929">
              <a:spcBef>
                <a:spcPts val="977"/>
              </a:spcBef>
            </a:pPr>
            <a:r>
              <a:rPr sz="1898" i="1" spc="-18" dirty="0">
                <a:latin typeface="Helvetica Neue"/>
                <a:cs typeface="Helvetica Neue"/>
              </a:rPr>
              <a:t>the</a:t>
            </a:r>
            <a:endParaRPr sz="1898">
              <a:latin typeface="Helvetica Neue"/>
              <a:cs typeface="Helvetica Neue"/>
            </a:endParaRPr>
          </a:p>
          <a:p>
            <a:pPr marL="216984">
              <a:spcBef>
                <a:spcPts val="861"/>
              </a:spcBef>
            </a:pPr>
            <a:r>
              <a:rPr sz="1793" dirty="0">
                <a:latin typeface="Times New Roman"/>
                <a:cs typeface="Times New Roman"/>
              </a:rPr>
              <a:t>1</a:t>
            </a:r>
            <a:endParaRPr sz="1793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9005664" y="5664088"/>
            <a:ext cx="132159" cy="285377"/>
          </a:xfrm>
          <a:prstGeom prst="rect">
            <a:avLst/>
          </a:prstGeom>
        </p:spPr>
        <p:txBody>
          <a:bodyPr vert="horz" wrap="square" lIns="0" tIns="9376" rIns="0" bIns="0" rtlCol="0">
            <a:spAutoFit/>
          </a:bodyPr>
          <a:lstStyle/>
          <a:p>
            <a:pPr marL="8929">
              <a:spcBef>
                <a:spcPts val="74"/>
              </a:spcBef>
            </a:pPr>
            <a:r>
              <a:rPr sz="1793" dirty="0">
                <a:latin typeface="Times New Roman"/>
                <a:cs typeface="Times New Roman"/>
              </a:rPr>
              <a:t>2</a:t>
            </a:r>
            <a:endParaRPr sz="1793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8514080" y="5265666"/>
            <a:ext cx="942529" cy="62457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algn="ctr">
              <a:lnSpc>
                <a:spcPts val="2025"/>
              </a:lnSpc>
              <a:spcBef>
                <a:spcPts val="70"/>
              </a:spcBef>
            </a:pPr>
            <a:r>
              <a:rPr sz="1898" i="1" spc="-7" dirty="0">
                <a:latin typeface="Helvetica Neue"/>
                <a:cs typeface="Helvetica Neue"/>
              </a:rPr>
              <a:t>students</a:t>
            </a:r>
            <a:endParaRPr sz="1898">
              <a:latin typeface="Helvetica Neue"/>
              <a:cs typeface="Helvetica Neue"/>
            </a:endParaRPr>
          </a:p>
          <a:p>
            <a:pPr marR="55809" algn="ctr">
              <a:lnSpc>
                <a:spcPts val="2784"/>
              </a:lnSpc>
            </a:pPr>
            <a:r>
              <a:rPr sz="2531" i="1" dirty="0">
                <a:latin typeface="Times New Roman"/>
                <a:cs typeface="Times New Roman"/>
              </a:rPr>
              <a:t>c</a:t>
            </a:r>
            <a:endParaRPr sz="2531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0083453" y="5662491"/>
            <a:ext cx="132159" cy="285377"/>
          </a:xfrm>
          <a:prstGeom prst="rect">
            <a:avLst/>
          </a:prstGeom>
        </p:spPr>
        <p:txBody>
          <a:bodyPr vert="horz" wrap="square" lIns="0" tIns="9376" rIns="0" bIns="0" rtlCol="0">
            <a:spAutoFit/>
          </a:bodyPr>
          <a:lstStyle/>
          <a:p>
            <a:pPr marL="8929">
              <a:spcBef>
                <a:spcPts val="74"/>
              </a:spcBef>
            </a:pPr>
            <a:r>
              <a:rPr sz="1793" dirty="0">
                <a:latin typeface="Times New Roman"/>
                <a:cs typeface="Times New Roman"/>
              </a:rPr>
              <a:t>3</a:t>
            </a:r>
            <a:endParaRPr sz="1793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11064417" y="5664088"/>
            <a:ext cx="132159" cy="285377"/>
          </a:xfrm>
          <a:prstGeom prst="rect">
            <a:avLst/>
          </a:prstGeom>
        </p:spPr>
        <p:txBody>
          <a:bodyPr vert="horz" wrap="square" lIns="0" tIns="9376" rIns="0" bIns="0" rtlCol="0">
            <a:spAutoFit/>
          </a:bodyPr>
          <a:lstStyle/>
          <a:p>
            <a:pPr marL="8929">
              <a:spcBef>
                <a:spcPts val="74"/>
              </a:spcBef>
            </a:pPr>
            <a:r>
              <a:rPr sz="1793" dirty="0">
                <a:latin typeface="Times New Roman"/>
                <a:cs typeface="Times New Roman"/>
              </a:rPr>
              <a:t>4</a:t>
            </a:r>
            <a:endParaRPr sz="1793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9729403" y="5265666"/>
            <a:ext cx="1640830" cy="62457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algn="ctr">
              <a:lnSpc>
                <a:spcPts val="2025"/>
              </a:lnSpc>
              <a:spcBef>
                <a:spcPts val="70"/>
              </a:spcBef>
              <a:tabLst>
                <a:tab pos="1149209" algn="l"/>
              </a:tabLst>
            </a:pPr>
            <a:r>
              <a:rPr sz="1898" i="1" spc="-7" dirty="0">
                <a:latin typeface="Helvetica Neue"/>
                <a:cs typeface="Helvetica Neue"/>
              </a:rPr>
              <a:t>opened</a:t>
            </a:r>
            <a:r>
              <a:rPr sz="1898" i="1" dirty="0">
                <a:latin typeface="Helvetica Neue"/>
                <a:cs typeface="Helvetica Neue"/>
              </a:rPr>
              <a:t>	</a:t>
            </a:r>
            <a:r>
              <a:rPr sz="1898" i="1" spc="-7" dirty="0">
                <a:latin typeface="Helvetica Neue"/>
                <a:cs typeface="Helvetica Neue"/>
              </a:rPr>
              <a:t>their</a:t>
            </a:r>
            <a:endParaRPr sz="1898">
              <a:latin typeface="Helvetica Neue"/>
              <a:cs typeface="Helvetica Neue"/>
            </a:endParaRPr>
          </a:p>
          <a:p>
            <a:pPr marR="48219" algn="ctr">
              <a:lnSpc>
                <a:spcPts val="2784"/>
              </a:lnSpc>
              <a:tabLst>
                <a:tab pos="980445" algn="l"/>
              </a:tabLst>
            </a:pPr>
            <a:r>
              <a:rPr sz="2531" i="1" spc="-35" dirty="0">
                <a:latin typeface="Times New Roman"/>
                <a:cs typeface="Times New Roman"/>
              </a:rPr>
              <a:t>c</a:t>
            </a:r>
            <a:r>
              <a:rPr sz="2531" i="1" dirty="0">
                <a:latin typeface="Times New Roman"/>
                <a:cs typeface="Times New Roman"/>
              </a:rPr>
              <a:t>	</a:t>
            </a:r>
            <a:r>
              <a:rPr sz="2531" i="1" spc="-35" dirty="0">
                <a:latin typeface="Times New Roman"/>
                <a:cs typeface="Times New Roman"/>
              </a:rPr>
              <a:t>c</a:t>
            </a:r>
            <a:endParaRPr sz="2531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7432155" y="2326862"/>
            <a:ext cx="4113461" cy="2527995"/>
          </a:xfrm>
          <a:custGeom>
            <a:avLst/>
            <a:gdLst/>
            <a:ahLst/>
            <a:cxnLst/>
            <a:rect l="l" t="t" r="r" b="b"/>
            <a:pathLst>
              <a:path w="5850255" h="3595370">
                <a:moveTo>
                  <a:pt x="522236" y="3278835"/>
                </a:moveTo>
                <a:lnTo>
                  <a:pt x="0" y="3278835"/>
                </a:lnTo>
                <a:lnTo>
                  <a:pt x="0" y="3595090"/>
                </a:lnTo>
                <a:lnTo>
                  <a:pt x="522236" y="3595090"/>
                </a:lnTo>
                <a:lnTo>
                  <a:pt x="522236" y="3278835"/>
                </a:lnTo>
                <a:close/>
              </a:path>
              <a:path w="5850255" h="3595370">
                <a:moveTo>
                  <a:pt x="1991398" y="3212782"/>
                </a:moveTo>
                <a:lnTo>
                  <a:pt x="1469161" y="3212782"/>
                </a:lnTo>
                <a:lnTo>
                  <a:pt x="1469161" y="3529038"/>
                </a:lnTo>
                <a:lnTo>
                  <a:pt x="1991398" y="3529038"/>
                </a:lnTo>
                <a:lnTo>
                  <a:pt x="1991398" y="3212782"/>
                </a:lnTo>
                <a:close/>
              </a:path>
              <a:path w="5850255" h="3595370">
                <a:moveTo>
                  <a:pt x="3460559" y="3212782"/>
                </a:moveTo>
                <a:lnTo>
                  <a:pt x="2938322" y="3212782"/>
                </a:lnTo>
                <a:lnTo>
                  <a:pt x="2938322" y="3529038"/>
                </a:lnTo>
                <a:lnTo>
                  <a:pt x="3460559" y="3529038"/>
                </a:lnTo>
                <a:lnTo>
                  <a:pt x="3460559" y="3212782"/>
                </a:lnTo>
                <a:close/>
              </a:path>
              <a:path w="5850255" h="3595370">
                <a:moveTo>
                  <a:pt x="4929721" y="3212782"/>
                </a:moveTo>
                <a:lnTo>
                  <a:pt x="4407484" y="3212782"/>
                </a:lnTo>
                <a:lnTo>
                  <a:pt x="4407484" y="3529038"/>
                </a:lnTo>
                <a:lnTo>
                  <a:pt x="4929721" y="3529038"/>
                </a:lnTo>
                <a:lnTo>
                  <a:pt x="4929721" y="3212782"/>
                </a:lnTo>
                <a:close/>
              </a:path>
              <a:path w="5850255" h="3595370">
                <a:moveTo>
                  <a:pt x="5849963" y="0"/>
                </a:moveTo>
                <a:lnTo>
                  <a:pt x="5327726" y="0"/>
                </a:lnTo>
                <a:lnTo>
                  <a:pt x="5327726" y="316255"/>
                </a:lnTo>
                <a:lnTo>
                  <a:pt x="5849963" y="316255"/>
                </a:lnTo>
                <a:lnTo>
                  <a:pt x="58499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11168089" y="1916833"/>
            <a:ext cx="567035" cy="636073"/>
          </a:xfrm>
          <a:prstGeom prst="rect">
            <a:avLst/>
          </a:prstGeom>
        </p:spPr>
        <p:txBody>
          <a:bodyPr vert="horz" wrap="square" lIns="0" tIns="43308" rIns="0" bIns="0" rtlCol="0">
            <a:spAutoFit/>
          </a:bodyPr>
          <a:lstStyle/>
          <a:p>
            <a:pPr marL="295562">
              <a:spcBef>
                <a:spcPts val="340"/>
              </a:spcBef>
            </a:pPr>
            <a:r>
              <a:rPr sz="1336" spc="-21" dirty="0">
                <a:solidFill>
                  <a:srgbClr val="177245"/>
                </a:solidFill>
                <a:latin typeface="Arial"/>
                <a:cs typeface="Arial"/>
              </a:rPr>
              <a:t>zoo</a:t>
            </a:r>
            <a:endParaRPr sz="1336">
              <a:latin typeface="Arial"/>
              <a:cs typeface="Arial"/>
            </a:endParaRPr>
          </a:p>
          <a:p>
            <a:pPr marL="26788">
              <a:spcBef>
                <a:spcPts val="418"/>
              </a:spcBef>
            </a:pPr>
            <a:r>
              <a:rPr sz="2180" i="1" spc="-18" dirty="0">
                <a:latin typeface="Times New Roman"/>
                <a:cs typeface="Times New Roman"/>
              </a:rPr>
              <a:t>W</a:t>
            </a:r>
            <a:r>
              <a:rPr sz="2320" spc="-26" baseline="-20202" dirty="0">
                <a:latin typeface="Times New Roman"/>
                <a:cs typeface="Times New Roman"/>
              </a:rPr>
              <a:t>2</a:t>
            </a:r>
            <a:endParaRPr sz="2320" baseline="-20202">
              <a:latin typeface="Times New Roman"/>
              <a:cs typeface="Times New Roman"/>
            </a:endParaRPr>
          </a:p>
        </p:txBody>
      </p:sp>
      <p:sp>
        <p:nvSpPr>
          <p:cNvPr id="132" name="Content Placeholder 131">
            <a:extLst>
              <a:ext uri="{FF2B5EF4-FFF2-40B4-BE49-F238E27FC236}">
                <a16:creationId xmlns:a16="http://schemas.microsoft.com/office/drawing/2014/main" id="{D93A5644-1006-43FE-A213-198142E1E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990600"/>
            <a:ext cx="5210312" cy="5410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RNN </a:t>
            </a:r>
            <a:r>
              <a:rPr lang="en-US" dirty="0">
                <a:solidFill>
                  <a:srgbClr val="00B050"/>
                </a:solidFill>
              </a:rPr>
              <a:t>Advantages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Can process </a:t>
            </a:r>
            <a:r>
              <a:rPr lang="en-US" dirty="0">
                <a:solidFill>
                  <a:srgbClr val="00B050"/>
                </a:solidFill>
              </a:rPr>
              <a:t>any length</a:t>
            </a:r>
            <a:r>
              <a:rPr lang="en-US" dirty="0"/>
              <a:t> input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Model size doesn’t increase</a:t>
            </a:r>
            <a:r>
              <a:rPr lang="en-US" dirty="0"/>
              <a:t> for longer input</a:t>
            </a:r>
          </a:p>
          <a:p>
            <a:pPr lvl="1"/>
            <a:r>
              <a:rPr lang="en-US" dirty="0"/>
              <a:t>Computation for step </a:t>
            </a:r>
            <a:r>
              <a:rPr lang="en-US" i="1" dirty="0"/>
              <a:t>t</a:t>
            </a:r>
            <a:r>
              <a:rPr lang="en-US" dirty="0"/>
              <a:t> can (in theory) use information from </a:t>
            </a:r>
            <a:r>
              <a:rPr lang="en-US" dirty="0">
                <a:solidFill>
                  <a:srgbClr val="00B050"/>
                </a:solidFill>
              </a:rPr>
              <a:t>many steps back</a:t>
            </a:r>
          </a:p>
          <a:p>
            <a:pPr lvl="1"/>
            <a:r>
              <a:rPr lang="en-US" dirty="0"/>
              <a:t>Weights are </a:t>
            </a:r>
            <a:r>
              <a:rPr lang="en-US" dirty="0">
                <a:solidFill>
                  <a:srgbClr val="00B050"/>
                </a:solidFill>
              </a:rPr>
              <a:t>shared</a:t>
            </a:r>
            <a:r>
              <a:rPr lang="en-US" dirty="0"/>
              <a:t>  across timesteps -&gt;  representations are  shared</a:t>
            </a:r>
          </a:p>
          <a:p>
            <a:r>
              <a:rPr lang="en-US" dirty="0"/>
              <a:t>RNN </a:t>
            </a:r>
            <a:r>
              <a:rPr lang="en-US" dirty="0">
                <a:solidFill>
                  <a:srgbClr val="C00000"/>
                </a:solidFill>
              </a:rPr>
              <a:t>Disadvantages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Recurrent computation is </a:t>
            </a:r>
            <a:r>
              <a:rPr lang="en-US" dirty="0">
                <a:solidFill>
                  <a:srgbClr val="C00000"/>
                </a:solidFill>
              </a:rPr>
              <a:t>slow</a:t>
            </a:r>
          </a:p>
          <a:p>
            <a:pPr lvl="1"/>
            <a:r>
              <a:rPr lang="en-US" dirty="0"/>
              <a:t>In practice, difficult to access information from </a:t>
            </a:r>
            <a:r>
              <a:rPr lang="en-US" dirty="0">
                <a:solidFill>
                  <a:srgbClr val="C00000"/>
                </a:solidFill>
              </a:rPr>
              <a:t>many steps back</a:t>
            </a:r>
          </a:p>
        </p:txBody>
      </p:sp>
      <p:sp>
        <p:nvSpPr>
          <p:cNvPr id="136" name="Title 135">
            <a:extLst>
              <a:ext uri="{FF2B5EF4-FFF2-40B4-BE49-F238E27FC236}">
                <a16:creationId xmlns:a16="http://schemas.microsoft.com/office/drawing/2014/main" id="{FD1AD0C6-9450-48CF-8A73-3C0EC55D9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/>
              <a:t>Why is this good?</a:t>
            </a:r>
            <a:endParaRPr lang="en-US" dirty="0"/>
          </a:p>
        </p:txBody>
      </p:sp>
      <p:sp>
        <p:nvSpPr>
          <p:cNvPr id="143" name="Slide Number Placeholder 142">
            <a:extLst>
              <a:ext uri="{FF2B5EF4-FFF2-40B4-BE49-F238E27FC236}">
                <a16:creationId xmlns:a16="http://schemas.microsoft.com/office/drawing/2014/main" id="{3D92BBB6-2D95-48AC-8571-EE240579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65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B597DB40EB548A2BE0F2D7EA3D291" ma:contentTypeVersion="4" ma:contentTypeDescription="Create a new document." ma:contentTypeScope="" ma:versionID="67aa8a13b95130bbc34076cb2215820b">
  <xsd:schema xmlns:xsd="http://www.w3.org/2001/XMLSchema" xmlns:xs="http://www.w3.org/2001/XMLSchema" xmlns:p="http://schemas.microsoft.com/office/2006/metadata/properties" xmlns:ns2="2f15783b-9d66-4350-8efe-5d8255e1b625" targetNamespace="http://schemas.microsoft.com/office/2006/metadata/properties" ma:root="true" ma:fieldsID="05d6e0c51ef7f9e31959f5f4da9e6eb0" ns2:_="">
    <xsd:import namespace="2f15783b-9d66-4350-8efe-5d8255e1b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5783b-9d66-4350-8efe-5d8255e1b6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63CA860-5957-489E-A7E5-0678AE0C854F}"/>
</file>

<file path=customXml/itemProps2.xml><?xml version="1.0" encoding="utf-8"?>
<ds:datastoreItem xmlns:ds="http://schemas.openxmlformats.org/officeDocument/2006/customXml" ds:itemID="{D02C8C43-42BD-4507-BC7B-AE8556A15733}"/>
</file>

<file path=customXml/itemProps3.xml><?xml version="1.0" encoding="utf-8"?>
<ds:datastoreItem xmlns:ds="http://schemas.openxmlformats.org/officeDocument/2006/customXml" ds:itemID="{96137996-701C-4E77-9CF0-CDFAC896B6A6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10697</TotalTime>
  <Words>3570</Words>
  <Application>Microsoft Office PowerPoint</Application>
  <PresentationFormat>Widescreen</PresentationFormat>
  <Paragraphs>658</Paragraphs>
  <Slides>65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83" baseType="lpstr">
      <vt:lpstr>Arial</vt:lpstr>
      <vt:lpstr>Calibri</vt:lpstr>
      <vt:lpstr>Cambria Math</vt:lpstr>
      <vt:lpstr>Courier New</vt:lpstr>
      <vt:lpstr>Gill Sans</vt:lpstr>
      <vt:lpstr>Helvetica</vt:lpstr>
      <vt:lpstr>Helvetica Neue</vt:lpstr>
      <vt:lpstr>Helvetica-Light</vt:lpstr>
      <vt:lpstr>HelveticaNeue-BoldItalic</vt:lpstr>
      <vt:lpstr>HelveticaNeue-Light</vt:lpstr>
      <vt:lpstr>HelveticaNeue-LightItalic</vt:lpstr>
      <vt:lpstr>Lucida Grande</vt:lpstr>
      <vt:lpstr>Source Code Pro</vt:lpstr>
      <vt:lpstr>Symbol</vt:lpstr>
      <vt:lpstr>Times New Roman</vt:lpstr>
      <vt:lpstr>Trebuchet MS</vt:lpstr>
      <vt:lpstr>Wingdings</vt:lpstr>
      <vt:lpstr>Main</vt:lpstr>
      <vt:lpstr>Neural Language Models</vt:lpstr>
      <vt:lpstr>Intro</vt:lpstr>
      <vt:lpstr>You use Language Models every day!</vt:lpstr>
      <vt:lpstr>Probabilistic Language Modeling</vt:lpstr>
      <vt:lpstr>How to compute P(W)</vt:lpstr>
      <vt:lpstr>Reminder: The Chain Rule</vt:lpstr>
      <vt:lpstr>Chain Rule for computing joint probability</vt:lpstr>
      <vt:lpstr>How to estimate these probabilities</vt:lpstr>
      <vt:lpstr>Markov Assumption</vt:lpstr>
      <vt:lpstr>PowerPoint Presentation</vt:lpstr>
      <vt:lpstr>Simplest Case: Unigram Model</vt:lpstr>
      <vt:lpstr>Simplest case: Unigram model</vt:lpstr>
      <vt:lpstr>Decoding from an LM</vt:lpstr>
      <vt:lpstr>Approximating Shakespeare</vt:lpstr>
      <vt:lpstr>N-gram models</vt:lpstr>
      <vt:lpstr>Estimating Bigram Probabilities</vt:lpstr>
      <vt:lpstr>An Example</vt:lpstr>
      <vt:lpstr>Demo</vt:lpstr>
      <vt:lpstr>Evaluation: How good is our model?</vt:lpstr>
      <vt:lpstr>Evaluation: How good is our model?</vt:lpstr>
      <vt:lpstr>Example</vt:lpstr>
      <vt:lpstr>Training on the test set</vt:lpstr>
      <vt:lpstr>Perplexity</vt:lpstr>
      <vt:lpstr>Perplexity as branching factor</vt:lpstr>
      <vt:lpstr>In practice, we use log probs</vt:lpstr>
      <vt:lpstr>Lower Perplexity = Better Model</vt:lpstr>
      <vt:lpstr>Shakespeare as corpus</vt:lpstr>
      <vt:lpstr>Zeros</vt:lpstr>
      <vt:lpstr>The intuition of smoothing</vt:lpstr>
      <vt:lpstr>Problems with n-gram models</vt:lpstr>
      <vt:lpstr>Problems with n-gram models</vt:lpstr>
      <vt:lpstr>Another issue</vt:lpstr>
      <vt:lpstr>One-hot Vectors</vt:lpstr>
      <vt:lpstr>All words are equally (dis)similar!</vt:lpstr>
      <vt:lpstr>Enter neural networks!</vt:lpstr>
      <vt:lpstr>Words as basic building blocks</vt:lpstr>
      <vt:lpstr>Composing embeddings</vt:lpstr>
      <vt:lpstr>Next word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We’ll use the softmax function!</vt:lpstr>
      <vt:lpstr>So to sum up…</vt:lpstr>
      <vt:lpstr>Now that we know  how to predict “books”, let’s focus on  how to compute the  prefix representation x in  the first  place!</vt:lpstr>
      <vt:lpstr>Composition functions</vt:lpstr>
      <vt:lpstr>Let’s look first at concatenation, an  easy to understand but limited composition function</vt:lpstr>
      <vt:lpstr>A fixed-window neural Language Model</vt:lpstr>
      <vt:lpstr>A fixed-window neural Language Model</vt:lpstr>
      <vt:lpstr>A fixed-window neural Language Model</vt:lpstr>
      <vt:lpstr>A fixed-window neural Language Model</vt:lpstr>
      <vt:lpstr>A fixed-window neural Language Model</vt:lpstr>
      <vt:lpstr>how does this compare to a normal n-gram model?</vt:lpstr>
      <vt:lpstr>Recurrent Neural Networks!</vt:lpstr>
      <vt:lpstr>An RNN Language Model</vt:lpstr>
      <vt:lpstr>Why is this good?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153</cp:revision>
  <dcterms:created xsi:type="dcterms:W3CDTF">2021-09-22T08:38:12Z</dcterms:created>
  <dcterms:modified xsi:type="dcterms:W3CDTF">2024-02-25T15:22:20Z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0x010100008B597DB40EB548A2BE0F2D7EA3D291</vt:lpwstr>
  </property>
</Properties>
</file>