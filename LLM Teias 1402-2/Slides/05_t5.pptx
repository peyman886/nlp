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8"/>
  </p:notesMasterIdLst>
  <p:sldIdLst>
    <p:sldId id="367" r:id="rId2"/>
    <p:sldId id="257" r:id="rId3"/>
    <p:sldId id="258" r:id="rId4"/>
    <p:sldId id="259" r:id="rId5"/>
    <p:sldId id="260" r:id="rId6"/>
    <p:sldId id="261" r:id="rId7"/>
    <p:sldId id="262" r:id="rId8"/>
    <p:sldId id="370" r:id="rId9"/>
    <p:sldId id="368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71" r:id="rId18"/>
    <p:sldId id="372" r:id="rId19"/>
    <p:sldId id="270" r:id="rId20"/>
    <p:sldId id="373" r:id="rId21"/>
    <p:sldId id="272" r:id="rId22"/>
    <p:sldId id="273" r:id="rId23"/>
    <p:sldId id="374" r:id="rId24"/>
    <p:sldId id="274" r:id="rId25"/>
    <p:sldId id="275" r:id="rId26"/>
    <p:sldId id="276" r:id="rId27"/>
    <p:sldId id="369" r:id="rId28"/>
    <p:sldId id="278" r:id="rId29"/>
    <p:sldId id="283" r:id="rId30"/>
    <p:sldId id="284" r:id="rId31"/>
    <p:sldId id="285" r:id="rId32"/>
    <p:sldId id="286" r:id="rId33"/>
    <p:sldId id="287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288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391" r:id="rId52"/>
    <p:sldId id="392" r:id="rId53"/>
    <p:sldId id="290" r:id="rId54"/>
    <p:sldId id="291" r:id="rId55"/>
    <p:sldId id="393" r:id="rId56"/>
    <p:sldId id="394" r:id="rId57"/>
    <p:sldId id="395" r:id="rId58"/>
    <p:sldId id="396" r:id="rId59"/>
    <p:sldId id="397" r:id="rId60"/>
    <p:sldId id="398" r:id="rId61"/>
    <p:sldId id="399" r:id="rId62"/>
    <p:sldId id="298" r:id="rId63"/>
    <p:sldId id="400" r:id="rId64"/>
    <p:sldId id="271" r:id="rId65"/>
    <p:sldId id="293" r:id="rId66"/>
    <p:sldId id="294" r:id="rId67"/>
    <p:sldId id="295" r:id="rId68"/>
    <p:sldId id="296" r:id="rId69"/>
    <p:sldId id="297" r:id="rId70"/>
    <p:sldId id="299" r:id="rId71"/>
    <p:sldId id="301" r:id="rId72"/>
    <p:sldId id="302" r:id="rId73"/>
    <p:sldId id="303" r:id="rId74"/>
    <p:sldId id="304" r:id="rId75"/>
    <p:sldId id="305" r:id="rId76"/>
    <p:sldId id="306" r:id="rId77"/>
    <p:sldId id="307" r:id="rId78"/>
    <p:sldId id="308" r:id="rId79"/>
    <p:sldId id="309" r:id="rId80"/>
    <p:sldId id="310" r:id="rId81"/>
    <p:sldId id="311" r:id="rId82"/>
    <p:sldId id="312" r:id="rId83"/>
    <p:sldId id="313" r:id="rId84"/>
    <p:sldId id="314" r:id="rId85"/>
    <p:sldId id="315" r:id="rId86"/>
    <p:sldId id="316" r:id="rId8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81224" autoAdjust="0"/>
  </p:normalViewPr>
  <p:slideViewPr>
    <p:cSldViewPr snapToGrid="0">
      <p:cViewPr varScale="1">
        <p:scale>
          <a:sx n="83" d="100"/>
          <a:sy n="83" d="100"/>
        </p:scale>
        <p:origin x="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95" Type="http://schemas.openxmlformats.org/officeDocument/2006/relationships/customXml" Target="../customXml/item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3/9/2024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>
                <a:latin typeface="ArialMT"/>
              </a:rPr>
              <a:t>LM looks at both input and target, while</a:t>
            </a:r>
          </a:p>
          <a:p>
            <a:pPr algn="l"/>
            <a:r>
              <a:rPr lang="en-US" sz="1200" b="0" i="0" u="none" strike="noStrike" baseline="0" dirty="0">
                <a:latin typeface="ArialMT"/>
              </a:rPr>
              <a:t>encoder only looks at input sequence and</a:t>
            </a:r>
          </a:p>
          <a:p>
            <a:pPr algn="l"/>
            <a:r>
              <a:rPr lang="en-US" sz="1200" b="0" i="0" u="none" strike="noStrike" baseline="0" dirty="0">
                <a:latin typeface="ArialMT"/>
              </a:rPr>
              <a:t>decoder looks at output sequence.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26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53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Mass-style is like </a:t>
            </a:r>
            <a:r>
              <a:rPr lang="en-US" dirty="0" err="1"/>
              <a:t>bert</a:t>
            </a:r>
            <a:r>
              <a:rPr lang="en-US" dirty="0"/>
              <a:t> but without random tokens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01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ArialMT"/>
              </a:rPr>
              <a:t>Pre-training on in-domain data tends to help downstream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84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05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>
                <a:latin typeface="ArialMT"/>
              </a:rPr>
              <a:t>1. Multi-task pre-training + fine-tuning works as well as unsupervised pre-training + fine-tuning.</a:t>
            </a:r>
          </a:p>
          <a:p>
            <a:pPr algn="l"/>
            <a:r>
              <a:rPr lang="en-US" sz="1200" b="0" i="0" u="none" strike="noStrike" baseline="0" dirty="0">
                <a:latin typeface="ArialMT"/>
              </a:rPr>
              <a:t>2. Practical benefit of Multi-task pre-training + fine-tuning is to monitor downstream performance</a:t>
            </a:r>
          </a:p>
          <a:p>
            <a:pPr algn="l"/>
            <a:r>
              <a:rPr lang="en-US" sz="1200" b="0" i="0" u="none" strike="noStrike" baseline="0" dirty="0">
                <a:latin typeface="ArialMT"/>
              </a:rPr>
              <a:t>during pre-training.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11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little masking: </a:t>
            </a:r>
          </a:p>
          <a:p>
            <a:r>
              <a:rPr lang="en-US" dirty="0"/>
              <a:t>Too expensive to train </a:t>
            </a:r>
          </a:p>
          <a:p>
            <a:r>
              <a:rPr lang="en-US" dirty="0"/>
              <a:t>Too much masking: </a:t>
            </a:r>
          </a:p>
          <a:p>
            <a:r>
              <a:rPr lang="en-US" dirty="0"/>
              <a:t>Not enough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3F2AAA-D2D9-404C-99C1-E8B97E3CB544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36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639" y="242316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195" y="5035617"/>
            <a:ext cx="36776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  <a:p>
            <a:pPr algn="ctr"/>
            <a:r>
              <a:rPr lang="en-US" sz="2400" b="0" dirty="0">
                <a:latin typeface="+mj-lt"/>
              </a:rPr>
              <a:t>Mohammad Javad </a:t>
            </a:r>
            <a:r>
              <a:rPr lang="en-US" sz="2400" b="0" dirty="0" err="1">
                <a:latin typeface="+mj-lt"/>
              </a:rPr>
              <a:t>Dousti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0B603-B01F-ED0C-0B6F-B58531A1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E32C6-F01F-FCD4-7174-2ED528ADB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D39A4-7EF6-1C27-5295-E2B43BB8CFDB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17802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40384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32E36-2BF4-11A0-CF58-A8CDA0086211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612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99C0-AAD6-484A-918C-5F008DDE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55191-551E-47CF-86AA-7B88D665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13E2-409F-499F-A296-4F76746C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3438-B4B3-4297-BE45-25935018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42B98-CC06-D7F5-D223-637C743FA0E2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</p:spTree>
    <p:extLst>
      <p:ext uri="{BB962C8B-B14F-4D97-AF65-F5344CB8AC3E}">
        <p14:creationId xmlns:p14="http://schemas.microsoft.com/office/powerpoint/2010/main" val="150328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73" r:id="rId7"/>
    <p:sldLayoutId id="2147483674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sota/question-answering-on-squad11-dev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sota/question-answering-on-squad11-dev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illustrated-transformer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g"/><Relationship Id="rId5" Type="http://schemas.openxmlformats.org/officeDocument/2006/relationships/image" Target="../media/image38.jpg"/><Relationship Id="rId4" Type="http://schemas.openxmlformats.org/officeDocument/2006/relationships/image" Target="../media/image34.jp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google-research/text-to-text-transfer-transformer" TargetMode="External"/><Relationship Id="rId4" Type="http://schemas.openxmlformats.org/officeDocument/2006/relationships/image" Target="../media/image46.jp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/>
              <a:t>Encoder-Decoder Pretrained Models: T5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39387-D27A-4717-A2A3-54677254CC7A}"/>
              </a:ext>
            </a:extLst>
          </p:cNvPr>
          <p:cNvSpPr txBox="1"/>
          <p:nvPr/>
        </p:nvSpPr>
        <p:spPr>
          <a:xfrm>
            <a:off x="0" y="6550223"/>
            <a:ext cx="5386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Slides are adopted from Advanced NLP course at UMass.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875AF-4830-3395-04A9-A8F37D6CFA98}"/>
              </a:ext>
            </a:extLst>
          </p:cNvPr>
          <p:cNvSpPr txBox="1"/>
          <p:nvPr/>
        </p:nvSpPr>
        <p:spPr>
          <a:xfrm>
            <a:off x="270164" y="6442501"/>
            <a:ext cx="60979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100" dirty="0"/>
              <a:t>From Colin </a:t>
            </a:r>
            <a:r>
              <a:rPr lang="en-US" sz="1100" dirty="0" err="1"/>
              <a:t>Raffel</a:t>
            </a:r>
            <a:r>
              <a:rPr lang="en-US" sz="1100"/>
              <a:t>: What can MIR learn from transfer learning in NLP?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6700" y="1707489"/>
            <a:ext cx="11658600" cy="1999179"/>
          </a:xfrm>
        </p:spPr>
        <p:txBody>
          <a:bodyPr vert="horz" wrap="square" lIns="0" tIns="1693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How should we do transfer learning in NLP?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What is transfer learning and what makes it so useful?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071" y="645895"/>
            <a:ext cx="5537200" cy="3973407"/>
            <a:chOff x="134303" y="484421"/>
            <a:chExt cx="4152900" cy="2980055"/>
          </a:xfrm>
        </p:grpSpPr>
        <p:sp>
          <p:nvSpPr>
            <p:cNvPr id="3" name="object 3"/>
            <p:cNvSpPr/>
            <p:nvPr/>
          </p:nvSpPr>
          <p:spPr>
            <a:xfrm>
              <a:off x="143828" y="493946"/>
              <a:ext cx="4133850" cy="2961005"/>
            </a:xfrm>
            <a:custGeom>
              <a:avLst/>
              <a:gdLst/>
              <a:ahLst/>
              <a:cxnLst/>
              <a:rect l="l" t="t" r="r" b="b"/>
              <a:pathLst>
                <a:path w="4133850" h="2961004">
                  <a:moveTo>
                    <a:pt x="3888854" y="2960999"/>
                  </a:moveTo>
                  <a:lnTo>
                    <a:pt x="244845" y="2960999"/>
                  </a:lnTo>
                  <a:lnTo>
                    <a:pt x="195500" y="2956025"/>
                  </a:lnTo>
                  <a:lnTo>
                    <a:pt x="149540" y="2941758"/>
                  </a:lnTo>
                  <a:lnTo>
                    <a:pt x="107949" y="2919184"/>
                  </a:lnTo>
                  <a:lnTo>
                    <a:pt x="71713" y="2889286"/>
                  </a:lnTo>
                  <a:lnTo>
                    <a:pt x="41815" y="2853050"/>
                  </a:lnTo>
                  <a:lnTo>
                    <a:pt x="19241" y="2811459"/>
                  </a:lnTo>
                  <a:lnTo>
                    <a:pt x="4974" y="2765499"/>
                  </a:lnTo>
                  <a:lnTo>
                    <a:pt x="0" y="2716154"/>
                  </a:lnTo>
                  <a:lnTo>
                    <a:pt x="0" y="244845"/>
                  </a:lnTo>
                  <a:lnTo>
                    <a:pt x="4974" y="195500"/>
                  </a:lnTo>
                  <a:lnTo>
                    <a:pt x="19241" y="149540"/>
                  </a:lnTo>
                  <a:lnTo>
                    <a:pt x="41815" y="107949"/>
                  </a:lnTo>
                  <a:lnTo>
                    <a:pt x="71713" y="71713"/>
                  </a:lnTo>
                  <a:lnTo>
                    <a:pt x="107949" y="41815"/>
                  </a:lnTo>
                  <a:lnTo>
                    <a:pt x="149540" y="19241"/>
                  </a:lnTo>
                  <a:lnTo>
                    <a:pt x="195500" y="4974"/>
                  </a:lnTo>
                  <a:lnTo>
                    <a:pt x="244845" y="0"/>
                  </a:lnTo>
                  <a:lnTo>
                    <a:pt x="3888854" y="0"/>
                  </a:lnTo>
                  <a:lnTo>
                    <a:pt x="3936844" y="4748"/>
                  </a:lnTo>
                  <a:lnTo>
                    <a:pt x="3982553" y="18637"/>
                  </a:lnTo>
                  <a:lnTo>
                    <a:pt x="4024694" y="41136"/>
                  </a:lnTo>
                  <a:lnTo>
                    <a:pt x="4061986" y="71713"/>
                  </a:lnTo>
                  <a:lnTo>
                    <a:pt x="4092563" y="109004"/>
                  </a:lnTo>
                  <a:lnTo>
                    <a:pt x="4115062" y="151146"/>
                  </a:lnTo>
                  <a:lnTo>
                    <a:pt x="4128951" y="196855"/>
                  </a:lnTo>
                  <a:lnTo>
                    <a:pt x="4133699" y="244845"/>
                  </a:lnTo>
                  <a:lnTo>
                    <a:pt x="4133699" y="2716154"/>
                  </a:lnTo>
                  <a:lnTo>
                    <a:pt x="4128725" y="2765499"/>
                  </a:lnTo>
                  <a:lnTo>
                    <a:pt x="4114458" y="2811459"/>
                  </a:lnTo>
                  <a:lnTo>
                    <a:pt x="4091884" y="2853050"/>
                  </a:lnTo>
                  <a:lnTo>
                    <a:pt x="4061986" y="2889286"/>
                  </a:lnTo>
                  <a:lnTo>
                    <a:pt x="4025750" y="2919184"/>
                  </a:lnTo>
                  <a:lnTo>
                    <a:pt x="3984159" y="2941758"/>
                  </a:lnTo>
                  <a:lnTo>
                    <a:pt x="3938199" y="2956025"/>
                  </a:lnTo>
                  <a:lnTo>
                    <a:pt x="3888854" y="29609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3828" y="493946"/>
              <a:ext cx="4133850" cy="2961005"/>
            </a:xfrm>
            <a:custGeom>
              <a:avLst/>
              <a:gdLst/>
              <a:ahLst/>
              <a:cxnLst/>
              <a:rect l="l" t="t" r="r" b="b"/>
              <a:pathLst>
                <a:path w="4133850" h="2961004">
                  <a:moveTo>
                    <a:pt x="0" y="244845"/>
                  </a:moveTo>
                  <a:lnTo>
                    <a:pt x="4974" y="195500"/>
                  </a:lnTo>
                  <a:lnTo>
                    <a:pt x="19241" y="149540"/>
                  </a:lnTo>
                  <a:lnTo>
                    <a:pt x="41815" y="107949"/>
                  </a:lnTo>
                  <a:lnTo>
                    <a:pt x="71713" y="71713"/>
                  </a:lnTo>
                  <a:lnTo>
                    <a:pt x="107949" y="41815"/>
                  </a:lnTo>
                  <a:lnTo>
                    <a:pt x="149540" y="19241"/>
                  </a:lnTo>
                  <a:lnTo>
                    <a:pt x="195500" y="4974"/>
                  </a:lnTo>
                  <a:lnTo>
                    <a:pt x="244845" y="0"/>
                  </a:lnTo>
                  <a:lnTo>
                    <a:pt x="3888854" y="0"/>
                  </a:lnTo>
                  <a:lnTo>
                    <a:pt x="3936844" y="4748"/>
                  </a:lnTo>
                  <a:lnTo>
                    <a:pt x="3982553" y="18637"/>
                  </a:lnTo>
                  <a:lnTo>
                    <a:pt x="4024694" y="41136"/>
                  </a:lnTo>
                  <a:lnTo>
                    <a:pt x="4061986" y="71713"/>
                  </a:lnTo>
                  <a:lnTo>
                    <a:pt x="4092563" y="109004"/>
                  </a:lnTo>
                  <a:lnTo>
                    <a:pt x="4115062" y="151146"/>
                  </a:lnTo>
                  <a:lnTo>
                    <a:pt x="4128951" y="196855"/>
                  </a:lnTo>
                  <a:lnTo>
                    <a:pt x="4133699" y="244845"/>
                  </a:lnTo>
                  <a:lnTo>
                    <a:pt x="4133699" y="2716154"/>
                  </a:lnTo>
                  <a:lnTo>
                    <a:pt x="4128725" y="2765499"/>
                  </a:lnTo>
                  <a:lnTo>
                    <a:pt x="4114458" y="2811459"/>
                  </a:lnTo>
                  <a:lnTo>
                    <a:pt x="4091884" y="2853050"/>
                  </a:lnTo>
                  <a:lnTo>
                    <a:pt x="4061986" y="2889286"/>
                  </a:lnTo>
                  <a:lnTo>
                    <a:pt x="4025750" y="2919184"/>
                  </a:lnTo>
                  <a:lnTo>
                    <a:pt x="3984159" y="2941758"/>
                  </a:lnTo>
                  <a:lnTo>
                    <a:pt x="3938199" y="2956025"/>
                  </a:lnTo>
                  <a:lnTo>
                    <a:pt x="3888854" y="2960999"/>
                  </a:lnTo>
                  <a:lnTo>
                    <a:pt x="244845" y="2960999"/>
                  </a:lnTo>
                  <a:lnTo>
                    <a:pt x="195500" y="2956025"/>
                  </a:lnTo>
                  <a:lnTo>
                    <a:pt x="149540" y="2941758"/>
                  </a:lnTo>
                  <a:lnTo>
                    <a:pt x="107949" y="2919184"/>
                  </a:lnTo>
                  <a:lnTo>
                    <a:pt x="71713" y="2889286"/>
                  </a:lnTo>
                  <a:lnTo>
                    <a:pt x="41815" y="2853050"/>
                  </a:lnTo>
                  <a:lnTo>
                    <a:pt x="19241" y="2811459"/>
                  </a:lnTo>
                  <a:lnTo>
                    <a:pt x="4974" y="2765499"/>
                  </a:lnTo>
                  <a:lnTo>
                    <a:pt x="0" y="2716154"/>
                  </a:lnTo>
                  <a:lnTo>
                    <a:pt x="0" y="244845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7477" y="755096"/>
            <a:ext cx="5211233" cy="36982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19"/>
              </a:lnSpc>
              <a:spcBef>
                <a:spcPts val="133"/>
              </a:spcBef>
              <a:tabLst>
                <a:tab pos="1779649" algn="l"/>
              </a:tabLst>
            </a:pPr>
            <a:r>
              <a:rPr sz="1867" dirty="0">
                <a:latin typeface="Courier New"/>
                <a:cs typeface="Courier New"/>
              </a:rPr>
              <a:t>The cabs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24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the same rates as those</a:t>
            </a:r>
          </a:p>
          <a:p>
            <a:pPr marL="16933" marR="6773">
              <a:lnSpc>
                <a:spcPts val="2200"/>
              </a:lnSpc>
              <a:spcBef>
                <a:spcPts val="87"/>
              </a:spcBef>
              <a:tabLst>
                <a:tab pos="500367" algn="l"/>
                <a:tab pos="2064122" algn="l"/>
                <a:tab pos="2292716" algn="l"/>
                <a:tab pos="2633068" algn="l"/>
                <a:tab pos="5193323" algn="l"/>
              </a:tabLst>
            </a:pP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36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by </a:t>
            </a:r>
            <a:r>
              <a:rPr sz="1867" spc="-13" dirty="0">
                <a:latin typeface="Courier New"/>
                <a:cs typeface="Courier New"/>
              </a:rPr>
              <a:t>horse-</a:t>
            </a:r>
            <a:r>
              <a:rPr sz="1867" dirty="0">
                <a:latin typeface="Courier New"/>
                <a:cs typeface="Courier New"/>
              </a:rPr>
              <a:t>drawn cabs and were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quite popular,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1867" spc="28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the Prince of Wales (the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28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King Edward VII) travelled in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1867" dirty="0">
                <a:latin typeface="Courier New"/>
                <a:cs typeface="Courier New"/>
              </a:rPr>
              <a:t>.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The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cabs</a:t>
            </a:r>
            <a:r>
              <a:rPr sz="1867" spc="-13" dirty="0">
                <a:latin typeface="Courier New"/>
                <a:cs typeface="Courier New"/>
              </a:rPr>
              <a:t> quickly</a:t>
            </a:r>
            <a:endParaRPr sz="1867" dirty="0">
              <a:latin typeface="Courier New"/>
              <a:cs typeface="Courier New"/>
            </a:endParaRPr>
          </a:p>
          <a:p>
            <a:pPr marL="16933" marR="62652">
              <a:lnSpc>
                <a:spcPts val="2200"/>
              </a:lnSpc>
              <a:tabLst>
                <a:tab pos="500367" algn="l"/>
                <a:tab pos="3627876" algn="l"/>
                <a:tab pos="5051087" algn="l"/>
              </a:tabLst>
            </a:pP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38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known as "hummingbirds" for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noise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made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by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their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motors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and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their </a:t>
            </a:r>
            <a:r>
              <a:rPr sz="1867" dirty="0">
                <a:latin typeface="Courier New"/>
                <a:cs typeface="Courier New"/>
              </a:rPr>
              <a:t>distinctive black and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livery.</a:t>
            </a:r>
          </a:p>
          <a:p>
            <a:pPr marL="16933" marR="347125">
              <a:lnSpc>
                <a:spcPts val="2200"/>
              </a:lnSpc>
              <a:tabLst>
                <a:tab pos="2064122" algn="l"/>
                <a:tab pos="2490831" algn="l"/>
                <a:tab pos="2633914" algn="l"/>
              </a:tabLst>
            </a:pPr>
            <a:r>
              <a:rPr sz="1867" dirty="0">
                <a:latin typeface="Courier New"/>
                <a:cs typeface="Courier New"/>
              </a:rPr>
              <a:t>Passengers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dirty="0">
                <a:latin typeface="Times New Roman"/>
                <a:cs typeface="Times New Roman"/>
              </a:rPr>
              <a:t>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1867" spc="35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the interior fittings were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280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when compared to</a:t>
            </a:r>
          </a:p>
          <a:p>
            <a:pPr marL="16933" marR="61805">
              <a:lnSpc>
                <a:spcPts val="2200"/>
              </a:lnSpc>
              <a:tabLst>
                <a:tab pos="500367" algn="l"/>
                <a:tab pos="1779649" algn="l"/>
                <a:tab pos="2064122" algn="l"/>
                <a:tab pos="3202860" algn="l"/>
                <a:tab pos="4710736" algn="l"/>
              </a:tabLst>
            </a:pP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45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cabs but there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some complaints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1867" spc="667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the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13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lighting</a:t>
            </a:r>
            <a:r>
              <a:rPr sz="1867" spc="-1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made them too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453" dirty="0">
                <a:latin typeface="Times New Roman"/>
                <a:cs typeface="Times New Roman"/>
              </a:rPr>
              <a:t> </a:t>
            </a:r>
            <a:r>
              <a:rPr sz="1867" dirty="0">
                <a:latin typeface="Courier New"/>
                <a:cs typeface="Courier New"/>
              </a:rPr>
              <a:t>to those outside </a:t>
            </a:r>
            <a:r>
              <a:rPr sz="1867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67" spc="-67" dirty="0">
                <a:latin typeface="Courier New"/>
                <a:cs typeface="Courier New"/>
              </a:rPr>
              <a:t>.</a:t>
            </a:r>
            <a:endParaRPr sz="1867" dirty="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7267" y="5051890"/>
            <a:ext cx="4760805" cy="1596813"/>
            <a:chOff x="425450" y="3788917"/>
            <a:chExt cx="3570604" cy="1197610"/>
          </a:xfrm>
        </p:grpSpPr>
        <p:sp>
          <p:nvSpPr>
            <p:cNvPr id="7" name="object 7"/>
            <p:cNvSpPr/>
            <p:nvPr/>
          </p:nvSpPr>
          <p:spPr>
            <a:xfrm>
              <a:off x="434975" y="3798442"/>
              <a:ext cx="3551554" cy="1178560"/>
            </a:xfrm>
            <a:custGeom>
              <a:avLst/>
              <a:gdLst/>
              <a:ahLst/>
              <a:cxnLst/>
              <a:rect l="l" t="t" r="r" b="b"/>
              <a:pathLst>
                <a:path w="3551554" h="1178560">
                  <a:moveTo>
                    <a:pt x="3453982" y="1178099"/>
                  </a:moveTo>
                  <a:lnTo>
                    <a:pt x="97417" y="1178099"/>
                  </a:lnTo>
                  <a:lnTo>
                    <a:pt x="59497" y="1170444"/>
                  </a:lnTo>
                  <a:lnTo>
                    <a:pt x="28532" y="1149567"/>
                  </a:lnTo>
                  <a:lnTo>
                    <a:pt x="7655" y="1118601"/>
                  </a:lnTo>
                  <a:lnTo>
                    <a:pt x="0" y="1080682"/>
                  </a:lnTo>
                  <a:lnTo>
                    <a:pt x="0" y="97416"/>
                  </a:lnTo>
                  <a:lnTo>
                    <a:pt x="7655" y="59497"/>
                  </a:lnTo>
                  <a:lnTo>
                    <a:pt x="28532" y="28532"/>
                  </a:lnTo>
                  <a:lnTo>
                    <a:pt x="59497" y="7655"/>
                  </a:lnTo>
                  <a:lnTo>
                    <a:pt x="97417" y="0"/>
                  </a:lnTo>
                  <a:lnTo>
                    <a:pt x="3453982" y="0"/>
                  </a:lnTo>
                  <a:lnTo>
                    <a:pt x="3508029" y="16367"/>
                  </a:lnTo>
                  <a:lnTo>
                    <a:pt x="3535032" y="43369"/>
                  </a:lnTo>
                  <a:lnTo>
                    <a:pt x="3551399" y="97416"/>
                  </a:lnTo>
                  <a:lnTo>
                    <a:pt x="3551399" y="1080682"/>
                  </a:lnTo>
                  <a:lnTo>
                    <a:pt x="3543744" y="1118601"/>
                  </a:lnTo>
                  <a:lnTo>
                    <a:pt x="3522867" y="1149567"/>
                  </a:lnTo>
                  <a:lnTo>
                    <a:pt x="3491901" y="1170444"/>
                  </a:lnTo>
                  <a:lnTo>
                    <a:pt x="3453982" y="11780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4975" y="3798442"/>
              <a:ext cx="3551554" cy="1178560"/>
            </a:xfrm>
            <a:custGeom>
              <a:avLst/>
              <a:gdLst/>
              <a:ahLst/>
              <a:cxnLst/>
              <a:rect l="l" t="t" r="r" b="b"/>
              <a:pathLst>
                <a:path w="3551554" h="1178560">
                  <a:moveTo>
                    <a:pt x="0" y="97416"/>
                  </a:moveTo>
                  <a:lnTo>
                    <a:pt x="7655" y="59497"/>
                  </a:lnTo>
                  <a:lnTo>
                    <a:pt x="28532" y="28532"/>
                  </a:lnTo>
                  <a:lnTo>
                    <a:pt x="59497" y="7655"/>
                  </a:lnTo>
                  <a:lnTo>
                    <a:pt x="97417" y="0"/>
                  </a:lnTo>
                  <a:lnTo>
                    <a:pt x="3453982" y="0"/>
                  </a:lnTo>
                  <a:lnTo>
                    <a:pt x="3508029" y="16367"/>
                  </a:lnTo>
                  <a:lnTo>
                    <a:pt x="3535032" y="43369"/>
                  </a:lnTo>
                  <a:lnTo>
                    <a:pt x="3551399" y="97416"/>
                  </a:lnTo>
                  <a:lnTo>
                    <a:pt x="3551399" y="1080682"/>
                  </a:lnTo>
                  <a:lnTo>
                    <a:pt x="3543744" y="1118601"/>
                  </a:lnTo>
                  <a:lnTo>
                    <a:pt x="3522867" y="1149567"/>
                  </a:lnTo>
                  <a:lnTo>
                    <a:pt x="3491901" y="1170444"/>
                  </a:lnTo>
                  <a:lnTo>
                    <a:pt x="3453982" y="1178099"/>
                  </a:lnTo>
                  <a:lnTo>
                    <a:pt x="97417" y="1178099"/>
                  </a:lnTo>
                  <a:lnTo>
                    <a:pt x="59497" y="1170444"/>
                  </a:lnTo>
                  <a:lnTo>
                    <a:pt x="28532" y="1149567"/>
                  </a:lnTo>
                  <a:lnTo>
                    <a:pt x="7655" y="1118601"/>
                  </a:lnTo>
                  <a:lnTo>
                    <a:pt x="0" y="1080682"/>
                  </a:lnTo>
                  <a:lnTo>
                    <a:pt x="0" y="97416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6244" y="5121293"/>
            <a:ext cx="4443305" cy="144270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dirty="0">
                <a:latin typeface="Courier New"/>
                <a:cs typeface="Courier New"/>
              </a:rPr>
              <a:t>charged,</a:t>
            </a:r>
            <a:r>
              <a:rPr sz="1867" spc="-5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used,</a:t>
            </a:r>
            <a:r>
              <a:rPr sz="1867" spc="-5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initially,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even, </a:t>
            </a:r>
            <a:r>
              <a:rPr sz="1867" dirty="0">
                <a:latin typeface="Courier New"/>
                <a:cs typeface="Courier New"/>
              </a:rPr>
              <a:t>future,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became,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the,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yellow, </a:t>
            </a:r>
            <a:r>
              <a:rPr sz="1867" dirty="0">
                <a:latin typeface="Courier New"/>
                <a:cs typeface="Courier New"/>
              </a:rPr>
              <a:t>reported,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that,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luxurious, horse-</a:t>
            </a:r>
            <a:r>
              <a:rPr sz="1867" dirty="0">
                <a:latin typeface="Courier New"/>
                <a:cs typeface="Courier New"/>
              </a:rPr>
              <a:t>drawn,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were</a:t>
            </a:r>
            <a:r>
              <a:rPr sz="1867" spc="-13" dirty="0">
                <a:latin typeface="Courier New"/>
                <a:cs typeface="Courier New"/>
              </a:rPr>
              <a:t> that, </a:t>
            </a:r>
            <a:r>
              <a:rPr sz="1867" dirty="0">
                <a:latin typeface="Courier New"/>
                <a:cs typeface="Courier New"/>
              </a:rPr>
              <a:t>internal,</a:t>
            </a:r>
            <a:r>
              <a:rPr sz="1867" spc="-7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conspicuous,</a:t>
            </a:r>
            <a:r>
              <a:rPr sz="1867" spc="-67" dirty="0">
                <a:latin typeface="Courier New"/>
                <a:cs typeface="Courier New"/>
              </a:rPr>
              <a:t> </a:t>
            </a:r>
            <a:r>
              <a:rPr sz="1867" spc="-33" dirty="0">
                <a:latin typeface="Courier New"/>
                <a:cs typeface="Courier New"/>
              </a:rPr>
              <a:t>cab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06307" y="4606595"/>
            <a:ext cx="82973" cy="434340"/>
            <a:chOff x="2179730" y="3454946"/>
            <a:chExt cx="62230" cy="325755"/>
          </a:xfrm>
        </p:grpSpPr>
        <p:sp>
          <p:nvSpPr>
            <p:cNvPr id="11" name="object 11"/>
            <p:cNvSpPr/>
            <p:nvPr/>
          </p:nvSpPr>
          <p:spPr>
            <a:xfrm>
              <a:off x="2210678" y="3454946"/>
              <a:ext cx="0" cy="278765"/>
            </a:xfrm>
            <a:custGeom>
              <a:avLst/>
              <a:gdLst/>
              <a:ahLst/>
              <a:cxnLst/>
              <a:rect l="l" t="t" r="r" b="b"/>
              <a:pathLst>
                <a:path h="278764">
                  <a:moveTo>
                    <a:pt x="0" y="0"/>
                  </a:moveTo>
                  <a:lnTo>
                    <a:pt x="0" y="278213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89255" y="3711736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4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89255" y="3711736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4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754416" y="129237"/>
            <a:ext cx="6113716" cy="63265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Unsupervised pre-training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6814327" y="1763499"/>
            <a:ext cx="5212080" cy="3177540"/>
            <a:chOff x="5110745" y="1322624"/>
            <a:chExt cx="3909060" cy="2383155"/>
          </a:xfrm>
        </p:grpSpPr>
        <p:sp>
          <p:nvSpPr>
            <p:cNvPr id="16" name="object 16"/>
            <p:cNvSpPr/>
            <p:nvPr/>
          </p:nvSpPr>
          <p:spPr>
            <a:xfrm>
              <a:off x="5120270" y="1332149"/>
              <a:ext cx="3890010" cy="1661160"/>
            </a:xfrm>
            <a:custGeom>
              <a:avLst/>
              <a:gdLst/>
              <a:ahLst/>
              <a:cxnLst/>
              <a:rect l="l" t="t" r="r" b="b"/>
              <a:pathLst>
                <a:path w="3890009" h="1661160">
                  <a:moveTo>
                    <a:pt x="3752143" y="1661099"/>
                  </a:moveTo>
                  <a:lnTo>
                    <a:pt x="137356" y="1661099"/>
                  </a:lnTo>
                  <a:lnTo>
                    <a:pt x="93941" y="1654097"/>
                  </a:lnTo>
                  <a:lnTo>
                    <a:pt x="56235" y="1634598"/>
                  </a:lnTo>
                  <a:lnTo>
                    <a:pt x="26501" y="1604864"/>
                  </a:lnTo>
                  <a:lnTo>
                    <a:pt x="7002" y="1567158"/>
                  </a:lnTo>
                  <a:lnTo>
                    <a:pt x="0" y="1523743"/>
                  </a:lnTo>
                  <a:lnTo>
                    <a:pt x="0" y="137356"/>
                  </a:lnTo>
                  <a:lnTo>
                    <a:pt x="7002" y="93941"/>
                  </a:lnTo>
                  <a:lnTo>
                    <a:pt x="26501" y="56235"/>
                  </a:lnTo>
                  <a:lnTo>
                    <a:pt x="56235" y="26501"/>
                  </a:lnTo>
                  <a:lnTo>
                    <a:pt x="93941" y="7002"/>
                  </a:lnTo>
                  <a:lnTo>
                    <a:pt x="137356" y="0"/>
                  </a:lnTo>
                  <a:lnTo>
                    <a:pt x="3752143" y="0"/>
                  </a:lnTo>
                  <a:lnTo>
                    <a:pt x="3804707" y="10455"/>
                  </a:lnTo>
                  <a:lnTo>
                    <a:pt x="3849269" y="40230"/>
                  </a:lnTo>
                  <a:lnTo>
                    <a:pt x="3879043" y="84792"/>
                  </a:lnTo>
                  <a:lnTo>
                    <a:pt x="3889499" y="137356"/>
                  </a:lnTo>
                  <a:lnTo>
                    <a:pt x="3889499" y="1523743"/>
                  </a:lnTo>
                  <a:lnTo>
                    <a:pt x="3882496" y="1567158"/>
                  </a:lnTo>
                  <a:lnTo>
                    <a:pt x="3862997" y="1604864"/>
                  </a:lnTo>
                  <a:lnTo>
                    <a:pt x="3833264" y="1634598"/>
                  </a:lnTo>
                  <a:lnTo>
                    <a:pt x="3795558" y="1654097"/>
                  </a:lnTo>
                  <a:lnTo>
                    <a:pt x="3752143" y="16610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0270" y="1332149"/>
              <a:ext cx="3890010" cy="1661160"/>
            </a:xfrm>
            <a:custGeom>
              <a:avLst/>
              <a:gdLst/>
              <a:ahLst/>
              <a:cxnLst/>
              <a:rect l="l" t="t" r="r" b="b"/>
              <a:pathLst>
                <a:path w="3890009" h="1661160">
                  <a:moveTo>
                    <a:pt x="0" y="137356"/>
                  </a:moveTo>
                  <a:lnTo>
                    <a:pt x="7002" y="93941"/>
                  </a:lnTo>
                  <a:lnTo>
                    <a:pt x="26501" y="56235"/>
                  </a:lnTo>
                  <a:lnTo>
                    <a:pt x="56235" y="26501"/>
                  </a:lnTo>
                  <a:lnTo>
                    <a:pt x="93941" y="7002"/>
                  </a:lnTo>
                  <a:lnTo>
                    <a:pt x="137356" y="0"/>
                  </a:lnTo>
                  <a:lnTo>
                    <a:pt x="3752143" y="0"/>
                  </a:lnTo>
                  <a:lnTo>
                    <a:pt x="3804707" y="10455"/>
                  </a:lnTo>
                  <a:lnTo>
                    <a:pt x="3849269" y="40230"/>
                  </a:lnTo>
                  <a:lnTo>
                    <a:pt x="3879043" y="84792"/>
                  </a:lnTo>
                  <a:lnTo>
                    <a:pt x="3889499" y="137356"/>
                  </a:lnTo>
                  <a:lnTo>
                    <a:pt x="3889499" y="1523743"/>
                  </a:lnTo>
                  <a:lnTo>
                    <a:pt x="3882496" y="1567158"/>
                  </a:lnTo>
                  <a:lnTo>
                    <a:pt x="3862997" y="1604864"/>
                  </a:lnTo>
                  <a:lnTo>
                    <a:pt x="3833264" y="1634598"/>
                  </a:lnTo>
                  <a:lnTo>
                    <a:pt x="3795558" y="1654097"/>
                  </a:lnTo>
                  <a:lnTo>
                    <a:pt x="3752143" y="1661099"/>
                  </a:lnTo>
                  <a:lnTo>
                    <a:pt x="137356" y="1661099"/>
                  </a:lnTo>
                  <a:lnTo>
                    <a:pt x="93941" y="1654097"/>
                  </a:lnTo>
                  <a:lnTo>
                    <a:pt x="56235" y="1634598"/>
                  </a:lnTo>
                  <a:lnTo>
                    <a:pt x="26501" y="1604864"/>
                  </a:lnTo>
                  <a:lnTo>
                    <a:pt x="7002" y="1567158"/>
                  </a:lnTo>
                  <a:lnTo>
                    <a:pt x="0" y="1523743"/>
                  </a:lnTo>
                  <a:lnTo>
                    <a:pt x="0" y="137356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29490" y="3310992"/>
              <a:ext cx="1067435" cy="385445"/>
            </a:xfrm>
            <a:custGeom>
              <a:avLst/>
              <a:gdLst/>
              <a:ahLst/>
              <a:cxnLst/>
              <a:rect l="l" t="t" r="r" b="b"/>
              <a:pathLst>
                <a:path w="1067434" h="385445">
                  <a:moveTo>
                    <a:pt x="977302" y="384899"/>
                  </a:moveTo>
                  <a:lnTo>
                    <a:pt x="89796" y="384899"/>
                  </a:lnTo>
                  <a:lnTo>
                    <a:pt x="54843" y="377843"/>
                  </a:lnTo>
                  <a:lnTo>
                    <a:pt x="26300" y="358599"/>
                  </a:lnTo>
                  <a:lnTo>
                    <a:pt x="7056" y="330055"/>
                  </a:lnTo>
                  <a:lnTo>
                    <a:pt x="0" y="295102"/>
                  </a:lnTo>
                  <a:lnTo>
                    <a:pt x="0" y="89797"/>
                  </a:lnTo>
                  <a:lnTo>
                    <a:pt x="7056" y="54844"/>
                  </a:lnTo>
                  <a:lnTo>
                    <a:pt x="26300" y="26300"/>
                  </a:lnTo>
                  <a:lnTo>
                    <a:pt x="54843" y="7056"/>
                  </a:lnTo>
                  <a:lnTo>
                    <a:pt x="89796" y="0"/>
                  </a:lnTo>
                  <a:lnTo>
                    <a:pt x="977302" y="0"/>
                  </a:lnTo>
                  <a:lnTo>
                    <a:pt x="1027122" y="15087"/>
                  </a:lnTo>
                  <a:lnTo>
                    <a:pt x="1060264" y="55433"/>
                  </a:lnTo>
                  <a:lnTo>
                    <a:pt x="1067099" y="89797"/>
                  </a:lnTo>
                  <a:lnTo>
                    <a:pt x="1067099" y="295102"/>
                  </a:lnTo>
                  <a:lnTo>
                    <a:pt x="1060043" y="330055"/>
                  </a:lnTo>
                  <a:lnTo>
                    <a:pt x="1040798" y="358599"/>
                  </a:lnTo>
                  <a:lnTo>
                    <a:pt x="1012255" y="377843"/>
                  </a:lnTo>
                  <a:lnTo>
                    <a:pt x="977302" y="3848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29490" y="3310992"/>
              <a:ext cx="1067435" cy="385445"/>
            </a:xfrm>
            <a:custGeom>
              <a:avLst/>
              <a:gdLst/>
              <a:ahLst/>
              <a:cxnLst/>
              <a:rect l="l" t="t" r="r" b="b"/>
              <a:pathLst>
                <a:path w="1067434" h="385445">
                  <a:moveTo>
                    <a:pt x="0" y="89797"/>
                  </a:moveTo>
                  <a:lnTo>
                    <a:pt x="7056" y="54844"/>
                  </a:lnTo>
                  <a:lnTo>
                    <a:pt x="26300" y="26300"/>
                  </a:lnTo>
                  <a:lnTo>
                    <a:pt x="54843" y="7056"/>
                  </a:lnTo>
                  <a:lnTo>
                    <a:pt x="89796" y="0"/>
                  </a:lnTo>
                  <a:lnTo>
                    <a:pt x="977302" y="0"/>
                  </a:lnTo>
                  <a:lnTo>
                    <a:pt x="1027122" y="15087"/>
                  </a:lnTo>
                  <a:lnTo>
                    <a:pt x="1060264" y="55433"/>
                  </a:lnTo>
                  <a:lnTo>
                    <a:pt x="1067099" y="89797"/>
                  </a:lnTo>
                  <a:lnTo>
                    <a:pt x="1067099" y="295102"/>
                  </a:lnTo>
                  <a:lnTo>
                    <a:pt x="1060043" y="330055"/>
                  </a:lnTo>
                  <a:lnTo>
                    <a:pt x="1040798" y="358599"/>
                  </a:lnTo>
                  <a:lnTo>
                    <a:pt x="1012255" y="377843"/>
                  </a:lnTo>
                  <a:lnTo>
                    <a:pt x="977302" y="384899"/>
                  </a:lnTo>
                  <a:lnTo>
                    <a:pt x="89796" y="384899"/>
                  </a:lnTo>
                  <a:lnTo>
                    <a:pt x="54843" y="377843"/>
                  </a:lnTo>
                  <a:lnTo>
                    <a:pt x="26300" y="358599"/>
                  </a:lnTo>
                  <a:lnTo>
                    <a:pt x="7056" y="330055"/>
                  </a:lnTo>
                  <a:lnTo>
                    <a:pt x="0" y="295102"/>
                  </a:lnTo>
                  <a:lnTo>
                    <a:pt x="0" y="89797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831716" y="4505141"/>
            <a:ext cx="11717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Courier New"/>
                <a:cs typeface="Courier New"/>
              </a:rPr>
              <a:t>negative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76727" y="3978301"/>
            <a:ext cx="82973" cy="412327"/>
            <a:chOff x="7032545" y="2983725"/>
            <a:chExt cx="62230" cy="309245"/>
          </a:xfrm>
        </p:grpSpPr>
        <p:sp>
          <p:nvSpPr>
            <p:cNvPr id="22" name="object 22"/>
            <p:cNvSpPr/>
            <p:nvPr/>
          </p:nvSpPr>
          <p:spPr>
            <a:xfrm>
              <a:off x="7063351" y="2993250"/>
              <a:ext cx="1905" cy="252729"/>
            </a:xfrm>
            <a:custGeom>
              <a:avLst/>
              <a:gdLst/>
              <a:ahLst/>
              <a:cxnLst/>
              <a:rect l="l" t="t" r="r" b="b"/>
              <a:pathLst>
                <a:path w="1904" h="252730">
                  <a:moveTo>
                    <a:pt x="1668" y="0"/>
                  </a:moveTo>
                  <a:lnTo>
                    <a:pt x="0" y="25241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42070" y="3224101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034" y="59000"/>
                  </a:moveTo>
                  <a:lnTo>
                    <a:pt x="0" y="0"/>
                  </a:lnTo>
                  <a:lnTo>
                    <a:pt x="21281" y="21564"/>
                  </a:lnTo>
                  <a:lnTo>
                    <a:pt x="42846" y="283"/>
                  </a:lnTo>
                  <a:lnTo>
                    <a:pt x="21034" y="590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42070" y="3224101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4">
                  <a:moveTo>
                    <a:pt x="21281" y="21564"/>
                  </a:moveTo>
                  <a:lnTo>
                    <a:pt x="0" y="0"/>
                  </a:lnTo>
                  <a:lnTo>
                    <a:pt x="21034" y="59000"/>
                  </a:lnTo>
                  <a:lnTo>
                    <a:pt x="42846" y="283"/>
                  </a:lnTo>
                  <a:lnTo>
                    <a:pt x="21281" y="21564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998105" y="1272924"/>
            <a:ext cx="4870027" cy="26062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90671">
              <a:spcBef>
                <a:spcPts val="133"/>
              </a:spcBef>
            </a:pPr>
            <a:r>
              <a:rPr sz="2400" i="1" spc="-33" dirty="0">
                <a:latin typeface="Roboto Lt"/>
                <a:cs typeface="Roboto Lt"/>
              </a:rPr>
              <a:t>Supervised</a:t>
            </a:r>
            <a:r>
              <a:rPr sz="2400" i="1" spc="-20" dirty="0">
                <a:latin typeface="Roboto Lt"/>
                <a:cs typeface="Roboto Lt"/>
              </a:rPr>
              <a:t> </a:t>
            </a:r>
            <a:r>
              <a:rPr sz="2400" i="1" spc="-73" dirty="0">
                <a:latin typeface="Roboto Lt"/>
                <a:cs typeface="Roboto Lt"/>
              </a:rPr>
              <a:t>fine-</a:t>
            </a:r>
            <a:r>
              <a:rPr sz="2400" i="1" spc="-13" dirty="0">
                <a:latin typeface="Roboto Lt"/>
                <a:cs typeface="Roboto Lt"/>
              </a:rPr>
              <a:t>tuning</a:t>
            </a:r>
            <a:endParaRPr sz="2400">
              <a:latin typeface="Roboto Lt"/>
              <a:cs typeface="Roboto Lt"/>
            </a:endParaRPr>
          </a:p>
          <a:p>
            <a:pPr marL="16933" marR="6773">
              <a:lnSpc>
                <a:spcPts val="2200"/>
              </a:lnSpc>
              <a:spcBef>
                <a:spcPts val="1920"/>
              </a:spcBef>
            </a:pPr>
            <a:r>
              <a:rPr sz="1867" dirty="0">
                <a:latin typeface="Courier New"/>
                <a:cs typeface="Courier New"/>
              </a:rPr>
              <a:t>This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movie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is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terrible!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The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acting </a:t>
            </a:r>
            <a:r>
              <a:rPr sz="1867" dirty="0">
                <a:latin typeface="Courier New"/>
                <a:cs typeface="Courier New"/>
              </a:rPr>
              <a:t>is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bad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and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I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was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bored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the</a:t>
            </a:r>
            <a:r>
              <a:rPr sz="1867" spc="-13" dirty="0">
                <a:latin typeface="Courier New"/>
                <a:cs typeface="Courier New"/>
              </a:rPr>
              <a:t> entire </a:t>
            </a:r>
            <a:r>
              <a:rPr sz="1867" dirty="0">
                <a:latin typeface="Courier New"/>
                <a:cs typeface="Courier New"/>
              </a:rPr>
              <a:t>time.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There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was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no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plot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spc="-33" dirty="0">
                <a:latin typeface="Courier New"/>
                <a:cs typeface="Courier New"/>
              </a:rPr>
              <a:t>and </a:t>
            </a:r>
            <a:r>
              <a:rPr sz="1867" dirty="0">
                <a:latin typeface="Courier New"/>
                <a:cs typeface="Courier New"/>
              </a:rPr>
              <a:t>nothing</a:t>
            </a:r>
            <a:r>
              <a:rPr sz="1867" spc="-6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interesting</a:t>
            </a:r>
            <a:r>
              <a:rPr sz="1867" spc="-6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happened.</a:t>
            </a:r>
            <a:r>
              <a:rPr sz="1867" spc="-60" dirty="0">
                <a:latin typeface="Courier New"/>
                <a:cs typeface="Courier New"/>
              </a:rPr>
              <a:t> </a:t>
            </a:r>
            <a:r>
              <a:rPr sz="1867" spc="-67" dirty="0">
                <a:latin typeface="Courier New"/>
                <a:cs typeface="Courier New"/>
              </a:rPr>
              <a:t>I </a:t>
            </a:r>
            <a:r>
              <a:rPr sz="1867" dirty="0">
                <a:latin typeface="Courier New"/>
                <a:cs typeface="Courier New"/>
              </a:rPr>
              <a:t>was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really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surprised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since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I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spc="-33" dirty="0">
                <a:latin typeface="Courier New"/>
                <a:cs typeface="Courier New"/>
              </a:rPr>
              <a:t>had </a:t>
            </a:r>
            <a:r>
              <a:rPr sz="1867" dirty="0">
                <a:latin typeface="Courier New"/>
                <a:cs typeface="Courier New"/>
              </a:rPr>
              <a:t>very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high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expectations.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I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want</a:t>
            </a:r>
            <a:r>
              <a:rPr sz="1867" spc="-33" dirty="0">
                <a:latin typeface="Courier New"/>
                <a:cs typeface="Courier New"/>
              </a:rPr>
              <a:t> 103 </a:t>
            </a:r>
            <a:r>
              <a:rPr sz="1867" dirty="0">
                <a:latin typeface="Courier New"/>
                <a:cs typeface="Courier New"/>
              </a:rPr>
              <a:t>minutes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of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my</a:t>
            </a:r>
            <a:r>
              <a:rPr sz="1867" spc="-2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life</a:t>
            </a:r>
            <a:r>
              <a:rPr sz="1867" spc="-20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back!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38510" y="2754766"/>
            <a:ext cx="791633" cy="165100"/>
            <a:chOff x="4378882" y="2066074"/>
            <a:chExt cx="593725" cy="123825"/>
          </a:xfrm>
        </p:grpSpPr>
        <p:sp>
          <p:nvSpPr>
            <p:cNvPr id="27" name="object 27"/>
            <p:cNvSpPr/>
            <p:nvPr/>
          </p:nvSpPr>
          <p:spPr>
            <a:xfrm>
              <a:off x="4397932" y="2125607"/>
              <a:ext cx="480695" cy="3175"/>
            </a:xfrm>
            <a:custGeom>
              <a:avLst/>
              <a:gdLst/>
              <a:ahLst/>
              <a:cxnLst/>
              <a:rect l="l" t="t" r="r" b="b"/>
              <a:pathLst>
                <a:path w="480695" h="3175">
                  <a:moveTo>
                    <a:pt x="0" y="0"/>
                  </a:moveTo>
                  <a:lnTo>
                    <a:pt x="480229" y="2594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6034" y="2066074"/>
              <a:ext cx="156049" cy="1237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2201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SQuAD Exact Match score (validation set)</a:t>
            </a:r>
            <a:endParaRPr lang="en-US"/>
          </a:p>
        </p:txBody>
      </p:sp>
      <p:grpSp>
        <p:nvGrpSpPr>
          <p:cNvPr id="3" name="object 3"/>
          <p:cNvGrpSpPr/>
          <p:nvPr/>
        </p:nvGrpSpPr>
        <p:grpSpPr>
          <a:xfrm>
            <a:off x="1653235" y="1403597"/>
            <a:ext cx="7868667" cy="4814323"/>
            <a:chOff x="1459675" y="860674"/>
            <a:chExt cx="6224905" cy="3806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9675" y="860674"/>
              <a:ext cx="6117859" cy="3805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21312" y="4383425"/>
              <a:ext cx="363220" cy="234950"/>
            </a:xfrm>
            <a:custGeom>
              <a:avLst/>
              <a:gdLst/>
              <a:ahLst/>
              <a:cxnLst/>
              <a:rect l="l" t="t" r="r" b="b"/>
              <a:pathLst>
                <a:path w="363220" h="234950">
                  <a:moveTo>
                    <a:pt x="362999" y="234899"/>
                  </a:moveTo>
                  <a:lnTo>
                    <a:pt x="0" y="234899"/>
                  </a:lnTo>
                  <a:lnTo>
                    <a:pt x="0" y="0"/>
                  </a:lnTo>
                  <a:lnTo>
                    <a:pt x="362999" y="0"/>
                  </a:lnTo>
                  <a:lnTo>
                    <a:pt x="362999" y="234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54815" y="6525133"/>
            <a:ext cx="80391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i="1" spc="-27" dirty="0">
                <a:latin typeface="Roboto Lt"/>
                <a:cs typeface="Roboto Lt"/>
              </a:rPr>
              <a:t>Source:</a:t>
            </a:r>
            <a:r>
              <a:rPr sz="1600" i="1" spc="453" dirty="0">
                <a:latin typeface="Roboto Lt"/>
                <a:cs typeface="Roboto Lt"/>
              </a:rPr>
              <a:t> </a:t>
            </a:r>
            <a:r>
              <a:rPr sz="1600" i="1" u="heavy" spc="-5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3"/>
              </a:rPr>
              <a:t>https://paperswithcode.com/sota/question-answering-on-squad11-</a:t>
            </a:r>
            <a:r>
              <a:rPr sz="1600" i="1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3"/>
              </a:rPr>
              <a:t>dev</a:t>
            </a:r>
            <a:endParaRPr sz="16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46063" y="1119324"/>
            <a:ext cx="8299873" cy="5074920"/>
            <a:chOff x="1459675" y="860674"/>
            <a:chExt cx="6224905" cy="3806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9675" y="860674"/>
              <a:ext cx="6117859" cy="38057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21312" y="4383425"/>
              <a:ext cx="363220" cy="234950"/>
            </a:xfrm>
            <a:custGeom>
              <a:avLst/>
              <a:gdLst/>
              <a:ahLst/>
              <a:cxnLst/>
              <a:rect l="l" t="t" r="r" b="b"/>
              <a:pathLst>
                <a:path w="363220" h="234950">
                  <a:moveTo>
                    <a:pt x="362999" y="234899"/>
                  </a:moveTo>
                  <a:lnTo>
                    <a:pt x="0" y="234899"/>
                  </a:lnTo>
                  <a:lnTo>
                    <a:pt x="0" y="0"/>
                  </a:lnTo>
                  <a:lnTo>
                    <a:pt x="362999" y="0"/>
                  </a:lnTo>
                  <a:lnTo>
                    <a:pt x="362999" y="234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174425" y="6275518"/>
            <a:ext cx="80391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spc="-27" dirty="0">
                <a:latin typeface="Roboto Lt"/>
                <a:cs typeface="Roboto Lt"/>
              </a:rPr>
              <a:t>Source:</a:t>
            </a:r>
            <a:r>
              <a:rPr sz="1867" i="1" spc="453" dirty="0">
                <a:latin typeface="Roboto Lt"/>
                <a:cs typeface="Roboto Lt"/>
              </a:rPr>
              <a:t> </a:t>
            </a:r>
            <a:r>
              <a:rPr sz="1867" i="1" u="heavy" spc="-5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3"/>
              </a:rPr>
              <a:t>https://paperswithcode.com/sota/question-answering-on-squad11-</a:t>
            </a:r>
            <a:r>
              <a:rPr sz="1867" i="1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3"/>
              </a:rPr>
              <a:t>dev</a:t>
            </a:r>
            <a:endParaRPr sz="1867">
              <a:latin typeface="Roboto Lt"/>
              <a:cs typeface="Roboto Lt"/>
            </a:endParaRPr>
          </a:p>
        </p:txBody>
      </p:sp>
      <p:sp>
        <p:nvSpPr>
          <p:cNvPr id="6" name="object 6"/>
          <p:cNvSpPr txBox="1"/>
          <p:nvPr/>
        </p:nvSpPr>
        <p:spPr>
          <a:xfrm rot="3480000">
            <a:off x="3344153" y="393542"/>
            <a:ext cx="762552" cy="3383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73"/>
              </a:lnSpc>
            </a:pPr>
            <a:r>
              <a:rPr sz="26666" spc="-67" dirty="0">
                <a:latin typeface="Roboto Th"/>
                <a:cs typeface="Roboto Th"/>
              </a:rPr>
              <a:t>{</a:t>
            </a:r>
            <a:endParaRPr sz="26666" dirty="0">
              <a:latin typeface="Roboto Th"/>
              <a:cs typeface="Roboto Th"/>
            </a:endParaRPr>
          </a:p>
        </p:txBody>
      </p:sp>
      <p:sp>
        <p:nvSpPr>
          <p:cNvPr id="7" name="object 7"/>
          <p:cNvSpPr txBox="1"/>
          <p:nvPr/>
        </p:nvSpPr>
        <p:spPr>
          <a:xfrm rot="4200000">
            <a:off x="7558021" y="-453686"/>
            <a:ext cx="1380546" cy="2718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19"/>
              </a:lnSpc>
            </a:pPr>
            <a:r>
              <a:rPr sz="21333" spc="-67" dirty="0">
                <a:latin typeface="Roboto Th"/>
                <a:cs typeface="Roboto Th"/>
              </a:rPr>
              <a:t>{</a:t>
            </a:r>
            <a:endParaRPr sz="21333" dirty="0">
              <a:latin typeface="Roboto Th"/>
              <a:cs typeface="Roboto Th"/>
            </a:endParaRPr>
          </a:p>
        </p:txBody>
      </p:sp>
      <p:sp>
        <p:nvSpPr>
          <p:cNvPr id="8" name="object 8"/>
          <p:cNvSpPr txBox="1"/>
          <p:nvPr/>
        </p:nvSpPr>
        <p:spPr>
          <a:xfrm rot="20520000">
            <a:off x="7035780" y="1126709"/>
            <a:ext cx="252136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7"/>
              </a:lnSpc>
            </a:pPr>
            <a:r>
              <a:rPr sz="2667" spc="-33" dirty="0">
                <a:latin typeface="Roboto Lt"/>
                <a:cs typeface="Roboto Lt"/>
              </a:rPr>
              <a:t>Transf</a:t>
            </a:r>
            <a:r>
              <a:rPr sz="4000" spc="-49" baseline="1388" dirty="0">
                <a:latin typeface="Roboto Lt"/>
                <a:cs typeface="Roboto Lt"/>
              </a:rPr>
              <a:t>er</a:t>
            </a:r>
            <a:r>
              <a:rPr sz="4000" spc="-149" baseline="1388" dirty="0">
                <a:latin typeface="Roboto Lt"/>
                <a:cs typeface="Roboto Lt"/>
              </a:rPr>
              <a:t> </a:t>
            </a:r>
            <a:r>
              <a:rPr sz="4000" spc="-20" baseline="1388" dirty="0">
                <a:latin typeface="Roboto Lt"/>
                <a:cs typeface="Roboto Lt"/>
              </a:rPr>
              <a:t>learning</a:t>
            </a:r>
            <a:endParaRPr sz="4000" baseline="1388" dirty="0">
              <a:latin typeface="Roboto Lt"/>
              <a:cs typeface="Roboto Lt"/>
            </a:endParaRPr>
          </a:p>
        </p:txBody>
      </p:sp>
      <p:sp>
        <p:nvSpPr>
          <p:cNvPr id="9" name="object 9"/>
          <p:cNvSpPr txBox="1"/>
          <p:nvPr/>
        </p:nvSpPr>
        <p:spPr>
          <a:xfrm rot="19920000">
            <a:off x="2696329" y="2798490"/>
            <a:ext cx="2950659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7"/>
              </a:lnSpc>
            </a:pPr>
            <a:r>
              <a:rPr sz="2667" dirty="0">
                <a:latin typeface="Roboto Lt"/>
                <a:cs typeface="Roboto Lt"/>
              </a:rPr>
              <a:t>No</a:t>
            </a:r>
            <a:r>
              <a:rPr sz="2667" spc="-53" dirty="0">
                <a:latin typeface="Roboto Lt"/>
                <a:cs typeface="Roboto Lt"/>
              </a:rPr>
              <a:t> </a:t>
            </a:r>
            <a:r>
              <a:rPr sz="4000" spc="-40" baseline="1388" dirty="0">
                <a:latin typeface="Roboto Lt"/>
                <a:cs typeface="Roboto Lt"/>
              </a:rPr>
              <a:t>transf</a:t>
            </a:r>
            <a:r>
              <a:rPr sz="4000" spc="-40" baseline="2777" dirty="0">
                <a:latin typeface="Roboto Lt"/>
                <a:cs typeface="Roboto Lt"/>
              </a:rPr>
              <a:t>er</a:t>
            </a:r>
            <a:r>
              <a:rPr sz="4000" spc="-80" baseline="2777" dirty="0">
                <a:latin typeface="Roboto Lt"/>
                <a:cs typeface="Roboto Lt"/>
              </a:rPr>
              <a:t> </a:t>
            </a:r>
            <a:r>
              <a:rPr sz="4000" spc="-20" baseline="4166" dirty="0">
                <a:latin typeface="Roboto Lt"/>
                <a:cs typeface="Roboto Lt"/>
              </a:rPr>
              <a:t>learning</a:t>
            </a:r>
            <a:endParaRPr sz="4000" baseline="4166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5615" y="5146029"/>
            <a:ext cx="10825479" cy="124460"/>
            <a:chOff x="394211" y="3859521"/>
            <a:chExt cx="8119109" cy="93345"/>
          </a:xfrm>
        </p:grpSpPr>
        <p:sp>
          <p:nvSpPr>
            <p:cNvPr id="3" name="object 3"/>
            <p:cNvSpPr/>
            <p:nvPr/>
          </p:nvSpPr>
          <p:spPr>
            <a:xfrm>
              <a:off x="464654" y="3905943"/>
              <a:ext cx="7978140" cy="0"/>
            </a:xfrm>
            <a:custGeom>
              <a:avLst/>
              <a:gdLst/>
              <a:ahLst/>
              <a:cxnLst/>
              <a:rect l="l" t="t" r="r" b="b"/>
              <a:pathLst>
                <a:path w="7978140">
                  <a:moveTo>
                    <a:pt x="0" y="0"/>
                  </a:moveTo>
                  <a:lnTo>
                    <a:pt x="7977941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211" y="3859521"/>
              <a:ext cx="116865" cy="928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6173" y="3859521"/>
              <a:ext cx="116864" cy="9284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 rot="18900000">
            <a:off x="663412" y="4456564"/>
            <a:ext cx="133242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spc="-27" dirty="0">
                <a:latin typeface="Roboto Lt"/>
                <a:cs typeface="Roboto Lt"/>
              </a:rPr>
              <a:t>word2vec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9737160" y="4857968"/>
            <a:ext cx="58188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27" dirty="0">
                <a:latin typeface="Roboto Lt"/>
                <a:cs typeface="Roboto Lt"/>
              </a:rPr>
              <a:t>MASS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9434" y="5106966"/>
            <a:ext cx="8632613" cy="260773"/>
          </a:xfrm>
          <a:custGeom>
            <a:avLst/>
            <a:gdLst/>
            <a:ahLst/>
            <a:cxnLst/>
            <a:rect l="l" t="t" r="r" b="b"/>
            <a:pathLst>
              <a:path w="6474459" h="195579">
                <a:moveTo>
                  <a:pt x="0" y="79799"/>
                </a:moveTo>
                <a:lnTo>
                  <a:pt x="79799" y="0"/>
                </a:lnTo>
              </a:path>
              <a:path w="6474459" h="195579">
                <a:moveTo>
                  <a:pt x="6473999" y="80399"/>
                </a:moveTo>
                <a:lnTo>
                  <a:pt x="6473999" y="1949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9026660" y="5328685"/>
            <a:ext cx="7095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Roboto Lt"/>
                <a:cs typeface="Roboto Lt"/>
              </a:rPr>
              <a:t>2019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774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1" name="object 11"/>
          <p:cNvSpPr txBox="1"/>
          <p:nvPr/>
        </p:nvSpPr>
        <p:spPr>
          <a:xfrm>
            <a:off x="2422660" y="5328685"/>
            <a:ext cx="7095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Roboto Lt"/>
                <a:cs typeface="Roboto Lt"/>
              </a:rPr>
              <a:t>2015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03033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3" name="object 13"/>
          <p:cNvSpPr txBox="1"/>
          <p:nvPr/>
        </p:nvSpPr>
        <p:spPr>
          <a:xfrm>
            <a:off x="4048260" y="5328685"/>
            <a:ext cx="7095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Roboto Lt"/>
                <a:cs typeface="Roboto Lt"/>
              </a:rPr>
              <a:t>2016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286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5" name="object 15"/>
          <p:cNvSpPr txBox="1"/>
          <p:nvPr/>
        </p:nvSpPr>
        <p:spPr>
          <a:xfrm>
            <a:off x="5673860" y="5328685"/>
            <a:ext cx="7095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Roboto Lt"/>
                <a:cs typeface="Roboto Lt"/>
              </a:rPr>
              <a:t>2017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558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7" name="object 17"/>
          <p:cNvSpPr txBox="1"/>
          <p:nvPr/>
        </p:nvSpPr>
        <p:spPr>
          <a:xfrm>
            <a:off x="7401060" y="5328685"/>
            <a:ext cx="7095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Roboto Lt"/>
                <a:cs typeface="Roboto Lt"/>
              </a:rPr>
              <a:t>2018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518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9" name="object 19"/>
          <p:cNvSpPr txBox="1"/>
          <p:nvPr/>
        </p:nvSpPr>
        <p:spPr>
          <a:xfrm>
            <a:off x="797060" y="5328685"/>
            <a:ext cx="7095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Roboto Lt"/>
                <a:cs typeface="Roboto Lt"/>
              </a:rPr>
              <a:t>2014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07033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1" name="object 21"/>
          <p:cNvSpPr txBox="1"/>
          <p:nvPr/>
        </p:nvSpPr>
        <p:spPr>
          <a:xfrm>
            <a:off x="10652260" y="5328685"/>
            <a:ext cx="7095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27" dirty="0">
                <a:latin typeface="Roboto Lt"/>
                <a:cs typeface="Roboto Lt"/>
              </a:rPr>
              <a:t>2020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29684" y="5106965"/>
            <a:ext cx="1325880" cy="106680"/>
          </a:xfrm>
          <a:custGeom>
            <a:avLst/>
            <a:gdLst/>
            <a:ahLst/>
            <a:cxnLst/>
            <a:rect l="l" t="t" r="r" b="b"/>
            <a:pathLst>
              <a:path w="994409" h="80010">
                <a:moveTo>
                  <a:pt x="914399" y="79799"/>
                </a:moveTo>
                <a:lnTo>
                  <a:pt x="994199" y="0"/>
                </a:lnTo>
              </a:path>
              <a:path w="994409" h="80010">
                <a:moveTo>
                  <a:pt x="0" y="79799"/>
                </a:moveTo>
                <a:lnTo>
                  <a:pt x="797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3" name="object 23"/>
          <p:cNvSpPr txBox="1"/>
          <p:nvPr/>
        </p:nvSpPr>
        <p:spPr>
          <a:xfrm rot="18900000">
            <a:off x="7792626" y="4545077"/>
            <a:ext cx="108996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spc="-33" dirty="0">
                <a:latin typeface="Roboto Lt"/>
                <a:cs typeface="Roboto Lt"/>
              </a:rPr>
              <a:t>ULMFiT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8232338" y="4643285"/>
            <a:ext cx="82699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spc="-27" dirty="0">
                <a:latin typeface="Roboto Lt"/>
                <a:cs typeface="Roboto Lt"/>
              </a:rPr>
              <a:t>ELMo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8635242" y="4632277"/>
            <a:ext cx="85619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spc="-127" dirty="0">
                <a:latin typeface="Roboto Lt"/>
                <a:cs typeface="Roboto Lt"/>
              </a:rPr>
              <a:t>GPT-</a:t>
            </a:r>
            <a:r>
              <a:rPr sz="2000" spc="-200" dirty="0">
                <a:latin typeface="Roboto Lt"/>
                <a:cs typeface="Roboto Lt"/>
              </a:rPr>
              <a:t>1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9050099" y="4659286"/>
            <a:ext cx="78545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spc="-53" dirty="0">
                <a:latin typeface="Roboto Lt"/>
                <a:cs typeface="Roboto Lt"/>
              </a:rPr>
              <a:t>BERT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236084" y="5106965"/>
            <a:ext cx="513080" cy="106680"/>
          </a:xfrm>
          <a:custGeom>
            <a:avLst/>
            <a:gdLst/>
            <a:ahLst/>
            <a:cxnLst/>
            <a:rect l="l" t="t" r="r" b="b"/>
            <a:pathLst>
              <a:path w="384809" h="80010">
                <a:moveTo>
                  <a:pt x="304799" y="79799"/>
                </a:moveTo>
                <a:lnTo>
                  <a:pt x="384599" y="0"/>
                </a:lnTo>
              </a:path>
              <a:path w="384809" h="80010">
                <a:moveTo>
                  <a:pt x="0" y="79799"/>
                </a:moveTo>
                <a:lnTo>
                  <a:pt x="797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8" name="object 28"/>
          <p:cNvSpPr txBox="1"/>
          <p:nvPr/>
        </p:nvSpPr>
        <p:spPr>
          <a:xfrm rot="18900000">
            <a:off x="3423087" y="3199306"/>
            <a:ext cx="486265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spc="-67" dirty="0">
                <a:latin typeface="Roboto Lt"/>
                <a:cs typeface="Roboto Lt"/>
              </a:rPr>
              <a:t>Semi-</a:t>
            </a:r>
            <a:r>
              <a:rPr sz="2000" spc="-33" dirty="0">
                <a:latin typeface="Roboto Lt"/>
                <a:cs typeface="Roboto Lt"/>
              </a:rPr>
              <a:t>Supervised</a:t>
            </a:r>
            <a:r>
              <a:rPr sz="2000" spc="-13" dirty="0">
                <a:latin typeface="Roboto Lt"/>
                <a:cs typeface="Roboto Lt"/>
              </a:rPr>
              <a:t> Sequence Learning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00633" y="5106965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0" y="79799"/>
                </a:moveTo>
                <a:lnTo>
                  <a:pt x="797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0" name="object 30"/>
          <p:cNvSpPr txBox="1"/>
          <p:nvPr/>
        </p:nvSpPr>
        <p:spPr>
          <a:xfrm rot="18900000">
            <a:off x="10489121" y="4691136"/>
            <a:ext cx="103695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27" dirty="0">
                <a:latin typeface="Roboto Lt"/>
                <a:cs typeface="Roboto Lt"/>
              </a:rPr>
              <a:t>StructBERT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10744370" y="4831712"/>
            <a:ext cx="65222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20" dirty="0">
                <a:latin typeface="Roboto Lt"/>
                <a:cs typeface="Roboto Lt"/>
              </a:rPr>
              <a:t>FreeLB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10935520" y="4797556"/>
            <a:ext cx="74454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27" dirty="0">
                <a:latin typeface="Roboto Lt"/>
                <a:cs typeface="Roboto Lt"/>
              </a:rPr>
              <a:t>ALBERT</a:t>
            </a:r>
            <a:endParaRPr sz="1400" dirty="0">
              <a:latin typeface="Roboto Lt"/>
              <a:cs typeface="Roboto Lt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10297051" y="4720072"/>
            <a:ext cx="95737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33" dirty="0">
                <a:latin typeface="Roboto Lt"/>
                <a:cs typeface="Roboto Lt"/>
              </a:rPr>
              <a:t>SpanBERT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10108904" y="4759916"/>
            <a:ext cx="84767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47" dirty="0">
                <a:latin typeface="Roboto Lt"/>
                <a:cs typeface="Roboto Lt"/>
              </a:rPr>
              <a:t>RoBERTa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9940273" y="4857690"/>
            <a:ext cx="58267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20" dirty="0">
                <a:latin typeface="Roboto Lt"/>
                <a:cs typeface="Roboto Lt"/>
              </a:rPr>
              <a:t>XLNet</a:t>
            </a:r>
            <a:endParaRPr sz="1400" dirty="0">
              <a:latin typeface="Roboto Lt"/>
              <a:cs typeface="Roboto Lt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9508695" y="4785352"/>
            <a:ext cx="77799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87" dirty="0">
                <a:latin typeface="Roboto Lt"/>
                <a:cs typeface="Roboto Lt"/>
              </a:rPr>
              <a:t>MT-</a:t>
            </a:r>
            <a:r>
              <a:rPr sz="1400" spc="-93" dirty="0">
                <a:latin typeface="Roboto Lt"/>
                <a:cs typeface="Roboto Lt"/>
              </a:rPr>
              <a:t>DNN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37" name="object 37"/>
          <p:cNvSpPr txBox="1"/>
          <p:nvPr/>
        </p:nvSpPr>
        <p:spPr>
          <a:xfrm rot="18900000">
            <a:off x="9217928" y="4559177"/>
            <a:ext cx="140499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400" spc="-27" dirty="0">
                <a:latin typeface="Roboto Lt"/>
                <a:cs typeface="Roboto Lt"/>
              </a:rPr>
              <a:t>BERT</a:t>
            </a:r>
            <a:r>
              <a:rPr sz="1400" spc="-40" dirty="0">
                <a:latin typeface="Roboto Lt"/>
                <a:cs typeface="Roboto Lt"/>
              </a:rPr>
              <a:t> </a:t>
            </a:r>
            <a:r>
              <a:rPr sz="1400" dirty="0">
                <a:latin typeface="Roboto Lt"/>
                <a:cs typeface="Roboto Lt"/>
              </a:rPr>
              <a:t>on</a:t>
            </a:r>
            <a:r>
              <a:rPr sz="1400" spc="-13" dirty="0">
                <a:latin typeface="Roboto Lt"/>
                <a:cs typeface="Roboto Lt"/>
              </a:rPr>
              <a:t> </a:t>
            </a:r>
            <a:r>
              <a:rPr sz="1400" spc="-73" dirty="0">
                <a:latin typeface="Roboto Lt"/>
                <a:cs typeface="Roboto Lt"/>
              </a:rPr>
              <a:t>STILTs</a:t>
            </a:r>
            <a:endParaRPr sz="1400" dirty="0">
              <a:latin typeface="Roboto Lt"/>
              <a:cs typeface="Roboto 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353684" y="5151366"/>
            <a:ext cx="1688253" cy="62653"/>
          </a:xfrm>
          <a:custGeom>
            <a:avLst/>
            <a:gdLst/>
            <a:ahLst/>
            <a:cxnLst/>
            <a:rect l="l" t="t" r="r" b="b"/>
            <a:pathLst>
              <a:path w="1266190" h="46989">
                <a:moveTo>
                  <a:pt x="0" y="46499"/>
                </a:moveTo>
                <a:lnTo>
                  <a:pt x="46499" y="0"/>
                </a:lnTo>
              </a:path>
              <a:path w="1266190" h="46989">
                <a:moveTo>
                  <a:pt x="152399" y="46499"/>
                </a:moveTo>
                <a:lnTo>
                  <a:pt x="198899" y="0"/>
                </a:lnTo>
              </a:path>
              <a:path w="1266190" h="46989">
                <a:moveTo>
                  <a:pt x="304799" y="46499"/>
                </a:moveTo>
                <a:lnTo>
                  <a:pt x="351299" y="0"/>
                </a:lnTo>
              </a:path>
              <a:path w="1266190" h="46989">
                <a:moveTo>
                  <a:pt x="457199" y="46499"/>
                </a:moveTo>
                <a:lnTo>
                  <a:pt x="503699" y="0"/>
                </a:lnTo>
              </a:path>
              <a:path w="1266190" h="46989">
                <a:moveTo>
                  <a:pt x="609599" y="46499"/>
                </a:moveTo>
                <a:lnTo>
                  <a:pt x="656099" y="0"/>
                </a:lnTo>
              </a:path>
              <a:path w="1266190" h="46989">
                <a:moveTo>
                  <a:pt x="761999" y="46499"/>
                </a:moveTo>
                <a:lnTo>
                  <a:pt x="808499" y="0"/>
                </a:lnTo>
              </a:path>
              <a:path w="1266190" h="46989">
                <a:moveTo>
                  <a:pt x="914399" y="46499"/>
                </a:moveTo>
                <a:lnTo>
                  <a:pt x="960899" y="0"/>
                </a:lnTo>
              </a:path>
              <a:path w="1266190" h="46989">
                <a:moveTo>
                  <a:pt x="1066799" y="46499"/>
                </a:moveTo>
                <a:lnTo>
                  <a:pt x="1113299" y="0"/>
                </a:lnTo>
              </a:path>
              <a:path w="1266190" h="46989">
                <a:moveTo>
                  <a:pt x="1219199" y="46499"/>
                </a:moveTo>
                <a:lnTo>
                  <a:pt x="12656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9" name="object 39"/>
          <p:cNvSpPr txBox="1"/>
          <p:nvPr/>
        </p:nvSpPr>
        <p:spPr>
          <a:xfrm rot="18900000">
            <a:off x="5951907" y="3419296"/>
            <a:ext cx="424175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000" spc="-13" dirty="0">
                <a:latin typeface="Roboto Lt"/>
                <a:cs typeface="Roboto Lt"/>
              </a:rPr>
              <a:t>Unsupervised</a:t>
            </a:r>
            <a:r>
              <a:rPr sz="2000" spc="-47" dirty="0">
                <a:latin typeface="Roboto Lt"/>
                <a:cs typeface="Roboto Lt"/>
              </a:rPr>
              <a:t> </a:t>
            </a:r>
            <a:r>
              <a:rPr sz="2000" spc="-13" dirty="0">
                <a:latin typeface="Roboto Lt"/>
                <a:cs typeface="Roboto Lt"/>
              </a:rPr>
              <a:t>sentiment</a:t>
            </a:r>
            <a:r>
              <a:rPr sz="2000" spc="-47" dirty="0">
                <a:latin typeface="Roboto Lt"/>
                <a:cs typeface="Roboto Lt"/>
              </a:rPr>
              <a:t> </a:t>
            </a:r>
            <a:r>
              <a:rPr sz="2000" spc="-13" dirty="0">
                <a:latin typeface="Roboto Lt"/>
                <a:cs typeface="Roboto Lt"/>
              </a:rPr>
              <a:t>neuron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439033" y="5106965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0" y="79799"/>
                </a:moveTo>
                <a:lnTo>
                  <a:pt x="797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5615" y="5146029"/>
            <a:ext cx="10825479" cy="124460"/>
            <a:chOff x="394211" y="3859521"/>
            <a:chExt cx="8119109" cy="93345"/>
          </a:xfrm>
        </p:grpSpPr>
        <p:sp>
          <p:nvSpPr>
            <p:cNvPr id="3" name="object 3"/>
            <p:cNvSpPr/>
            <p:nvPr/>
          </p:nvSpPr>
          <p:spPr>
            <a:xfrm>
              <a:off x="464654" y="3905943"/>
              <a:ext cx="7978140" cy="0"/>
            </a:xfrm>
            <a:custGeom>
              <a:avLst/>
              <a:gdLst/>
              <a:ahLst/>
              <a:cxnLst/>
              <a:rect l="l" t="t" r="r" b="b"/>
              <a:pathLst>
                <a:path w="7978140">
                  <a:moveTo>
                    <a:pt x="0" y="0"/>
                  </a:moveTo>
                  <a:lnTo>
                    <a:pt x="7977941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211" y="3859521"/>
              <a:ext cx="116865" cy="928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6173" y="3859521"/>
              <a:ext cx="116864" cy="9284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 rot="18900000">
            <a:off x="663412" y="4456564"/>
            <a:ext cx="133242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spc="-27" dirty="0">
                <a:latin typeface="Roboto Lt"/>
                <a:cs typeface="Roboto Lt"/>
              </a:rPr>
              <a:t>word2vec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7792626" y="4545077"/>
            <a:ext cx="108996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spc="-33" dirty="0">
                <a:latin typeface="Roboto Lt"/>
                <a:cs typeface="Roboto Lt"/>
              </a:rPr>
              <a:t>ULMFiT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8232338" y="4643285"/>
            <a:ext cx="82699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spc="-27" dirty="0">
                <a:latin typeface="Roboto Lt"/>
                <a:cs typeface="Roboto Lt"/>
              </a:rPr>
              <a:t>ELMo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9434" y="5106966"/>
            <a:ext cx="8632613" cy="260773"/>
          </a:xfrm>
          <a:custGeom>
            <a:avLst/>
            <a:gdLst/>
            <a:ahLst/>
            <a:cxnLst/>
            <a:rect l="l" t="t" r="r" b="b"/>
            <a:pathLst>
              <a:path w="6474459" h="195579">
                <a:moveTo>
                  <a:pt x="0" y="79799"/>
                </a:moveTo>
                <a:lnTo>
                  <a:pt x="79799" y="0"/>
                </a:lnTo>
              </a:path>
              <a:path w="6474459" h="195579">
                <a:moveTo>
                  <a:pt x="6473999" y="80399"/>
                </a:moveTo>
                <a:lnTo>
                  <a:pt x="6473999" y="1949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6660" y="5328685"/>
            <a:ext cx="7095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Roboto Lt"/>
                <a:cs typeface="Roboto Lt"/>
              </a:rPr>
              <a:t>2019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74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22660" y="5328685"/>
            <a:ext cx="7095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Roboto Lt"/>
                <a:cs typeface="Roboto Lt"/>
              </a:rPr>
              <a:t>2015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03033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48260" y="5328685"/>
            <a:ext cx="7095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Roboto Lt"/>
                <a:cs typeface="Roboto Lt"/>
              </a:rPr>
              <a:t>2016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286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73860" y="5328685"/>
            <a:ext cx="7095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Roboto Lt"/>
                <a:cs typeface="Roboto Lt"/>
              </a:rPr>
              <a:t>2017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558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01060" y="5328685"/>
            <a:ext cx="7095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Roboto Lt"/>
                <a:cs typeface="Roboto Lt"/>
              </a:rPr>
              <a:t>2018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1832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97060" y="5328685"/>
            <a:ext cx="7095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Roboto Lt"/>
                <a:cs typeface="Roboto Lt"/>
              </a:rPr>
              <a:t>2014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07033" y="5214166"/>
            <a:ext cx="0" cy="153247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599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652260" y="5328685"/>
            <a:ext cx="7095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Roboto Lt"/>
                <a:cs typeface="Roboto Lt"/>
              </a:rPr>
              <a:t>2020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829684" y="5106965"/>
            <a:ext cx="513080" cy="106680"/>
          </a:xfrm>
          <a:custGeom>
            <a:avLst/>
            <a:gdLst/>
            <a:ahLst/>
            <a:cxnLst/>
            <a:rect l="l" t="t" r="r" b="b"/>
            <a:pathLst>
              <a:path w="384810" h="80010">
                <a:moveTo>
                  <a:pt x="0" y="79799"/>
                </a:moveTo>
                <a:lnTo>
                  <a:pt x="79799" y="0"/>
                </a:lnTo>
              </a:path>
              <a:path w="384810" h="80010">
                <a:moveTo>
                  <a:pt x="304799" y="79799"/>
                </a:moveTo>
                <a:lnTo>
                  <a:pt x="3845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 rot="18900000">
            <a:off x="3423087" y="3045418"/>
            <a:ext cx="486265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spc="-67" dirty="0">
                <a:latin typeface="Roboto Lt"/>
                <a:cs typeface="Roboto Lt"/>
              </a:rPr>
              <a:t>Semi-</a:t>
            </a:r>
            <a:r>
              <a:rPr sz="2400" spc="-33" dirty="0">
                <a:latin typeface="Roboto Lt"/>
                <a:cs typeface="Roboto Lt"/>
              </a:rPr>
              <a:t>Supervised</a:t>
            </a:r>
            <a:r>
              <a:rPr sz="2400" spc="-13" dirty="0">
                <a:latin typeface="Roboto Lt"/>
                <a:cs typeface="Roboto Lt"/>
              </a:rPr>
              <a:t> Sequence Learning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000633" y="5106965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0" y="79799"/>
                </a:moveTo>
                <a:lnTo>
                  <a:pt x="797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706777" y="4359706"/>
            <a:ext cx="2718693" cy="798407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6933">
              <a:lnSpc>
                <a:spcPts val="21191"/>
              </a:lnSpc>
            </a:pPr>
            <a:r>
              <a:rPr sz="18666" spc="-67" dirty="0">
                <a:latin typeface="Roboto Th"/>
                <a:cs typeface="Roboto Th"/>
              </a:rPr>
              <a:t>{</a:t>
            </a:r>
            <a:endParaRPr sz="18666">
              <a:latin typeface="Roboto Th"/>
              <a:cs typeface="Roboto 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Lots of stuff!</a:t>
            </a:r>
            <a:endParaRPr lang="en-US"/>
          </a:p>
        </p:txBody>
      </p:sp>
      <p:sp>
        <p:nvSpPr>
          <p:cNvPr id="28" name="object 28"/>
          <p:cNvSpPr txBox="1"/>
          <p:nvPr/>
        </p:nvSpPr>
        <p:spPr>
          <a:xfrm rot="18900000">
            <a:off x="5951907" y="3265408"/>
            <a:ext cx="424175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spc="-13" dirty="0">
                <a:latin typeface="Roboto Lt"/>
                <a:cs typeface="Roboto Lt"/>
              </a:rPr>
              <a:t>Unsupervised</a:t>
            </a:r>
            <a:r>
              <a:rPr sz="2400" spc="-47" dirty="0">
                <a:latin typeface="Roboto Lt"/>
                <a:cs typeface="Roboto Lt"/>
              </a:rPr>
              <a:t> </a:t>
            </a:r>
            <a:r>
              <a:rPr sz="2400" spc="-13" dirty="0">
                <a:latin typeface="Roboto Lt"/>
                <a:cs typeface="Roboto Lt"/>
              </a:rPr>
              <a:t>sentiment</a:t>
            </a:r>
            <a:r>
              <a:rPr sz="2400" spc="-47" dirty="0">
                <a:latin typeface="Roboto Lt"/>
                <a:cs typeface="Roboto Lt"/>
              </a:rPr>
              <a:t> </a:t>
            </a:r>
            <a:r>
              <a:rPr sz="2400" spc="-13" dirty="0">
                <a:latin typeface="Roboto Lt"/>
                <a:cs typeface="Roboto Lt"/>
              </a:rPr>
              <a:t>neuron</a:t>
            </a:r>
            <a:endParaRPr sz="2400">
              <a:latin typeface="Roboto Lt"/>
              <a:cs typeface="Roboto 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39033" y="5106965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0" y="79799"/>
                </a:moveTo>
                <a:lnTo>
                  <a:pt x="797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9D503B-01DD-7E32-2CC3-3B9A947A6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0" cy="2703576"/>
          </a:xfrm>
        </p:spPr>
        <p:txBody>
          <a:bodyPr/>
          <a:lstStyle/>
          <a:p>
            <a:r>
              <a:rPr lang="en-US" dirty="0"/>
              <a:t>Model A has 1B parameters and uses 100M pre-training tokens from </a:t>
            </a:r>
            <a:r>
              <a:rPr lang="en-US" dirty="0" err="1"/>
              <a:t>BooksCorpus</a:t>
            </a:r>
            <a:endParaRPr lang="en-US" dirty="0"/>
          </a:p>
          <a:p>
            <a:r>
              <a:rPr lang="en-US" dirty="0"/>
              <a:t>Model B is made by Google and their deep pockets! It has 2B parameters and uses 200M pre-training tokens from Wikipedia</a:t>
            </a:r>
          </a:p>
          <a:p>
            <a:r>
              <a:rPr lang="en-US" dirty="0"/>
              <a:t>Model B has better performance on </a:t>
            </a:r>
            <a:r>
              <a:rPr lang="en-US" dirty="0" err="1"/>
              <a:t>SuperGLUE</a:t>
            </a:r>
            <a:r>
              <a:rPr lang="en-US" dirty="0"/>
              <a:t> than Model 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8B0B4B-837B-3493-A1EE-38BA02E7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Transfer Learning Comparisons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2140F-B052-6AA1-72E9-351B2E70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99FFC9-C2DF-233F-B7FB-D1C55F922CE6}"/>
              </a:ext>
            </a:extLst>
          </p:cNvPr>
          <p:cNvSpPr txBox="1"/>
          <p:nvPr/>
        </p:nvSpPr>
        <p:spPr>
          <a:xfrm>
            <a:off x="3238805" y="4664138"/>
            <a:ext cx="60972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alibri-Bold"/>
              </a:rPr>
              <a:t>Is Wikipedia better for pre-training than</a:t>
            </a:r>
          </a:p>
          <a:p>
            <a:pPr algn="l"/>
            <a:r>
              <a:rPr lang="en-US" sz="2800" b="1" i="0" u="none" strike="noStrike" baseline="0" dirty="0" err="1">
                <a:latin typeface="Calibri-Bold"/>
              </a:rPr>
              <a:t>BooksCorpus</a:t>
            </a:r>
            <a:r>
              <a:rPr lang="en-US" sz="2800" b="1" i="0" u="none" strike="noStrike" baseline="0" dirty="0">
                <a:latin typeface="Calibri-Bold"/>
              </a:rPr>
              <a:t>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739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5A5517-2746-7B82-8ABE-3E9B15A19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575" y="87313"/>
            <a:ext cx="9306950" cy="63134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EC35A-90F4-E4CD-E413-32B0D26A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01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290402" y="2813992"/>
            <a:ext cx="1315720" cy="956733"/>
          </a:xfrm>
          <a:custGeom>
            <a:avLst/>
            <a:gdLst/>
            <a:ahLst/>
            <a:cxnLst/>
            <a:rect l="l" t="t" r="r" b="b"/>
            <a:pathLst>
              <a:path w="986789" h="717550">
                <a:moveTo>
                  <a:pt x="0" y="119502"/>
                </a:moveTo>
                <a:lnTo>
                  <a:pt x="9391" y="72986"/>
                </a:lnTo>
                <a:lnTo>
                  <a:pt x="35001" y="35001"/>
                </a:lnTo>
                <a:lnTo>
                  <a:pt x="72986" y="9391"/>
                </a:lnTo>
                <a:lnTo>
                  <a:pt x="119502" y="0"/>
                </a:lnTo>
                <a:lnTo>
                  <a:pt x="866897" y="0"/>
                </a:lnTo>
                <a:lnTo>
                  <a:pt x="912629" y="9096"/>
                </a:lnTo>
                <a:lnTo>
                  <a:pt x="951398" y="35001"/>
                </a:lnTo>
                <a:lnTo>
                  <a:pt x="977303" y="73770"/>
                </a:lnTo>
                <a:lnTo>
                  <a:pt x="986399" y="119502"/>
                </a:lnTo>
                <a:lnTo>
                  <a:pt x="986399" y="597497"/>
                </a:lnTo>
                <a:lnTo>
                  <a:pt x="977008" y="644013"/>
                </a:lnTo>
                <a:lnTo>
                  <a:pt x="951398" y="681998"/>
                </a:lnTo>
                <a:lnTo>
                  <a:pt x="913413" y="707608"/>
                </a:lnTo>
                <a:lnTo>
                  <a:pt x="866897" y="716999"/>
                </a:lnTo>
                <a:lnTo>
                  <a:pt x="119502" y="716999"/>
                </a:lnTo>
                <a:lnTo>
                  <a:pt x="72986" y="707608"/>
                </a:lnTo>
                <a:lnTo>
                  <a:pt x="35001" y="681998"/>
                </a:lnTo>
                <a:lnTo>
                  <a:pt x="9391" y="644013"/>
                </a:lnTo>
                <a:lnTo>
                  <a:pt x="0" y="597497"/>
                </a:lnTo>
                <a:lnTo>
                  <a:pt x="0" y="11950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4055" y="2160277"/>
            <a:ext cx="11658601" cy="1268723"/>
          </a:xfrm>
        </p:spPr>
        <p:txBody>
          <a:bodyPr vert="horz" wrap="square" lIns="0" tIns="3725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Text-to-Text Transfer Transformer</a:t>
            </a:r>
          </a:p>
          <a:p>
            <a:pPr algn="ctr"/>
            <a:r>
              <a:rPr lang="en-US" dirty="0"/>
              <a:t>T5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26" y="3032930"/>
            <a:ext cx="5702300" cy="519007"/>
            <a:chOff x="49669" y="2274697"/>
            <a:chExt cx="4276725" cy="389255"/>
          </a:xfrm>
        </p:grpSpPr>
        <p:sp>
          <p:nvSpPr>
            <p:cNvPr id="3" name="object 3"/>
            <p:cNvSpPr/>
            <p:nvPr/>
          </p:nvSpPr>
          <p:spPr>
            <a:xfrm>
              <a:off x="59194" y="2284222"/>
              <a:ext cx="4257675" cy="370205"/>
            </a:xfrm>
            <a:custGeom>
              <a:avLst/>
              <a:gdLst/>
              <a:ahLst/>
              <a:cxnLst/>
              <a:rect l="l" t="t" r="r" b="b"/>
              <a:pathLst>
                <a:path w="4257675" h="370205">
                  <a:moveTo>
                    <a:pt x="4195598" y="370199"/>
                  </a:move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0"/>
                  </a:ln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4195598" y="0"/>
                  </a:lnTo>
                  <a:lnTo>
                    <a:pt x="4239228" y="18071"/>
                  </a:lnTo>
                  <a:lnTo>
                    <a:pt x="4257300" y="61700"/>
                  </a:lnTo>
                  <a:lnTo>
                    <a:pt x="4257300" y="308498"/>
                  </a:lnTo>
                  <a:lnTo>
                    <a:pt x="4252451" y="332515"/>
                  </a:lnTo>
                  <a:lnTo>
                    <a:pt x="4239228" y="352128"/>
                  </a:lnTo>
                  <a:lnTo>
                    <a:pt x="4219615" y="365351"/>
                  </a:lnTo>
                  <a:lnTo>
                    <a:pt x="4195598" y="370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194" y="2284222"/>
              <a:ext cx="4257675" cy="370205"/>
            </a:xfrm>
            <a:custGeom>
              <a:avLst/>
              <a:gdLst/>
              <a:ahLst/>
              <a:cxnLst/>
              <a:rect l="l" t="t" r="r" b="b"/>
              <a:pathLst>
                <a:path w="4257675" h="370205">
                  <a:moveTo>
                    <a:pt x="0" y="61700"/>
                  </a:move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4195598" y="0"/>
                  </a:lnTo>
                  <a:lnTo>
                    <a:pt x="4239228" y="18071"/>
                  </a:lnTo>
                  <a:lnTo>
                    <a:pt x="4257300" y="61700"/>
                  </a:lnTo>
                  <a:lnTo>
                    <a:pt x="4257300" y="308498"/>
                  </a:lnTo>
                  <a:lnTo>
                    <a:pt x="4252451" y="332515"/>
                  </a:lnTo>
                  <a:lnTo>
                    <a:pt x="4239228" y="352128"/>
                  </a:lnTo>
                  <a:lnTo>
                    <a:pt x="4219615" y="365351"/>
                  </a:lnTo>
                  <a:lnTo>
                    <a:pt x="4195598" y="370199"/>
                  </a:ln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18149" y="3143936"/>
            <a:ext cx="53983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"translate</a:t>
            </a:r>
            <a:r>
              <a:rPr sz="1600" spc="-9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English</a:t>
            </a:r>
            <a:r>
              <a:rPr sz="1600" spc="-8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8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German:</a:t>
            </a:r>
            <a:r>
              <a:rPr sz="1600" spc="-8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That</a:t>
            </a:r>
            <a:r>
              <a:rPr sz="1600" spc="-8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8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good."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T5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742459" y="3032501"/>
            <a:ext cx="4377267" cy="519007"/>
            <a:chOff x="4306844" y="2274375"/>
            <a:chExt cx="3282950" cy="389255"/>
          </a:xfrm>
        </p:grpSpPr>
        <p:sp>
          <p:nvSpPr>
            <p:cNvPr id="11" name="object 11"/>
            <p:cNvSpPr/>
            <p:nvPr/>
          </p:nvSpPr>
          <p:spPr>
            <a:xfrm>
              <a:off x="4316369" y="2472672"/>
              <a:ext cx="401955" cy="635"/>
            </a:xfrm>
            <a:custGeom>
              <a:avLst/>
              <a:gdLst/>
              <a:ahLst/>
              <a:cxnLst/>
              <a:rect l="l" t="t" r="r" b="b"/>
              <a:pathLst>
                <a:path w="401954" h="635">
                  <a:moveTo>
                    <a:pt x="0" y="0"/>
                  </a:moveTo>
                  <a:lnTo>
                    <a:pt x="66644" y="25"/>
                  </a:lnTo>
                  <a:lnTo>
                    <a:pt x="119176" y="93"/>
                  </a:lnTo>
                  <a:lnTo>
                    <a:pt x="162299" y="189"/>
                  </a:lnTo>
                  <a:lnTo>
                    <a:pt x="200715" y="299"/>
                  </a:lnTo>
                  <a:lnTo>
                    <a:pt x="239129" y="410"/>
                  </a:lnTo>
                  <a:lnTo>
                    <a:pt x="282245" y="506"/>
                  </a:lnTo>
                  <a:lnTo>
                    <a:pt x="334767" y="574"/>
                  </a:lnTo>
                  <a:lnTo>
                    <a:pt x="401399" y="5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5511" y="2283900"/>
              <a:ext cx="1475105" cy="370205"/>
            </a:xfrm>
            <a:custGeom>
              <a:avLst/>
              <a:gdLst/>
              <a:ahLst/>
              <a:cxnLst/>
              <a:rect l="l" t="t" r="r" b="b"/>
              <a:pathLst>
                <a:path w="1475104" h="370205">
                  <a:moveTo>
                    <a:pt x="1412799" y="370199"/>
                  </a:move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1412799" y="0"/>
                  </a:lnTo>
                  <a:lnTo>
                    <a:pt x="1456428" y="18071"/>
                  </a:lnTo>
                  <a:lnTo>
                    <a:pt x="1474499" y="61701"/>
                  </a:lnTo>
                  <a:lnTo>
                    <a:pt x="1474499" y="308498"/>
                  </a:lnTo>
                  <a:lnTo>
                    <a:pt x="1469651" y="332515"/>
                  </a:lnTo>
                  <a:lnTo>
                    <a:pt x="1456428" y="352128"/>
                  </a:lnTo>
                  <a:lnTo>
                    <a:pt x="1436816" y="365351"/>
                  </a:lnTo>
                  <a:lnTo>
                    <a:pt x="1412799" y="370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5511" y="2283900"/>
              <a:ext cx="1475105" cy="370205"/>
            </a:xfrm>
            <a:custGeom>
              <a:avLst/>
              <a:gdLst/>
              <a:ahLst/>
              <a:cxnLst/>
              <a:rect l="l" t="t" r="r" b="b"/>
              <a:pathLst>
                <a:path w="1475104" h="370205">
                  <a:moveTo>
                    <a:pt x="0" y="61701"/>
                  </a:move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1412799" y="0"/>
                  </a:lnTo>
                  <a:lnTo>
                    <a:pt x="1456428" y="18071"/>
                  </a:lnTo>
                  <a:lnTo>
                    <a:pt x="1474499" y="61701"/>
                  </a:lnTo>
                  <a:lnTo>
                    <a:pt x="1474499" y="308498"/>
                  </a:lnTo>
                  <a:lnTo>
                    <a:pt x="1469651" y="332515"/>
                  </a:lnTo>
                  <a:lnTo>
                    <a:pt x="1456428" y="352128"/>
                  </a:lnTo>
                  <a:lnTo>
                    <a:pt x="1436816" y="365351"/>
                  </a:lnTo>
                  <a:lnTo>
                    <a:pt x="1412799" y="370199"/>
                  </a:ln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53467" y="3143506"/>
            <a:ext cx="17407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"Das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ist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gut."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05599" y="3296794"/>
            <a:ext cx="535940" cy="847"/>
          </a:xfrm>
          <a:custGeom>
            <a:avLst/>
            <a:gdLst/>
            <a:ahLst/>
            <a:cxnLst/>
            <a:rect l="l" t="t" r="r" b="b"/>
            <a:pathLst>
              <a:path w="401954" h="635">
                <a:moveTo>
                  <a:pt x="0" y="0"/>
                </a:moveTo>
                <a:lnTo>
                  <a:pt x="66685" y="25"/>
                </a:lnTo>
                <a:lnTo>
                  <a:pt x="119249" y="93"/>
                </a:lnTo>
                <a:lnTo>
                  <a:pt x="162398" y="189"/>
                </a:lnTo>
                <a:lnTo>
                  <a:pt x="200841" y="299"/>
                </a:lnTo>
                <a:lnTo>
                  <a:pt x="239286" y="410"/>
                </a:lnTo>
                <a:lnTo>
                  <a:pt x="282439" y="506"/>
                </a:lnTo>
                <a:lnTo>
                  <a:pt x="335008" y="574"/>
                </a:lnTo>
                <a:lnTo>
                  <a:pt x="401699" y="599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8C709831-116C-E35B-B2F8-6574D32A0E45}"/>
              </a:ext>
            </a:extLst>
          </p:cNvPr>
          <p:cNvSpPr/>
          <p:nvPr/>
        </p:nvSpPr>
        <p:spPr>
          <a:xfrm>
            <a:off x="6290402" y="2813992"/>
            <a:ext cx="1315720" cy="956733"/>
          </a:xfrm>
          <a:custGeom>
            <a:avLst/>
            <a:gdLst/>
            <a:ahLst/>
            <a:cxnLst/>
            <a:rect l="l" t="t" r="r" b="b"/>
            <a:pathLst>
              <a:path w="986789" h="717550">
                <a:moveTo>
                  <a:pt x="866897" y="716999"/>
                </a:moveTo>
                <a:lnTo>
                  <a:pt x="119502" y="716999"/>
                </a:lnTo>
                <a:lnTo>
                  <a:pt x="72986" y="707608"/>
                </a:lnTo>
                <a:lnTo>
                  <a:pt x="35001" y="681998"/>
                </a:lnTo>
                <a:lnTo>
                  <a:pt x="9391" y="644013"/>
                </a:lnTo>
                <a:lnTo>
                  <a:pt x="0" y="597497"/>
                </a:lnTo>
                <a:lnTo>
                  <a:pt x="0" y="119502"/>
                </a:lnTo>
                <a:lnTo>
                  <a:pt x="9391" y="72986"/>
                </a:lnTo>
                <a:lnTo>
                  <a:pt x="35001" y="35001"/>
                </a:lnTo>
                <a:lnTo>
                  <a:pt x="72986" y="9391"/>
                </a:lnTo>
                <a:lnTo>
                  <a:pt x="119502" y="0"/>
                </a:lnTo>
                <a:lnTo>
                  <a:pt x="866897" y="0"/>
                </a:lnTo>
                <a:lnTo>
                  <a:pt x="912629" y="9096"/>
                </a:lnTo>
                <a:lnTo>
                  <a:pt x="951398" y="35001"/>
                </a:lnTo>
                <a:lnTo>
                  <a:pt x="977303" y="73770"/>
                </a:lnTo>
                <a:lnTo>
                  <a:pt x="986399" y="119502"/>
                </a:lnTo>
                <a:lnTo>
                  <a:pt x="986399" y="597497"/>
                </a:lnTo>
                <a:lnTo>
                  <a:pt x="977008" y="644013"/>
                </a:lnTo>
                <a:lnTo>
                  <a:pt x="951398" y="681998"/>
                </a:lnTo>
                <a:lnTo>
                  <a:pt x="913413" y="707608"/>
                </a:lnTo>
                <a:lnTo>
                  <a:pt x="866897" y="716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/>
              <a:t>T5</a:t>
            </a:r>
            <a:endParaRPr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8992" y="2919696"/>
            <a:ext cx="3340947" cy="745067"/>
            <a:chOff x="1619244" y="2189772"/>
            <a:chExt cx="2505710" cy="558800"/>
          </a:xfrm>
        </p:grpSpPr>
        <p:sp>
          <p:nvSpPr>
            <p:cNvPr id="3" name="object 3"/>
            <p:cNvSpPr/>
            <p:nvPr/>
          </p:nvSpPr>
          <p:spPr>
            <a:xfrm>
              <a:off x="1628769" y="2199297"/>
              <a:ext cx="2486660" cy="539750"/>
            </a:xfrm>
            <a:custGeom>
              <a:avLst/>
              <a:gdLst/>
              <a:ahLst/>
              <a:cxnLst/>
              <a:rect l="l" t="t" r="r" b="b"/>
              <a:pathLst>
                <a:path w="2486660" h="539750">
                  <a:moveTo>
                    <a:pt x="2396498" y="539399"/>
                  </a:moveTo>
                  <a:lnTo>
                    <a:pt x="89901" y="539399"/>
                  </a:lnTo>
                  <a:lnTo>
                    <a:pt x="54907" y="532335"/>
                  </a:lnTo>
                  <a:lnTo>
                    <a:pt x="26331" y="513068"/>
                  </a:lnTo>
                  <a:lnTo>
                    <a:pt x="7064" y="484491"/>
                  </a:lnTo>
                  <a:lnTo>
                    <a:pt x="0" y="449497"/>
                  </a:lnTo>
                  <a:lnTo>
                    <a:pt x="0" y="89901"/>
                  </a:lnTo>
                  <a:lnTo>
                    <a:pt x="7064" y="54907"/>
                  </a:lnTo>
                  <a:lnTo>
                    <a:pt x="26331" y="26331"/>
                  </a:lnTo>
                  <a:lnTo>
                    <a:pt x="54907" y="7064"/>
                  </a:lnTo>
                  <a:lnTo>
                    <a:pt x="89901" y="0"/>
                  </a:lnTo>
                  <a:lnTo>
                    <a:pt x="2396498" y="0"/>
                  </a:lnTo>
                  <a:lnTo>
                    <a:pt x="2446375" y="15104"/>
                  </a:lnTo>
                  <a:lnTo>
                    <a:pt x="2479556" y="55497"/>
                  </a:lnTo>
                  <a:lnTo>
                    <a:pt x="2486400" y="89901"/>
                  </a:lnTo>
                  <a:lnTo>
                    <a:pt x="2486400" y="449497"/>
                  </a:lnTo>
                  <a:lnTo>
                    <a:pt x="2479335" y="484491"/>
                  </a:lnTo>
                  <a:lnTo>
                    <a:pt x="2460068" y="513068"/>
                  </a:lnTo>
                  <a:lnTo>
                    <a:pt x="2431492" y="532335"/>
                  </a:lnTo>
                  <a:lnTo>
                    <a:pt x="2396498" y="539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28769" y="2199297"/>
              <a:ext cx="2486660" cy="539750"/>
            </a:xfrm>
            <a:custGeom>
              <a:avLst/>
              <a:gdLst/>
              <a:ahLst/>
              <a:cxnLst/>
              <a:rect l="l" t="t" r="r" b="b"/>
              <a:pathLst>
                <a:path w="2486660" h="539750">
                  <a:moveTo>
                    <a:pt x="0" y="89901"/>
                  </a:moveTo>
                  <a:lnTo>
                    <a:pt x="7064" y="54907"/>
                  </a:lnTo>
                  <a:lnTo>
                    <a:pt x="26331" y="26331"/>
                  </a:lnTo>
                  <a:lnTo>
                    <a:pt x="54907" y="7064"/>
                  </a:lnTo>
                  <a:lnTo>
                    <a:pt x="89901" y="0"/>
                  </a:lnTo>
                  <a:lnTo>
                    <a:pt x="2396498" y="0"/>
                  </a:lnTo>
                  <a:lnTo>
                    <a:pt x="2446375" y="15104"/>
                  </a:lnTo>
                  <a:lnTo>
                    <a:pt x="2479556" y="55497"/>
                  </a:lnTo>
                  <a:lnTo>
                    <a:pt x="2486400" y="89901"/>
                  </a:lnTo>
                  <a:lnTo>
                    <a:pt x="2486400" y="449497"/>
                  </a:lnTo>
                  <a:lnTo>
                    <a:pt x="2479335" y="484491"/>
                  </a:lnTo>
                  <a:lnTo>
                    <a:pt x="2460068" y="513068"/>
                  </a:lnTo>
                  <a:lnTo>
                    <a:pt x="2431492" y="532335"/>
                  </a:lnTo>
                  <a:lnTo>
                    <a:pt x="2396498" y="539399"/>
                  </a:lnTo>
                  <a:lnTo>
                    <a:pt x="89901" y="539399"/>
                  </a:lnTo>
                  <a:lnTo>
                    <a:pt x="54907" y="532335"/>
                  </a:lnTo>
                  <a:lnTo>
                    <a:pt x="26331" y="513068"/>
                  </a:lnTo>
                  <a:lnTo>
                    <a:pt x="7064" y="484491"/>
                  </a:lnTo>
                  <a:lnTo>
                    <a:pt x="0" y="449497"/>
                  </a:lnTo>
                  <a:lnTo>
                    <a:pt x="0" y="899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349948" y="3028068"/>
            <a:ext cx="2959947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indent="304792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Courier New"/>
                <a:cs typeface="Courier New"/>
              </a:rPr>
              <a:t>"cola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sentence:</a:t>
            </a:r>
            <a:r>
              <a:rPr sz="1600" spc="-113" dirty="0">
                <a:latin typeface="Courier New"/>
                <a:cs typeface="Courier New"/>
              </a:rPr>
              <a:t> </a:t>
            </a:r>
            <a:r>
              <a:rPr sz="1600" spc="-33" dirty="0">
                <a:latin typeface="Courier New"/>
                <a:cs typeface="Courier New"/>
              </a:rPr>
              <a:t>The </a:t>
            </a:r>
            <a:r>
              <a:rPr sz="1600" dirty="0">
                <a:latin typeface="Courier New"/>
                <a:cs typeface="Courier New"/>
              </a:rPr>
              <a:t>course</a:t>
            </a:r>
            <a:r>
              <a:rPr sz="1600" spc="-8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jumping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well."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T5</a:t>
            </a:r>
            <a:endParaRPr lang="en-US"/>
          </a:p>
        </p:txBody>
      </p:sp>
      <p:grpSp>
        <p:nvGrpSpPr>
          <p:cNvPr id="10" name="object 10"/>
          <p:cNvGrpSpPr/>
          <p:nvPr/>
        </p:nvGrpSpPr>
        <p:grpSpPr>
          <a:xfrm>
            <a:off x="5474461" y="3032503"/>
            <a:ext cx="4928447" cy="519007"/>
            <a:chOff x="4105845" y="2274377"/>
            <a:chExt cx="3696335" cy="389255"/>
          </a:xfrm>
        </p:grpSpPr>
        <p:sp>
          <p:nvSpPr>
            <p:cNvPr id="11" name="object 11"/>
            <p:cNvSpPr/>
            <p:nvPr/>
          </p:nvSpPr>
          <p:spPr>
            <a:xfrm>
              <a:off x="4115370" y="2470822"/>
              <a:ext cx="602615" cy="1905"/>
            </a:xfrm>
            <a:custGeom>
              <a:avLst/>
              <a:gdLst/>
              <a:ahLst/>
              <a:cxnLst/>
              <a:rect l="l" t="t" r="r" b="b"/>
              <a:pathLst>
                <a:path w="602614" h="1905">
                  <a:moveTo>
                    <a:pt x="0" y="0"/>
                  </a:moveTo>
                  <a:lnTo>
                    <a:pt x="69378" y="35"/>
                  </a:lnTo>
                  <a:lnTo>
                    <a:pt x="128297" y="133"/>
                  </a:lnTo>
                  <a:lnTo>
                    <a:pt x="178849" y="281"/>
                  </a:lnTo>
                  <a:lnTo>
                    <a:pt x="223126" y="466"/>
                  </a:lnTo>
                  <a:lnTo>
                    <a:pt x="263218" y="677"/>
                  </a:lnTo>
                  <a:lnTo>
                    <a:pt x="339215" y="1122"/>
                  </a:lnTo>
                  <a:lnTo>
                    <a:pt x="379304" y="1333"/>
                  </a:lnTo>
                  <a:lnTo>
                    <a:pt x="423574" y="1518"/>
                  </a:lnTo>
                  <a:lnTo>
                    <a:pt x="474119" y="1666"/>
                  </a:lnTo>
                  <a:lnTo>
                    <a:pt x="533030" y="1764"/>
                  </a:lnTo>
                  <a:lnTo>
                    <a:pt x="602399" y="17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8464" y="2283902"/>
              <a:ext cx="1684020" cy="370205"/>
            </a:xfrm>
            <a:custGeom>
              <a:avLst/>
              <a:gdLst/>
              <a:ahLst/>
              <a:cxnLst/>
              <a:rect l="l" t="t" r="r" b="b"/>
              <a:pathLst>
                <a:path w="1684020" h="370205">
                  <a:moveTo>
                    <a:pt x="1621898" y="370199"/>
                  </a:moveTo>
                  <a:lnTo>
                    <a:pt x="61700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0" y="0"/>
                  </a:lnTo>
                  <a:lnTo>
                    <a:pt x="1621898" y="0"/>
                  </a:lnTo>
                  <a:lnTo>
                    <a:pt x="1665527" y="18071"/>
                  </a:lnTo>
                  <a:lnTo>
                    <a:pt x="1683599" y="61701"/>
                  </a:lnTo>
                  <a:lnTo>
                    <a:pt x="1683599" y="308498"/>
                  </a:lnTo>
                  <a:lnTo>
                    <a:pt x="1678750" y="332515"/>
                  </a:lnTo>
                  <a:lnTo>
                    <a:pt x="1665527" y="352128"/>
                  </a:lnTo>
                  <a:lnTo>
                    <a:pt x="1645915" y="365351"/>
                  </a:lnTo>
                  <a:lnTo>
                    <a:pt x="1621898" y="370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8464" y="2283902"/>
              <a:ext cx="1684020" cy="370205"/>
            </a:xfrm>
            <a:custGeom>
              <a:avLst/>
              <a:gdLst/>
              <a:ahLst/>
              <a:cxnLst/>
              <a:rect l="l" t="t" r="r" b="b"/>
              <a:pathLst>
                <a:path w="1684020" h="370205">
                  <a:moveTo>
                    <a:pt x="0" y="61701"/>
                  </a:move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0" y="0"/>
                  </a:lnTo>
                  <a:lnTo>
                    <a:pt x="1621898" y="0"/>
                  </a:lnTo>
                  <a:lnTo>
                    <a:pt x="1665527" y="18071"/>
                  </a:lnTo>
                  <a:lnTo>
                    <a:pt x="1683599" y="61701"/>
                  </a:lnTo>
                  <a:lnTo>
                    <a:pt x="1683599" y="308498"/>
                  </a:lnTo>
                  <a:lnTo>
                    <a:pt x="1678750" y="332515"/>
                  </a:lnTo>
                  <a:lnTo>
                    <a:pt x="1665527" y="352128"/>
                  </a:lnTo>
                  <a:lnTo>
                    <a:pt x="1645915" y="365351"/>
                  </a:lnTo>
                  <a:lnTo>
                    <a:pt x="1621898" y="370199"/>
                  </a:lnTo>
                  <a:lnTo>
                    <a:pt x="61700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74960" y="3146522"/>
            <a:ext cx="19845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"not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acceptable"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05599" y="3292393"/>
            <a:ext cx="540173" cy="5080"/>
          </a:xfrm>
          <a:custGeom>
            <a:avLst/>
            <a:gdLst/>
            <a:ahLst/>
            <a:cxnLst/>
            <a:rect l="l" t="t" r="r" b="b"/>
            <a:pathLst>
              <a:path w="405129" h="3810">
                <a:moveTo>
                  <a:pt x="0" y="3299"/>
                </a:moveTo>
                <a:lnTo>
                  <a:pt x="67237" y="3158"/>
                </a:lnTo>
                <a:lnTo>
                  <a:pt x="120237" y="2784"/>
                </a:lnTo>
                <a:lnTo>
                  <a:pt x="163743" y="2255"/>
                </a:lnTo>
                <a:lnTo>
                  <a:pt x="202503" y="1649"/>
                </a:lnTo>
                <a:lnTo>
                  <a:pt x="241263" y="1044"/>
                </a:lnTo>
                <a:lnTo>
                  <a:pt x="284768" y="515"/>
                </a:lnTo>
                <a:lnTo>
                  <a:pt x="337765" y="141"/>
                </a:lnTo>
                <a:lnTo>
                  <a:pt x="404999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77ED9E79-2012-10D6-9D8A-98F886A83684}"/>
              </a:ext>
            </a:extLst>
          </p:cNvPr>
          <p:cNvSpPr/>
          <p:nvPr/>
        </p:nvSpPr>
        <p:spPr>
          <a:xfrm>
            <a:off x="6290402" y="2813992"/>
            <a:ext cx="1315720" cy="956733"/>
          </a:xfrm>
          <a:custGeom>
            <a:avLst/>
            <a:gdLst/>
            <a:ahLst/>
            <a:cxnLst/>
            <a:rect l="l" t="t" r="r" b="b"/>
            <a:pathLst>
              <a:path w="986789" h="717550">
                <a:moveTo>
                  <a:pt x="866897" y="716999"/>
                </a:moveTo>
                <a:lnTo>
                  <a:pt x="119502" y="716999"/>
                </a:lnTo>
                <a:lnTo>
                  <a:pt x="72986" y="707608"/>
                </a:lnTo>
                <a:lnTo>
                  <a:pt x="35001" y="681998"/>
                </a:lnTo>
                <a:lnTo>
                  <a:pt x="9391" y="644013"/>
                </a:lnTo>
                <a:lnTo>
                  <a:pt x="0" y="597497"/>
                </a:lnTo>
                <a:lnTo>
                  <a:pt x="0" y="119502"/>
                </a:lnTo>
                <a:lnTo>
                  <a:pt x="9391" y="72986"/>
                </a:lnTo>
                <a:lnTo>
                  <a:pt x="35001" y="35001"/>
                </a:lnTo>
                <a:lnTo>
                  <a:pt x="72986" y="9391"/>
                </a:lnTo>
                <a:lnTo>
                  <a:pt x="119502" y="0"/>
                </a:lnTo>
                <a:lnTo>
                  <a:pt x="866897" y="0"/>
                </a:lnTo>
                <a:lnTo>
                  <a:pt x="912629" y="9096"/>
                </a:lnTo>
                <a:lnTo>
                  <a:pt x="951398" y="35001"/>
                </a:lnTo>
                <a:lnTo>
                  <a:pt x="977303" y="73770"/>
                </a:lnTo>
                <a:lnTo>
                  <a:pt x="986399" y="119502"/>
                </a:lnTo>
                <a:lnTo>
                  <a:pt x="986399" y="597497"/>
                </a:lnTo>
                <a:lnTo>
                  <a:pt x="977008" y="644013"/>
                </a:lnTo>
                <a:lnTo>
                  <a:pt x="951398" y="681998"/>
                </a:lnTo>
                <a:lnTo>
                  <a:pt x="913413" y="707608"/>
                </a:lnTo>
                <a:lnTo>
                  <a:pt x="866897" y="716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/>
              <a:t>T5</a:t>
            </a:r>
            <a:endParaRPr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9409" y="2801296"/>
            <a:ext cx="4343400" cy="982133"/>
            <a:chOff x="712057" y="2100972"/>
            <a:chExt cx="3257550" cy="736600"/>
          </a:xfrm>
        </p:grpSpPr>
        <p:sp>
          <p:nvSpPr>
            <p:cNvPr id="3" name="object 3"/>
            <p:cNvSpPr/>
            <p:nvPr/>
          </p:nvSpPr>
          <p:spPr>
            <a:xfrm>
              <a:off x="721582" y="2110497"/>
              <a:ext cx="3238500" cy="717550"/>
            </a:xfrm>
            <a:custGeom>
              <a:avLst/>
              <a:gdLst/>
              <a:ahLst/>
              <a:cxnLst/>
              <a:rect l="l" t="t" r="r" b="b"/>
              <a:pathLst>
                <a:path w="3238500" h="717550">
                  <a:moveTo>
                    <a:pt x="3118697" y="716999"/>
                  </a:moveTo>
                  <a:lnTo>
                    <a:pt x="119502" y="716999"/>
                  </a:lnTo>
                  <a:lnTo>
                    <a:pt x="72986" y="707608"/>
                  </a:lnTo>
                  <a:lnTo>
                    <a:pt x="35001" y="681998"/>
                  </a:lnTo>
                  <a:lnTo>
                    <a:pt x="9391" y="644013"/>
                  </a:lnTo>
                  <a:lnTo>
                    <a:pt x="0" y="597497"/>
                  </a:lnTo>
                  <a:lnTo>
                    <a:pt x="0" y="119502"/>
                  </a:lnTo>
                  <a:lnTo>
                    <a:pt x="9391" y="72986"/>
                  </a:lnTo>
                  <a:lnTo>
                    <a:pt x="35001" y="35001"/>
                  </a:lnTo>
                  <a:lnTo>
                    <a:pt x="72986" y="9391"/>
                  </a:lnTo>
                  <a:lnTo>
                    <a:pt x="119502" y="0"/>
                  </a:lnTo>
                  <a:lnTo>
                    <a:pt x="3118697" y="0"/>
                  </a:lnTo>
                  <a:lnTo>
                    <a:pt x="3164429" y="9096"/>
                  </a:lnTo>
                  <a:lnTo>
                    <a:pt x="3203198" y="35001"/>
                  </a:lnTo>
                  <a:lnTo>
                    <a:pt x="3229103" y="73770"/>
                  </a:lnTo>
                  <a:lnTo>
                    <a:pt x="3238200" y="119502"/>
                  </a:lnTo>
                  <a:lnTo>
                    <a:pt x="3238200" y="597497"/>
                  </a:lnTo>
                  <a:lnTo>
                    <a:pt x="3228809" y="644013"/>
                  </a:lnTo>
                  <a:lnTo>
                    <a:pt x="3203198" y="681998"/>
                  </a:lnTo>
                  <a:lnTo>
                    <a:pt x="3165213" y="707608"/>
                  </a:lnTo>
                  <a:lnTo>
                    <a:pt x="3118697" y="7169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1582" y="2110497"/>
              <a:ext cx="3238500" cy="717550"/>
            </a:xfrm>
            <a:custGeom>
              <a:avLst/>
              <a:gdLst/>
              <a:ahLst/>
              <a:cxnLst/>
              <a:rect l="l" t="t" r="r" b="b"/>
              <a:pathLst>
                <a:path w="3238500" h="717550">
                  <a:moveTo>
                    <a:pt x="0" y="119502"/>
                  </a:moveTo>
                  <a:lnTo>
                    <a:pt x="9391" y="72986"/>
                  </a:lnTo>
                  <a:lnTo>
                    <a:pt x="35001" y="35001"/>
                  </a:lnTo>
                  <a:lnTo>
                    <a:pt x="72986" y="9391"/>
                  </a:lnTo>
                  <a:lnTo>
                    <a:pt x="119502" y="0"/>
                  </a:lnTo>
                  <a:lnTo>
                    <a:pt x="3118697" y="0"/>
                  </a:lnTo>
                  <a:lnTo>
                    <a:pt x="3164429" y="9096"/>
                  </a:lnTo>
                  <a:lnTo>
                    <a:pt x="3203198" y="35001"/>
                  </a:lnTo>
                  <a:lnTo>
                    <a:pt x="3229103" y="73770"/>
                  </a:lnTo>
                  <a:lnTo>
                    <a:pt x="3238200" y="119502"/>
                  </a:lnTo>
                  <a:lnTo>
                    <a:pt x="3238200" y="597497"/>
                  </a:lnTo>
                  <a:lnTo>
                    <a:pt x="3228809" y="644013"/>
                  </a:lnTo>
                  <a:lnTo>
                    <a:pt x="3203198" y="681998"/>
                  </a:lnTo>
                  <a:lnTo>
                    <a:pt x="3165213" y="707608"/>
                  </a:lnTo>
                  <a:lnTo>
                    <a:pt x="3118697" y="716999"/>
                  </a:lnTo>
                  <a:lnTo>
                    <a:pt x="119502" y="716999"/>
                  </a:lnTo>
                  <a:lnTo>
                    <a:pt x="72986" y="707608"/>
                  </a:lnTo>
                  <a:lnTo>
                    <a:pt x="35001" y="681998"/>
                  </a:lnTo>
                  <a:lnTo>
                    <a:pt x="9391" y="644013"/>
                  </a:lnTo>
                  <a:lnTo>
                    <a:pt x="0" y="597497"/>
                  </a:lnTo>
                  <a:lnTo>
                    <a:pt x="0" y="119502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94068" y="2905686"/>
            <a:ext cx="4057227" cy="758114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086" marR="6773" algn="ctr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Courier New"/>
                <a:cs typeface="Courier New"/>
              </a:rPr>
              <a:t>"stsb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sentence1:</a:t>
            </a:r>
            <a:r>
              <a:rPr sz="1600" spc="-9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9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rhino</a:t>
            </a:r>
            <a:r>
              <a:rPr sz="1600" spc="-93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grazed </a:t>
            </a:r>
            <a:r>
              <a:rPr sz="1600" dirty="0">
                <a:latin typeface="Courier New"/>
                <a:cs typeface="Courier New"/>
              </a:rPr>
              <a:t>on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grass.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sentence2: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rhino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5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grazing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5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field."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T5</a:t>
            </a:r>
            <a:endParaRPr lang="en-US"/>
          </a:p>
        </p:txBody>
      </p:sp>
      <p:grpSp>
        <p:nvGrpSpPr>
          <p:cNvPr id="10" name="object 10"/>
          <p:cNvGrpSpPr/>
          <p:nvPr/>
        </p:nvGrpSpPr>
        <p:grpSpPr>
          <a:xfrm>
            <a:off x="5267109" y="3037101"/>
            <a:ext cx="3784600" cy="510540"/>
            <a:chOff x="3950332" y="2277825"/>
            <a:chExt cx="2838450" cy="382905"/>
          </a:xfrm>
        </p:grpSpPr>
        <p:sp>
          <p:nvSpPr>
            <p:cNvPr id="11" name="object 11"/>
            <p:cNvSpPr/>
            <p:nvPr/>
          </p:nvSpPr>
          <p:spPr>
            <a:xfrm>
              <a:off x="3959857" y="2469522"/>
              <a:ext cx="758190" cy="3175"/>
            </a:xfrm>
            <a:custGeom>
              <a:avLst/>
              <a:gdLst/>
              <a:ahLst/>
              <a:cxnLst/>
              <a:rect l="l" t="t" r="r" b="b"/>
              <a:pathLst>
                <a:path w="758189" h="3175">
                  <a:moveTo>
                    <a:pt x="0" y="0"/>
                  </a:moveTo>
                  <a:lnTo>
                    <a:pt x="75684" y="43"/>
                  </a:lnTo>
                  <a:lnTo>
                    <a:pt x="141425" y="166"/>
                  </a:lnTo>
                  <a:lnTo>
                    <a:pt x="198880" y="354"/>
                  </a:lnTo>
                  <a:lnTo>
                    <a:pt x="249706" y="594"/>
                  </a:lnTo>
                  <a:lnTo>
                    <a:pt x="295558" y="874"/>
                  </a:lnTo>
                  <a:lnTo>
                    <a:pt x="338093" y="1180"/>
                  </a:lnTo>
                  <a:lnTo>
                    <a:pt x="378967" y="1499"/>
                  </a:lnTo>
                  <a:lnTo>
                    <a:pt x="419838" y="1819"/>
                  </a:lnTo>
                  <a:lnTo>
                    <a:pt x="462362" y="2125"/>
                  </a:lnTo>
                  <a:lnTo>
                    <a:pt x="508197" y="2405"/>
                  </a:lnTo>
                  <a:lnTo>
                    <a:pt x="559001" y="2645"/>
                  </a:lnTo>
                  <a:lnTo>
                    <a:pt x="616431" y="2833"/>
                  </a:lnTo>
                  <a:lnTo>
                    <a:pt x="682144" y="2956"/>
                  </a:lnTo>
                  <a:lnTo>
                    <a:pt x="757799" y="29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1806" y="2287350"/>
              <a:ext cx="677545" cy="363855"/>
            </a:xfrm>
            <a:custGeom>
              <a:avLst/>
              <a:gdLst/>
              <a:ahLst/>
              <a:cxnLst/>
              <a:rect l="l" t="t" r="r" b="b"/>
              <a:pathLst>
                <a:path w="677545" h="363855">
                  <a:moveTo>
                    <a:pt x="616848" y="363299"/>
                  </a:moveTo>
                  <a:lnTo>
                    <a:pt x="60550" y="363299"/>
                  </a:lnTo>
                  <a:lnTo>
                    <a:pt x="36981" y="358541"/>
                  </a:lnTo>
                  <a:lnTo>
                    <a:pt x="17735" y="345564"/>
                  </a:lnTo>
                  <a:lnTo>
                    <a:pt x="4758" y="326318"/>
                  </a:lnTo>
                  <a:lnTo>
                    <a:pt x="0" y="302748"/>
                  </a:lnTo>
                  <a:lnTo>
                    <a:pt x="0" y="60551"/>
                  </a:lnTo>
                  <a:lnTo>
                    <a:pt x="4758" y="36981"/>
                  </a:lnTo>
                  <a:lnTo>
                    <a:pt x="17735" y="17735"/>
                  </a:lnTo>
                  <a:lnTo>
                    <a:pt x="36981" y="4758"/>
                  </a:lnTo>
                  <a:lnTo>
                    <a:pt x="60550" y="0"/>
                  </a:lnTo>
                  <a:lnTo>
                    <a:pt x="616848" y="0"/>
                  </a:lnTo>
                  <a:lnTo>
                    <a:pt x="659665" y="17734"/>
                  </a:lnTo>
                  <a:lnTo>
                    <a:pt x="677399" y="60551"/>
                  </a:lnTo>
                  <a:lnTo>
                    <a:pt x="677399" y="302748"/>
                  </a:lnTo>
                  <a:lnTo>
                    <a:pt x="672641" y="326318"/>
                  </a:lnTo>
                  <a:lnTo>
                    <a:pt x="659664" y="345564"/>
                  </a:lnTo>
                  <a:lnTo>
                    <a:pt x="640417" y="358541"/>
                  </a:lnTo>
                  <a:lnTo>
                    <a:pt x="616848" y="3632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1806" y="2287350"/>
              <a:ext cx="677545" cy="363855"/>
            </a:xfrm>
            <a:custGeom>
              <a:avLst/>
              <a:gdLst/>
              <a:ahLst/>
              <a:cxnLst/>
              <a:rect l="l" t="t" r="r" b="b"/>
              <a:pathLst>
                <a:path w="677545" h="363855">
                  <a:moveTo>
                    <a:pt x="0" y="60551"/>
                  </a:moveTo>
                  <a:lnTo>
                    <a:pt x="4758" y="36981"/>
                  </a:lnTo>
                  <a:lnTo>
                    <a:pt x="17735" y="17735"/>
                  </a:lnTo>
                  <a:lnTo>
                    <a:pt x="36981" y="4758"/>
                  </a:lnTo>
                  <a:lnTo>
                    <a:pt x="60550" y="0"/>
                  </a:lnTo>
                  <a:lnTo>
                    <a:pt x="616848" y="0"/>
                  </a:lnTo>
                  <a:lnTo>
                    <a:pt x="659665" y="17734"/>
                  </a:lnTo>
                  <a:lnTo>
                    <a:pt x="677399" y="60551"/>
                  </a:lnTo>
                  <a:lnTo>
                    <a:pt x="677399" y="302748"/>
                  </a:lnTo>
                  <a:lnTo>
                    <a:pt x="672641" y="326318"/>
                  </a:lnTo>
                  <a:lnTo>
                    <a:pt x="659664" y="345564"/>
                  </a:lnTo>
                  <a:lnTo>
                    <a:pt x="640417" y="358541"/>
                  </a:lnTo>
                  <a:lnTo>
                    <a:pt x="616848" y="363299"/>
                  </a:lnTo>
                  <a:lnTo>
                    <a:pt x="60550" y="363299"/>
                  </a:lnTo>
                  <a:lnTo>
                    <a:pt x="36981" y="358541"/>
                  </a:lnTo>
                  <a:lnTo>
                    <a:pt x="17735" y="345564"/>
                  </a:lnTo>
                  <a:lnTo>
                    <a:pt x="4758" y="326318"/>
                  </a:lnTo>
                  <a:lnTo>
                    <a:pt x="0" y="302748"/>
                  </a:lnTo>
                  <a:lnTo>
                    <a:pt x="0" y="6055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65816" y="3146672"/>
            <a:ext cx="6434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Courier New"/>
                <a:cs typeface="Courier New"/>
              </a:rPr>
              <a:t>"3.8"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05599" y="3292393"/>
            <a:ext cx="530860" cy="5080"/>
          </a:xfrm>
          <a:custGeom>
            <a:avLst/>
            <a:gdLst/>
            <a:ahLst/>
            <a:cxnLst/>
            <a:rect l="l" t="t" r="r" b="b"/>
            <a:pathLst>
              <a:path w="398145" h="3810">
                <a:moveTo>
                  <a:pt x="0" y="3299"/>
                </a:moveTo>
                <a:lnTo>
                  <a:pt x="66118" y="3158"/>
                </a:lnTo>
                <a:lnTo>
                  <a:pt x="118238" y="2784"/>
                </a:lnTo>
                <a:lnTo>
                  <a:pt x="161019" y="2255"/>
                </a:lnTo>
                <a:lnTo>
                  <a:pt x="199125" y="1649"/>
                </a:lnTo>
                <a:lnTo>
                  <a:pt x="237218" y="1044"/>
                </a:lnTo>
                <a:lnTo>
                  <a:pt x="279966" y="515"/>
                </a:lnTo>
                <a:lnTo>
                  <a:pt x="332037" y="141"/>
                </a:lnTo>
                <a:lnTo>
                  <a:pt x="398099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70825456-75EE-6B05-9F09-B56DF609CC1E}"/>
              </a:ext>
            </a:extLst>
          </p:cNvPr>
          <p:cNvSpPr/>
          <p:nvPr/>
        </p:nvSpPr>
        <p:spPr>
          <a:xfrm>
            <a:off x="6290402" y="2813992"/>
            <a:ext cx="1315720" cy="956733"/>
          </a:xfrm>
          <a:custGeom>
            <a:avLst/>
            <a:gdLst/>
            <a:ahLst/>
            <a:cxnLst/>
            <a:rect l="l" t="t" r="r" b="b"/>
            <a:pathLst>
              <a:path w="986789" h="717550">
                <a:moveTo>
                  <a:pt x="866897" y="716999"/>
                </a:moveTo>
                <a:lnTo>
                  <a:pt x="119502" y="716999"/>
                </a:lnTo>
                <a:lnTo>
                  <a:pt x="72986" y="707608"/>
                </a:lnTo>
                <a:lnTo>
                  <a:pt x="35001" y="681998"/>
                </a:lnTo>
                <a:lnTo>
                  <a:pt x="9391" y="644013"/>
                </a:lnTo>
                <a:lnTo>
                  <a:pt x="0" y="597497"/>
                </a:lnTo>
                <a:lnTo>
                  <a:pt x="0" y="119502"/>
                </a:lnTo>
                <a:lnTo>
                  <a:pt x="9391" y="72986"/>
                </a:lnTo>
                <a:lnTo>
                  <a:pt x="35001" y="35001"/>
                </a:lnTo>
                <a:lnTo>
                  <a:pt x="72986" y="9391"/>
                </a:lnTo>
                <a:lnTo>
                  <a:pt x="119502" y="0"/>
                </a:lnTo>
                <a:lnTo>
                  <a:pt x="866897" y="0"/>
                </a:lnTo>
                <a:lnTo>
                  <a:pt x="912629" y="9096"/>
                </a:lnTo>
                <a:lnTo>
                  <a:pt x="951398" y="35001"/>
                </a:lnTo>
                <a:lnTo>
                  <a:pt x="977303" y="73770"/>
                </a:lnTo>
                <a:lnTo>
                  <a:pt x="986399" y="119502"/>
                </a:lnTo>
                <a:lnTo>
                  <a:pt x="986399" y="597497"/>
                </a:lnTo>
                <a:lnTo>
                  <a:pt x="977008" y="644013"/>
                </a:lnTo>
                <a:lnTo>
                  <a:pt x="951398" y="681998"/>
                </a:lnTo>
                <a:lnTo>
                  <a:pt x="913413" y="707608"/>
                </a:lnTo>
                <a:lnTo>
                  <a:pt x="866897" y="716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/>
              <a:t>T5</a:t>
            </a:r>
            <a:endParaRPr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59" y="2668514"/>
            <a:ext cx="4851400" cy="1246292"/>
            <a:chOff x="744794" y="2001385"/>
            <a:chExt cx="3638550" cy="934719"/>
          </a:xfrm>
        </p:grpSpPr>
        <p:sp>
          <p:nvSpPr>
            <p:cNvPr id="3" name="object 3"/>
            <p:cNvSpPr/>
            <p:nvPr/>
          </p:nvSpPr>
          <p:spPr>
            <a:xfrm>
              <a:off x="754319" y="2010910"/>
              <a:ext cx="3619500" cy="915669"/>
            </a:xfrm>
            <a:custGeom>
              <a:avLst/>
              <a:gdLst/>
              <a:ahLst/>
              <a:cxnLst/>
              <a:rect l="l" t="t" r="r" b="b"/>
              <a:pathLst>
                <a:path w="3619500" h="915669">
                  <a:moveTo>
                    <a:pt x="3466346" y="915299"/>
                  </a:moveTo>
                  <a:lnTo>
                    <a:pt x="152553" y="915299"/>
                  </a:lnTo>
                  <a:lnTo>
                    <a:pt x="104334" y="907522"/>
                  </a:lnTo>
                  <a:lnTo>
                    <a:pt x="62457" y="885866"/>
                  </a:lnTo>
                  <a:lnTo>
                    <a:pt x="29433" y="852842"/>
                  </a:lnTo>
                  <a:lnTo>
                    <a:pt x="7777" y="810965"/>
                  </a:lnTo>
                  <a:lnTo>
                    <a:pt x="0" y="762746"/>
                  </a:lnTo>
                  <a:lnTo>
                    <a:pt x="0" y="152552"/>
                  </a:lnTo>
                  <a:lnTo>
                    <a:pt x="7777" y="104334"/>
                  </a:lnTo>
                  <a:lnTo>
                    <a:pt x="29433" y="62457"/>
                  </a:lnTo>
                  <a:lnTo>
                    <a:pt x="62457" y="29433"/>
                  </a:lnTo>
                  <a:lnTo>
                    <a:pt x="104334" y="7777"/>
                  </a:lnTo>
                  <a:lnTo>
                    <a:pt x="152553" y="0"/>
                  </a:lnTo>
                  <a:lnTo>
                    <a:pt x="3466346" y="0"/>
                  </a:lnTo>
                  <a:lnTo>
                    <a:pt x="3524726" y="11612"/>
                  </a:lnTo>
                  <a:lnTo>
                    <a:pt x="3574218" y="44681"/>
                  </a:lnTo>
                  <a:lnTo>
                    <a:pt x="3607287" y="94173"/>
                  </a:lnTo>
                  <a:lnTo>
                    <a:pt x="3618900" y="152552"/>
                  </a:lnTo>
                  <a:lnTo>
                    <a:pt x="3618900" y="762746"/>
                  </a:lnTo>
                  <a:lnTo>
                    <a:pt x="3611122" y="810965"/>
                  </a:lnTo>
                  <a:lnTo>
                    <a:pt x="3589466" y="852842"/>
                  </a:lnTo>
                  <a:lnTo>
                    <a:pt x="3556442" y="885866"/>
                  </a:lnTo>
                  <a:lnTo>
                    <a:pt x="3514565" y="907522"/>
                  </a:lnTo>
                  <a:lnTo>
                    <a:pt x="3466346" y="9152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4319" y="2010910"/>
              <a:ext cx="3619500" cy="915669"/>
            </a:xfrm>
            <a:custGeom>
              <a:avLst/>
              <a:gdLst/>
              <a:ahLst/>
              <a:cxnLst/>
              <a:rect l="l" t="t" r="r" b="b"/>
              <a:pathLst>
                <a:path w="3619500" h="915669">
                  <a:moveTo>
                    <a:pt x="0" y="152552"/>
                  </a:moveTo>
                  <a:lnTo>
                    <a:pt x="7777" y="104334"/>
                  </a:lnTo>
                  <a:lnTo>
                    <a:pt x="29433" y="62457"/>
                  </a:lnTo>
                  <a:lnTo>
                    <a:pt x="62457" y="29433"/>
                  </a:lnTo>
                  <a:lnTo>
                    <a:pt x="104334" y="7777"/>
                  </a:lnTo>
                  <a:lnTo>
                    <a:pt x="152553" y="0"/>
                  </a:lnTo>
                  <a:lnTo>
                    <a:pt x="3466346" y="0"/>
                  </a:lnTo>
                  <a:lnTo>
                    <a:pt x="3524726" y="11612"/>
                  </a:lnTo>
                  <a:lnTo>
                    <a:pt x="3574218" y="44681"/>
                  </a:lnTo>
                  <a:lnTo>
                    <a:pt x="3607287" y="94173"/>
                  </a:lnTo>
                  <a:lnTo>
                    <a:pt x="3618900" y="152552"/>
                  </a:lnTo>
                  <a:lnTo>
                    <a:pt x="3618900" y="762746"/>
                  </a:lnTo>
                  <a:lnTo>
                    <a:pt x="3611122" y="810965"/>
                  </a:lnTo>
                  <a:lnTo>
                    <a:pt x="3589466" y="852842"/>
                  </a:lnTo>
                  <a:lnTo>
                    <a:pt x="3556442" y="885866"/>
                  </a:lnTo>
                  <a:lnTo>
                    <a:pt x="3514565" y="907522"/>
                  </a:lnTo>
                  <a:lnTo>
                    <a:pt x="3466346" y="915299"/>
                  </a:lnTo>
                  <a:lnTo>
                    <a:pt x="152553" y="915299"/>
                  </a:lnTo>
                  <a:lnTo>
                    <a:pt x="104334" y="907522"/>
                  </a:lnTo>
                  <a:lnTo>
                    <a:pt x="62457" y="885866"/>
                  </a:lnTo>
                  <a:lnTo>
                    <a:pt x="29433" y="852842"/>
                  </a:lnTo>
                  <a:lnTo>
                    <a:pt x="7777" y="810965"/>
                  </a:lnTo>
                  <a:lnTo>
                    <a:pt x="0" y="762746"/>
                  </a:lnTo>
                  <a:lnTo>
                    <a:pt x="0" y="152552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54606" y="2790920"/>
            <a:ext cx="4544905" cy="1001770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algn="ctr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Courier New"/>
                <a:cs typeface="Courier New"/>
              </a:rPr>
              <a:t>"summarize:</a:t>
            </a:r>
            <a:r>
              <a:rPr sz="1600" spc="-13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state</a:t>
            </a:r>
            <a:r>
              <a:rPr sz="1600" spc="-133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authorities </a:t>
            </a:r>
            <a:r>
              <a:rPr sz="1600" dirty="0">
                <a:latin typeface="Courier New"/>
                <a:cs typeface="Courier New"/>
              </a:rPr>
              <a:t>dispatched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emergency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crews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tuesday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spc="-33" dirty="0">
                <a:latin typeface="Courier New"/>
                <a:cs typeface="Courier New"/>
              </a:rPr>
              <a:t>to </a:t>
            </a:r>
            <a:r>
              <a:rPr sz="1600" dirty="0">
                <a:latin typeface="Courier New"/>
                <a:cs typeface="Courier New"/>
              </a:rPr>
              <a:t>survey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damage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after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onslaught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severe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weather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mississippi…"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T5</a:t>
            </a:r>
            <a:endParaRPr lang="en-US"/>
          </a:p>
        </p:txBody>
      </p:sp>
      <p:grpSp>
        <p:nvGrpSpPr>
          <p:cNvPr id="10" name="object 10"/>
          <p:cNvGrpSpPr/>
          <p:nvPr/>
        </p:nvGrpSpPr>
        <p:grpSpPr>
          <a:xfrm>
            <a:off x="8005283" y="2919018"/>
            <a:ext cx="4120727" cy="744220"/>
            <a:chOff x="6003962" y="2189263"/>
            <a:chExt cx="3090545" cy="558165"/>
          </a:xfrm>
        </p:grpSpPr>
        <p:sp>
          <p:nvSpPr>
            <p:cNvPr id="11" name="object 11"/>
            <p:cNvSpPr/>
            <p:nvPr/>
          </p:nvSpPr>
          <p:spPr>
            <a:xfrm>
              <a:off x="6013487" y="2198788"/>
              <a:ext cx="3071495" cy="539115"/>
            </a:xfrm>
            <a:custGeom>
              <a:avLst/>
              <a:gdLst/>
              <a:ahLst/>
              <a:cxnLst/>
              <a:rect l="l" t="t" r="r" b="b"/>
              <a:pathLst>
                <a:path w="3071495" h="539114">
                  <a:moveTo>
                    <a:pt x="2981598" y="538799"/>
                  </a:moveTo>
                  <a:lnTo>
                    <a:pt x="89801" y="538799"/>
                  </a:lnTo>
                  <a:lnTo>
                    <a:pt x="54846" y="531742"/>
                  </a:lnTo>
                  <a:lnTo>
                    <a:pt x="26302" y="512497"/>
                  </a:lnTo>
                  <a:lnTo>
                    <a:pt x="7057" y="483953"/>
                  </a:lnTo>
                  <a:lnTo>
                    <a:pt x="0" y="448998"/>
                  </a:lnTo>
                  <a:lnTo>
                    <a:pt x="0" y="89801"/>
                  </a:lnTo>
                  <a:lnTo>
                    <a:pt x="7057" y="54846"/>
                  </a:lnTo>
                  <a:lnTo>
                    <a:pt x="26302" y="26302"/>
                  </a:lnTo>
                  <a:lnTo>
                    <a:pt x="54846" y="7057"/>
                  </a:lnTo>
                  <a:lnTo>
                    <a:pt x="89801" y="0"/>
                  </a:lnTo>
                  <a:lnTo>
                    <a:pt x="2981598" y="0"/>
                  </a:lnTo>
                  <a:lnTo>
                    <a:pt x="3031420" y="15087"/>
                  </a:lnTo>
                  <a:lnTo>
                    <a:pt x="3064564" y="55436"/>
                  </a:lnTo>
                  <a:lnTo>
                    <a:pt x="3071399" y="89801"/>
                  </a:lnTo>
                  <a:lnTo>
                    <a:pt x="3071399" y="448998"/>
                  </a:lnTo>
                  <a:lnTo>
                    <a:pt x="3064342" y="483953"/>
                  </a:lnTo>
                  <a:lnTo>
                    <a:pt x="3045097" y="512497"/>
                  </a:lnTo>
                  <a:lnTo>
                    <a:pt x="3016553" y="531742"/>
                  </a:lnTo>
                  <a:lnTo>
                    <a:pt x="2981598" y="538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13487" y="2198788"/>
              <a:ext cx="3071495" cy="539115"/>
            </a:xfrm>
            <a:custGeom>
              <a:avLst/>
              <a:gdLst/>
              <a:ahLst/>
              <a:cxnLst/>
              <a:rect l="l" t="t" r="r" b="b"/>
              <a:pathLst>
                <a:path w="3071495" h="539114">
                  <a:moveTo>
                    <a:pt x="0" y="89801"/>
                  </a:moveTo>
                  <a:lnTo>
                    <a:pt x="7057" y="54846"/>
                  </a:lnTo>
                  <a:lnTo>
                    <a:pt x="26302" y="26302"/>
                  </a:lnTo>
                  <a:lnTo>
                    <a:pt x="54846" y="7057"/>
                  </a:lnTo>
                  <a:lnTo>
                    <a:pt x="89801" y="0"/>
                  </a:lnTo>
                  <a:lnTo>
                    <a:pt x="2981598" y="0"/>
                  </a:lnTo>
                  <a:lnTo>
                    <a:pt x="3031420" y="15087"/>
                  </a:lnTo>
                  <a:lnTo>
                    <a:pt x="3064564" y="55436"/>
                  </a:lnTo>
                  <a:lnTo>
                    <a:pt x="3071399" y="89801"/>
                  </a:lnTo>
                  <a:lnTo>
                    <a:pt x="3071399" y="448998"/>
                  </a:lnTo>
                  <a:lnTo>
                    <a:pt x="3064342" y="483953"/>
                  </a:lnTo>
                  <a:lnTo>
                    <a:pt x="3045097" y="512497"/>
                  </a:lnTo>
                  <a:lnTo>
                    <a:pt x="3016553" y="531742"/>
                  </a:lnTo>
                  <a:lnTo>
                    <a:pt x="2981598" y="538799"/>
                  </a:lnTo>
                  <a:lnTo>
                    <a:pt x="89801" y="538799"/>
                  </a:lnTo>
                  <a:lnTo>
                    <a:pt x="54846" y="531742"/>
                  </a:lnTo>
                  <a:lnTo>
                    <a:pt x="26302" y="512497"/>
                  </a:lnTo>
                  <a:lnTo>
                    <a:pt x="7057" y="483953"/>
                  </a:lnTo>
                  <a:lnTo>
                    <a:pt x="0" y="448998"/>
                  </a:lnTo>
                  <a:lnTo>
                    <a:pt x="0" y="898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227247" y="3028911"/>
            <a:ext cx="3691467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260767" marR="6773" indent="-244681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Courier New"/>
                <a:cs typeface="Courier New"/>
              </a:rPr>
              <a:t>"six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people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hospitalized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after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storm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5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attala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county."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40026" y="3295193"/>
            <a:ext cx="2186093" cy="3387"/>
          </a:xfrm>
          <a:custGeom>
            <a:avLst/>
            <a:gdLst/>
            <a:ahLst/>
            <a:cxnLst/>
            <a:rect l="l" t="t" r="r" b="b"/>
            <a:pathLst>
              <a:path w="1639570" h="2539">
                <a:moveTo>
                  <a:pt x="1324179" y="1199"/>
                </a:moveTo>
                <a:lnTo>
                  <a:pt x="1376485" y="1148"/>
                </a:lnTo>
                <a:lnTo>
                  <a:pt x="1417714" y="1012"/>
                </a:lnTo>
                <a:lnTo>
                  <a:pt x="1481707" y="599"/>
                </a:lnTo>
                <a:lnTo>
                  <a:pt x="1511852" y="379"/>
                </a:lnTo>
                <a:lnTo>
                  <a:pt x="1545683" y="187"/>
                </a:lnTo>
                <a:lnTo>
                  <a:pt x="1586895" y="51"/>
                </a:lnTo>
                <a:lnTo>
                  <a:pt x="1639179" y="0"/>
                </a:lnTo>
              </a:path>
              <a:path w="1639570" h="2539">
                <a:moveTo>
                  <a:pt x="0" y="2540"/>
                </a:moveTo>
                <a:lnTo>
                  <a:pt x="56076" y="2488"/>
                </a:lnTo>
                <a:lnTo>
                  <a:pt x="100277" y="2352"/>
                </a:lnTo>
                <a:lnTo>
                  <a:pt x="136562" y="2160"/>
                </a:lnTo>
                <a:lnTo>
                  <a:pt x="168889" y="1940"/>
                </a:lnTo>
                <a:lnTo>
                  <a:pt x="201219" y="1719"/>
                </a:lnTo>
                <a:lnTo>
                  <a:pt x="237508" y="1527"/>
                </a:lnTo>
                <a:lnTo>
                  <a:pt x="281716" y="1391"/>
                </a:lnTo>
                <a:lnTo>
                  <a:pt x="337799" y="134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466195FF-1EE4-14B4-7BF5-5B9A8FC99832}"/>
              </a:ext>
            </a:extLst>
          </p:cNvPr>
          <p:cNvSpPr/>
          <p:nvPr/>
        </p:nvSpPr>
        <p:spPr>
          <a:xfrm>
            <a:off x="6290402" y="2813992"/>
            <a:ext cx="1315720" cy="956733"/>
          </a:xfrm>
          <a:custGeom>
            <a:avLst/>
            <a:gdLst/>
            <a:ahLst/>
            <a:cxnLst/>
            <a:rect l="l" t="t" r="r" b="b"/>
            <a:pathLst>
              <a:path w="986789" h="717550">
                <a:moveTo>
                  <a:pt x="866897" y="716999"/>
                </a:moveTo>
                <a:lnTo>
                  <a:pt x="119502" y="716999"/>
                </a:lnTo>
                <a:lnTo>
                  <a:pt x="72986" y="707608"/>
                </a:lnTo>
                <a:lnTo>
                  <a:pt x="35001" y="681998"/>
                </a:lnTo>
                <a:lnTo>
                  <a:pt x="9391" y="644013"/>
                </a:lnTo>
                <a:lnTo>
                  <a:pt x="0" y="597497"/>
                </a:lnTo>
                <a:lnTo>
                  <a:pt x="0" y="119502"/>
                </a:lnTo>
                <a:lnTo>
                  <a:pt x="9391" y="72986"/>
                </a:lnTo>
                <a:lnTo>
                  <a:pt x="35001" y="35001"/>
                </a:lnTo>
                <a:lnTo>
                  <a:pt x="72986" y="9391"/>
                </a:lnTo>
                <a:lnTo>
                  <a:pt x="119502" y="0"/>
                </a:lnTo>
                <a:lnTo>
                  <a:pt x="866897" y="0"/>
                </a:lnTo>
                <a:lnTo>
                  <a:pt x="912629" y="9096"/>
                </a:lnTo>
                <a:lnTo>
                  <a:pt x="951398" y="35001"/>
                </a:lnTo>
                <a:lnTo>
                  <a:pt x="977303" y="73770"/>
                </a:lnTo>
                <a:lnTo>
                  <a:pt x="986399" y="119502"/>
                </a:lnTo>
                <a:lnTo>
                  <a:pt x="986399" y="597497"/>
                </a:lnTo>
                <a:lnTo>
                  <a:pt x="977008" y="644013"/>
                </a:lnTo>
                <a:lnTo>
                  <a:pt x="951398" y="681998"/>
                </a:lnTo>
                <a:lnTo>
                  <a:pt x="913413" y="707608"/>
                </a:lnTo>
                <a:lnTo>
                  <a:pt x="866897" y="716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/>
              <a:t>T5</a:t>
            </a: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926" y="1420032"/>
            <a:ext cx="5676900" cy="516089"/>
            <a:chOff x="59194" y="1065022"/>
            <a:chExt cx="4257675" cy="387066"/>
          </a:xfrm>
        </p:grpSpPr>
        <p:sp>
          <p:nvSpPr>
            <p:cNvPr id="3" name="object 3"/>
            <p:cNvSpPr/>
            <p:nvPr/>
          </p:nvSpPr>
          <p:spPr>
            <a:xfrm>
              <a:off x="59194" y="1081883"/>
              <a:ext cx="4257675" cy="370205"/>
            </a:xfrm>
            <a:custGeom>
              <a:avLst/>
              <a:gdLst/>
              <a:ahLst/>
              <a:cxnLst/>
              <a:rect l="l" t="t" r="r" b="b"/>
              <a:pathLst>
                <a:path w="4257675" h="370205">
                  <a:moveTo>
                    <a:pt x="4195598" y="370199"/>
                  </a:move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4195598" y="0"/>
                  </a:lnTo>
                  <a:lnTo>
                    <a:pt x="4239228" y="18071"/>
                  </a:lnTo>
                  <a:lnTo>
                    <a:pt x="4257300" y="61701"/>
                  </a:lnTo>
                  <a:lnTo>
                    <a:pt x="4257300" y="308498"/>
                  </a:lnTo>
                  <a:lnTo>
                    <a:pt x="4252451" y="332515"/>
                  </a:lnTo>
                  <a:lnTo>
                    <a:pt x="4239228" y="352128"/>
                  </a:lnTo>
                  <a:lnTo>
                    <a:pt x="4219615" y="365351"/>
                  </a:lnTo>
                  <a:lnTo>
                    <a:pt x="4195598" y="370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n-US" dirty="0"/>
                <a:t>"translate English to German: That is good."</a:t>
              </a:r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59194" y="1065022"/>
              <a:ext cx="4257675" cy="370205"/>
            </a:xfrm>
            <a:custGeom>
              <a:avLst/>
              <a:gdLst/>
              <a:ahLst/>
              <a:cxnLst/>
              <a:rect l="l" t="t" r="r" b="b"/>
              <a:pathLst>
                <a:path w="4257675" h="370205">
                  <a:moveTo>
                    <a:pt x="0" y="61701"/>
                  </a:move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4195598" y="0"/>
                  </a:lnTo>
                  <a:lnTo>
                    <a:pt x="4239228" y="18071"/>
                  </a:lnTo>
                  <a:lnTo>
                    <a:pt x="4257300" y="61701"/>
                  </a:lnTo>
                  <a:lnTo>
                    <a:pt x="4257300" y="308498"/>
                  </a:lnTo>
                  <a:lnTo>
                    <a:pt x="4252451" y="332515"/>
                  </a:lnTo>
                  <a:lnTo>
                    <a:pt x="4239228" y="352128"/>
                  </a:lnTo>
                  <a:lnTo>
                    <a:pt x="4219615" y="365351"/>
                  </a:lnTo>
                  <a:lnTo>
                    <a:pt x="4195598" y="370199"/>
                  </a:ln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244592" y="2106896"/>
            <a:ext cx="3340947" cy="745067"/>
            <a:chOff x="933444" y="1580172"/>
            <a:chExt cx="2505710" cy="558800"/>
          </a:xfrm>
        </p:grpSpPr>
        <p:sp>
          <p:nvSpPr>
            <p:cNvPr id="6" name="object 6"/>
            <p:cNvSpPr/>
            <p:nvPr/>
          </p:nvSpPr>
          <p:spPr>
            <a:xfrm>
              <a:off x="942969" y="1589697"/>
              <a:ext cx="2486660" cy="539750"/>
            </a:xfrm>
            <a:custGeom>
              <a:avLst/>
              <a:gdLst/>
              <a:ahLst/>
              <a:cxnLst/>
              <a:rect l="l" t="t" r="r" b="b"/>
              <a:pathLst>
                <a:path w="2486660" h="539750">
                  <a:moveTo>
                    <a:pt x="2396498" y="539400"/>
                  </a:moveTo>
                  <a:lnTo>
                    <a:pt x="89901" y="539400"/>
                  </a:lnTo>
                  <a:lnTo>
                    <a:pt x="54908" y="532335"/>
                  </a:lnTo>
                  <a:lnTo>
                    <a:pt x="26331" y="513068"/>
                  </a:lnTo>
                  <a:lnTo>
                    <a:pt x="7064" y="484492"/>
                  </a:lnTo>
                  <a:lnTo>
                    <a:pt x="0" y="449498"/>
                  </a:lnTo>
                  <a:lnTo>
                    <a:pt x="0" y="89901"/>
                  </a:lnTo>
                  <a:lnTo>
                    <a:pt x="7064" y="54908"/>
                  </a:lnTo>
                  <a:lnTo>
                    <a:pt x="26331" y="26331"/>
                  </a:lnTo>
                  <a:lnTo>
                    <a:pt x="54908" y="7064"/>
                  </a:lnTo>
                  <a:lnTo>
                    <a:pt x="89901" y="0"/>
                  </a:lnTo>
                  <a:lnTo>
                    <a:pt x="2396498" y="0"/>
                  </a:lnTo>
                  <a:lnTo>
                    <a:pt x="2446375" y="15104"/>
                  </a:lnTo>
                  <a:lnTo>
                    <a:pt x="2479556" y="55497"/>
                  </a:lnTo>
                  <a:lnTo>
                    <a:pt x="2486400" y="89901"/>
                  </a:lnTo>
                  <a:lnTo>
                    <a:pt x="2486400" y="449498"/>
                  </a:lnTo>
                  <a:lnTo>
                    <a:pt x="2479335" y="484492"/>
                  </a:lnTo>
                  <a:lnTo>
                    <a:pt x="2460068" y="513068"/>
                  </a:lnTo>
                  <a:lnTo>
                    <a:pt x="2431492" y="532335"/>
                  </a:lnTo>
                  <a:lnTo>
                    <a:pt x="2396498" y="53940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2969" y="1589697"/>
              <a:ext cx="2486660" cy="539750"/>
            </a:xfrm>
            <a:custGeom>
              <a:avLst/>
              <a:gdLst/>
              <a:ahLst/>
              <a:cxnLst/>
              <a:rect l="l" t="t" r="r" b="b"/>
              <a:pathLst>
                <a:path w="2486660" h="539750">
                  <a:moveTo>
                    <a:pt x="0" y="89901"/>
                  </a:moveTo>
                  <a:lnTo>
                    <a:pt x="7064" y="54908"/>
                  </a:lnTo>
                  <a:lnTo>
                    <a:pt x="26331" y="26331"/>
                  </a:lnTo>
                  <a:lnTo>
                    <a:pt x="54908" y="7064"/>
                  </a:lnTo>
                  <a:lnTo>
                    <a:pt x="89901" y="0"/>
                  </a:lnTo>
                  <a:lnTo>
                    <a:pt x="2396498" y="0"/>
                  </a:lnTo>
                  <a:lnTo>
                    <a:pt x="2446375" y="15104"/>
                  </a:lnTo>
                  <a:lnTo>
                    <a:pt x="2479556" y="55497"/>
                  </a:lnTo>
                  <a:lnTo>
                    <a:pt x="2486400" y="89901"/>
                  </a:lnTo>
                  <a:lnTo>
                    <a:pt x="2486400" y="449498"/>
                  </a:lnTo>
                  <a:lnTo>
                    <a:pt x="2479335" y="484492"/>
                  </a:lnTo>
                  <a:lnTo>
                    <a:pt x="2460068" y="513068"/>
                  </a:lnTo>
                  <a:lnTo>
                    <a:pt x="2431492" y="532335"/>
                  </a:lnTo>
                  <a:lnTo>
                    <a:pt x="2396498" y="539400"/>
                  </a:lnTo>
                  <a:lnTo>
                    <a:pt x="89901" y="539400"/>
                  </a:lnTo>
                  <a:lnTo>
                    <a:pt x="54908" y="532335"/>
                  </a:lnTo>
                  <a:lnTo>
                    <a:pt x="26331" y="513068"/>
                  </a:lnTo>
                  <a:lnTo>
                    <a:pt x="7064" y="484492"/>
                  </a:lnTo>
                  <a:lnTo>
                    <a:pt x="0" y="449498"/>
                  </a:lnTo>
                  <a:lnTo>
                    <a:pt x="0" y="899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46209" y="3036930"/>
            <a:ext cx="4343400" cy="982133"/>
            <a:chOff x="559657" y="2277697"/>
            <a:chExt cx="3257550" cy="736600"/>
          </a:xfrm>
        </p:grpSpPr>
        <p:sp>
          <p:nvSpPr>
            <p:cNvPr id="9" name="object 9"/>
            <p:cNvSpPr/>
            <p:nvPr/>
          </p:nvSpPr>
          <p:spPr>
            <a:xfrm>
              <a:off x="569182" y="2287222"/>
              <a:ext cx="3238500" cy="717550"/>
            </a:xfrm>
            <a:custGeom>
              <a:avLst/>
              <a:gdLst/>
              <a:ahLst/>
              <a:cxnLst/>
              <a:rect l="l" t="t" r="r" b="b"/>
              <a:pathLst>
                <a:path w="3238500" h="717550">
                  <a:moveTo>
                    <a:pt x="3118697" y="716999"/>
                  </a:moveTo>
                  <a:lnTo>
                    <a:pt x="119502" y="716999"/>
                  </a:lnTo>
                  <a:lnTo>
                    <a:pt x="72986" y="707608"/>
                  </a:lnTo>
                  <a:lnTo>
                    <a:pt x="35001" y="681998"/>
                  </a:lnTo>
                  <a:lnTo>
                    <a:pt x="9391" y="644013"/>
                  </a:lnTo>
                  <a:lnTo>
                    <a:pt x="0" y="597497"/>
                  </a:lnTo>
                  <a:lnTo>
                    <a:pt x="0" y="119502"/>
                  </a:lnTo>
                  <a:lnTo>
                    <a:pt x="9391" y="72986"/>
                  </a:lnTo>
                  <a:lnTo>
                    <a:pt x="35001" y="35001"/>
                  </a:lnTo>
                  <a:lnTo>
                    <a:pt x="72986" y="9391"/>
                  </a:lnTo>
                  <a:lnTo>
                    <a:pt x="119502" y="0"/>
                  </a:lnTo>
                  <a:lnTo>
                    <a:pt x="3118697" y="0"/>
                  </a:lnTo>
                  <a:lnTo>
                    <a:pt x="3164429" y="9096"/>
                  </a:lnTo>
                  <a:lnTo>
                    <a:pt x="3203198" y="35001"/>
                  </a:lnTo>
                  <a:lnTo>
                    <a:pt x="3229103" y="73770"/>
                  </a:lnTo>
                  <a:lnTo>
                    <a:pt x="3238200" y="119502"/>
                  </a:lnTo>
                  <a:lnTo>
                    <a:pt x="3238200" y="597497"/>
                  </a:lnTo>
                  <a:lnTo>
                    <a:pt x="3228809" y="644013"/>
                  </a:lnTo>
                  <a:lnTo>
                    <a:pt x="3203198" y="681998"/>
                  </a:lnTo>
                  <a:lnTo>
                    <a:pt x="3165213" y="707608"/>
                  </a:lnTo>
                  <a:lnTo>
                    <a:pt x="3118697" y="7169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182" y="2287222"/>
              <a:ext cx="3238500" cy="717550"/>
            </a:xfrm>
            <a:custGeom>
              <a:avLst/>
              <a:gdLst/>
              <a:ahLst/>
              <a:cxnLst/>
              <a:rect l="l" t="t" r="r" b="b"/>
              <a:pathLst>
                <a:path w="3238500" h="717550">
                  <a:moveTo>
                    <a:pt x="0" y="119502"/>
                  </a:moveTo>
                  <a:lnTo>
                    <a:pt x="9391" y="72986"/>
                  </a:lnTo>
                  <a:lnTo>
                    <a:pt x="35001" y="35001"/>
                  </a:lnTo>
                  <a:lnTo>
                    <a:pt x="72986" y="9391"/>
                  </a:lnTo>
                  <a:lnTo>
                    <a:pt x="119502" y="0"/>
                  </a:lnTo>
                  <a:lnTo>
                    <a:pt x="3118697" y="0"/>
                  </a:lnTo>
                  <a:lnTo>
                    <a:pt x="3164429" y="9096"/>
                  </a:lnTo>
                  <a:lnTo>
                    <a:pt x="3203198" y="35001"/>
                  </a:lnTo>
                  <a:lnTo>
                    <a:pt x="3229103" y="73770"/>
                  </a:lnTo>
                  <a:lnTo>
                    <a:pt x="3238200" y="119502"/>
                  </a:lnTo>
                  <a:lnTo>
                    <a:pt x="3238200" y="597497"/>
                  </a:lnTo>
                  <a:lnTo>
                    <a:pt x="3228809" y="644013"/>
                  </a:lnTo>
                  <a:lnTo>
                    <a:pt x="3203198" y="681998"/>
                  </a:lnTo>
                  <a:lnTo>
                    <a:pt x="3165213" y="707608"/>
                  </a:lnTo>
                  <a:lnTo>
                    <a:pt x="3118697" y="716999"/>
                  </a:lnTo>
                  <a:lnTo>
                    <a:pt x="119502" y="716999"/>
                  </a:lnTo>
                  <a:lnTo>
                    <a:pt x="72986" y="707608"/>
                  </a:lnTo>
                  <a:lnTo>
                    <a:pt x="35001" y="681998"/>
                  </a:lnTo>
                  <a:lnTo>
                    <a:pt x="9391" y="644013"/>
                  </a:lnTo>
                  <a:lnTo>
                    <a:pt x="0" y="597497"/>
                  </a:lnTo>
                  <a:lnTo>
                    <a:pt x="0" y="119502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85059" y="4203730"/>
            <a:ext cx="4851400" cy="1246292"/>
            <a:chOff x="363794" y="3152797"/>
            <a:chExt cx="3638550" cy="934719"/>
          </a:xfrm>
        </p:grpSpPr>
        <p:sp>
          <p:nvSpPr>
            <p:cNvPr id="12" name="object 12"/>
            <p:cNvSpPr/>
            <p:nvPr/>
          </p:nvSpPr>
          <p:spPr>
            <a:xfrm>
              <a:off x="373319" y="3162322"/>
              <a:ext cx="3619500" cy="915669"/>
            </a:xfrm>
            <a:custGeom>
              <a:avLst/>
              <a:gdLst/>
              <a:ahLst/>
              <a:cxnLst/>
              <a:rect l="l" t="t" r="r" b="b"/>
              <a:pathLst>
                <a:path w="3619500" h="915670">
                  <a:moveTo>
                    <a:pt x="3466346" y="915299"/>
                  </a:moveTo>
                  <a:lnTo>
                    <a:pt x="152553" y="915299"/>
                  </a:lnTo>
                  <a:lnTo>
                    <a:pt x="104334" y="907522"/>
                  </a:lnTo>
                  <a:lnTo>
                    <a:pt x="62457" y="885865"/>
                  </a:lnTo>
                  <a:lnTo>
                    <a:pt x="29433" y="852842"/>
                  </a:lnTo>
                  <a:lnTo>
                    <a:pt x="7777" y="810965"/>
                  </a:lnTo>
                  <a:lnTo>
                    <a:pt x="0" y="762746"/>
                  </a:lnTo>
                  <a:lnTo>
                    <a:pt x="0" y="152552"/>
                  </a:lnTo>
                  <a:lnTo>
                    <a:pt x="7777" y="104334"/>
                  </a:lnTo>
                  <a:lnTo>
                    <a:pt x="29433" y="62457"/>
                  </a:lnTo>
                  <a:lnTo>
                    <a:pt x="62457" y="29433"/>
                  </a:lnTo>
                  <a:lnTo>
                    <a:pt x="104334" y="7777"/>
                  </a:lnTo>
                  <a:lnTo>
                    <a:pt x="152553" y="0"/>
                  </a:lnTo>
                  <a:lnTo>
                    <a:pt x="3466346" y="0"/>
                  </a:lnTo>
                  <a:lnTo>
                    <a:pt x="3524726" y="11612"/>
                  </a:lnTo>
                  <a:lnTo>
                    <a:pt x="3574218" y="44681"/>
                  </a:lnTo>
                  <a:lnTo>
                    <a:pt x="3607287" y="94173"/>
                  </a:lnTo>
                  <a:lnTo>
                    <a:pt x="3618900" y="152552"/>
                  </a:lnTo>
                  <a:lnTo>
                    <a:pt x="3618900" y="762746"/>
                  </a:lnTo>
                  <a:lnTo>
                    <a:pt x="3611122" y="810965"/>
                  </a:lnTo>
                  <a:lnTo>
                    <a:pt x="3589466" y="852842"/>
                  </a:lnTo>
                  <a:lnTo>
                    <a:pt x="3556442" y="885865"/>
                  </a:lnTo>
                  <a:lnTo>
                    <a:pt x="3514565" y="907522"/>
                  </a:lnTo>
                  <a:lnTo>
                    <a:pt x="3466346" y="9152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3319" y="3162322"/>
              <a:ext cx="3619500" cy="915669"/>
            </a:xfrm>
            <a:custGeom>
              <a:avLst/>
              <a:gdLst/>
              <a:ahLst/>
              <a:cxnLst/>
              <a:rect l="l" t="t" r="r" b="b"/>
              <a:pathLst>
                <a:path w="3619500" h="915670">
                  <a:moveTo>
                    <a:pt x="0" y="152552"/>
                  </a:moveTo>
                  <a:lnTo>
                    <a:pt x="7777" y="104334"/>
                  </a:lnTo>
                  <a:lnTo>
                    <a:pt x="29433" y="62457"/>
                  </a:lnTo>
                  <a:lnTo>
                    <a:pt x="62457" y="29433"/>
                  </a:lnTo>
                  <a:lnTo>
                    <a:pt x="104334" y="7777"/>
                  </a:lnTo>
                  <a:lnTo>
                    <a:pt x="152553" y="0"/>
                  </a:lnTo>
                  <a:lnTo>
                    <a:pt x="3466346" y="0"/>
                  </a:lnTo>
                  <a:lnTo>
                    <a:pt x="3524726" y="11612"/>
                  </a:lnTo>
                  <a:lnTo>
                    <a:pt x="3574218" y="44681"/>
                  </a:lnTo>
                  <a:lnTo>
                    <a:pt x="3607287" y="94173"/>
                  </a:lnTo>
                  <a:lnTo>
                    <a:pt x="3618900" y="152552"/>
                  </a:lnTo>
                  <a:lnTo>
                    <a:pt x="3618900" y="762746"/>
                  </a:lnTo>
                  <a:lnTo>
                    <a:pt x="3611122" y="810965"/>
                  </a:lnTo>
                  <a:lnTo>
                    <a:pt x="3589466" y="852842"/>
                  </a:lnTo>
                  <a:lnTo>
                    <a:pt x="3556442" y="885865"/>
                  </a:lnTo>
                  <a:lnTo>
                    <a:pt x="3514565" y="907522"/>
                  </a:lnTo>
                  <a:lnTo>
                    <a:pt x="3466346" y="915299"/>
                  </a:lnTo>
                  <a:lnTo>
                    <a:pt x="152553" y="915299"/>
                  </a:lnTo>
                  <a:lnTo>
                    <a:pt x="104334" y="907522"/>
                  </a:lnTo>
                  <a:lnTo>
                    <a:pt x="62457" y="885865"/>
                  </a:lnTo>
                  <a:lnTo>
                    <a:pt x="29433" y="852842"/>
                  </a:lnTo>
                  <a:lnTo>
                    <a:pt x="7777" y="810965"/>
                  </a:lnTo>
                  <a:lnTo>
                    <a:pt x="0" y="762746"/>
                  </a:lnTo>
                  <a:lnTo>
                    <a:pt x="0" y="152552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66700" y="189293"/>
            <a:ext cx="11658600" cy="63265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35548" y="2215268"/>
            <a:ext cx="2959947" cy="516167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6933" marR="6773" indent="304792">
              <a:lnSpc>
                <a:spcPts val="1893"/>
              </a:lnSpc>
              <a:spcBef>
                <a:spcPts val="220"/>
              </a:spcBef>
            </a:pPr>
            <a:r>
              <a:rPr sz="1600" dirty="0">
                <a:latin typeface="Courier New"/>
                <a:cs typeface="Courier New"/>
              </a:rPr>
              <a:t>"cola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sentence:</a:t>
            </a:r>
            <a:r>
              <a:rPr sz="1600" spc="-113" dirty="0">
                <a:latin typeface="Courier New"/>
                <a:cs typeface="Courier New"/>
              </a:rPr>
              <a:t> </a:t>
            </a:r>
            <a:r>
              <a:rPr sz="1600" spc="-33" dirty="0">
                <a:latin typeface="Courier New"/>
                <a:cs typeface="Courier New"/>
              </a:rPr>
              <a:t>The </a:t>
            </a:r>
            <a:r>
              <a:rPr sz="1600" dirty="0">
                <a:latin typeface="Courier New"/>
                <a:cs typeface="Courier New"/>
              </a:rPr>
              <a:t>course</a:t>
            </a:r>
            <a:r>
              <a:rPr sz="1600" spc="-8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jumping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well."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606" y="4326136"/>
            <a:ext cx="4544905" cy="1001770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086" marR="6773" algn="ctr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Courier New"/>
                <a:cs typeface="Courier New"/>
              </a:rPr>
              <a:t>"summarize:</a:t>
            </a:r>
            <a:r>
              <a:rPr sz="1600" spc="-13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state</a:t>
            </a:r>
            <a:r>
              <a:rPr sz="1600" spc="-133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authorities </a:t>
            </a:r>
            <a:r>
              <a:rPr sz="1600" dirty="0">
                <a:latin typeface="Courier New"/>
                <a:cs typeface="Courier New"/>
              </a:rPr>
              <a:t>dispatched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emergency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crews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tuesday</a:t>
            </a:r>
            <a:r>
              <a:rPr sz="1600" spc="-127" dirty="0">
                <a:latin typeface="Courier New"/>
                <a:cs typeface="Courier New"/>
              </a:rPr>
              <a:t> </a:t>
            </a:r>
            <a:r>
              <a:rPr sz="1600" spc="-33" dirty="0">
                <a:latin typeface="Courier New"/>
                <a:cs typeface="Courier New"/>
              </a:rPr>
              <a:t>to </a:t>
            </a:r>
            <a:r>
              <a:rPr sz="1600" dirty="0">
                <a:latin typeface="Courier New"/>
                <a:cs typeface="Courier New"/>
              </a:rPr>
              <a:t>survey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damage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after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onslaught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severe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weather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mississippi…"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0868" y="3141319"/>
            <a:ext cx="4057227" cy="758114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 algn="ctr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Courier New"/>
                <a:cs typeface="Courier New"/>
              </a:rPr>
              <a:t>"stsb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sentence1:</a:t>
            </a:r>
            <a:r>
              <a:rPr sz="1600" spc="-9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9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rhino</a:t>
            </a:r>
            <a:r>
              <a:rPr sz="1600" spc="-93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grazed </a:t>
            </a:r>
            <a:r>
              <a:rPr sz="1600" dirty="0">
                <a:latin typeface="Courier New"/>
                <a:cs typeface="Courier New"/>
              </a:rPr>
              <a:t>on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grass.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sentence2: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rhino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5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grazing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5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field."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60061" y="1658596"/>
            <a:ext cx="7558193" cy="3241040"/>
            <a:chOff x="3420045" y="1243947"/>
            <a:chExt cx="5668645" cy="2430780"/>
          </a:xfrm>
        </p:grpSpPr>
        <p:sp>
          <p:nvSpPr>
            <p:cNvPr id="23" name="object 23"/>
            <p:cNvSpPr/>
            <p:nvPr/>
          </p:nvSpPr>
          <p:spPr>
            <a:xfrm>
              <a:off x="3429570" y="1253472"/>
              <a:ext cx="1288415" cy="1393190"/>
            </a:xfrm>
            <a:custGeom>
              <a:avLst/>
              <a:gdLst/>
              <a:ahLst/>
              <a:cxnLst/>
              <a:rect l="l" t="t" r="r" b="b"/>
              <a:pathLst>
                <a:path w="1288414" h="1393189">
                  <a:moveTo>
                    <a:pt x="886799" y="0"/>
                  </a:moveTo>
                  <a:lnTo>
                    <a:pt x="926884" y="17772"/>
                  </a:lnTo>
                  <a:lnTo>
                    <a:pt x="961703" y="67535"/>
                  </a:lnTo>
                  <a:lnTo>
                    <a:pt x="977412" y="102747"/>
                  </a:lnTo>
                  <a:lnTo>
                    <a:pt x="992133" y="143958"/>
                  </a:lnTo>
                  <a:lnTo>
                    <a:pt x="1005976" y="190500"/>
                  </a:lnTo>
                  <a:lnTo>
                    <a:pt x="1019051" y="241707"/>
                  </a:lnTo>
                  <a:lnTo>
                    <a:pt x="1031468" y="296913"/>
                  </a:lnTo>
                  <a:lnTo>
                    <a:pt x="1043336" y="355451"/>
                  </a:lnTo>
                  <a:lnTo>
                    <a:pt x="1054765" y="416656"/>
                  </a:lnTo>
                  <a:lnTo>
                    <a:pt x="1065865" y="479860"/>
                  </a:lnTo>
                  <a:lnTo>
                    <a:pt x="1076745" y="544396"/>
                  </a:lnTo>
                  <a:lnTo>
                    <a:pt x="1087515" y="609600"/>
                  </a:lnTo>
                  <a:lnTo>
                    <a:pt x="1098285" y="674803"/>
                  </a:lnTo>
                  <a:lnTo>
                    <a:pt x="1109165" y="739340"/>
                  </a:lnTo>
                  <a:lnTo>
                    <a:pt x="1120264" y="802543"/>
                  </a:lnTo>
                  <a:lnTo>
                    <a:pt x="1131691" y="863748"/>
                  </a:lnTo>
                  <a:lnTo>
                    <a:pt x="1143557" y="922286"/>
                  </a:lnTo>
                  <a:lnTo>
                    <a:pt x="1155972" y="977492"/>
                  </a:lnTo>
                  <a:lnTo>
                    <a:pt x="1169045" y="1028700"/>
                  </a:lnTo>
                  <a:lnTo>
                    <a:pt x="1182885" y="1075242"/>
                  </a:lnTo>
                  <a:lnTo>
                    <a:pt x="1197604" y="1116452"/>
                  </a:lnTo>
                  <a:lnTo>
                    <a:pt x="1213309" y="1151664"/>
                  </a:lnTo>
                  <a:lnTo>
                    <a:pt x="1248121" y="1201427"/>
                  </a:lnTo>
                  <a:lnTo>
                    <a:pt x="1267447" y="1214645"/>
                  </a:lnTo>
                  <a:lnTo>
                    <a:pt x="1288199" y="1219200"/>
                  </a:lnTo>
                </a:path>
                <a:path w="1288414" h="1393189">
                  <a:moveTo>
                    <a:pt x="0" y="607750"/>
                  </a:moveTo>
                  <a:lnTo>
                    <a:pt x="62311" y="609742"/>
                  </a:lnTo>
                  <a:lnTo>
                    <a:pt x="120616" y="615539"/>
                  </a:lnTo>
                  <a:lnTo>
                    <a:pt x="175198" y="624869"/>
                  </a:lnTo>
                  <a:lnTo>
                    <a:pt x="226346" y="637459"/>
                  </a:lnTo>
                  <a:lnTo>
                    <a:pt x="274344" y="653039"/>
                  </a:lnTo>
                  <a:lnTo>
                    <a:pt x="319480" y="671335"/>
                  </a:lnTo>
                  <a:lnTo>
                    <a:pt x="362040" y="692078"/>
                  </a:lnTo>
                  <a:lnTo>
                    <a:pt x="402309" y="714994"/>
                  </a:lnTo>
                  <a:lnTo>
                    <a:pt x="440574" y="739812"/>
                  </a:lnTo>
                  <a:lnTo>
                    <a:pt x="477121" y="766261"/>
                  </a:lnTo>
                  <a:lnTo>
                    <a:pt x="512237" y="794068"/>
                  </a:lnTo>
                  <a:lnTo>
                    <a:pt x="546208" y="822962"/>
                  </a:lnTo>
                  <a:lnTo>
                    <a:pt x="579320" y="852672"/>
                  </a:lnTo>
                  <a:lnTo>
                    <a:pt x="611859" y="882925"/>
                  </a:lnTo>
                  <a:lnTo>
                    <a:pt x="644112" y="913450"/>
                  </a:lnTo>
                  <a:lnTo>
                    <a:pt x="676365" y="943974"/>
                  </a:lnTo>
                  <a:lnTo>
                    <a:pt x="708904" y="974227"/>
                  </a:lnTo>
                  <a:lnTo>
                    <a:pt x="742015" y="1003937"/>
                  </a:lnTo>
                  <a:lnTo>
                    <a:pt x="775984" y="1032831"/>
                  </a:lnTo>
                  <a:lnTo>
                    <a:pt x="811099" y="1060639"/>
                  </a:lnTo>
                  <a:lnTo>
                    <a:pt x="847645" y="1087087"/>
                  </a:lnTo>
                  <a:lnTo>
                    <a:pt x="885909" y="1111906"/>
                  </a:lnTo>
                  <a:lnTo>
                    <a:pt x="926176" y="1134822"/>
                  </a:lnTo>
                  <a:lnTo>
                    <a:pt x="968733" y="1155564"/>
                  </a:lnTo>
                  <a:lnTo>
                    <a:pt x="1013867" y="1173861"/>
                  </a:lnTo>
                  <a:lnTo>
                    <a:pt x="1061863" y="1189440"/>
                  </a:lnTo>
                  <a:lnTo>
                    <a:pt x="1113008" y="1202030"/>
                  </a:lnTo>
                  <a:lnTo>
                    <a:pt x="1167588" y="1211360"/>
                  </a:lnTo>
                  <a:lnTo>
                    <a:pt x="1225890" y="1217157"/>
                  </a:lnTo>
                  <a:lnTo>
                    <a:pt x="1288199" y="1219150"/>
                  </a:lnTo>
                </a:path>
                <a:path w="1288414" h="1393189">
                  <a:moveTo>
                    <a:pt x="377887" y="1392775"/>
                  </a:moveTo>
                  <a:lnTo>
                    <a:pt x="449691" y="1391226"/>
                  </a:lnTo>
                  <a:lnTo>
                    <a:pt x="514004" y="1386818"/>
                  </a:lnTo>
                  <a:lnTo>
                    <a:pt x="571761" y="1379908"/>
                  </a:lnTo>
                  <a:lnTo>
                    <a:pt x="623898" y="1370854"/>
                  </a:lnTo>
                  <a:lnTo>
                    <a:pt x="671353" y="1360012"/>
                  </a:lnTo>
                  <a:lnTo>
                    <a:pt x="715060" y="1347741"/>
                  </a:lnTo>
                  <a:lnTo>
                    <a:pt x="755956" y="1334398"/>
                  </a:lnTo>
                  <a:lnTo>
                    <a:pt x="794977" y="1320340"/>
                  </a:lnTo>
                  <a:lnTo>
                    <a:pt x="833059" y="1305925"/>
                  </a:lnTo>
                  <a:lnTo>
                    <a:pt x="871139" y="1291509"/>
                  </a:lnTo>
                  <a:lnTo>
                    <a:pt x="910153" y="1277451"/>
                  </a:lnTo>
                  <a:lnTo>
                    <a:pt x="951038" y="1264108"/>
                  </a:lnTo>
                  <a:lnTo>
                    <a:pt x="994730" y="1251837"/>
                  </a:lnTo>
                  <a:lnTo>
                    <a:pt x="1042166" y="1240996"/>
                  </a:lnTo>
                  <a:lnTo>
                    <a:pt x="1094283" y="1231941"/>
                  </a:lnTo>
                  <a:lnTo>
                    <a:pt x="1152018" y="1225031"/>
                  </a:lnTo>
                  <a:lnTo>
                    <a:pt x="1216307" y="1220623"/>
                  </a:lnTo>
                  <a:lnTo>
                    <a:pt x="1288087" y="121907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09236" y="1617700"/>
              <a:ext cx="1475105" cy="370205"/>
            </a:xfrm>
            <a:custGeom>
              <a:avLst/>
              <a:gdLst/>
              <a:ahLst/>
              <a:cxnLst/>
              <a:rect l="l" t="t" r="r" b="b"/>
              <a:pathLst>
                <a:path w="1475104" h="370205">
                  <a:moveTo>
                    <a:pt x="1412799" y="370199"/>
                  </a:moveTo>
                  <a:lnTo>
                    <a:pt x="61701" y="370199"/>
                  </a:lnTo>
                  <a:lnTo>
                    <a:pt x="37684" y="365351"/>
                  </a:lnTo>
                  <a:lnTo>
                    <a:pt x="18072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lnTo>
                    <a:pt x="4848" y="37684"/>
                  </a:lnTo>
                  <a:lnTo>
                    <a:pt x="18072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1412799" y="0"/>
                  </a:lnTo>
                  <a:lnTo>
                    <a:pt x="1456428" y="18071"/>
                  </a:lnTo>
                  <a:lnTo>
                    <a:pt x="1474499" y="61701"/>
                  </a:lnTo>
                  <a:lnTo>
                    <a:pt x="1474499" y="308498"/>
                  </a:lnTo>
                  <a:lnTo>
                    <a:pt x="1469651" y="332515"/>
                  </a:lnTo>
                  <a:lnTo>
                    <a:pt x="1456428" y="352128"/>
                  </a:lnTo>
                  <a:lnTo>
                    <a:pt x="1436816" y="365351"/>
                  </a:lnTo>
                  <a:lnTo>
                    <a:pt x="1412799" y="370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09236" y="1617700"/>
              <a:ext cx="1475105" cy="370205"/>
            </a:xfrm>
            <a:custGeom>
              <a:avLst/>
              <a:gdLst/>
              <a:ahLst/>
              <a:cxnLst/>
              <a:rect l="l" t="t" r="r" b="b"/>
              <a:pathLst>
                <a:path w="1475104" h="370205">
                  <a:moveTo>
                    <a:pt x="0" y="61701"/>
                  </a:moveTo>
                  <a:lnTo>
                    <a:pt x="4848" y="37684"/>
                  </a:lnTo>
                  <a:lnTo>
                    <a:pt x="18072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1412799" y="0"/>
                  </a:lnTo>
                  <a:lnTo>
                    <a:pt x="1456428" y="18071"/>
                  </a:lnTo>
                  <a:lnTo>
                    <a:pt x="1474499" y="61701"/>
                  </a:lnTo>
                  <a:lnTo>
                    <a:pt x="1474499" y="308498"/>
                  </a:lnTo>
                  <a:lnTo>
                    <a:pt x="1469651" y="332515"/>
                  </a:lnTo>
                  <a:lnTo>
                    <a:pt x="1456428" y="352128"/>
                  </a:lnTo>
                  <a:lnTo>
                    <a:pt x="1436816" y="365351"/>
                  </a:lnTo>
                  <a:lnTo>
                    <a:pt x="1412799" y="370199"/>
                  </a:lnTo>
                  <a:lnTo>
                    <a:pt x="61701" y="370199"/>
                  </a:lnTo>
                  <a:lnTo>
                    <a:pt x="37684" y="365351"/>
                  </a:lnTo>
                  <a:lnTo>
                    <a:pt x="18072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04425" y="2122850"/>
              <a:ext cx="1684020" cy="370205"/>
            </a:xfrm>
            <a:custGeom>
              <a:avLst/>
              <a:gdLst/>
              <a:ahLst/>
              <a:cxnLst/>
              <a:rect l="l" t="t" r="r" b="b"/>
              <a:pathLst>
                <a:path w="1684020" h="370205">
                  <a:moveTo>
                    <a:pt x="1621898" y="370199"/>
                  </a:move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1621898" y="0"/>
                  </a:lnTo>
                  <a:lnTo>
                    <a:pt x="1665527" y="18071"/>
                  </a:lnTo>
                  <a:lnTo>
                    <a:pt x="1683599" y="61701"/>
                  </a:lnTo>
                  <a:lnTo>
                    <a:pt x="1683599" y="308498"/>
                  </a:lnTo>
                  <a:lnTo>
                    <a:pt x="1678751" y="332515"/>
                  </a:lnTo>
                  <a:lnTo>
                    <a:pt x="1665528" y="352128"/>
                  </a:lnTo>
                  <a:lnTo>
                    <a:pt x="1645915" y="365351"/>
                  </a:lnTo>
                  <a:lnTo>
                    <a:pt x="1621898" y="370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4425" y="2122850"/>
              <a:ext cx="1684020" cy="370205"/>
            </a:xfrm>
            <a:custGeom>
              <a:avLst/>
              <a:gdLst/>
              <a:ahLst/>
              <a:cxnLst/>
              <a:rect l="l" t="t" r="r" b="b"/>
              <a:pathLst>
                <a:path w="1684020" h="370205">
                  <a:moveTo>
                    <a:pt x="0" y="61701"/>
                  </a:moveTo>
                  <a:lnTo>
                    <a:pt x="4848" y="37684"/>
                  </a:lnTo>
                  <a:lnTo>
                    <a:pt x="18071" y="18071"/>
                  </a:lnTo>
                  <a:lnTo>
                    <a:pt x="37684" y="4848"/>
                  </a:lnTo>
                  <a:lnTo>
                    <a:pt x="61701" y="0"/>
                  </a:lnTo>
                  <a:lnTo>
                    <a:pt x="1621898" y="0"/>
                  </a:lnTo>
                  <a:lnTo>
                    <a:pt x="1665527" y="18071"/>
                  </a:lnTo>
                  <a:lnTo>
                    <a:pt x="1683599" y="61701"/>
                  </a:lnTo>
                  <a:lnTo>
                    <a:pt x="1683599" y="308498"/>
                  </a:lnTo>
                  <a:lnTo>
                    <a:pt x="1678751" y="332515"/>
                  </a:lnTo>
                  <a:lnTo>
                    <a:pt x="1665528" y="352128"/>
                  </a:lnTo>
                  <a:lnTo>
                    <a:pt x="1645915" y="365351"/>
                  </a:lnTo>
                  <a:lnTo>
                    <a:pt x="1621898" y="370199"/>
                  </a:lnTo>
                  <a:lnTo>
                    <a:pt x="61701" y="370199"/>
                  </a:lnTo>
                  <a:lnTo>
                    <a:pt x="37684" y="365351"/>
                  </a:lnTo>
                  <a:lnTo>
                    <a:pt x="18071" y="352128"/>
                  </a:lnTo>
                  <a:lnTo>
                    <a:pt x="4848" y="332515"/>
                  </a:lnTo>
                  <a:lnTo>
                    <a:pt x="0" y="308498"/>
                  </a:lnTo>
                  <a:lnTo>
                    <a:pt x="0" y="617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07525" y="2628000"/>
              <a:ext cx="677545" cy="363855"/>
            </a:xfrm>
            <a:custGeom>
              <a:avLst/>
              <a:gdLst/>
              <a:ahLst/>
              <a:cxnLst/>
              <a:rect l="l" t="t" r="r" b="b"/>
              <a:pathLst>
                <a:path w="677545" h="363855">
                  <a:moveTo>
                    <a:pt x="616848" y="363299"/>
                  </a:moveTo>
                  <a:lnTo>
                    <a:pt x="60551" y="363299"/>
                  </a:lnTo>
                  <a:lnTo>
                    <a:pt x="36981" y="358541"/>
                  </a:lnTo>
                  <a:lnTo>
                    <a:pt x="17734" y="345564"/>
                  </a:lnTo>
                  <a:lnTo>
                    <a:pt x="4758" y="326318"/>
                  </a:lnTo>
                  <a:lnTo>
                    <a:pt x="0" y="302748"/>
                  </a:lnTo>
                  <a:lnTo>
                    <a:pt x="0" y="60551"/>
                  </a:lnTo>
                  <a:lnTo>
                    <a:pt x="4758" y="36981"/>
                  </a:lnTo>
                  <a:lnTo>
                    <a:pt x="17734" y="17735"/>
                  </a:lnTo>
                  <a:lnTo>
                    <a:pt x="36981" y="4758"/>
                  </a:lnTo>
                  <a:lnTo>
                    <a:pt x="60551" y="0"/>
                  </a:lnTo>
                  <a:lnTo>
                    <a:pt x="616848" y="0"/>
                  </a:lnTo>
                  <a:lnTo>
                    <a:pt x="659664" y="17734"/>
                  </a:lnTo>
                  <a:lnTo>
                    <a:pt x="677399" y="60551"/>
                  </a:lnTo>
                  <a:lnTo>
                    <a:pt x="677399" y="302748"/>
                  </a:lnTo>
                  <a:lnTo>
                    <a:pt x="672641" y="326318"/>
                  </a:lnTo>
                  <a:lnTo>
                    <a:pt x="659664" y="345564"/>
                  </a:lnTo>
                  <a:lnTo>
                    <a:pt x="640418" y="358541"/>
                  </a:lnTo>
                  <a:lnTo>
                    <a:pt x="616848" y="3632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07525" y="2628000"/>
              <a:ext cx="677545" cy="363855"/>
            </a:xfrm>
            <a:custGeom>
              <a:avLst/>
              <a:gdLst/>
              <a:ahLst/>
              <a:cxnLst/>
              <a:rect l="l" t="t" r="r" b="b"/>
              <a:pathLst>
                <a:path w="677545" h="363855">
                  <a:moveTo>
                    <a:pt x="0" y="60551"/>
                  </a:moveTo>
                  <a:lnTo>
                    <a:pt x="4758" y="36981"/>
                  </a:lnTo>
                  <a:lnTo>
                    <a:pt x="17734" y="17735"/>
                  </a:lnTo>
                  <a:lnTo>
                    <a:pt x="36981" y="4758"/>
                  </a:lnTo>
                  <a:lnTo>
                    <a:pt x="60551" y="0"/>
                  </a:lnTo>
                  <a:lnTo>
                    <a:pt x="616848" y="0"/>
                  </a:lnTo>
                  <a:lnTo>
                    <a:pt x="659664" y="17734"/>
                  </a:lnTo>
                  <a:lnTo>
                    <a:pt x="677399" y="60551"/>
                  </a:lnTo>
                  <a:lnTo>
                    <a:pt x="677399" y="302748"/>
                  </a:lnTo>
                  <a:lnTo>
                    <a:pt x="672641" y="326318"/>
                  </a:lnTo>
                  <a:lnTo>
                    <a:pt x="659664" y="345564"/>
                  </a:lnTo>
                  <a:lnTo>
                    <a:pt x="640418" y="358541"/>
                  </a:lnTo>
                  <a:lnTo>
                    <a:pt x="616848" y="363299"/>
                  </a:lnTo>
                  <a:lnTo>
                    <a:pt x="60551" y="363299"/>
                  </a:lnTo>
                  <a:lnTo>
                    <a:pt x="36981" y="358541"/>
                  </a:lnTo>
                  <a:lnTo>
                    <a:pt x="17734" y="345564"/>
                  </a:lnTo>
                  <a:lnTo>
                    <a:pt x="4758" y="326318"/>
                  </a:lnTo>
                  <a:lnTo>
                    <a:pt x="0" y="302748"/>
                  </a:lnTo>
                  <a:lnTo>
                    <a:pt x="0" y="6055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07637" y="3126250"/>
              <a:ext cx="3071495" cy="539115"/>
            </a:xfrm>
            <a:custGeom>
              <a:avLst/>
              <a:gdLst/>
              <a:ahLst/>
              <a:cxnLst/>
              <a:rect l="l" t="t" r="r" b="b"/>
              <a:pathLst>
                <a:path w="3071495" h="539114">
                  <a:moveTo>
                    <a:pt x="2981598" y="538799"/>
                  </a:moveTo>
                  <a:lnTo>
                    <a:pt x="89801" y="538799"/>
                  </a:lnTo>
                  <a:lnTo>
                    <a:pt x="54846" y="531742"/>
                  </a:lnTo>
                  <a:lnTo>
                    <a:pt x="26302" y="512497"/>
                  </a:lnTo>
                  <a:lnTo>
                    <a:pt x="7057" y="483953"/>
                  </a:lnTo>
                  <a:lnTo>
                    <a:pt x="0" y="448998"/>
                  </a:lnTo>
                  <a:lnTo>
                    <a:pt x="0" y="89801"/>
                  </a:lnTo>
                  <a:lnTo>
                    <a:pt x="7057" y="54846"/>
                  </a:lnTo>
                  <a:lnTo>
                    <a:pt x="26302" y="26302"/>
                  </a:lnTo>
                  <a:lnTo>
                    <a:pt x="54846" y="7057"/>
                  </a:lnTo>
                  <a:lnTo>
                    <a:pt x="89801" y="0"/>
                  </a:lnTo>
                  <a:lnTo>
                    <a:pt x="2981598" y="0"/>
                  </a:lnTo>
                  <a:lnTo>
                    <a:pt x="3031420" y="15087"/>
                  </a:lnTo>
                  <a:lnTo>
                    <a:pt x="3064564" y="55436"/>
                  </a:lnTo>
                  <a:lnTo>
                    <a:pt x="3071399" y="89801"/>
                  </a:lnTo>
                  <a:lnTo>
                    <a:pt x="3071399" y="448998"/>
                  </a:lnTo>
                  <a:lnTo>
                    <a:pt x="3064342" y="483953"/>
                  </a:lnTo>
                  <a:lnTo>
                    <a:pt x="3045097" y="512497"/>
                  </a:lnTo>
                  <a:lnTo>
                    <a:pt x="3016553" y="531742"/>
                  </a:lnTo>
                  <a:lnTo>
                    <a:pt x="2981598" y="538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07637" y="3126250"/>
              <a:ext cx="3071495" cy="539115"/>
            </a:xfrm>
            <a:custGeom>
              <a:avLst/>
              <a:gdLst/>
              <a:ahLst/>
              <a:cxnLst/>
              <a:rect l="l" t="t" r="r" b="b"/>
              <a:pathLst>
                <a:path w="3071495" h="539114">
                  <a:moveTo>
                    <a:pt x="0" y="89801"/>
                  </a:moveTo>
                  <a:lnTo>
                    <a:pt x="7057" y="54846"/>
                  </a:lnTo>
                  <a:lnTo>
                    <a:pt x="26302" y="26302"/>
                  </a:lnTo>
                  <a:lnTo>
                    <a:pt x="54846" y="7057"/>
                  </a:lnTo>
                  <a:lnTo>
                    <a:pt x="89801" y="0"/>
                  </a:lnTo>
                  <a:lnTo>
                    <a:pt x="2981598" y="0"/>
                  </a:lnTo>
                  <a:lnTo>
                    <a:pt x="3031420" y="15087"/>
                  </a:lnTo>
                  <a:lnTo>
                    <a:pt x="3064564" y="55436"/>
                  </a:lnTo>
                  <a:lnTo>
                    <a:pt x="3071399" y="89801"/>
                  </a:lnTo>
                  <a:lnTo>
                    <a:pt x="3071399" y="448998"/>
                  </a:lnTo>
                  <a:lnTo>
                    <a:pt x="3064342" y="483953"/>
                  </a:lnTo>
                  <a:lnTo>
                    <a:pt x="3045097" y="512497"/>
                  </a:lnTo>
                  <a:lnTo>
                    <a:pt x="3016553" y="531742"/>
                  </a:lnTo>
                  <a:lnTo>
                    <a:pt x="2981598" y="538799"/>
                  </a:lnTo>
                  <a:lnTo>
                    <a:pt x="89801" y="538799"/>
                  </a:lnTo>
                  <a:lnTo>
                    <a:pt x="54846" y="531742"/>
                  </a:lnTo>
                  <a:lnTo>
                    <a:pt x="26302" y="512497"/>
                  </a:lnTo>
                  <a:lnTo>
                    <a:pt x="7057" y="483953"/>
                  </a:lnTo>
                  <a:lnTo>
                    <a:pt x="0" y="448998"/>
                  </a:lnTo>
                  <a:lnTo>
                    <a:pt x="0" y="898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191765" y="2255240"/>
            <a:ext cx="17407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"Das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ist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gut."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69573" y="2931786"/>
            <a:ext cx="19845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"not</a:t>
            </a:r>
            <a:r>
              <a:rPr sz="1600" spc="-67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acceptable"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19448" y="4265527"/>
            <a:ext cx="3691467" cy="514457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260767" marR="6773" indent="-244681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Courier New"/>
                <a:cs typeface="Courier New"/>
              </a:rPr>
              <a:t>"six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people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hospitalized</a:t>
            </a:r>
            <a:r>
              <a:rPr sz="1600" spc="-12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after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storm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5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attala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county."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40108" y="3600872"/>
            <a:ext cx="6434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Courier New"/>
                <a:cs typeface="Courier New"/>
              </a:rPr>
              <a:t>"3.8"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332026" y="2408393"/>
            <a:ext cx="4279053" cy="2425700"/>
          </a:xfrm>
          <a:custGeom>
            <a:avLst/>
            <a:gdLst/>
            <a:ahLst/>
            <a:cxnLst/>
            <a:rect l="l" t="t" r="r" b="b"/>
            <a:pathLst>
              <a:path w="3209290" h="1819275">
                <a:moveTo>
                  <a:pt x="1705179" y="666299"/>
                </a:moveTo>
                <a:lnTo>
                  <a:pt x="1776623" y="665108"/>
                </a:lnTo>
                <a:lnTo>
                  <a:pt x="1841308" y="661696"/>
                </a:lnTo>
                <a:lnTo>
                  <a:pt x="1899988" y="656312"/>
                </a:lnTo>
                <a:lnTo>
                  <a:pt x="1953413" y="649202"/>
                </a:lnTo>
                <a:lnTo>
                  <a:pt x="2002333" y="640612"/>
                </a:lnTo>
                <a:lnTo>
                  <a:pt x="2047500" y="630789"/>
                </a:lnTo>
                <a:lnTo>
                  <a:pt x="2089666" y="619980"/>
                </a:lnTo>
                <a:lnTo>
                  <a:pt x="2129580" y="608431"/>
                </a:lnTo>
                <a:lnTo>
                  <a:pt x="2167994" y="596388"/>
                </a:lnTo>
                <a:lnTo>
                  <a:pt x="2205659" y="584099"/>
                </a:lnTo>
                <a:lnTo>
                  <a:pt x="2243327" y="571811"/>
                </a:lnTo>
                <a:lnTo>
                  <a:pt x="2281747" y="559768"/>
                </a:lnTo>
                <a:lnTo>
                  <a:pt x="2321670" y="548219"/>
                </a:lnTo>
                <a:lnTo>
                  <a:pt x="2363848" y="537410"/>
                </a:lnTo>
                <a:lnTo>
                  <a:pt x="2409030" y="527587"/>
                </a:lnTo>
                <a:lnTo>
                  <a:pt x="2457967" y="518997"/>
                </a:lnTo>
                <a:lnTo>
                  <a:pt x="2511410" y="511887"/>
                </a:lnTo>
                <a:lnTo>
                  <a:pt x="2570109" y="506503"/>
                </a:lnTo>
                <a:lnTo>
                  <a:pt x="2634816" y="503091"/>
                </a:lnTo>
                <a:lnTo>
                  <a:pt x="2706279" y="501899"/>
                </a:lnTo>
              </a:path>
              <a:path w="3209290" h="1819275">
                <a:moveTo>
                  <a:pt x="1705179" y="666299"/>
                </a:moveTo>
                <a:lnTo>
                  <a:pt x="1743742" y="687876"/>
                </a:lnTo>
                <a:lnTo>
                  <a:pt x="1776032" y="747038"/>
                </a:lnTo>
                <a:lnTo>
                  <a:pt x="1790260" y="788103"/>
                </a:lnTo>
                <a:lnTo>
                  <a:pt x="1803443" y="835432"/>
                </a:lnTo>
                <a:lnTo>
                  <a:pt x="1815755" y="887981"/>
                </a:lnTo>
                <a:lnTo>
                  <a:pt x="1827371" y="944707"/>
                </a:lnTo>
                <a:lnTo>
                  <a:pt x="1838464" y="1004564"/>
                </a:lnTo>
                <a:lnTo>
                  <a:pt x="1849210" y="1066510"/>
                </a:lnTo>
                <a:lnTo>
                  <a:pt x="1859783" y="1129499"/>
                </a:lnTo>
                <a:lnTo>
                  <a:pt x="1870357" y="1192489"/>
                </a:lnTo>
                <a:lnTo>
                  <a:pt x="1881106" y="1254435"/>
                </a:lnTo>
                <a:lnTo>
                  <a:pt x="1892205" y="1314292"/>
                </a:lnTo>
                <a:lnTo>
                  <a:pt x="1903827" y="1371018"/>
                </a:lnTo>
                <a:lnTo>
                  <a:pt x="1916148" y="1423567"/>
                </a:lnTo>
                <a:lnTo>
                  <a:pt x="1929340" y="1470896"/>
                </a:lnTo>
                <a:lnTo>
                  <a:pt x="1943579" y="1511961"/>
                </a:lnTo>
                <a:lnTo>
                  <a:pt x="1975892" y="1571123"/>
                </a:lnTo>
                <a:lnTo>
                  <a:pt x="1994314" y="1587131"/>
                </a:lnTo>
                <a:lnTo>
                  <a:pt x="2014479" y="1592699"/>
                </a:lnTo>
              </a:path>
              <a:path w="3209290" h="1819275">
                <a:moveTo>
                  <a:pt x="0" y="1819052"/>
                </a:moveTo>
                <a:lnTo>
                  <a:pt x="67299" y="1804363"/>
                </a:lnTo>
                <a:lnTo>
                  <a:pt x="126292" y="1763030"/>
                </a:lnTo>
                <a:lnTo>
                  <a:pt x="153074" y="1733652"/>
                </a:lnTo>
                <a:lnTo>
                  <a:pt x="178258" y="1699150"/>
                </a:lnTo>
                <a:lnTo>
                  <a:pt x="202004" y="1660037"/>
                </a:lnTo>
                <a:lnTo>
                  <a:pt x="224473" y="1616825"/>
                </a:lnTo>
                <a:lnTo>
                  <a:pt x="245823" y="1570026"/>
                </a:lnTo>
                <a:lnTo>
                  <a:pt x="266215" y="1520152"/>
                </a:lnTo>
                <a:lnTo>
                  <a:pt x="285809" y="1467716"/>
                </a:lnTo>
                <a:lnTo>
                  <a:pt x="304764" y="1413231"/>
                </a:lnTo>
                <a:lnTo>
                  <a:pt x="323239" y="1357209"/>
                </a:lnTo>
                <a:lnTo>
                  <a:pt x="341395" y="1300162"/>
                </a:lnTo>
                <a:lnTo>
                  <a:pt x="359392" y="1242602"/>
                </a:lnTo>
                <a:lnTo>
                  <a:pt x="377389" y="1185043"/>
                </a:lnTo>
                <a:lnTo>
                  <a:pt x="395545" y="1127995"/>
                </a:lnTo>
                <a:lnTo>
                  <a:pt x="414021" y="1071973"/>
                </a:lnTo>
                <a:lnTo>
                  <a:pt x="432977" y="1017488"/>
                </a:lnTo>
                <a:lnTo>
                  <a:pt x="452571" y="965052"/>
                </a:lnTo>
                <a:lnTo>
                  <a:pt x="472964" y="915179"/>
                </a:lnTo>
                <a:lnTo>
                  <a:pt x="494315" y="868379"/>
                </a:lnTo>
                <a:lnTo>
                  <a:pt x="516785" y="825167"/>
                </a:lnTo>
                <a:lnTo>
                  <a:pt x="540533" y="786054"/>
                </a:lnTo>
                <a:lnTo>
                  <a:pt x="565718" y="751552"/>
                </a:lnTo>
                <a:lnTo>
                  <a:pt x="592501" y="722175"/>
                </a:lnTo>
                <a:lnTo>
                  <a:pt x="651497" y="680841"/>
                </a:lnTo>
                <a:lnTo>
                  <a:pt x="684030" y="669910"/>
                </a:lnTo>
                <a:lnTo>
                  <a:pt x="718799" y="666152"/>
                </a:lnTo>
              </a:path>
              <a:path w="3209290" h="1819275">
                <a:moveTo>
                  <a:pt x="1705179" y="666299"/>
                </a:moveTo>
                <a:lnTo>
                  <a:pt x="1773521" y="667267"/>
                </a:lnTo>
                <a:lnTo>
                  <a:pt x="1837731" y="670086"/>
                </a:lnTo>
                <a:lnTo>
                  <a:pt x="1898086" y="674635"/>
                </a:lnTo>
                <a:lnTo>
                  <a:pt x="1954861" y="680789"/>
                </a:lnTo>
                <a:lnTo>
                  <a:pt x="2008332" y="688424"/>
                </a:lnTo>
                <a:lnTo>
                  <a:pt x="2058774" y="697418"/>
                </a:lnTo>
                <a:lnTo>
                  <a:pt x="2106461" y="707647"/>
                </a:lnTo>
                <a:lnTo>
                  <a:pt x="2151670" y="718987"/>
                </a:lnTo>
                <a:lnTo>
                  <a:pt x="2194676" y="731315"/>
                </a:lnTo>
                <a:lnTo>
                  <a:pt x="2235755" y="744508"/>
                </a:lnTo>
                <a:lnTo>
                  <a:pt x="2275180" y="758441"/>
                </a:lnTo>
                <a:lnTo>
                  <a:pt x="2313229" y="772992"/>
                </a:lnTo>
                <a:lnTo>
                  <a:pt x="2350176" y="788036"/>
                </a:lnTo>
                <a:lnTo>
                  <a:pt x="2386296" y="803452"/>
                </a:lnTo>
                <a:lnTo>
                  <a:pt x="2421866" y="819114"/>
                </a:lnTo>
                <a:lnTo>
                  <a:pt x="2457159" y="834899"/>
                </a:lnTo>
                <a:lnTo>
                  <a:pt x="2492453" y="850685"/>
                </a:lnTo>
                <a:lnTo>
                  <a:pt x="2528021" y="866347"/>
                </a:lnTo>
                <a:lnTo>
                  <a:pt x="2564140" y="881763"/>
                </a:lnTo>
                <a:lnTo>
                  <a:pt x="2601085" y="896807"/>
                </a:lnTo>
                <a:lnTo>
                  <a:pt x="2639131" y="911358"/>
                </a:lnTo>
                <a:lnTo>
                  <a:pt x="2678553" y="925291"/>
                </a:lnTo>
                <a:lnTo>
                  <a:pt x="2719628" y="938484"/>
                </a:lnTo>
                <a:lnTo>
                  <a:pt x="2762630" y="950812"/>
                </a:lnTo>
                <a:lnTo>
                  <a:pt x="2807835" y="962152"/>
                </a:lnTo>
                <a:lnTo>
                  <a:pt x="2855518" y="972381"/>
                </a:lnTo>
                <a:lnTo>
                  <a:pt x="2905954" y="981375"/>
                </a:lnTo>
                <a:lnTo>
                  <a:pt x="2959420" y="989010"/>
                </a:lnTo>
                <a:lnTo>
                  <a:pt x="3016190" y="995164"/>
                </a:lnTo>
                <a:lnTo>
                  <a:pt x="3076539" y="999713"/>
                </a:lnTo>
                <a:lnTo>
                  <a:pt x="3140744" y="1002532"/>
                </a:lnTo>
                <a:lnTo>
                  <a:pt x="3209079" y="1003499"/>
                </a:lnTo>
              </a:path>
              <a:path w="3209290" h="1819275">
                <a:moveTo>
                  <a:pt x="1705179" y="666299"/>
                </a:moveTo>
                <a:lnTo>
                  <a:pt x="1762333" y="663811"/>
                </a:lnTo>
                <a:lnTo>
                  <a:pt x="1815559" y="656587"/>
                </a:lnTo>
                <a:lnTo>
                  <a:pt x="1865159" y="644992"/>
                </a:lnTo>
                <a:lnTo>
                  <a:pt x="1911435" y="629391"/>
                </a:lnTo>
                <a:lnTo>
                  <a:pt x="1954690" y="610147"/>
                </a:lnTo>
                <a:lnTo>
                  <a:pt x="1995226" y="587626"/>
                </a:lnTo>
                <a:lnTo>
                  <a:pt x="2033344" y="562190"/>
                </a:lnTo>
                <a:lnTo>
                  <a:pt x="2069348" y="534205"/>
                </a:lnTo>
                <a:lnTo>
                  <a:pt x="2103540" y="504035"/>
                </a:lnTo>
                <a:lnTo>
                  <a:pt x="2136221" y="472043"/>
                </a:lnTo>
                <a:lnTo>
                  <a:pt x="2167694" y="438594"/>
                </a:lnTo>
                <a:lnTo>
                  <a:pt x="2198260" y="404053"/>
                </a:lnTo>
                <a:lnTo>
                  <a:pt x="2228224" y="368783"/>
                </a:lnTo>
                <a:lnTo>
                  <a:pt x="2257885" y="333149"/>
                </a:lnTo>
                <a:lnTo>
                  <a:pt x="2287548" y="297516"/>
                </a:lnTo>
                <a:lnTo>
                  <a:pt x="2317513" y="262246"/>
                </a:lnTo>
                <a:lnTo>
                  <a:pt x="2348083" y="227705"/>
                </a:lnTo>
                <a:lnTo>
                  <a:pt x="2379560" y="194256"/>
                </a:lnTo>
                <a:lnTo>
                  <a:pt x="2412246" y="162264"/>
                </a:lnTo>
                <a:lnTo>
                  <a:pt x="2446443" y="132094"/>
                </a:lnTo>
                <a:lnTo>
                  <a:pt x="2482454" y="104109"/>
                </a:lnTo>
                <a:lnTo>
                  <a:pt x="2520580" y="78673"/>
                </a:lnTo>
                <a:lnTo>
                  <a:pt x="2561124" y="56152"/>
                </a:lnTo>
                <a:lnTo>
                  <a:pt x="2604387" y="36908"/>
                </a:lnTo>
                <a:lnTo>
                  <a:pt x="2650672" y="21307"/>
                </a:lnTo>
                <a:lnTo>
                  <a:pt x="2700281" y="9712"/>
                </a:lnTo>
                <a:lnTo>
                  <a:pt x="2753516" y="2488"/>
                </a:lnTo>
                <a:lnTo>
                  <a:pt x="2810679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55ED0F7F-F174-5CF4-E6CE-8B23E7457A3A}"/>
              </a:ext>
            </a:extLst>
          </p:cNvPr>
          <p:cNvSpPr/>
          <p:nvPr/>
        </p:nvSpPr>
        <p:spPr>
          <a:xfrm>
            <a:off x="6290402" y="2813992"/>
            <a:ext cx="1315720" cy="956733"/>
          </a:xfrm>
          <a:custGeom>
            <a:avLst/>
            <a:gdLst/>
            <a:ahLst/>
            <a:cxnLst/>
            <a:rect l="l" t="t" r="r" b="b"/>
            <a:pathLst>
              <a:path w="986789" h="717550">
                <a:moveTo>
                  <a:pt x="866897" y="716999"/>
                </a:moveTo>
                <a:lnTo>
                  <a:pt x="119502" y="716999"/>
                </a:lnTo>
                <a:lnTo>
                  <a:pt x="72986" y="707608"/>
                </a:lnTo>
                <a:lnTo>
                  <a:pt x="35001" y="681998"/>
                </a:lnTo>
                <a:lnTo>
                  <a:pt x="9391" y="644013"/>
                </a:lnTo>
                <a:lnTo>
                  <a:pt x="0" y="597497"/>
                </a:lnTo>
                <a:lnTo>
                  <a:pt x="0" y="119502"/>
                </a:lnTo>
                <a:lnTo>
                  <a:pt x="9391" y="72986"/>
                </a:lnTo>
                <a:lnTo>
                  <a:pt x="35001" y="35001"/>
                </a:lnTo>
                <a:lnTo>
                  <a:pt x="72986" y="9391"/>
                </a:lnTo>
                <a:lnTo>
                  <a:pt x="119502" y="0"/>
                </a:lnTo>
                <a:lnTo>
                  <a:pt x="866897" y="0"/>
                </a:lnTo>
                <a:lnTo>
                  <a:pt x="912629" y="9096"/>
                </a:lnTo>
                <a:lnTo>
                  <a:pt x="951398" y="35001"/>
                </a:lnTo>
                <a:lnTo>
                  <a:pt x="977303" y="73770"/>
                </a:lnTo>
                <a:lnTo>
                  <a:pt x="986399" y="119502"/>
                </a:lnTo>
                <a:lnTo>
                  <a:pt x="986399" y="597497"/>
                </a:lnTo>
                <a:lnTo>
                  <a:pt x="977008" y="644013"/>
                </a:lnTo>
                <a:lnTo>
                  <a:pt x="951398" y="681998"/>
                </a:lnTo>
                <a:lnTo>
                  <a:pt x="913413" y="707608"/>
                </a:lnTo>
                <a:lnTo>
                  <a:pt x="866897" y="716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/>
              <a:t>T5</a:t>
            </a:r>
            <a:endParaRPr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0860" y="299700"/>
            <a:ext cx="9978659" cy="57176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92811" y="6275518"/>
            <a:ext cx="58123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i="1" spc="-27" dirty="0">
                <a:latin typeface="Roboto Lt"/>
                <a:cs typeface="Roboto Lt"/>
              </a:rPr>
              <a:t>Source:</a:t>
            </a:r>
            <a:r>
              <a:rPr sz="1867" i="1" spc="272" dirty="0">
                <a:latin typeface="Roboto Lt"/>
                <a:cs typeface="Roboto Lt"/>
              </a:rPr>
              <a:t> </a:t>
            </a:r>
            <a:r>
              <a:rPr sz="1867" i="1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3"/>
              </a:rPr>
              <a:t>http://jalammar.github.io/illustrated-</a:t>
            </a:r>
            <a:r>
              <a:rPr sz="1867" i="1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3"/>
              </a:rPr>
              <a:t>transformer/</a:t>
            </a:r>
            <a:endParaRPr sz="1867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6E9DB2-C99E-7B45-32A1-D4F16DEE6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Colossal Clean Crawled Corpus</a:t>
            </a:r>
          </a:p>
          <a:p>
            <a:r>
              <a:rPr lang="en-US" dirty="0"/>
              <a:t>Web-extracted text</a:t>
            </a:r>
          </a:p>
          <a:p>
            <a:r>
              <a:rPr lang="en-US" dirty="0"/>
              <a:t>English language only (</a:t>
            </a:r>
            <a:r>
              <a:rPr lang="en-US" dirty="0" err="1"/>
              <a:t>langdetect</a:t>
            </a:r>
            <a:r>
              <a:rPr lang="en-US" dirty="0"/>
              <a:t>)</a:t>
            </a:r>
          </a:p>
          <a:p>
            <a:r>
              <a:rPr lang="en-US" dirty="0"/>
              <a:t>750GB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20TB to 750GB? Where did everything go?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9227ED-DD92-DE86-CF27-5C1DFC98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C4: The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2B5321-C7B2-E9B3-5C16-6E6C881C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54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5574-20CF-1687-E960-C527B5BE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DCD5AF-326F-766D-EC15-FCDCBB2A9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Retain:</a:t>
            </a:r>
          </a:p>
          <a:p>
            <a:pPr lvl="1"/>
            <a:r>
              <a:rPr lang="en-US" dirty="0"/>
              <a:t>Sentences with terminal punctuation marks</a:t>
            </a:r>
          </a:p>
          <a:p>
            <a:pPr lvl="1"/>
            <a:r>
              <a:rPr lang="en-US" dirty="0"/>
              <a:t>Pages with at least 5 sentences, sentences with at least 3 words</a:t>
            </a:r>
          </a:p>
          <a:p>
            <a:r>
              <a:rPr lang="en-US" dirty="0"/>
              <a:t>Deduplicate three sentence spans</a:t>
            </a:r>
          </a:p>
          <a:p>
            <a:r>
              <a:rPr lang="en-US" dirty="0"/>
              <a:t>Remove:</a:t>
            </a:r>
          </a:p>
          <a:p>
            <a:pPr lvl="1"/>
            <a:r>
              <a:rPr lang="en-US" dirty="0"/>
              <a:t>References to </a:t>
            </a:r>
            <a:r>
              <a:rPr lang="en-US" dirty="0" err="1"/>
              <a:t>Javascript</a:t>
            </a:r>
            <a:endParaRPr lang="en-US" dirty="0"/>
          </a:p>
          <a:p>
            <a:pPr lvl="1"/>
            <a:r>
              <a:rPr lang="en-US" dirty="0"/>
              <a:t>Lorem ipsum text</a:t>
            </a:r>
          </a:p>
          <a:p>
            <a:pPr lvl="1"/>
            <a:r>
              <a:rPr lang="en-US" dirty="0"/>
              <a:t>Code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CED63D-6212-4103-81E0-00BE21B6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C4: The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DE1CF-E974-5D00-AD49-37AB0DE5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13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7115" y="593049"/>
            <a:ext cx="3990340" cy="4075007"/>
            <a:chOff x="207836" y="444786"/>
            <a:chExt cx="2992755" cy="3056255"/>
          </a:xfrm>
        </p:grpSpPr>
        <p:sp>
          <p:nvSpPr>
            <p:cNvPr id="3" name="object 3"/>
            <p:cNvSpPr/>
            <p:nvPr/>
          </p:nvSpPr>
          <p:spPr>
            <a:xfrm>
              <a:off x="217361" y="454311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5" h="3037204">
                  <a:moveTo>
                    <a:pt x="2973600" y="3036600"/>
                  </a:moveTo>
                  <a:lnTo>
                    <a:pt x="0" y="3036600"/>
                  </a:lnTo>
                  <a:lnTo>
                    <a:pt x="0" y="0"/>
                  </a:lnTo>
                  <a:lnTo>
                    <a:pt x="2973600" y="0"/>
                  </a:lnTo>
                  <a:lnTo>
                    <a:pt x="2973600" y="30366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7361" y="454311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5" h="3037204">
                  <a:moveTo>
                    <a:pt x="0" y="0"/>
                  </a:moveTo>
                  <a:lnTo>
                    <a:pt x="2973600" y="0"/>
                  </a:lnTo>
                  <a:lnTo>
                    <a:pt x="2973600" y="3036600"/>
                  </a:lnTo>
                  <a:lnTo>
                    <a:pt x="0" y="30366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96275" y="1131912"/>
            <a:ext cx="732367" cy="306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aty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  <a:p>
            <a:pPr marL="119377"/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50799" indent="31326"/>
            <a:r>
              <a:rPr sz="1333" dirty="0">
                <a:latin typeface="Roboto"/>
                <a:cs typeface="Roboto"/>
              </a:rPr>
              <a:t>in,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with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victory ars'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war.</a:t>
            </a:r>
            <a:endParaRPr sz="1333">
              <a:latin typeface="Roboto"/>
              <a:cs typeface="Roboto"/>
            </a:endParaRPr>
          </a:p>
          <a:p>
            <a:pPr marL="55879" marR="16933" indent="-16933" algn="just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seven </a:t>
            </a:r>
            <a:r>
              <a:rPr sz="1333" dirty="0">
                <a:latin typeface="Roboto"/>
                <a:cs typeface="Roboto"/>
              </a:rPr>
              <a:t>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dirty="0">
                <a:latin typeface="Roboto"/>
                <a:cs typeface="Roboto"/>
              </a:rPr>
              <a:t>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134617" marR="86357" indent="37252" algn="just"/>
            <a:r>
              <a:rPr sz="1333" spc="-27" dirty="0">
                <a:latin typeface="Roboto"/>
                <a:cs typeface="Roboto"/>
              </a:rPr>
              <a:t>utside </a:t>
            </a:r>
            <a:r>
              <a:rPr sz="1333" spc="-13" dirty="0">
                <a:latin typeface="Roboto"/>
                <a:cs typeface="Roboto"/>
              </a:rPr>
              <a:t>turned </a:t>
            </a:r>
            <a:r>
              <a:rPr sz="1333" spc="-67" dirty="0">
                <a:latin typeface="Roboto"/>
                <a:cs typeface="Roboto"/>
              </a:rPr>
              <a:t>d</a:t>
            </a:r>
            <a:endParaRPr sz="1333">
              <a:latin typeface="Roboto"/>
              <a:cs typeface="Roboto"/>
            </a:endParaRPr>
          </a:p>
          <a:p>
            <a:pPr marL="72812" algn="just"/>
            <a:r>
              <a:rPr sz="1333" dirty="0">
                <a:latin typeface="Roboto"/>
                <a:cs typeface="Roboto"/>
              </a:rPr>
              <a:t>uch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  <a:p>
            <a:pPr marL="27093" algn="just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ct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roman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93129" y="781456"/>
            <a:ext cx="3990340" cy="3886200"/>
            <a:chOff x="2619846" y="586092"/>
            <a:chExt cx="2992755" cy="2914650"/>
          </a:xfrm>
        </p:grpSpPr>
        <p:sp>
          <p:nvSpPr>
            <p:cNvPr id="7" name="object 7"/>
            <p:cNvSpPr/>
            <p:nvPr/>
          </p:nvSpPr>
          <p:spPr>
            <a:xfrm>
              <a:off x="2629371" y="595617"/>
              <a:ext cx="2973705" cy="2895600"/>
            </a:xfrm>
            <a:custGeom>
              <a:avLst/>
              <a:gdLst/>
              <a:ahLst/>
              <a:cxnLst/>
              <a:rect l="l" t="t" r="r" b="b"/>
              <a:pathLst>
                <a:path w="2973704" h="2895600">
                  <a:moveTo>
                    <a:pt x="2973599" y="2895600"/>
                  </a:moveTo>
                  <a:lnTo>
                    <a:pt x="0" y="2895600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8956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29371" y="595617"/>
              <a:ext cx="2973705" cy="2895600"/>
            </a:xfrm>
            <a:custGeom>
              <a:avLst/>
              <a:gdLst/>
              <a:ahLst/>
              <a:cxnLst/>
              <a:rect l="l" t="t" r="r" b="b"/>
              <a:pathLst>
                <a:path w="2973704" h="2895600">
                  <a:moveTo>
                    <a:pt x="0" y="0"/>
                  </a:moveTo>
                  <a:lnTo>
                    <a:pt x="2973599" y="0"/>
                  </a:lnTo>
                  <a:lnTo>
                    <a:pt x="2973599" y="2895600"/>
                  </a:lnTo>
                  <a:lnTo>
                    <a:pt x="0" y="28956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0613" y="913919"/>
            <a:ext cx="2865967" cy="3269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66">
              <a:lnSpc>
                <a:spcPts val="1507"/>
              </a:lnSpc>
            </a:pPr>
            <a:r>
              <a:rPr sz="1333" spc="-27" dirty="0">
                <a:latin typeface="Roboto"/>
                <a:cs typeface="Roboto"/>
              </a:rPr>
              <a:t>rrow</a:t>
            </a:r>
            <a:endParaRPr sz="1333">
              <a:latin typeface="Roboto"/>
              <a:cs typeface="Roboto"/>
            </a:endParaRPr>
          </a:p>
          <a:p>
            <a:pPr marL="56725" marR="62652" indent="93131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w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hand-</a:t>
            </a:r>
            <a:r>
              <a:rPr sz="1333" spc="-13" dirty="0">
                <a:latin typeface="Roboto"/>
                <a:cs typeface="Roboto"/>
              </a:rPr>
              <a:t>propelled vehicle, just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be </a:t>
            </a:r>
            <a:r>
              <a:rPr sz="1333" dirty="0">
                <a:latin typeface="Roboto"/>
                <a:cs typeface="Roboto"/>
              </a:rPr>
              <a:t>guided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single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person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using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two </a:t>
            </a:r>
            <a:r>
              <a:rPr sz="1333" dirty="0">
                <a:latin typeface="Roboto"/>
                <a:cs typeface="Roboto"/>
              </a:rPr>
              <a:t>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rear,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sail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elbarrow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wind.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term</a:t>
            </a:r>
            <a:endParaRPr sz="1333">
              <a:latin typeface="Roboto"/>
              <a:cs typeface="Roboto"/>
            </a:endParaRPr>
          </a:p>
          <a:p>
            <a:pPr marL="22013" indent="48259"/>
            <a:r>
              <a:rPr sz="1333" spc="-13" dirty="0">
                <a:latin typeface="Roboto"/>
                <a:cs typeface="Roboto"/>
              </a:rPr>
              <a:t>w"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made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</a:t>
            </a:r>
            <a:r>
              <a:rPr sz="1333" spc="-27" dirty="0">
                <a:latin typeface="Roboto"/>
                <a:cs typeface="Roboto"/>
              </a:rPr>
              <a:t> "wheel"</a:t>
            </a:r>
            <a:r>
              <a:rPr sz="1333" spc="-33" dirty="0">
                <a:latin typeface="Roboto"/>
                <a:cs typeface="Roboto"/>
              </a:rPr>
              <a:t> and </a:t>
            </a:r>
            <a:r>
              <a:rPr sz="1333" spc="-27" dirty="0">
                <a:latin typeface="Roboto"/>
                <a:cs typeface="Roboto"/>
              </a:rPr>
              <a:t>arrow"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old</a:t>
            </a:r>
            <a:endParaRPr sz="1333">
              <a:latin typeface="Roboto"/>
              <a:cs typeface="Roboto"/>
            </a:endParaRPr>
          </a:p>
          <a:p>
            <a:pPr marL="56725" marR="280240" indent="-57572"/>
            <a:r>
              <a:rPr sz="1333" spc="-13" dirty="0">
                <a:latin typeface="Roboto"/>
                <a:cs typeface="Roboto"/>
              </a:rPr>
              <a:t>arwe"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 ds.</a:t>
            </a:r>
            <a:endParaRPr sz="1333">
              <a:latin typeface="Roboto"/>
              <a:cs typeface="Roboto"/>
            </a:endParaRPr>
          </a:p>
          <a:p>
            <a:pPr marL="86357" marR="41486" indent="-847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rrow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distribute</a:t>
            </a:r>
            <a:r>
              <a:rPr sz="1333" spc="-33" dirty="0">
                <a:latin typeface="Roboto"/>
                <a:cs typeface="Roboto"/>
              </a:rPr>
              <a:t> the </a:t>
            </a:r>
            <a:r>
              <a:rPr sz="1333" dirty="0">
                <a:latin typeface="Roboto"/>
                <a:cs typeface="Roboto"/>
              </a:rPr>
              <a:t>load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enabling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convenient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carriage</a:t>
            </a:r>
            <a:r>
              <a:rPr sz="1333" spc="-33" dirty="0">
                <a:latin typeface="Roboto"/>
                <a:cs typeface="Roboto"/>
              </a:rPr>
              <a:t> of </a:t>
            </a:r>
            <a:r>
              <a:rPr sz="1333" spc="-13" dirty="0">
                <a:latin typeface="Roboto"/>
                <a:cs typeface="Roboto"/>
              </a:rPr>
              <a:t>bulkier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loads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than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would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possible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6184" y="499080"/>
            <a:ext cx="4062307" cy="3309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9122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lemon</a:t>
            </a:r>
            <a:endParaRPr sz="1333">
              <a:latin typeface="Roboto"/>
              <a:cs typeface="Roboto"/>
            </a:endParaRPr>
          </a:p>
          <a:p>
            <a:pPr>
              <a:spcBef>
                <a:spcPts val="60"/>
              </a:spcBef>
            </a:pPr>
            <a:endParaRPr sz="1333">
              <a:latin typeface="Roboto"/>
              <a:cs typeface="Roboto"/>
            </a:endParaRPr>
          </a:p>
          <a:p>
            <a:pPr marR="14393" algn="r">
              <a:lnSpc>
                <a:spcPts val="1567"/>
              </a:lnSpc>
              <a:spcBef>
                <a:spcPts val="7"/>
              </a:spcBef>
              <a:tabLst>
                <a:tab pos="1044761" algn="l"/>
              </a:tabLst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wheelba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10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lemon,</a:t>
            </a:r>
            <a:r>
              <a:rPr sz="2000" spc="-10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citrus</a:t>
            </a:r>
            <a:r>
              <a:rPr sz="2000" spc="-10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limon</a:t>
            </a:r>
            <a:endParaRPr sz="2000" baseline="2777">
              <a:latin typeface="Roboto"/>
              <a:cs typeface="Roboto"/>
            </a:endParaRPr>
          </a:p>
          <a:p>
            <a:pPr marR="24553" algn="r">
              <a:lnSpc>
                <a:spcPts val="1567"/>
              </a:lnSpc>
              <a:tabLst>
                <a:tab pos="2329122" algn="l"/>
              </a:tabLst>
            </a:pPr>
            <a:r>
              <a:rPr sz="2000" baseline="-8333" dirty="0">
                <a:latin typeface="Roboto"/>
                <a:cs typeface="Roboto"/>
              </a:rPr>
              <a:t>own</a:t>
            </a:r>
            <a:r>
              <a:rPr sz="2000" spc="-80" baseline="-8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as</a:t>
            </a:r>
            <a:r>
              <a:rPr sz="2000" spc="-69" baseline="-8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the</a:t>
            </a:r>
            <a:r>
              <a:rPr sz="2000" spc="-69" baseline="-8333" dirty="0">
                <a:latin typeface="Roboto"/>
                <a:cs typeface="Roboto"/>
              </a:rPr>
              <a:t> </a:t>
            </a:r>
            <a:r>
              <a:rPr sz="2000" spc="-49" baseline="-8333" dirty="0">
                <a:latin typeface="Roboto"/>
                <a:cs typeface="Roboto"/>
              </a:rPr>
              <a:t>tre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</a:t>
            </a:r>
            <a:endParaRPr sz="1333">
              <a:latin typeface="Roboto"/>
              <a:cs typeface="Roboto"/>
            </a:endParaRPr>
          </a:p>
          <a:p>
            <a:pPr marL="86357" marR="26246" indent="-63498">
              <a:spcBef>
                <a:spcPts val="180"/>
              </a:spcBef>
            </a:pPr>
            <a:r>
              <a:rPr sz="1333" spc="-13" dirty="0">
                <a:latin typeface="Roboto"/>
                <a:cs typeface="Roboto"/>
              </a:rPr>
              <a:t>bruary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173" dirty="0">
                <a:latin typeface="Roboto"/>
                <a:cs typeface="Roboto"/>
              </a:rPr>
              <a:t>  </a:t>
            </a:r>
            <a:r>
              <a:rPr sz="2000" baseline="5555" dirty="0">
                <a:latin typeface="Roboto"/>
                <a:cs typeface="Roboto"/>
              </a:rPr>
              <a:t>a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wheelbarro</a:t>
            </a:r>
            <a:r>
              <a:rPr sz="2000" spc="269" baseline="5555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rutaceae,</a:t>
            </a:r>
            <a:r>
              <a:rPr sz="2000" spc="-69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native</a:t>
            </a:r>
            <a:r>
              <a:rPr sz="2000" spc="-6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to</a:t>
            </a:r>
            <a:r>
              <a:rPr sz="2000" spc="-69" baseline="8333" dirty="0">
                <a:latin typeface="Roboto"/>
                <a:cs typeface="Roboto"/>
              </a:rPr>
              <a:t> </a:t>
            </a:r>
            <a:r>
              <a:rPr sz="2000" spc="-49" baseline="8333" dirty="0">
                <a:latin typeface="Roboto"/>
                <a:cs typeface="Roboto"/>
              </a:rPr>
              <a:t>sou </a:t>
            </a:r>
            <a:r>
              <a:rPr sz="1333" spc="-13" dirty="0">
                <a:latin typeface="Roboto"/>
                <a:cs typeface="Roboto"/>
              </a:rPr>
              <a:t>rance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spa</a:t>
            </a:r>
            <a:r>
              <a:rPr sz="1333" spc="187" dirty="0">
                <a:latin typeface="Roboto"/>
                <a:cs typeface="Roboto"/>
              </a:rPr>
              <a:t>  </a:t>
            </a:r>
            <a:r>
              <a:rPr sz="2000" spc="-40" baseline="5555" dirty="0">
                <a:latin typeface="Roboto"/>
                <a:cs typeface="Roboto"/>
              </a:rPr>
              <a:t>usually </a:t>
            </a:r>
            <a:r>
              <a:rPr sz="2000" baseline="5555" dirty="0">
                <a:latin typeface="Roboto"/>
                <a:cs typeface="Roboto"/>
              </a:rPr>
              <a:t>with</a:t>
            </a:r>
            <a:r>
              <a:rPr sz="2000" spc="379" baseline="5555" dirty="0">
                <a:latin typeface="Roboto"/>
                <a:cs typeface="Roboto"/>
              </a:rPr>
              <a:t>  </a:t>
            </a:r>
            <a:r>
              <a:rPr sz="2000" spc="-20" baseline="8333" dirty="0">
                <a:latin typeface="Roboto"/>
                <a:cs typeface="Roboto"/>
              </a:rPr>
              <a:t>eastern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india.</a:t>
            </a:r>
            <a:endParaRPr sz="2000" baseline="8333">
              <a:latin typeface="Roboto"/>
              <a:cs typeface="Roboto"/>
            </a:endParaRPr>
          </a:p>
          <a:p>
            <a:pPr marL="4233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er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britain'</a:t>
            </a:r>
            <a:r>
              <a:rPr sz="1333" spc="227" dirty="0">
                <a:latin typeface="Roboto"/>
                <a:cs typeface="Roboto"/>
              </a:rPr>
              <a:t>  </a:t>
            </a:r>
            <a:r>
              <a:rPr sz="2000" spc="-20" baseline="5555" dirty="0">
                <a:latin typeface="Roboto"/>
                <a:cs typeface="Roboto"/>
              </a:rPr>
              <a:t>pushed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spc="-49" baseline="5555" dirty="0">
                <a:latin typeface="Roboto"/>
                <a:cs typeface="Roboto"/>
              </a:rPr>
              <a:t>and</a:t>
            </a:r>
            <a:endParaRPr sz="2000" baseline="5555">
              <a:latin typeface="Roboto"/>
              <a:cs typeface="Roboto"/>
            </a:endParaRPr>
          </a:p>
          <a:p>
            <a:pPr marL="10160">
              <a:lnSpc>
                <a:spcPts val="1507"/>
              </a:lnSpc>
            </a:pPr>
            <a:r>
              <a:rPr sz="2000" baseline="-8333" dirty="0">
                <a:latin typeface="Roboto"/>
                <a:cs typeface="Roboto"/>
              </a:rPr>
              <a:t>ng</a:t>
            </a:r>
            <a:r>
              <a:rPr sz="2000" spc="-49" baseline="-8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the</a:t>
            </a:r>
            <a:r>
              <a:rPr sz="2000" spc="-40" baseline="-8333" dirty="0">
                <a:latin typeface="Roboto"/>
                <a:cs typeface="Roboto"/>
              </a:rPr>
              <a:t> </a:t>
            </a:r>
            <a:r>
              <a:rPr sz="2000" spc="-20" baseline="-8333" dirty="0">
                <a:latin typeface="Roboto"/>
                <a:cs typeface="Roboto"/>
              </a:rPr>
              <a:t>seven</a:t>
            </a:r>
            <a:r>
              <a:rPr sz="2000" spc="-40" baseline="-8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ye</a:t>
            </a:r>
            <a:r>
              <a:rPr sz="2000" spc="749" baseline="-8333" dirty="0">
                <a:latin typeface="Roboto"/>
                <a:cs typeface="Roboto"/>
              </a:rPr>
              <a:t> </a:t>
            </a:r>
            <a:r>
              <a:rPr sz="2000" spc="-20" baseline="-2777" dirty="0">
                <a:latin typeface="Roboto"/>
                <a:cs typeface="Roboto"/>
              </a:rPr>
              <a:t>handles</a:t>
            </a:r>
            <a:r>
              <a:rPr sz="2000" spc="-40" baseline="-2777" dirty="0">
                <a:latin typeface="Roboto"/>
                <a:cs typeface="Roboto"/>
              </a:rPr>
              <a:t> </a:t>
            </a:r>
            <a:r>
              <a:rPr sz="2000" baseline="-2777" dirty="0">
                <a:latin typeface="Roboto"/>
                <a:cs typeface="Roboto"/>
              </a:rPr>
              <a:t>at</a:t>
            </a:r>
            <a:r>
              <a:rPr sz="2000" spc="-49" baseline="-2777" dirty="0">
                <a:latin typeface="Roboto"/>
                <a:cs typeface="Roboto"/>
              </a:rPr>
              <a:t> </a:t>
            </a:r>
            <a:r>
              <a:rPr sz="2000" baseline="-2777" dirty="0">
                <a:latin typeface="Roboto"/>
                <a:cs typeface="Roboto"/>
              </a:rPr>
              <a:t>t</a:t>
            </a:r>
            <a:r>
              <a:rPr sz="2000" spc="429" baseline="-277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tree's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yel</a:t>
            </a:r>
            <a:endParaRPr sz="1333">
              <a:latin typeface="Roboto"/>
              <a:cs typeface="Roboto"/>
            </a:endParaRPr>
          </a:p>
          <a:p>
            <a:pPr marL="37252" indent="1245416">
              <a:lnSpc>
                <a:spcPct val="103600"/>
              </a:lnSpc>
              <a:spcBef>
                <a:spcPts val="7"/>
              </a:spcBef>
              <a:tabLst>
                <a:tab pos="1283515" algn="l"/>
                <a:tab pos="2238529" algn="l"/>
              </a:tabLst>
            </a:pPr>
            <a:r>
              <a:rPr sz="1333" spc="-13" dirty="0">
                <a:latin typeface="Roboto"/>
                <a:cs typeface="Roboto"/>
              </a:rPr>
              <a:t>ancient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</a:t>
            </a:r>
            <a:r>
              <a:rPr sz="1333" spc="193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culinary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spc="-80" baseline="2777" dirty="0">
                <a:latin typeface="Roboto"/>
                <a:cs typeface="Roboto"/>
              </a:rPr>
              <a:t>non-</a:t>
            </a:r>
            <a:r>
              <a:rPr sz="2000" spc="-20" baseline="2777" dirty="0">
                <a:latin typeface="Roboto"/>
                <a:cs typeface="Roboto"/>
              </a:rPr>
              <a:t>culina </a:t>
            </a:r>
            <a:r>
              <a:rPr sz="1333" spc="-27" dirty="0">
                <a:latin typeface="Roboto"/>
                <a:cs typeface="Roboto"/>
              </a:rPr>
              <a:t>rmally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5555" dirty="0">
                <a:latin typeface="Roboto"/>
                <a:cs typeface="Roboto"/>
              </a:rPr>
              <a:t>"wheelbarro</a:t>
            </a:r>
            <a:r>
              <a:rPr sz="2000" spc="989" baseline="5555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the</a:t>
            </a:r>
            <a:r>
              <a:rPr sz="2000" spc="-10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world,</a:t>
            </a:r>
            <a:r>
              <a:rPr sz="2000" spc="-100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primarily</a:t>
            </a:r>
            <a:r>
              <a:rPr sz="2000" spc="-100" baseline="8333" dirty="0">
                <a:latin typeface="Roboto"/>
                <a:cs typeface="Roboto"/>
              </a:rPr>
              <a:t> </a:t>
            </a:r>
            <a:r>
              <a:rPr sz="2000" spc="-49" baseline="8333" dirty="0">
                <a:latin typeface="Roboto"/>
                <a:cs typeface="Roboto"/>
              </a:rPr>
              <a:t>for </a:t>
            </a:r>
            <a:r>
              <a:rPr sz="1333" dirty="0">
                <a:latin typeface="Roboto"/>
                <a:cs typeface="Roboto"/>
              </a:rPr>
              <a:t>nch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india</a:t>
            </a:r>
            <a:r>
              <a:rPr sz="1333" spc="233" dirty="0">
                <a:latin typeface="Roboto"/>
                <a:cs typeface="Roboto"/>
              </a:rPr>
              <a:t>  </a:t>
            </a:r>
            <a:r>
              <a:rPr sz="2000" spc="-80" baseline="5555" dirty="0">
                <a:latin typeface="Roboto"/>
                <a:cs typeface="Roboto"/>
              </a:rPr>
              <a:t>"barrow."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spc="-49" baseline="5555" dirty="0">
                <a:latin typeface="Roboto"/>
                <a:cs typeface="Roboto"/>
              </a:rPr>
              <a:t>"b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2000" spc="-20" baseline="8333" dirty="0">
                <a:latin typeface="Roboto"/>
                <a:cs typeface="Roboto"/>
              </a:rPr>
              <a:t>culinary</a:t>
            </a:r>
            <a:r>
              <a:rPr sz="2000" spc="-4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and</a:t>
            </a:r>
            <a:r>
              <a:rPr sz="2000" spc="-49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cleaning</a:t>
            </a:r>
            <a:r>
              <a:rPr sz="2000" spc="-49" baseline="8333" dirty="0">
                <a:latin typeface="Roboto"/>
                <a:cs typeface="Roboto"/>
              </a:rPr>
              <a:t> </a:t>
            </a:r>
            <a:r>
              <a:rPr sz="2000" spc="-100" baseline="8333" dirty="0">
                <a:latin typeface="Roboto"/>
                <a:cs typeface="Roboto"/>
              </a:rPr>
              <a:t>u</a:t>
            </a:r>
            <a:endParaRPr sz="2000" baseline="8333">
              <a:latin typeface="Roboto"/>
              <a:cs typeface="Roboto"/>
            </a:endParaRPr>
          </a:p>
          <a:p>
            <a:pPr marL="34711" marR="847" indent="27939" algn="just">
              <a:lnSpc>
                <a:spcPct val="94300"/>
              </a:lnSpc>
              <a:spcBef>
                <a:spcPts val="93"/>
              </a:spcBef>
              <a:tabLst>
                <a:tab pos="2236837" algn="l"/>
              </a:tabLst>
            </a:pPr>
            <a:r>
              <a:rPr sz="1333" dirty="0">
                <a:latin typeface="Roboto"/>
                <a:cs typeface="Roboto"/>
              </a:rPr>
              <a:t>,[1]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marke</a:t>
            </a:r>
            <a:r>
              <a:rPr sz="1333" spc="267" dirty="0">
                <a:latin typeface="Roboto"/>
                <a:cs typeface="Roboto"/>
              </a:rPr>
              <a:t>  </a:t>
            </a:r>
            <a:r>
              <a:rPr sz="2000" spc="-20" baseline="5555" dirty="0">
                <a:latin typeface="Roboto"/>
                <a:cs typeface="Roboto"/>
              </a:rPr>
              <a:t>english</a:t>
            </a:r>
            <a:r>
              <a:rPr sz="2000" spc="-4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"be</a:t>
            </a:r>
            <a:r>
              <a:rPr sz="2000" spc="720" baseline="5555" dirty="0">
                <a:latin typeface="Roboto"/>
                <a:cs typeface="Roboto"/>
              </a:rPr>
              <a:t>  </a:t>
            </a:r>
            <a:r>
              <a:rPr sz="2000" baseline="8333" dirty="0">
                <a:latin typeface="Roboto"/>
                <a:cs typeface="Roboto"/>
              </a:rPr>
              <a:t>(zest)</a:t>
            </a:r>
            <a:r>
              <a:rPr sz="2000" spc="-4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are</a:t>
            </a:r>
            <a:r>
              <a:rPr sz="2000" spc="-5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also</a:t>
            </a:r>
            <a:r>
              <a:rPr sz="2000" spc="-4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used</a:t>
            </a:r>
            <a:r>
              <a:rPr sz="2000" spc="-49" baseline="8333" dirty="0">
                <a:latin typeface="Roboto"/>
                <a:cs typeface="Roboto"/>
              </a:rPr>
              <a:t> in </a:t>
            </a:r>
            <a:r>
              <a:rPr sz="1333" dirty="0">
                <a:latin typeface="Roboto"/>
                <a:cs typeface="Roboto"/>
              </a:rPr>
              <a:t>sh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</a:t>
            </a:r>
            <a:r>
              <a:rPr sz="1333" spc="47" dirty="0">
                <a:latin typeface="Roboto"/>
                <a:cs typeface="Roboto"/>
              </a:rPr>
              <a:t> </a:t>
            </a:r>
            <a:r>
              <a:rPr sz="2000" spc="-20" baseline="5555" dirty="0">
                <a:latin typeface="Roboto"/>
                <a:cs typeface="Roboto"/>
              </a:rPr>
              <a:t>carrying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loa</a:t>
            </a:r>
            <a:r>
              <a:rPr sz="2000" spc="440" baseline="5555" dirty="0">
                <a:latin typeface="Roboto"/>
                <a:cs typeface="Roboto"/>
              </a:rPr>
              <a:t>  </a:t>
            </a:r>
            <a:r>
              <a:rPr sz="2000" spc="-20" baseline="8333" dirty="0">
                <a:latin typeface="Roboto"/>
                <a:cs typeface="Roboto"/>
              </a:rPr>
              <a:t>juice</a:t>
            </a:r>
            <a:r>
              <a:rPr sz="2000" spc="-2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of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the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lemon</a:t>
            </a:r>
            <a:r>
              <a:rPr sz="2000" spc="-2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is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spc="-100" baseline="8333" dirty="0">
                <a:latin typeface="Roboto"/>
                <a:cs typeface="Roboto"/>
              </a:rPr>
              <a:t>a</a:t>
            </a:r>
            <a:r>
              <a:rPr sz="2000" baseline="8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france</a:t>
            </a:r>
            <a:r>
              <a:rPr sz="2000" spc="-109" baseline="-8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each</a:t>
            </a:r>
            <a:r>
              <a:rPr sz="2000" spc="-100" baseline="-8333" dirty="0">
                <a:latin typeface="Roboto"/>
                <a:cs typeface="Roboto"/>
              </a:rPr>
              <a:t> </a:t>
            </a:r>
            <a:r>
              <a:rPr sz="2000" spc="-49" baseline="-8333" dirty="0">
                <a:latin typeface="Roboto"/>
                <a:cs typeface="Roboto"/>
              </a:rPr>
              <a:t>re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2.2</a:t>
            </a:r>
            <a:endParaRPr sz="1333">
              <a:latin typeface="Roboto"/>
              <a:cs typeface="Roboto"/>
            </a:endParaRPr>
          </a:p>
          <a:p>
            <a:pPr marL="15240" marR="847" indent="16933" algn="just">
              <a:spcBef>
                <a:spcPts val="187"/>
              </a:spcBef>
            </a:pPr>
            <a:r>
              <a:rPr sz="1333" dirty="0">
                <a:latin typeface="Roboto"/>
                <a:cs typeface="Roboto"/>
              </a:rPr>
              <a:t>hey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capture</a:t>
            </a:r>
            <a:r>
              <a:rPr sz="1333" spc="40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the</a:t>
            </a:r>
            <a:r>
              <a:rPr sz="2000" spc="-80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wheelba</a:t>
            </a:r>
            <a:r>
              <a:rPr sz="2000" spc="889" baseline="5555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distinctive</a:t>
            </a:r>
            <a:r>
              <a:rPr sz="2000" spc="-8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sour</a:t>
            </a:r>
            <a:r>
              <a:rPr sz="2000" spc="-80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taste</a:t>
            </a:r>
            <a:r>
              <a:rPr sz="2000" spc="-80" baseline="8333" dirty="0">
                <a:latin typeface="Roboto"/>
                <a:cs typeface="Roboto"/>
              </a:rPr>
              <a:t> </a:t>
            </a:r>
            <a:r>
              <a:rPr sz="2000" spc="-100" baseline="8333" dirty="0">
                <a:latin typeface="Roboto"/>
                <a:cs typeface="Roboto"/>
              </a:rPr>
              <a:t>o</a:t>
            </a:r>
            <a:r>
              <a:rPr sz="2000" spc="-20" baseline="8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ritain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</a:t>
            </a:r>
            <a:r>
              <a:rPr sz="1333" spc="227" dirty="0">
                <a:latin typeface="Roboto"/>
                <a:cs typeface="Roboto"/>
              </a:rPr>
              <a:t>  </a:t>
            </a:r>
            <a:r>
              <a:rPr sz="2000" spc="-20" baseline="5555" dirty="0">
                <a:latin typeface="Roboto"/>
                <a:cs typeface="Roboto"/>
              </a:rPr>
              <a:t>weight</a:t>
            </a:r>
            <a:r>
              <a:rPr sz="2000" spc="-40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of</a:t>
            </a:r>
            <a:r>
              <a:rPr sz="2000" spc="-40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its</a:t>
            </a:r>
            <a:r>
              <a:rPr sz="2000" spc="859" baseline="5555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key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ingredient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in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drinks</a:t>
            </a:r>
            <a:endParaRPr sz="2000" baseline="8333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8816" y="526164"/>
            <a:ext cx="4106333" cy="3878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0272" algn="r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citrus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limon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(l.)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o</a:t>
            </a:r>
            <a:endParaRPr sz="1333">
              <a:latin typeface="Roboto"/>
              <a:cs typeface="Roboto"/>
            </a:endParaRPr>
          </a:p>
          <a:p>
            <a:pPr marR="44872" algn="r">
              <a:tabLst>
                <a:tab pos="1836374" algn="l"/>
              </a:tabLst>
            </a:pPr>
            <a:r>
              <a:rPr sz="1333" spc="-13" dirty="0">
                <a:latin typeface="Roboto"/>
                <a:cs typeface="Roboto"/>
              </a:rPr>
              <a:t>reaty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(1763)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fl</a:t>
            </a:r>
            <a:endParaRPr sz="1333">
              <a:latin typeface="Roboto"/>
              <a:cs typeface="Roboto"/>
            </a:endParaRPr>
          </a:p>
          <a:p>
            <a:pPr marL="94824" marR="53339" indent="1839761" algn="just"/>
            <a:r>
              <a:rPr sz="1333" spc="-13" dirty="0">
                <a:latin typeface="Roboto"/>
                <a:cs typeface="Roboto"/>
              </a:rPr>
              <a:t>rutaceae,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native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south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asi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kn</a:t>
            </a:r>
            <a:r>
              <a:rPr sz="1333" spc="380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eastern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india.</a:t>
            </a:r>
            <a:endParaRPr sz="1333">
              <a:latin typeface="Roboto"/>
              <a:cs typeface="Roboto"/>
            </a:endParaRPr>
          </a:p>
          <a:p>
            <a:pPr marL="5080" algn="just">
              <a:lnSpc>
                <a:spcPts val="1567"/>
              </a:lnSpc>
            </a:pPr>
            <a:r>
              <a:rPr sz="1333" dirty="0">
                <a:latin typeface="Roboto"/>
                <a:cs typeface="Roboto"/>
              </a:rPr>
              <a:t>63,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fe</a:t>
            </a:r>
            <a:endParaRPr sz="1333">
              <a:latin typeface="Roboto"/>
              <a:cs typeface="Roboto"/>
            </a:endParaRPr>
          </a:p>
          <a:p>
            <a:pPr marL="122764" marR="2540" indent="-88051" algn="just">
              <a:spcBef>
                <a:spcPts val="27"/>
              </a:spcBef>
            </a:pPr>
            <a:r>
              <a:rPr sz="1333" dirty="0">
                <a:latin typeface="Roboto"/>
                <a:cs typeface="Roboto"/>
              </a:rPr>
              <a:t>gdoms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</a:t>
            </a:r>
            <a:r>
              <a:rPr sz="1333" spc="40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tree's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fr </a:t>
            </a:r>
            <a:r>
              <a:rPr sz="1333" dirty="0">
                <a:latin typeface="Roboto"/>
                <a:cs typeface="Roboto"/>
              </a:rPr>
              <a:t>ugal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</a:t>
            </a:r>
            <a:r>
              <a:rPr sz="1333" spc="347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pur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</a:t>
            </a:r>
            <a:r>
              <a:rPr sz="1333" spc="300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world,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jui</a:t>
            </a:r>
            <a:endParaRPr sz="1333">
              <a:latin typeface="Roboto"/>
              <a:cs typeface="Roboto"/>
            </a:endParaRPr>
          </a:p>
          <a:p>
            <a:pPr indent="1934585"/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uses.[2 signing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treaty </a:t>
            </a:r>
            <a:r>
              <a:rPr sz="1333" dirty="0">
                <a:latin typeface="Roboto"/>
                <a:cs typeface="Roboto"/>
              </a:rPr>
              <a:t>fo</a:t>
            </a:r>
            <a:r>
              <a:rPr sz="1333" spc="22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(zest)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cooki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rs'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</a:t>
            </a:r>
            <a:r>
              <a:rPr sz="1333" spc="8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5</a:t>
            </a:r>
            <a:r>
              <a:rPr sz="1333" dirty="0">
                <a:latin typeface="Roboto"/>
                <a:cs typeface="Roboto"/>
              </a:rPr>
              <a:t> north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theatre</a:t>
            </a:r>
            <a:r>
              <a:rPr sz="1333" spc="5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givin ginning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briti</a:t>
            </a:r>
            <a:r>
              <a:rPr sz="1333" spc="23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distinctive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lem</a:t>
            </a:r>
            <a:endParaRPr sz="1333">
              <a:latin typeface="Roboto"/>
              <a:cs typeface="Roboto"/>
            </a:endParaRPr>
          </a:p>
          <a:p>
            <a:pPr marL="56725" marR="15240" indent="93131" algn="just">
              <a:lnSpc>
                <a:spcPct val="99100"/>
              </a:lnSpc>
              <a:spcBef>
                <a:spcPts val="13"/>
              </a:spcBef>
            </a:pPr>
            <a:r>
              <a:rPr sz="1333" dirty="0">
                <a:latin typeface="Roboto"/>
                <a:cs typeface="Roboto"/>
              </a:rPr>
              <a:t>pe.[2]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38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key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ingredient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drinks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f</a:t>
            </a:r>
            <a:r>
              <a:rPr sz="1333" dirty="0">
                <a:latin typeface="Roboto"/>
                <a:cs typeface="Roboto"/>
              </a:rPr>
              <a:t> 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territory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</a:t>
            </a:r>
            <a:r>
              <a:rPr sz="1333" spc="25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lemonade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mering </a:t>
            </a:r>
            <a:r>
              <a:rPr sz="1333" dirty="0">
                <a:latin typeface="Roboto"/>
                <a:cs typeface="Roboto"/>
              </a:rPr>
              <a:t>ing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b</a:t>
            </a:r>
            <a:endParaRPr sz="1333">
              <a:latin typeface="Roboto"/>
              <a:cs typeface="Roboto"/>
            </a:endParaRPr>
          </a:p>
          <a:p>
            <a:pPr marL="2540" marR="27939" indent="16933">
              <a:tabLst>
                <a:tab pos="2982732" algn="l"/>
                <a:tab pos="3030991" algn="l"/>
              </a:tabLst>
            </a:pPr>
            <a:r>
              <a:rPr sz="1333" spc="-27" dirty="0">
                <a:latin typeface="Roboto"/>
                <a:cs typeface="Roboto"/>
              </a:rPr>
              <a:t>nce's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possessions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40" baseline="5555" dirty="0">
                <a:latin typeface="Roboto"/>
                <a:cs typeface="Roboto"/>
              </a:rPr>
              <a:t>operator,</a:t>
            </a:r>
            <a:r>
              <a:rPr sz="2000" baseline="5555" dirty="0">
                <a:latin typeface="Roboto"/>
                <a:cs typeface="Roboto"/>
              </a:rPr>
              <a:t> </a:t>
            </a:r>
            <a:r>
              <a:rPr sz="2000" spc="-49" baseline="5555" dirty="0">
                <a:latin typeface="Roboto"/>
                <a:cs typeface="Roboto"/>
              </a:rPr>
              <a:t>so </a:t>
            </a:r>
            <a:r>
              <a:rPr sz="1333" spc="-27" dirty="0">
                <a:latin typeface="Roboto"/>
                <a:cs typeface="Roboto"/>
              </a:rPr>
              <a:t>ditionally,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prote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20" baseline="5555" dirty="0">
                <a:latin typeface="Roboto"/>
                <a:cs typeface="Roboto"/>
              </a:rPr>
              <a:t>heavier</a:t>
            </a:r>
            <a:r>
              <a:rPr sz="2000" spc="-40" baseline="5555" dirty="0">
                <a:latin typeface="Roboto"/>
                <a:cs typeface="Roboto"/>
              </a:rPr>
              <a:t> </a:t>
            </a:r>
            <a:r>
              <a:rPr sz="2000" spc="-49" baseline="5555" dirty="0">
                <a:latin typeface="Roboto"/>
                <a:cs typeface="Roboto"/>
              </a:rPr>
              <a:t>and </a:t>
            </a:r>
            <a:r>
              <a:rPr sz="1333" spc="-13" dirty="0">
                <a:latin typeface="Roboto"/>
                <a:cs typeface="Roboto"/>
              </a:rPr>
              <a:t>holicism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5555" dirty="0">
                <a:latin typeface="Roboto"/>
                <a:cs typeface="Roboto"/>
              </a:rPr>
              <a:t>were</a:t>
            </a:r>
            <a:r>
              <a:rPr sz="2000" spc="-10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the</a:t>
            </a:r>
            <a:r>
              <a:rPr sz="2000" spc="-100" baseline="5555" dirty="0">
                <a:latin typeface="Roboto"/>
                <a:cs typeface="Roboto"/>
              </a:rPr>
              <a:t> </a:t>
            </a:r>
            <a:r>
              <a:rPr sz="2000" spc="-40" baseline="5555" dirty="0">
                <a:latin typeface="Roboto"/>
                <a:cs typeface="Roboto"/>
              </a:rPr>
              <a:t>weig</a:t>
            </a:r>
            <a:endParaRPr sz="2000" baseline="5555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115" y="725513"/>
            <a:ext cx="3542453" cy="3860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3"/>
              </a:lnSpc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endParaRPr sz="1333">
              <a:latin typeface="Roboto"/>
              <a:cs typeface="Roboto"/>
            </a:endParaRPr>
          </a:p>
          <a:p>
            <a:pPr marR="32173" algn="r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</a:t>
            </a:r>
            <a:endParaRPr sz="1333">
              <a:latin typeface="Roboto"/>
              <a:cs typeface="Roboto"/>
            </a:endParaRPr>
          </a:p>
          <a:p>
            <a:pPr marR="46566" algn="r">
              <a:tabLst>
                <a:tab pos="414856" algn="l"/>
              </a:tabLst>
            </a:pPr>
            <a:r>
              <a:rPr sz="2000" spc="-49" baseline="-8333" dirty="0">
                <a:latin typeface="Roboto"/>
                <a:cs typeface="Roboto"/>
              </a:rPr>
              <a:t>the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1763,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february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by</a:t>
            </a:r>
            <a:endParaRPr sz="1333">
              <a:latin typeface="Roboto"/>
              <a:cs typeface="Roboto"/>
            </a:endParaRPr>
          </a:p>
          <a:p>
            <a:pPr marR="13546" algn="just"/>
            <a:r>
              <a:rPr sz="2000" baseline="-8333" dirty="0">
                <a:latin typeface="Roboto"/>
                <a:cs typeface="Roboto"/>
              </a:rPr>
              <a:t>17</a:t>
            </a:r>
            <a:r>
              <a:rPr sz="2000" spc="759" baseline="-833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kingdoms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spa </a:t>
            </a:r>
            <a:r>
              <a:rPr sz="2000" baseline="-8333" dirty="0">
                <a:latin typeface="Roboto"/>
                <a:cs typeface="Roboto"/>
              </a:rPr>
              <a:t>kin</a:t>
            </a:r>
            <a:r>
              <a:rPr sz="2000" spc="569" baseline="-833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portugal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britain' </a:t>
            </a:r>
            <a:r>
              <a:rPr sz="2000" baseline="-8333" dirty="0">
                <a:latin typeface="Roboto"/>
                <a:cs typeface="Roboto"/>
              </a:rPr>
              <a:t>port</a:t>
            </a:r>
            <a:r>
              <a:rPr sz="2000" spc="609" baseline="-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over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seven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ye</a:t>
            </a:r>
            <a:endParaRPr sz="1333">
              <a:latin typeface="Roboto"/>
              <a:cs typeface="Roboto"/>
            </a:endParaRPr>
          </a:p>
          <a:p>
            <a:pPr>
              <a:lnSpc>
                <a:spcPts val="1507"/>
              </a:lnSpc>
              <a:spcBef>
                <a:spcPts val="180"/>
              </a:spcBef>
            </a:pPr>
            <a:r>
              <a:rPr sz="1333" spc="-27" dirty="0">
                <a:latin typeface="Roboto"/>
                <a:cs typeface="Roboto"/>
              </a:rPr>
              <a:t>over</a:t>
            </a:r>
            <a:endParaRPr sz="1333">
              <a:latin typeface="Roboto"/>
              <a:cs typeface="Roboto"/>
            </a:endParaRPr>
          </a:p>
          <a:p>
            <a:pPr marL="414856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endParaRPr sz="1333">
              <a:latin typeface="Roboto"/>
              <a:cs typeface="Roboto"/>
            </a:endParaRPr>
          </a:p>
          <a:p>
            <a:pPr>
              <a:tabLst>
                <a:tab pos="414856" algn="l"/>
              </a:tabLst>
            </a:pPr>
            <a:r>
              <a:rPr sz="2000" spc="-49" baseline="-8333" dirty="0">
                <a:latin typeface="Roboto"/>
                <a:cs typeface="Roboto"/>
              </a:rPr>
              <a:t>the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 </a:t>
            </a:r>
            <a:r>
              <a:rPr sz="2000" baseline="-8333" dirty="0">
                <a:latin typeface="Roboto"/>
                <a:cs typeface="Roboto"/>
              </a:rPr>
              <a:t>yea</a:t>
            </a:r>
            <a:r>
              <a:rPr sz="2000" spc="329" baseline="-8333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marke </a:t>
            </a:r>
            <a:r>
              <a:rPr sz="2000" spc="-49" baseline="-8333" dirty="0">
                <a:latin typeface="Roboto"/>
                <a:cs typeface="Roboto"/>
              </a:rPr>
              <a:t>the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beginning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 </a:t>
            </a:r>
            <a:r>
              <a:rPr sz="2000" spc="-49" baseline="-8333" dirty="0">
                <a:latin typeface="Roboto"/>
                <a:cs typeface="Roboto"/>
              </a:rPr>
              <a:t>be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europe.[2]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re </a:t>
            </a:r>
            <a:r>
              <a:rPr sz="2000" baseline="-8333" dirty="0">
                <a:latin typeface="Roboto"/>
                <a:cs typeface="Roboto"/>
              </a:rPr>
              <a:t>euro</a:t>
            </a:r>
            <a:r>
              <a:rPr sz="2000" spc="379" baseline="-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territory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 </a:t>
            </a:r>
            <a:r>
              <a:rPr sz="2000" spc="-49" baseline="-8333" dirty="0">
                <a:latin typeface="Roboto"/>
                <a:cs typeface="Roboto"/>
              </a:rPr>
              <a:t>mu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67" dirty="0">
                <a:latin typeface="Roboto"/>
                <a:cs typeface="Roboto"/>
              </a:rPr>
              <a:t> m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dur</a:t>
            </a:r>
            <a:r>
              <a:rPr sz="2000" spc="449" baseline="-8333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france's</a:t>
            </a:r>
            <a:r>
              <a:rPr sz="1333" spc="-13" dirty="0">
                <a:latin typeface="Roboto"/>
                <a:cs typeface="Roboto"/>
              </a:rPr>
              <a:t> possessions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2000" spc="-49" baseline="-8333" dirty="0">
                <a:latin typeface="Roboto"/>
                <a:cs typeface="Roboto"/>
              </a:rPr>
              <a:t>fra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prote </a:t>
            </a:r>
            <a:r>
              <a:rPr sz="2000" spc="-49" baseline="-8333" dirty="0">
                <a:latin typeface="Roboto"/>
                <a:cs typeface="Roboto"/>
              </a:rPr>
              <a:t>ad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catholicism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endParaRPr sz="1333">
              <a:latin typeface="Roboto"/>
              <a:cs typeface="Roboto"/>
            </a:endParaRPr>
          </a:p>
          <a:p>
            <a:pPr>
              <a:lnSpc>
                <a:spcPts val="1540"/>
              </a:lnSpc>
              <a:spcBef>
                <a:spcPts val="187"/>
              </a:spcBef>
            </a:pPr>
            <a:r>
              <a:rPr sz="1333" spc="-33" dirty="0">
                <a:latin typeface="Roboto"/>
                <a:cs typeface="Roboto"/>
              </a:rPr>
              <a:t>cat</a:t>
            </a:r>
            <a:endParaRPr sz="1333">
              <a:latin typeface="Roboto"/>
              <a:cs typeface="Roboto"/>
            </a:endParaRPr>
          </a:p>
          <a:p>
            <a:pPr marL="3215560">
              <a:lnSpc>
                <a:spcPts val="1540"/>
              </a:lnSpc>
            </a:pP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80" dirty="0">
                <a:latin typeface="Roboto"/>
                <a:cs typeface="Roboto"/>
              </a:rPr>
              <a:t>s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99697" y="905481"/>
            <a:ext cx="4086860" cy="3710630"/>
          </a:xfrm>
          <a:prstGeom prst="rect">
            <a:avLst/>
          </a:prstGeom>
        </p:spPr>
        <p:txBody>
          <a:bodyPr vert="horz" wrap="square" lIns="0" tIns="43179" rIns="0" bIns="0" rtlCol="0">
            <a:spAutoFit/>
          </a:bodyPr>
          <a:lstStyle/>
          <a:p>
            <a:pPr marL="1231023" indent="-27939">
              <a:lnSpc>
                <a:spcPts val="1387"/>
              </a:lnSpc>
              <a:spcBef>
                <a:spcPts val="339"/>
              </a:spcBef>
              <a:tabLst>
                <a:tab pos="1930352" algn="l"/>
                <a:tab pos="3704074" algn="l"/>
              </a:tabLst>
            </a:pPr>
            <a:r>
              <a:rPr sz="2000" baseline="8333" dirty="0">
                <a:latin typeface="Roboto"/>
                <a:cs typeface="Roboto"/>
              </a:rPr>
              <a:t>ty</a:t>
            </a:r>
            <a:r>
              <a:rPr sz="2000" spc="-109" baseline="8333" dirty="0">
                <a:latin typeface="Roboto"/>
                <a:cs typeface="Roboto"/>
              </a:rPr>
              <a:t> </a:t>
            </a:r>
            <a:r>
              <a:rPr sz="2000" spc="-69" baseline="8333" dirty="0">
                <a:latin typeface="Roboto"/>
                <a:cs typeface="Roboto"/>
              </a:rPr>
              <a:t>of</a:t>
            </a:r>
            <a:r>
              <a:rPr sz="2000" baseline="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a,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north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60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(l.)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o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	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fl</a:t>
            </a:r>
            <a:endParaRPr sz="1333">
              <a:latin typeface="Roboto"/>
              <a:cs typeface="Roboto"/>
            </a:endParaRPr>
          </a:p>
          <a:p>
            <a:pPr marL="10160">
              <a:lnSpc>
                <a:spcPts val="1587"/>
              </a:lnSpc>
              <a:tabLst>
                <a:tab pos="1193770" algn="l"/>
                <a:tab pos="3660895" algn="l"/>
              </a:tabLst>
            </a:pPr>
            <a:r>
              <a:rPr sz="2000" baseline="27777" dirty="0">
                <a:latin typeface="Roboto"/>
                <a:cs typeface="Roboto"/>
              </a:rPr>
              <a:t>e</a:t>
            </a:r>
            <a:r>
              <a:rPr sz="2000" spc="-9" baseline="27777" dirty="0">
                <a:latin typeface="Roboto"/>
                <a:cs typeface="Roboto"/>
              </a:rPr>
              <a:t> </a:t>
            </a:r>
            <a:r>
              <a:rPr sz="2000" spc="-40" baseline="27777" dirty="0">
                <a:latin typeface="Roboto"/>
                <a:cs typeface="Roboto"/>
              </a:rPr>
              <a:t>treaty</a:t>
            </a:r>
            <a:r>
              <a:rPr sz="2000" baseline="27777" dirty="0">
                <a:latin typeface="Roboto"/>
                <a:cs typeface="Roboto"/>
              </a:rPr>
              <a:t> </a:t>
            </a:r>
            <a:r>
              <a:rPr sz="2000" spc="-49" baseline="27777" dirty="0">
                <a:latin typeface="Roboto"/>
                <a:cs typeface="Roboto"/>
              </a:rPr>
              <a:t>of</a:t>
            </a:r>
            <a:r>
              <a:rPr sz="2000" baseline="27777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in,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with</a:t>
            </a:r>
            <a:r>
              <a:rPr sz="1333" dirty="0">
                <a:latin typeface="Roboto"/>
                <a:cs typeface="Roboto"/>
              </a:rPr>
              <a:t>	th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as</a:t>
            </a:r>
            <a:endParaRPr sz="1333">
              <a:latin typeface="Roboto"/>
              <a:cs typeface="Roboto"/>
            </a:endParaRPr>
          </a:p>
          <a:p>
            <a:pPr marL="14393">
              <a:spcBef>
                <a:spcPts val="213"/>
              </a:spcBef>
              <a:tabLst>
                <a:tab pos="1162444" algn="l"/>
                <a:tab pos="1978611" algn="l"/>
              </a:tabLst>
            </a:pPr>
            <a:r>
              <a:rPr sz="2000" baseline="36111" dirty="0">
                <a:latin typeface="Roboto"/>
                <a:cs typeface="Roboto"/>
              </a:rPr>
              <a:t>63</a:t>
            </a:r>
            <a:r>
              <a:rPr sz="2000" spc="-69" baseline="36111" dirty="0">
                <a:latin typeface="Roboto"/>
                <a:cs typeface="Roboto"/>
              </a:rPr>
              <a:t> </a:t>
            </a:r>
            <a:r>
              <a:rPr sz="2000" baseline="36111" dirty="0">
                <a:latin typeface="Roboto"/>
                <a:cs typeface="Roboto"/>
              </a:rPr>
              <a:t>by</a:t>
            </a:r>
            <a:r>
              <a:rPr sz="2000" spc="-69" baseline="36111" dirty="0">
                <a:latin typeface="Roboto"/>
                <a:cs typeface="Roboto"/>
              </a:rPr>
              <a:t> </a:t>
            </a:r>
            <a:r>
              <a:rPr sz="2000" spc="-49" baseline="36111" dirty="0">
                <a:latin typeface="Roboto"/>
                <a:cs typeface="Roboto"/>
              </a:rPr>
              <a:t>the</a:t>
            </a:r>
            <a:r>
              <a:rPr sz="2000" baseline="36111" dirty="0">
                <a:latin typeface="Roboto"/>
                <a:cs typeface="Roboto"/>
              </a:rPr>
              <a:t>	</a:t>
            </a:r>
            <a:r>
              <a:rPr sz="2000" baseline="8333" dirty="0">
                <a:latin typeface="Roboto"/>
                <a:cs typeface="Roboto"/>
              </a:rPr>
              <a:t>s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spc="-20" baseline="8333" dirty="0">
                <a:latin typeface="Roboto"/>
                <a:cs typeface="Roboto"/>
              </a:rPr>
              <a:t>victory</a:t>
            </a:r>
            <a:r>
              <a:rPr sz="2000" baseline="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uit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endParaRPr sz="1333">
              <a:latin typeface="Roboto"/>
              <a:cs typeface="Roboto"/>
            </a:endParaRPr>
          </a:p>
          <a:p>
            <a:pPr marL="13546">
              <a:lnSpc>
                <a:spcPts val="1153"/>
              </a:lnSpc>
              <a:tabLst>
                <a:tab pos="1221709" algn="l"/>
              </a:tabLst>
            </a:pPr>
            <a:r>
              <a:rPr sz="2000" baseline="36111" dirty="0">
                <a:latin typeface="Roboto"/>
                <a:cs typeface="Roboto"/>
              </a:rPr>
              <a:t>d</a:t>
            </a:r>
            <a:r>
              <a:rPr sz="2000" spc="-29" baseline="36111" dirty="0">
                <a:latin typeface="Roboto"/>
                <a:cs typeface="Roboto"/>
              </a:rPr>
              <a:t> </a:t>
            </a:r>
            <a:r>
              <a:rPr sz="2000" spc="-20" baseline="36111" dirty="0">
                <a:latin typeface="Roboto"/>
                <a:cs typeface="Roboto"/>
              </a:rPr>
              <a:t>spain,</a:t>
            </a:r>
            <a:r>
              <a:rPr sz="2000" spc="-29" baseline="36111" dirty="0">
                <a:latin typeface="Roboto"/>
                <a:cs typeface="Roboto"/>
              </a:rPr>
              <a:t> </a:t>
            </a:r>
            <a:r>
              <a:rPr sz="2000" spc="-40" baseline="36111" dirty="0">
                <a:latin typeface="Roboto"/>
                <a:cs typeface="Roboto"/>
              </a:rPr>
              <a:t>with</a:t>
            </a:r>
            <a:r>
              <a:rPr sz="2000" baseline="36111" dirty="0">
                <a:latin typeface="Roboto"/>
                <a:cs typeface="Roboto"/>
              </a:rPr>
              <a:t>	</a:t>
            </a:r>
            <a:r>
              <a:rPr sz="2000" spc="-20" baseline="8333" dirty="0">
                <a:latin typeface="Roboto"/>
                <a:cs typeface="Roboto"/>
              </a:rPr>
              <a:t>ars'</a:t>
            </a:r>
            <a:r>
              <a:rPr sz="2000" spc="-5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war.</a:t>
            </a:r>
            <a:r>
              <a:rPr sz="2000" spc="900" baseline="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poses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throughout</a:t>
            </a:r>
            <a:endParaRPr sz="1333">
              <a:latin typeface="Roboto"/>
              <a:cs typeface="Roboto"/>
            </a:endParaRPr>
          </a:p>
          <a:p>
            <a:pPr>
              <a:lnSpc>
                <a:spcPts val="1153"/>
              </a:lnSpc>
              <a:tabLst>
                <a:tab pos="1945591" algn="l"/>
                <a:tab pos="3698148" algn="l"/>
              </a:tabLst>
            </a:pPr>
            <a:r>
              <a:rPr sz="1333" spc="-40" dirty="0">
                <a:latin typeface="Roboto"/>
                <a:cs typeface="Roboto"/>
              </a:rPr>
              <a:t>ritain's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victory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36111" dirty="0">
                <a:latin typeface="Roboto"/>
                <a:cs typeface="Roboto"/>
              </a:rPr>
              <a:t>ce,</a:t>
            </a:r>
            <a:r>
              <a:rPr sz="2000" spc="-69" baseline="-36111" dirty="0">
                <a:latin typeface="Roboto"/>
                <a:cs typeface="Roboto"/>
              </a:rPr>
              <a:t> </a:t>
            </a:r>
            <a:r>
              <a:rPr sz="2000" spc="-20" baseline="-36111" dirty="0">
                <a:latin typeface="Roboto"/>
                <a:cs typeface="Roboto"/>
              </a:rPr>
              <a:t>which</a:t>
            </a:r>
            <a:r>
              <a:rPr sz="2000" spc="-69" baseline="-36111" dirty="0">
                <a:latin typeface="Roboto"/>
                <a:cs typeface="Roboto"/>
              </a:rPr>
              <a:t> </a:t>
            </a:r>
            <a:r>
              <a:rPr sz="2000" baseline="-36111" dirty="0">
                <a:latin typeface="Roboto"/>
                <a:cs typeface="Roboto"/>
              </a:rPr>
              <a:t>has</a:t>
            </a:r>
            <a:r>
              <a:rPr sz="2000" spc="-69" baseline="-36111" dirty="0">
                <a:latin typeface="Roboto"/>
                <a:cs typeface="Roboto"/>
              </a:rPr>
              <a:t> </a:t>
            </a:r>
            <a:r>
              <a:rPr sz="2000" spc="-40" baseline="-36111" dirty="0">
                <a:latin typeface="Roboto"/>
                <a:cs typeface="Roboto"/>
              </a:rPr>
              <a:t>both</a:t>
            </a:r>
            <a:r>
              <a:rPr sz="2000" baseline="-36111" dirty="0">
                <a:latin typeface="Roboto"/>
                <a:cs typeface="Roboto"/>
              </a:rPr>
              <a:t>	</a:t>
            </a:r>
            <a:r>
              <a:rPr sz="2000" baseline="-27777" dirty="0">
                <a:latin typeface="Roboto"/>
                <a:cs typeface="Roboto"/>
              </a:rPr>
              <a:t>low</a:t>
            </a:r>
            <a:r>
              <a:rPr sz="2000" spc="-69" baseline="-27777" dirty="0">
                <a:latin typeface="Roboto"/>
                <a:cs typeface="Roboto"/>
              </a:rPr>
              <a:t> </a:t>
            </a:r>
            <a:r>
              <a:rPr sz="2000" spc="-100" baseline="-27777" dirty="0">
                <a:latin typeface="Roboto"/>
                <a:cs typeface="Roboto"/>
              </a:rPr>
              <a:t>f</a:t>
            </a:r>
            <a:endParaRPr sz="2000" baseline="-27777">
              <a:latin typeface="Roboto"/>
              <a:cs typeface="Roboto"/>
            </a:endParaRPr>
          </a:p>
          <a:p>
            <a:pPr marL="1181070" marR="28786" indent="-1122652">
              <a:spcBef>
                <a:spcPts val="887"/>
              </a:spcBef>
              <a:tabLst>
                <a:tab pos="1994697" algn="l"/>
                <a:tab pos="3687141" algn="l"/>
              </a:tabLst>
            </a:pPr>
            <a:r>
              <a:rPr sz="2000" baseline="36111" dirty="0">
                <a:latin typeface="Roboto"/>
                <a:cs typeface="Roboto"/>
              </a:rPr>
              <a:t>en</a:t>
            </a:r>
            <a:r>
              <a:rPr sz="2000" spc="-69" baseline="36111" dirty="0">
                <a:latin typeface="Roboto"/>
                <a:cs typeface="Roboto"/>
              </a:rPr>
              <a:t> </a:t>
            </a:r>
            <a:r>
              <a:rPr sz="2000" spc="-40" baseline="36111" dirty="0">
                <a:latin typeface="Roboto"/>
                <a:cs typeface="Roboto"/>
              </a:rPr>
              <a:t>years'</a:t>
            </a:r>
            <a:r>
              <a:rPr sz="2000" spc="-49" baseline="36111" dirty="0">
                <a:latin typeface="Roboto"/>
                <a:cs typeface="Roboto"/>
              </a:rPr>
              <a:t> </a:t>
            </a:r>
            <a:r>
              <a:rPr sz="2000" baseline="36111" dirty="0">
                <a:latin typeface="Roboto"/>
                <a:cs typeface="Roboto"/>
              </a:rPr>
              <a:t>war.</a:t>
            </a:r>
            <a:r>
              <a:rPr sz="2000" spc="300" baseline="36111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he</a:t>
            </a:r>
            <a:r>
              <a:rPr sz="2000" spc="-59" baseline="8333" dirty="0">
                <a:latin typeface="Roboto"/>
                <a:cs typeface="Roboto"/>
              </a:rPr>
              <a:t> </a:t>
            </a:r>
            <a:r>
              <a:rPr sz="2000" spc="-40" baseline="8333" dirty="0">
                <a:latin typeface="Roboto"/>
                <a:cs typeface="Roboto"/>
              </a:rPr>
              <a:t>seven</a:t>
            </a:r>
            <a:r>
              <a:rPr sz="2000" baseline="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pulp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rind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60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ry</a:t>
            </a:r>
            <a:r>
              <a:rPr sz="2000" spc="-8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p n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war</a:t>
            </a:r>
            <a:r>
              <a:rPr sz="2000" spc="-40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in</a:t>
            </a:r>
            <a:r>
              <a:rPr sz="2000" spc="379" baseline="8333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baking.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8333" dirty="0">
                <a:latin typeface="Roboto"/>
                <a:cs typeface="Roboto"/>
              </a:rPr>
              <a:t>its</a:t>
            </a:r>
            <a:r>
              <a:rPr sz="2000" spc="-100" baseline="8333" dirty="0">
                <a:latin typeface="Roboto"/>
                <a:cs typeface="Roboto"/>
              </a:rPr>
              <a:t> </a:t>
            </a:r>
            <a:r>
              <a:rPr sz="2000" spc="-49" baseline="8333" dirty="0">
                <a:latin typeface="Roboto"/>
                <a:cs typeface="Roboto"/>
              </a:rPr>
              <a:t>ju</a:t>
            </a:r>
            <a:endParaRPr sz="2000" baseline="8333">
              <a:latin typeface="Roboto"/>
              <a:cs typeface="Roboto"/>
            </a:endParaRPr>
          </a:p>
          <a:p>
            <a:pPr marL="49952" indent="-45719">
              <a:tabLst>
                <a:tab pos="1187844" algn="l"/>
                <a:tab pos="1943898" algn="l"/>
                <a:tab pos="1972684" algn="l"/>
                <a:tab pos="3659202" algn="l"/>
                <a:tab pos="3687141" algn="l"/>
              </a:tabLst>
            </a:pPr>
            <a:r>
              <a:rPr sz="2000" baseline="36111" dirty="0">
                <a:latin typeface="Roboto"/>
                <a:cs typeface="Roboto"/>
              </a:rPr>
              <a:t>ded</a:t>
            </a:r>
            <a:r>
              <a:rPr sz="2000" spc="-59" baseline="36111" dirty="0">
                <a:latin typeface="Roboto"/>
                <a:cs typeface="Roboto"/>
              </a:rPr>
              <a:t> </a:t>
            </a:r>
            <a:r>
              <a:rPr sz="2000" baseline="36111" dirty="0">
                <a:latin typeface="Roboto"/>
                <a:cs typeface="Roboto"/>
              </a:rPr>
              <a:t>the</a:t>
            </a:r>
            <a:r>
              <a:rPr sz="2000" spc="-49" baseline="36111" dirty="0">
                <a:latin typeface="Roboto"/>
                <a:cs typeface="Roboto"/>
              </a:rPr>
              <a:t> </a:t>
            </a:r>
            <a:r>
              <a:rPr sz="2000" baseline="36111" dirty="0">
                <a:latin typeface="Roboto"/>
                <a:cs typeface="Roboto"/>
              </a:rPr>
              <a:t>seven</a:t>
            </a:r>
            <a:r>
              <a:rPr sz="2000" spc="829" baseline="36111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d</a:t>
            </a:r>
            <a:r>
              <a:rPr sz="2000" spc="-49" baseline="8333" dirty="0">
                <a:latin typeface="Roboto"/>
                <a:cs typeface="Roboto"/>
              </a:rPr>
              <a:t> the</a:t>
            </a:r>
            <a:r>
              <a:rPr sz="2000" baseline="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%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6%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acid,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20" baseline="8333" dirty="0">
                <a:latin typeface="Roboto"/>
                <a:cs typeface="Roboto"/>
              </a:rPr>
              <a:t>ses.[ </a:t>
            </a:r>
            <a:r>
              <a:rPr sz="2000" spc="-20" baseline="36111" dirty="0">
                <a:latin typeface="Roboto"/>
                <a:cs typeface="Roboto"/>
              </a:rPr>
              <a:t>indian</a:t>
            </a:r>
            <a:r>
              <a:rPr sz="2000" spc="-80" baseline="36111" dirty="0">
                <a:latin typeface="Roboto"/>
                <a:cs typeface="Roboto"/>
              </a:rPr>
              <a:t> </a:t>
            </a:r>
            <a:r>
              <a:rPr sz="2000" baseline="36111" dirty="0">
                <a:latin typeface="Roboto"/>
                <a:cs typeface="Roboto"/>
              </a:rPr>
              <a:t>war</a:t>
            </a:r>
            <a:r>
              <a:rPr sz="2000" spc="-69" baseline="36111" dirty="0">
                <a:latin typeface="Roboto"/>
                <a:cs typeface="Roboto"/>
              </a:rPr>
              <a:t> </a:t>
            </a:r>
            <a:r>
              <a:rPr sz="2000" spc="-49" baseline="36111" dirty="0">
                <a:latin typeface="Roboto"/>
                <a:cs typeface="Roboto"/>
              </a:rPr>
              <a:t>in</a:t>
            </a:r>
            <a:r>
              <a:rPr sz="2000" baseline="36111" dirty="0">
                <a:latin typeface="Roboto"/>
                <a:cs typeface="Roboto"/>
              </a:rPr>
              <a:t>	</a:t>
            </a:r>
            <a:r>
              <a:rPr sz="2000" spc="-20" baseline="8333" dirty="0">
                <a:latin typeface="Roboto"/>
                <a:cs typeface="Roboto"/>
              </a:rPr>
              <a:t>outside</a:t>
            </a:r>
            <a:r>
              <a:rPr sz="2000" baseline="8333" dirty="0">
                <a:latin typeface="Roboto"/>
                <a:cs typeface="Roboto"/>
              </a:rPr>
              <a:t>		</a:t>
            </a:r>
            <a:r>
              <a:rPr sz="1333" dirty="0">
                <a:latin typeface="Roboto"/>
                <a:cs typeface="Roboto"/>
              </a:rPr>
              <a:t>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0" baseline="8333" dirty="0">
                <a:latin typeface="Roboto"/>
                <a:cs typeface="Roboto"/>
              </a:rPr>
              <a:t>cook</a:t>
            </a:r>
            <a:endParaRPr sz="2000" baseline="8333">
              <a:latin typeface="Roboto"/>
              <a:cs typeface="Roboto"/>
            </a:endParaRPr>
          </a:p>
          <a:p>
            <a:pPr marL="13546" indent="61805">
              <a:lnSpc>
                <a:spcPct val="44500"/>
              </a:lnSpc>
              <a:spcBef>
                <a:spcPts val="887"/>
              </a:spcBef>
              <a:tabLst>
                <a:tab pos="1189537" algn="l"/>
                <a:tab pos="1246261" algn="l"/>
                <a:tab pos="1907492" algn="l"/>
                <a:tab pos="1968451" algn="l"/>
                <a:tab pos="3609250" algn="l"/>
                <a:tab pos="3686295" algn="l"/>
              </a:tabLst>
            </a:pPr>
            <a:r>
              <a:rPr sz="2000" baseline="36111" dirty="0">
                <a:latin typeface="Roboto"/>
                <a:cs typeface="Roboto"/>
              </a:rPr>
              <a:t>arked</a:t>
            </a:r>
            <a:r>
              <a:rPr sz="2000" spc="-119" baseline="36111" dirty="0">
                <a:latin typeface="Roboto"/>
                <a:cs typeface="Roboto"/>
              </a:rPr>
              <a:t> </a:t>
            </a:r>
            <a:r>
              <a:rPr sz="2000" spc="-49" baseline="36111" dirty="0">
                <a:latin typeface="Roboto"/>
                <a:cs typeface="Roboto"/>
              </a:rPr>
              <a:t>the</a:t>
            </a:r>
            <a:r>
              <a:rPr sz="2000" baseline="36111" dirty="0">
                <a:latin typeface="Roboto"/>
                <a:cs typeface="Roboto"/>
              </a:rPr>
              <a:t>		</a:t>
            </a:r>
            <a:r>
              <a:rPr sz="2000" spc="-20" baseline="8333" dirty="0">
                <a:latin typeface="Roboto"/>
                <a:cs typeface="Roboto"/>
              </a:rPr>
              <a:t>turned</a:t>
            </a:r>
            <a:r>
              <a:rPr sz="2000" baseline="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makes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8333" dirty="0">
                <a:latin typeface="Roboto"/>
                <a:cs typeface="Roboto"/>
              </a:rPr>
              <a:t>bout</a:t>
            </a:r>
            <a:r>
              <a:rPr sz="2000" spc="-89" baseline="8333" dirty="0">
                <a:latin typeface="Roboto"/>
                <a:cs typeface="Roboto"/>
              </a:rPr>
              <a:t> </a:t>
            </a:r>
            <a:r>
              <a:rPr sz="2000" spc="-100" baseline="8333" dirty="0">
                <a:latin typeface="Roboto"/>
                <a:cs typeface="Roboto"/>
              </a:rPr>
              <a:t>5</a:t>
            </a:r>
            <a:r>
              <a:rPr sz="2000" baseline="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ance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outside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-27777" dirty="0">
                <a:latin typeface="Roboto"/>
                <a:cs typeface="Roboto"/>
              </a:rPr>
              <a:t>ed</a:t>
            </a:r>
            <a:r>
              <a:rPr sz="2000" baseline="-27777" dirty="0">
                <a:latin typeface="Roboto"/>
                <a:cs typeface="Roboto"/>
              </a:rPr>
              <a:t>		</a:t>
            </a:r>
            <a:r>
              <a:rPr sz="2000" baseline="-36111" dirty="0">
                <a:latin typeface="Roboto"/>
                <a:cs typeface="Roboto"/>
              </a:rPr>
              <a:t>oods</a:t>
            </a:r>
            <a:r>
              <a:rPr sz="2000" spc="-49" baseline="-36111" dirty="0">
                <a:latin typeface="Roboto"/>
                <a:cs typeface="Roboto"/>
              </a:rPr>
              <a:t> </a:t>
            </a:r>
            <a:r>
              <a:rPr sz="2000" spc="-20" baseline="-36111" dirty="0">
                <a:latin typeface="Roboto"/>
                <a:cs typeface="Roboto"/>
              </a:rPr>
              <a:t>such</a:t>
            </a:r>
            <a:r>
              <a:rPr sz="2000" spc="-40" baseline="-36111" dirty="0">
                <a:latin typeface="Roboto"/>
                <a:cs typeface="Roboto"/>
              </a:rPr>
              <a:t> </a:t>
            </a:r>
            <a:r>
              <a:rPr sz="2000" spc="-49" baseline="-36111" dirty="0">
                <a:latin typeface="Roboto"/>
                <a:cs typeface="Roboto"/>
              </a:rPr>
              <a:t>as</a:t>
            </a:r>
            <a:r>
              <a:rPr sz="2000" baseline="-36111" dirty="0">
                <a:latin typeface="Roboto"/>
                <a:cs typeface="Roboto"/>
              </a:rPr>
              <a:t>		</a:t>
            </a:r>
            <a:r>
              <a:rPr sz="2000" baseline="-27777" dirty="0">
                <a:latin typeface="Roboto"/>
                <a:cs typeface="Roboto"/>
              </a:rPr>
              <a:t>,</a:t>
            </a:r>
            <a:r>
              <a:rPr sz="2000" spc="-20" baseline="-27777" dirty="0">
                <a:latin typeface="Roboto"/>
                <a:cs typeface="Roboto"/>
              </a:rPr>
              <a:t> </a:t>
            </a:r>
            <a:r>
              <a:rPr sz="2000" spc="-40" baseline="-27777" dirty="0">
                <a:latin typeface="Roboto"/>
                <a:cs typeface="Roboto"/>
              </a:rPr>
              <a:t>givi</a:t>
            </a:r>
            <a:endParaRPr sz="2000" baseline="-27777">
              <a:latin typeface="Roboto"/>
              <a:cs typeface="Roboto"/>
            </a:endParaRPr>
          </a:p>
          <a:p>
            <a:pPr marL="16086">
              <a:tabLst>
                <a:tab pos="1184457" algn="l"/>
                <a:tab pos="1967604" algn="l"/>
                <a:tab pos="3669362" algn="l"/>
              </a:tabLst>
            </a:pPr>
            <a:r>
              <a:rPr sz="1333" dirty="0">
                <a:latin typeface="Roboto"/>
                <a:cs typeface="Roboto"/>
              </a:rPr>
              <a:t>ach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returned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27777" dirty="0">
                <a:latin typeface="Roboto"/>
                <a:cs typeface="Roboto"/>
              </a:rPr>
              <a:t>uch</a:t>
            </a:r>
            <a:r>
              <a:rPr sz="2000" spc="-100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of</a:t>
            </a:r>
            <a:r>
              <a:rPr sz="2000" baseline="-27777" dirty="0">
                <a:latin typeface="Roboto"/>
                <a:cs typeface="Roboto"/>
              </a:rPr>
              <a:t>	</a:t>
            </a:r>
            <a:r>
              <a:rPr sz="2000" baseline="-36111" dirty="0">
                <a:latin typeface="Roboto"/>
                <a:cs typeface="Roboto"/>
              </a:rPr>
              <a:t>ue</a:t>
            </a:r>
            <a:r>
              <a:rPr sz="2000" spc="-49" baseline="-36111" dirty="0">
                <a:latin typeface="Roboto"/>
                <a:cs typeface="Roboto"/>
              </a:rPr>
              <a:t> </a:t>
            </a:r>
            <a:r>
              <a:rPr sz="2000" spc="-20" baseline="-36111" dirty="0">
                <a:latin typeface="Roboto"/>
                <a:cs typeface="Roboto"/>
              </a:rPr>
              <a:t>pie...</a:t>
            </a:r>
            <a:r>
              <a:rPr sz="2000" baseline="-36111" dirty="0">
                <a:latin typeface="Roboto"/>
                <a:cs typeface="Roboto"/>
              </a:rPr>
              <a:t>	</a:t>
            </a:r>
            <a:r>
              <a:rPr sz="2000" baseline="-27777" dirty="0">
                <a:latin typeface="Roboto"/>
                <a:cs typeface="Roboto"/>
              </a:rPr>
              <a:t>f</a:t>
            </a:r>
            <a:r>
              <a:rPr sz="2000" spc="20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lem</a:t>
            </a:r>
            <a:endParaRPr sz="2000" baseline="-27777">
              <a:latin typeface="Roboto"/>
              <a:cs typeface="Roboto"/>
            </a:endParaRPr>
          </a:p>
          <a:p>
            <a:pPr marL="29633">
              <a:tabLst>
                <a:tab pos="3728627" algn="l"/>
              </a:tabLst>
            </a:pPr>
            <a:r>
              <a:rPr sz="1333" spc="-13" dirty="0">
                <a:latin typeface="Roboto"/>
                <a:cs typeface="Roboto"/>
              </a:rPr>
              <a:t>aptured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-27777" dirty="0">
                <a:latin typeface="Roboto"/>
                <a:cs typeface="Roboto"/>
              </a:rPr>
              <a:t>and</a:t>
            </a:r>
            <a:endParaRPr sz="2000" baseline="-27777">
              <a:latin typeface="Roboto"/>
              <a:cs typeface="Roboto"/>
            </a:endParaRPr>
          </a:p>
          <a:p>
            <a:pPr marL="12700" marR="60112" indent="27093">
              <a:lnSpc>
                <a:spcPct val="57799"/>
              </a:lnSpc>
              <a:spcBef>
                <a:spcPts val="1353"/>
              </a:spcBef>
              <a:tabLst>
                <a:tab pos="1138738" algn="l"/>
              </a:tabLst>
            </a:pPr>
            <a:r>
              <a:rPr sz="2000" baseline="27777" dirty="0">
                <a:latin typeface="Roboto"/>
                <a:cs typeface="Roboto"/>
              </a:rPr>
              <a:t>ed</a:t>
            </a:r>
            <a:r>
              <a:rPr sz="2000" spc="-59" baseline="27777" dirty="0">
                <a:latin typeface="Roboto"/>
                <a:cs typeface="Roboto"/>
              </a:rPr>
              <a:t> </a:t>
            </a:r>
            <a:r>
              <a:rPr sz="2000" baseline="27777" dirty="0">
                <a:latin typeface="Roboto"/>
                <a:cs typeface="Roboto"/>
              </a:rPr>
              <a:t>much</a:t>
            </a:r>
            <a:r>
              <a:rPr sz="2000" spc="-59" baseline="27777" dirty="0">
                <a:latin typeface="Roboto"/>
                <a:cs typeface="Roboto"/>
              </a:rPr>
              <a:t> </a:t>
            </a:r>
            <a:r>
              <a:rPr sz="2000" spc="-49" baseline="27777" dirty="0">
                <a:latin typeface="Roboto"/>
                <a:cs typeface="Roboto"/>
              </a:rPr>
              <a:t>of</a:t>
            </a:r>
            <a:r>
              <a:rPr sz="2000" baseline="27777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ct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roman</a:t>
            </a:r>
            <a:r>
              <a:rPr sz="1333" spc="227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lemonade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merin </a:t>
            </a:r>
            <a:r>
              <a:rPr sz="1333" spc="-33" dirty="0">
                <a:latin typeface="Roboto"/>
                <a:cs typeface="Roboto"/>
              </a:rPr>
              <a:t>ca.</a:t>
            </a:r>
            <a:endParaRPr sz="1333">
              <a:latin typeface="Roboto"/>
              <a:cs typeface="Roboto"/>
            </a:endParaRPr>
          </a:p>
          <a:p>
            <a:pPr marL="1228483" marR="91438" indent="-1156518">
              <a:spcBef>
                <a:spcPts val="740"/>
              </a:spcBef>
              <a:tabLst>
                <a:tab pos="1955751" algn="l"/>
              </a:tabLst>
            </a:pPr>
            <a:r>
              <a:rPr sz="2000" spc="-20" baseline="30555" dirty="0">
                <a:latin typeface="Roboto"/>
                <a:cs typeface="Roboto"/>
              </a:rPr>
              <a:t>rotect</a:t>
            </a:r>
            <a:r>
              <a:rPr sz="2000" spc="-29" baseline="30555" dirty="0">
                <a:latin typeface="Roboto"/>
                <a:cs typeface="Roboto"/>
              </a:rPr>
              <a:t> </a:t>
            </a:r>
            <a:r>
              <a:rPr sz="2000" spc="-20" baseline="30555" dirty="0">
                <a:latin typeface="Roboto"/>
                <a:cs typeface="Roboto"/>
              </a:rPr>
              <a:t>roman</a:t>
            </a:r>
            <a:r>
              <a:rPr sz="2000" baseline="30555" dirty="0">
                <a:latin typeface="Roboto"/>
                <a:cs typeface="Roboto"/>
              </a:rPr>
              <a:t>		</a:t>
            </a:r>
            <a:r>
              <a:rPr sz="1333" dirty="0">
                <a:latin typeface="Roboto"/>
                <a:cs typeface="Roboto"/>
              </a:rPr>
              <a:t>ht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entirely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op </a:t>
            </a:r>
            <a:r>
              <a:rPr sz="1333" dirty="0">
                <a:latin typeface="Roboto"/>
                <a:cs typeface="Roboto"/>
              </a:rPr>
              <a:t>uch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second-</a:t>
            </a:r>
            <a:r>
              <a:rPr sz="1333" spc="-27" dirty="0">
                <a:latin typeface="Roboto"/>
                <a:cs typeface="Roboto"/>
              </a:rPr>
              <a:t>class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lever...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38638" y="366617"/>
            <a:ext cx="3990340" cy="3712633"/>
            <a:chOff x="3403978" y="274962"/>
            <a:chExt cx="2992755" cy="2784475"/>
          </a:xfrm>
        </p:grpSpPr>
        <p:sp>
          <p:nvSpPr>
            <p:cNvPr id="15" name="object 15"/>
            <p:cNvSpPr/>
            <p:nvPr/>
          </p:nvSpPr>
          <p:spPr>
            <a:xfrm>
              <a:off x="3413503" y="284487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2973599" y="2765100"/>
                  </a:moveTo>
                  <a:lnTo>
                    <a:pt x="0" y="2765100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7651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13503" y="284487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0" y="0"/>
                  </a:moveTo>
                  <a:lnTo>
                    <a:pt x="2973599" y="0"/>
                  </a:lnTo>
                  <a:lnTo>
                    <a:pt x="2973599" y="2765100"/>
                  </a:lnTo>
                  <a:lnTo>
                    <a:pt x="0" y="27651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397009" y="-12699"/>
            <a:ext cx="3990340" cy="3712633"/>
            <a:chOff x="1797756" y="-9525"/>
            <a:chExt cx="2992755" cy="2784475"/>
          </a:xfrm>
        </p:grpSpPr>
        <p:sp>
          <p:nvSpPr>
            <p:cNvPr id="18" name="object 18"/>
            <p:cNvSpPr/>
            <p:nvPr/>
          </p:nvSpPr>
          <p:spPr>
            <a:xfrm>
              <a:off x="1807281" y="0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2973599" y="2765099"/>
                  </a:moveTo>
                  <a:lnTo>
                    <a:pt x="0" y="2765099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7650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7281" y="0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0" y="0"/>
                  </a:moveTo>
                  <a:lnTo>
                    <a:pt x="2973599" y="0"/>
                  </a:lnTo>
                  <a:lnTo>
                    <a:pt x="2973599" y="2765099"/>
                  </a:lnTo>
                  <a:lnTo>
                    <a:pt x="0" y="2765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92298" y="366617"/>
            <a:ext cx="3990340" cy="4075007"/>
            <a:chOff x="519223" y="274962"/>
            <a:chExt cx="2992755" cy="3056255"/>
          </a:xfrm>
        </p:grpSpPr>
        <p:sp>
          <p:nvSpPr>
            <p:cNvPr id="21" name="object 21"/>
            <p:cNvSpPr/>
            <p:nvPr/>
          </p:nvSpPr>
          <p:spPr>
            <a:xfrm>
              <a:off x="528748" y="284487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2973599" y="3036599"/>
                  </a:moveTo>
                  <a:lnTo>
                    <a:pt x="0" y="3036599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30365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8748" y="284487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0" y="0"/>
                  </a:moveTo>
                  <a:lnTo>
                    <a:pt x="2973599" y="0"/>
                  </a:lnTo>
                  <a:lnTo>
                    <a:pt x="2973599" y="3036599"/>
                  </a:lnTo>
                  <a:lnTo>
                    <a:pt x="0" y="303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6873" y="499081"/>
            <a:ext cx="4139353" cy="3577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757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 (1763)</a:t>
            </a:r>
            <a:endParaRPr sz="1333">
              <a:latin typeface="Roboto"/>
              <a:cs typeface="Roboto"/>
            </a:endParaRPr>
          </a:p>
          <a:p>
            <a:pPr marL="99904">
              <a:spcBef>
                <a:spcPts val="920"/>
              </a:spcBef>
            </a:pP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 </a:t>
            </a:r>
            <a:r>
              <a:rPr sz="1333" spc="-13" dirty="0">
                <a:latin typeface="Roboto"/>
                <a:cs typeface="Roboto"/>
              </a:rPr>
              <a:t>paris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(1763)</a:t>
            </a:r>
            <a:endParaRPr sz="1333">
              <a:latin typeface="Roboto"/>
              <a:cs typeface="Roboto"/>
            </a:endParaRPr>
          </a:p>
          <a:p>
            <a:pPr marL="2706726">
              <a:lnSpc>
                <a:spcPts val="1347"/>
              </a:lnSpc>
              <a:spcBef>
                <a:spcPts val="513"/>
              </a:spcBef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lemon</a:t>
            </a:r>
            <a:endParaRPr sz="1333">
              <a:latin typeface="Roboto"/>
              <a:cs typeface="Roboto"/>
            </a:endParaRPr>
          </a:p>
          <a:p>
            <a:pPr marL="152396">
              <a:lnSpc>
                <a:spcPts val="1347"/>
              </a:lnSpc>
            </a:pPr>
            <a:r>
              <a:rPr sz="1333" spc="-27" dirty="0">
                <a:latin typeface="Roboto"/>
                <a:cs typeface="Roboto"/>
              </a:rPr>
              <a:t>treaty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</a:t>
            </a:r>
            <a:endParaRPr sz="1333">
              <a:latin typeface="Roboto"/>
              <a:cs typeface="Roboto"/>
            </a:endParaRPr>
          </a:p>
          <a:p>
            <a:pPr indent="847" algn="ctr">
              <a:tabLst>
                <a:tab pos="2580575" algn="l"/>
                <a:tab pos="2644919" algn="l"/>
                <a:tab pos="2706726" algn="l"/>
              </a:tabLst>
            </a:pPr>
            <a:r>
              <a:rPr sz="1333" dirty="0">
                <a:latin typeface="Roboto"/>
                <a:cs typeface="Roboto"/>
              </a:rPr>
              <a:t>63,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february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17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baseline="-22222" dirty="0">
                <a:latin typeface="Roboto"/>
                <a:cs typeface="Roboto"/>
              </a:rPr>
              <a:t>the</a:t>
            </a:r>
            <a:r>
              <a:rPr sz="2000" spc="-100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lemon,</a:t>
            </a:r>
            <a:r>
              <a:rPr sz="2000" spc="-100" baseline="-22222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citrus</a:t>
            </a:r>
            <a:r>
              <a:rPr sz="2000" spc="-100" baseline="-22222" dirty="0">
                <a:latin typeface="Roboto"/>
                <a:cs typeface="Roboto"/>
              </a:rPr>
              <a:t> </a:t>
            </a:r>
            <a:r>
              <a:rPr sz="2000" spc="-49" baseline="-22222" dirty="0">
                <a:latin typeface="Roboto"/>
                <a:cs typeface="Roboto"/>
              </a:rPr>
              <a:t>li </a:t>
            </a:r>
            <a:r>
              <a:rPr sz="1333" spc="-13" dirty="0">
                <a:latin typeface="Roboto"/>
                <a:cs typeface="Roboto"/>
              </a:rPr>
              <a:t>ngdoms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33" dirty="0">
                <a:latin typeface="Roboto"/>
                <a:cs typeface="Roboto"/>
              </a:rPr>
              <a:t> an</a:t>
            </a:r>
            <a:r>
              <a:rPr sz="1333" dirty="0">
                <a:latin typeface="Roboto"/>
                <a:cs typeface="Roboto"/>
              </a:rPr>
              <a:t>			</a:t>
            </a:r>
            <a:r>
              <a:rPr sz="2000" spc="-20" baseline="-22222" dirty="0">
                <a:latin typeface="Roboto"/>
                <a:cs typeface="Roboto"/>
              </a:rPr>
              <a:t>small</a:t>
            </a:r>
            <a:r>
              <a:rPr sz="2000" spc="-69" baseline="-22222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evergreen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spc="-49" baseline="-22222" dirty="0">
                <a:latin typeface="Roboto"/>
                <a:cs typeface="Roboto"/>
              </a:rPr>
              <a:t>tre </a:t>
            </a:r>
            <a:r>
              <a:rPr sz="1333" spc="-13" dirty="0">
                <a:latin typeface="Roboto"/>
                <a:cs typeface="Roboto"/>
              </a:rPr>
              <a:t>tugal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b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-22222" dirty="0">
                <a:latin typeface="Roboto"/>
                <a:cs typeface="Roboto"/>
              </a:rPr>
              <a:t>rutaceae,</a:t>
            </a:r>
            <a:r>
              <a:rPr sz="2000" spc="-80" baseline="-22222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native</a:t>
            </a:r>
            <a:r>
              <a:rPr sz="2000" spc="-80" baseline="-22222" dirty="0">
                <a:latin typeface="Roboto"/>
                <a:cs typeface="Roboto"/>
              </a:rPr>
              <a:t> </a:t>
            </a:r>
            <a:r>
              <a:rPr sz="2000" spc="-49" baseline="-22222" dirty="0">
                <a:latin typeface="Roboto"/>
                <a:cs typeface="Roboto"/>
              </a:rPr>
              <a:t>to</a:t>
            </a:r>
            <a:endParaRPr sz="2000" baseline="-22222">
              <a:latin typeface="Roboto"/>
              <a:cs typeface="Roboto"/>
            </a:endParaRPr>
          </a:p>
          <a:p>
            <a:pPr marR="268387" algn="ctr"/>
            <a:r>
              <a:rPr sz="1333" dirty="0">
                <a:latin typeface="Roboto"/>
                <a:cs typeface="Roboto"/>
              </a:rPr>
              <a:t>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sev</a:t>
            </a:r>
            <a:r>
              <a:rPr sz="1333" spc="533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eastern</a:t>
            </a:r>
            <a:r>
              <a:rPr sz="2000" spc="-69" baseline="-22222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india.</a:t>
            </a:r>
            <a:endParaRPr sz="2000" baseline="-22222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33">
              <a:latin typeface="Roboto"/>
              <a:cs typeface="Roboto"/>
            </a:endParaRPr>
          </a:p>
          <a:p>
            <a:pPr marL="21166" marR="40639" indent="98211" algn="ctr">
              <a:tabLst>
                <a:tab pos="2650000" algn="l"/>
                <a:tab pos="2685560" algn="l"/>
              </a:tabLst>
            </a:pP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en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147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the</a:t>
            </a:r>
            <a:r>
              <a:rPr sz="2000" spc="-89" baseline="-22222" dirty="0">
                <a:latin typeface="Roboto"/>
                <a:cs typeface="Roboto"/>
              </a:rPr>
              <a:t> </a:t>
            </a:r>
            <a:r>
              <a:rPr sz="2000" spc="-40" baseline="-22222" dirty="0">
                <a:latin typeface="Roboto"/>
                <a:cs typeface="Roboto"/>
              </a:rPr>
              <a:t>tree's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ellipsoid </a:t>
            </a:r>
            <a:r>
              <a:rPr sz="1333" spc="-13" dirty="0">
                <a:latin typeface="Roboto"/>
                <a:cs typeface="Roboto"/>
              </a:rPr>
              <a:t>ars'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20" baseline="-22222" dirty="0">
                <a:latin typeface="Roboto"/>
                <a:cs typeface="Roboto"/>
              </a:rPr>
              <a:t>culinary</a:t>
            </a:r>
            <a:r>
              <a:rPr sz="2000" spc="-4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and</a:t>
            </a:r>
            <a:r>
              <a:rPr sz="2000" spc="-40" baseline="-22222" dirty="0">
                <a:latin typeface="Roboto"/>
                <a:cs typeface="Roboto"/>
              </a:rPr>
              <a:t> </a:t>
            </a:r>
            <a:r>
              <a:rPr sz="2000" spc="-109" baseline="-22222" dirty="0">
                <a:latin typeface="Roboto"/>
                <a:cs typeface="Roboto"/>
              </a:rPr>
              <a:t>non-</a:t>
            </a:r>
            <a:r>
              <a:rPr sz="2000" spc="-100" baseline="-22222" dirty="0">
                <a:latin typeface="Roboto"/>
                <a:cs typeface="Roboto"/>
              </a:rPr>
              <a:t>c</a:t>
            </a:r>
            <a:r>
              <a:rPr sz="2000" baseline="-22222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</a:t>
            </a:r>
            <a:r>
              <a:rPr sz="1333" spc="447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the</a:t>
            </a:r>
            <a:r>
              <a:rPr sz="2000" spc="-4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world,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primaril </a:t>
            </a:r>
            <a:r>
              <a:rPr sz="1333" spc="-13" dirty="0">
                <a:latin typeface="Roboto"/>
                <a:cs typeface="Roboto"/>
              </a:rPr>
              <a:t>ginning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7" dirty="0">
                <a:latin typeface="Roboto"/>
                <a:cs typeface="Roboto"/>
              </a:rPr>
              <a:t> domin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173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culinary</a:t>
            </a:r>
            <a:r>
              <a:rPr sz="2000" spc="-8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and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clean </a:t>
            </a:r>
            <a:r>
              <a:rPr sz="1333" spc="-13" dirty="0">
                <a:latin typeface="Roboto"/>
                <a:cs typeface="Roboto"/>
              </a:rPr>
              <a:t>ope.[2]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</a:t>
            </a:r>
            <a:r>
              <a:rPr sz="1333" spc="267" dirty="0">
                <a:latin typeface="Roboto"/>
                <a:cs typeface="Roboto"/>
              </a:rPr>
              <a:t>  </a:t>
            </a:r>
            <a:r>
              <a:rPr sz="2000" baseline="-22222" dirty="0">
                <a:latin typeface="Roboto"/>
                <a:cs typeface="Roboto"/>
              </a:rPr>
              <a:t>(zest)</a:t>
            </a:r>
            <a:r>
              <a:rPr sz="2000" spc="-4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are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also</a:t>
            </a:r>
            <a:r>
              <a:rPr sz="2000" spc="-49" baseline="-22222" dirty="0">
                <a:latin typeface="Roboto"/>
                <a:cs typeface="Roboto"/>
              </a:rPr>
              <a:t> use </a:t>
            </a:r>
            <a:r>
              <a:rPr sz="1333" dirty="0">
                <a:latin typeface="Roboto"/>
                <a:cs typeface="Roboto"/>
              </a:rPr>
              <a:t>uch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territory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</a:t>
            </a:r>
            <a:r>
              <a:rPr sz="1333" spc="247" dirty="0">
                <a:latin typeface="Roboto"/>
                <a:cs typeface="Roboto"/>
              </a:rPr>
              <a:t>  </a:t>
            </a:r>
            <a:r>
              <a:rPr sz="2000" spc="-20" baseline="-22222" dirty="0">
                <a:latin typeface="Roboto"/>
                <a:cs typeface="Roboto"/>
              </a:rPr>
              <a:t>juice</a:t>
            </a:r>
            <a:r>
              <a:rPr sz="2000" spc="-2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of</a:t>
            </a:r>
            <a:r>
              <a:rPr sz="2000" spc="-2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the</a:t>
            </a:r>
            <a:r>
              <a:rPr sz="2000" spc="-29" baseline="-22222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lemon </a:t>
            </a:r>
            <a:r>
              <a:rPr sz="1333" dirty="0">
                <a:latin typeface="Roboto"/>
                <a:cs typeface="Roboto"/>
              </a:rPr>
              <a:t>ring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</a:t>
            </a:r>
            <a:r>
              <a:rPr sz="1333" spc="173" dirty="0">
                <a:latin typeface="Roboto"/>
                <a:cs typeface="Roboto"/>
              </a:rPr>
              <a:t>  </a:t>
            </a:r>
            <a:r>
              <a:rPr sz="2000" spc="-20" baseline="-22222" dirty="0">
                <a:latin typeface="Roboto"/>
                <a:cs typeface="Roboto"/>
              </a:rPr>
              <a:t>with</a:t>
            </a:r>
            <a:r>
              <a:rPr sz="2000" spc="-4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a</a:t>
            </a:r>
            <a:r>
              <a:rPr sz="2000" spc="-4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ph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of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spc="-40" baseline="-22222" dirty="0">
                <a:latin typeface="Roboto"/>
                <a:cs typeface="Roboto"/>
              </a:rPr>
              <a:t>aroun </a:t>
            </a:r>
            <a:r>
              <a:rPr sz="1333" spc="-27" dirty="0">
                <a:latin typeface="Roboto"/>
                <a:cs typeface="Roboto"/>
              </a:rPr>
              <a:t>nce's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possessions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-22222" dirty="0">
                <a:latin typeface="Roboto"/>
                <a:cs typeface="Roboto"/>
              </a:rPr>
              <a:t>distinctive</a:t>
            </a:r>
            <a:r>
              <a:rPr sz="2000" spc="-100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sour</a:t>
            </a:r>
            <a:r>
              <a:rPr sz="2000" spc="-89" baseline="-22222" dirty="0">
                <a:latin typeface="Roboto"/>
                <a:cs typeface="Roboto"/>
              </a:rPr>
              <a:t> </a:t>
            </a:r>
            <a:r>
              <a:rPr sz="2000" spc="-49" baseline="-22222" dirty="0">
                <a:latin typeface="Roboto"/>
                <a:cs typeface="Roboto"/>
              </a:rPr>
              <a:t>ta</a:t>
            </a:r>
            <a:endParaRPr sz="2000" baseline="-22222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90699" y="729363"/>
            <a:ext cx="3465407" cy="3816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58">
              <a:lnSpc>
                <a:spcPts val="1400"/>
              </a:lnSpc>
            </a:pPr>
            <a:r>
              <a:rPr sz="1333" dirty="0">
                <a:latin typeface="Roboto"/>
                <a:cs typeface="Roboto"/>
              </a:rPr>
              <a:t>ring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family</a:t>
            </a:r>
            <a:endParaRPr sz="1333">
              <a:latin typeface="Roboto"/>
              <a:cs typeface="Roboto"/>
            </a:endParaRPr>
          </a:p>
          <a:p>
            <a:pPr marL="1864313">
              <a:lnSpc>
                <a:spcPts val="1493"/>
              </a:lnSpc>
            </a:pPr>
            <a:r>
              <a:rPr sz="1333" dirty="0">
                <a:latin typeface="Roboto"/>
                <a:cs typeface="Roboto"/>
              </a:rPr>
              <a:t>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species</a:t>
            </a:r>
            <a:r>
              <a:rPr sz="1333" spc="-33" dirty="0">
                <a:latin typeface="Roboto"/>
                <a:cs typeface="Roboto"/>
              </a:rPr>
              <a:t> of</a:t>
            </a:r>
            <a:endParaRPr sz="1333">
              <a:latin typeface="Roboto"/>
              <a:cs typeface="Roboto"/>
            </a:endParaRPr>
          </a:p>
          <a:p>
            <a:pPr marL="1839761" marR="43178" indent="49105"/>
            <a:r>
              <a:rPr sz="1333" dirty="0">
                <a:latin typeface="Roboto"/>
                <a:cs typeface="Roboto"/>
              </a:rPr>
              <a:t>owering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family </a:t>
            </a:r>
            <a:r>
              <a:rPr sz="1333" dirty="0">
                <a:latin typeface="Roboto"/>
                <a:cs typeface="Roboto"/>
              </a:rPr>
              <a:t>ia,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north</a:t>
            </a:r>
            <a:endParaRPr sz="1333">
              <a:latin typeface="Roboto"/>
              <a:cs typeface="Roboto"/>
            </a:endParaRPr>
          </a:p>
          <a:p>
            <a:pPr marL="82971">
              <a:lnSpc>
                <a:spcPts val="1433"/>
              </a:lnSpc>
            </a:pPr>
            <a:r>
              <a:rPr sz="1333" dirty="0">
                <a:latin typeface="Roboto"/>
                <a:cs typeface="Roboto"/>
              </a:rPr>
              <a:t>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species</a:t>
            </a:r>
            <a:r>
              <a:rPr sz="1333" spc="-33" dirty="0">
                <a:latin typeface="Roboto"/>
                <a:cs typeface="Roboto"/>
              </a:rPr>
              <a:t> of</a:t>
            </a:r>
            <a:endParaRPr sz="1333">
              <a:latin typeface="Roboto"/>
              <a:cs typeface="Roboto"/>
            </a:endParaRPr>
          </a:p>
          <a:p>
            <a:pPr marL="107524"/>
            <a:r>
              <a:rPr sz="1333" dirty="0">
                <a:latin typeface="Roboto"/>
                <a:cs typeface="Roboto"/>
              </a:rPr>
              <a:t>owering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family</a:t>
            </a:r>
            <a:endParaRPr sz="1333">
              <a:latin typeface="Roboto"/>
              <a:cs typeface="Roboto"/>
            </a:endParaRPr>
          </a:p>
          <a:p>
            <a:pPr marL="57572">
              <a:tabLst>
                <a:tab pos="1871933" algn="l"/>
              </a:tabLst>
            </a:pPr>
            <a:r>
              <a:rPr sz="1333" dirty="0">
                <a:latin typeface="Roboto"/>
                <a:cs typeface="Roboto"/>
              </a:rPr>
              <a:t>ia,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north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-5555" dirty="0">
                <a:latin typeface="Roboto"/>
                <a:cs typeface="Roboto"/>
              </a:rPr>
              <a:t>ruit</a:t>
            </a:r>
            <a:r>
              <a:rPr sz="2000" spc="-8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is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used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spc="-49" baseline="-5555" dirty="0">
                <a:latin typeface="Roboto"/>
                <a:cs typeface="Roboto"/>
              </a:rPr>
              <a:t>for</a:t>
            </a:r>
            <a:endParaRPr sz="2000" baseline="-5555">
              <a:latin typeface="Roboto"/>
              <a:cs typeface="Roboto"/>
            </a:endParaRPr>
          </a:p>
          <a:p>
            <a:pPr marL="1855000" marR="165943" indent="-74505">
              <a:spcBef>
                <a:spcPts val="167"/>
              </a:spcBef>
            </a:pPr>
            <a:r>
              <a:rPr sz="1333" spc="-13" dirty="0">
                <a:latin typeface="Roboto"/>
                <a:cs typeface="Roboto"/>
              </a:rPr>
              <a:t>urposes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throughout </a:t>
            </a:r>
            <a:r>
              <a:rPr sz="1333" dirty="0">
                <a:latin typeface="Roboto"/>
                <a:cs typeface="Roboto"/>
              </a:rPr>
              <a:t>ice,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both</a:t>
            </a:r>
            <a:endParaRPr sz="1333">
              <a:latin typeface="Roboto"/>
              <a:cs typeface="Roboto"/>
            </a:endParaRPr>
          </a:p>
          <a:p>
            <a:pPr marR="167636" indent="90591" algn="just">
              <a:lnSpc>
                <a:spcPct val="94800"/>
              </a:lnSpc>
              <a:spcBef>
                <a:spcPts val="80"/>
              </a:spcBef>
              <a:tabLst>
                <a:tab pos="1849920" algn="l"/>
              </a:tabLst>
            </a:pPr>
            <a:r>
              <a:rPr sz="2000" spc="-20" baseline="5555" dirty="0">
                <a:latin typeface="Roboto"/>
                <a:cs typeface="Roboto"/>
              </a:rPr>
              <a:t>ruit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is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used</a:t>
            </a:r>
            <a:r>
              <a:rPr sz="2000" spc="-59" baseline="5555" dirty="0">
                <a:latin typeface="Roboto"/>
                <a:cs typeface="Roboto"/>
              </a:rPr>
              <a:t> </a:t>
            </a:r>
            <a:r>
              <a:rPr sz="2000" spc="-49" baseline="5555" dirty="0">
                <a:latin typeface="Roboto"/>
                <a:cs typeface="Roboto"/>
              </a:rPr>
              <a:t>for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2]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pulp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rind </a:t>
            </a:r>
            <a:r>
              <a:rPr sz="1333" spc="-13" dirty="0">
                <a:latin typeface="Roboto"/>
                <a:cs typeface="Roboto"/>
              </a:rPr>
              <a:t>urposes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throughout</a:t>
            </a:r>
            <a:r>
              <a:rPr sz="1333" spc="567" dirty="0">
                <a:latin typeface="Roboto"/>
                <a:cs typeface="Roboto"/>
              </a:rPr>
              <a:t>   </a:t>
            </a:r>
            <a:r>
              <a:rPr sz="2000" baseline="-5555" dirty="0">
                <a:latin typeface="Roboto"/>
                <a:cs typeface="Roboto"/>
              </a:rPr>
              <a:t>ing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and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baking.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spc="-49" baseline="-5555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ice,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both</a:t>
            </a:r>
            <a:r>
              <a:rPr sz="1333" spc="640" dirty="0">
                <a:latin typeface="Roboto"/>
                <a:cs typeface="Roboto"/>
              </a:rPr>
              <a:t>   </a:t>
            </a:r>
            <a:r>
              <a:rPr sz="2000" baseline="-5555" dirty="0">
                <a:latin typeface="Roboto"/>
                <a:cs typeface="Roboto"/>
              </a:rPr>
              <a:t>%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to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6%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citric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acid,</a:t>
            </a:r>
            <a:endParaRPr sz="2000" baseline="-5555">
              <a:latin typeface="Roboto"/>
              <a:cs typeface="Roboto"/>
            </a:endParaRPr>
          </a:p>
          <a:p>
            <a:pPr marL="54185" marR="42332" indent="13546">
              <a:lnSpc>
                <a:spcPts val="1440"/>
              </a:lnSpc>
              <a:spcBef>
                <a:spcPts val="347"/>
              </a:spcBef>
              <a:tabLst>
                <a:tab pos="1829601" algn="l"/>
                <a:tab pos="1857540" algn="l"/>
              </a:tabLst>
            </a:pPr>
            <a:r>
              <a:rPr sz="2000" baseline="5555" dirty="0">
                <a:latin typeface="Roboto"/>
                <a:cs typeface="Roboto"/>
              </a:rPr>
              <a:t>2]</a:t>
            </a:r>
            <a:r>
              <a:rPr sz="2000" spc="-80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the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pulp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and</a:t>
            </a:r>
            <a:r>
              <a:rPr sz="2000" spc="-80" baseline="5555" dirty="0">
                <a:latin typeface="Roboto"/>
                <a:cs typeface="Roboto"/>
              </a:rPr>
              <a:t> </a:t>
            </a:r>
            <a:r>
              <a:rPr sz="2000" spc="-40" baseline="5555" dirty="0">
                <a:latin typeface="Roboto"/>
                <a:cs typeface="Roboto"/>
              </a:rPr>
              <a:t>rind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baking.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baseline="-5555" dirty="0">
                <a:latin typeface="Roboto"/>
                <a:cs typeface="Roboto"/>
              </a:rPr>
              <a:t>on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juice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makes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it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spc="-100" baseline="-5555" dirty="0">
                <a:latin typeface="Roboto"/>
                <a:cs typeface="Roboto"/>
              </a:rPr>
              <a:t>a</a:t>
            </a:r>
            <a:endParaRPr sz="2000" baseline="-5555">
              <a:latin typeface="Roboto"/>
              <a:cs typeface="Roboto"/>
            </a:endParaRPr>
          </a:p>
          <a:p>
            <a:pPr marL="48259" marR="535080" indent="64345">
              <a:lnSpc>
                <a:spcPts val="1600"/>
              </a:lnSpc>
              <a:spcBef>
                <a:spcPts val="27"/>
              </a:spcBef>
              <a:tabLst>
                <a:tab pos="1823674" algn="l"/>
                <a:tab pos="1860080" algn="l"/>
              </a:tabLst>
            </a:pPr>
            <a:r>
              <a:rPr sz="1333" dirty="0">
                <a:latin typeface="Roboto"/>
                <a:cs typeface="Roboto"/>
              </a:rPr>
              <a:t>%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6%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27" dirty="0">
                <a:latin typeface="Roboto"/>
                <a:cs typeface="Roboto"/>
              </a:rPr>
              <a:t> acid,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baseline="-5555" dirty="0">
                <a:latin typeface="Roboto"/>
                <a:cs typeface="Roboto"/>
              </a:rPr>
              <a:t>foods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such </a:t>
            </a:r>
            <a:r>
              <a:rPr sz="2000" spc="-49" baseline="-5555" dirty="0">
                <a:latin typeface="Roboto"/>
                <a:cs typeface="Roboto"/>
              </a:rPr>
              <a:t>as </a:t>
            </a:r>
            <a:r>
              <a:rPr sz="1333" dirty="0">
                <a:latin typeface="Roboto"/>
                <a:cs typeface="Roboto"/>
              </a:rPr>
              <a:t>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5555" dirty="0">
                <a:latin typeface="Roboto"/>
                <a:cs typeface="Roboto"/>
              </a:rPr>
              <a:t>gue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pie...</a:t>
            </a:r>
            <a:endParaRPr sz="2000" baseline="-5555">
              <a:latin typeface="Roboto"/>
              <a:cs typeface="Roboto"/>
            </a:endParaRPr>
          </a:p>
          <a:p>
            <a:pPr marL="76198">
              <a:lnSpc>
                <a:spcPts val="1547"/>
              </a:lnSpc>
            </a:pPr>
            <a:r>
              <a:rPr sz="1333" dirty="0">
                <a:latin typeface="Roboto"/>
                <a:cs typeface="Roboto"/>
              </a:rPr>
              <a:t>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makes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endParaRPr sz="1333">
              <a:latin typeface="Roboto"/>
              <a:cs typeface="Roboto"/>
            </a:endParaRPr>
          </a:p>
          <a:p>
            <a:pPr marL="42332" marR="1183610" indent="35559">
              <a:tabLst>
                <a:tab pos="1792349" algn="l"/>
              </a:tabLst>
            </a:pPr>
            <a:r>
              <a:rPr sz="1333" dirty="0">
                <a:latin typeface="Roboto"/>
                <a:cs typeface="Roboto"/>
              </a:rPr>
              <a:t>foods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such </a:t>
            </a:r>
            <a:r>
              <a:rPr sz="1333" spc="-47" dirty="0">
                <a:latin typeface="Roboto"/>
                <a:cs typeface="Roboto"/>
              </a:rPr>
              <a:t>as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59" baseline="-8333" dirty="0">
                <a:latin typeface="Roboto"/>
                <a:cs typeface="Roboto"/>
              </a:rPr>
              <a:t>erator. </a:t>
            </a:r>
            <a:r>
              <a:rPr sz="1333" dirty="0">
                <a:latin typeface="Roboto"/>
                <a:cs typeface="Roboto"/>
              </a:rPr>
              <a:t>gue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pie...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-12700" y="687253"/>
            <a:ext cx="3926840" cy="4075007"/>
            <a:chOff x="-9525" y="515439"/>
            <a:chExt cx="2945130" cy="3056255"/>
          </a:xfrm>
        </p:grpSpPr>
        <p:sp>
          <p:nvSpPr>
            <p:cNvPr id="26" name="object 26"/>
            <p:cNvSpPr/>
            <p:nvPr/>
          </p:nvSpPr>
          <p:spPr>
            <a:xfrm>
              <a:off x="0" y="524964"/>
              <a:ext cx="2926080" cy="3037205"/>
            </a:xfrm>
            <a:custGeom>
              <a:avLst/>
              <a:gdLst/>
              <a:ahLst/>
              <a:cxnLst/>
              <a:rect l="l" t="t" r="r" b="b"/>
              <a:pathLst>
                <a:path w="2926080" h="3037204">
                  <a:moveTo>
                    <a:pt x="2925499" y="3036600"/>
                  </a:moveTo>
                  <a:lnTo>
                    <a:pt x="0" y="3036600"/>
                  </a:lnTo>
                  <a:lnTo>
                    <a:pt x="0" y="0"/>
                  </a:lnTo>
                  <a:lnTo>
                    <a:pt x="2925499" y="0"/>
                  </a:lnTo>
                  <a:lnTo>
                    <a:pt x="2925499" y="30366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524964"/>
              <a:ext cx="2926080" cy="3037205"/>
            </a:xfrm>
            <a:custGeom>
              <a:avLst/>
              <a:gdLst/>
              <a:ahLst/>
              <a:cxnLst/>
              <a:rect l="l" t="t" r="r" b="b"/>
              <a:pathLst>
                <a:path w="2926080" h="3037204">
                  <a:moveTo>
                    <a:pt x="0" y="0"/>
                  </a:moveTo>
                  <a:lnTo>
                    <a:pt x="2925499" y="0"/>
                  </a:lnTo>
                  <a:lnTo>
                    <a:pt x="2925499" y="3036600"/>
                  </a:lnTo>
                  <a:lnTo>
                    <a:pt x="0" y="303660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756871" y="955145"/>
            <a:ext cx="3990340" cy="3712633"/>
            <a:chOff x="2067653" y="716358"/>
            <a:chExt cx="2992755" cy="2784475"/>
          </a:xfrm>
        </p:grpSpPr>
        <p:sp>
          <p:nvSpPr>
            <p:cNvPr id="29" name="object 29"/>
            <p:cNvSpPr/>
            <p:nvPr/>
          </p:nvSpPr>
          <p:spPr>
            <a:xfrm>
              <a:off x="2077178" y="725883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2973599" y="2765100"/>
                  </a:moveTo>
                  <a:lnTo>
                    <a:pt x="0" y="2765100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7651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77178" y="725883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0" y="0"/>
                  </a:moveTo>
                  <a:lnTo>
                    <a:pt x="2973599" y="0"/>
                  </a:lnTo>
                  <a:lnTo>
                    <a:pt x="2973599" y="2765100"/>
                  </a:lnTo>
                  <a:lnTo>
                    <a:pt x="0" y="27651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277115" y="279772"/>
            <a:ext cx="3990340" cy="3886200"/>
            <a:chOff x="207836" y="209829"/>
            <a:chExt cx="2992755" cy="2914650"/>
          </a:xfrm>
        </p:grpSpPr>
        <p:sp>
          <p:nvSpPr>
            <p:cNvPr id="32" name="object 32"/>
            <p:cNvSpPr/>
            <p:nvPr/>
          </p:nvSpPr>
          <p:spPr>
            <a:xfrm>
              <a:off x="217361" y="219354"/>
              <a:ext cx="2973705" cy="2895600"/>
            </a:xfrm>
            <a:custGeom>
              <a:avLst/>
              <a:gdLst/>
              <a:ahLst/>
              <a:cxnLst/>
              <a:rect l="l" t="t" r="r" b="b"/>
              <a:pathLst>
                <a:path w="2973705" h="2895600">
                  <a:moveTo>
                    <a:pt x="2973600" y="2895599"/>
                  </a:moveTo>
                  <a:lnTo>
                    <a:pt x="0" y="2895599"/>
                  </a:lnTo>
                  <a:lnTo>
                    <a:pt x="0" y="0"/>
                  </a:lnTo>
                  <a:lnTo>
                    <a:pt x="2973600" y="0"/>
                  </a:lnTo>
                  <a:lnTo>
                    <a:pt x="2973600" y="28955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7361" y="219354"/>
              <a:ext cx="2973705" cy="2895600"/>
            </a:xfrm>
            <a:custGeom>
              <a:avLst/>
              <a:gdLst/>
              <a:ahLst/>
              <a:cxnLst/>
              <a:rect l="l" t="t" r="r" b="b"/>
              <a:pathLst>
                <a:path w="2973705" h="2895600">
                  <a:moveTo>
                    <a:pt x="0" y="0"/>
                  </a:moveTo>
                  <a:lnTo>
                    <a:pt x="2973600" y="0"/>
                  </a:lnTo>
                  <a:lnTo>
                    <a:pt x="2973600" y="2895599"/>
                  </a:lnTo>
                  <a:lnTo>
                    <a:pt x="0" y="2895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3234" y="3025746"/>
            <a:ext cx="5156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be</a:t>
            </a:r>
            <a:r>
              <a:rPr sz="1333" spc="333" dirty="0">
                <a:latin typeface="Roboto"/>
                <a:cs typeface="Roboto"/>
              </a:rPr>
              <a:t>  </a:t>
            </a:r>
            <a:r>
              <a:rPr sz="1333" spc="-67" dirty="0">
                <a:latin typeface="Roboto"/>
                <a:cs typeface="Roboto"/>
              </a:rPr>
              <a:t>w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08194" y="2103607"/>
            <a:ext cx="4071620" cy="2448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96310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over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seve</a:t>
            </a:r>
            <a:endParaRPr sz="1333">
              <a:latin typeface="Roboto"/>
              <a:cs typeface="Roboto"/>
            </a:endParaRPr>
          </a:p>
          <a:p>
            <a:pPr marL="320879" marR="30479" indent="2540">
              <a:spcBef>
                <a:spcPts val="1600"/>
              </a:spcBef>
              <a:tabLst>
                <a:tab pos="1170911" algn="l"/>
              </a:tabLst>
            </a:pPr>
            <a:r>
              <a:rPr sz="1333" dirty="0">
                <a:latin typeface="Roboto"/>
                <a:cs typeface="Roboto"/>
              </a:rPr>
              <a:t>al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 </a:t>
            </a:r>
            <a:r>
              <a:rPr sz="1333" dirty="0">
                <a:latin typeface="Roboto"/>
                <a:cs typeface="Roboto"/>
              </a:rPr>
              <a:t>f</a:t>
            </a:r>
            <a:r>
              <a:rPr sz="1333" spc="6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13" dirty="0">
                <a:latin typeface="Roboto"/>
                <a:cs typeface="Roboto"/>
              </a:rPr>
              <a:t> signing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13" dirty="0">
                <a:latin typeface="Roboto"/>
                <a:cs typeface="Roboto"/>
              </a:rPr>
              <a:t> formally </a:t>
            </a:r>
            <a:r>
              <a:rPr sz="1333" spc="-33" dirty="0">
                <a:latin typeface="Roboto"/>
                <a:cs typeface="Roboto"/>
              </a:rPr>
              <a:t>end </a:t>
            </a:r>
            <a:r>
              <a:rPr sz="1333" spc="-27" dirty="0">
                <a:latin typeface="Roboto"/>
                <a:cs typeface="Roboto"/>
              </a:rPr>
              <a:t>ulinary</a:t>
            </a:r>
            <a:r>
              <a:rPr sz="1333" spc="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p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dirty="0">
                <a:latin typeface="Roboto"/>
                <a:cs typeface="Roboto"/>
              </a:rPr>
              <a:t>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ju</a:t>
            </a:r>
            <a:r>
              <a:rPr sz="1333" spc="173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ma </a:t>
            </a:r>
            <a:r>
              <a:rPr sz="1333" dirty="0">
                <a:latin typeface="Roboto"/>
                <a:cs typeface="Roboto"/>
              </a:rPr>
              <a:t>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uses.[</a:t>
            </a:r>
            <a:r>
              <a:rPr sz="1333" spc="200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beginning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cook</a:t>
            </a:r>
            <a:r>
              <a:rPr sz="1333" spc="25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europe.[2]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ea</a:t>
            </a:r>
            <a:endParaRPr sz="1333">
              <a:latin typeface="Roboto"/>
              <a:cs typeface="Roboto"/>
            </a:endParaRPr>
          </a:p>
          <a:p>
            <a:pPr marL="309026" marR="84665" indent="-309872" algn="just"/>
            <a:r>
              <a:rPr sz="2000" baseline="22222" dirty="0">
                <a:latin typeface="Roboto"/>
                <a:cs typeface="Roboto"/>
              </a:rPr>
              <a:t>le</a:t>
            </a:r>
            <a:r>
              <a:rPr sz="2000" spc="769" baseline="22222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</a:t>
            </a:r>
            <a:r>
              <a:rPr sz="1333" spc="4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territory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ca </a:t>
            </a:r>
            <a:r>
              <a:rPr sz="1333" dirty="0">
                <a:latin typeface="Roboto"/>
                <a:cs typeface="Roboto"/>
              </a:rPr>
              <a:t>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</a:t>
            </a:r>
            <a:r>
              <a:rPr sz="1333" spc="24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gaine </a:t>
            </a:r>
            <a:r>
              <a:rPr sz="1333" dirty="0">
                <a:latin typeface="Roboto"/>
                <a:cs typeface="Roboto"/>
              </a:rPr>
              <a:t>ste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</a:t>
            </a:r>
            <a:r>
              <a:rPr sz="1333" spc="187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france's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possessions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</a:t>
            </a:r>
            <a:endParaRPr sz="1333">
              <a:latin typeface="Roboto"/>
              <a:cs typeface="Roboto"/>
            </a:endParaRPr>
          </a:p>
          <a:p>
            <a:pPr marL="84665" indent="-24553" algn="just"/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drinks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333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pro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merin</a:t>
            </a:r>
            <a:r>
              <a:rPr sz="1333" spc="272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catholicism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40015" y="1631436"/>
            <a:ext cx="4141047" cy="4051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511">
              <a:lnSpc>
                <a:spcPts val="1507"/>
              </a:lnSpc>
              <a:tabLst>
                <a:tab pos="3274825" algn="l"/>
              </a:tabLst>
            </a:pPr>
            <a:r>
              <a:rPr sz="1333" spc="-13" dirty="0">
                <a:latin typeface="Roboto"/>
                <a:cs typeface="Roboto"/>
              </a:rPr>
              <a:t>heelbarrow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wind.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term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22222" dirty="0">
                <a:latin typeface="Roboto"/>
                <a:cs typeface="Roboto"/>
              </a:rPr>
              <a:t>e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in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the</a:t>
            </a:r>
            <a:r>
              <a:rPr sz="2000" spc="-49" baseline="-22222" dirty="0">
                <a:latin typeface="Roboto"/>
                <a:cs typeface="Roboto"/>
              </a:rPr>
              <a:t> fl</a:t>
            </a:r>
            <a:endParaRPr sz="2000" baseline="-22222">
              <a:latin typeface="Roboto"/>
              <a:cs typeface="Roboto"/>
            </a:endParaRPr>
          </a:p>
          <a:p>
            <a:pPr marL="111757" marR="220974" indent="-66038">
              <a:tabLst>
                <a:tab pos="3262125" algn="l"/>
              </a:tabLst>
            </a:pPr>
            <a:r>
              <a:rPr sz="1333" spc="-27" dirty="0">
                <a:latin typeface="Roboto"/>
                <a:cs typeface="Roboto"/>
              </a:rPr>
              <a:t>rrow"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made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</a:t>
            </a:r>
            <a:r>
              <a:rPr sz="1333" spc="-27" dirty="0">
                <a:latin typeface="Roboto"/>
                <a:cs typeface="Roboto"/>
              </a:rPr>
              <a:t> "wheel"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-22222" dirty="0">
                <a:latin typeface="Roboto"/>
                <a:cs typeface="Roboto"/>
              </a:rPr>
              <a:t>south</a:t>
            </a:r>
            <a:r>
              <a:rPr sz="2000" spc="-59" baseline="-22222" dirty="0">
                <a:latin typeface="Roboto"/>
                <a:cs typeface="Roboto"/>
              </a:rPr>
              <a:t> </a:t>
            </a:r>
            <a:r>
              <a:rPr sz="2000" spc="-49" baseline="-22222" dirty="0">
                <a:latin typeface="Roboto"/>
                <a:cs typeface="Roboto"/>
              </a:rPr>
              <a:t>as </a:t>
            </a:r>
            <a:r>
              <a:rPr sz="1333" spc="-27" dirty="0">
                <a:latin typeface="Roboto"/>
                <a:cs typeface="Roboto"/>
              </a:rPr>
              <a:t>barrow"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old</a:t>
            </a:r>
            <a:endParaRPr sz="1333">
              <a:latin typeface="Roboto"/>
              <a:cs typeface="Roboto"/>
            </a:endParaRPr>
          </a:p>
          <a:p>
            <a:pPr marL="52492" marR="41486" indent="-53339">
              <a:tabLst>
                <a:tab pos="3023371" algn="l"/>
              </a:tabLst>
            </a:pPr>
            <a:r>
              <a:rPr sz="1333" spc="-13" dirty="0">
                <a:latin typeface="Roboto"/>
                <a:cs typeface="Roboto"/>
              </a:rPr>
              <a:t>bearwe"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13888" dirty="0">
                <a:latin typeface="Roboto"/>
                <a:cs typeface="Roboto"/>
              </a:rPr>
              <a:t>==</a:t>
            </a:r>
            <a:r>
              <a:rPr sz="2000" spc="-89" baseline="13888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wheelbarro </a:t>
            </a:r>
            <a:r>
              <a:rPr sz="1333" spc="-13" dirty="0">
                <a:latin typeface="Roboto"/>
                <a:cs typeface="Roboto"/>
              </a:rPr>
              <a:t>oads.</a:t>
            </a:r>
            <a:endParaRPr sz="1333">
              <a:latin typeface="Roboto"/>
              <a:cs typeface="Roboto"/>
            </a:endParaRPr>
          </a:p>
          <a:p>
            <a:pPr marL="3023371">
              <a:lnSpc>
                <a:spcPts val="1273"/>
              </a:lnSpc>
            </a:pP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wheelbarro</a:t>
            </a:r>
            <a:endParaRPr sz="1333">
              <a:latin typeface="Roboto"/>
              <a:cs typeface="Roboto"/>
            </a:endParaRPr>
          </a:p>
          <a:p>
            <a:pPr marL="40639" marR="33019" indent="43178" algn="r">
              <a:spcBef>
                <a:spcPts val="320"/>
              </a:spcBef>
              <a:tabLst>
                <a:tab pos="2937860" algn="l"/>
                <a:tab pos="3023371" algn="l"/>
              </a:tabLst>
            </a:pPr>
            <a:r>
              <a:rPr sz="1333" spc="-13" dirty="0">
                <a:latin typeface="Roboto"/>
                <a:cs typeface="Roboto"/>
              </a:rPr>
              <a:t>barrow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distribute</a:t>
            </a:r>
            <a:r>
              <a:rPr sz="1333" spc="-33" dirty="0">
                <a:latin typeface="Roboto"/>
                <a:cs typeface="Roboto"/>
              </a:rPr>
              <a:t> the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40" baseline="13888" dirty="0">
                <a:latin typeface="Roboto"/>
                <a:cs typeface="Roboto"/>
              </a:rPr>
              <a:t>usually</a:t>
            </a:r>
            <a:r>
              <a:rPr sz="2000" spc="-29" baseline="13888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with</a:t>
            </a:r>
            <a:r>
              <a:rPr sz="2000" spc="-29" baseline="13888" dirty="0">
                <a:latin typeface="Roboto"/>
                <a:cs typeface="Roboto"/>
              </a:rPr>
              <a:t> </a:t>
            </a:r>
            <a:r>
              <a:rPr sz="2000" spc="-49" baseline="13888" dirty="0">
                <a:latin typeface="Roboto"/>
                <a:cs typeface="Roboto"/>
              </a:rPr>
              <a:t>ju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152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pushed</a:t>
            </a:r>
            <a:r>
              <a:rPr sz="2000" spc="-40" baseline="13888" dirty="0">
                <a:latin typeface="Roboto"/>
                <a:cs typeface="Roboto"/>
              </a:rPr>
              <a:t> </a:t>
            </a:r>
            <a:r>
              <a:rPr sz="2000" baseline="13888" dirty="0">
                <a:latin typeface="Roboto"/>
                <a:cs typeface="Roboto"/>
              </a:rPr>
              <a:t>and</a:t>
            </a:r>
            <a:r>
              <a:rPr sz="2000" spc="-29" baseline="13888" dirty="0">
                <a:latin typeface="Roboto"/>
                <a:cs typeface="Roboto"/>
              </a:rPr>
              <a:t> </a:t>
            </a:r>
            <a:r>
              <a:rPr sz="2000" baseline="13888" dirty="0">
                <a:latin typeface="Roboto"/>
                <a:cs typeface="Roboto"/>
              </a:rPr>
              <a:t>g</a:t>
            </a:r>
            <a:r>
              <a:rPr sz="2000" spc="1000" baseline="13888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enabling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convenient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carriage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413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handles</a:t>
            </a:r>
            <a:r>
              <a:rPr sz="2000" spc="-29" baseline="13888" dirty="0">
                <a:latin typeface="Roboto"/>
                <a:cs typeface="Roboto"/>
              </a:rPr>
              <a:t> </a:t>
            </a:r>
            <a:r>
              <a:rPr sz="2000" baseline="13888" dirty="0">
                <a:latin typeface="Roboto"/>
                <a:cs typeface="Roboto"/>
              </a:rPr>
              <a:t>at</a:t>
            </a:r>
            <a:r>
              <a:rPr sz="2000" spc="-40" baseline="13888" dirty="0">
                <a:latin typeface="Roboto"/>
                <a:cs typeface="Roboto"/>
              </a:rPr>
              <a:t> </a:t>
            </a:r>
            <a:r>
              <a:rPr sz="2000" spc="-49" baseline="13888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bulkier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loads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than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would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possib</a:t>
            </a:r>
            <a:r>
              <a:rPr sz="1333" spc="220" dirty="0">
                <a:latin typeface="Roboto"/>
                <a:cs typeface="Roboto"/>
              </a:rPr>
              <a:t>  </a:t>
            </a:r>
            <a:r>
              <a:rPr sz="2000" spc="-20" baseline="13888" dirty="0">
                <a:latin typeface="Roboto"/>
                <a:cs typeface="Roboto"/>
              </a:rPr>
              <a:t>ancient</a:t>
            </a:r>
            <a:r>
              <a:rPr sz="2000" spc="-59" baseline="13888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wheel </a:t>
            </a:r>
            <a:r>
              <a:rPr sz="1333" spc="-13" dirty="0">
                <a:latin typeface="Roboto"/>
                <a:cs typeface="Roboto"/>
              </a:rPr>
              <a:t>eight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entirely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operator.</a:t>
            </a:r>
            <a:r>
              <a:rPr sz="1333" spc="447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"wheelbarrow"</a:t>
            </a:r>
            <a:r>
              <a:rPr sz="2000" spc="1000" baseline="13888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second-</a:t>
            </a:r>
            <a:r>
              <a:rPr sz="1333" spc="-27" dirty="0">
                <a:latin typeface="Roboto"/>
                <a:cs typeface="Roboto"/>
              </a:rPr>
              <a:t>class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lever...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80" baseline="13888" dirty="0">
                <a:latin typeface="Roboto"/>
                <a:cs typeface="Roboto"/>
              </a:rPr>
              <a:t>"barrow."</a:t>
            </a:r>
            <a:r>
              <a:rPr sz="2000" spc="49" baseline="13888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"barr</a:t>
            </a:r>
            <a:endParaRPr sz="2000" baseline="13888">
              <a:latin typeface="Roboto"/>
              <a:cs typeface="Roboto"/>
            </a:endParaRPr>
          </a:p>
          <a:p>
            <a:pPr marL="99904" marR="7620" indent="-9313">
              <a:spcBef>
                <a:spcPts val="7"/>
              </a:spcBef>
              <a:tabLst>
                <a:tab pos="1843147" algn="l"/>
              </a:tabLst>
            </a:pPr>
            <a:r>
              <a:rPr sz="1333" dirty="0">
                <a:latin typeface="Roboto"/>
                <a:cs typeface="Roboto"/>
              </a:rPr>
              <a:t>eat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</a:t>
            </a:r>
            <a:r>
              <a:rPr sz="1333" spc="480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key</a:t>
            </a:r>
            <a:r>
              <a:rPr sz="2000" spc="-49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ingredient</a:t>
            </a:r>
            <a:r>
              <a:rPr sz="2000" spc="980" baseline="-22222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english</a:t>
            </a:r>
            <a:r>
              <a:rPr sz="2000" spc="-49" baseline="13888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"bearw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-22222" dirty="0">
                <a:latin typeface="Roboto"/>
                <a:cs typeface="Roboto"/>
              </a:rPr>
              <a:t>lemonade</a:t>
            </a:r>
            <a:r>
              <a:rPr sz="2000" spc="-40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and</a:t>
            </a:r>
            <a:r>
              <a:rPr sz="2000" spc="780" baseline="-22222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carrying</a:t>
            </a:r>
            <a:r>
              <a:rPr sz="2000" spc="-29" baseline="13888" dirty="0">
                <a:latin typeface="Roboto"/>
                <a:cs typeface="Roboto"/>
              </a:rPr>
              <a:t> </a:t>
            </a:r>
            <a:r>
              <a:rPr sz="2000" spc="-20" baseline="13888" dirty="0">
                <a:latin typeface="Roboto"/>
                <a:cs typeface="Roboto"/>
              </a:rPr>
              <a:t>loads</a:t>
            </a:r>
            <a:endParaRPr sz="2000" baseline="13888">
              <a:latin typeface="Roboto"/>
              <a:cs typeface="Roboto"/>
            </a:endParaRPr>
          </a:p>
          <a:p>
            <a:pPr marL="3023371">
              <a:spcBef>
                <a:spcPts val="127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wheelbarro weight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l</a:t>
            </a:r>
            <a:r>
              <a:rPr sz="1333" spc="-27" dirty="0">
                <a:latin typeface="Roboto"/>
                <a:cs typeface="Roboto"/>
              </a:rPr>
              <a:t> operator,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e</a:t>
            </a:r>
            <a:r>
              <a:rPr sz="1333" spc="-13" dirty="0">
                <a:latin typeface="Roboto"/>
                <a:cs typeface="Roboto"/>
              </a:rPr>
              <a:t> heavier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b</a:t>
            </a:r>
            <a:r>
              <a:rPr sz="1333" dirty="0">
                <a:latin typeface="Roboto"/>
                <a:cs typeface="Roboto"/>
              </a:rPr>
              <a:t> were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weig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978155" y="751945"/>
            <a:ext cx="3990340" cy="4075007"/>
            <a:chOff x="3733616" y="563958"/>
            <a:chExt cx="2992755" cy="3056255"/>
          </a:xfrm>
        </p:grpSpPr>
        <p:sp>
          <p:nvSpPr>
            <p:cNvPr id="38" name="object 38"/>
            <p:cNvSpPr/>
            <p:nvPr/>
          </p:nvSpPr>
          <p:spPr>
            <a:xfrm>
              <a:off x="3743141" y="573483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2973599" y="3036600"/>
                  </a:moveTo>
                  <a:lnTo>
                    <a:pt x="0" y="3036600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30366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43141" y="573483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0" y="0"/>
                  </a:moveTo>
                  <a:lnTo>
                    <a:pt x="2973599" y="0"/>
                  </a:lnTo>
                  <a:lnTo>
                    <a:pt x="2973599" y="3036600"/>
                  </a:lnTo>
                  <a:lnTo>
                    <a:pt x="0" y="30366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936962" y="2067489"/>
            <a:ext cx="3990340" cy="3886200"/>
            <a:chOff x="2952721" y="1550617"/>
            <a:chExt cx="2992755" cy="2914650"/>
          </a:xfrm>
        </p:grpSpPr>
        <p:sp>
          <p:nvSpPr>
            <p:cNvPr id="41" name="object 41"/>
            <p:cNvSpPr/>
            <p:nvPr/>
          </p:nvSpPr>
          <p:spPr>
            <a:xfrm>
              <a:off x="2962246" y="1560142"/>
              <a:ext cx="2973705" cy="2895600"/>
            </a:xfrm>
            <a:custGeom>
              <a:avLst/>
              <a:gdLst/>
              <a:ahLst/>
              <a:cxnLst/>
              <a:rect l="l" t="t" r="r" b="b"/>
              <a:pathLst>
                <a:path w="2973704" h="2895600">
                  <a:moveTo>
                    <a:pt x="2973599" y="2895600"/>
                  </a:moveTo>
                  <a:lnTo>
                    <a:pt x="0" y="2895600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8956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62246" y="1560142"/>
              <a:ext cx="2973705" cy="2895600"/>
            </a:xfrm>
            <a:custGeom>
              <a:avLst/>
              <a:gdLst/>
              <a:ahLst/>
              <a:cxnLst/>
              <a:rect l="l" t="t" r="r" b="b"/>
              <a:pathLst>
                <a:path w="2973704" h="2895600">
                  <a:moveTo>
                    <a:pt x="0" y="0"/>
                  </a:moveTo>
                  <a:lnTo>
                    <a:pt x="2973599" y="0"/>
                  </a:lnTo>
                  <a:lnTo>
                    <a:pt x="2973599" y="2895600"/>
                  </a:lnTo>
                  <a:lnTo>
                    <a:pt x="0" y="28956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101897" y="2191514"/>
            <a:ext cx="4100407" cy="3676883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/>
          <a:p>
            <a:pPr marL="116837" marR="1935432" indent="-117684" algn="just">
              <a:lnSpc>
                <a:spcPts val="1533"/>
              </a:lnSpc>
              <a:spcBef>
                <a:spcPts val="73"/>
              </a:spcBef>
              <a:tabLst>
                <a:tab pos="2026023" algn="l"/>
              </a:tabLst>
            </a:pPr>
            <a:r>
              <a:rPr sz="2000" spc="-20" baseline="2777" dirty="0">
                <a:latin typeface="Roboto"/>
                <a:cs typeface="Roboto"/>
              </a:rPr>
              <a:t>nown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as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40" baseline="2777" dirty="0">
                <a:latin typeface="Roboto"/>
                <a:cs typeface="Roboto"/>
              </a:rPr>
              <a:t>treaty</a:t>
            </a:r>
            <a:r>
              <a:rPr sz="2000" spc="-49" baseline="2777" dirty="0">
                <a:latin typeface="Roboto"/>
                <a:cs typeface="Roboto"/>
              </a:rPr>
              <a:t> of</a:t>
            </a:r>
            <a:r>
              <a:rPr sz="2000" baseline="2777" dirty="0">
                <a:latin typeface="Roboto"/>
                <a:cs typeface="Roboto"/>
              </a:rPr>
              <a:t>	</a:t>
            </a:r>
            <a:r>
              <a:rPr sz="1333" spc="-67" dirty="0">
                <a:latin typeface="Roboto"/>
                <a:cs typeface="Roboto"/>
              </a:rPr>
              <a:t>w</a:t>
            </a:r>
            <a:r>
              <a:rPr sz="1333" spc="-13" dirty="0">
                <a:latin typeface="Roboto"/>
                <a:cs typeface="Roboto"/>
              </a:rPr>
              <a:t> bruary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42332" indent="78738" algn="just">
              <a:spcBef>
                <a:spcPts val="27"/>
              </a:spcBef>
            </a:pPr>
            <a:r>
              <a:rPr sz="2000" baseline="2777" dirty="0">
                <a:latin typeface="Roboto"/>
                <a:cs typeface="Roboto"/>
              </a:rPr>
              <a:t>france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spain,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with</a:t>
            </a:r>
            <a:r>
              <a:rPr sz="2000" spc="429" baseline="277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w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hand-</a:t>
            </a:r>
            <a:r>
              <a:rPr sz="1333" spc="-13" dirty="0">
                <a:latin typeface="Roboto"/>
                <a:cs typeface="Roboto"/>
              </a:rPr>
              <a:t>propelled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v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ter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great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britain's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victory</a:t>
            </a:r>
            <a:r>
              <a:rPr sz="2000" spc="509" baseline="277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st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b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ing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seven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40" baseline="2777" dirty="0">
                <a:latin typeface="Roboto"/>
                <a:cs typeface="Roboto"/>
              </a:rPr>
              <a:t>years'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war.</a:t>
            </a:r>
            <a:r>
              <a:rPr sz="2000" spc="400" baseline="277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uided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single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person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usi</a:t>
            </a:r>
            <a:endParaRPr sz="1333">
              <a:latin typeface="Roboto"/>
              <a:cs typeface="Roboto"/>
            </a:endParaRPr>
          </a:p>
          <a:p>
            <a:pPr marL="33866" marR="37252" indent="2029409">
              <a:tabLst>
                <a:tab pos="1979457" algn="l"/>
              </a:tabLst>
            </a:pPr>
            <a:r>
              <a:rPr sz="1333" spc="-27" dirty="0">
                <a:latin typeface="Roboto"/>
                <a:cs typeface="Roboto"/>
              </a:rPr>
              <a:t>rear,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sail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 </a:t>
            </a:r>
            <a:r>
              <a:rPr sz="2000" spc="-20" baseline="2777" dirty="0">
                <a:latin typeface="Roboto"/>
                <a:cs typeface="Roboto"/>
              </a:rPr>
              <a:t>ormally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ended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seven</a:t>
            </a:r>
            <a:r>
              <a:rPr sz="2000" spc="980" baseline="277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barrow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wind.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term </a:t>
            </a:r>
            <a:r>
              <a:rPr sz="2000" baseline="2777" dirty="0">
                <a:latin typeface="Roboto"/>
                <a:cs typeface="Roboto"/>
              </a:rPr>
              <a:t>ench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indian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war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in</a:t>
            </a:r>
            <a:r>
              <a:rPr sz="2000" baseline="2777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made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"wh</a:t>
            </a:r>
            <a:endParaRPr sz="1333">
              <a:latin typeface="Roboto"/>
              <a:cs typeface="Roboto"/>
            </a:endParaRPr>
          </a:p>
          <a:p>
            <a:pPr marL="82971" marR="58419" indent="72812" algn="just"/>
            <a:r>
              <a:rPr sz="2000" baseline="2777" dirty="0">
                <a:latin typeface="Roboto"/>
                <a:cs typeface="Roboto"/>
              </a:rPr>
              <a:t>,[1]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marked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679" baseline="2777" dirty="0">
                <a:latin typeface="Roboto"/>
                <a:cs typeface="Roboto"/>
              </a:rPr>
              <a:t>    </a:t>
            </a:r>
            <a:r>
              <a:rPr sz="1333" spc="-13" dirty="0">
                <a:latin typeface="Roboto"/>
                <a:cs typeface="Roboto"/>
              </a:rPr>
              <a:t>ow"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 </a:t>
            </a:r>
            <a:r>
              <a:rPr sz="2000" baseline="2777" dirty="0">
                <a:latin typeface="Roboto"/>
                <a:cs typeface="Roboto"/>
              </a:rPr>
              <a:t>ish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dominance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outside</a:t>
            </a:r>
            <a:r>
              <a:rPr sz="2000" spc="989" baseline="277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e"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33" dirty="0">
                <a:latin typeface="Roboto"/>
                <a:cs typeface="Roboto"/>
              </a:rPr>
              <a:t> use </a:t>
            </a:r>
            <a:r>
              <a:rPr sz="2000" baseline="2777" dirty="0">
                <a:latin typeface="Roboto"/>
                <a:cs typeface="Roboto"/>
              </a:rPr>
              <a:t>d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france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each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returned</a:t>
            </a:r>
            <a:r>
              <a:rPr sz="2000" spc="859" baseline="2777" dirty="0">
                <a:latin typeface="Roboto"/>
                <a:cs typeface="Roboto"/>
              </a:rPr>
              <a:t>  </a:t>
            </a:r>
            <a:r>
              <a:rPr sz="1333" spc="-67" dirty="0">
                <a:latin typeface="Roboto"/>
                <a:cs typeface="Roboto"/>
              </a:rPr>
              <a:t>.</a:t>
            </a:r>
            <a:endParaRPr sz="1333">
              <a:latin typeface="Roboto"/>
              <a:cs typeface="Roboto"/>
            </a:endParaRPr>
          </a:p>
          <a:p>
            <a:pPr marL="126150" algn="just">
              <a:lnSpc>
                <a:spcPts val="1533"/>
              </a:lnSpc>
            </a:pPr>
            <a:r>
              <a:rPr sz="1333" dirty="0">
                <a:latin typeface="Roboto"/>
                <a:cs typeface="Roboto"/>
              </a:rPr>
              <a:t>hey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</a:t>
            </a:r>
            <a:endParaRPr sz="1333">
              <a:latin typeface="Roboto"/>
              <a:cs typeface="Roboto"/>
            </a:endParaRPr>
          </a:p>
          <a:p>
            <a:pPr marL="10160" marR="29633" indent="98211" algn="r">
              <a:spcBef>
                <a:spcPts val="67"/>
              </a:spcBef>
              <a:tabLst>
                <a:tab pos="1931198" algn="l"/>
                <a:tab pos="1964218" algn="l"/>
                <a:tab pos="2078515" algn="l"/>
              </a:tabLst>
            </a:pPr>
            <a:r>
              <a:rPr sz="2000" spc="-20" baseline="2777" dirty="0">
                <a:latin typeface="Roboto"/>
                <a:cs typeface="Roboto"/>
              </a:rPr>
              <a:t>ritain</a:t>
            </a:r>
            <a:r>
              <a:rPr sz="2000" spc="-10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gained</a:t>
            </a:r>
            <a:r>
              <a:rPr sz="2000" spc="-10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much</a:t>
            </a:r>
            <a:r>
              <a:rPr sz="2000" spc="-8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of</a:t>
            </a:r>
            <a:r>
              <a:rPr sz="2000" baseline="2777" dirty="0">
                <a:latin typeface="Roboto"/>
                <a:cs typeface="Roboto"/>
              </a:rPr>
              <a:t>			</a:t>
            </a:r>
            <a:r>
              <a:rPr sz="1333" dirty="0">
                <a:latin typeface="Roboto"/>
                <a:cs typeface="Roboto"/>
              </a:rPr>
              <a:t>w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distribute </a:t>
            </a:r>
            <a:r>
              <a:rPr sz="2000" baseline="2777" dirty="0">
                <a:latin typeface="Roboto"/>
                <a:cs typeface="Roboto"/>
              </a:rPr>
              <a:t>orth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america.</a:t>
            </a:r>
            <a:r>
              <a:rPr sz="2000" baseline="2777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oad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 </a:t>
            </a:r>
            <a:r>
              <a:rPr sz="2000" baseline="2777" dirty="0">
                <a:latin typeface="Roboto"/>
                <a:cs typeface="Roboto"/>
              </a:rPr>
              <a:t>greed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to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protect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roman</a:t>
            </a:r>
            <a:r>
              <a:rPr sz="2000" spc="849" baseline="277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nabling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convenient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 </a:t>
            </a:r>
            <a:r>
              <a:rPr sz="2000" spc="-20" baseline="2777" dirty="0">
                <a:latin typeface="Roboto"/>
                <a:cs typeface="Roboto"/>
              </a:rPr>
              <a:t>orld...</a:t>
            </a:r>
            <a:r>
              <a:rPr sz="2000" baseline="2777" dirty="0">
                <a:latin typeface="Roboto"/>
                <a:cs typeface="Roboto"/>
              </a:rPr>
              <a:t>		</a:t>
            </a:r>
            <a:r>
              <a:rPr sz="1333" spc="-13" dirty="0">
                <a:latin typeface="Roboto"/>
                <a:cs typeface="Roboto"/>
              </a:rPr>
              <a:t>ulkier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loads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would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p</a:t>
            </a:r>
            <a:r>
              <a:rPr sz="1333" dirty="0">
                <a:latin typeface="Roboto"/>
                <a:cs typeface="Roboto"/>
              </a:rPr>
              <a:t> ht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entirely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op</a:t>
            </a:r>
            <a:endParaRPr sz="1333">
              <a:latin typeface="Roboto"/>
              <a:cs typeface="Roboto"/>
            </a:endParaRPr>
          </a:p>
          <a:p>
            <a:pPr marL="961789"/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such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second-</a:t>
            </a:r>
            <a:r>
              <a:rPr sz="1333" spc="-27" dirty="0">
                <a:latin typeface="Roboto"/>
                <a:cs typeface="Roboto"/>
              </a:rPr>
              <a:t>class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lever...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136130" y="1652650"/>
            <a:ext cx="3990340" cy="4075007"/>
            <a:chOff x="852097" y="1239487"/>
            <a:chExt cx="2992755" cy="3056255"/>
          </a:xfrm>
        </p:grpSpPr>
        <p:sp>
          <p:nvSpPr>
            <p:cNvPr id="45" name="object 45"/>
            <p:cNvSpPr/>
            <p:nvPr/>
          </p:nvSpPr>
          <p:spPr>
            <a:xfrm>
              <a:off x="861622" y="1249012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2973599" y="3036599"/>
                  </a:moveTo>
                  <a:lnTo>
                    <a:pt x="0" y="3036599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30365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61622" y="1249012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0" y="0"/>
                  </a:moveTo>
                  <a:lnTo>
                    <a:pt x="2973599" y="0"/>
                  </a:lnTo>
                  <a:lnTo>
                    <a:pt x="2973599" y="3036599"/>
                  </a:lnTo>
                  <a:lnTo>
                    <a:pt x="0" y="303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3200705" y="2241178"/>
            <a:ext cx="3990340" cy="3712633"/>
            <a:chOff x="2400528" y="1680883"/>
            <a:chExt cx="2992755" cy="2784475"/>
          </a:xfrm>
        </p:grpSpPr>
        <p:sp>
          <p:nvSpPr>
            <p:cNvPr id="48" name="object 48"/>
            <p:cNvSpPr/>
            <p:nvPr/>
          </p:nvSpPr>
          <p:spPr>
            <a:xfrm>
              <a:off x="2410053" y="1690408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2973599" y="2765099"/>
                  </a:moveTo>
                  <a:lnTo>
                    <a:pt x="0" y="2765099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7650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10053" y="1690408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0" y="0"/>
                  </a:moveTo>
                  <a:lnTo>
                    <a:pt x="2973599" y="0"/>
                  </a:lnTo>
                  <a:lnTo>
                    <a:pt x="2973599" y="2765099"/>
                  </a:lnTo>
                  <a:lnTo>
                    <a:pt x="0" y="2765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092045" y="2750871"/>
            <a:ext cx="3505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sp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067890" y="2954071"/>
            <a:ext cx="41063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plant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075175" y="3157271"/>
            <a:ext cx="3318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ily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n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76035" y="2510007"/>
            <a:ext cx="2425700" cy="316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3786">
              <a:lnSpc>
                <a:spcPts val="1507"/>
              </a:lnSpc>
              <a:tabLst>
                <a:tab pos="1478243" algn="l"/>
              </a:tabLst>
            </a:pPr>
            <a:r>
              <a:rPr sz="2000" spc="-20" baseline="-30555" dirty="0">
                <a:latin typeface="Roboto"/>
                <a:cs typeface="Roboto"/>
              </a:rPr>
              <a:t>ehicle,</a:t>
            </a:r>
            <a:r>
              <a:rPr sz="2000" baseline="-30555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seven</a:t>
            </a:r>
            <a:endParaRPr sz="1333">
              <a:latin typeface="Roboto"/>
              <a:cs typeface="Roboto"/>
            </a:endParaRPr>
          </a:p>
          <a:p>
            <a:pPr marL="126997" marR="35559" indent="-78738">
              <a:tabLst>
                <a:tab pos="776374" algn="l"/>
                <a:tab pos="1546821" algn="l"/>
              </a:tabLst>
            </a:pPr>
            <a:r>
              <a:rPr sz="2000" baseline="-22222" dirty="0">
                <a:latin typeface="Roboto"/>
                <a:cs typeface="Roboto"/>
              </a:rPr>
              <a:t>ecies</a:t>
            </a:r>
            <a:r>
              <a:rPr sz="2000" spc="-20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of</a:t>
            </a:r>
            <a:r>
              <a:rPr sz="2000" spc="329" baseline="-22222" dirty="0">
                <a:latin typeface="Roboto"/>
                <a:cs typeface="Roboto"/>
              </a:rPr>
              <a:t>  </a:t>
            </a:r>
            <a:r>
              <a:rPr sz="2000" spc="-100" baseline="-30555" dirty="0">
                <a:latin typeface="Roboto"/>
                <a:cs typeface="Roboto"/>
              </a:rPr>
              <a:t>e</a:t>
            </a:r>
            <a:r>
              <a:rPr sz="2000" baseline="-30555" dirty="0">
                <a:latin typeface="Roboto"/>
                <a:cs typeface="Roboto"/>
              </a:rPr>
              <a:t>	</a:t>
            </a:r>
            <a:r>
              <a:rPr sz="2000" spc="-320" baseline="-30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dian</a:t>
            </a:r>
            <a:r>
              <a:rPr sz="1333" spc="-8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 </a:t>
            </a:r>
            <a:r>
              <a:rPr sz="2000" spc="-20" baseline="-22222" dirty="0">
                <a:latin typeface="Roboto"/>
                <a:cs typeface="Roboto"/>
              </a:rPr>
              <a:t>family</a:t>
            </a:r>
            <a:r>
              <a:rPr sz="2000" baseline="-22222" dirty="0">
                <a:latin typeface="Roboto"/>
                <a:cs typeface="Roboto"/>
              </a:rPr>
              <a:t>	</a:t>
            </a:r>
            <a:r>
              <a:rPr sz="2000" baseline="-30555" dirty="0">
                <a:latin typeface="Roboto"/>
                <a:cs typeface="Roboto"/>
              </a:rPr>
              <a:t>ng</a:t>
            </a:r>
            <a:r>
              <a:rPr sz="2000" spc="-59" baseline="-30555" dirty="0">
                <a:latin typeface="Roboto"/>
                <a:cs typeface="Roboto"/>
              </a:rPr>
              <a:t> </a:t>
            </a:r>
            <a:r>
              <a:rPr sz="2000" spc="-49" baseline="-30555" dirty="0">
                <a:latin typeface="Roboto"/>
                <a:cs typeface="Roboto"/>
              </a:rPr>
              <a:t>two</a:t>
            </a:r>
            <a:r>
              <a:rPr sz="2000" baseline="-30555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rked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1486709" marR="58419" indent="-1474010">
              <a:tabLst>
                <a:tab pos="748435" algn="l"/>
                <a:tab pos="1484170" algn="l"/>
              </a:tabLst>
            </a:pPr>
            <a:r>
              <a:rPr sz="2000" spc="-40" baseline="-22222" dirty="0">
                <a:latin typeface="Roboto"/>
                <a:cs typeface="Roboto"/>
              </a:rPr>
              <a:t>orth</a:t>
            </a:r>
            <a:r>
              <a:rPr sz="2000" baseline="-22222" dirty="0">
                <a:latin typeface="Roboto"/>
                <a:cs typeface="Roboto"/>
              </a:rPr>
              <a:t>	</a:t>
            </a:r>
            <a:r>
              <a:rPr sz="2000" spc="-100" baseline="-30555" dirty="0">
                <a:latin typeface="Roboto"/>
                <a:cs typeface="Roboto"/>
              </a:rPr>
              <a:t>e</a:t>
            </a:r>
            <a:r>
              <a:rPr sz="2000" baseline="-30555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outside </a:t>
            </a:r>
            <a:r>
              <a:rPr sz="1333" dirty="0">
                <a:latin typeface="Roboto"/>
                <a:cs typeface="Roboto"/>
              </a:rPr>
              <a:t>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returned</a:t>
            </a:r>
            <a:endParaRPr sz="1333">
              <a:latin typeface="Roboto"/>
              <a:cs typeface="Roboto"/>
            </a:endParaRPr>
          </a:p>
          <a:p>
            <a:pPr marL="777221">
              <a:lnSpc>
                <a:spcPts val="1220"/>
              </a:lnSpc>
              <a:spcBef>
                <a:spcPts val="753"/>
              </a:spcBef>
            </a:pPr>
            <a:r>
              <a:rPr sz="1333" spc="-13" dirty="0">
                <a:latin typeface="Roboto"/>
                <a:cs typeface="Roboto"/>
              </a:rPr>
              <a:t>eel"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612" dirty="0">
                <a:latin typeface="Roboto"/>
                <a:cs typeface="Roboto"/>
              </a:rPr>
              <a:t> </a:t>
            </a:r>
            <a:r>
              <a:rPr sz="2000" spc="-20" baseline="30555" dirty="0">
                <a:latin typeface="Roboto"/>
                <a:cs typeface="Roboto"/>
              </a:rPr>
              <a:t>ptured</a:t>
            </a:r>
            <a:endParaRPr sz="2000" baseline="30555">
              <a:latin typeface="Roboto"/>
              <a:cs typeface="Roboto"/>
            </a:endParaRPr>
          </a:p>
          <a:p>
            <a:pPr marL="756901">
              <a:lnSpc>
                <a:spcPts val="1220"/>
              </a:lnSpc>
              <a:tabLst>
                <a:tab pos="1508722" algn="l"/>
              </a:tabLst>
            </a:pPr>
            <a:r>
              <a:rPr sz="2000" spc="-100" baseline="-30555" dirty="0">
                <a:latin typeface="Roboto"/>
                <a:cs typeface="Roboto"/>
              </a:rPr>
              <a:t>d</a:t>
            </a:r>
            <a:r>
              <a:rPr sz="2000" baseline="-30555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33" dirty="0">
                <a:latin typeface="Roboto"/>
                <a:cs typeface="Roboto"/>
              </a:rPr>
              <a:t> of</a:t>
            </a:r>
            <a:endParaRPr sz="1333">
              <a:latin typeface="Roboto"/>
              <a:cs typeface="Roboto"/>
            </a:endParaRPr>
          </a:p>
          <a:p>
            <a:pPr marL="1479936"/>
            <a:r>
              <a:rPr sz="1333" spc="-33" dirty="0">
                <a:latin typeface="Roboto"/>
                <a:cs typeface="Roboto"/>
              </a:rPr>
              <a:t>a.</a:t>
            </a:r>
            <a:endParaRPr sz="1333">
              <a:latin typeface="Roboto"/>
              <a:cs typeface="Roboto"/>
            </a:endParaRPr>
          </a:p>
          <a:p>
            <a:pPr marL="125304" indent="-126150">
              <a:lnSpc>
                <a:spcPct val="32900"/>
              </a:lnSpc>
              <a:spcBef>
                <a:spcPts val="1080"/>
              </a:spcBef>
              <a:tabLst>
                <a:tab pos="733195" algn="l"/>
                <a:tab pos="1603547" algn="l"/>
              </a:tabLst>
            </a:pPr>
            <a:r>
              <a:rPr sz="2000" spc="-20" baseline="44444" dirty="0">
                <a:latin typeface="Roboto"/>
                <a:cs typeface="Roboto"/>
              </a:rPr>
              <a:t>ghout</a:t>
            </a:r>
            <a:r>
              <a:rPr sz="2000" baseline="44444" dirty="0">
                <a:latin typeface="Roboto"/>
                <a:cs typeface="Roboto"/>
              </a:rPr>
              <a:t>	</a:t>
            </a:r>
            <a:r>
              <a:rPr sz="2000" baseline="36111" dirty="0">
                <a:latin typeface="Roboto"/>
                <a:cs typeface="Roboto"/>
              </a:rPr>
              <a:t>d</a:t>
            </a:r>
            <a:r>
              <a:rPr sz="2000" spc="-9" baseline="36111" dirty="0">
                <a:latin typeface="Roboto"/>
                <a:cs typeface="Roboto"/>
              </a:rPr>
              <a:t> </a:t>
            </a:r>
            <a:r>
              <a:rPr sz="2000" spc="-49" baseline="36111" dirty="0">
                <a:latin typeface="Roboto"/>
                <a:cs typeface="Roboto"/>
              </a:rPr>
              <a:t>for</a:t>
            </a:r>
            <a:r>
              <a:rPr sz="2000" baseline="36111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tect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roman </a:t>
            </a:r>
            <a:r>
              <a:rPr sz="1333" spc="-27" dirty="0">
                <a:latin typeface="Roboto"/>
                <a:cs typeface="Roboto"/>
              </a:rPr>
              <a:t>both</a:t>
            </a:r>
            <a:endParaRPr sz="1333">
              <a:latin typeface="Roboto"/>
              <a:cs typeface="Roboto"/>
            </a:endParaRPr>
          </a:p>
          <a:p>
            <a:pPr marL="39792"/>
            <a:r>
              <a:rPr sz="1333" dirty="0">
                <a:latin typeface="Roboto"/>
                <a:cs typeface="Roboto"/>
              </a:rPr>
              <a:t>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rind</a:t>
            </a:r>
            <a:endParaRPr sz="1333">
              <a:latin typeface="Roboto"/>
              <a:cs typeface="Roboto"/>
            </a:endParaRPr>
          </a:p>
          <a:p>
            <a:pPr marL="13546">
              <a:tabLst>
                <a:tab pos="814473" algn="l"/>
              </a:tabLst>
            </a:pPr>
            <a:r>
              <a:rPr sz="1333" dirty="0">
                <a:latin typeface="Roboto"/>
                <a:cs typeface="Roboto"/>
              </a:rPr>
              <a:t>g.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-8333" dirty="0">
                <a:latin typeface="Roboto"/>
                <a:cs typeface="Roboto"/>
              </a:rPr>
              <a:t>the</a:t>
            </a:r>
            <a:endParaRPr sz="2000" baseline="-8333">
              <a:latin typeface="Roboto"/>
              <a:cs typeface="Roboto"/>
            </a:endParaRPr>
          </a:p>
          <a:p>
            <a:pPr marL="32173" marR="1166677" indent="71118">
              <a:tabLst>
                <a:tab pos="773834" algn="l"/>
              </a:tabLst>
            </a:pPr>
            <a:r>
              <a:rPr sz="1333" spc="-13" dirty="0">
                <a:latin typeface="Roboto"/>
                <a:cs typeface="Roboto"/>
              </a:rPr>
              <a:t>acid,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60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ste.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8333" dirty="0">
                <a:latin typeface="Roboto"/>
                <a:cs typeface="Roboto"/>
              </a:rPr>
              <a:t>age</a:t>
            </a:r>
            <a:r>
              <a:rPr sz="2000" spc="-69" baseline="-8333" dirty="0">
                <a:latin typeface="Roboto"/>
                <a:cs typeface="Roboto"/>
              </a:rPr>
              <a:t> </a:t>
            </a:r>
            <a:r>
              <a:rPr sz="2000" spc="-49" baseline="-8333" dirty="0">
                <a:latin typeface="Roboto"/>
                <a:cs typeface="Roboto"/>
              </a:rPr>
              <a:t>of</a:t>
            </a:r>
            <a:endParaRPr sz="2000" baseline="-8333">
              <a:latin typeface="Roboto"/>
              <a:cs typeface="Roboto"/>
            </a:endParaRPr>
          </a:p>
          <a:p>
            <a:pPr marL="750975" marR="1092173" indent="-676470">
              <a:spcBef>
                <a:spcPts val="227"/>
              </a:spcBef>
              <a:tabLst>
                <a:tab pos="784840" algn="l"/>
              </a:tabLst>
            </a:pPr>
            <a:r>
              <a:rPr sz="2000" baseline="8333" dirty="0">
                <a:latin typeface="Roboto"/>
                <a:cs typeface="Roboto"/>
              </a:rPr>
              <a:t>s</a:t>
            </a:r>
            <a:r>
              <a:rPr sz="2000" spc="-4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it</a:t>
            </a:r>
            <a:r>
              <a:rPr sz="2000" spc="-49" baseline="8333" dirty="0">
                <a:latin typeface="Roboto"/>
                <a:cs typeface="Roboto"/>
              </a:rPr>
              <a:t> </a:t>
            </a:r>
            <a:r>
              <a:rPr sz="2000" spc="-100" baseline="8333" dirty="0">
                <a:latin typeface="Roboto"/>
                <a:cs typeface="Roboto"/>
              </a:rPr>
              <a:t>a</a:t>
            </a:r>
            <a:r>
              <a:rPr sz="2000" baseline="8333" dirty="0">
                <a:latin typeface="Roboto"/>
                <a:cs typeface="Roboto"/>
              </a:rPr>
              <a:t>		</a:t>
            </a:r>
            <a:r>
              <a:rPr sz="1333" spc="-13" dirty="0">
                <a:latin typeface="Roboto"/>
                <a:cs typeface="Roboto"/>
              </a:rPr>
              <a:t>ossible erator.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255876" y="3613914"/>
            <a:ext cx="4067387" cy="2218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7">
              <a:lnSpc>
                <a:spcPts val="1420"/>
              </a:lnSpc>
            </a:pPr>
            <a:r>
              <a:rPr sz="1333" dirty="0">
                <a:latin typeface="Roboto"/>
                <a:cs typeface="Roboto"/>
              </a:rPr>
              <a:t>own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fr</a:t>
            </a:r>
            <a:endParaRPr sz="1333">
              <a:latin typeface="Roboto"/>
              <a:cs typeface="Roboto"/>
            </a:endParaRPr>
          </a:p>
          <a:p>
            <a:pPr marL="57572">
              <a:lnSpc>
                <a:spcPts val="1520"/>
              </a:lnSpc>
            </a:pPr>
            <a:r>
              <a:rPr sz="2000" spc="-20" baseline="-5555" dirty="0">
                <a:latin typeface="Roboto"/>
                <a:cs typeface="Roboto"/>
              </a:rPr>
              <a:t>rican</a:t>
            </a:r>
            <a:r>
              <a:rPr sz="2000" spc="-8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theatre</a:t>
            </a:r>
            <a:r>
              <a:rPr sz="2000" spc="220" baseline="-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tree's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fruit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used</a:t>
            </a:r>
            <a:endParaRPr sz="1333">
              <a:latin typeface="Roboto"/>
              <a:cs typeface="Roboto"/>
            </a:endParaRPr>
          </a:p>
          <a:p>
            <a:pPr indent="74505" algn="r">
              <a:tabLst>
                <a:tab pos="973642" algn="l"/>
                <a:tab pos="1071007" algn="l"/>
              </a:tabLst>
            </a:pPr>
            <a:r>
              <a:rPr sz="2000" baseline="-5555" dirty="0">
                <a:latin typeface="Roboto"/>
                <a:cs typeface="Roboto"/>
              </a:rPr>
              <a:t>n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era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of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brit</a:t>
            </a:r>
            <a:r>
              <a:rPr sz="2000" spc="279" baseline="-5555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purposes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thro </a:t>
            </a:r>
            <a:r>
              <a:rPr sz="2000" baseline="-5555" dirty="0">
                <a:latin typeface="Roboto"/>
                <a:cs typeface="Roboto"/>
              </a:rPr>
              <a:t>at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britain</a:t>
            </a:r>
            <a:r>
              <a:rPr sz="2000" spc="-4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an</a:t>
            </a:r>
            <a:r>
              <a:rPr sz="2000" spc="26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world,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h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erritory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that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</a:t>
            </a:r>
            <a:r>
              <a:rPr sz="2000" spc="559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uses.[2]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pulp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but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great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b</a:t>
            </a:r>
            <a:r>
              <a:rPr sz="2000" spc="709" baseline="-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(zest)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cooking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baki </a:t>
            </a:r>
            <a:r>
              <a:rPr sz="2000" spc="-20" baseline="-5555" dirty="0">
                <a:latin typeface="Roboto"/>
                <a:cs typeface="Roboto"/>
              </a:rPr>
              <a:t>essions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in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spc="-100" baseline="-5555" dirty="0">
                <a:latin typeface="Roboto"/>
                <a:cs typeface="Roboto"/>
              </a:rPr>
              <a:t>n</a:t>
            </a:r>
            <a:r>
              <a:rPr sz="2000" baseline="-5555" dirty="0">
                <a:latin typeface="Roboto"/>
                <a:cs typeface="Roboto"/>
              </a:rPr>
              <a:t>		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citr </a:t>
            </a:r>
            <a:r>
              <a:rPr sz="2000" baseline="-5555" dirty="0">
                <a:latin typeface="Roboto"/>
                <a:cs typeface="Roboto"/>
              </a:rPr>
              <a:t>eat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britain</a:t>
            </a:r>
            <a:r>
              <a:rPr sz="2000" spc="-4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a</a:t>
            </a:r>
            <a:r>
              <a:rPr sz="2000" spc="540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the</a:t>
            </a:r>
            <a:r>
              <a:rPr sz="2000" spc="-8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new</a:t>
            </a:r>
            <a:r>
              <a:rPr sz="2000" spc="-80" baseline="-5555" dirty="0">
                <a:latin typeface="Roboto"/>
                <a:cs typeface="Roboto"/>
              </a:rPr>
              <a:t> </a:t>
            </a:r>
            <a:r>
              <a:rPr sz="2000" spc="-100" baseline="-5555" dirty="0">
                <a:latin typeface="Roboto"/>
                <a:cs typeface="Roboto"/>
              </a:rPr>
              <a:t>w</a:t>
            </a:r>
            <a:r>
              <a:rPr sz="2000" baseline="-5555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distinctive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ma</a:t>
            </a:r>
            <a:endParaRPr sz="1333">
              <a:latin typeface="Roboto"/>
              <a:cs typeface="Roboto"/>
            </a:endParaRPr>
          </a:p>
          <a:p>
            <a:pPr marL="1071007" marR="60958"/>
            <a:r>
              <a:rPr sz="1333" spc="-13" dirty="0">
                <a:latin typeface="Roboto"/>
                <a:cs typeface="Roboto"/>
              </a:rPr>
              <a:t>key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ingredient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drinks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foods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such </a:t>
            </a:r>
            <a:r>
              <a:rPr sz="1333" spc="-13" dirty="0">
                <a:latin typeface="Roboto"/>
                <a:cs typeface="Roboto"/>
              </a:rPr>
              <a:t>lemonade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meringue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pie...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469038" y="2297017"/>
            <a:ext cx="3990340" cy="3712633"/>
            <a:chOff x="4851778" y="1722762"/>
            <a:chExt cx="2992755" cy="2784475"/>
          </a:xfrm>
        </p:grpSpPr>
        <p:sp>
          <p:nvSpPr>
            <p:cNvPr id="56" name="object 56"/>
            <p:cNvSpPr/>
            <p:nvPr/>
          </p:nvSpPr>
          <p:spPr>
            <a:xfrm>
              <a:off x="4861303" y="1732287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2973600" y="2765099"/>
                  </a:moveTo>
                  <a:lnTo>
                    <a:pt x="0" y="2765099"/>
                  </a:lnTo>
                  <a:lnTo>
                    <a:pt x="0" y="0"/>
                  </a:lnTo>
                  <a:lnTo>
                    <a:pt x="2973600" y="0"/>
                  </a:lnTo>
                  <a:lnTo>
                    <a:pt x="2973600" y="27650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61303" y="1732287"/>
              <a:ext cx="2973705" cy="2765425"/>
            </a:xfrm>
            <a:custGeom>
              <a:avLst/>
              <a:gdLst/>
              <a:ahLst/>
              <a:cxnLst/>
              <a:rect l="l" t="t" r="r" b="b"/>
              <a:pathLst>
                <a:path w="2973704" h="2765425">
                  <a:moveTo>
                    <a:pt x="0" y="0"/>
                  </a:moveTo>
                  <a:lnTo>
                    <a:pt x="2973600" y="0"/>
                  </a:lnTo>
                  <a:lnTo>
                    <a:pt x="2973600" y="2765099"/>
                  </a:lnTo>
                  <a:lnTo>
                    <a:pt x="0" y="2765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579105" y="2806710"/>
            <a:ext cx="3547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l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79105" y="3009910"/>
            <a:ext cx="27008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Roboto"/>
                <a:cs typeface="Roboto"/>
              </a:rPr>
              <a:t>sm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26047" y="2835880"/>
            <a:ext cx="3460327" cy="3064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591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emon,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citrus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limon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(l.)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species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  <a:p>
            <a:pPr marL="38099" marR="43178" indent="-33866"/>
            <a:r>
              <a:rPr sz="1333" dirty="0">
                <a:latin typeface="Roboto"/>
                <a:cs typeface="Roboto"/>
              </a:rPr>
              <a:t>all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flowering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family </a:t>
            </a:r>
            <a:r>
              <a:rPr sz="1333" dirty="0">
                <a:latin typeface="Roboto"/>
                <a:cs typeface="Roboto"/>
              </a:rPr>
              <a:t>ceae,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native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south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asia,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north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tern</a:t>
            </a:r>
            <a:r>
              <a:rPr sz="1333" spc="-8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india.</a:t>
            </a:r>
            <a:endParaRPr sz="1333">
              <a:latin typeface="Roboto"/>
              <a:cs typeface="Roboto"/>
            </a:endParaRPr>
          </a:p>
          <a:p>
            <a:pPr marL="33866" marR="198115" indent="70272" algn="just">
              <a:spcBef>
                <a:spcPts val="1600"/>
              </a:spcBef>
            </a:pPr>
            <a:r>
              <a:rPr sz="1333" spc="-27" dirty="0">
                <a:latin typeface="Roboto"/>
                <a:cs typeface="Roboto"/>
              </a:rPr>
              <a:t>ree's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fruit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13" dirty="0">
                <a:latin typeface="Roboto"/>
                <a:cs typeface="Roboto"/>
              </a:rPr>
              <a:t> purposes throughout</a:t>
            </a:r>
            <a:endParaRPr sz="1333">
              <a:latin typeface="Roboto"/>
              <a:cs typeface="Roboto"/>
            </a:endParaRPr>
          </a:p>
          <a:p>
            <a:pPr marR="165943" indent="176102" algn="just"/>
            <a:r>
              <a:rPr sz="1333" dirty="0">
                <a:latin typeface="Roboto"/>
                <a:cs typeface="Roboto"/>
              </a:rPr>
              <a:t>orld,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both </a:t>
            </a:r>
            <a:r>
              <a:rPr sz="1333" spc="-13" dirty="0">
                <a:latin typeface="Roboto"/>
                <a:cs typeface="Roboto"/>
              </a:rPr>
              <a:t>nary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uses.[2]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pulp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rind </a:t>
            </a:r>
            <a:r>
              <a:rPr sz="1333" dirty="0">
                <a:latin typeface="Roboto"/>
                <a:cs typeface="Roboto"/>
              </a:rPr>
              <a:t>st)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cooking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baking.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acid,</a:t>
            </a:r>
            <a:endParaRPr sz="1333">
              <a:latin typeface="Roboto"/>
              <a:cs typeface="Roboto"/>
            </a:endParaRPr>
          </a:p>
          <a:p>
            <a:pPr marL="48259" marR="42332" indent="78738"/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inctive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makes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spc="-13" dirty="0">
                <a:latin typeface="Roboto"/>
                <a:cs typeface="Roboto"/>
              </a:rPr>
              <a:t> ngredient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drinks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foods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such</a:t>
            </a:r>
            <a:r>
              <a:rPr sz="1333" spc="-33" dirty="0">
                <a:latin typeface="Roboto"/>
                <a:cs typeface="Roboto"/>
              </a:rPr>
              <a:t> as</a:t>
            </a:r>
            <a:endParaRPr sz="1333">
              <a:latin typeface="Roboto"/>
              <a:cs typeface="Roboto"/>
            </a:endParaRPr>
          </a:p>
          <a:p>
            <a:pPr marL="48259"/>
            <a:r>
              <a:rPr sz="1333" dirty="0">
                <a:latin typeface="Roboto"/>
                <a:cs typeface="Roboto"/>
              </a:rPr>
              <a:t>onade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meringue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pie...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908555" y="2682345"/>
            <a:ext cx="3990340" cy="4075007"/>
            <a:chOff x="5181416" y="2011758"/>
            <a:chExt cx="2992755" cy="3056255"/>
          </a:xfrm>
        </p:grpSpPr>
        <p:sp>
          <p:nvSpPr>
            <p:cNvPr id="62" name="object 62"/>
            <p:cNvSpPr/>
            <p:nvPr/>
          </p:nvSpPr>
          <p:spPr>
            <a:xfrm>
              <a:off x="5190941" y="2021283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2973599" y="3036599"/>
                  </a:moveTo>
                  <a:lnTo>
                    <a:pt x="0" y="3036599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30365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90941" y="2021283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4">
                  <a:moveTo>
                    <a:pt x="0" y="0"/>
                  </a:moveTo>
                  <a:lnTo>
                    <a:pt x="2973599" y="0"/>
                  </a:lnTo>
                  <a:lnTo>
                    <a:pt x="2973599" y="3036599"/>
                  </a:lnTo>
                  <a:lnTo>
                    <a:pt x="0" y="303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018623" y="2785638"/>
            <a:ext cx="8280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 </a:t>
            </a:r>
            <a:r>
              <a:rPr sz="1333" spc="-67" dirty="0">
                <a:latin typeface="Roboto"/>
                <a:cs typeface="Roboto"/>
              </a:rPr>
              <a:t>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304528" y="3221208"/>
            <a:ext cx="2455333" cy="32692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304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also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  <a:p>
            <a:pPr marL="141390" marR="112604" indent="31326"/>
            <a:r>
              <a:rPr sz="1333" dirty="0">
                <a:latin typeface="Roboto"/>
                <a:cs typeface="Roboto"/>
              </a:rPr>
              <a:t>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february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with</a:t>
            </a:r>
            <a:endParaRPr sz="1333">
              <a:latin typeface="Roboto"/>
              <a:cs typeface="Roboto"/>
            </a:endParaRPr>
          </a:p>
          <a:p>
            <a:pPr marL="22859" indent="-23706"/>
            <a:r>
              <a:rPr sz="1333" dirty="0">
                <a:latin typeface="Roboto"/>
                <a:cs typeface="Roboto"/>
              </a:rPr>
              <a:t>ment,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britain's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victory </a:t>
            </a:r>
            <a:r>
              <a:rPr sz="1333" dirty="0">
                <a:latin typeface="Roboto"/>
                <a:cs typeface="Roboto"/>
              </a:rPr>
              <a:t>pain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seven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war.</a:t>
            </a:r>
            <a:endParaRPr sz="1333">
              <a:latin typeface="Roboto"/>
              <a:cs typeface="Roboto"/>
            </a:endParaRPr>
          </a:p>
          <a:p>
            <a:pPr marL="60112" marR="16933" indent="70272" algn="just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reaty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seven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</a:t>
            </a:r>
            <a:r>
              <a:rPr sz="1333" dirty="0">
                <a:latin typeface="Roboto"/>
                <a:cs typeface="Roboto"/>
              </a:rPr>
              <a:t> 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marked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45719" marR="86357" indent="31326" algn="just"/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 outside 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returned </a:t>
            </a:r>
            <a:r>
              <a:rPr sz="1333" dirty="0">
                <a:latin typeface="Roboto"/>
                <a:cs typeface="Roboto"/>
              </a:rPr>
              <a:t>ry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</a:t>
            </a:r>
            <a:endParaRPr sz="1333">
              <a:latin typeface="Roboto"/>
              <a:cs typeface="Roboto"/>
            </a:endParaRPr>
          </a:p>
          <a:p>
            <a:pPr marL="27939" marR="176102" indent="125304"/>
            <a:r>
              <a:rPr sz="1333" dirty="0">
                <a:latin typeface="Roboto"/>
                <a:cs typeface="Roboto"/>
              </a:rPr>
              <a:t>great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 </a:t>
            </a:r>
            <a:r>
              <a:rPr sz="1333" dirty="0">
                <a:latin typeface="Roboto"/>
                <a:cs typeface="Roboto"/>
              </a:rPr>
              <a:t>ons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endParaRPr sz="1333">
              <a:latin typeface="Roboto"/>
              <a:cs typeface="Roboto"/>
            </a:endParaRPr>
          </a:p>
          <a:p>
            <a:pPr marL="100751" marR="22859" indent="-10160"/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protect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roman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399438" y="3109817"/>
            <a:ext cx="3805767" cy="3712633"/>
            <a:chOff x="6299578" y="2332362"/>
            <a:chExt cx="2854325" cy="2784475"/>
          </a:xfrm>
        </p:grpSpPr>
        <p:sp>
          <p:nvSpPr>
            <p:cNvPr id="67" name="object 67"/>
            <p:cNvSpPr/>
            <p:nvPr/>
          </p:nvSpPr>
          <p:spPr>
            <a:xfrm>
              <a:off x="6309103" y="2341887"/>
              <a:ext cx="2835275" cy="2765425"/>
            </a:xfrm>
            <a:custGeom>
              <a:avLst/>
              <a:gdLst/>
              <a:ahLst/>
              <a:cxnLst/>
              <a:rect l="l" t="t" r="r" b="b"/>
              <a:pathLst>
                <a:path w="2835275" h="2765425">
                  <a:moveTo>
                    <a:pt x="0" y="0"/>
                  </a:moveTo>
                  <a:lnTo>
                    <a:pt x="2834896" y="0"/>
                  </a:lnTo>
                  <a:lnTo>
                    <a:pt x="2834896" y="2765099"/>
                  </a:lnTo>
                  <a:lnTo>
                    <a:pt x="0" y="2765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09103" y="2341887"/>
              <a:ext cx="2835275" cy="2765425"/>
            </a:xfrm>
            <a:custGeom>
              <a:avLst/>
              <a:gdLst/>
              <a:ahLst/>
              <a:cxnLst/>
              <a:rect l="l" t="t" r="r" b="b"/>
              <a:pathLst>
                <a:path w="2835275" h="2765425">
                  <a:moveTo>
                    <a:pt x="2834896" y="2765099"/>
                  </a:moveTo>
                  <a:lnTo>
                    <a:pt x="0" y="27650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756447" y="3648680"/>
            <a:ext cx="3460327" cy="3064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591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emon,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citrus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limon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(l.)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species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  <a:p>
            <a:pPr marL="38099" marR="43178" indent="-33866"/>
            <a:r>
              <a:rPr sz="1333" dirty="0">
                <a:latin typeface="Roboto"/>
                <a:cs typeface="Roboto"/>
              </a:rPr>
              <a:t>all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flowering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family </a:t>
            </a:r>
            <a:r>
              <a:rPr sz="1333" dirty="0">
                <a:latin typeface="Roboto"/>
                <a:cs typeface="Roboto"/>
              </a:rPr>
              <a:t>ceae,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native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south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asia,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north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tern</a:t>
            </a:r>
            <a:r>
              <a:rPr sz="1333" spc="-8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india.</a:t>
            </a:r>
            <a:endParaRPr sz="1333">
              <a:latin typeface="Roboto"/>
              <a:cs typeface="Roboto"/>
            </a:endParaRPr>
          </a:p>
          <a:p>
            <a:pPr marL="33866" marR="198115" indent="70272" algn="just">
              <a:spcBef>
                <a:spcPts val="1600"/>
              </a:spcBef>
            </a:pPr>
            <a:r>
              <a:rPr sz="1333" spc="-27" dirty="0">
                <a:latin typeface="Roboto"/>
                <a:cs typeface="Roboto"/>
              </a:rPr>
              <a:t>ree's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fruit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13" dirty="0">
                <a:latin typeface="Roboto"/>
                <a:cs typeface="Roboto"/>
              </a:rPr>
              <a:t> purposes throughout</a:t>
            </a:r>
            <a:endParaRPr sz="1333">
              <a:latin typeface="Roboto"/>
              <a:cs typeface="Roboto"/>
            </a:endParaRPr>
          </a:p>
          <a:p>
            <a:pPr marR="165943" indent="176102" algn="just"/>
            <a:r>
              <a:rPr sz="1333" dirty="0">
                <a:latin typeface="Roboto"/>
                <a:cs typeface="Roboto"/>
              </a:rPr>
              <a:t>orld,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both </a:t>
            </a:r>
            <a:r>
              <a:rPr sz="1333" spc="-13" dirty="0">
                <a:latin typeface="Roboto"/>
                <a:cs typeface="Roboto"/>
              </a:rPr>
              <a:t>nary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uses.[2]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pulp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rind </a:t>
            </a:r>
            <a:r>
              <a:rPr sz="1333" dirty="0">
                <a:latin typeface="Roboto"/>
                <a:cs typeface="Roboto"/>
              </a:rPr>
              <a:t>st)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cooking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baking.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acid,</a:t>
            </a:r>
            <a:endParaRPr sz="1333">
              <a:latin typeface="Roboto"/>
              <a:cs typeface="Roboto"/>
            </a:endParaRPr>
          </a:p>
          <a:p>
            <a:pPr marL="48259" marR="42332" indent="78738"/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inctive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makes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spc="-13" dirty="0">
                <a:latin typeface="Roboto"/>
                <a:cs typeface="Roboto"/>
              </a:rPr>
              <a:t> ngredient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drinks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foods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such</a:t>
            </a:r>
            <a:r>
              <a:rPr sz="1333" spc="-33" dirty="0">
                <a:latin typeface="Roboto"/>
                <a:cs typeface="Roboto"/>
              </a:rPr>
              <a:t> as</a:t>
            </a:r>
            <a:endParaRPr sz="1333">
              <a:latin typeface="Roboto"/>
              <a:cs typeface="Roboto"/>
            </a:endParaRPr>
          </a:p>
          <a:p>
            <a:pPr marL="48259"/>
            <a:r>
              <a:rPr sz="1333" dirty="0">
                <a:latin typeface="Roboto"/>
                <a:cs typeface="Roboto"/>
              </a:rPr>
              <a:t>onade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meringue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pie...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97314" y="1290808"/>
            <a:ext cx="2673773" cy="2769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aty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  <a:p>
            <a:pPr marL="119377"/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50799" marR="1931198" indent="31326"/>
            <a:r>
              <a:rPr sz="1333" dirty="0">
                <a:latin typeface="Roboto"/>
                <a:cs typeface="Roboto"/>
              </a:rPr>
              <a:t>in,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with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victory ars'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war.</a:t>
            </a:r>
            <a:endParaRPr sz="1333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33">
              <a:latin typeface="Roboto"/>
              <a:cs typeface="Roboto"/>
            </a:endParaRPr>
          </a:p>
          <a:p>
            <a:pPr>
              <a:spcBef>
                <a:spcPts val="793"/>
              </a:spcBef>
            </a:pPr>
            <a:endParaRPr sz="1333">
              <a:latin typeface="Roboto"/>
              <a:cs typeface="Roboto"/>
            </a:endParaRPr>
          </a:p>
          <a:p>
            <a:pPr marL="76198">
              <a:spcBef>
                <a:spcPts val="7"/>
              </a:spcBef>
            </a:pP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(1763)</a:t>
            </a:r>
            <a:endParaRPr sz="1333">
              <a:latin typeface="Roboto"/>
              <a:cs typeface="Roboto"/>
            </a:endParaRPr>
          </a:p>
          <a:p>
            <a:pPr>
              <a:spcBef>
                <a:spcPts val="339"/>
              </a:spcBef>
            </a:pPr>
            <a:endParaRPr sz="1333">
              <a:latin typeface="Roboto"/>
              <a:cs typeface="Roboto"/>
            </a:endParaRPr>
          </a:p>
          <a:p>
            <a:pPr marL="57572" marR="1537508" indent="13546">
              <a:lnSpc>
                <a:spcPts val="1440"/>
              </a:lnSpc>
              <a:spcBef>
                <a:spcPts val="7"/>
              </a:spcBef>
            </a:pPr>
            <a:r>
              <a:rPr sz="2000" baseline="5555" dirty="0">
                <a:latin typeface="Roboto"/>
                <a:cs typeface="Roboto"/>
              </a:rPr>
              <a:t>ris,</a:t>
            </a:r>
            <a:r>
              <a:rPr sz="2000" spc="989" baseline="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==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lemon </a:t>
            </a:r>
            <a:r>
              <a:rPr sz="1333" dirty="0">
                <a:latin typeface="Roboto"/>
                <a:cs typeface="Roboto"/>
              </a:rPr>
              <a:t>ed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o</a:t>
            </a:r>
            <a:endParaRPr sz="1333">
              <a:latin typeface="Roboto"/>
              <a:cs typeface="Roboto"/>
            </a:endParaRPr>
          </a:p>
          <a:p>
            <a:pPr marL="159169">
              <a:lnSpc>
                <a:spcPts val="1573"/>
              </a:lnSpc>
            </a:pPr>
            <a:r>
              <a:rPr sz="1333" dirty="0">
                <a:latin typeface="Roboto"/>
                <a:cs typeface="Roboto"/>
              </a:rPr>
              <a:t>at</a:t>
            </a:r>
            <a:r>
              <a:rPr sz="1333" spc="593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the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l</a:t>
            </a:r>
            <a:r>
              <a:rPr sz="2000" spc="849" baseline="-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==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(1763)</a:t>
            </a:r>
            <a:endParaRPr sz="1333">
              <a:latin typeface="Roboto"/>
              <a:cs typeface="Roboto"/>
            </a:endParaRPr>
          </a:p>
          <a:p>
            <a:pPr marL="116837">
              <a:spcBef>
                <a:spcPts val="167"/>
              </a:spcBef>
              <a:tabLst>
                <a:tab pos="428403" algn="l"/>
              </a:tabLst>
            </a:pPr>
            <a:r>
              <a:rPr sz="2000" spc="-100" baseline="5555" dirty="0">
                <a:latin typeface="Roboto"/>
                <a:cs typeface="Roboto"/>
              </a:rPr>
              <a:t>e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1333" spc="-33" dirty="0">
                <a:latin typeface="Roboto"/>
                <a:cs typeface="Roboto"/>
              </a:rPr>
              <a:t>sm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851655" y="3507845"/>
            <a:ext cx="3340947" cy="3350260"/>
          </a:xfrm>
          <a:custGeom>
            <a:avLst/>
            <a:gdLst/>
            <a:ahLst/>
            <a:cxnLst/>
            <a:rect l="l" t="t" r="r" b="b"/>
            <a:pathLst>
              <a:path w="2505709" h="2512695">
                <a:moveTo>
                  <a:pt x="0" y="0"/>
                </a:moveTo>
                <a:lnTo>
                  <a:pt x="2505258" y="0"/>
                </a:lnTo>
                <a:lnTo>
                  <a:pt x="2505258" y="2512616"/>
                </a:lnTo>
                <a:lnTo>
                  <a:pt x="0" y="2512616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9895809" y="4004838"/>
            <a:ext cx="230716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treaty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880435" y="4208038"/>
            <a:ext cx="23630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gned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february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930278" y="4411238"/>
            <a:ext cx="22622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great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888023" y="4614438"/>
            <a:ext cx="234950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greement,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britain's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v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923868" y="4817638"/>
            <a:ext cx="231140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seven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year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913432" y="5224038"/>
            <a:ext cx="22843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13" dirty="0">
                <a:latin typeface="Roboto"/>
                <a:cs typeface="Roboto"/>
              </a:rPr>
              <a:t> formally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9852619" y="5427238"/>
            <a:ext cx="2286000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4505" marR="6773" indent="-58419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nown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indian erican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marked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873385" y="6443238"/>
            <a:ext cx="2357119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ar,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muc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854561" y="6646438"/>
            <a:ext cx="201676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sessions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335429" y="3594156"/>
            <a:ext cx="3990340" cy="3276600"/>
            <a:chOff x="1751571" y="2695617"/>
            <a:chExt cx="2992755" cy="2457450"/>
          </a:xfrm>
        </p:grpSpPr>
        <p:sp>
          <p:nvSpPr>
            <p:cNvPr id="82" name="object 82"/>
            <p:cNvSpPr/>
            <p:nvPr/>
          </p:nvSpPr>
          <p:spPr>
            <a:xfrm>
              <a:off x="1761096" y="2705142"/>
              <a:ext cx="2973705" cy="2438400"/>
            </a:xfrm>
            <a:custGeom>
              <a:avLst/>
              <a:gdLst/>
              <a:ahLst/>
              <a:cxnLst/>
              <a:rect l="l" t="t" r="r" b="b"/>
              <a:pathLst>
                <a:path w="2973704" h="2438400">
                  <a:moveTo>
                    <a:pt x="0" y="0"/>
                  </a:moveTo>
                  <a:lnTo>
                    <a:pt x="2973599" y="0"/>
                  </a:lnTo>
                  <a:lnTo>
                    <a:pt x="2973599" y="2438357"/>
                  </a:lnTo>
                  <a:lnTo>
                    <a:pt x="0" y="2438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761096" y="2705142"/>
              <a:ext cx="2973705" cy="2438400"/>
            </a:xfrm>
            <a:custGeom>
              <a:avLst/>
              <a:gdLst/>
              <a:ahLst/>
              <a:cxnLst/>
              <a:rect l="l" t="t" r="r" b="b"/>
              <a:pathLst>
                <a:path w="2973704" h="2438400">
                  <a:moveTo>
                    <a:pt x="0" y="0"/>
                  </a:moveTo>
                  <a:lnTo>
                    <a:pt x="2973599" y="0"/>
                  </a:lnTo>
                  <a:lnTo>
                    <a:pt x="2973599" y="243835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582107" y="4103850"/>
            <a:ext cx="34713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ehic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543179" y="4307050"/>
            <a:ext cx="1236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67" dirty="0">
                <a:latin typeface="Roboto"/>
                <a:cs typeface="Roboto"/>
              </a:rPr>
              <a:t>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534475" y="4510250"/>
            <a:ext cx="320039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506178" y="4713450"/>
            <a:ext cx="1236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67" dirty="0">
                <a:latin typeface="Roboto"/>
                <a:cs typeface="Roboto"/>
              </a:rPr>
              <a:t>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514545" y="5323050"/>
            <a:ext cx="1295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67" dirty="0">
                <a:latin typeface="Roboto"/>
                <a:cs typeface="Roboto"/>
              </a:rPr>
              <a:t>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491314" y="5526250"/>
            <a:ext cx="3835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572633" y="6135850"/>
            <a:ext cx="27178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542507" y="6339050"/>
            <a:ext cx="27178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0168" y="3186440"/>
            <a:ext cx="3529753" cy="3609535"/>
          </a:xfrm>
          <a:prstGeom prst="rect">
            <a:avLst/>
          </a:prstGeom>
        </p:spPr>
        <p:txBody>
          <a:bodyPr vert="horz" wrap="square" lIns="0" tIns="59267" rIns="0" bIns="0" rtlCol="0">
            <a:spAutoFit/>
          </a:bodyPr>
          <a:lstStyle/>
          <a:p>
            <a:pPr>
              <a:lnSpc>
                <a:spcPts val="1400"/>
              </a:lnSpc>
              <a:spcBef>
                <a:spcPts val="467"/>
              </a:spcBef>
              <a:tabLst>
                <a:tab pos="3277365" algn="l"/>
              </a:tabLst>
            </a:pPr>
            <a:r>
              <a:rPr sz="1333" dirty="0">
                <a:latin typeface="Roboto"/>
                <a:cs typeface="Roboto"/>
              </a:rPr>
              <a:t>eur</a:t>
            </a:r>
            <a:r>
              <a:rPr sz="1333" spc="5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operator,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s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22222" dirty="0">
                <a:latin typeface="Roboto"/>
                <a:cs typeface="Roboto"/>
              </a:rPr>
              <a:t>rut</a:t>
            </a:r>
            <a:endParaRPr sz="2000" baseline="22222">
              <a:latin typeface="Roboto"/>
              <a:cs typeface="Roboto"/>
            </a:endParaRPr>
          </a:p>
          <a:p>
            <a:pPr>
              <a:lnSpc>
                <a:spcPts val="1400"/>
              </a:lnSpc>
              <a:tabLst>
                <a:tab pos="353051" algn="l"/>
                <a:tab pos="1212395" algn="l"/>
                <a:tab pos="3277365" algn="l"/>
              </a:tabLst>
            </a:pPr>
            <a:r>
              <a:rPr sz="2000" spc="-100" baseline="-16666" dirty="0">
                <a:latin typeface="Roboto"/>
                <a:cs typeface="Roboto"/>
              </a:rPr>
              <a:t>m</a:t>
            </a:r>
            <a:r>
              <a:rPr sz="2000" baseline="-16666" dirty="0">
                <a:latin typeface="Roboto"/>
                <a:cs typeface="Roboto"/>
              </a:rPr>
              <a:t>	</a:t>
            </a:r>
            <a:r>
              <a:rPr sz="2000" spc="-20" baseline="-16666" dirty="0">
                <a:latin typeface="Roboto"/>
                <a:cs typeface="Roboto"/>
              </a:rPr>
              <a:t>heavier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spc="-100" baseline="-16666" dirty="0">
                <a:latin typeface="Roboto"/>
                <a:cs typeface="Roboto"/>
              </a:rPr>
              <a:t>a</a:t>
            </a:r>
            <a:r>
              <a:rPr sz="2000" baseline="-16666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f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5555" dirty="0">
                <a:latin typeface="Roboto"/>
                <a:cs typeface="Roboto"/>
              </a:rPr>
              <a:t>ea</a:t>
            </a:r>
            <a:endParaRPr sz="2000" baseline="5555">
              <a:latin typeface="Roboto"/>
              <a:cs typeface="Roboto"/>
            </a:endParaRPr>
          </a:p>
          <a:p>
            <a:pPr marR="41486">
              <a:tabLst>
                <a:tab pos="2412092" algn="l"/>
              </a:tabLst>
            </a:pPr>
            <a:r>
              <a:rPr sz="2000" baseline="-16666" dirty="0">
                <a:latin typeface="Roboto"/>
                <a:cs typeface="Roboto"/>
              </a:rPr>
              <a:t>du</a:t>
            </a:r>
            <a:r>
              <a:rPr sz="2000" spc="409" baseline="-16666" dirty="0">
                <a:latin typeface="Roboto"/>
                <a:cs typeface="Roboto"/>
              </a:rPr>
              <a:t>  </a:t>
            </a:r>
            <a:r>
              <a:rPr sz="2000" baseline="-16666" dirty="0">
                <a:latin typeface="Roboto"/>
                <a:cs typeface="Roboto"/>
              </a:rPr>
              <a:t>were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the</a:t>
            </a:r>
            <a:r>
              <a:rPr sz="2000" spc="-49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w</a:t>
            </a:r>
            <a:r>
              <a:rPr sz="2000" spc="29" baseline="-16666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years' war, </a:t>
            </a:r>
            <a:r>
              <a:rPr sz="1333" spc="-33" dirty="0">
                <a:latin typeface="Roboto"/>
                <a:cs typeface="Roboto"/>
              </a:rPr>
              <a:t>kn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36111" dirty="0">
                <a:latin typeface="Roboto"/>
                <a:cs typeface="Roboto"/>
              </a:rPr>
              <a:t>==</a:t>
            </a:r>
            <a:r>
              <a:rPr sz="2000" spc="-89" baseline="-36111" dirty="0">
                <a:latin typeface="Roboto"/>
                <a:cs typeface="Roboto"/>
              </a:rPr>
              <a:t> </a:t>
            </a:r>
            <a:r>
              <a:rPr sz="2000" spc="-20" baseline="-36111" dirty="0">
                <a:latin typeface="Roboto"/>
                <a:cs typeface="Roboto"/>
              </a:rPr>
              <a:t>wheelbarro </a:t>
            </a:r>
            <a:r>
              <a:rPr sz="2000" baseline="-16666" dirty="0">
                <a:latin typeface="Roboto"/>
                <a:cs typeface="Roboto"/>
              </a:rPr>
              <a:t>fra</a:t>
            </a:r>
            <a:r>
              <a:rPr sz="2000" spc="320" baseline="-16666" dirty="0">
                <a:latin typeface="Roboto"/>
                <a:cs typeface="Roboto"/>
              </a:rPr>
              <a:t>  </a:t>
            </a:r>
            <a:r>
              <a:rPr sz="2000" baseline="-16666" dirty="0">
                <a:latin typeface="Roboto"/>
                <a:cs typeface="Roboto"/>
              </a:rPr>
              <a:t>as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spc="-20" baseline="-16666" dirty="0">
                <a:latin typeface="Roboto"/>
                <a:cs typeface="Roboto"/>
              </a:rPr>
              <a:t>such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it</a:t>
            </a:r>
            <a:r>
              <a:rPr sz="2000" spc="260" baseline="-16666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ame</a:t>
            </a:r>
            <a:endParaRPr sz="1333">
              <a:latin typeface="Roboto"/>
              <a:cs typeface="Roboto"/>
            </a:endParaRPr>
          </a:p>
          <a:p>
            <a:pPr marR="44026">
              <a:lnSpc>
                <a:spcPct val="75100"/>
              </a:lnSpc>
              <a:spcBef>
                <a:spcPts val="793"/>
              </a:spcBef>
            </a:pP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</a:t>
            </a:r>
            <a:r>
              <a:rPr sz="1333" spc="180" dirty="0">
                <a:latin typeface="Roboto"/>
                <a:cs typeface="Roboto"/>
              </a:rPr>
              <a:t>  </a:t>
            </a:r>
            <a:r>
              <a:rPr sz="2000" spc="-20" baseline="16666" dirty="0">
                <a:latin typeface="Roboto"/>
                <a:cs typeface="Roboto"/>
              </a:rPr>
              <a:t>beginning</a:t>
            </a:r>
            <a:r>
              <a:rPr sz="2000" spc="9" baseline="16666" dirty="0">
                <a:latin typeface="Roboto"/>
                <a:cs typeface="Roboto"/>
              </a:rPr>
              <a:t> </a:t>
            </a:r>
            <a:r>
              <a:rPr sz="2000" baseline="16666" dirty="0">
                <a:latin typeface="Roboto"/>
                <a:cs typeface="Roboto"/>
              </a:rPr>
              <a:t>of</a:t>
            </a:r>
            <a:r>
              <a:rPr sz="2000" spc="-9" baseline="16666" dirty="0">
                <a:latin typeface="Roboto"/>
                <a:cs typeface="Roboto"/>
              </a:rPr>
              <a:t> </a:t>
            </a:r>
            <a:r>
              <a:rPr sz="2000" baseline="16666" dirty="0">
                <a:latin typeface="Roboto"/>
                <a:cs typeface="Roboto"/>
              </a:rPr>
              <a:t>a</a:t>
            </a:r>
            <a:r>
              <a:rPr sz="2000" spc="279" baseline="16666" dirty="0">
                <a:latin typeface="Roboto"/>
                <a:cs typeface="Roboto"/>
              </a:rPr>
              <a:t>  </a:t>
            </a:r>
            <a:r>
              <a:rPr sz="2000" baseline="-19444" dirty="0">
                <a:latin typeface="Roboto"/>
                <a:cs typeface="Roboto"/>
              </a:rPr>
              <a:t>a </a:t>
            </a:r>
            <a:r>
              <a:rPr sz="2000" spc="-20" baseline="-19444" dirty="0">
                <a:latin typeface="Roboto"/>
                <a:cs typeface="Roboto"/>
              </a:rPr>
              <a:t>wheelbarro </a:t>
            </a:r>
            <a:r>
              <a:rPr sz="2000" spc="-20" baseline="-16666" dirty="0">
                <a:latin typeface="Roboto"/>
                <a:cs typeface="Roboto"/>
              </a:rPr>
              <a:t>catholicism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in</a:t>
            </a:r>
            <a:r>
              <a:rPr sz="2000" spc="420" baseline="-16666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europe.[2] </a:t>
            </a:r>
            <a:r>
              <a:rPr sz="1333" dirty="0">
                <a:latin typeface="Roboto"/>
                <a:cs typeface="Roboto"/>
              </a:rPr>
              <a:t>gre</a:t>
            </a:r>
            <a:r>
              <a:rPr sz="1333" spc="300" dirty="0">
                <a:latin typeface="Roboto"/>
                <a:cs typeface="Roboto"/>
              </a:rPr>
              <a:t>  </a:t>
            </a:r>
            <a:r>
              <a:rPr sz="2000" spc="-40" baseline="-36111" dirty="0">
                <a:latin typeface="Roboto"/>
                <a:cs typeface="Roboto"/>
              </a:rPr>
              <a:t>usually</a:t>
            </a:r>
            <a:r>
              <a:rPr sz="2000" spc="-29" baseline="-36111" dirty="0">
                <a:latin typeface="Roboto"/>
                <a:cs typeface="Roboto"/>
              </a:rPr>
              <a:t> </a:t>
            </a:r>
            <a:r>
              <a:rPr sz="2000" spc="-20" baseline="-36111" dirty="0">
                <a:latin typeface="Roboto"/>
                <a:cs typeface="Roboto"/>
              </a:rPr>
              <a:t>with</a:t>
            </a:r>
            <a:r>
              <a:rPr sz="2000" spc="-29" baseline="-36111" dirty="0">
                <a:latin typeface="Roboto"/>
                <a:cs typeface="Roboto"/>
              </a:rPr>
              <a:t> </a:t>
            </a:r>
            <a:r>
              <a:rPr sz="2000" spc="-49" baseline="-36111" dirty="0">
                <a:latin typeface="Roboto"/>
                <a:cs typeface="Roboto"/>
              </a:rPr>
              <a:t>ju</a:t>
            </a:r>
            <a:endParaRPr sz="2000" baseline="-36111">
              <a:latin typeface="Roboto"/>
              <a:cs typeface="Roboto"/>
            </a:endParaRPr>
          </a:p>
          <a:p>
            <a:pPr marL="1212395"/>
            <a:r>
              <a:rPr sz="1333" dirty="0">
                <a:latin typeface="Roboto"/>
                <a:cs typeface="Roboto"/>
              </a:rPr>
              <a:t>much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endParaRPr sz="1333">
              <a:latin typeface="Roboto"/>
              <a:cs typeface="Roboto"/>
            </a:endParaRPr>
          </a:p>
          <a:p>
            <a:pPr marL="1212395" marR="45719">
              <a:lnSpc>
                <a:spcPct val="55500"/>
              </a:lnSpc>
              <a:spcBef>
                <a:spcPts val="713"/>
              </a:spcBef>
              <a:tabLst>
                <a:tab pos="2412092" algn="l"/>
              </a:tabLst>
            </a:pPr>
            <a:r>
              <a:rPr sz="1333" dirty="0">
                <a:latin typeface="Roboto"/>
                <a:cs typeface="Roboto"/>
              </a:rPr>
              <a:t>during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war,</a:t>
            </a:r>
            <a:r>
              <a:rPr sz="1333" spc="353" dirty="0">
                <a:latin typeface="Roboto"/>
                <a:cs typeface="Roboto"/>
              </a:rPr>
              <a:t> </a:t>
            </a:r>
            <a:r>
              <a:rPr sz="2000" spc="-20" baseline="30555" dirty="0">
                <a:latin typeface="Roboto"/>
                <a:cs typeface="Roboto"/>
              </a:rPr>
              <a:t>pushed</a:t>
            </a:r>
            <a:r>
              <a:rPr sz="2000" spc="-80" baseline="30555" dirty="0">
                <a:latin typeface="Roboto"/>
                <a:cs typeface="Roboto"/>
              </a:rPr>
              <a:t> </a:t>
            </a:r>
            <a:r>
              <a:rPr sz="2000" baseline="30555" dirty="0">
                <a:latin typeface="Roboto"/>
                <a:cs typeface="Roboto"/>
              </a:rPr>
              <a:t>and</a:t>
            </a:r>
            <a:r>
              <a:rPr sz="2000" spc="-80" baseline="30555" dirty="0">
                <a:latin typeface="Roboto"/>
                <a:cs typeface="Roboto"/>
              </a:rPr>
              <a:t> </a:t>
            </a:r>
            <a:r>
              <a:rPr sz="2000" spc="-100" baseline="30555" dirty="0">
                <a:latin typeface="Roboto"/>
                <a:cs typeface="Roboto"/>
              </a:rPr>
              <a:t>g</a:t>
            </a:r>
            <a:r>
              <a:rPr sz="2000" spc="-40" baseline="30555" dirty="0">
                <a:latin typeface="Roboto"/>
                <a:cs typeface="Roboto"/>
              </a:rPr>
              <a:t> </a:t>
            </a:r>
            <a:r>
              <a:rPr sz="2000" spc="-40" baseline="-30555" dirty="0">
                <a:latin typeface="Roboto"/>
                <a:cs typeface="Roboto"/>
              </a:rPr>
              <a:t>france's</a:t>
            </a:r>
            <a:r>
              <a:rPr sz="2000" baseline="-30555" dirty="0">
                <a:latin typeface="Roboto"/>
                <a:cs typeface="Roboto"/>
              </a:rPr>
              <a:t> </a:t>
            </a:r>
            <a:r>
              <a:rPr sz="2000" spc="-40" baseline="-30555" dirty="0">
                <a:latin typeface="Roboto"/>
                <a:cs typeface="Roboto"/>
              </a:rPr>
              <a:t>poss</a:t>
            </a:r>
            <a:r>
              <a:rPr sz="2000" baseline="-30555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handles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1212395" marR="33019">
              <a:lnSpc>
                <a:spcPct val="55500"/>
              </a:lnSpc>
              <a:spcBef>
                <a:spcPts val="1427"/>
              </a:spcBef>
            </a:pP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</a:t>
            </a:r>
            <a:r>
              <a:rPr sz="1333" spc="579" dirty="0">
                <a:latin typeface="Roboto"/>
                <a:cs typeface="Roboto"/>
              </a:rPr>
              <a:t> </a:t>
            </a:r>
            <a:r>
              <a:rPr sz="2000" spc="-20" baseline="30555" dirty="0">
                <a:latin typeface="Roboto"/>
                <a:cs typeface="Roboto"/>
              </a:rPr>
              <a:t>ancient</a:t>
            </a:r>
            <a:r>
              <a:rPr sz="2000" spc="-9" baseline="30555" dirty="0">
                <a:latin typeface="Roboto"/>
                <a:cs typeface="Roboto"/>
              </a:rPr>
              <a:t> </a:t>
            </a:r>
            <a:r>
              <a:rPr sz="2000" spc="-20" baseline="30555" dirty="0">
                <a:latin typeface="Roboto"/>
                <a:cs typeface="Roboto"/>
              </a:rPr>
              <a:t>wheel </a:t>
            </a:r>
            <a:r>
              <a:rPr sz="2000" spc="-20" baseline="-30555" dirty="0">
                <a:latin typeface="Roboto"/>
                <a:cs typeface="Roboto"/>
              </a:rPr>
              <a:t>catholicism</a:t>
            </a:r>
            <a:r>
              <a:rPr sz="2000" spc="-49" baseline="-30555" dirty="0">
                <a:latin typeface="Roboto"/>
                <a:cs typeface="Roboto"/>
              </a:rPr>
              <a:t> </a:t>
            </a:r>
            <a:r>
              <a:rPr sz="2000" baseline="-30555" dirty="0">
                <a:latin typeface="Roboto"/>
                <a:cs typeface="Roboto"/>
              </a:rPr>
              <a:t>in</a:t>
            </a:r>
            <a:r>
              <a:rPr sz="2000" spc="329" baseline="-30555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"wheelbarrow"</a:t>
            </a:r>
            <a:endParaRPr sz="1333">
              <a:latin typeface="Roboto"/>
              <a:cs typeface="Roboto"/>
            </a:endParaRPr>
          </a:p>
          <a:p>
            <a:pPr marL="2412092" marR="7620" algn="just"/>
            <a:r>
              <a:rPr sz="1333" spc="-53" dirty="0">
                <a:latin typeface="Roboto"/>
                <a:cs typeface="Roboto"/>
              </a:rPr>
              <a:t>"barrow."</a:t>
            </a:r>
            <a:r>
              <a:rPr sz="1333" spc="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"barr english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"bearw carrying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loads</a:t>
            </a:r>
            <a:endParaRPr sz="1333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33">
              <a:latin typeface="Roboto"/>
              <a:cs typeface="Roboto"/>
            </a:endParaRPr>
          </a:p>
          <a:p>
            <a:pPr marL="2412092"/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wheelbarro weight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l</a:t>
            </a:r>
            <a:r>
              <a:rPr sz="1333" spc="-27" dirty="0">
                <a:latin typeface="Roboto"/>
                <a:cs typeface="Roboto"/>
              </a:rPr>
              <a:t> operator,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31253" y="119763"/>
            <a:ext cx="4083473" cy="3487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92157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lemon</a:t>
            </a:r>
            <a:endParaRPr sz="1333">
              <a:latin typeface="Roboto"/>
              <a:cs typeface="Roboto"/>
            </a:endParaRPr>
          </a:p>
          <a:p>
            <a:pPr marL="99904">
              <a:spcBef>
                <a:spcPts val="700"/>
              </a:spcBef>
            </a:pPr>
            <a:r>
              <a:rPr sz="1333" spc="-13" dirty="0">
                <a:latin typeface="Roboto"/>
                <a:cs typeface="Roboto"/>
              </a:rPr>
              <a:t>wheelbarrow</a:t>
            </a:r>
            <a:endParaRPr sz="1333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33">
              <a:latin typeface="Roboto"/>
              <a:cs typeface="Roboto"/>
            </a:endParaRPr>
          </a:p>
          <a:p>
            <a:pPr marL="53339" marR="587572" indent="79585"/>
            <a:r>
              <a:rPr sz="1333" spc="-13" dirty="0">
                <a:latin typeface="Roboto"/>
                <a:cs typeface="Roboto"/>
              </a:rPr>
              <a:t>heelbarrow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hand-</a:t>
            </a:r>
            <a:r>
              <a:rPr sz="1333" spc="-13" dirty="0">
                <a:latin typeface="Roboto"/>
                <a:cs typeface="Roboto"/>
              </a:rPr>
              <a:t>propelled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vehicle, ually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just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be</a:t>
            </a:r>
            <a:endParaRPr sz="1333">
              <a:latin typeface="Roboto"/>
              <a:cs typeface="Roboto"/>
            </a:endParaRPr>
          </a:p>
          <a:p>
            <a:pPr marL="60112"/>
            <a:r>
              <a:rPr sz="1333" dirty="0">
                <a:latin typeface="Roboto"/>
                <a:cs typeface="Roboto"/>
              </a:rPr>
              <a:t>shed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guided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single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person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two</a:t>
            </a:r>
            <a:endParaRPr sz="1333">
              <a:latin typeface="Roboto"/>
              <a:cs typeface="Roboto"/>
            </a:endParaRPr>
          </a:p>
          <a:p>
            <a:pPr marL="57572" marR="11853" indent="-847">
              <a:tabLst>
                <a:tab pos="3721854" algn="l"/>
              </a:tabLst>
            </a:pPr>
            <a:r>
              <a:rPr sz="1333" dirty="0">
                <a:latin typeface="Roboto"/>
                <a:cs typeface="Roboto"/>
              </a:rPr>
              <a:t>ndles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rear,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sail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push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-22222" dirty="0">
                <a:latin typeface="Roboto"/>
                <a:cs typeface="Roboto"/>
              </a:rPr>
              <a:t>mon </a:t>
            </a:r>
            <a:r>
              <a:rPr sz="1333" spc="-13" dirty="0">
                <a:latin typeface="Roboto"/>
                <a:cs typeface="Roboto"/>
              </a:rPr>
              <a:t>cient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w</a:t>
            </a:r>
            <a:endParaRPr sz="1333">
              <a:latin typeface="Roboto"/>
              <a:cs typeface="Roboto"/>
            </a:endParaRPr>
          </a:p>
          <a:p>
            <a:pPr marL="54185">
              <a:lnSpc>
                <a:spcPts val="1213"/>
              </a:lnSpc>
              <a:tabLst>
                <a:tab pos="731502" algn="l"/>
              </a:tabLst>
            </a:pPr>
            <a:r>
              <a:rPr sz="2000" spc="-20" baseline="-16666" dirty="0">
                <a:latin typeface="Roboto"/>
                <a:cs typeface="Roboto"/>
              </a:rPr>
              <a:t>heelba</a:t>
            </a:r>
            <a:r>
              <a:rPr sz="2000" baseline="-16666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==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 (1763)</a:t>
            </a:r>
            <a:endParaRPr sz="1333">
              <a:latin typeface="Roboto"/>
              <a:cs typeface="Roboto"/>
            </a:endParaRPr>
          </a:p>
          <a:p>
            <a:pPr marL="21166">
              <a:lnSpc>
                <a:spcPts val="1407"/>
              </a:lnSpc>
              <a:spcBef>
                <a:spcPts val="393"/>
              </a:spcBef>
            </a:pPr>
            <a:r>
              <a:rPr sz="1333" spc="-53" dirty="0">
                <a:latin typeface="Roboto"/>
                <a:cs typeface="Roboto"/>
              </a:rPr>
              <a:t>arrow."</a:t>
            </a:r>
            <a:r>
              <a:rPr sz="1333" spc="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"</a:t>
            </a:r>
            <a:endParaRPr sz="1333">
              <a:latin typeface="Roboto"/>
              <a:cs typeface="Roboto"/>
            </a:endParaRPr>
          </a:p>
          <a:p>
            <a:pPr marL="55032">
              <a:lnSpc>
                <a:spcPts val="1407"/>
              </a:lnSpc>
              <a:tabLst>
                <a:tab pos="731502" algn="l"/>
              </a:tabLst>
            </a:pPr>
            <a:r>
              <a:rPr sz="2000" spc="-20" baseline="-16666" dirty="0">
                <a:latin typeface="Roboto"/>
                <a:cs typeface="Roboto"/>
              </a:rPr>
              <a:t>glish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spc="-100" baseline="-16666" dirty="0">
                <a:latin typeface="Roboto"/>
                <a:cs typeface="Roboto"/>
              </a:rPr>
              <a:t>"</a:t>
            </a:r>
            <a:r>
              <a:rPr sz="2000" baseline="-16666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k</a:t>
            </a:r>
            <a:endParaRPr sz="1333">
              <a:latin typeface="Roboto"/>
              <a:cs typeface="Roboto"/>
            </a:endParaRPr>
          </a:p>
          <a:p>
            <a:pPr marL="731502" marR="579952" indent="-679010">
              <a:tabLst>
                <a:tab pos="731502" algn="l"/>
              </a:tabLst>
            </a:pPr>
            <a:r>
              <a:rPr sz="2000" spc="-20" baseline="-16666" dirty="0">
                <a:latin typeface="Roboto"/>
                <a:cs typeface="Roboto"/>
              </a:rPr>
              <a:t>rrying</a:t>
            </a:r>
            <a:r>
              <a:rPr sz="2000" spc="-59" baseline="-16666" dirty="0">
                <a:latin typeface="Roboto"/>
                <a:cs typeface="Roboto"/>
              </a:rPr>
              <a:t> </a:t>
            </a:r>
            <a:r>
              <a:rPr sz="2000" spc="-100" baseline="-16666" dirty="0">
                <a:latin typeface="Roboto"/>
                <a:cs typeface="Roboto"/>
              </a:rPr>
              <a:t>l</a:t>
            </a:r>
            <a:r>
              <a:rPr sz="2000" baseline="-16666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1763,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fe</a:t>
            </a:r>
            <a:r>
              <a:rPr sz="1333" spc="433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==</a:t>
            </a:r>
            <a:r>
              <a:rPr sz="2000" spc="-59" baseline="5555" dirty="0">
                <a:latin typeface="Roboto"/>
                <a:cs typeface="Roboto"/>
              </a:rPr>
              <a:t> </a:t>
            </a:r>
            <a:r>
              <a:rPr sz="2000" spc="-20" baseline="5555" dirty="0">
                <a:latin typeface="Roboto"/>
                <a:cs typeface="Roboto"/>
              </a:rPr>
              <a:t>lemon </a:t>
            </a:r>
            <a:r>
              <a:rPr sz="1333" spc="-13" dirty="0">
                <a:latin typeface="Roboto"/>
                <a:cs typeface="Roboto"/>
              </a:rPr>
              <a:t>kingdoms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endParaRPr sz="1333">
              <a:latin typeface="Roboto"/>
              <a:cs typeface="Roboto"/>
            </a:endParaRPr>
          </a:p>
          <a:p>
            <a:pPr indent="152396">
              <a:tabLst>
                <a:tab pos="2795623" algn="l"/>
              </a:tabLst>
            </a:pPr>
            <a:r>
              <a:rPr sz="2000" baseline="-16666" dirty="0">
                <a:latin typeface="Roboto"/>
                <a:cs typeface="Roboto"/>
              </a:rPr>
              <a:t>wheel</a:t>
            </a:r>
            <a:r>
              <a:rPr sz="2000" spc="269" baseline="-16666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portugal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af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5555" dirty="0">
                <a:latin typeface="Roboto"/>
                <a:cs typeface="Roboto"/>
              </a:rPr>
              <a:t>the</a:t>
            </a:r>
            <a:r>
              <a:rPr sz="2000" spc="-10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lemon,</a:t>
            </a:r>
            <a:r>
              <a:rPr sz="2000" spc="-100" baseline="5555" dirty="0">
                <a:latin typeface="Roboto"/>
                <a:cs typeface="Roboto"/>
              </a:rPr>
              <a:t> </a:t>
            </a:r>
            <a:r>
              <a:rPr sz="2000" spc="-20" baseline="5555" dirty="0">
                <a:latin typeface="Roboto"/>
                <a:cs typeface="Roboto"/>
              </a:rPr>
              <a:t>citrus </a:t>
            </a:r>
            <a:r>
              <a:rPr sz="2000" spc="-20" baseline="-16666" dirty="0">
                <a:latin typeface="Roboto"/>
                <a:cs typeface="Roboto"/>
              </a:rPr>
              <a:t>eight</a:t>
            </a:r>
            <a:r>
              <a:rPr sz="2000" spc="-49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of</a:t>
            </a:r>
            <a:r>
              <a:rPr sz="2000" spc="400" baseline="-16666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over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</a:t>
            </a:r>
            <a:r>
              <a:rPr sz="1333" spc="267" dirty="0">
                <a:latin typeface="Roboto"/>
                <a:cs typeface="Roboto"/>
              </a:rPr>
              <a:t>  </a:t>
            </a:r>
            <a:r>
              <a:rPr sz="2000" spc="-20" baseline="5555" dirty="0">
                <a:latin typeface="Roboto"/>
                <a:cs typeface="Roboto"/>
              </a:rPr>
              <a:t>small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spc="-20" baseline="5555" dirty="0">
                <a:latin typeface="Roboto"/>
                <a:cs typeface="Roboto"/>
              </a:rPr>
              <a:t>evergreen</a:t>
            </a:r>
            <a:r>
              <a:rPr sz="2000" spc="-40" baseline="5555" dirty="0">
                <a:latin typeface="Roboto"/>
                <a:cs typeface="Roboto"/>
              </a:rPr>
              <a:t> </a:t>
            </a:r>
            <a:r>
              <a:rPr sz="2000" spc="-100" baseline="5555" dirty="0">
                <a:latin typeface="Roboto"/>
                <a:cs typeface="Roboto"/>
              </a:rPr>
              <a:t>t</a:t>
            </a:r>
            <a:endParaRPr sz="2000" baseline="5555">
              <a:latin typeface="Roboto"/>
              <a:cs typeface="Roboto"/>
            </a:endParaRPr>
          </a:p>
          <a:p>
            <a:pPr algn="r">
              <a:lnSpc>
                <a:spcPts val="1433"/>
              </a:lnSpc>
            </a:pPr>
            <a:r>
              <a:rPr sz="1333" dirty="0">
                <a:latin typeface="Roboto"/>
                <a:cs typeface="Roboto"/>
              </a:rPr>
              <a:t>aceae,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native</a:t>
            </a:r>
            <a:r>
              <a:rPr sz="1333" spc="-67" dirty="0">
                <a:latin typeface="Roboto"/>
                <a:cs typeface="Roboto"/>
              </a:rPr>
              <a:t> t</a:t>
            </a:r>
            <a:endParaRPr sz="1333">
              <a:latin typeface="Roboto"/>
              <a:cs typeface="Roboto"/>
            </a:endParaRPr>
          </a:p>
          <a:p>
            <a:pPr marL="119377">
              <a:tabLst>
                <a:tab pos="2977652" algn="l"/>
              </a:tabLst>
            </a:pPr>
            <a:r>
              <a:rPr sz="2000" spc="-20" baseline="25000" dirty="0">
                <a:latin typeface="Roboto"/>
                <a:cs typeface="Roboto"/>
              </a:rPr>
              <a:t>aris</a:t>
            </a:r>
            <a:r>
              <a:rPr sz="2000" spc="-69" baseline="25000" dirty="0">
                <a:latin typeface="Roboto"/>
                <a:cs typeface="Roboto"/>
              </a:rPr>
              <a:t> </a:t>
            </a:r>
            <a:r>
              <a:rPr sz="2000" spc="-20" baseline="25000" dirty="0">
                <a:latin typeface="Roboto"/>
                <a:cs typeface="Roboto"/>
              </a:rPr>
              <a:t>(1763)</a:t>
            </a:r>
            <a:r>
              <a:rPr sz="2000" baseline="25000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stern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-12699" y="3179316"/>
            <a:ext cx="3538220" cy="3691467"/>
            <a:chOff x="-9525" y="2384487"/>
            <a:chExt cx="2653665" cy="2768600"/>
          </a:xfrm>
        </p:grpSpPr>
        <p:sp>
          <p:nvSpPr>
            <p:cNvPr id="95" name="object 95"/>
            <p:cNvSpPr/>
            <p:nvPr/>
          </p:nvSpPr>
          <p:spPr>
            <a:xfrm>
              <a:off x="0" y="2394012"/>
              <a:ext cx="2634615" cy="2749550"/>
            </a:xfrm>
            <a:custGeom>
              <a:avLst/>
              <a:gdLst/>
              <a:ahLst/>
              <a:cxnLst/>
              <a:rect l="l" t="t" r="r" b="b"/>
              <a:pathLst>
                <a:path w="2634615" h="2749550">
                  <a:moveTo>
                    <a:pt x="0" y="0"/>
                  </a:moveTo>
                  <a:lnTo>
                    <a:pt x="2634072" y="0"/>
                  </a:lnTo>
                  <a:lnTo>
                    <a:pt x="2634072" y="2749487"/>
                  </a:lnTo>
                  <a:lnTo>
                    <a:pt x="0" y="27494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0" y="2394012"/>
              <a:ext cx="2634615" cy="2749550"/>
            </a:xfrm>
            <a:custGeom>
              <a:avLst/>
              <a:gdLst/>
              <a:ahLst/>
              <a:cxnLst/>
              <a:rect l="l" t="t" r="r" b="b"/>
              <a:pathLst>
                <a:path w="2634615" h="2749550">
                  <a:moveTo>
                    <a:pt x="0" y="0"/>
                  </a:moveTo>
                  <a:lnTo>
                    <a:pt x="2634072" y="0"/>
                  </a:lnTo>
                  <a:lnTo>
                    <a:pt x="2634072" y="274948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-20367" y="3689010"/>
            <a:ext cx="15383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reaty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k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-40407" y="4095410"/>
            <a:ext cx="163830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doms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-47389" y="4298610"/>
            <a:ext cx="16078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ugal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af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500363" y="3718180"/>
            <a:ext cx="4100407" cy="3061458"/>
          </a:xfrm>
          <a:prstGeom prst="rect">
            <a:avLst/>
          </a:prstGeom>
        </p:spPr>
        <p:txBody>
          <a:bodyPr vert="horz" wrap="square" lIns="0" tIns="9313" rIns="0" bIns="0" rtlCol="0">
            <a:spAutoFit/>
          </a:bodyPr>
          <a:lstStyle/>
          <a:p>
            <a:pPr marL="116837" marR="1935432" indent="-117684" algn="just">
              <a:lnSpc>
                <a:spcPts val="1533"/>
              </a:lnSpc>
              <a:spcBef>
                <a:spcPts val="73"/>
              </a:spcBef>
              <a:tabLst>
                <a:tab pos="2026023" algn="l"/>
              </a:tabLst>
            </a:pPr>
            <a:r>
              <a:rPr sz="2000" spc="-20" baseline="2777" dirty="0">
                <a:latin typeface="Roboto"/>
                <a:cs typeface="Roboto"/>
              </a:rPr>
              <a:t>nown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as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40" baseline="2777" dirty="0">
                <a:latin typeface="Roboto"/>
                <a:cs typeface="Roboto"/>
              </a:rPr>
              <a:t>treaty</a:t>
            </a:r>
            <a:r>
              <a:rPr sz="2000" spc="-49" baseline="2777" dirty="0">
                <a:latin typeface="Roboto"/>
                <a:cs typeface="Roboto"/>
              </a:rPr>
              <a:t> of</a:t>
            </a:r>
            <a:r>
              <a:rPr sz="2000" baseline="2777" dirty="0">
                <a:latin typeface="Roboto"/>
                <a:cs typeface="Roboto"/>
              </a:rPr>
              <a:t>	</a:t>
            </a:r>
            <a:r>
              <a:rPr sz="1333" spc="-67" dirty="0">
                <a:latin typeface="Roboto"/>
                <a:cs typeface="Roboto"/>
              </a:rPr>
              <a:t>w</a:t>
            </a:r>
            <a:r>
              <a:rPr sz="1333" spc="-13" dirty="0">
                <a:latin typeface="Roboto"/>
                <a:cs typeface="Roboto"/>
              </a:rPr>
              <a:t> bruary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42332" indent="78738" algn="just">
              <a:spcBef>
                <a:spcPts val="27"/>
              </a:spcBef>
            </a:pPr>
            <a:r>
              <a:rPr sz="2000" baseline="2777" dirty="0">
                <a:latin typeface="Roboto"/>
                <a:cs typeface="Roboto"/>
              </a:rPr>
              <a:t>france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spain,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with</a:t>
            </a:r>
            <a:r>
              <a:rPr sz="2000" spc="429" baseline="277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w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hand-</a:t>
            </a:r>
            <a:r>
              <a:rPr sz="1333" spc="-13" dirty="0">
                <a:latin typeface="Roboto"/>
                <a:cs typeface="Roboto"/>
              </a:rPr>
              <a:t>propelled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v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ter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great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britain's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victory</a:t>
            </a:r>
            <a:r>
              <a:rPr sz="2000" spc="509" baseline="277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st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b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ing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seven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40" baseline="2777" dirty="0">
                <a:latin typeface="Roboto"/>
                <a:cs typeface="Roboto"/>
              </a:rPr>
              <a:t>years'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war.</a:t>
            </a:r>
            <a:r>
              <a:rPr sz="2000" spc="400" baseline="277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uided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single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person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usi</a:t>
            </a:r>
            <a:endParaRPr sz="1333">
              <a:latin typeface="Roboto"/>
              <a:cs typeface="Roboto"/>
            </a:endParaRPr>
          </a:p>
          <a:p>
            <a:pPr marL="33866" marR="37252" indent="2029409">
              <a:tabLst>
                <a:tab pos="1979457" algn="l"/>
              </a:tabLst>
            </a:pPr>
            <a:r>
              <a:rPr sz="1333" spc="-27" dirty="0">
                <a:latin typeface="Roboto"/>
                <a:cs typeface="Roboto"/>
              </a:rPr>
              <a:t>rear,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sail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 </a:t>
            </a:r>
            <a:r>
              <a:rPr sz="2000" spc="-20" baseline="2777" dirty="0">
                <a:latin typeface="Roboto"/>
                <a:cs typeface="Roboto"/>
              </a:rPr>
              <a:t>ormally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ended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seven</a:t>
            </a:r>
            <a:r>
              <a:rPr sz="2000" spc="980" baseline="277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barrow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wind.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term </a:t>
            </a:r>
            <a:r>
              <a:rPr sz="2000" baseline="2777" dirty="0">
                <a:latin typeface="Roboto"/>
                <a:cs typeface="Roboto"/>
              </a:rPr>
              <a:t>ench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indian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war</a:t>
            </a:r>
            <a:r>
              <a:rPr sz="2000" spc="-80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in</a:t>
            </a:r>
            <a:r>
              <a:rPr sz="2000" baseline="2777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made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"wh</a:t>
            </a:r>
            <a:endParaRPr sz="1333">
              <a:latin typeface="Roboto"/>
              <a:cs typeface="Roboto"/>
            </a:endParaRPr>
          </a:p>
          <a:p>
            <a:pPr marL="82971" marR="58419" indent="72812" algn="just"/>
            <a:r>
              <a:rPr sz="2000" baseline="2777" dirty="0">
                <a:latin typeface="Roboto"/>
                <a:cs typeface="Roboto"/>
              </a:rPr>
              <a:t>,[1]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marked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679" baseline="2777" dirty="0">
                <a:latin typeface="Roboto"/>
                <a:cs typeface="Roboto"/>
              </a:rPr>
              <a:t>    </a:t>
            </a:r>
            <a:r>
              <a:rPr sz="1333" spc="-13" dirty="0">
                <a:latin typeface="Roboto"/>
                <a:cs typeface="Roboto"/>
              </a:rPr>
              <a:t>ow"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 </a:t>
            </a:r>
            <a:r>
              <a:rPr sz="2000" baseline="2777" dirty="0">
                <a:latin typeface="Roboto"/>
                <a:cs typeface="Roboto"/>
              </a:rPr>
              <a:t>ish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dominance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outside</a:t>
            </a:r>
            <a:r>
              <a:rPr sz="2000" spc="989" baseline="2777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e"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33" dirty="0">
                <a:latin typeface="Roboto"/>
                <a:cs typeface="Roboto"/>
              </a:rPr>
              <a:t> use </a:t>
            </a:r>
            <a:r>
              <a:rPr sz="2000" baseline="2777" dirty="0">
                <a:latin typeface="Roboto"/>
                <a:cs typeface="Roboto"/>
              </a:rPr>
              <a:t>d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france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each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returned</a:t>
            </a:r>
            <a:r>
              <a:rPr sz="2000" spc="859" baseline="2777" dirty="0">
                <a:latin typeface="Roboto"/>
                <a:cs typeface="Roboto"/>
              </a:rPr>
              <a:t>  </a:t>
            </a:r>
            <a:r>
              <a:rPr sz="1333" spc="-67" dirty="0">
                <a:latin typeface="Roboto"/>
                <a:cs typeface="Roboto"/>
              </a:rPr>
              <a:t>.</a:t>
            </a:r>
            <a:endParaRPr sz="1333">
              <a:latin typeface="Roboto"/>
              <a:cs typeface="Roboto"/>
            </a:endParaRPr>
          </a:p>
          <a:p>
            <a:pPr marL="126150" algn="just">
              <a:lnSpc>
                <a:spcPts val="1533"/>
              </a:lnSpc>
            </a:pPr>
            <a:r>
              <a:rPr sz="1333" dirty="0">
                <a:latin typeface="Roboto"/>
                <a:cs typeface="Roboto"/>
              </a:rPr>
              <a:t>hey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</a:t>
            </a:r>
            <a:endParaRPr sz="1333">
              <a:latin typeface="Roboto"/>
              <a:cs typeface="Roboto"/>
            </a:endParaRPr>
          </a:p>
          <a:p>
            <a:pPr marL="46566" marR="40639" indent="60958" algn="just">
              <a:spcBef>
                <a:spcPts val="67"/>
              </a:spcBef>
              <a:tabLst>
                <a:tab pos="1967604" algn="l"/>
              </a:tabLst>
            </a:pPr>
            <a:r>
              <a:rPr sz="2000" spc="-20" baseline="2777" dirty="0">
                <a:latin typeface="Roboto"/>
                <a:cs typeface="Roboto"/>
              </a:rPr>
              <a:t>ritain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gained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much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of</a:t>
            </a:r>
            <a:r>
              <a:rPr sz="2000" spc="940" baseline="2777" dirty="0">
                <a:latin typeface="Roboto"/>
                <a:cs typeface="Roboto"/>
              </a:rPr>
              <a:t>   </a:t>
            </a:r>
            <a:r>
              <a:rPr sz="1333" dirty="0">
                <a:latin typeface="Roboto"/>
                <a:cs typeface="Roboto"/>
              </a:rPr>
              <a:t>w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distribute </a:t>
            </a:r>
            <a:r>
              <a:rPr sz="2000" baseline="2777" dirty="0">
                <a:latin typeface="Roboto"/>
                <a:cs typeface="Roboto"/>
              </a:rPr>
              <a:t>orth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america.</a:t>
            </a:r>
            <a:r>
              <a:rPr sz="2000" baseline="2777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oad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 </a:t>
            </a:r>
            <a:r>
              <a:rPr sz="2000" baseline="2777" dirty="0">
                <a:latin typeface="Roboto"/>
                <a:cs typeface="Roboto"/>
              </a:rPr>
              <a:t>greed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to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protect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roman</a:t>
            </a:r>
            <a:r>
              <a:rPr sz="2000" spc="849" baseline="277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nabling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convenient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1599171" y="3767845"/>
            <a:ext cx="3990340" cy="3103033"/>
            <a:chOff x="1199378" y="2825883"/>
            <a:chExt cx="2992755" cy="2327275"/>
          </a:xfrm>
        </p:grpSpPr>
        <p:sp>
          <p:nvSpPr>
            <p:cNvPr id="102" name="object 102"/>
            <p:cNvSpPr/>
            <p:nvPr/>
          </p:nvSpPr>
          <p:spPr>
            <a:xfrm>
              <a:off x="1208903" y="2835408"/>
              <a:ext cx="2973705" cy="2308225"/>
            </a:xfrm>
            <a:custGeom>
              <a:avLst/>
              <a:gdLst/>
              <a:ahLst/>
              <a:cxnLst/>
              <a:rect l="l" t="t" r="r" b="b"/>
              <a:pathLst>
                <a:path w="2973704" h="2308225">
                  <a:moveTo>
                    <a:pt x="0" y="0"/>
                  </a:moveTo>
                  <a:lnTo>
                    <a:pt x="2973599" y="0"/>
                  </a:lnTo>
                  <a:lnTo>
                    <a:pt x="2973599" y="2308091"/>
                  </a:lnTo>
                  <a:lnTo>
                    <a:pt x="0" y="23080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208903" y="2835408"/>
              <a:ext cx="2973705" cy="2308225"/>
            </a:xfrm>
            <a:custGeom>
              <a:avLst/>
              <a:gdLst/>
              <a:ahLst/>
              <a:cxnLst/>
              <a:rect l="l" t="t" r="r" b="b"/>
              <a:pathLst>
                <a:path w="2973704" h="2308225">
                  <a:moveTo>
                    <a:pt x="0" y="0"/>
                  </a:moveTo>
                  <a:lnTo>
                    <a:pt x="2973599" y="0"/>
                  </a:lnTo>
                  <a:lnTo>
                    <a:pt x="2973599" y="230809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208903" y="2835408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h="485775">
                  <a:moveTo>
                    <a:pt x="0" y="0"/>
                  </a:moveTo>
                  <a:lnTo>
                    <a:pt x="0" y="48568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-9059" y="3892210"/>
            <a:ext cx="2482427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fe</a:t>
            </a:r>
            <a:r>
              <a:rPr sz="1333" spc="453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==</a:t>
            </a:r>
            <a:r>
              <a:rPr sz="2000" spc="-49" baseline="5555" dirty="0">
                <a:latin typeface="Roboto"/>
                <a:cs typeface="Roboto"/>
              </a:rPr>
              <a:t> </a:t>
            </a:r>
            <a:r>
              <a:rPr sz="2000" spc="-20" baseline="5555" dirty="0">
                <a:latin typeface="Roboto"/>
                <a:cs typeface="Roboto"/>
              </a:rPr>
              <a:t>lemon</a:t>
            </a:r>
            <a:endParaRPr sz="2000" baseline="5555">
              <a:latin typeface="Roboto"/>
              <a:cs typeface="Robot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709238" y="4277538"/>
            <a:ext cx="372448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citrus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limon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(l.)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species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561246" y="4480738"/>
            <a:ext cx="81872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lant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family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555779" y="4683938"/>
            <a:ext cx="555412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north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535418" y="5293538"/>
            <a:ext cx="3835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512160" y="5496738"/>
            <a:ext cx="7128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roughout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568741" y="5699938"/>
            <a:ext cx="6883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has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both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74608" y="4509908"/>
            <a:ext cx="4109720" cy="244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709">
              <a:lnSpc>
                <a:spcPts val="1507"/>
              </a:lnSpc>
            </a:pPr>
            <a:r>
              <a:rPr sz="2000" baseline="-5555" dirty="0">
                <a:latin typeface="Roboto"/>
                <a:cs typeface="Roboto"/>
              </a:rPr>
              <a:t>nd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spain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dur</a:t>
            </a:r>
            <a:r>
              <a:rPr sz="2000" spc="369" baseline="-5555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flowering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p</a:t>
            </a:r>
            <a:endParaRPr sz="1333">
              <a:latin typeface="Roboto"/>
              <a:cs typeface="Roboto"/>
            </a:endParaRPr>
          </a:p>
          <a:p>
            <a:pPr marL="150703" marR="847" indent="1099793">
              <a:tabLst>
                <a:tab pos="1251342" algn="l"/>
              </a:tabLst>
            </a:pPr>
            <a:r>
              <a:rPr sz="1333" spc="-13" dirty="0">
                <a:latin typeface="Roboto"/>
                <a:cs typeface="Roboto"/>
              </a:rPr>
              <a:t>rutaceae,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native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south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asia,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 </a:t>
            </a:r>
            <a:r>
              <a:rPr sz="2000" baseline="-5555" dirty="0">
                <a:latin typeface="Roboto"/>
                <a:cs typeface="Roboto"/>
              </a:rPr>
              <a:t>f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the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spc="-40" baseline="-5555" dirty="0">
                <a:latin typeface="Roboto"/>
                <a:cs typeface="Roboto"/>
              </a:rPr>
              <a:t>treaty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spc="-100" baseline="-5555" dirty="0">
                <a:latin typeface="Roboto"/>
                <a:cs typeface="Roboto"/>
              </a:rPr>
              <a:t>f</a:t>
            </a:r>
            <a:r>
              <a:rPr sz="2000" baseline="-5555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eastern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india.</a:t>
            </a:r>
            <a:endParaRPr sz="1333">
              <a:latin typeface="Roboto"/>
              <a:cs typeface="Roboto"/>
            </a:endParaRPr>
          </a:p>
          <a:p>
            <a:pPr marL="89744">
              <a:lnSpc>
                <a:spcPts val="1520"/>
              </a:lnSpc>
              <a:spcBef>
                <a:spcPts val="167"/>
              </a:spcBef>
            </a:pPr>
            <a:r>
              <a:rPr sz="1333" spc="-13" dirty="0">
                <a:latin typeface="Roboto"/>
                <a:cs typeface="Roboto"/>
              </a:rPr>
              <a:t>nown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fr</a:t>
            </a:r>
            <a:endParaRPr sz="1333">
              <a:latin typeface="Roboto"/>
              <a:cs typeface="Roboto"/>
            </a:endParaRPr>
          </a:p>
          <a:p>
            <a:pPr>
              <a:lnSpc>
                <a:spcPts val="1520"/>
              </a:lnSpc>
            </a:pPr>
            <a:r>
              <a:rPr sz="2000" spc="-20" baseline="-5555" dirty="0">
                <a:latin typeface="Roboto"/>
                <a:cs typeface="Roboto"/>
              </a:rPr>
              <a:t>merican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theatre</a:t>
            </a:r>
            <a:r>
              <a:rPr sz="2000" spc="229" baseline="-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tree's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fruit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use</a:t>
            </a:r>
            <a:endParaRPr sz="1333">
              <a:latin typeface="Roboto"/>
              <a:cs typeface="Roboto"/>
            </a:endParaRPr>
          </a:p>
          <a:p>
            <a:pPr marL="110911" marR="5080" indent="51645"/>
            <a:r>
              <a:rPr sz="2000" baseline="-5555" dirty="0">
                <a:latin typeface="Roboto"/>
                <a:cs typeface="Roboto"/>
              </a:rPr>
              <a:t>an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era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of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brit</a:t>
            </a:r>
            <a:r>
              <a:rPr sz="2000" spc="269" baseline="-5555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purposes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 </a:t>
            </a:r>
            <a:r>
              <a:rPr sz="2000" baseline="-5555" dirty="0">
                <a:latin typeface="Roboto"/>
                <a:cs typeface="Roboto"/>
              </a:rPr>
              <a:t>eat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britain</a:t>
            </a:r>
            <a:r>
              <a:rPr sz="2000" spc="-4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an</a:t>
            </a:r>
            <a:r>
              <a:rPr sz="2000" spc="26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world,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 </a:t>
            </a:r>
            <a:r>
              <a:rPr sz="2000" spc="-40" baseline="-5555" dirty="0">
                <a:latin typeface="Roboto"/>
                <a:cs typeface="Roboto"/>
              </a:rPr>
              <a:t>territory </a:t>
            </a:r>
            <a:r>
              <a:rPr sz="2000" spc="-20" baseline="-5555" dirty="0">
                <a:latin typeface="Roboto"/>
                <a:cs typeface="Roboto"/>
              </a:rPr>
              <a:t>that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</a:t>
            </a:r>
            <a:r>
              <a:rPr sz="2000" spc="609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uses.[2]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pul </a:t>
            </a:r>
            <a:r>
              <a:rPr sz="2000" spc="-40" baseline="-5555" dirty="0">
                <a:latin typeface="Roboto"/>
                <a:cs typeface="Roboto"/>
              </a:rPr>
              <a:t>ar,</a:t>
            </a:r>
            <a:r>
              <a:rPr sz="2000" spc="-8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but</a:t>
            </a:r>
            <a:r>
              <a:rPr sz="2000" spc="-8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great</a:t>
            </a:r>
            <a:r>
              <a:rPr sz="2000" spc="-6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b</a:t>
            </a:r>
            <a:r>
              <a:rPr sz="2000" spc="720" baseline="-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(zest)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cooking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ba</a:t>
            </a:r>
            <a:endParaRPr sz="1333">
              <a:latin typeface="Roboto"/>
              <a:cs typeface="Roboto"/>
            </a:endParaRPr>
          </a:p>
          <a:p>
            <a:pPr marL="117684" indent="-112604" algn="r">
              <a:tabLst>
                <a:tab pos="1251342" algn="l"/>
              </a:tabLst>
            </a:pPr>
            <a:r>
              <a:rPr sz="2000" spc="-20" baseline="-5555" dirty="0">
                <a:latin typeface="Roboto"/>
                <a:cs typeface="Roboto"/>
              </a:rPr>
              <a:t>ssessions</a:t>
            </a:r>
            <a:r>
              <a:rPr sz="2000" spc="-8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in</a:t>
            </a:r>
            <a:r>
              <a:rPr sz="2000" spc="-80" baseline="-5555" dirty="0">
                <a:latin typeface="Roboto"/>
                <a:cs typeface="Roboto"/>
              </a:rPr>
              <a:t> </a:t>
            </a:r>
            <a:r>
              <a:rPr sz="2000" spc="-100" baseline="-5555" dirty="0">
                <a:latin typeface="Roboto"/>
                <a:cs typeface="Roboto"/>
              </a:rPr>
              <a:t>n</a:t>
            </a:r>
            <a:r>
              <a:rPr sz="2000" baseline="-5555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c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great</a:t>
            </a:r>
            <a:r>
              <a:rPr sz="2000" spc="-59" baseline="-5555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britain</a:t>
            </a:r>
            <a:r>
              <a:rPr sz="2000" spc="-49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a</a:t>
            </a:r>
            <a:r>
              <a:rPr sz="2000" spc="540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sou </a:t>
            </a:r>
            <a:r>
              <a:rPr sz="1333" spc="-13" dirty="0">
                <a:latin typeface="Roboto"/>
                <a:cs typeface="Roboto"/>
              </a:rPr>
              <a:t>distinctive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m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536666" y="6106337"/>
            <a:ext cx="844127" cy="8375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141390" indent="1439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king.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itric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acid,</a:t>
            </a:r>
            <a:endParaRPr sz="1333">
              <a:latin typeface="Roboto"/>
              <a:cs typeface="Roboto"/>
            </a:endParaRPr>
          </a:p>
          <a:p>
            <a:pPr marL="46566" marR="6773" indent="-23706"/>
            <a:r>
              <a:rPr sz="1333" dirty="0">
                <a:latin typeface="Roboto"/>
                <a:cs typeface="Roboto"/>
              </a:rPr>
              <a:t>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akes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8195550" y="-12700"/>
            <a:ext cx="3990340" cy="4003040"/>
            <a:chOff x="6146662" y="-9525"/>
            <a:chExt cx="2992755" cy="3002280"/>
          </a:xfrm>
        </p:grpSpPr>
        <p:sp>
          <p:nvSpPr>
            <p:cNvPr id="115" name="object 115"/>
            <p:cNvSpPr/>
            <p:nvPr/>
          </p:nvSpPr>
          <p:spPr>
            <a:xfrm>
              <a:off x="6156187" y="0"/>
              <a:ext cx="2973705" cy="2983230"/>
            </a:xfrm>
            <a:custGeom>
              <a:avLst/>
              <a:gdLst/>
              <a:ahLst/>
              <a:cxnLst/>
              <a:rect l="l" t="t" r="r" b="b"/>
              <a:pathLst>
                <a:path w="2973704" h="2983230">
                  <a:moveTo>
                    <a:pt x="2973599" y="2982999"/>
                  </a:moveTo>
                  <a:lnTo>
                    <a:pt x="0" y="2982999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98299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156187" y="0"/>
              <a:ext cx="2973705" cy="2983230"/>
            </a:xfrm>
            <a:custGeom>
              <a:avLst/>
              <a:gdLst/>
              <a:ahLst/>
              <a:cxnLst/>
              <a:rect l="l" t="t" r="r" b="b"/>
              <a:pathLst>
                <a:path w="2973704" h="2983230">
                  <a:moveTo>
                    <a:pt x="2973599" y="0"/>
                  </a:moveTo>
                  <a:lnTo>
                    <a:pt x="2973599" y="2982999"/>
                  </a:lnTo>
                  <a:lnTo>
                    <a:pt x="0" y="29829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8507250" y="48296"/>
            <a:ext cx="3539913" cy="3679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364"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reaty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(1763)</a:t>
            </a:r>
            <a:endParaRPr sz="1333">
              <a:latin typeface="Roboto"/>
              <a:cs typeface="Roboto"/>
            </a:endParaRPr>
          </a:p>
          <a:p>
            <a:pPr marL="5080" marR="112604" indent="88898">
              <a:spcBef>
                <a:spcPts val="1600"/>
              </a:spcBef>
            </a:pPr>
            <a:r>
              <a:rPr sz="1333" spc="-27" dirty="0">
                <a:latin typeface="Roboto"/>
                <a:cs typeface="Roboto"/>
              </a:rPr>
              <a:t>treaty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63,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february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gdoms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with</a:t>
            </a:r>
            <a:endParaRPr sz="1333">
              <a:latin typeface="Roboto"/>
              <a:cs typeface="Roboto"/>
            </a:endParaRPr>
          </a:p>
          <a:p>
            <a:pPr marL="179489" indent="-57572"/>
            <a:r>
              <a:rPr sz="1333" dirty="0">
                <a:latin typeface="Roboto"/>
                <a:cs typeface="Roboto"/>
              </a:rPr>
              <a:t>ugal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britain's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victory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seven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war.</a:t>
            </a:r>
            <a:endParaRPr sz="1333">
              <a:latin typeface="Roboto"/>
              <a:cs typeface="Roboto"/>
            </a:endParaRPr>
          </a:p>
          <a:p>
            <a:pPr marR="16933" indent="94824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seven </a:t>
            </a:r>
            <a:r>
              <a:rPr sz="1333" spc="-13" dirty="0">
                <a:latin typeface="Roboto"/>
                <a:cs typeface="Roboto"/>
              </a:rPr>
              <a:t>rs'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marked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ginning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outside</a:t>
            </a:r>
            <a:endParaRPr sz="1333">
              <a:latin typeface="Roboto"/>
              <a:cs typeface="Roboto"/>
            </a:endParaRPr>
          </a:p>
          <a:p>
            <a:pPr marL="56725" marR="102444" indent="93131"/>
            <a:r>
              <a:rPr sz="1333" dirty="0">
                <a:latin typeface="Roboto"/>
                <a:cs typeface="Roboto"/>
              </a:rPr>
              <a:t>pe.[2]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returned </a:t>
            </a:r>
            <a:r>
              <a:rPr sz="1333" dirty="0">
                <a:latin typeface="Roboto"/>
                <a:cs typeface="Roboto"/>
              </a:rPr>
              <a:t>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territory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</a:t>
            </a:r>
            <a:endParaRPr sz="1333">
              <a:latin typeface="Roboto"/>
              <a:cs typeface="Roboto"/>
            </a:endParaRPr>
          </a:p>
          <a:p>
            <a:pPr marL="19472" marR="176102" indent="40639"/>
            <a:r>
              <a:rPr sz="1333" dirty="0">
                <a:latin typeface="Roboto"/>
                <a:cs typeface="Roboto"/>
              </a:rPr>
              <a:t>ing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 </a:t>
            </a:r>
            <a:r>
              <a:rPr sz="1333" spc="-27" dirty="0">
                <a:latin typeface="Roboto"/>
                <a:cs typeface="Roboto"/>
              </a:rPr>
              <a:t>nce's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possessions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endParaRPr sz="1333">
              <a:latin typeface="Roboto"/>
              <a:cs typeface="Roboto"/>
            </a:endParaRPr>
          </a:p>
          <a:p>
            <a:pPr marL="50799" marR="22859" indent="-48259"/>
            <a:r>
              <a:rPr sz="1333" spc="-27" dirty="0">
                <a:latin typeface="Roboto"/>
                <a:cs typeface="Roboto"/>
              </a:rPr>
              <a:t>ditionally,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protect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roman holicism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8610731" y="-12699"/>
            <a:ext cx="3594100" cy="3776980"/>
            <a:chOff x="6458048" y="-9525"/>
            <a:chExt cx="2695575" cy="2832735"/>
          </a:xfrm>
        </p:grpSpPr>
        <p:sp>
          <p:nvSpPr>
            <p:cNvPr id="119" name="object 119"/>
            <p:cNvSpPr/>
            <p:nvPr/>
          </p:nvSpPr>
          <p:spPr>
            <a:xfrm>
              <a:off x="6467573" y="0"/>
              <a:ext cx="2676525" cy="2813685"/>
            </a:xfrm>
            <a:custGeom>
              <a:avLst/>
              <a:gdLst/>
              <a:ahLst/>
              <a:cxnLst/>
              <a:rect l="l" t="t" r="r" b="b"/>
              <a:pathLst>
                <a:path w="2676525" h="2813685">
                  <a:moveTo>
                    <a:pt x="2676426" y="2813174"/>
                  </a:moveTo>
                  <a:lnTo>
                    <a:pt x="0" y="2813174"/>
                  </a:lnTo>
                  <a:lnTo>
                    <a:pt x="0" y="0"/>
                  </a:lnTo>
                  <a:lnTo>
                    <a:pt x="2676426" y="0"/>
                  </a:lnTo>
                  <a:lnTo>
                    <a:pt x="2676426" y="2813174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467573" y="0"/>
              <a:ext cx="2676525" cy="2813685"/>
            </a:xfrm>
            <a:custGeom>
              <a:avLst/>
              <a:gdLst/>
              <a:ahLst/>
              <a:cxnLst/>
              <a:rect l="l" t="t" r="r" b="b"/>
              <a:pathLst>
                <a:path w="2676525" h="2813685">
                  <a:moveTo>
                    <a:pt x="2676426" y="2813174"/>
                  </a:moveTo>
                  <a:lnTo>
                    <a:pt x="0" y="281317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12137221" y="1621493"/>
            <a:ext cx="914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67" dirty="0">
                <a:latin typeface="Roboto"/>
                <a:cs typeface="Roboto"/>
              </a:rPr>
              <a:t>r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2102634" y="2637494"/>
            <a:ext cx="13123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67" dirty="0">
                <a:latin typeface="Roboto"/>
                <a:cs typeface="Roboto"/>
              </a:rPr>
              <a:t>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2077861" y="3043894"/>
            <a:ext cx="18288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67" dirty="0">
                <a:latin typeface="Roboto"/>
                <a:cs typeface="Roboto"/>
              </a:rPr>
              <a:t>m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769315" y="48295"/>
            <a:ext cx="4096173" cy="4013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2860">
              <a:lnSpc>
                <a:spcPts val="1413"/>
              </a:lnSpc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endParaRPr sz="1333">
              <a:latin typeface="Roboto"/>
              <a:cs typeface="Roboto"/>
            </a:endParaRPr>
          </a:p>
          <a:p>
            <a:pPr marR="32173" algn="r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</a:t>
            </a:r>
            <a:endParaRPr sz="1333">
              <a:latin typeface="Roboto"/>
              <a:cs typeface="Roboto"/>
            </a:endParaRPr>
          </a:p>
          <a:p>
            <a:pPr marR="46566" algn="r">
              <a:tabLst>
                <a:tab pos="414856" algn="l"/>
              </a:tabLst>
            </a:pPr>
            <a:r>
              <a:rPr sz="2000" spc="-49" baseline="-8333" dirty="0">
                <a:latin typeface="Roboto"/>
                <a:cs typeface="Roboto"/>
              </a:rPr>
              <a:t>the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1763,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february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by</a:t>
            </a:r>
            <a:endParaRPr sz="1333">
              <a:latin typeface="Roboto"/>
              <a:cs typeface="Roboto"/>
            </a:endParaRPr>
          </a:p>
          <a:p>
            <a:pPr marL="552860" marR="13546" algn="just"/>
            <a:r>
              <a:rPr sz="2000" baseline="-8333" dirty="0">
                <a:latin typeface="Roboto"/>
                <a:cs typeface="Roboto"/>
              </a:rPr>
              <a:t>17</a:t>
            </a:r>
            <a:r>
              <a:rPr sz="2000" spc="759" baseline="-833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kingdoms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spa </a:t>
            </a:r>
            <a:r>
              <a:rPr sz="2000" baseline="-8333" dirty="0">
                <a:latin typeface="Roboto"/>
                <a:cs typeface="Roboto"/>
              </a:rPr>
              <a:t>kin</a:t>
            </a:r>
            <a:r>
              <a:rPr sz="2000" spc="569" baseline="-833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portugal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britain' </a:t>
            </a:r>
            <a:r>
              <a:rPr sz="2000" baseline="-8333" dirty="0">
                <a:latin typeface="Roboto"/>
                <a:cs typeface="Roboto"/>
              </a:rPr>
              <a:t>port</a:t>
            </a:r>
            <a:r>
              <a:rPr sz="2000" spc="609" baseline="-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over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seven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ye</a:t>
            </a:r>
            <a:endParaRPr sz="1333">
              <a:latin typeface="Roboto"/>
              <a:cs typeface="Roboto"/>
            </a:endParaRPr>
          </a:p>
          <a:p>
            <a:pPr marL="126997" algn="just">
              <a:lnSpc>
                <a:spcPts val="1507"/>
              </a:lnSpc>
              <a:spcBef>
                <a:spcPts val="180"/>
              </a:spcBef>
            </a:pPr>
            <a:r>
              <a:rPr sz="2000" baseline="-8333" dirty="0">
                <a:latin typeface="Roboto"/>
                <a:cs typeface="Roboto"/>
              </a:rPr>
              <a:t>tre</a:t>
            </a:r>
            <a:r>
              <a:rPr sz="2000" spc="789" baseline="-8333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over</a:t>
            </a:r>
            <a:endParaRPr sz="1333">
              <a:latin typeface="Roboto"/>
              <a:cs typeface="Roboto"/>
            </a:endParaRPr>
          </a:p>
          <a:p>
            <a:pPr algn="just">
              <a:lnSpc>
                <a:spcPts val="1507"/>
              </a:lnSpc>
              <a:tabLst>
                <a:tab pos="967716" algn="l"/>
              </a:tabLst>
            </a:pPr>
            <a:r>
              <a:rPr sz="2000" baseline="-13888" dirty="0">
                <a:latin typeface="Roboto"/>
                <a:cs typeface="Roboto"/>
              </a:rPr>
              <a:t>63</a:t>
            </a:r>
            <a:r>
              <a:rPr sz="2000" spc="-49" baseline="-13888" dirty="0">
                <a:latin typeface="Roboto"/>
                <a:cs typeface="Roboto"/>
              </a:rPr>
              <a:t> by</a:t>
            </a:r>
            <a:r>
              <a:rPr sz="2000" baseline="-13888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endParaRPr sz="1333">
              <a:latin typeface="Roboto"/>
              <a:cs typeface="Roboto"/>
            </a:endParaRPr>
          </a:p>
          <a:p>
            <a:pPr marL="42332" marR="54185" indent="93978" algn="just"/>
            <a:r>
              <a:rPr sz="2000" baseline="-13888" dirty="0">
                <a:latin typeface="Roboto"/>
                <a:cs typeface="Roboto"/>
              </a:rPr>
              <a:t>spa</a:t>
            </a:r>
            <a:r>
              <a:rPr sz="2000" spc="269" baseline="-13888" dirty="0">
                <a:latin typeface="Roboto"/>
                <a:cs typeface="Roboto"/>
              </a:rPr>
              <a:t>  </a:t>
            </a:r>
            <a:r>
              <a:rPr sz="2000" baseline="-8333" dirty="0">
                <a:latin typeface="Roboto"/>
                <a:cs typeface="Roboto"/>
              </a:rPr>
              <a:t>the</a:t>
            </a:r>
            <a:r>
              <a:rPr sz="2000" spc="469" baseline="-8333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 </a:t>
            </a:r>
            <a:r>
              <a:rPr sz="2000" baseline="-13888" dirty="0">
                <a:latin typeface="Roboto"/>
                <a:cs typeface="Roboto"/>
              </a:rPr>
              <a:t>itain'</a:t>
            </a:r>
            <a:r>
              <a:rPr sz="2000" spc="369" baseline="-13888" dirty="0">
                <a:latin typeface="Roboto"/>
                <a:cs typeface="Roboto"/>
              </a:rPr>
              <a:t>  </a:t>
            </a:r>
            <a:r>
              <a:rPr sz="2000" baseline="-8333" dirty="0">
                <a:latin typeface="Roboto"/>
                <a:cs typeface="Roboto"/>
              </a:rPr>
              <a:t>yea</a:t>
            </a:r>
            <a:r>
              <a:rPr sz="2000" spc="309" baseline="-8333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marke </a:t>
            </a:r>
            <a:r>
              <a:rPr sz="2000" baseline="-13888" dirty="0">
                <a:latin typeface="Roboto"/>
                <a:cs typeface="Roboto"/>
              </a:rPr>
              <a:t>n</a:t>
            </a:r>
            <a:r>
              <a:rPr sz="2000" spc="-40" baseline="-13888" dirty="0">
                <a:latin typeface="Roboto"/>
                <a:cs typeface="Roboto"/>
              </a:rPr>
              <a:t> </a:t>
            </a:r>
            <a:r>
              <a:rPr sz="2000" baseline="-13888" dirty="0">
                <a:latin typeface="Roboto"/>
                <a:cs typeface="Roboto"/>
              </a:rPr>
              <a:t>ye</a:t>
            </a:r>
            <a:r>
              <a:rPr sz="2000" spc="800" baseline="-13888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the</a:t>
            </a:r>
            <a:r>
              <a:rPr sz="2000" spc="500" baseline="-8333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beginning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</a:t>
            </a:r>
            <a:endParaRPr sz="1333">
              <a:latin typeface="Roboto"/>
              <a:cs typeface="Roboto"/>
            </a:endParaRPr>
          </a:p>
          <a:p>
            <a:pPr marL="552860">
              <a:tabLst>
                <a:tab pos="967716" algn="l"/>
              </a:tabLst>
            </a:pPr>
            <a:r>
              <a:rPr sz="2000" spc="-49" baseline="-8333" dirty="0">
                <a:latin typeface="Roboto"/>
                <a:cs typeface="Roboto"/>
              </a:rPr>
              <a:t>be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europe.[2]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re </a:t>
            </a:r>
            <a:r>
              <a:rPr sz="2000" baseline="-8333" dirty="0">
                <a:latin typeface="Roboto"/>
                <a:cs typeface="Roboto"/>
              </a:rPr>
              <a:t>euro</a:t>
            </a:r>
            <a:r>
              <a:rPr sz="2000" spc="379" baseline="-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territory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 </a:t>
            </a:r>
            <a:r>
              <a:rPr sz="2000" spc="-49" baseline="-8333" dirty="0">
                <a:latin typeface="Roboto"/>
                <a:cs typeface="Roboto"/>
              </a:rPr>
              <a:t>mu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67" dirty="0">
                <a:latin typeface="Roboto"/>
                <a:cs typeface="Roboto"/>
              </a:rPr>
              <a:t> m</a:t>
            </a:r>
            <a:endParaRPr sz="1333">
              <a:latin typeface="Roboto"/>
              <a:cs typeface="Roboto"/>
            </a:endParaRPr>
          </a:p>
          <a:p>
            <a:pPr marL="60112"/>
            <a:r>
              <a:rPr sz="2000" baseline="19444" dirty="0">
                <a:latin typeface="Roboto"/>
                <a:cs typeface="Roboto"/>
              </a:rPr>
              <a:t>f</a:t>
            </a:r>
            <a:r>
              <a:rPr sz="2000" spc="-29" baseline="19444" dirty="0">
                <a:latin typeface="Roboto"/>
                <a:cs typeface="Roboto"/>
              </a:rPr>
              <a:t> </a:t>
            </a:r>
            <a:r>
              <a:rPr sz="2000" baseline="19444" dirty="0">
                <a:latin typeface="Roboto"/>
                <a:cs typeface="Roboto"/>
              </a:rPr>
              <a:t>par</a:t>
            </a:r>
            <a:r>
              <a:rPr sz="2000" spc="349" baseline="19444" dirty="0">
                <a:latin typeface="Roboto"/>
                <a:cs typeface="Roboto"/>
              </a:rPr>
              <a:t>  </a:t>
            </a:r>
            <a:r>
              <a:rPr sz="2000" baseline="-8333" dirty="0">
                <a:latin typeface="Roboto"/>
                <a:cs typeface="Roboto"/>
              </a:rPr>
              <a:t>dur</a:t>
            </a:r>
            <a:r>
              <a:rPr sz="2000" spc="460" baseline="-8333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france's</a:t>
            </a:r>
            <a:r>
              <a:rPr sz="1333" spc="-13" dirty="0">
                <a:latin typeface="Roboto"/>
                <a:cs typeface="Roboto"/>
              </a:rPr>
              <a:t> possessions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endParaRPr sz="1333">
              <a:latin typeface="Roboto"/>
              <a:cs typeface="Roboto"/>
            </a:endParaRPr>
          </a:p>
          <a:p>
            <a:pPr marL="552860" marR="97364" indent="-441102">
              <a:tabLst>
                <a:tab pos="967716" algn="l"/>
              </a:tabLst>
            </a:pPr>
            <a:r>
              <a:rPr sz="2000" baseline="-47222" dirty="0">
                <a:latin typeface="Roboto"/>
                <a:cs typeface="Roboto"/>
              </a:rPr>
              <a:t>f</a:t>
            </a:r>
            <a:r>
              <a:rPr sz="2000" spc="-9" baseline="-47222" dirty="0">
                <a:latin typeface="Roboto"/>
                <a:cs typeface="Roboto"/>
              </a:rPr>
              <a:t> </a:t>
            </a:r>
            <a:r>
              <a:rPr sz="2000" baseline="-47222" dirty="0">
                <a:latin typeface="Roboto"/>
                <a:cs typeface="Roboto"/>
              </a:rPr>
              <a:t>pa</a:t>
            </a:r>
            <a:r>
              <a:rPr sz="2000" spc="409" baseline="-47222" dirty="0">
                <a:latin typeface="Roboto"/>
                <a:cs typeface="Roboto"/>
              </a:rPr>
              <a:t>  </a:t>
            </a:r>
            <a:r>
              <a:rPr sz="2000" spc="-49" baseline="-8333" dirty="0">
                <a:latin typeface="Roboto"/>
                <a:cs typeface="Roboto"/>
              </a:rPr>
              <a:t>fra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prote </a:t>
            </a:r>
            <a:r>
              <a:rPr sz="2000" spc="-49" baseline="-8333" dirty="0">
                <a:latin typeface="Roboto"/>
                <a:cs typeface="Roboto"/>
              </a:rPr>
              <a:t>ad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catholicism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endParaRPr sz="1333">
              <a:latin typeface="Roboto"/>
              <a:cs typeface="Roboto"/>
            </a:endParaRPr>
          </a:p>
          <a:p>
            <a:pPr marL="69424">
              <a:lnSpc>
                <a:spcPts val="1167"/>
              </a:lnSpc>
            </a:pPr>
            <a:r>
              <a:rPr sz="1333" dirty="0">
                <a:latin typeface="Roboto"/>
                <a:cs typeface="Roboto"/>
              </a:rPr>
              <a:t>sign</a:t>
            </a:r>
            <a:r>
              <a:rPr sz="1333" spc="287" dirty="0">
                <a:latin typeface="Roboto"/>
                <a:cs typeface="Roboto"/>
              </a:rPr>
              <a:t>  </a:t>
            </a:r>
            <a:r>
              <a:rPr sz="2000" spc="-49" baseline="-25000" dirty="0">
                <a:latin typeface="Roboto"/>
                <a:cs typeface="Roboto"/>
              </a:rPr>
              <a:t>cat</a:t>
            </a:r>
            <a:endParaRPr sz="2000" baseline="-25000">
              <a:latin typeface="Roboto"/>
              <a:cs typeface="Roboto"/>
            </a:endParaRPr>
          </a:p>
          <a:p>
            <a:pPr marL="112604" marR="3597397" indent="33019"/>
            <a:r>
              <a:rPr sz="1333" dirty="0">
                <a:latin typeface="Roboto"/>
                <a:cs typeface="Roboto"/>
              </a:rPr>
              <a:t>f</a:t>
            </a:r>
            <a:r>
              <a:rPr sz="1333" spc="1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gre </a:t>
            </a:r>
            <a:r>
              <a:rPr sz="1333" spc="-27" dirty="0">
                <a:latin typeface="Roboto"/>
                <a:cs typeface="Roboto"/>
              </a:rPr>
              <a:t>agre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8095306" y="142500"/>
            <a:ext cx="4095327" cy="3271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904">
              <a:lnSpc>
                <a:spcPts val="1507"/>
              </a:lnSpc>
              <a:tabLst>
                <a:tab pos="3726087" algn="l"/>
              </a:tabLst>
            </a:pP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 </a:t>
            </a:r>
            <a:r>
              <a:rPr sz="1333" spc="-13" dirty="0">
                <a:latin typeface="Roboto"/>
                <a:cs typeface="Roboto"/>
              </a:rPr>
              <a:t>paris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(1763)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27777" dirty="0">
                <a:latin typeface="Roboto"/>
                <a:cs typeface="Roboto"/>
              </a:rPr>
              <a:t>ty</a:t>
            </a:r>
            <a:r>
              <a:rPr sz="2000" spc="-109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of</a:t>
            </a:r>
            <a:endParaRPr sz="2000" baseline="-27777">
              <a:latin typeface="Roboto"/>
              <a:cs typeface="Roboto"/>
            </a:endParaRPr>
          </a:p>
          <a:p>
            <a:pPr marL="152396" indent="3600783">
              <a:lnSpc>
                <a:spcPct val="57799"/>
              </a:lnSpc>
              <a:spcBef>
                <a:spcPts val="1347"/>
              </a:spcBef>
              <a:tabLst>
                <a:tab pos="3716774" algn="l"/>
              </a:tabLst>
            </a:pP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27" dirty="0">
                <a:latin typeface="Roboto"/>
                <a:cs typeface="Roboto"/>
              </a:rPr>
              <a:t>treaty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paris,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also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27777" dirty="0">
                <a:latin typeface="Roboto"/>
                <a:cs typeface="Roboto"/>
              </a:rPr>
              <a:t>in,</a:t>
            </a:r>
            <a:r>
              <a:rPr sz="2000" spc="-100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wi</a:t>
            </a:r>
            <a:endParaRPr sz="2000" baseline="-27777">
              <a:latin typeface="Roboto"/>
              <a:cs typeface="Roboto"/>
            </a:endParaRPr>
          </a:p>
          <a:p>
            <a:pPr marR="2540" indent="62652">
              <a:tabLst>
                <a:tab pos="3685448" algn="l"/>
                <a:tab pos="3744713" algn="l"/>
              </a:tabLst>
            </a:pPr>
            <a:r>
              <a:rPr sz="1333" dirty="0">
                <a:latin typeface="Roboto"/>
                <a:cs typeface="Roboto"/>
              </a:rPr>
              <a:t>63,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signed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10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february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1763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27777" dirty="0">
                <a:latin typeface="Roboto"/>
                <a:cs typeface="Roboto"/>
              </a:rPr>
              <a:t>s</a:t>
            </a:r>
            <a:r>
              <a:rPr sz="2000" spc="-40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vict </a:t>
            </a:r>
            <a:r>
              <a:rPr sz="1333" spc="-13" dirty="0">
                <a:latin typeface="Roboto"/>
                <a:cs typeface="Roboto"/>
              </a:rPr>
              <a:t>ngdoms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with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40" baseline="-27777" dirty="0">
                <a:latin typeface="Roboto"/>
                <a:cs typeface="Roboto"/>
              </a:rPr>
              <a:t>ars'</a:t>
            </a:r>
            <a:endParaRPr sz="2000" baseline="-27777">
              <a:latin typeface="Roboto"/>
              <a:cs typeface="Roboto"/>
            </a:endParaRPr>
          </a:p>
          <a:p>
            <a:pPr marL="125304"/>
            <a:r>
              <a:rPr sz="1333" spc="-13" dirty="0">
                <a:latin typeface="Roboto"/>
                <a:cs typeface="Roboto"/>
              </a:rPr>
              <a:t>tugal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britain's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victory</a:t>
            </a:r>
            <a:endParaRPr sz="1333">
              <a:latin typeface="Roboto"/>
              <a:cs typeface="Roboto"/>
            </a:endParaRPr>
          </a:p>
          <a:p>
            <a:pPr marL="138849"/>
            <a:r>
              <a:rPr sz="1333" dirty="0">
                <a:latin typeface="Roboto"/>
                <a:cs typeface="Roboto"/>
              </a:rPr>
              <a:t>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seven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war.</a:t>
            </a:r>
            <a:r>
              <a:rPr sz="1333" spc="193" dirty="0">
                <a:latin typeface="Roboto"/>
                <a:cs typeface="Roboto"/>
              </a:rPr>
              <a:t> </a:t>
            </a:r>
            <a:r>
              <a:rPr sz="2000" baseline="-27777" dirty="0">
                <a:latin typeface="Roboto"/>
                <a:cs typeface="Roboto"/>
              </a:rPr>
              <a:t>he</a:t>
            </a:r>
            <a:r>
              <a:rPr sz="2000" spc="-80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se</a:t>
            </a:r>
            <a:endParaRPr sz="2000" baseline="-27777">
              <a:latin typeface="Roboto"/>
              <a:cs typeface="Roboto"/>
            </a:endParaRPr>
          </a:p>
          <a:p>
            <a:pPr marL="152396" marR="18626" indent="3550831">
              <a:lnSpc>
                <a:spcPct val="57799"/>
              </a:lnSpc>
              <a:spcBef>
                <a:spcPts val="1353"/>
              </a:spcBef>
            </a:pPr>
            <a:r>
              <a:rPr sz="1333" dirty="0">
                <a:latin typeface="Roboto"/>
                <a:cs typeface="Roboto"/>
              </a:rPr>
              <a:t>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wa </a:t>
            </a: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seven</a:t>
            </a:r>
            <a:r>
              <a:rPr sz="1333" spc="579" dirty="0">
                <a:latin typeface="Roboto"/>
                <a:cs typeface="Roboto"/>
              </a:rPr>
              <a:t> </a:t>
            </a:r>
            <a:r>
              <a:rPr sz="2000" baseline="-27777" dirty="0">
                <a:latin typeface="Roboto"/>
                <a:cs typeface="Roboto"/>
              </a:rPr>
              <a:t>d</a:t>
            </a:r>
            <a:r>
              <a:rPr sz="2000" spc="-29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the</a:t>
            </a:r>
            <a:endParaRPr sz="2000" baseline="-27777">
              <a:latin typeface="Roboto"/>
              <a:cs typeface="Roboto"/>
            </a:endParaRPr>
          </a:p>
          <a:p>
            <a:pPr marL="21166" marR="847" indent="20319">
              <a:tabLst>
                <a:tab pos="3616870" algn="l"/>
                <a:tab pos="3676135" algn="l"/>
                <a:tab pos="3710001" algn="l"/>
              </a:tabLst>
            </a:pPr>
            <a:r>
              <a:rPr sz="1333" spc="-13" dirty="0">
                <a:latin typeface="Roboto"/>
                <a:cs typeface="Roboto"/>
              </a:rPr>
              <a:t>ars'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</a:t>
            </a:r>
            <a:r>
              <a:rPr sz="1333" dirty="0">
                <a:latin typeface="Roboto"/>
                <a:cs typeface="Roboto"/>
              </a:rPr>
              <a:t>			</a:t>
            </a:r>
            <a:r>
              <a:rPr sz="2000" spc="-40" baseline="-27777" dirty="0">
                <a:latin typeface="Roboto"/>
                <a:cs typeface="Roboto"/>
              </a:rPr>
              <a:t>outsi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marked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187" dirty="0">
                <a:latin typeface="Roboto"/>
                <a:cs typeface="Roboto"/>
              </a:rPr>
              <a:t> </a:t>
            </a:r>
            <a:r>
              <a:rPr sz="2000" baseline="-27777" dirty="0">
                <a:latin typeface="Roboto"/>
                <a:cs typeface="Roboto"/>
              </a:rPr>
              <a:t>turn </a:t>
            </a:r>
            <a:r>
              <a:rPr sz="1333" spc="-13" dirty="0">
                <a:latin typeface="Roboto"/>
                <a:cs typeface="Roboto"/>
              </a:rPr>
              <a:t>ginning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outside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49" baseline="-27777" dirty="0">
                <a:latin typeface="Roboto"/>
                <a:cs typeface="Roboto"/>
              </a:rPr>
              <a:t>ed </a:t>
            </a:r>
            <a:r>
              <a:rPr sz="1333" spc="-13" dirty="0">
                <a:latin typeface="Roboto"/>
                <a:cs typeface="Roboto"/>
              </a:rPr>
              <a:t>ope.[2]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returned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-27777" dirty="0">
                <a:latin typeface="Roboto"/>
                <a:cs typeface="Roboto"/>
              </a:rPr>
              <a:t>uch </a:t>
            </a:r>
            <a:r>
              <a:rPr sz="1333" dirty="0">
                <a:latin typeface="Roboto"/>
                <a:cs typeface="Roboto"/>
              </a:rPr>
              <a:t>uch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territory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</a:t>
            </a:r>
            <a:endParaRPr sz="1333">
              <a:latin typeface="Roboto"/>
              <a:cs typeface="Roboto"/>
            </a:endParaRPr>
          </a:p>
          <a:p>
            <a:pPr marL="77890" marR="84665" indent="-16086">
              <a:tabLst>
                <a:tab pos="3660895" algn="l"/>
              </a:tabLst>
            </a:pPr>
            <a:r>
              <a:rPr sz="1333" dirty="0">
                <a:latin typeface="Roboto"/>
                <a:cs typeface="Roboto"/>
              </a:rPr>
              <a:t>ring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27777" dirty="0">
                <a:latin typeface="Roboto"/>
                <a:cs typeface="Roboto"/>
              </a:rPr>
              <a:t>ct</a:t>
            </a:r>
            <a:r>
              <a:rPr sz="2000" spc="-59" baseline="-27777" dirty="0">
                <a:latin typeface="Roboto"/>
                <a:cs typeface="Roboto"/>
              </a:rPr>
              <a:t> </a:t>
            </a:r>
            <a:r>
              <a:rPr sz="2000" spc="-49" baseline="-27777" dirty="0">
                <a:latin typeface="Roboto"/>
                <a:cs typeface="Roboto"/>
              </a:rPr>
              <a:t>ro </a:t>
            </a:r>
            <a:r>
              <a:rPr sz="1333" spc="-27" dirty="0">
                <a:latin typeface="Roboto"/>
                <a:cs typeface="Roboto"/>
              </a:rPr>
              <a:t>nce's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possessions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841599" y="10035"/>
            <a:ext cx="3990340" cy="4075007"/>
            <a:chOff x="5881199" y="7526"/>
            <a:chExt cx="2992755" cy="3056255"/>
          </a:xfrm>
        </p:grpSpPr>
        <p:sp>
          <p:nvSpPr>
            <p:cNvPr id="127" name="object 127"/>
            <p:cNvSpPr/>
            <p:nvPr/>
          </p:nvSpPr>
          <p:spPr>
            <a:xfrm>
              <a:off x="5890724" y="17051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5">
                  <a:moveTo>
                    <a:pt x="2973599" y="3036600"/>
                  </a:moveTo>
                  <a:lnTo>
                    <a:pt x="0" y="3036600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303660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890724" y="17051"/>
              <a:ext cx="2973705" cy="3037205"/>
            </a:xfrm>
            <a:custGeom>
              <a:avLst/>
              <a:gdLst/>
              <a:ahLst/>
              <a:cxnLst/>
              <a:rect l="l" t="t" r="r" b="b"/>
              <a:pathLst>
                <a:path w="2973704" h="3037205">
                  <a:moveTo>
                    <a:pt x="0" y="0"/>
                  </a:moveTo>
                  <a:lnTo>
                    <a:pt x="2973599" y="0"/>
                  </a:lnTo>
                  <a:lnTo>
                    <a:pt x="2973599" y="3036600"/>
                  </a:lnTo>
                  <a:lnTo>
                    <a:pt x="0" y="30366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9920187" y="3364529"/>
            <a:ext cx="175598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greed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protect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roman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897711" y="3567729"/>
            <a:ext cx="36152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rld...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836916" y="3221207"/>
            <a:ext cx="4104640" cy="36804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8594" algn="just">
              <a:lnSpc>
                <a:spcPts val="1380"/>
              </a:lnSpc>
            </a:pPr>
            <a:r>
              <a:rPr sz="2000" baseline="-5555" dirty="0">
                <a:latin typeface="Roboto"/>
                <a:cs typeface="Roboto"/>
              </a:rPr>
              <a:t>ruta</a:t>
            </a:r>
            <a:r>
              <a:rPr sz="2000" spc="26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treaty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o</a:t>
            </a:r>
            <a:endParaRPr sz="1333">
              <a:latin typeface="Roboto"/>
              <a:cs typeface="Roboto"/>
            </a:endParaRPr>
          </a:p>
          <a:p>
            <a:pPr marL="758594" algn="just">
              <a:lnSpc>
                <a:spcPts val="1480"/>
              </a:lnSpc>
            </a:pPr>
            <a:r>
              <a:rPr sz="2000" baseline="-16666" dirty="0">
                <a:latin typeface="Roboto"/>
                <a:cs typeface="Roboto"/>
              </a:rPr>
              <a:t>eas</a:t>
            </a:r>
            <a:r>
              <a:rPr sz="2000" spc="449" baseline="-16666" dirty="0">
                <a:latin typeface="Roboto"/>
                <a:cs typeface="Roboto"/>
              </a:rPr>
              <a:t>  </a:t>
            </a:r>
            <a:r>
              <a:rPr sz="2000" baseline="-11111" dirty="0">
                <a:latin typeface="Roboto"/>
                <a:cs typeface="Roboto"/>
              </a:rPr>
              <a:t>1763,</a:t>
            </a:r>
            <a:r>
              <a:rPr sz="2000" spc="-20" baseline="-11111" dirty="0">
                <a:latin typeface="Roboto"/>
                <a:cs typeface="Roboto"/>
              </a:rPr>
              <a:t> </a:t>
            </a:r>
            <a:r>
              <a:rPr sz="2000" baseline="-11111" dirty="0">
                <a:latin typeface="Roboto"/>
                <a:cs typeface="Roboto"/>
              </a:rPr>
              <a:t>was</a:t>
            </a:r>
            <a:r>
              <a:rPr sz="2000" spc="460" baseline="-11111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endParaRPr sz="1333">
              <a:latin typeface="Roboto"/>
              <a:cs typeface="Roboto"/>
            </a:endParaRPr>
          </a:p>
          <a:p>
            <a:pPr marL="1198003" algn="just"/>
            <a:r>
              <a:rPr sz="2000" spc="-20" baseline="-11111" dirty="0">
                <a:latin typeface="Roboto"/>
                <a:cs typeface="Roboto"/>
              </a:rPr>
              <a:t>kingdoms</a:t>
            </a:r>
            <a:r>
              <a:rPr sz="2000" spc="-59" baseline="-11111" dirty="0">
                <a:latin typeface="Roboto"/>
                <a:cs typeface="Roboto"/>
              </a:rPr>
              <a:t> </a:t>
            </a:r>
            <a:r>
              <a:rPr sz="2000" baseline="-11111" dirty="0">
                <a:latin typeface="Roboto"/>
                <a:cs typeface="Roboto"/>
              </a:rPr>
              <a:t>o</a:t>
            </a:r>
            <a:r>
              <a:rPr sz="2000" spc="69" baseline="-11111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catholicism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33" dirty="0">
                <a:latin typeface="Roboto"/>
                <a:cs typeface="Roboto"/>
              </a:rPr>
              <a:t> wo</a:t>
            </a:r>
            <a:endParaRPr sz="1333">
              <a:latin typeface="Roboto"/>
              <a:cs typeface="Roboto"/>
            </a:endParaRPr>
          </a:p>
          <a:p>
            <a:pPr marL="453802" algn="just">
              <a:spcBef>
                <a:spcPts val="240"/>
              </a:spcBef>
            </a:pPr>
            <a:r>
              <a:rPr sz="2000" baseline="11111" dirty="0">
                <a:latin typeface="Roboto"/>
                <a:cs typeface="Roboto"/>
              </a:rPr>
              <a:t>for</a:t>
            </a:r>
            <a:r>
              <a:rPr sz="2000" spc="559" baseline="11111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the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</a:t>
            </a:r>
            <a:r>
              <a:rPr sz="2000" spc="709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portugal </a:t>
            </a:r>
            <a:r>
              <a:rPr sz="1333" spc="-33" dirty="0">
                <a:latin typeface="Roboto"/>
                <a:cs typeface="Roboto"/>
              </a:rPr>
              <a:t>in</a:t>
            </a:r>
            <a:endParaRPr sz="1333">
              <a:latin typeface="Roboto"/>
              <a:cs typeface="Roboto"/>
            </a:endParaRPr>
          </a:p>
          <a:p>
            <a:pPr marL="442796" marR="33019" indent="-369137" algn="just">
              <a:tabLst>
                <a:tab pos="2688946" algn="l"/>
              </a:tabLst>
            </a:pPr>
            <a:r>
              <a:rPr sz="2000" baseline="-33333" dirty="0">
                <a:latin typeface="Roboto"/>
                <a:cs typeface="Roboto"/>
              </a:rPr>
              <a:t>le,</a:t>
            </a:r>
            <a:r>
              <a:rPr sz="2000" spc="669" baseline="-33333" dirty="0">
                <a:latin typeface="Roboto"/>
                <a:cs typeface="Roboto"/>
              </a:rPr>
              <a:t>  </a:t>
            </a:r>
            <a:r>
              <a:rPr sz="2000" baseline="11111" dirty="0">
                <a:latin typeface="Roboto"/>
                <a:cs typeface="Roboto"/>
              </a:rPr>
              <a:t>u</a:t>
            </a:r>
            <a:r>
              <a:rPr sz="2000" spc="740" baseline="11111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culi</a:t>
            </a:r>
            <a:r>
              <a:rPr sz="2000" spc="48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over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</a:t>
            </a:r>
            <a:r>
              <a:rPr sz="1333" spc="413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ruta</a:t>
            </a:r>
            <a:r>
              <a:rPr sz="2000" spc="300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 </a:t>
            </a:r>
            <a:r>
              <a:rPr sz="1333" spc="-33" dirty="0">
                <a:latin typeface="Roboto"/>
                <a:cs typeface="Roboto"/>
              </a:rPr>
              <a:t>of </a:t>
            </a:r>
            <a:r>
              <a:rPr sz="2000" baseline="11111" dirty="0">
                <a:latin typeface="Roboto"/>
                <a:cs typeface="Roboto"/>
              </a:rPr>
              <a:t>as</a:t>
            </a:r>
            <a:r>
              <a:rPr sz="2000" spc="249" baseline="11111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the</a:t>
            </a:r>
            <a:r>
              <a:rPr sz="2000" spc="-29" baseline="-5555" dirty="0">
                <a:latin typeface="Roboto"/>
                <a:cs typeface="Roboto"/>
              </a:rPr>
              <a:t> </a:t>
            </a:r>
            <a:r>
              <a:rPr sz="2000" spc="-100" baseline="-5555" dirty="0">
                <a:latin typeface="Roboto"/>
                <a:cs typeface="Roboto"/>
              </a:rPr>
              <a:t>w</a:t>
            </a:r>
            <a:r>
              <a:rPr sz="2000" baseline="-5555" dirty="0">
                <a:latin typeface="Roboto"/>
                <a:cs typeface="Roboto"/>
              </a:rPr>
              <a:t>	eas</a:t>
            </a:r>
            <a:r>
              <a:rPr sz="2000" spc="42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1763,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33" dirty="0">
                <a:latin typeface="Roboto"/>
                <a:cs typeface="Roboto"/>
              </a:rPr>
              <a:t> si</a:t>
            </a:r>
            <a:endParaRPr sz="1333">
              <a:latin typeface="Roboto"/>
              <a:cs typeface="Roboto"/>
            </a:endParaRPr>
          </a:p>
          <a:p>
            <a:pPr marL="459729" indent="-460575" algn="just">
              <a:tabLst>
                <a:tab pos="3128355" algn="l"/>
              </a:tabLst>
            </a:pPr>
            <a:r>
              <a:rPr sz="2000" baseline="-33333" dirty="0">
                <a:latin typeface="Roboto"/>
                <a:cs typeface="Roboto"/>
              </a:rPr>
              <a:t>wo</a:t>
            </a:r>
            <a:r>
              <a:rPr sz="2000" spc="500" baseline="-33333" dirty="0">
                <a:latin typeface="Roboto"/>
                <a:cs typeface="Roboto"/>
              </a:rPr>
              <a:t>   </a:t>
            </a:r>
            <a:r>
              <a:rPr sz="2000" baseline="11111" dirty="0">
                <a:latin typeface="Roboto"/>
                <a:cs typeface="Roboto"/>
              </a:rPr>
              <a:t>n</a:t>
            </a:r>
            <a:r>
              <a:rPr sz="2000" spc="540" baseline="11111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culi</a:t>
            </a:r>
            <a:r>
              <a:rPr sz="2000" spc="50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signing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kingdoms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 </a:t>
            </a:r>
            <a:r>
              <a:rPr sz="2000" baseline="11111" dirty="0">
                <a:latin typeface="Roboto"/>
                <a:cs typeface="Roboto"/>
              </a:rPr>
              <a:t>n</a:t>
            </a:r>
            <a:r>
              <a:rPr sz="2000" spc="659" baseline="11111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(ze</a:t>
            </a:r>
            <a:r>
              <a:rPr sz="2000" spc="689" baseline="-5555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known</a:t>
            </a:r>
            <a:r>
              <a:rPr sz="1333" spc="333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the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t</a:t>
            </a:r>
            <a:r>
              <a:rPr sz="2000" spc="689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portugal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11111" dirty="0">
                <a:latin typeface="Roboto"/>
                <a:cs typeface="Roboto"/>
              </a:rPr>
              <a:t>ic</a:t>
            </a:r>
            <a:r>
              <a:rPr sz="2000" spc="360" baseline="11111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juic</a:t>
            </a:r>
            <a:r>
              <a:rPr sz="2000" spc="46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america</a:t>
            </a:r>
            <a:r>
              <a:rPr sz="1333" spc="253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culi</a:t>
            </a:r>
            <a:r>
              <a:rPr sz="2000" spc="460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over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endParaRPr sz="1333">
              <a:latin typeface="Roboto"/>
              <a:cs typeface="Roboto"/>
            </a:endParaRPr>
          </a:p>
          <a:p>
            <a:pPr marL="122764" algn="just"/>
            <a:r>
              <a:rPr sz="2000" baseline="-33333" dirty="0">
                <a:latin typeface="Roboto"/>
                <a:cs typeface="Roboto"/>
              </a:rPr>
              <a:t>nd</a:t>
            </a:r>
            <a:r>
              <a:rPr sz="2000" spc="460" baseline="-33333" dirty="0">
                <a:latin typeface="Roboto"/>
                <a:cs typeface="Roboto"/>
              </a:rPr>
              <a:t>  </a:t>
            </a:r>
            <a:r>
              <a:rPr sz="2000" baseline="11111" dirty="0">
                <a:latin typeface="Roboto"/>
                <a:cs typeface="Roboto"/>
              </a:rPr>
              <a:t>a</a:t>
            </a:r>
            <a:r>
              <a:rPr sz="2000" spc="569" baseline="11111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with</a:t>
            </a:r>
            <a:r>
              <a:rPr sz="2000" spc="920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beginning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</a:t>
            </a:r>
            <a:r>
              <a:rPr sz="1333" spc="200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the</a:t>
            </a:r>
            <a:r>
              <a:rPr sz="2000" spc="-20" baseline="-5555" dirty="0">
                <a:latin typeface="Roboto"/>
                <a:cs typeface="Roboto"/>
              </a:rPr>
              <a:t> </a:t>
            </a:r>
            <a:r>
              <a:rPr sz="2000" spc="-100" baseline="-5555" dirty="0">
                <a:latin typeface="Roboto"/>
                <a:cs typeface="Roboto"/>
              </a:rPr>
              <a:t>w</a:t>
            </a:r>
            <a:endParaRPr sz="2000" baseline="-5555">
              <a:latin typeface="Roboto"/>
              <a:cs typeface="Roboto"/>
            </a:endParaRPr>
          </a:p>
          <a:p>
            <a:pPr marL="456342" indent="-16086" algn="just"/>
            <a:r>
              <a:rPr sz="2000" baseline="11111" dirty="0">
                <a:latin typeface="Roboto"/>
                <a:cs typeface="Roboto"/>
              </a:rPr>
              <a:t>ke</a:t>
            </a:r>
            <a:r>
              <a:rPr sz="2000" spc="309" baseline="11111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dist</a:t>
            </a:r>
            <a:r>
              <a:rPr sz="2000" spc="409" baseline="-5555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europe.[2]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</a:t>
            </a:r>
            <a:r>
              <a:rPr sz="1333" spc="327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culi</a:t>
            </a:r>
            <a:r>
              <a:rPr sz="2000" spc="48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o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2000" baseline="11111" dirty="0">
                <a:latin typeface="Roboto"/>
                <a:cs typeface="Roboto"/>
              </a:rPr>
              <a:t>as</a:t>
            </a:r>
            <a:r>
              <a:rPr sz="2000" spc="869" baseline="11111" dirty="0">
                <a:latin typeface="Roboto"/>
                <a:cs typeface="Roboto"/>
              </a:rPr>
              <a:t> </a:t>
            </a:r>
            <a:r>
              <a:rPr sz="2000" spc="-20" baseline="-5555" dirty="0">
                <a:latin typeface="Roboto"/>
                <a:cs typeface="Roboto"/>
              </a:rPr>
              <a:t>key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i</a:t>
            </a:r>
            <a:r>
              <a:rPr sz="2000" spc="659" baseline="-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territo</a:t>
            </a:r>
            <a:r>
              <a:rPr sz="1333" spc="400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(ze</a:t>
            </a:r>
            <a:r>
              <a:rPr sz="2000" spc="659" baseline="-5555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 </a:t>
            </a:r>
            <a:r>
              <a:rPr sz="1333" spc="-67" dirty="0">
                <a:latin typeface="Roboto"/>
                <a:cs typeface="Roboto"/>
              </a:rPr>
              <a:t>k</a:t>
            </a:r>
            <a:endParaRPr sz="1333">
              <a:latin typeface="Roboto"/>
              <a:cs typeface="Roboto"/>
            </a:endParaRPr>
          </a:p>
          <a:p>
            <a:pPr marL="1198003" marR="3387" indent="-440256" algn="just"/>
            <a:r>
              <a:rPr sz="2000" baseline="-5555" dirty="0">
                <a:latin typeface="Roboto"/>
                <a:cs typeface="Roboto"/>
              </a:rPr>
              <a:t>lem</a:t>
            </a:r>
            <a:r>
              <a:rPr sz="2000" spc="360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453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juic</a:t>
            </a:r>
            <a:r>
              <a:rPr sz="2000" spc="449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33" dirty="0">
                <a:latin typeface="Roboto"/>
                <a:cs typeface="Roboto"/>
              </a:rPr>
              <a:t> am </a:t>
            </a:r>
            <a:r>
              <a:rPr sz="1333" spc="-27" dirty="0">
                <a:latin typeface="Roboto"/>
                <a:cs typeface="Roboto"/>
              </a:rPr>
              <a:t>france's </a:t>
            </a:r>
            <a:r>
              <a:rPr sz="1333" dirty="0">
                <a:latin typeface="Roboto"/>
                <a:cs typeface="Roboto"/>
              </a:rPr>
              <a:t>possessi</a:t>
            </a:r>
            <a:r>
              <a:rPr sz="1333" spc="380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with</a:t>
            </a:r>
            <a:r>
              <a:rPr sz="2000" spc="889" baseline="-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beginning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 </a:t>
            </a: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327" dirty="0">
                <a:latin typeface="Roboto"/>
                <a:cs typeface="Roboto"/>
              </a:rPr>
              <a:t>  </a:t>
            </a:r>
            <a:r>
              <a:rPr sz="2000" baseline="-5555" dirty="0">
                <a:latin typeface="Roboto"/>
                <a:cs typeface="Roboto"/>
              </a:rPr>
              <a:t>dist</a:t>
            </a:r>
            <a:r>
              <a:rPr sz="2000" spc="420" baseline="-5555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europe.[2] </a:t>
            </a:r>
            <a:r>
              <a:rPr sz="1333" spc="-33" dirty="0">
                <a:latin typeface="Roboto"/>
                <a:cs typeface="Roboto"/>
              </a:rPr>
              <a:t>gr </a:t>
            </a:r>
            <a:r>
              <a:rPr sz="1333" spc="-13" dirty="0">
                <a:latin typeface="Roboto"/>
                <a:cs typeface="Roboto"/>
              </a:rPr>
              <a:t>catholicism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267" dirty="0">
                <a:latin typeface="Roboto"/>
                <a:cs typeface="Roboto"/>
              </a:rPr>
              <a:t>  </a:t>
            </a:r>
            <a:r>
              <a:rPr sz="2000" spc="-20" baseline="-5555" dirty="0">
                <a:latin typeface="Roboto"/>
                <a:cs typeface="Roboto"/>
              </a:rPr>
              <a:t>key</a:t>
            </a:r>
            <a:r>
              <a:rPr sz="2000" spc="-40" baseline="-5555" dirty="0">
                <a:latin typeface="Roboto"/>
                <a:cs typeface="Roboto"/>
              </a:rPr>
              <a:t> </a:t>
            </a:r>
            <a:r>
              <a:rPr sz="2000" baseline="-5555" dirty="0">
                <a:latin typeface="Roboto"/>
                <a:cs typeface="Roboto"/>
              </a:rPr>
              <a:t>i</a:t>
            </a:r>
            <a:r>
              <a:rPr sz="2000" spc="659" baseline="-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126150" algn="just">
              <a:tabLst>
                <a:tab pos="2688946" algn="l"/>
              </a:tabLst>
            </a:pPr>
            <a:r>
              <a:rPr sz="2000" spc="-100" baseline="-33333" dirty="0">
                <a:latin typeface="Roboto"/>
                <a:cs typeface="Roboto"/>
              </a:rPr>
              <a:t>f</a:t>
            </a:r>
            <a:r>
              <a:rPr sz="2000" baseline="-33333" dirty="0">
                <a:latin typeface="Roboto"/>
                <a:cs typeface="Roboto"/>
              </a:rPr>
              <a:t>	</a:t>
            </a:r>
            <a:r>
              <a:rPr sz="2000" baseline="-5555" dirty="0">
                <a:latin typeface="Roboto"/>
                <a:cs typeface="Roboto"/>
              </a:rPr>
              <a:t>lem</a:t>
            </a:r>
            <a:r>
              <a:rPr sz="2000" spc="360" baseline="-5555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w</a:t>
            </a:r>
            <a:endParaRPr sz="1333">
              <a:latin typeface="Roboto"/>
              <a:cs typeface="Roboto"/>
            </a:endParaRPr>
          </a:p>
          <a:p>
            <a:pPr marR="58419" algn="r"/>
            <a:r>
              <a:rPr sz="1333" spc="-27" dirty="0">
                <a:latin typeface="Roboto"/>
                <a:cs typeface="Roboto"/>
              </a:rPr>
              <a:t>france's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pos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8195550" y="-12700"/>
            <a:ext cx="3990340" cy="3501813"/>
            <a:chOff x="6146662" y="-9525"/>
            <a:chExt cx="2992755" cy="2626360"/>
          </a:xfrm>
        </p:grpSpPr>
        <p:sp>
          <p:nvSpPr>
            <p:cNvPr id="133" name="object 133"/>
            <p:cNvSpPr/>
            <p:nvPr/>
          </p:nvSpPr>
          <p:spPr>
            <a:xfrm>
              <a:off x="6156187" y="0"/>
              <a:ext cx="2973705" cy="2607310"/>
            </a:xfrm>
            <a:custGeom>
              <a:avLst/>
              <a:gdLst/>
              <a:ahLst/>
              <a:cxnLst/>
              <a:rect l="l" t="t" r="r" b="b"/>
              <a:pathLst>
                <a:path w="2973704" h="2607310">
                  <a:moveTo>
                    <a:pt x="2973599" y="2607041"/>
                  </a:moveTo>
                  <a:lnTo>
                    <a:pt x="0" y="2607041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60704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156187" y="0"/>
              <a:ext cx="2973705" cy="2607310"/>
            </a:xfrm>
            <a:custGeom>
              <a:avLst/>
              <a:gdLst/>
              <a:ahLst/>
              <a:cxnLst/>
              <a:rect l="l" t="t" r="r" b="b"/>
              <a:pathLst>
                <a:path w="2973704" h="2607310">
                  <a:moveTo>
                    <a:pt x="2973599" y="0"/>
                  </a:moveTo>
                  <a:lnTo>
                    <a:pt x="2973599" y="2607041"/>
                  </a:lnTo>
                  <a:lnTo>
                    <a:pt x="0" y="2607041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486499" y="112250"/>
            <a:ext cx="24663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s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13" dirty="0">
                <a:latin typeface="Roboto"/>
                <a:cs typeface="Roboto"/>
              </a:rPr>
              <a:t> small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hand-</a:t>
            </a:r>
            <a:r>
              <a:rPr sz="1333" spc="-13" dirty="0">
                <a:latin typeface="Roboto"/>
                <a:cs typeface="Roboto"/>
              </a:rPr>
              <a:t>propelled vehicle,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9551696" y="315450"/>
            <a:ext cx="19752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one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be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9547258" y="518650"/>
            <a:ext cx="2390985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single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person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two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9553218" y="721850"/>
            <a:ext cx="19371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ar,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sail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528070" y="925050"/>
            <a:ext cx="17026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rrow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wind.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term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9590518" y="1128250"/>
            <a:ext cx="243586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made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"wheel"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449915" y="1331450"/>
            <a:ext cx="20540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w"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9588251" y="1534650"/>
            <a:ext cx="21471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9591455" y="2144250"/>
            <a:ext cx="211328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distribute</a:t>
            </a:r>
            <a:r>
              <a:rPr sz="1333" spc="-33" dirty="0">
                <a:latin typeface="Roboto"/>
                <a:cs typeface="Roboto"/>
              </a:rPr>
              <a:t> 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9500044" y="2347450"/>
            <a:ext cx="2175085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951666" y="2551729"/>
            <a:ext cx="39480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eur</a:t>
            </a:r>
            <a:r>
              <a:rPr sz="1333" spc="50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operator, </a:t>
            </a:r>
            <a:r>
              <a:rPr sz="1333" dirty="0">
                <a:latin typeface="Roboto"/>
                <a:cs typeface="Roboto"/>
              </a:rPr>
              <a:t>so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enabling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convenient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carriage</a:t>
            </a:r>
            <a:r>
              <a:rPr sz="1333" spc="-33" dirty="0">
                <a:latin typeface="Roboto"/>
                <a:cs typeface="Roboto"/>
              </a:rPr>
              <a:t> of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951666" y="2754929"/>
            <a:ext cx="4022513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  <a:tabLst>
                <a:tab pos="369984" algn="l"/>
              </a:tabLst>
            </a:pPr>
            <a:r>
              <a:rPr sz="1333" spc="-67" dirty="0">
                <a:latin typeface="Roboto"/>
                <a:cs typeface="Roboto"/>
              </a:rPr>
              <a:t>m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heavier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bulkier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loads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would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possible </a:t>
            </a:r>
            <a:r>
              <a:rPr sz="1333" dirty="0">
                <a:latin typeface="Roboto"/>
                <a:cs typeface="Roboto"/>
              </a:rPr>
              <a:t>du</a:t>
            </a:r>
            <a:r>
              <a:rPr sz="1333" spc="253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were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weight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entirely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operator. </a:t>
            </a:r>
            <a:r>
              <a:rPr sz="1333" spc="-33" dirty="0">
                <a:latin typeface="Roboto"/>
                <a:cs typeface="Roboto"/>
              </a:rPr>
              <a:t>fra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8305617" y="3160250"/>
            <a:ext cx="26170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such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second-</a:t>
            </a:r>
            <a:r>
              <a:rPr sz="1333" spc="-27" dirty="0">
                <a:latin typeface="Roboto"/>
                <a:cs typeface="Roboto"/>
              </a:rPr>
              <a:t>class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lever...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578212" y="287419"/>
            <a:ext cx="4109720" cy="28595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856" algn="just">
              <a:lnSpc>
                <a:spcPts val="1507"/>
              </a:lnSpc>
            </a:pPr>
            <a:r>
              <a:rPr sz="1333" dirty="0">
                <a:latin typeface="Roboto"/>
                <a:cs typeface="Roboto"/>
              </a:rPr>
              <a:t>w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hand-</a:t>
            </a:r>
            <a:r>
              <a:rPr sz="1333" spc="-13" dirty="0">
                <a:latin typeface="Roboto"/>
                <a:cs typeface="Roboto"/>
              </a:rPr>
              <a:t>propelled vehicle,</a:t>
            </a:r>
            <a:endParaRPr sz="1333">
              <a:latin typeface="Roboto"/>
              <a:cs typeface="Roboto"/>
            </a:endParaRPr>
          </a:p>
          <a:p>
            <a:pPr marL="96518" marR="55879" indent="10160" algn="just">
              <a:tabLst>
                <a:tab pos="3035224" algn="l"/>
              </a:tabLst>
            </a:pPr>
            <a:r>
              <a:rPr sz="1333" spc="-13" dirty="0">
                <a:latin typeface="Roboto"/>
                <a:cs typeface="Roboto"/>
              </a:rPr>
              <a:t>just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be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11111" dirty="0">
                <a:latin typeface="Roboto"/>
                <a:cs typeface="Roboto"/>
              </a:rPr>
              <a:t>sbeck,</a:t>
            </a:r>
            <a:r>
              <a:rPr sz="2000" spc="-80" baseline="-11111" dirty="0">
                <a:latin typeface="Roboto"/>
                <a:cs typeface="Roboto"/>
              </a:rPr>
              <a:t> </a:t>
            </a:r>
            <a:r>
              <a:rPr sz="2000" baseline="-11111" dirty="0">
                <a:latin typeface="Roboto"/>
                <a:cs typeface="Roboto"/>
              </a:rPr>
              <a:t>is</a:t>
            </a:r>
            <a:r>
              <a:rPr sz="2000" spc="-69" baseline="-11111" dirty="0">
                <a:latin typeface="Roboto"/>
                <a:cs typeface="Roboto"/>
              </a:rPr>
              <a:t> </a:t>
            </a:r>
            <a:r>
              <a:rPr sz="2000" baseline="-11111" dirty="0">
                <a:latin typeface="Roboto"/>
                <a:cs typeface="Roboto"/>
              </a:rPr>
              <a:t>a</a:t>
            </a:r>
            <a:r>
              <a:rPr sz="2000" spc="-69" baseline="-11111" dirty="0">
                <a:latin typeface="Roboto"/>
                <a:cs typeface="Roboto"/>
              </a:rPr>
              <a:t> </a:t>
            </a:r>
            <a:r>
              <a:rPr sz="2000" spc="-49" baseline="-11111" dirty="0">
                <a:latin typeface="Roboto"/>
                <a:cs typeface="Roboto"/>
              </a:rPr>
              <a:t>sp </a:t>
            </a:r>
            <a:r>
              <a:rPr sz="1333" dirty="0">
                <a:latin typeface="Roboto"/>
                <a:cs typeface="Roboto"/>
              </a:rPr>
              <a:t>guided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single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person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347" dirty="0">
                <a:latin typeface="Roboto"/>
                <a:cs typeface="Roboto"/>
              </a:rPr>
              <a:t>   </a:t>
            </a:r>
            <a:r>
              <a:rPr sz="2000" spc="-49" baseline="-11111" dirty="0">
                <a:latin typeface="Roboto"/>
                <a:cs typeface="Roboto"/>
              </a:rPr>
              <a:t>owe</a:t>
            </a:r>
            <a:endParaRPr sz="2000" baseline="-11111">
              <a:latin typeface="Roboto"/>
              <a:cs typeface="Roboto"/>
            </a:endParaRPr>
          </a:p>
          <a:p>
            <a:pPr marL="83818" marR="51645" indent="-27093" algn="just">
              <a:tabLst>
                <a:tab pos="3526279" algn="l"/>
              </a:tabLst>
            </a:pPr>
            <a:r>
              <a:rPr sz="1333" dirty="0">
                <a:latin typeface="Roboto"/>
                <a:cs typeface="Roboto"/>
              </a:rPr>
              <a:t>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rear,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sail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2777" dirty="0">
                <a:latin typeface="Roboto"/>
                <a:cs typeface="Roboto"/>
              </a:rPr>
              <a:t>==</a:t>
            </a:r>
            <a:r>
              <a:rPr sz="2000" spc="-89" baseline="2777" dirty="0">
                <a:latin typeface="Roboto"/>
                <a:cs typeface="Roboto"/>
              </a:rPr>
              <a:t> </a:t>
            </a:r>
            <a:r>
              <a:rPr sz="2000" spc="-40" baseline="2777" dirty="0">
                <a:latin typeface="Roboto"/>
                <a:cs typeface="Roboto"/>
              </a:rPr>
              <a:t>trea </a:t>
            </a:r>
            <a:r>
              <a:rPr sz="1333" spc="-13" dirty="0">
                <a:latin typeface="Roboto"/>
                <a:cs typeface="Roboto"/>
              </a:rPr>
              <a:t>elbarrow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wind.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term</a:t>
            </a:r>
            <a:endParaRPr sz="1333">
              <a:latin typeface="Roboto"/>
              <a:cs typeface="Roboto"/>
            </a:endParaRPr>
          </a:p>
          <a:p>
            <a:pPr indent="71118" algn="just">
              <a:tabLst>
                <a:tab pos="3032684" algn="l"/>
                <a:tab pos="3526279" algn="l"/>
              </a:tabLst>
            </a:pPr>
            <a:r>
              <a:rPr sz="1333" spc="-13" dirty="0">
                <a:latin typeface="Roboto"/>
                <a:cs typeface="Roboto"/>
              </a:rPr>
              <a:t>w"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made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</a:t>
            </a:r>
            <a:r>
              <a:rPr sz="1333" spc="-27" dirty="0">
                <a:latin typeface="Roboto"/>
                <a:cs typeface="Roboto"/>
              </a:rPr>
              <a:t> "wheel"</a:t>
            </a:r>
            <a:r>
              <a:rPr sz="1333" spc="-33" dirty="0">
                <a:latin typeface="Roboto"/>
                <a:cs typeface="Roboto"/>
              </a:rPr>
              <a:t> and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89" baseline="2777" dirty="0">
                <a:latin typeface="Roboto"/>
                <a:cs typeface="Roboto"/>
              </a:rPr>
              <a:t> </a:t>
            </a:r>
            <a:r>
              <a:rPr sz="2000" spc="-40" baseline="2777" dirty="0">
                <a:latin typeface="Roboto"/>
                <a:cs typeface="Roboto"/>
              </a:rPr>
              <a:t>trea </a:t>
            </a:r>
            <a:r>
              <a:rPr sz="1333" spc="-27" dirty="0">
                <a:latin typeface="Roboto"/>
                <a:cs typeface="Roboto"/>
              </a:rPr>
              <a:t>arrow"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2777" dirty="0">
                <a:latin typeface="Roboto"/>
                <a:cs typeface="Roboto"/>
              </a:rPr>
              <a:t>(l.)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o</a:t>
            </a:r>
            <a:r>
              <a:rPr sz="2000" spc="98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1763,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spc="-100" baseline="2777" dirty="0">
                <a:latin typeface="Roboto"/>
                <a:cs typeface="Roboto"/>
              </a:rPr>
              <a:t>w</a:t>
            </a:r>
            <a:r>
              <a:rPr sz="2000" spc="-20" baseline="277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arwe"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20" baseline="2777" dirty="0">
                <a:latin typeface="Roboto"/>
                <a:cs typeface="Roboto"/>
              </a:rPr>
              <a:t>kingdo</a:t>
            </a:r>
            <a:endParaRPr sz="2000" baseline="2777">
              <a:latin typeface="Roboto"/>
              <a:cs typeface="Roboto"/>
            </a:endParaRPr>
          </a:p>
          <a:p>
            <a:pPr marL="56725" algn="just">
              <a:tabLst>
                <a:tab pos="3526279" algn="l"/>
              </a:tabLst>
            </a:pPr>
            <a:r>
              <a:rPr sz="1333" spc="-33" dirty="0">
                <a:latin typeface="Roboto"/>
                <a:cs typeface="Roboto"/>
              </a:rPr>
              <a:t>ds.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2777" dirty="0">
                <a:latin typeface="Roboto"/>
                <a:cs typeface="Roboto"/>
              </a:rPr>
              <a:t>portug</a:t>
            </a:r>
            <a:endParaRPr sz="2000" baseline="2777">
              <a:latin typeface="Roboto"/>
              <a:cs typeface="Roboto"/>
            </a:endParaRPr>
          </a:p>
          <a:p>
            <a:pPr marL="143930" marR="1554441" indent="-58419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rrow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distribute</a:t>
            </a:r>
            <a:r>
              <a:rPr sz="1333" spc="-33" dirty="0">
                <a:latin typeface="Roboto"/>
                <a:cs typeface="Roboto"/>
              </a:rPr>
              <a:t> the </a:t>
            </a:r>
            <a:r>
              <a:rPr sz="1333" dirty="0">
                <a:latin typeface="Roboto"/>
                <a:cs typeface="Roboto"/>
              </a:rPr>
              <a:t>load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86357" marR="77045" indent="16933">
              <a:tabLst>
                <a:tab pos="3036917" algn="l"/>
              </a:tabLst>
            </a:pPr>
            <a:r>
              <a:rPr sz="1333" spc="-13" dirty="0">
                <a:latin typeface="Roboto"/>
                <a:cs typeface="Roboto"/>
              </a:rPr>
              <a:t>enabling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convenient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carriage</a:t>
            </a:r>
            <a:r>
              <a:rPr sz="1333" spc="-33" dirty="0">
                <a:latin typeface="Roboto"/>
                <a:cs typeface="Roboto"/>
              </a:rPr>
              <a:t> of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16666" dirty="0">
                <a:latin typeface="Roboto"/>
                <a:cs typeface="Roboto"/>
              </a:rPr>
              <a:t>limon</a:t>
            </a:r>
            <a:r>
              <a:rPr sz="2000" spc="-89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(l.)</a:t>
            </a:r>
            <a:r>
              <a:rPr sz="2000" spc="-69" baseline="-16666" dirty="0">
                <a:latin typeface="Roboto"/>
                <a:cs typeface="Roboto"/>
              </a:rPr>
              <a:t> </a:t>
            </a:r>
            <a:r>
              <a:rPr sz="2000" spc="-49" baseline="-16666" dirty="0">
                <a:latin typeface="Roboto"/>
                <a:cs typeface="Roboto"/>
              </a:rPr>
              <a:t>osb </a:t>
            </a:r>
            <a:r>
              <a:rPr sz="1333" spc="-13" dirty="0">
                <a:latin typeface="Roboto"/>
                <a:cs typeface="Roboto"/>
              </a:rPr>
              <a:t>bulkier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loads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than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would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possible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630729" y="-12700"/>
            <a:ext cx="3990340" cy="3648287"/>
            <a:chOff x="473046" y="-9525"/>
            <a:chExt cx="2992755" cy="2736215"/>
          </a:xfrm>
        </p:grpSpPr>
        <p:sp>
          <p:nvSpPr>
            <p:cNvPr id="150" name="object 150"/>
            <p:cNvSpPr/>
            <p:nvPr/>
          </p:nvSpPr>
          <p:spPr>
            <a:xfrm>
              <a:off x="482571" y="0"/>
              <a:ext cx="2973705" cy="2717165"/>
            </a:xfrm>
            <a:custGeom>
              <a:avLst/>
              <a:gdLst/>
              <a:ahLst/>
              <a:cxnLst/>
              <a:rect l="l" t="t" r="r" b="b"/>
              <a:pathLst>
                <a:path w="2973704" h="2717165">
                  <a:moveTo>
                    <a:pt x="2973599" y="2716542"/>
                  </a:moveTo>
                  <a:lnTo>
                    <a:pt x="0" y="2716542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7165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82571" y="0"/>
              <a:ext cx="2973705" cy="2717165"/>
            </a:xfrm>
            <a:custGeom>
              <a:avLst/>
              <a:gdLst/>
              <a:ahLst/>
              <a:cxnLst/>
              <a:rect l="l" t="t" r="r" b="b"/>
              <a:pathLst>
                <a:path w="2973704" h="2717165">
                  <a:moveTo>
                    <a:pt x="2973599" y="0"/>
                  </a:moveTo>
                  <a:lnTo>
                    <a:pt x="2973599" y="2716542"/>
                  </a:lnTo>
                  <a:lnTo>
                    <a:pt x="0" y="271654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740795" y="3103050"/>
            <a:ext cx="134958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were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weight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c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-50827" y="3306250"/>
            <a:ext cx="3442547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000" spc="-20" baseline="8333" dirty="0">
                <a:latin typeface="Roboto"/>
                <a:cs typeface="Roboto"/>
              </a:rPr>
              <a:t>eaty</a:t>
            </a:r>
            <a:r>
              <a:rPr sz="2000" spc="-2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of</a:t>
            </a:r>
            <a:r>
              <a:rPr sz="2000" spc="-29" baseline="8333" dirty="0">
                <a:latin typeface="Roboto"/>
                <a:cs typeface="Roboto"/>
              </a:rPr>
              <a:t> </a:t>
            </a:r>
            <a:r>
              <a:rPr sz="2000" baseline="8333" dirty="0">
                <a:latin typeface="Roboto"/>
                <a:cs typeface="Roboto"/>
              </a:rPr>
              <a:t>p</a:t>
            </a:r>
            <a:r>
              <a:rPr sz="2000" spc="720" baseline="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13" dirty="0">
                <a:latin typeface="Roboto"/>
                <a:cs typeface="Roboto"/>
              </a:rPr>
              <a:t> such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second-</a:t>
            </a:r>
            <a:r>
              <a:rPr sz="1333" spc="-27" dirty="0">
                <a:latin typeface="Roboto"/>
                <a:cs typeface="Roboto"/>
              </a:rPr>
              <a:t>class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lever...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50167" y="75780"/>
            <a:ext cx="3868420" cy="1159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52556"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fl</a:t>
            </a:r>
            <a:endParaRPr sz="1333">
              <a:latin typeface="Roboto"/>
              <a:cs typeface="Roboto"/>
            </a:endParaRPr>
          </a:p>
          <a:p>
            <a:pPr marL="706949" marR="38944" indent="-353898">
              <a:spcBef>
                <a:spcPts val="67"/>
              </a:spcBef>
            </a:pPr>
            <a:r>
              <a:rPr sz="2000" baseline="-41666" dirty="0">
                <a:latin typeface="Roboto"/>
                <a:cs typeface="Roboto"/>
              </a:rPr>
              <a:t>==</a:t>
            </a:r>
            <a:r>
              <a:rPr sz="2000" spc="379" baseline="-41666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wheelbarro</a:t>
            </a:r>
            <a:r>
              <a:rPr sz="1333" spc="193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rutaceae,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native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to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south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as </a:t>
            </a:r>
            <a:r>
              <a:rPr sz="1333" spc="-27" dirty="0">
                <a:latin typeface="Roboto"/>
                <a:cs typeface="Roboto"/>
              </a:rPr>
              <a:t>usually </a:t>
            </a:r>
            <a:r>
              <a:rPr sz="1333" dirty="0">
                <a:latin typeface="Roboto"/>
                <a:cs typeface="Roboto"/>
              </a:rPr>
              <a:t>with</a:t>
            </a:r>
            <a:r>
              <a:rPr sz="1333" spc="253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eastern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india.</a:t>
            </a:r>
            <a:endParaRPr sz="2000" baseline="2777">
              <a:latin typeface="Roboto"/>
              <a:cs typeface="Roboto"/>
            </a:endParaRPr>
          </a:p>
          <a:p>
            <a:pPr>
              <a:tabLst>
                <a:tab pos="706949" algn="l"/>
              </a:tabLst>
            </a:pPr>
            <a:r>
              <a:rPr sz="2000" baseline="-41666" dirty="0">
                <a:latin typeface="Roboto"/>
                <a:cs typeface="Roboto"/>
              </a:rPr>
              <a:t>==</a:t>
            </a:r>
            <a:r>
              <a:rPr sz="2000" spc="449" baseline="-41666" dirty="0">
                <a:latin typeface="Roboto"/>
                <a:cs typeface="Roboto"/>
              </a:rPr>
              <a:t>  </a:t>
            </a:r>
            <a:r>
              <a:rPr sz="2000" spc="-100" baseline="-41666" dirty="0">
                <a:latin typeface="Roboto"/>
                <a:cs typeface="Roboto"/>
              </a:rPr>
              <a:t>a</a:t>
            </a:r>
            <a:r>
              <a:rPr sz="2000" baseline="-41666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pushed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</a:t>
            </a:r>
            <a:endParaRPr sz="1333">
              <a:latin typeface="Roboto"/>
              <a:cs typeface="Roboto"/>
            </a:endParaRPr>
          </a:p>
          <a:p>
            <a:pPr marL="353898" marR="6773" indent="133770">
              <a:lnSpc>
                <a:spcPct val="61400"/>
              </a:lnSpc>
              <a:spcBef>
                <a:spcPts val="612"/>
              </a:spcBef>
            </a:pPr>
            <a:r>
              <a:rPr sz="2000" baseline="25000" dirty="0">
                <a:latin typeface="Roboto"/>
                <a:cs typeface="Roboto"/>
              </a:rPr>
              <a:t>w</a:t>
            </a:r>
            <a:r>
              <a:rPr sz="2000" spc="529" baseline="2500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handles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</a:t>
            </a:r>
            <a:r>
              <a:rPr sz="1333" spc="293" dirty="0">
                <a:latin typeface="Roboto"/>
                <a:cs typeface="Roboto"/>
              </a:rPr>
              <a:t> 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spc="-40" baseline="2777" dirty="0">
                <a:latin typeface="Roboto"/>
                <a:cs typeface="Roboto"/>
              </a:rPr>
              <a:t>tree's </a:t>
            </a:r>
            <a:r>
              <a:rPr sz="2000" spc="-20" baseline="2777" dirty="0">
                <a:latin typeface="Roboto"/>
                <a:cs typeface="Roboto"/>
              </a:rPr>
              <a:t>ellipsoidal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yellow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100" baseline="2777" dirty="0">
                <a:latin typeface="Roboto"/>
                <a:cs typeface="Roboto"/>
              </a:rPr>
              <a:t>f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us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1471" y="54707"/>
            <a:ext cx="2697480" cy="3090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6%</a:t>
            </a:r>
            <a:endParaRPr sz="1333">
              <a:latin typeface="Roboto"/>
              <a:cs typeface="Roboto"/>
            </a:endParaRPr>
          </a:p>
          <a:p>
            <a:pPr marR="2540" algn="just"/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s</a:t>
            </a:r>
            <a:r>
              <a:rPr sz="1333" spc="-13" dirty="0">
                <a:latin typeface="Roboto"/>
                <a:cs typeface="Roboto"/>
              </a:rPr>
              <a:t> distinctive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 key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ingredient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drinks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foods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s</a:t>
            </a:r>
            <a:r>
              <a:rPr sz="1333" spc="-13" dirty="0">
                <a:latin typeface="Roboto"/>
                <a:cs typeface="Roboto"/>
              </a:rPr>
              <a:t> lemonade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meringue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pie..</a:t>
            </a:r>
            <a:endParaRPr sz="1333">
              <a:latin typeface="Roboto"/>
              <a:cs typeface="Roboto"/>
            </a:endParaRPr>
          </a:p>
          <a:p>
            <a:pPr marL="735735" indent="-707796">
              <a:spcBef>
                <a:spcPts val="233"/>
              </a:spcBef>
            </a:pPr>
            <a:r>
              <a:rPr sz="2000" baseline="-41666" dirty="0">
                <a:latin typeface="Roboto"/>
                <a:cs typeface="Roboto"/>
              </a:rPr>
              <a:t>the</a:t>
            </a:r>
            <a:r>
              <a:rPr sz="2000" spc="789" baseline="-41666" dirty="0">
                <a:latin typeface="Roboto"/>
                <a:cs typeface="Roboto"/>
              </a:rPr>
              <a:t> </a:t>
            </a:r>
            <a:r>
              <a:rPr sz="2000" baseline="-41666" dirty="0">
                <a:latin typeface="Roboto"/>
                <a:cs typeface="Roboto"/>
              </a:rPr>
              <a:t>pu</a:t>
            </a:r>
            <a:r>
              <a:rPr sz="2000" spc="429" baseline="-41666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ancient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</a:t>
            </a:r>
            <a:r>
              <a:rPr sz="1333" spc="193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culinary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and </a:t>
            </a:r>
            <a:r>
              <a:rPr sz="1333" dirty="0">
                <a:latin typeface="Roboto"/>
                <a:cs typeface="Roboto"/>
              </a:rPr>
              <a:t>"wheelbarro</a:t>
            </a:r>
            <a:r>
              <a:rPr sz="1333" spc="645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10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world,</a:t>
            </a:r>
            <a:r>
              <a:rPr sz="2000" spc="-100" baseline="2777" dirty="0">
                <a:latin typeface="Roboto"/>
                <a:cs typeface="Roboto"/>
              </a:rPr>
              <a:t> p</a:t>
            </a:r>
            <a:endParaRPr sz="2000" baseline="2777">
              <a:latin typeface="Roboto"/>
              <a:cs typeface="Roboto"/>
            </a:endParaRPr>
          </a:p>
          <a:p>
            <a:pPr marL="27939">
              <a:lnSpc>
                <a:spcPts val="1292"/>
              </a:lnSpc>
              <a:tabLst>
                <a:tab pos="1781342" algn="l"/>
              </a:tabLst>
            </a:pPr>
            <a:r>
              <a:rPr sz="2000" baseline="25000" dirty="0">
                <a:latin typeface="Roboto"/>
                <a:cs typeface="Roboto"/>
              </a:rPr>
              <a:t>17</a:t>
            </a:r>
            <a:r>
              <a:rPr sz="2000" spc="460" baseline="25000" dirty="0">
                <a:latin typeface="Roboto"/>
                <a:cs typeface="Roboto"/>
              </a:rPr>
              <a:t>  </a:t>
            </a:r>
            <a:r>
              <a:rPr sz="2000" baseline="25000" dirty="0">
                <a:latin typeface="Roboto"/>
                <a:cs typeface="Roboto"/>
              </a:rPr>
              <a:t>ha</a:t>
            </a:r>
            <a:r>
              <a:rPr sz="2000" spc="489" baseline="25000" dirty="0">
                <a:latin typeface="Roboto"/>
                <a:cs typeface="Roboto"/>
              </a:rPr>
              <a:t>  </a:t>
            </a:r>
            <a:r>
              <a:rPr sz="1333" spc="-53" dirty="0">
                <a:latin typeface="Roboto"/>
                <a:cs typeface="Roboto"/>
              </a:rPr>
              <a:t>"barrow."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"b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2777" dirty="0">
                <a:latin typeface="Roboto"/>
                <a:cs typeface="Roboto"/>
              </a:rPr>
              <a:t>culinary</a:t>
            </a:r>
            <a:r>
              <a:rPr sz="2000" spc="-8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and</a:t>
            </a:r>
            <a:endParaRPr sz="2000" baseline="2777">
              <a:latin typeface="Roboto"/>
              <a:cs typeface="Roboto"/>
            </a:endParaRPr>
          </a:p>
          <a:p>
            <a:pPr marL="27939" algn="just">
              <a:lnSpc>
                <a:spcPts val="800"/>
              </a:lnSpc>
            </a:pPr>
            <a:r>
              <a:rPr sz="1333" dirty="0">
                <a:latin typeface="Roboto"/>
                <a:cs typeface="Roboto"/>
              </a:rPr>
              <a:t>ki</a:t>
            </a:r>
            <a:r>
              <a:rPr sz="1333" spc="545" dirty="0">
                <a:latin typeface="Roboto"/>
                <a:cs typeface="Roboto"/>
              </a:rPr>
              <a:t>  </a:t>
            </a:r>
            <a:r>
              <a:rPr sz="1333" spc="-33" dirty="0">
                <a:latin typeface="Roboto"/>
                <a:cs typeface="Roboto"/>
              </a:rPr>
              <a:t>an</a:t>
            </a:r>
            <a:endParaRPr sz="1333">
              <a:latin typeface="Roboto"/>
              <a:cs typeface="Roboto"/>
            </a:endParaRPr>
          </a:p>
          <a:p>
            <a:pPr marL="27939">
              <a:lnSpc>
                <a:spcPts val="1107"/>
              </a:lnSpc>
              <a:tabLst>
                <a:tab pos="735735" algn="l"/>
                <a:tab pos="1781342" algn="l"/>
              </a:tabLst>
            </a:pPr>
            <a:r>
              <a:rPr sz="2000" baseline="-41666" dirty="0">
                <a:latin typeface="Roboto"/>
                <a:cs typeface="Roboto"/>
              </a:rPr>
              <a:t>por</a:t>
            </a:r>
            <a:r>
              <a:rPr sz="2000" spc="689" baseline="-41666" dirty="0">
                <a:latin typeface="Roboto"/>
                <a:cs typeface="Roboto"/>
              </a:rPr>
              <a:t> </a:t>
            </a:r>
            <a:r>
              <a:rPr sz="2000" spc="-49" baseline="-41666" dirty="0">
                <a:latin typeface="Roboto"/>
                <a:cs typeface="Roboto"/>
              </a:rPr>
              <a:t>"w</a:t>
            </a:r>
            <a:r>
              <a:rPr sz="2000" baseline="-41666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english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"be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2777" dirty="0">
                <a:latin typeface="Roboto"/>
                <a:cs typeface="Roboto"/>
              </a:rPr>
              <a:t>(zest)</a:t>
            </a:r>
            <a:r>
              <a:rPr sz="2000" spc="-10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are</a:t>
            </a:r>
            <a:r>
              <a:rPr sz="2000" spc="-100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al</a:t>
            </a:r>
            <a:endParaRPr sz="2000" baseline="2777">
              <a:latin typeface="Roboto"/>
              <a:cs typeface="Roboto"/>
            </a:endParaRPr>
          </a:p>
          <a:p>
            <a:pPr marL="27939">
              <a:lnSpc>
                <a:spcPts val="1567"/>
              </a:lnSpc>
              <a:tabLst>
                <a:tab pos="735735" algn="l"/>
              </a:tabLst>
            </a:pPr>
            <a:r>
              <a:rPr sz="2000" baseline="-41666" dirty="0">
                <a:latin typeface="Roboto"/>
                <a:cs typeface="Roboto"/>
              </a:rPr>
              <a:t>ove</a:t>
            </a:r>
            <a:r>
              <a:rPr sz="2000" spc="469" baseline="-41666" dirty="0">
                <a:latin typeface="Roboto"/>
                <a:cs typeface="Roboto"/>
              </a:rPr>
              <a:t> </a:t>
            </a:r>
            <a:r>
              <a:rPr sz="2000" spc="-49" baseline="-41666" dirty="0">
                <a:latin typeface="Roboto"/>
                <a:cs typeface="Roboto"/>
              </a:rPr>
              <a:t>"b</a:t>
            </a:r>
            <a:r>
              <a:rPr sz="2000" baseline="-41666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carrying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</a:t>
            </a:r>
            <a:r>
              <a:rPr sz="1333" spc="300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juice </a:t>
            </a:r>
            <a:r>
              <a:rPr sz="2000" baseline="2777" dirty="0">
                <a:latin typeface="Roboto"/>
                <a:cs typeface="Roboto"/>
              </a:rPr>
              <a:t>of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20" baseline="2777" dirty="0">
                <a:latin typeface="Roboto"/>
                <a:cs typeface="Roboto"/>
              </a:rPr>
              <a:t> </a:t>
            </a:r>
            <a:r>
              <a:rPr sz="2000" spc="-100" baseline="2777" dirty="0">
                <a:latin typeface="Roboto"/>
                <a:cs typeface="Roboto"/>
              </a:rPr>
              <a:t>l</a:t>
            </a:r>
            <a:endParaRPr sz="2000" baseline="2777">
              <a:latin typeface="Roboto"/>
              <a:cs typeface="Roboto"/>
            </a:endParaRPr>
          </a:p>
          <a:p>
            <a:pPr marL="1781342">
              <a:lnSpc>
                <a:spcPts val="1292"/>
              </a:lnSpc>
            </a:pP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  <a:p>
            <a:pPr marL="381837">
              <a:lnSpc>
                <a:spcPts val="833"/>
              </a:lnSpc>
            </a:pPr>
            <a:r>
              <a:rPr sz="1333" spc="-33" dirty="0">
                <a:latin typeface="Roboto"/>
                <a:cs typeface="Roboto"/>
              </a:rPr>
              <a:t>en</a:t>
            </a:r>
            <a:endParaRPr sz="1333">
              <a:latin typeface="Roboto"/>
              <a:cs typeface="Roboto"/>
            </a:endParaRPr>
          </a:p>
          <a:p>
            <a:pPr marL="27939">
              <a:lnSpc>
                <a:spcPts val="1107"/>
              </a:lnSpc>
              <a:tabLst>
                <a:tab pos="735735" algn="l"/>
              </a:tabLst>
            </a:pPr>
            <a:r>
              <a:rPr sz="2000" baseline="-41666" dirty="0">
                <a:latin typeface="Roboto"/>
                <a:cs typeface="Roboto"/>
              </a:rPr>
              <a:t>the</a:t>
            </a:r>
            <a:r>
              <a:rPr sz="2000" spc="789" baseline="-41666" dirty="0">
                <a:latin typeface="Roboto"/>
                <a:cs typeface="Roboto"/>
              </a:rPr>
              <a:t> </a:t>
            </a:r>
            <a:r>
              <a:rPr sz="2000" spc="-49" baseline="-41666" dirty="0">
                <a:latin typeface="Roboto"/>
                <a:cs typeface="Roboto"/>
              </a:rPr>
              <a:t>ca</a:t>
            </a:r>
            <a:r>
              <a:rPr sz="2000" baseline="-41666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wheelba</a:t>
            </a:r>
            <a:r>
              <a:rPr sz="1333" spc="640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distinctive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100" baseline="2777" dirty="0">
                <a:latin typeface="Roboto"/>
                <a:cs typeface="Roboto"/>
              </a:rPr>
              <a:t>s</a:t>
            </a:r>
            <a:endParaRPr sz="2000" baseline="2777">
              <a:latin typeface="Roboto"/>
              <a:cs typeface="Roboto"/>
            </a:endParaRPr>
          </a:p>
          <a:p>
            <a:pPr marL="27939" marR="9313">
              <a:tabLst>
                <a:tab pos="735735" algn="l"/>
              </a:tabLst>
            </a:pPr>
            <a:r>
              <a:rPr sz="2000" spc="-49" baseline="-41666" dirty="0">
                <a:latin typeface="Roboto"/>
                <a:cs typeface="Roboto"/>
              </a:rPr>
              <a:t>ye</a:t>
            </a:r>
            <a:r>
              <a:rPr sz="2000" baseline="-41666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weight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58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key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ingredie </a:t>
            </a:r>
            <a:r>
              <a:rPr sz="2000" baseline="-41666" dirty="0">
                <a:latin typeface="Roboto"/>
                <a:cs typeface="Roboto"/>
              </a:rPr>
              <a:t>the</a:t>
            </a:r>
            <a:r>
              <a:rPr sz="2000" spc="820" baseline="-41666" dirty="0">
                <a:latin typeface="Roboto"/>
                <a:cs typeface="Roboto"/>
              </a:rPr>
              <a:t> </a:t>
            </a:r>
            <a:r>
              <a:rPr sz="2000" baseline="-41666" dirty="0">
                <a:latin typeface="Roboto"/>
                <a:cs typeface="Roboto"/>
              </a:rPr>
              <a:t>the</a:t>
            </a:r>
            <a:r>
              <a:rPr sz="2000" spc="829" baseline="-41666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operator,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</a:t>
            </a:r>
            <a:r>
              <a:rPr sz="1333" spc="287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lemonade </a:t>
            </a:r>
            <a:r>
              <a:rPr sz="2000" spc="-100" baseline="2777" dirty="0">
                <a:latin typeface="Roboto"/>
                <a:cs typeface="Roboto"/>
              </a:rPr>
              <a:t>a</a:t>
            </a:r>
            <a:endParaRPr sz="2000" baseline="2777">
              <a:latin typeface="Roboto"/>
              <a:cs typeface="Roboto"/>
            </a:endParaRPr>
          </a:p>
          <a:p>
            <a:pPr marL="735735"/>
            <a:r>
              <a:rPr sz="1333" spc="-13" dirty="0">
                <a:latin typeface="Roboto"/>
                <a:cs typeface="Roboto"/>
              </a:rPr>
              <a:t>heavier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676238" y="-12700"/>
            <a:ext cx="3990340" cy="3059007"/>
            <a:chOff x="1257178" y="-9525"/>
            <a:chExt cx="2992755" cy="2294255"/>
          </a:xfrm>
        </p:grpSpPr>
        <p:sp>
          <p:nvSpPr>
            <p:cNvPr id="157" name="object 157"/>
            <p:cNvSpPr/>
            <p:nvPr/>
          </p:nvSpPr>
          <p:spPr>
            <a:xfrm>
              <a:off x="1266703" y="0"/>
              <a:ext cx="2973705" cy="2275205"/>
            </a:xfrm>
            <a:custGeom>
              <a:avLst/>
              <a:gdLst/>
              <a:ahLst/>
              <a:cxnLst/>
              <a:rect l="l" t="t" r="r" b="b"/>
              <a:pathLst>
                <a:path w="2973704" h="2275205">
                  <a:moveTo>
                    <a:pt x="2973599" y="2274912"/>
                  </a:moveTo>
                  <a:lnTo>
                    <a:pt x="0" y="2274912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27491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266703" y="0"/>
              <a:ext cx="2973705" cy="2275205"/>
            </a:xfrm>
            <a:custGeom>
              <a:avLst/>
              <a:gdLst/>
              <a:ahLst/>
              <a:cxnLst/>
              <a:rect l="l" t="t" r="r" b="b"/>
              <a:pathLst>
                <a:path w="2973704" h="2275205">
                  <a:moveTo>
                    <a:pt x="2973599" y="0"/>
                  </a:moveTo>
                  <a:lnTo>
                    <a:pt x="2973599" y="2274912"/>
                  </a:lnTo>
                  <a:lnTo>
                    <a:pt x="0" y="227491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9" name="object 159"/>
          <p:cNvGrpSpPr/>
          <p:nvPr/>
        </p:nvGrpSpPr>
        <p:grpSpPr>
          <a:xfrm>
            <a:off x="-12700" y="-12700"/>
            <a:ext cx="3898053" cy="1209040"/>
            <a:chOff x="-9525" y="-9525"/>
            <a:chExt cx="2923540" cy="906780"/>
          </a:xfrm>
        </p:grpSpPr>
        <p:sp>
          <p:nvSpPr>
            <p:cNvPr id="160" name="object 160"/>
            <p:cNvSpPr/>
            <p:nvPr/>
          </p:nvSpPr>
          <p:spPr>
            <a:xfrm>
              <a:off x="0" y="0"/>
              <a:ext cx="2904490" cy="887730"/>
            </a:xfrm>
            <a:custGeom>
              <a:avLst/>
              <a:gdLst/>
              <a:ahLst/>
              <a:cxnLst/>
              <a:rect l="l" t="t" r="r" b="b"/>
              <a:pathLst>
                <a:path w="2904490" h="887730">
                  <a:moveTo>
                    <a:pt x="0" y="0"/>
                  </a:moveTo>
                  <a:lnTo>
                    <a:pt x="2903978" y="0"/>
                  </a:lnTo>
                  <a:lnTo>
                    <a:pt x="2903978" y="887508"/>
                  </a:lnTo>
                  <a:lnTo>
                    <a:pt x="0" y="887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0" y="0"/>
              <a:ext cx="2904490" cy="887730"/>
            </a:xfrm>
            <a:custGeom>
              <a:avLst/>
              <a:gdLst/>
              <a:ahLst/>
              <a:cxnLst/>
              <a:rect l="l" t="t" r="r" b="b"/>
              <a:pathLst>
                <a:path w="2904490" h="887730">
                  <a:moveTo>
                    <a:pt x="2903978" y="0"/>
                  </a:moveTo>
                  <a:lnTo>
                    <a:pt x="2903978" y="887508"/>
                  </a:lnTo>
                  <a:lnTo>
                    <a:pt x="0" y="88750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2" name="object 162"/>
          <p:cNvGrpSpPr/>
          <p:nvPr/>
        </p:nvGrpSpPr>
        <p:grpSpPr>
          <a:xfrm>
            <a:off x="-12700" y="-12699"/>
            <a:ext cx="2725419" cy="3086100"/>
            <a:chOff x="-9525" y="-9525"/>
            <a:chExt cx="2044064" cy="2314575"/>
          </a:xfrm>
        </p:grpSpPr>
        <p:sp>
          <p:nvSpPr>
            <p:cNvPr id="163" name="object 163"/>
            <p:cNvSpPr/>
            <p:nvPr/>
          </p:nvSpPr>
          <p:spPr>
            <a:xfrm>
              <a:off x="0" y="0"/>
              <a:ext cx="2025014" cy="2295525"/>
            </a:xfrm>
            <a:custGeom>
              <a:avLst/>
              <a:gdLst/>
              <a:ahLst/>
              <a:cxnLst/>
              <a:rect l="l" t="t" r="r" b="b"/>
              <a:pathLst>
                <a:path w="2025014" h="2295525">
                  <a:moveTo>
                    <a:pt x="0" y="0"/>
                  </a:moveTo>
                  <a:lnTo>
                    <a:pt x="2024481" y="0"/>
                  </a:lnTo>
                  <a:lnTo>
                    <a:pt x="2024481" y="2295224"/>
                  </a:lnTo>
                  <a:lnTo>
                    <a:pt x="0" y="2295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0" y="0"/>
              <a:ext cx="2025014" cy="2295525"/>
            </a:xfrm>
            <a:custGeom>
              <a:avLst/>
              <a:gdLst/>
              <a:ahLst/>
              <a:cxnLst/>
              <a:rect l="l" t="t" r="r" b="b"/>
              <a:pathLst>
                <a:path w="2025014" h="2295525">
                  <a:moveTo>
                    <a:pt x="2024481" y="0"/>
                  </a:moveTo>
                  <a:lnTo>
                    <a:pt x="2024481" y="2295224"/>
                  </a:lnTo>
                  <a:lnTo>
                    <a:pt x="0" y="229522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-44824" y="276893"/>
            <a:ext cx="21606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ma.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county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seat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oklah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-409" y="480093"/>
            <a:ext cx="208026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ty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ranks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27th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among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united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-34741" y="683293"/>
            <a:ext cx="21327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tion.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population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fol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-14403" y="886493"/>
            <a:ext cx="209550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s,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population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estim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-32568" y="1089693"/>
            <a:ext cx="20980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13" dirty="0">
                <a:latin typeface="Roboto"/>
                <a:cs typeface="Roboto"/>
              </a:rPr>
              <a:t> 643,648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july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201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-15086" y="1292892"/>
            <a:ext cx="2087033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oklahoma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metropolitan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1,358,452,[9]</a:t>
            </a:r>
            <a:r>
              <a:rPr sz="1333" dirty="0">
                <a:latin typeface="Roboto"/>
                <a:cs typeface="Roboto"/>
              </a:rPr>
              <a:t> and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spc="-13" dirty="0">
                <a:latin typeface="Roboto"/>
                <a:cs typeface="Roboto"/>
              </a:rPr>
              <a:t>hawnee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combined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statistic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127937" y="1902493"/>
            <a:ext cx="191770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of</a:t>
            </a:r>
            <a:r>
              <a:rPr sz="1333" spc="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1,459,758</a:t>
            </a:r>
            <a:r>
              <a:rPr sz="1333" spc="1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residents,[9]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36522" y="2512094"/>
            <a:ext cx="203792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city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limits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extend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into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cana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2048112" y="54707"/>
            <a:ext cx="4108027" cy="2868115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49952" marR="704409" indent="38944">
              <a:spcBef>
                <a:spcPts val="67"/>
              </a:spcBef>
              <a:tabLst>
                <a:tab pos="618051" algn="l"/>
                <a:tab pos="712029" algn="l"/>
                <a:tab pos="1819441" algn="l"/>
                <a:tab pos="1869393" algn="l"/>
              </a:tabLst>
            </a:pPr>
            <a:r>
              <a:rPr sz="2000" spc="-49" baseline="-8333" dirty="0">
                <a:latin typeface="Roboto"/>
                <a:cs typeface="Roboto"/>
              </a:rPr>
              <a:t>.s.</a:t>
            </a:r>
            <a:r>
              <a:rPr sz="2000" baseline="-8333" dirty="0">
                <a:latin typeface="Roboto"/>
                <a:cs typeface="Roboto"/>
              </a:rPr>
              <a:t>		</a:t>
            </a:r>
            <a:r>
              <a:rPr sz="2000" spc="-20" baseline="5555" dirty="0">
                <a:latin typeface="Roboto"/>
                <a:cs typeface="Roboto"/>
              </a:rPr>
              <a:t>citric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spc="-20" baseline="5555" dirty="0">
                <a:latin typeface="Roboto"/>
                <a:cs typeface="Roboto"/>
              </a:rPr>
              <a:t>acid,</a:t>
            </a:r>
            <a:r>
              <a:rPr sz="2000" baseline="5555" dirty="0">
                <a:latin typeface="Roboto"/>
                <a:cs typeface="Roboto"/>
              </a:rPr>
              <a:t>		</a:t>
            </a:r>
            <a:r>
              <a:rPr sz="1333" dirty="0">
                <a:latin typeface="Roboto"/>
                <a:cs typeface="Roboto"/>
              </a:rPr>
              <a:t>owering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family </a:t>
            </a:r>
            <a:r>
              <a:rPr sz="2000" spc="-49" baseline="-8333" dirty="0">
                <a:latin typeface="Roboto"/>
                <a:cs typeface="Roboto"/>
              </a:rPr>
              <a:t>oma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2000" baseline="5555" dirty="0">
                <a:latin typeface="Roboto"/>
                <a:cs typeface="Roboto"/>
              </a:rPr>
              <a:t>our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spc="-20" baseline="5555" dirty="0">
                <a:latin typeface="Roboto"/>
                <a:cs typeface="Roboto"/>
              </a:rPr>
              <a:t>taste.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spc="-49" baseline="5555" dirty="0">
                <a:latin typeface="Roboto"/>
                <a:cs typeface="Roboto"/>
              </a:rPr>
              <a:t>the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ia,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north</a:t>
            </a:r>
            <a:endParaRPr sz="1333">
              <a:latin typeface="Roboto"/>
              <a:cs typeface="Roboto"/>
            </a:endParaRPr>
          </a:p>
          <a:p>
            <a:pPr marL="57572">
              <a:lnSpc>
                <a:spcPts val="1533"/>
              </a:lnSpc>
              <a:spcBef>
                <a:spcPts val="347"/>
              </a:spcBef>
              <a:tabLst>
                <a:tab pos="3572844" algn="l"/>
              </a:tabLst>
            </a:pPr>
            <a:r>
              <a:rPr sz="2000" baseline="5555" dirty="0">
                <a:latin typeface="Roboto"/>
                <a:cs typeface="Roboto"/>
              </a:rPr>
              <a:t>states</a:t>
            </a:r>
            <a:r>
              <a:rPr sz="2000" spc="320" baseline="5555" dirty="0">
                <a:latin typeface="Roboto"/>
                <a:cs typeface="Roboto"/>
              </a:rPr>
              <a:t>  </a:t>
            </a:r>
            <a:r>
              <a:rPr sz="2000" baseline="22222" dirty="0">
                <a:latin typeface="Roboto"/>
                <a:cs typeface="Roboto"/>
              </a:rPr>
              <a:t>makes</a:t>
            </a:r>
            <a:r>
              <a:rPr sz="2000" spc="-59" baseline="22222" dirty="0">
                <a:latin typeface="Roboto"/>
                <a:cs typeface="Roboto"/>
              </a:rPr>
              <a:t> </a:t>
            </a:r>
            <a:r>
              <a:rPr sz="2000" baseline="22222" dirty="0">
                <a:latin typeface="Roboto"/>
                <a:cs typeface="Roboto"/>
              </a:rPr>
              <a:t>it</a:t>
            </a:r>
            <a:r>
              <a:rPr sz="2000" spc="-59" baseline="22222" dirty="0">
                <a:latin typeface="Roboto"/>
                <a:cs typeface="Roboto"/>
              </a:rPr>
              <a:t> </a:t>
            </a:r>
            <a:r>
              <a:rPr sz="2000" spc="-100" baseline="22222" dirty="0">
                <a:latin typeface="Roboto"/>
                <a:cs typeface="Roboto"/>
              </a:rPr>
              <a:t>a</a:t>
            </a:r>
            <a:r>
              <a:rPr sz="2000" baseline="22222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ecies</a:t>
            </a:r>
            <a:r>
              <a:rPr sz="1333" spc="-67" dirty="0">
                <a:latin typeface="Roboto"/>
                <a:cs typeface="Roboto"/>
              </a:rPr>
              <a:t> o</a:t>
            </a:r>
            <a:endParaRPr sz="1333">
              <a:latin typeface="Roboto"/>
              <a:cs typeface="Roboto"/>
            </a:endParaRPr>
          </a:p>
          <a:p>
            <a:pPr marL="32173">
              <a:lnSpc>
                <a:spcPts val="1427"/>
              </a:lnSpc>
            </a:pPr>
            <a:r>
              <a:rPr sz="1333" dirty="0">
                <a:latin typeface="Roboto"/>
                <a:cs typeface="Roboto"/>
              </a:rPr>
              <a:t>lowing</a:t>
            </a:r>
            <a:r>
              <a:rPr sz="1333" spc="320" dirty="0">
                <a:latin typeface="Roboto"/>
                <a:cs typeface="Roboto"/>
              </a:rPr>
              <a:t> </a:t>
            </a:r>
            <a:r>
              <a:rPr sz="2000" baseline="16666" dirty="0">
                <a:latin typeface="Roboto"/>
                <a:cs typeface="Roboto"/>
              </a:rPr>
              <a:t>uch</a:t>
            </a:r>
            <a:r>
              <a:rPr sz="2000" spc="-69" baseline="16666" dirty="0">
                <a:latin typeface="Roboto"/>
                <a:cs typeface="Roboto"/>
              </a:rPr>
              <a:t> </a:t>
            </a:r>
            <a:r>
              <a:rPr sz="2000" spc="-49" baseline="16666" dirty="0">
                <a:latin typeface="Roboto"/>
                <a:cs typeface="Roboto"/>
              </a:rPr>
              <a:t>as</a:t>
            </a:r>
            <a:endParaRPr sz="2000" baseline="16666">
              <a:latin typeface="Roboto"/>
              <a:cs typeface="Roboto"/>
            </a:endParaRPr>
          </a:p>
          <a:p>
            <a:pPr marL="15240">
              <a:lnSpc>
                <a:spcPts val="1493"/>
              </a:lnSpc>
              <a:tabLst>
                <a:tab pos="656150" algn="l"/>
                <a:tab pos="1852460" algn="l"/>
                <a:tab pos="3576231" algn="l"/>
              </a:tabLst>
            </a:pPr>
            <a:r>
              <a:rPr sz="2000" spc="-40" baseline="-8333" dirty="0">
                <a:latin typeface="Roboto"/>
                <a:cs typeface="Roboto"/>
              </a:rPr>
              <a:t>ated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2000" spc="-100" baseline="5555" dirty="0">
                <a:latin typeface="Roboto"/>
                <a:cs typeface="Roboto"/>
              </a:rPr>
              <a:t>.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ruit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r>
              <a:rPr sz="1333" dirty="0">
                <a:latin typeface="Roboto"/>
                <a:cs typeface="Roboto"/>
              </a:rPr>
              <a:t>	ty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p</a:t>
            </a:r>
            <a:endParaRPr sz="1333">
              <a:latin typeface="Roboto"/>
              <a:cs typeface="Roboto"/>
            </a:endParaRPr>
          </a:p>
          <a:p>
            <a:pPr>
              <a:tabLst>
                <a:tab pos="706949" algn="l"/>
              </a:tabLst>
            </a:pPr>
            <a:r>
              <a:rPr sz="2000" spc="-20" baseline="-8333" dirty="0">
                <a:latin typeface="Roboto"/>
                <a:cs typeface="Roboto"/>
              </a:rPr>
              <a:t>7.[5]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purposes</a:t>
            </a:r>
            <a:r>
              <a:rPr sz="1333" spc="1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throughout</a:t>
            </a:r>
            <a:endParaRPr sz="1333">
              <a:latin typeface="Roboto"/>
              <a:cs typeface="Roboto"/>
            </a:endParaRPr>
          </a:p>
          <a:p>
            <a:pPr marL="706949" indent="-567252">
              <a:tabLst>
                <a:tab pos="621438" algn="l"/>
                <a:tab pos="3628723" algn="l"/>
              </a:tabLst>
            </a:pPr>
            <a:r>
              <a:rPr sz="2000" spc="-49" baseline="-8333" dirty="0">
                <a:latin typeface="Roboto"/>
                <a:cs typeface="Roboto"/>
              </a:rPr>
              <a:t>rea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1333" spc="-27" dirty="0">
                <a:latin typeface="Roboto"/>
                <a:cs typeface="Roboto"/>
              </a:rPr>
              <a:t>rimarily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27" dirty="0">
                <a:latin typeface="Roboto"/>
                <a:cs typeface="Roboto"/>
              </a:rPr>
              <a:t> both</a:t>
            </a:r>
            <a:r>
              <a:rPr sz="1333" dirty="0">
                <a:latin typeface="Roboto"/>
                <a:cs typeface="Roboto"/>
              </a:rPr>
              <a:t>	ty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p</a:t>
            </a:r>
            <a:r>
              <a:rPr sz="1333" spc="-13" dirty="0">
                <a:latin typeface="Roboto"/>
                <a:cs typeface="Roboto"/>
              </a:rPr>
              <a:t> cleaning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uses.[2]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pulp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rind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</a:t>
            </a:r>
            <a:endParaRPr sz="1333">
              <a:latin typeface="Roboto"/>
              <a:cs typeface="Roboto"/>
            </a:endParaRPr>
          </a:p>
          <a:p>
            <a:pPr marL="667157" marR="99904" indent="-664617">
              <a:tabLst>
                <a:tab pos="3552525" algn="l"/>
              </a:tabLst>
            </a:pPr>
            <a:r>
              <a:rPr sz="2000" baseline="-8333" dirty="0">
                <a:latin typeface="Roboto"/>
                <a:cs typeface="Roboto"/>
              </a:rPr>
              <a:t>al</a:t>
            </a:r>
            <a:r>
              <a:rPr sz="2000" spc="-59" baseline="-8333" dirty="0">
                <a:latin typeface="Roboto"/>
                <a:cs typeface="Roboto"/>
              </a:rPr>
              <a:t> </a:t>
            </a:r>
            <a:r>
              <a:rPr sz="2000" baseline="-8333" dirty="0">
                <a:latin typeface="Roboto"/>
                <a:cs typeface="Roboto"/>
              </a:rPr>
              <a:t>area</a:t>
            </a:r>
            <a:r>
              <a:rPr sz="2000" spc="940" baseline="-8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cooking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baking.</a:t>
            </a:r>
            <a:r>
              <a:rPr sz="1333" spc="-33" dirty="0">
                <a:latin typeface="Roboto"/>
                <a:cs typeface="Roboto"/>
              </a:rPr>
              <a:t> 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 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6%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acid,</a:t>
            </a:r>
            <a:r>
              <a:rPr sz="1333" dirty="0">
                <a:latin typeface="Roboto"/>
                <a:cs typeface="Roboto"/>
              </a:rPr>
              <a:t>	al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endParaRPr sz="1333">
              <a:latin typeface="Roboto"/>
              <a:cs typeface="Roboto"/>
            </a:endParaRPr>
          </a:p>
          <a:p>
            <a:pPr marL="652762" marR="704409" indent="-575719">
              <a:tabLst>
                <a:tab pos="673928" algn="l"/>
              </a:tabLst>
            </a:pPr>
            <a:r>
              <a:rPr sz="2000" spc="-40" baseline="-8333" dirty="0">
                <a:latin typeface="Roboto"/>
                <a:cs typeface="Roboto"/>
              </a:rPr>
              <a:t>rea.</a:t>
            </a:r>
            <a:r>
              <a:rPr sz="2000" baseline="-8333" dirty="0">
                <a:latin typeface="Roboto"/>
                <a:cs typeface="Roboto"/>
              </a:rPr>
              <a:t>		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our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makes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endParaRPr sz="1333">
              <a:latin typeface="Roboto"/>
              <a:cs typeface="Roboto"/>
            </a:endParaRPr>
          </a:p>
          <a:p>
            <a:pPr marL="8466"/>
            <a:r>
              <a:rPr sz="2000" baseline="-8333" dirty="0">
                <a:latin typeface="Roboto"/>
                <a:cs typeface="Roboto"/>
              </a:rPr>
              <a:t>dian,...</a:t>
            </a:r>
            <a:r>
              <a:rPr sz="2000" spc="329" baseline="-8333" dirty="0">
                <a:latin typeface="Roboto"/>
                <a:cs typeface="Roboto"/>
              </a:rPr>
              <a:t>  </a:t>
            </a:r>
            <a:r>
              <a:rPr sz="1333" dirty="0">
                <a:latin typeface="Roboto"/>
                <a:cs typeface="Roboto"/>
              </a:rPr>
              <a:t>nt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drinks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foods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such</a:t>
            </a:r>
            <a:r>
              <a:rPr sz="1333" spc="-33" dirty="0">
                <a:latin typeface="Roboto"/>
                <a:cs typeface="Roboto"/>
              </a:rPr>
              <a:t> as</a:t>
            </a:r>
            <a:endParaRPr sz="1333">
              <a:latin typeface="Roboto"/>
              <a:cs typeface="Roboto"/>
            </a:endParaRPr>
          </a:p>
          <a:p>
            <a:pPr marL="634137">
              <a:tabLst>
                <a:tab pos="3550831" algn="l"/>
              </a:tabLst>
            </a:pPr>
            <a:r>
              <a:rPr sz="1333" dirty="0">
                <a:latin typeface="Roboto"/>
                <a:cs typeface="Roboto"/>
              </a:rPr>
              <a:t>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meringue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pie...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19444" dirty="0">
                <a:latin typeface="Roboto"/>
                <a:cs typeface="Roboto"/>
              </a:rPr>
              <a:t>eck,</a:t>
            </a:r>
            <a:r>
              <a:rPr sz="2000" spc="-80" baseline="-19444" dirty="0">
                <a:latin typeface="Roboto"/>
                <a:cs typeface="Roboto"/>
              </a:rPr>
              <a:t> </a:t>
            </a:r>
            <a:r>
              <a:rPr sz="2000" spc="-49" baseline="-19444" dirty="0">
                <a:latin typeface="Roboto"/>
                <a:cs typeface="Roboto"/>
              </a:rPr>
              <a:t>is</a:t>
            </a:r>
            <a:endParaRPr sz="2000" baseline="-19444">
              <a:latin typeface="Roboto"/>
              <a:cs typeface="Roboto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2072649" y="-46892"/>
            <a:ext cx="4066540" cy="3407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29" algn="just"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kingdoms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with</a:t>
            </a:r>
            <a:endParaRPr sz="1333">
              <a:latin typeface="Roboto"/>
              <a:cs typeface="Roboto"/>
            </a:endParaRPr>
          </a:p>
          <a:p>
            <a:pPr marL="169329" marR="161709" algn="just"/>
            <a:r>
              <a:rPr sz="1333" spc="-13" dirty="0">
                <a:latin typeface="Roboto"/>
                <a:cs typeface="Roboto"/>
              </a:rPr>
              <a:t>portugal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agreement,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britain's </a:t>
            </a:r>
            <a:r>
              <a:rPr sz="1333" spc="-13" dirty="0">
                <a:latin typeface="Roboto"/>
                <a:cs typeface="Roboto"/>
              </a:rPr>
              <a:t>victory </a:t>
            </a:r>
            <a:r>
              <a:rPr sz="1333" dirty="0">
                <a:latin typeface="Roboto"/>
                <a:cs typeface="Roboto"/>
              </a:rPr>
              <a:t>over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seven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war.</a:t>
            </a:r>
            <a:endParaRPr sz="1333">
              <a:latin typeface="Roboto"/>
              <a:cs typeface="Roboto"/>
            </a:endParaRPr>
          </a:p>
          <a:p>
            <a:pPr marL="169329" marR="189649" algn="just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seven years'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marked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169329" indent="-147315">
              <a:tabLst>
                <a:tab pos="3963148" algn="l"/>
              </a:tabLst>
            </a:pPr>
            <a:r>
              <a:rPr sz="2000" baseline="16666" dirty="0">
                <a:latin typeface="Roboto"/>
                <a:cs typeface="Roboto"/>
              </a:rPr>
              <a:t>a</a:t>
            </a:r>
            <a:r>
              <a:rPr sz="2000" spc="109" baseline="16666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beginning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outside europe.[2]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returned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100" baseline="27777" dirty="0">
                <a:latin typeface="Roboto"/>
                <a:cs typeface="Roboto"/>
              </a:rPr>
              <a:t>g</a:t>
            </a:r>
            <a:r>
              <a:rPr sz="2000" baseline="2777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territory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</a:t>
            </a:r>
            <a:endParaRPr sz="1333">
              <a:latin typeface="Roboto"/>
              <a:cs typeface="Roboto"/>
            </a:endParaRPr>
          </a:p>
          <a:p>
            <a:pPr marL="169329">
              <a:tabLst>
                <a:tab pos="3970767" algn="l"/>
              </a:tabLst>
            </a:pPr>
            <a:r>
              <a:rPr sz="1333" dirty="0">
                <a:latin typeface="Roboto"/>
                <a:cs typeface="Roboto"/>
              </a:rPr>
              <a:t>during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100" baseline="27777" dirty="0">
                <a:latin typeface="Roboto"/>
                <a:cs typeface="Roboto"/>
              </a:rPr>
              <a:t>g</a:t>
            </a:r>
            <a:r>
              <a:rPr sz="2000" spc="-40" baseline="2777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france's </a:t>
            </a:r>
            <a:r>
              <a:rPr sz="1333" spc="-13" dirty="0">
                <a:latin typeface="Roboto"/>
                <a:cs typeface="Roboto"/>
              </a:rPr>
              <a:t>possessions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endParaRPr sz="1333">
              <a:latin typeface="Roboto"/>
              <a:cs typeface="Roboto"/>
            </a:endParaRPr>
          </a:p>
          <a:p>
            <a:pPr marL="169329" marR="194728" algn="just"/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protect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roman catholicism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endParaRPr sz="1333">
              <a:latin typeface="Roboto"/>
              <a:cs typeface="Roboto"/>
            </a:endParaRPr>
          </a:p>
          <a:p>
            <a:pPr>
              <a:spcBef>
                <a:spcPts val="280"/>
              </a:spcBef>
            </a:pPr>
            <a:endParaRPr sz="1333">
              <a:latin typeface="Roboto"/>
              <a:cs typeface="Roboto"/>
            </a:endParaRPr>
          </a:p>
          <a:p>
            <a:pPr marR="36406" indent="2540783">
              <a:lnSpc>
                <a:spcPct val="73300"/>
              </a:lnSpc>
              <a:spcBef>
                <a:spcPts val="7"/>
              </a:spcBef>
              <a:tabLst>
                <a:tab pos="2534855" algn="l"/>
              </a:tabLst>
            </a:pPr>
            <a:r>
              <a:rPr sz="1333" dirty="0">
                <a:latin typeface="Roboto"/>
                <a:cs typeface="Roboto"/>
              </a:rPr>
              <a:t>ree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flowering arried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entirely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operator.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16666" dirty="0">
                <a:latin typeface="Roboto"/>
                <a:cs typeface="Roboto"/>
              </a:rPr>
              <a:t>o</a:t>
            </a:r>
            <a:r>
              <a:rPr sz="2000" spc="-29" baseline="-16666" dirty="0">
                <a:latin typeface="Roboto"/>
                <a:cs typeface="Roboto"/>
              </a:rPr>
              <a:t> </a:t>
            </a:r>
            <a:r>
              <a:rPr sz="2000" spc="-20" baseline="-16666" dirty="0">
                <a:latin typeface="Roboto"/>
                <a:cs typeface="Roboto"/>
              </a:rPr>
              <a:t>south</a:t>
            </a:r>
            <a:r>
              <a:rPr sz="2000" spc="-29" baseline="-16666" dirty="0">
                <a:latin typeface="Roboto"/>
                <a:cs typeface="Roboto"/>
              </a:rPr>
              <a:t> </a:t>
            </a:r>
            <a:r>
              <a:rPr sz="2000" spc="-20" baseline="-16666" dirty="0">
                <a:latin typeface="Roboto"/>
                <a:cs typeface="Roboto"/>
              </a:rPr>
              <a:t>asia,</a:t>
            </a:r>
            <a:r>
              <a:rPr sz="2000" spc="-29" baseline="-16666" dirty="0">
                <a:latin typeface="Roboto"/>
                <a:cs typeface="Roboto"/>
              </a:rPr>
              <a:t> </a:t>
            </a:r>
            <a:r>
              <a:rPr sz="2000" spc="-20" baseline="-16666" dirty="0">
                <a:latin typeface="Roboto"/>
                <a:cs typeface="Roboto"/>
              </a:rPr>
              <a:t>primar</a:t>
            </a:r>
            <a:endParaRPr sz="2000" baseline="-16666">
              <a:latin typeface="Roboto"/>
              <a:cs typeface="Roboto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5938689" y="3291611"/>
            <a:ext cx="3990340" cy="3579707"/>
            <a:chOff x="4454016" y="2468708"/>
            <a:chExt cx="2992755" cy="2684780"/>
          </a:xfrm>
        </p:grpSpPr>
        <p:sp>
          <p:nvSpPr>
            <p:cNvPr id="176" name="object 176"/>
            <p:cNvSpPr/>
            <p:nvPr/>
          </p:nvSpPr>
          <p:spPr>
            <a:xfrm>
              <a:off x="4463541" y="2478233"/>
              <a:ext cx="2973705" cy="2665730"/>
            </a:xfrm>
            <a:custGeom>
              <a:avLst/>
              <a:gdLst/>
              <a:ahLst/>
              <a:cxnLst/>
              <a:rect l="l" t="t" r="r" b="b"/>
              <a:pathLst>
                <a:path w="2973704" h="2665729">
                  <a:moveTo>
                    <a:pt x="0" y="0"/>
                  </a:moveTo>
                  <a:lnTo>
                    <a:pt x="2973599" y="0"/>
                  </a:lnTo>
                  <a:lnTo>
                    <a:pt x="2973599" y="2665266"/>
                  </a:lnTo>
                  <a:lnTo>
                    <a:pt x="0" y="266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463541" y="2478233"/>
              <a:ext cx="2973705" cy="2665730"/>
            </a:xfrm>
            <a:custGeom>
              <a:avLst/>
              <a:gdLst/>
              <a:ahLst/>
              <a:cxnLst/>
              <a:rect l="l" t="t" r="r" b="b"/>
              <a:pathLst>
                <a:path w="2973704" h="2665729">
                  <a:moveTo>
                    <a:pt x="0" y="0"/>
                  </a:moveTo>
                  <a:lnTo>
                    <a:pt x="2973599" y="0"/>
                  </a:lnTo>
                  <a:lnTo>
                    <a:pt x="2973599" y="2665266"/>
                  </a:lnTo>
                </a:path>
                <a:path w="2973704" h="2665729">
                  <a:moveTo>
                    <a:pt x="0" y="266526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6048756" y="3394905"/>
            <a:ext cx="6798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==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piano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6048755" y="3801305"/>
            <a:ext cx="31352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piano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acoustic,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stringed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musical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6048755" y="4004505"/>
            <a:ext cx="318346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instrument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invented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italy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bartolomeo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6048755" y="4207705"/>
            <a:ext cx="3659293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cristofori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year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1700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exact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year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is </a:t>
            </a:r>
            <a:r>
              <a:rPr sz="1333" spc="-13" dirty="0">
                <a:latin typeface="Roboto"/>
                <a:cs typeface="Roboto"/>
              </a:rPr>
              <a:t>uncertain),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strings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struck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by </a:t>
            </a:r>
            <a:r>
              <a:rPr sz="1333" spc="-13" dirty="0">
                <a:latin typeface="Roboto"/>
                <a:cs typeface="Roboto"/>
              </a:rPr>
              <a:t>hammers.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played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using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keyboard,[1]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048755" y="4817305"/>
            <a:ext cx="36601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row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keys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(small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levers)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performer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5501538" y="5020505"/>
            <a:ext cx="3917527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000" spc="-20" baseline="-33333" dirty="0">
                <a:latin typeface="Roboto"/>
                <a:cs typeface="Roboto"/>
              </a:rPr>
              <a:t>eel"</a:t>
            </a:r>
            <a:r>
              <a:rPr sz="2000" spc="-59" baseline="-33333" dirty="0">
                <a:latin typeface="Roboto"/>
                <a:cs typeface="Roboto"/>
              </a:rPr>
              <a:t> </a:t>
            </a:r>
            <a:r>
              <a:rPr sz="2000" baseline="-33333" dirty="0">
                <a:latin typeface="Roboto"/>
                <a:cs typeface="Roboto"/>
              </a:rPr>
              <a:t>a</a:t>
            </a:r>
            <a:r>
              <a:rPr sz="2000" spc="640" baseline="-33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presses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down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strikes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fingers</a:t>
            </a:r>
            <a:r>
              <a:rPr sz="1333" spc="-33" dirty="0">
                <a:latin typeface="Roboto"/>
                <a:cs typeface="Roboto"/>
              </a:rPr>
              <a:t> and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6048755" y="5223705"/>
            <a:ext cx="36017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thumbs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both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hands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cause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hammers</a:t>
            </a:r>
            <a:r>
              <a:rPr sz="1333" spc="-33" dirty="0">
                <a:latin typeface="Roboto"/>
                <a:cs typeface="Roboto"/>
              </a:rPr>
              <a:t> to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6048755" y="5426905"/>
            <a:ext cx="1330959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strike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strings.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6048755" y="5833638"/>
            <a:ext cx="61925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3892876" algn="l"/>
              </a:tabLst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word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piano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shortened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form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pianoforte,</a:t>
            </a:r>
            <a:r>
              <a:rPr sz="1333" dirty="0">
                <a:latin typeface="Roboto"/>
                <a:cs typeface="Roboto"/>
              </a:rPr>
              <a:t>	an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</a:t>
            </a:r>
            <a:r>
              <a:rPr sz="1333" spc="-33" dirty="0">
                <a:latin typeface="Roboto"/>
                <a:cs typeface="Roboto"/>
              </a:rPr>
              <a:t> ou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6048755" y="6036838"/>
            <a:ext cx="611716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italian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term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early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1700s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versions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49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ret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6048755" y="6240038"/>
            <a:ext cx="618998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3858164" algn="l"/>
              </a:tabLst>
            </a:pPr>
            <a:r>
              <a:rPr sz="1333" spc="-13" dirty="0">
                <a:latin typeface="Roboto"/>
                <a:cs typeface="Roboto"/>
              </a:rPr>
              <a:t>instrument,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turn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derives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from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7" dirty="0">
                <a:latin typeface="Roboto"/>
                <a:cs typeface="Roboto"/>
              </a:rPr>
              <a:t>territory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5497986" y="6442905"/>
            <a:ext cx="4268047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000" baseline="-33333" dirty="0">
                <a:latin typeface="Roboto"/>
                <a:cs typeface="Roboto"/>
              </a:rPr>
              <a:t>age</a:t>
            </a:r>
            <a:r>
              <a:rPr sz="2000" spc="-49" baseline="-33333" dirty="0">
                <a:latin typeface="Roboto"/>
                <a:cs typeface="Roboto"/>
              </a:rPr>
              <a:t> </a:t>
            </a:r>
            <a:r>
              <a:rPr sz="2000" baseline="-33333" dirty="0">
                <a:latin typeface="Roboto"/>
                <a:cs typeface="Roboto"/>
              </a:rPr>
              <a:t>o</a:t>
            </a:r>
            <a:r>
              <a:rPr sz="2000" spc="609" baseline="-33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gravicembalo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col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piano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forte[2]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fortepiano.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6048755" y="6646105"/>
            <a:ext cx="37050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italian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musical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terms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piano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forte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indicate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2115762" y="-12699"/>
            <a:ext cx="3990340" cy="3329940"/>
            <a:chOff x="1586821" y="-9525"/>
            <a:chExt cx="2992755" cy="2497455"/>
          </a:xfrm>
        </p:grpSpPr>
        <p:sp>
          <p:nvSpPr>
            <p:cNvPr id="192" name="object 192"/>
            <p:cNvSpPr/>
            <p:nvPr/>
          </p:nvSpPr>
          <p:spPr>
            <a:xfrm>
              <a:off x="1596346" y="0"/>
              <a:ext cx="2973705" cy="2478405"/>
            </a:xfrm>
            <a:custGeom>
              <a:avLst/>
              <a:gdLst/>
              <a:ahLst/>
              <a:cxnLst/>
              <a:rect l="l" t="t" r="r" b="b"/>
              <a:pathLst>
                <a:path w="2973704" h="2478405">
                  <a:moveTo>
                    <a:pt x="2973599" y="2478217"/>
                  </a:moveTo>
                  <a:lnTo>
                    <a:pt x="0" y="2478217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247821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596346" y="0"/>
              <a:ext cx="2973705" cy="2478405"/>
            </a:xfrm>
            <a:custGeom>
              <a:avLst/>
              <a:gdLst/>
              <a:ahLst/>
              <a:cxnLst/>
              <a:rect l="l" t="t" r="r" b="b"/>
              <a:pathLst>
                <a:path w="2973704" h="2478405">
                  <a:moveTo>
                    <a:pt x="2973599" y="0"/>
                  </a:moveTo>
                  <a:lnTo>
                    <a:pt x="2973599" y="2478217"/>
                  </a:lnTo>
                  <a:lnTo>
                    <a:pt x="0" y="247821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-1657" y="-59516"/>
            <a:ext cx="3683000" cy="35161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243611">
              <a:lnSpc>
                <a:spcPts val="1325"/>
              </a:lnSpc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running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c</a:t>
            </a:r>
            <a:endParaRPr sz="1333">
              <a:latin typeface="Roboto"/>
              <a:cs typeface="Roboto"/>
            </a:endParaRPr>
          </a:p>
          <a:p>
            <a:pPr marL="16933">
              <a:lnSpc>
                <a:spcPts val="1325"/>
              </a:lnSpc>
            </a:pPr>
            <a:r>
              <a:rPr sz="1333" spc="-13" dirty="0">
                <a:latin typeface="Roboto"/>
                <a:cs typeface="Roboto"/>
              </a:rPr>
              <a:t>pital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largest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u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2225828" y="143683"/>
            <a:ext cx="14173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Roboto"/>
                <a:cs typeface="Roboto"/>
              </a:rPr>
              <a:t>variety";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genre</a:t>
            </a:r>
            <a:r>
              <a:rPr sz="1333" spc="-33" dirty="0">
                <a:latin typeface="Roboto"/>
                <a:cs typeface="Roboto"/>
              </a:rPr>
              <a:t> of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2225828" y="346883"/>
            <a:ext cx="1481667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environment.[1]</a:t>
            </a:r>
            <a:r>
              <a:rPr sz="1333" spc="-33" dirty="0">
                <a:latin typeface="Roboto"/>
                <a:cs typeface="Roboto"/>
              </a:rPr>
              <a:t> the </a:t>
            </a:r>
            <a:r>
              <a:rPr sz="1333" spc="-13" dirty="0">
                <a:latin typeface="Roboto"/>
                <a:cs typeface="Roboto"/>
              </a:rPr>
              <a:t>complete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missions race.[2]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show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h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2225828" y="956484"/>
            <a:ext cx="1422400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familiar</a:t>
            </a:r>
            <a:r>
              <a:rPr sz="1333" spc="100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reality-</a:t>
            </a:r>
            <a:r>
              <a:rPr sz="1333" spc="-27" dirty="0">
                <a:latin typeface="Roboto"/>
                <a:cs typeface="Roboto"/>
              </a:rPr>
              <a:t>vari </a:t>
            </a:r>
            <a:r>
              <a:rPr sz="1333" spc="-13" dirty="0">
                <a:latin typeface="Roboto"/>
                <a:cs typeface="Roboto"/>
              </a:rPr>
              <a:t>games.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garn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2225829" y="1566083"/>
            <a:ext cx="142832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program,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aft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2225828" y="1769283"/>
            <a:ext cx="14715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family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outing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feb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-58254" y="2105693"/>
            <a:ext cx="3761740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333" spc="-33" dirty="0">
                <a:latin typeface="Roboto"/>
                <a:cs typeface="Roboto"/>
              </a:rPr>
              <a:t>oma's </a:t>
            </a:r>
            <a:r>
              <a:rPr sz="1333" spc="-13" dirty="0">
                <a:latin typeface="Roboto"/>
                <a:cs typeface="Roboto"/>
              </a:rPr>
              <a:t>largest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metropolitan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527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the</a:t>
            </a:r>
            <a:r>
              <a:rPr sz="2000" spc="-40" baseline="-22222" dirty="0">
                <a:latin typeface="Roboto"/>
                <a:cs typeface="Roboto"/>
              </a:rPr>
              <a:t> </a:t>
            </a:r>
            <a:r>
              <a:rPr sz="2000" spc="-20" baseline="-22222" dirty="0">
                <a:latin typeface="Roboto"/>
                <a:cs typeface="Roboto"/>
              </a:rPr>
              <a:t>show</a:t>
            </a:r>
            <a:r>
              <a:rPr sz="2000" spc="-40" baseline="-22222" dirty="0">
                <a:latin typeface="Roboto"/>
                <a:cs typeface="Roboto"/>
              </a:rPr>
              <a:t> </a:t>
            </a:r>
            <a:r>
              <a:rPr sz="2000" baseline="-22222" dirty="0">
                <a:latin typeface="Roboto"/>
                <a:cs typeface="Roboto"/>
              </a:rPr>
              <a:t>has</a:t>
            </a:r>
            <a:r>
              <a:rPr sz="2000" spc="-49" baseline="-22222" dirty="0">
                <a:latin typeface="Roboto"/>
                <a:cs typeface="Roboto"/>
              </a:rPr>
              <a:t> </a:t>
            </a:r>
            <a:r>
              <a:rPr sz="2000" spc="-40" baseline="-22222" dirty="0">
                <a:latin typeface="Roboto"/>
                <a:cs typeface="Roboto"/>
              </a:rPr>
              <a:t>beco</a:t>
            </a:r>
            <a:endParaRPr sz="2000" baseline="-22222">
              <a:latin typeface="Roboto"/>
              <a:cs typeface="Roboto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3628688" y="-30347"/>
            <a:ext cx="4047067" cy="2415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11"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lassified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7" dirty="0">
                <a:latin typeface="Roboto"/>
                <a:cs typeface="Roboto"/>
              </a:rPr>
              <a:t> "urban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action</a:t>
            </a:r>
            <a:endParaRPr sz="1333">
              <a:latin typeface="Roboto"/>
              <a:cs typeface="Roboto"/>
            </a:endParaRPr>
          </a:p>
          <a:p>
            <a:pPr marL="103291" marR="2092061" indent="-64345"/>
            <a:r>
              <a:rPr sz="1333" spc="-27" dirty="0">
                <a:latin typeface="Roboto"/>
                <a:cs typeface="Roboto"/>
              </a:rPr>
              <a:t>variety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shows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urban </a:t>
            </a:r>
            <a:r>
              <a:rPr sz="1333" dirty="0">
                <a:latin typeface="Roboto"/>
                <a:cs typeface="Roboto"/>
              </a:rPr>
              <a:t>mcs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guests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were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to</a:t>
            </a:r>
            <a:endParaRPr sz="1333">
              <a:latin typeface="Roboto"/>
              <a:cs typeface="Roboto"/>
            </a:endParaRPr>
          </a:p>
          <a:p>
            <a:pPr marL="82123">
              <a:tabLst>
                <a:tab pos="2526389" algn="l"/>
              </a:tabLst>
            </a:pPr>
            <a:r>
              <a:rPr sz="1333" dirty="0">
                <a:latin typeface="Roboto"/>
                <a:cs typeface="Roboto"/>
              </a:rPr>
              <a:t>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landmark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100" baseline="16666" dirty="0">
                <a:latin typeface="Roboto"/>
                <a:cs typeface="Roboto"/>
              </a:rPr>
              <a:t>f</a:t>
            </a:r>
            <a:endParaRPr sz="2000" baseline="16666">
              <a:latin typeface="Roboto"/>
              <a:cs typeface="Roboto"/>
            </a:endParaRPr>
          </a:p>
          <a:p>
            <a:pPr marR="755208" indent="27939">
              <a:tabLst>
                <a:tab pos="2465432" algn="l"/>
              </a:tabLst>
            </a:pPr>
            <a:r>
              <a:rPr sz="1333" dirty="0">
                <a:latin typeface="Roboto"/>
                <a:cs typeface="Roboto"/>
              </a:rPr>
              <a:t>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since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shifted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more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-33333" dirty="0">
                <a:latin typeface="Roboto"/>
                <a:cs typeface="Roboto"/>
              </a:rPr>
              <a:t>aris</a:t>
            </a:r>
            <a:r>
              <a:rPr sz="2000" spc="-69" baseline="-33333" dirty="0">
                <a:latin typeface="Roboto"/>
                <a:cs typeface="Roboto"/>
              </a:rPr>
              <a:t> </a:t>
            </a:r>
            <a:r>
              <a:rPr sz="2000" spc="-20" baseline="-33333" dirty="0">
                <a:latin typeface="Roboto"/>
                <a:cs typeface="Roboto"/>
              </a:rPr>
              <a:t>(1763) </a:t>
            </a:r>
            <a:r>
              <a:rPr sz="1333" dirty="0">
                <a:latin typeface="Roboto"/>
                <a:cs typeface="Roboto"/>
              </a:rPr>
              <a:t>ety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show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concept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focused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on</a:t>
            </a:r>
            <a:endParaRPr sz="1333">
              <a:latin typeface="Roboto"/>
              <a:cs typeface="Roboto"/>
            </a:endParaRPr>
          </a:p>
          <a:p>
            <a:pPr marL="8466" indent="-5927" algn="r">
              <a:tabLst>
                <a:tab pos="2392620" algn="l"/>
                <a:tab pos="2456965" algn="l"/>
                <a:tab pos="2517922" algn="l"/>
              </a:tabLst>
            </a:pPr>
            <a:r>
              <a:rPr sz="1333" dirty="0">
                <a:latin typeface="Roboto"/>
                <a:cs typeface="Roboto"/>
              </a:rPr>
              <a:t>ered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attention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		</a:t>
            </a:r>
            <a:r>
              <a:rPr sz="2000" spc="-20" baseline="-33333" dirty="0">
                <a:latin typeface="Roboto"/>
                <a:cs typeface="Roboto"/>
              </a:rPr>
              <a:t>aris,</a:t>
            </a:r>
            <a:r>
              <a:rPr sz="2000" spc="-69" baseline="-33333" dirty="0">
                <a:latin typeface="Roboto"/>
                <a:cs typeface="Roboto"/>
              </a:rPr>
              <a:t> </a:t>
            </a:r>
            <a:r>
              <a:rPr sz="2000" baseline="-33333" dirty="0">
                <a:latin typeface="Roboto"/>
                <a:cs typeface="Roboto"/>
              </a:rPr>
              <a:t>also</a:t>
            </a:r>
            <a:r>
              <a:rPr sz="2000" spc="-69" baseline="-33333" dirty="0">
                <a:latin typeface="Roboto"/>
                <a:cs typeface="Roboto"/>
              </a:rPr>
              <a:t> </a:t>
            </a:r>
            <a:r>
              <a:rPr sz="2000" spc="-20" baseline="-33333" dirty="0">
                <a:latin typeface="Roboto"/>
                <a:cs typeface="Roboto"/>
              </a:rPr>
              <a:t>known</a:t>
            </a:r>
            <a:r>
              <a:rPr sz="2000" spc="-69" baseline="-33333" dirty="0">
                <a:latin typeface="Roboto"/>
                <a:cs typeface="Roboto"/>
              </a:rPr>
              <a:t> </a:t>
            </a:r>
            <a:r>
              <a:rPr sz="2000" baseline="-33333" dirty="0">
                <a:latin typeface="Roboto"/>
                <a:cs typeface="Roboto"/>
              </a:rPr>
              <a:t>as</a:t>
            </a:r>
            <a:r>
              <a:rPr sz="2000" spc="-69" baseline="-33333" dirty="0">
                <a:latin typeface="Roboto"/>
                <a:cs typeface="Roboto"/>
              </a:rPr>
              <a:t> </a:t>
            </a:r>
            <a:r>
              <a:rPr sz="2000" spc="-100" baseline="-33333" dirty="0">
                <a:latin typeface="Roboto"/>
                <a:cs typeface="Roboto"/>
              </a:rPr>
              <a:t>t</a:t>
            </a:r>
            <a:r>
              <a:rPr sz="2000" baseline="-33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yoo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jae-</a:t>
            </a:r>
            <a:r>
              <a:rPr sz="1333" spc="-40" dirty="0">
                <a:latin typeface="Roboto"/>
                <a:cs typeface="Roboto"/>
              </a:rPr>
              <a:t>suk,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main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mc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33333" dirty="0">
                <a:latin typeface="Roboto"/>
                <a:cs typeface="Roboto"/>
              </a:rPr>
              <a:t>ned</a:t>
            </a:r>
            <a:r>
              <a:rPr sz="2000" spc="-59" baseline="-33333" dirty="0">
                <a:latin typeface="Roboto"/>
                <a:cs typeface="Roboto"/>
              </a:rPr>
              <a:t> </a:t>
            </a:r>
            <a:r>
              <a:rPr sz="2000" baseline="-33333" dirty="0">
                <a:latin typeface="Roboto"/>
                <a:cs typeface="Roboto"/>
              </a:rPr>
              <a:t>on</a:t>
            </a:r>
            <a:r>
              <a:rPr sz="2000" spc="-49" baseline="-33333" dirty="0">
                <a:latin typeface="Roboto"/>
                <a:cs typeface="Roboto"/>
              </a:rPr>
              <a:t> </a:t>
            </a:r>
            <a:r>
              <a:rPr sz="2000" baseline="-33333" dirty="0">
                <a:latin typeface="Roboto"/>
                <a:cs typeface="Roboto"/>
              </a:rPr>
              <a:t>10</a:t>
            </a:r>
            <a:r>
              <a:rPr sz="2000" spc="-49" baseline="-33333" dirty="0">
                <a:latin typeface="Roboto"/>
                <a:cs typeface="Roboto"/>
              </a:rPr>
              <a:t> </a:t>
            </a:r>
            <a:r>
              <a:rPr sz="2000" spc="-20" baseline="-33333" dirty="0">
                <a:latin typeface="Roboto"/>
                <a:cs typeface="Roboto"/>
              </a:rPr>
              <a:t>february</a:t>
            </a:r>
            <a:r>
              <a:rPr sz="2000" spc="-49" baseline="-33333" dirty="0">
                <a:latin typeface="Roboto"/>
                <a:cs typeface="Roboto"/>
              </a:rPr>
              <a:t> </a:t>
            </a:r>
            <a:r>
              <a:rPr sz="2000" spc="-100" baseline="-33333" dirty="0">
                <a:latin typeface="Roboto"/>
                <a:cs typeface="Roboto"/>
              </a:rPr>
              <a:t>1</a:t>
            </a:r>
            <a:r>
              <a:rPr sz="2000" baseline="-333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leaving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good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sunday's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baseline="-33333" dirty="0">
                <a:latin typeface="Roboto"/>
                <a:cs typeface="Roboto"/>
              </a:rPr>
              <a:t>great</a:t>
            </a:r>
            <a:r>
              <a:rPr sz="2000" spc="-100" baseline="-33333" dirty="0">
                <a:latin typeface="Roboto"/>
                <a:cs typeface="Roboto"/>
              </a:rPr>
              <a:t> </a:t>
            </a:r>
            <a:r>
              <a:rPr sz="2000" spc="-20" baseline="-33333" dirty="0">
                <a:latin typeface="Roboto"/>
                <a:cs typeface="Roboto"/>
              </a:rPr>
              <a:t>britain,</a:t>
            </a:r>
            <a:r>
              <a:rPr sz="2000" spc="-100" baseline="-33333" dirty="0">
                <a:latin typeface="Roboto"/>
                <a:cs typeface="Roboto"/>
              </a:rPr>
              <a:t> </a:t>
            </a:r>
            <a:r>
              <a:rPr sz="2000" baseline="-33333" dirty="0">
                <a:latin typeface="Roboto"/>
                <a:cs typeface="Roboto"/>
              </a:rPr>
              <a:t>france</a:t>
            </a:r>
            <a:r>
              <a:rPr sz="2000" spc="-89" baseline="-33333" dirty="0">
                <a:latin typeface="Roboto"/>
                <a:cs typeface="Roboto"/>
              </a:rPr>
              <a:t> </a:t>
            </a:r>
            <a:r>
              <a:rPr sz="2000" spc="-100" baseline="-33333" dirty="0">
                <a:latin typeface="Roboto"/>
                <a:cs typeface="Roboto"/>
              </a:rPr>
              <a:t>a</a:t>
            </a:r>
            <a:endParaRPr sz="2000" baseline="-33333">
              <a:latin typeface="Roboto"/>
              <a:cs typeface="Roboto"/>
            </a:endParaRPr>
          </a:p>
          <a:p>
            <a:pPr marL="22859" marR="48259" indent="27939">
              <a:lnSpc>
                <a:spcPct val="149800"/>
              </a:lnSpc>
              <a:spcBef>
                <a:spcPts val="7"/>
              </a:spcBef>
              <a:tabLst>
                <a:tab pos="2509456" algn="l"/>
              </a:tabLst>
            </a:pPr>
            <a:r>
              <a:rPr sz="2000" spc="-20" baseline="33333" dirty="0">
                <a:latin typeface="Roboto"/>
                <a:cs typeface="Roboto"/>
              </a:rPr>
              <a:t>ruary</a:t>
            </a:r>
            <a:r>
              <a:rPr sz="2000" spc="-100" baseline="33333" dirty="0">
                <a:latin typeface="Roboto"/>
                <a:cs typeface="Roboto"/>
              </a:rPr>
              <a:t> </a:t>
            </a:r>
            <a:r>
              <a:rPr sz="2000" spc="-20" baseline="33333" dirty="0">
                <a:latin typeface="Roboto"/>
                <a:cs typeface="Roboto"/>
              </a:rPr>
              <a:t>2010.[3]</a:t>
            </a:r>
            <a:r>
              <a:rPr sz="2000" baseline="33333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reement,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after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great </a:t>
            </a:r>
            <a:r>
              <a:rPr sz="1333" dirty="0">
                <a:latin typeface="Roboto"/>
                <a:cs typeface="Roboto"/>
              </a:rPr>
              <a:t>me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other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parts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2225828" y="2378883"/>
            <a:ext cx="206078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asia,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online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2225829" y="2582084"/>
            <a:ext cx="3682153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hallyu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fans,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having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fansubbed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into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various languages,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such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english,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spanish,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portuguese, </a:t>
            </a:r>
            <a:r>
              <a:rPr sz="1333" dirty="0">
                <a:latin typeface="Roboto"/>
                <a:cs typeface="Roboto"/>
              </a:rPr>
              <a:t>french,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italian,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thai,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vietnamese,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chinese,</a:t>
            </a:r>
            <a:r>
              <a:rPr sz="1333" spc="-33" dirty="0">
                <a:latin typeface="Roboto"/>
                <a:cs typeface="Roboto"/>
              </a:rPr>
              <a:t> ...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573829" y="4415423"/>
            <a:ext cx="3990340" cy="2455333"/>
            <a:chOff x="430371" y="3311567"/>
            <a:chExt cx="2992755" cy="1841500"/>
          </a:xfrm>
        </p:grpSpPr>
        <p:sp>
          <p:nvSpPr>
            <p:cNvPr id="205" name="object 205"/>
            <p:cNvSpPr/>
            <p:nvPr/>
          </p:nvSpPr>
          <p:spPr>
            <a:xfrm>
              <a:off x="439896" y="3321092"/>
              <a:ext cx="2973705" cy="1822450"/>
            </a:xfrm>
            <a:custGeom>
              <a:avLst/>
              <a:gdLst/>
              <a:ahLst/>
              <a:cxnLst/>
              <a:rect l="l" t="t" r="r" b="b"/>
              <a:pathLst>
                <a:path w="2973704" h="1822450">
                  <a:moveTo>
                    <a:pt x="0" y="0"/>
                  </a:moveTo>
                  <a:lnTo>
                    <a:pt x="2973599" y="0"/>
                  </a:lnTo>
                  <a:lnTo>
                    <a:pt x="2973599" y="1822407"/>
                  </a:lnTo>
                  <a:lnTo>
                    <a:pt x="0" y="1822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439896" y="3321092"/>
              <a:ext cx="2973705" cy="1822450"/>
            </a:xfrm>
            <a:custGeom>
              <a:avLst/>
              <a:gdLst/>
              <a:ahLst/>
              <a:cxnLst/>
              <a:rect l="l" t="t" r="r" b="b"/>
              <a:pathLst>
                <a:path w="2973704" h="1822450">
                  <a:moveTo>
                    <a:pt x="0" y="0"/>
                  </a:moveTo>
                  <a:lnTo>
                    <a:pt x="2973599" y="0"/>
                  </a:lnTo>
                  <a:lnTo>
                    <a:pt x="2973599" y="1822407"/>
                  </a:lnTo>
                </a:path>
                <a:path w="2973704" h="1822450">
                  <a:moveTo>
                    <a:pt x="0" y="182240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9645" y="4518715"/>
            <a:ext cx="1899920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aseline="5555" dirty="0">
                <a:latin typeface="Roboto"/>
                <a:cs typeface="Roboto"/>
              </a:rPr>
              <a:t>france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a</a:t>
            </a:r>
            <a:r>
              <a:rPr sz="2000" spc="160" baseline="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==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wheelbarrow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1687" y="4925115"/>
            <a:ext cx="4319693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aseline="5555" dirty="0">
                <a:latin typeface="Roboto"/>
                <a:cs typeface="Roboto"/>
              </a:rPr>
              <a:t>igning</a:t>
            </a:r>
            <a:r>
              <a:rPr sz="2000" spc="-4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o</a:t>
            </a:r>
            <a:r>
              <a:rPr sz="2000" spc="329" baseline="5555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wheelbarrow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60" dirty="0">
                <a:latin typeface="Roboto"/>
                <a:cs typeface="Roboto"/>
              </a:rPr>
              <a:t>hand-</a:t>
            </a:r>
            <a:r>
              <a:rPr sz="1333" spc="-13" dirty="0">
                <a:latin typeface="Roboto"/>
                <a:cs typeface="Roboto"/>
              </a:rPr>
              <a:t>propelled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vehicle,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-37300" y="5128315"/>
            <a:ext cx="3942927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aseline="5555" dirty="0">
                <a:latin typeface="Roboto"/>
                <a:cs typeface="Roboto"/>
              </a:rPr>
              <a:t>s'</a:t>
            </a:r>
            <a:r>
              <a:rPr sz="2000" spc="-49" baseline="5555" dirty="0">
                <a:latin typeface="Roboto"/>
                <a:cs typeface="Roboto"/>
              </a:rPr>
              <a:t> </a:t>
            </a:r>
            <a:r>
              <a:rPr sz="2000" spc="-40" baseline="5555" dirty="0">
                <a:latin typeface="Roboto"/>
                <a:cs typeface="Roboto"/>
              </a:rPr>
              <a:t>war,</a:t>
            </a:r>
            <a:r>
              <a:rPr sz="2000" spc="-4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k</a:t>
            </a:r>
            <a:r>
              <a:rPr sz="2000" spc="969" baseline="5555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usually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just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be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17747" y="5331515"/>
            <a:ext cx="4298527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682395" algn="l"/>
              </a:tabLst>
            </a:pPr>
            <a:r>
              <a:rPr sz="2000" baseline="5555" dirty="0">
                <a:latin typeface="Roboto"/>
                <a:cs typeface="Roboto"/>
              </a:rPr>
              <a:t>orth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spc="-100" baseline="5555" dirty="0">
                <a:latin typeface="Roboto"/>
                <a:cs typeface="Roboto"/>
              </a:rPr>
              <a:t>a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pushed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guided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single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person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two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-34552" y="5534715"/>
            <a:ext cx="3903133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aseline="5555" dirty="0">
                <a:latin typeface="Roboto"/>
                <a:cs typeface="Roboto"/>
              </a:rPr>
              <a:t>nning</a:t>
            </a:r>
            <a:r>
              <a:rPr sz="2000" spc="-5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of</a:t>
            </a:r>
            <a:r>
              <a:rPr sz="2000" spc="640" baseline="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handles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rear,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sail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push</a:t>
            </a:r>
            <a:r>
              <a:rPr sz="1333" spc="-33" dirty="0">
                <a:latin typeface="Roboto"/>
                <a:cs typeface="Roboto"/>
              </a:rPr>
              <a:t> 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-20144" y="5737917"/>
            <a:ext cx="3628813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aseline="5555" dirty="0">
                <a:latin typeface="Roboto"/>
                <a:cs typeface="Roboto"/>
              </a:rPr>
              <a:t>pe.[2]</a:t>
            </a:r>
            <a:r>
              <a:rPr sz="2000" spc="-6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gr</a:t>
            </a:r>
            <a:r>
              <a:rPr sz="2000" spc="489" baseline="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ancient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wheelbarrow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wind.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term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-59199" y="5941117"/>
            <a:ext cx="5366172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000" baseline="5555" dirty="0">
                <a:latin typeface="Roboto"/>
                <a:cs typeface="Roboto"/>
              </a:rPr>
              <a:t>h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of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the</a:t>
            </a:r>
            <a:r>
              <a:rPr sz="2000" spc="289" baseline="5555" dirty="0">
                <a:latin typeface="Roboto"/>
                <a:cs typeface="Roboto"/>
              </a:rPr>
              <a:t>  </a:t>
            </a:r>
            <a:r>
              <a:rPr sz="1333" spc="-27" dirty="0">
                <a:latin typeface="Roboto"/>
                <a:cs typeface="Roboto"/>
              </a:rPr>
              <a:t>"wheelbarrow"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made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 </a:t>
            </a:r>
            <a:r>
              <a:rPr sz="1333" spc="-27" dirty="0">
                <a:latin typeface="Roboto"/>
                <a:cs typeface="Roboto"/>
              </a:rPr>
              <a:t>"wheel"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460" dirty="0">
                <a:latin typeface="Roboto"/>
                <a:cs typeface="Roboto"/>
              </a:rPr>
              <a:t> </a:t>
            </a:r>
            <a:r>
              <a:rPr sz="2000" baseline="11111" dirty="0">
                <a:latin typeface="Roboto"/>
                <a:cs typeface="Roboto"/>
              </a:rPr>
              <a:t>p</a:t>
            </a:r>
            <a:r>
              <a:rPr sz="2000" spc="-29" baseline="11111" dirty="0">
                <a:latin typeface="Roboto"/>
                <a:cs typeface="Roboto"/>
              </a:rPr>
              <a:t> </a:t>
            </a:r>
            <a:r>
              <a:rPr sz="2000" baseline="11111" dirty="0">
                <a:latin typeface="Roboto"/>
                <a:cs typeface="Roboto"/>
              </a:rPr>
              <a:t>and</a:t>
            </a:r>
            <a:r>
              <a:rPr sz="2000" spc="-29" baseline="11111" dirty="0">
                <a:latin typeface="Roboto"/>
                <a:cs typeface="Roboto"/>
              </a:rPr>
              <a:t> </a:t>
            </a:r>
            <a:r>
              <a:rPr sz="2000" spc="-40" baseline="11111" dirty="0">
                <a:latin typeface="Roboto"/>
                <a:cs typeface="Roboto"/>
              </a:rPr>
              <a:t>rind</a:t>
            </a:r>
            <a:endParaRPr sz="2000" baseline="11111">
              <a:latin typeface="Roboto"/>
              <a:cs typeface="Roboto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25303" y="6144317"/>
            <a:ext cx="3857413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aseline="5555" dirty="0">
                <a:latin typeface="Roboto"/>
                <a:cs typeface="Roboto"/>
              </a:rPr>
              <a:t>g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the</a:t>
            </a:r>
            <a:r>
              <a:rPr sz="2000" spc="-29" baseline="5555" dirty="0">
                <a:latin typeface="Roboto"/>
                <a:cs typeface="Roboto"/>
              </a:rPr>
              <a:t> </a:t>
            </a:r>
            <a:r>
              <a:rPr sz="2000" baseline="5555" dirty="0">
                <a:latin typeface="Roboto"/>
                <a:cs typeface="Roboto"/>
              </a:rPr>
              <a:t>w</a:t>
            </a:r>
            <a:r>
              <a:rPr sz="2000" spc="809" baseline="5555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"barrow."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"barrow"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old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-57321" y="6347517"/>
            <a:ext cx="4170680" cy="4274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" marR="6773" indent="-26246">
              <a:spcBef>
                <a:spcPts val="133"/>
              </a:spcBef>
              <a:tabLst>
                <a:tab pos="757748" algn="l"/>
              </a:tabLst>
            </a:pPr>
            <a:r>
              <a:rPr sz="2000" spc="-40" baseline="5555" dirty="0">
                <a:latin typeface="Roboto"/>
                <a:cs typeface="Roboto"/>
              </a:rPr>
              <a:t>ce's</a:t>
            </a:r>
            <a:r>
              <a:rPr sz="2000" spc="-59" baseline="5555" dirty="0">
                <a:latin typeface="Roboto"/>
                <a:cs typeface="Roboto"/>
              </a:rPr>
              <a:t> </a:t>
            </a:r>
            <a:r>
              <a:rPr sz="2000" spc="-49" baseline="5555" dirty="0">
                <a:latin typeface="Roboto"/>
                <a:cs typeface="Roboto"/>
              </a:rPr>
              <a:t>po</a:t>
            </a:r>
            <a:r>
              <a:rPr sz="2000" baseline="5555" dirty="0">
                <a:latin typeface="Roboto"/>
                <a:cs typeface="Roboto"/>
              </a:rPr>
              <a:t>	</a:t>
            </a:r>
            <a:r>
              <a:rPr sz="1333" spc="-13" dirty="0">
                <a:latin typeface="Roboto"/>
                <a:cs typeface="Roboto"/>
              </a:rPr>
              <a:t>english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"bearwe"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 </a:t>
            </a:r>
            <a:r>
              <a:rPr sz="2000" baseline="5555" dirty="0">
                <a:latin typeface="Roboto"/>
                <a:cs typeface="Roboto"/>
              </a:rPr>
              <a:t>tionally,</a:t>
            </a:r>
            <a:r>
              <a:rPr sz="2000" spc="940" baseline="5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carrying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loads.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3696329" y="-12700"/>
            <a:ext cx="3990340" cy="2343573"/>
            <a:chOff x="2772246" y="-9525"/>
            <a:chExt cx="2992755" cy="1757680"/>
          </a:xfrm>
        </p:grpSpPr>
        <p:sp>
          <p:nvSpPr>
            <p:cNvPr id="217" name="object 217"/>
            <p:cNvSpPr/>
            <p:nvPr/>
          </p:nvSpPr>
          <p:spPr>
            <a:xfrm>
              <a:off x="2781771" y="0"/>
              <a:ext cx="2973705" cy="1738630"/>
            </a:xfrm>
            <a:custGeom>
              <a:avLst/>
              <a:gdLst/>
              <a:ahLst/>
              <a:cxnLst/>
              <a:rect l="l" t="t" r="r" b="b"/>
              <a:pathLst>
                <a:path w="2973704" h="1738630">
                  <a:moveTo>
                    <a:pt x="2973599" y="1738617"/>
                  </a:moveTo>
                  <a:lnTo>
                    <a:pt x="0" y="1738617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173861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781771" y="0"/>
              <a:ext cx="2973705" cy="1738630"/>
            </a:xfrm>
            <a:custGeom>
              <a:avLst/>
              <a:gdLst/>
              <a:ahLst/>
              <a:cxnLst/>
              <a:rect l="l" t="t" r="r" b="b"/>
              <a:pathLst>
                <a:path w="2973704" h="1738630">
                  <a:moveTo>
                    <a:pt x="2973599" y="0"/>
                  </a:moveTo>
                  <a:lnTo>
                    <a:pt x="2973599" y="1738617"/>
                  </a:lnTo>
                  <a:lnTo>
                    <a:pt x="0" y="173861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 txBox="1"/>
          <p:nvPr/>
        </p:nvSpPr>
        <p:spPr>
          <a:xfrm>
            <a:off x="3806395" y="-29649"/>
            <a:ext cx="39878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"whe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3806395" y="173550"/>
            <a:ext cx="4851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"barro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3806395" y="376750"/>
            <a:ext cx="452120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engli </a:t>
            </a:r>
            <a:r>
              <a:rPr sz="1333" spc="-33" dirty="0">
                <a:latin typeface="Roboto"/>
                <a:cs typeface="Roboto"/>
              </a:rPr>
              <a:t>carryi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3806396" y="986350"/>
            <a:ext cx="4411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w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3806395" y="1189550"/>
            <a:ext cx="38692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weig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2191962" y="1362883"/>
            <a:ext cx="2109893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comeback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program</a:t>
            </a:r>
            <a:r>
              <a:rPr sz="1333" spc="507" dirty="0">
                <a:latin typeface="Roboto"/>
                <a:cs typeface="Roboto"/>
              </a:rPr>
              <a:t> </a:t>
            </a:r>
            <a:r>
              <a:rPr sz="2000" spc="-40" baseline="-11111" dirty="0">
                <a:latin typeface="Roboto"/>
                <a:cs typeface="Roboto"/>
              </a:rPr>
              <a:t>opera</a:t>
            </a:r>
            <a:endParaRPr sz="2000" baseline="-11111">
              <a:latin typeface="Roboto"/>
              <a:cs typeface="Roboto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3806396" y="1595950"/>
            <a:ext cx="4309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heavi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4643812" y="-480"/>
            <a:ext cx="4130040" cy="183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18" algn="just">
              <a:lnSpc>
                <a:spcPts val="1507"/>
              </a:lnSpc>
            </a:pPr>
            <a:r>
              <a:rPr sz="1333" spc="-13" dirty="0">
                <a:latin typeface="Roboto"/>
                <a:cs typeface="Roboto"/>
              </a:rPr>
              <a:t>w"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made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two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words:</a:t>
            </a:r>
            <a:r>
              <a:rPr sz="1333" spc="-27" dirty="0">
                <a:latin typeface="Roboto"/>
                <a:cs typeface="Roboto"/>
              </a:rPr>
              <a:t> "wheel"</a:t>
            </a:r>
            <a:r>
              <a:rPr sz="1333" spc="-33" dirty="0">
                <a:latin typeface="Roboto"/>
                <a:cs typeface="Roboto"/>
              </a:rPr>
              <a:t> and</a:t>
            </a:r>
            <a:endParaRPr sz="1333">
              <a:latin typeface="Roboto"/>
              <a:cs typeface="Roboto"/>
            </a:endParaRPr>
          </a:p>
          <a:p>
            <a:pPr indent="22013" algn="just">
              <a:tabLst>
                <a:tab pos="3323930" algn="l"/>
              </a:tabLst>
            </a:pPr>
            <a:r>
              <a:rPr sz="1333" spc="-27" dirty="0">
                <a:latin typeface="Roboto"/>
                <a:cs typeface="Roboto"/>
              </a:rPr>
              <a:t>arrow"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derivation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old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19444" dirty="0">
                <a:latin typeface="Roboto"/>
                <a:cs typeface="Roboto"/>
              </a:rPr>
              <a:t>==</a:t>
            </a:r>
            <a:r>
              <a:rPr sz="2000" spc="449" baseline="19444" dirty="0">
                <a:latin typeface="Roboto"/>
                <a:cs typeface="Roboto"/>
              </a:rPr>
              <a:t>  </a:t>
            </a:r>
            <a:r>
              <a:rPr sz="2000" baseline="19444" dirty="0">
                <a:latin typeface="Roboto"/>
                <a:cs typeface="Roboto"/>
              </a:rPr>
              <a:t>a</a:t>
            </a:r>
            <a:r>
              <a:rPr sz="2000" spc="-20" baseline="19444" dirty="0">
                <a:latin typeface="Roboto"/>
                <a:cs typeface="Roboto"/>
              </a:rPr>
              <a:t> </a:t>
            </a:r>
            <a:r>
              <a:rPr sz="2000" spc="-49" baseline="19444" dirty="0">
                <a:latin typeface="Roboto"/>
                <a:cs typeface="Roboto"/>
              </a:rPr>
              <a:t>wh</a:t>
            </a:r>
            <a:endParaRPr sz="2000" baseline="19444">
              <a:latin typeface="Roboto"/>
              <a:cs typeface="Roboto"/>
            </a:endParaRPr>
          </a:p>
          <a:p>
            <a:pPr marL="56725" marR="33019" indent="-57572" algn="just">
              <a:lnSpc>
                <a:spcPct val="70400"/>
              </a:lnSpc>
              <a:spcBef>
                <a:spcPts val="473"/>
              </a:spcBef>
              <a:tabLst>
                <a:tab pos="3323930" algn="l"/>
                <a:tab pos="3677828" algn="l"/>
              </a:tabLst>
            </a:pPr>
            <a:r>
              <a:rPr sz="1333" spc="-13" dirty="0">
                <a:latin typeface="Roboto"/>
                <a:cs typeface="Roboto"/>
              </a:rPr>
              <a:t>arwe"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which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device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spc="-29" baseline="19444" dirty="0">
                <a:latin typeface="Roboto"/>
                <a:cs typeface="Roboto"/>
              </a:rPr>
              <a:t>usual </a:t>
            </a:r>
            <a:r>
              <a:rPr sz="2000" spc="-49" baseline="-19444" dirty="0">
                <a:latin typeface="Roboto"/>
                <a:cs typeface="Roboto"/>
              </a:rPr>
              <a:t>ds.</a:t>
            </a:r>
            <a:r>
              <a:rPr sz="2000" baseline="-19444" dirty="0">
                <a:latin typeface="Roboto"/>
                <a:cs typeface="Roboto"/>
              </a:rPr>
              <a:t>	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52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push</a:t>
            </a:r>
            <a:endParaRPr sz="1333">
              <a:latin typeface="Roboto"/>
              <a:cs typeface="Roboto"/>
            </a:endParaRPr>
          </a:p>
          <a:p>
            <a:pPr marR="25399" algn="r"/>
            <a:r>
              <a:rPr sz="1333" dirty="0">
                <a:latin typeface="Roboto"/>
                <a:cs typeface="Roboto"/>
              </a:rPr>
              <a:t>17</a:t>
            </a:r>
            <a:r>
              <a:rPr sz="1333" spc="300" dirty="0">
                <a:latin typeface="Roboto"/>
                <a:cs typeface="Roboto"/>
              </a:rPr>
              <a:t>  </a:t>
            </a:r>
            <a:r>
              <a:rPr sz="1333" spc="-13" dirty="0">
                <a:latin typeface="Roboto"/>
                <a:cs typeface="Roboto"/>
              </a:rPr>
              <a:t>handl</a:t>
            </a:r>
            <a:endParaRPr sz="1333">
              <a:latin typeface="Roboto"/>
              <a:cs typeface="Roboto"/>
            </a:endParaRPr>
          </a:p>
          <a:p>
            <a:pPr marL="86357" indent="-847" algn="just">
              <a:spcBef>
                <a:spcPts val="473"/>
              </a:spcBef>
              <a:tabLst>
                <a:tab pos="3266358" algn="l"/>
                <a:tab pos="3323930" algn="l"/>
                <a:tab pos="3677828" algn="l"/>
              </a:tabLst>
            </a:pPr>
            <a:r>
              <a:rPr sz="1333" spc="-13" dirty="0">
                <a:latin typeface="Roboto"/>
                <a:cs typeface="Roboto"/>
              </a:rPr>
              <a:t>rrow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designed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distribute</a:t>
            </a:r>
            <a:r>
              <a:rPr sz="1333" spc="-33" dirty="0">
                <a:latin typeface="Roboto"/>
                <a:cs typeface="Roboto"/>
              </a:rPr>
              <a:t> the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baseline="19444" dirty="0">
                <a:latin typeface="Roboto"/>
                <a:cs typeface="Roboto"/>
              </a:rPr>
              <a:t>ki</a:t>
            </a:r>
            <a:r>
              <a:rPr sz="2000" spc="820" baseline="19444" dirty="0">
                <a:latin typeface="Roboto"/>
                <a:cs typeface="Roboto"/>
              </a:rPr>
              <a:t>  </a:t>
            </a:r>
            <a:r>
              <a:rPr sz="2000" spc="-20" baseline="19444" dirty="0">
                <a:latin typeface="Roboto"/>
                <a:cs typeface="Roboto"/>
              </a:rPr>
              <a:t>ancie </a:t>
            </a:r>
            <a:r>
              <a:rPr sz="1333" dirty="0">
                <a:latin typeface="Roboto"/>
                <a:cs typeface="Roboto"/>
              </a:rPr>
              <a:t>load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wheel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19444" dirty="0">
                <a:latin typeface="Roboto"/>
                <a:cs typeface="Roboto"/>
              </a:rPr>
              <a:t>por</a:t>
            </a:r>
            <a:r>
              <a:rPr sz="2000" spc="689" baseline="19444" dirty="0">
                <a:latin typeface="Roboto"/>
                <a:cs typeface="Roboto"/>
              </a:rPr>
              <a:t> </a:t>
            </a:r>
            <a:r>
              <a:rPr sz="2000" spc="-40" baseline="19444" dirty="0">
                <a:latin typeface="Roboto"/>
                <a:cs typeface="Roboto"/>
              </a:rPr>
              <a:t>"whe </a:t>
            </a:r>
            <a:r>
              <a:rPr sz="1333" spc="-13" dirty="0">
                <a:latin typeface="Roboto"/>
                <a:cs typeface="Roboto"/>
              </a:rPr>
              <a:t>enabling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13" dirty="0">
                <a:latin typeface="Roboto"/>
                <a:cs typeface="Roboto"/>
              </a:rPr>
              <a:t> convenient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carriage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400" dirty="0">
                <a:latin typeface="Roboto"/>
                <a:cs typeface="Roboto"/>
              </a:rPr>
              <a:t>   </a:t>
            </a:r>
            <a:r>
              <a:rPr sz="2000" baseline="41666" dirty="0">
                <a:latin typeface="Roboto"/>
                <a:cs typeface="Roboto"/>
              </a:rPr>
              <a:t>he</a:t>
            </a:r>
            <a:r>
              <a:rPr sz="2000" spc="829" baseline="41666" dirty="0">
                <a:latin typeface="Roboto"/>
                <a:cs typeface="Roboto"/>
              </a:rPr>
              <a:t> </a:t>
            </a:r>
            <a:r>
              <a:rPr sz="2000" baseline="19444" dirty="0">
                <a:latin typeface="Roboto"/>
                <a:cs typeface="Roboto"/>
              </a:rPr>
              <a:t>ove</a:t>
            </a:r>
            <a:r>
              <a:rPr sz="2000" spc="509" baseline="19444" dirty="0">
                <a:latin typeface="Roboto"/>
                <a:cs typeface="Roboto"/>
              </a:rPr>
              <a:t> </a:t>
            </a:r>
            <a:r>
              <a:rPr sz="2000" spc="-20" baseline="19444" dirty="0">
                <a:latin typeface="Roboto"/>
                <a:cs typeface="Roboto"/>
              </a:rPr>
              <a:t>"barro </a:t>
            </a:r>
            <a:r>
              <a:rPr sz="1333" spc="-13" dirty="0">
                <a:latin typeface="Roboto"/>
                <a:cs typeface="Roboto"/>
              </a:rPr>
              <a:t>bulkier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loads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than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would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possible</a:t>
            </a:r>
            <a:r>
              <a:rPr sz="1333" spc="433" dirty="0">
                <a:latin typeface="Roboto"/>
                <a:cs typeface="Roboto"/>
              </a:rPr>
              <a:t>  </a:t>
            </a:r>
            <a:r>
              <a:rPr sz="2000" spc="-100" baseline="41666" dirty="0">
                <a:latin typeface="Roboto"/>
                <a:cs typeface="Roboto"/>
              </a:rPr>
              <a:t>7</a:t>
            </a:r>
            <a:r>
              <a:rPr sz="2000" baseline="41666" dirty="0">
                <a:latin typeface="Roboto"/>
                <a:cs typeface="Roboto"/>
              </a:rPr>
              <a:t>			</a:t>
            </a:r>
            <a:r>
              <a:rPr sz="2000" spc="-20" baseline="19444" dirty="0">
                <a:latin typeface="Roboto"/>
                <a:cs typeface="Roboto"/>
              </a:rPr>
              <a:t>engli</a:t>
            </a:r>
            <a:endParaRPr sz="2000" baseline="19444">
              <a:latin typeface="Roboto"/>
              <a:cs typeface="Roboto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3806395" y="1799150"/>
            <a:ext cx="4936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were</a:t>
            </a:r>
            <a:r>
              <a:rPr sz="1333" spc="-8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t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3806396" y="2002350"/>
            <a:ext cx="43603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su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4175935" y="-8919"/>
            <a:ext cx="4085167" cy="261860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773" indent="5080" algn="just">
              <a:lnSpc>
                <a:spcPts val="1600"/>
              </a:lnSpc>
              <a:spcBef>
                <a:spcPts val="20"/>
              </a:spcBef>
            </a:pPr>
            <a:r>
              <a:rPr sz="1333" dirty="0">
                <a:latin typeface="Roboto"/>
                <a:cs typeface="Roboto"/>
              </a:rPr>
              <a:t>elbarro</a:t>
            </a:r>
            <a:r>
              <a:rPr sz="1333" spc="200" dirty="0">
                <a:latin typeface="Roboto"/>
                <a:cs typeface="Roboto"/>
              </a:rPr>
              <a:t> 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world,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primarily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for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its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juice,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which</a:t>
            </a:r>
            <a:r>
              <a:rPr sz="2000" spc="-6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has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bo </a:t>
            </a:r>
            <a:r>
              <a:rPr sz="1333" spc="-113" dirty="0">
                <a:latin typeface="Roboto"/>
                <a:cs typeface="Roboto"/>
              </a:rPr>
              <a:t>w."</a:t>
            </a:r>
            <a:r>
              <a:rPr sz="1333" spc="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"b</a:t>
            </a:r>
            <a:r>
              <a:rPr sz="1333" spc="387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culinary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cleaning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uses.[2]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pulp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ri</a:t>
            </a:r>
            <a:r>
              <a:rPr sz="2000" spc="1000" baseline="277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"be</a:t>
            </a:r>
            <a:r>
              <a:rPr sz="1333" spc="473" dirty="0">
                <a:latin typeface="Roboto"/>
                <a:cs typeface="Roboto"/>
              </a:rPr>
              <a:t>  </a:t>
            </a:r>
            <a:r>
              <a:rPr sz="2000" baseline="2777" dirty="0">
                <a:latin typeface="Roboto"/>
                <a:cs typeface="Roboto"/>
              </a:rPr>
              <a:t>(zest)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are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also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used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in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cooking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baking.</a:t>
            </a:r>
            <a:r>
              <a:rPr sz="2000" spc="-49" baseline="2777" dirty="0">
                <a:latin typeface="Roboto"/>
                <a:cs typeface="Roboto"/>
              </a:rPr>
              <a:t> th</a:t>
            </a:r>
            <a:endParaRPr sz="2000" baseline="2777">
              <a:latin typeface="Roboto"/>
              <a:cs typeface="Roboto"/>
            </a:endParaRPr>
          </a:p>
          <a:p>
            <a:pPr marL="692556" marR="7620" indent="-628211" algn="just">
              <a:lnSpc>
                <a:spcPts val="1533"/>
              </a:lnSpc>
              <a:spcBef>
                <a:spcPts val="53"/>
              </a:spcBef>
            </a:pPr>
            <a:r>
              <a:rPr sz="1333" dirty="0">
                <a:latin typeface="Roboto"/>
                <a:cs typeface="Roboto"/>
              </a:rPr>
              <a:t>ng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loa</a:t>
            </a:r>
            <a:r>
              <a:rPr sz="1333" spc="280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juice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of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the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lemon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is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about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5%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to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6%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citric</a:t>
            </a:r>
            <a:r>
              <a:rPr sz="2000" spc="-49" baseline="2777" dirty="0">
                <a:latin typeface="Roboto"/>
                <a:cs typeface="Roboto"/>
              </a:rPr>
              <a:t> aci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endParaRPr sz="1333">
              <a:latin typeface="Roboto"/>
              <a:cs typeface="Roboto"/>
            </a:endParaRPr>
          </a:p>
          <a:p>
            <a:pPr marR="33019" indent="54185">
              <a:spcBef>
                <a:spcPts val="27"/>
              </a:spcBef>
            </a:pPr>
            <a:r>
              <a:rPr sz="1333" dirty="0">
                <a:latin typeface="Roboto"/>
                <a:cs typeface="Roboto"/>
              </a:rPr>
              <a:t>heelba</a:t>
            </a:r>
            <a:r>
              <a:rPr sz="1333" spc="645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distinctive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sour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taste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of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lemon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juice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makes</a:t>
            </a:r>
            <a:r>
              <a:rPr sz="2000" spc="-59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it </a:t>
            </a:r>
            <a:r>
              <a:rPr sz="1333" dirty="0">
                <a:latin typeface="Roboto"/>
                <a:cs typeface="Roboto"/>
              </a:rPr>
              <a:t>ht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573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key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ingredient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in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drinks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foods</a:t>
            </a:r>
            <a:r>
              <a:rPr sz="2000" spc="-4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such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49" baseline="2777" dirty="0">
                <a:latin typeface="Roboto"/>
                <a:cs typeface="Roboto"/>
              </a:rPr>
              <a:t>as</a:t>
            </a:r>
            <a:r>
              <a:rPr sz="2000" spc="1000" baseline="277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tor, </a:t>
            </a:r>
            <a:r>
              <a:rPr sz="1333" dirty="0">
                <a:latin typeface="Roboto"/>
                <a:cs typeface="Roboto"/>
              </a:rPr>
              <a:t>so</a:t>
            </a:r>
            <a:r>
              <a:rPr sz="1333" spc="272" dirty="0">
                <a:latin typeface="Roboto"/>
                <a:cs typeface="Roboto"/>
              </a:rPr>
              <a:t>  </a:t>
            </a:r>
            <a:r>
              <a:rPr sz="2000" spc="-20" baseline="2777" dirty="0">
                <a:latin typeface="Roboto"/>
                <a:cs typeface="Roboto"/>
              </a:rPr>
              <a:t>lemonade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and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baseline="2777" dirty="0">
                <a:latin typeface="Roboto"/>
                <a:cs typeface="Roboto"/>
              </a:rPr>
              <a:t>lemon</a:t>
            </a:r>
            <a:r>
              <a:rPr sz="2000" spc="-40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meringue</a:t>
            </a:r>
            <a:r>
              <a:rPr sz="2000" spc="-29" baseline="2777" dirty="0">
                <a:latin typeface="Roboto"/>
                <a:cs typeface="Roboto"/>
              </a:rPr>
              <a:t> </a:t>
            </a:r>
            <a:r>
              <a:rPr sz="2000" spc="-20" baseline="2777" dirty="0">
                <a:latin typeface="Roboto"/>
                <a:cs typeface="Roboto"/>
              </a:rPr>
              <a:t>pie...</a:t>
            </a:r>
            <a:endParaRPr sz="2000" baseline="2777">
              <a:latin typeface="Roboto"/>
              <a:cs typeface="Roboto"/>
            </a:endParaRPr>
          </a:p>
          <a:p>
            <a:pPr marL="43178"/>
            <a:r>
              <a:rPr sz="1333" dirty="0">
                <a:latin typeface="Roboto"/>
                <a:cs typeface="Roboto"/>
              </a:rPr>
              <a:t>er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and</a:t>
            </a:r>
            <a:endParaRPr sz="1333">
              <a:latin typeface="Roboto"/>
              <a:cs typeface="Roboto"/>
            </a:endParaRPr>
          </a:p>
          <a:p>
            <a:pPr marL="48259" marR="44026" indent="57572">
              <a:tabLst>
                <a:tab pos="3483100" algn="l"/>
              </a:tabLst>
            </a:pPr>
            <a:r>
              <a:rPr sz="1333" dirty="0">
                <a:latin typeface="Roboto"/>
                <a:cs typeface="Roboto"/>
              </a:rPr>
              <a:t>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weight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carried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entirely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operator.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07" dirty="0">
                <a:latin typeface="Roboto"/>
                <a:cs typeface="Roboto"/>
              </a:rPr>
              <a:t> </a:t>
            </a:r>
            <a:r>
              <a:rPr sz="2000" baseline="41666" dirty="0">
                <a:latin typeface="Roboto"/>
                <a:cs typeface="Roboto"/>
              </a:rPr>
              <a:t>nd</a:t>
            </a:r>
            <a:r>
              <a:rPr sz="2000" spc="689" baseline="41666" dirty="0">
                <a:latin typeface="Roboto"/>
                <a:cs typeface="Roboto"/>
              </a:rPr>
              <a:t> </a:t>
            </a:r>
            <a:r>
              <a:rPr sz="2000" spc="-49" baseline="19444" dirty="0">
                <a:latin typeface="Roboto"/>
                <a:cs typeface="Roboto"/>
              </a:rPr>
              <a:t>the </a:t>
            </a:r>
            <a:r>
              <a:rPr sz="1333" dirty="0">
                <a:latin typeface="Roboto"/>
                <a:cs typeface="Roboto"/>
              </a:rPr>
              <a:t>ch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47" dirty="0">
                <a:latin typeface="Roboto"/>
                <a:cs typeface="Roboto"/>
              </a:rPr>
              <a:t>second-</a:t>
            </a:r>
            <a:r>
              <a:rPr sz="1333" spc="-27" dirty="0">
                <a:latin typeface="Roboto"/>
                <a:cs typeface="Roboto"/>
              </a:rPr>
              <a:t>class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lever...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41666" dirty="0">
                <a:latin typeface="Roboto"/>
                <a:cs typeface="Roboto"/>
              </a:rPr>
              <a:t>br</a:t>
            </a:r>
            <a:r>
              <a:rPr sz="2000" spc="400" baseline="41666" dirty="0">
                <a:latin typeface="Roboto"/>
                <a:cs typeface="Roboto"/>
              </a:rPr>
              <a:t>  </a:t>
            </a:r>
            <a:r>
              <a:rPr sz="2000" spc="-49" baseline="19444" dirty="0">
                <a:latin typeface="Roboto"/>
                <a:cs typeface="Roboto"/>
              </a:rPr>
              <a:t>ye</a:t>
            </a:r>
            <a:endParaRPr sz="2000" baseline="19444">
              <a:latin typeface="Roboto"/>
              <a:cs typeface="Roboto"/>
            </a:endParaRPr>
          </a:p>
          <a:p>
            <a:pPr marR="44026" algn="r">
              <a:lnSpc>
                <a:spcPts val="1125"/>
              </a:lnSpc>
            </a:pP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  <a:p>
            <a:pPr marL="134617">
              <a:spcBef>
                <a:spcPts val="240"/>
              </a:spcBef>
              <a:tabLst>
                <a:tab pos="2419713" algn="l"/>
                <a:tab pos="3792125" algn="l"/>
              </a:tabLst>
            </a:pPr>
            <a:r>
              <a:rPr sz="1333" spc="-13" dirty="0">
                <a:latin typeface="Roboto"/>
                <a:cs typeface="Roboto"/>
              </a:rPr>
              <a:t>popularity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among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8333" dirty="0">
                <a:latin typeface="Roboto"/>
                <a:cs typeface="Roboto"/>
              </a:rPr>
              <a:t>==</a:t>
            </a:r>
            <a:r>
              <a:rPr sz="2000" spc="-89" baseline="-8333" dirty="0">
                <a:latin typeface="Roboto"/>
                <a:cs typeface="Roboto"/>
              </a:rPr>
              <a:t> </a:t>
            </a:r>
            <a:r>
              <a:rPr sz="2000" spc="-20" baseline="-8333" dirty="0">
                <a:latin typeface="Roboto"/>
                <a:cs typeface="Roboto"/>
              </a:rPr>
              <a:t>lemon</a:t>
            </a:r>
            <a:r>
              <a:rPr sz="2000" baseline="-8333" dirty="0">
                <a:latin typeface="Roboto"/>
                <a:cs typeface="Roboto"/>
              </a:rPr>
              <a:t>	</a:t>
            </a:r>
            <a:r>
              <a:rPr sz="2000" spc="-49" baseline="11111" dirty="0">
                <a:latin typeface="Roboto"/>
                <a:cs typeface="Roboto"/>
              </a:rPr>
              <a:t>be</a:t>
            </a:r>
            <a:endParaRPr sz="2000" baseline="11111">
              <a:latin typeface="Roboto"/>
              <a:cs typeface="Roboto"/>
            </a:endParaRPr>
          </a:p>
        </p:txBody>
      </p:sp>
      <p:grpSp>
        <p:nvGrpSpPr>
          <p:cNvPr id="230" name="object 230"/>
          <p:cNvGrpSpPr/>
          <p:nvPr/>
        </p:nvGrpSpPr>
        <p:grpSpPr>
          <a:xfrm>
            <a:off x="4741838" y="-12699"/>
            <a:ext cx="3990340" cy="1755140"/>
            <a:chOff x="3556378" y="-9525"/>
            <a:chExt cx="2992755" cy="1316355"/>
          </a:xfrm>
        </p:grpSpPr>
        <p:sp>
          <p:nvSpPr>
            <p:cNvPr id="231" name="object 231"/>
            <p:cNvSpPr/>
            <p:nvPr/>
          </p:nvSpPr>
          <p:spPr>
            <a:xfrm>
              <a:off x="3565903" y="0"/>
              <a:ext cx="2973705" cy="1297305"/>
            </a:xfrm>
            <a:custGeom>
              <a:avLst/>
              <a:gdLst/>
              <a:ahLst/>
              <a:cxnLst/>
              <a:rect l="l" t="t" r="r" b="b"/>
              <a:pathLst>
                <a:path w="2973704" h="1297305">
                  <a:moveTo>
                    <a:pt x="2973599" y="1296987"/>
                  </a:moveTo>
                  <a:lnTo>
                    <a:pt x="0" y="1296987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129698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565903" y="0"/>
              <a:ext cx="2973705" cy="1297305"/>
            </a:xfrm>
            <a:custGeom>
              <a:avLst/>
              <a:gdLst/>
              <a:ahLst/>
              <a:cxnLst/>
              <a:rect l="l" t="t" r="r" b="b"/>
              <a:pathLst>
                <a:path w="2973704" h="1297305">
                  <a:moveTo>
                    <a:pt x="2973599" y="0"/>
                  </a:moveTo>
                  <a:lnTo>
                    <a:pt x="2973599" y="1296987"/>
                  </a:lnTo>
                  <a:lnTo>
                    <a:pt x="0" y="129698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3" name="object 233"/>
          <p:cNvGrpSpPr/>
          <p:nvPr/>
        </p:nvGrpSpPr>
        <p:grpSpPr>
          <a:xfrm>
            <a:off x="4266959" y="-12700"/>
            <a:ext cx="3990340" cy="2623819"/>
            <a:chOff x="3200219" y="-9525"/>
            <a:chExt cx="2992755" cy="1967864"/>
          </a:xfrm>
        </p:grpSpPr>
        <p:sp>
          <p:nvSpPr>
            <p:cNvPr id="234" name="object 234"/>
            <p:cNvSpPr/>
            <p:nvPr/>
          </p:nvSpPr>
          <p:spPr>
            <a:xfrm>
              <a:off x="3209744" y="0"/>
              <a:ext cx="2973705" cy="1948814"/>
            </a:xfrm>
            <a:custGeom>
              <a:avLst/>
              <a:gdLst/>
              <a:ahLst/>
              <a:cxnLst/>
              <a:rect l="l" t="t" r="r" b="b"/>
              <a:pathLst>
                <a:path w="2973704" h="1948814">
                  <a:moveTo>
                    <a:pt x="2973599" y="1948549"/>
                  </a:moveTo>
                  <a:lnTo>
                    <a:pt x="0" y="1948549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194854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3209744" y="0"/>
              <a:ext cx="2973705" cy="1948814"/>
            </a:xfrm>
            <a:custGeom>
              <a:avLst/>
              <a:gdLst/>
              <a:ahLst/>
              <a:cxnLst/>
              <a:rect l="l" t="t" r="r" b="b"/>
              <a:pathLst>
                <a:path w="2973704" h="1948814">
                  <a:moveTo>
                    <a:pt x="2973599" y="0"/>
                  </a:moveTo>
                  <a:lnTo>
                    <a:pt x="2973599" y="1948549"/>
                  </a:lnTo>
                  <a:lnTo>
                    <a:pt x="0" y="194854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6" name="object 236"/>
          <p:cNvSpPr txBox="1"/>
          <p:nvPr/>
        </p:nvSpPr>
        <p:spPr>
          <a:xfrm>
            <a:off x="4377026" y="17859"/>
            <a:ext cx="1167553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county,[8]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c</a:t>
            </a:r>
            <a:r>
              <a:rPr sz="1333" spc="-13" dirty="0">
                <a:latin typeface="Roboto"/>
                <a:cs typeface="Roboto"/>
              </a:rPr>
              <a:t> cities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4377026" y="424259"/>
            <a:ext cx="11878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2010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censu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4377026" y="627459"/>
            <a:ext cx="1170092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have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increas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39" name="object 239"/>
          <p:cNvSpPr txBox="1"/>
          <p:nvPr/>
        </p:nvSpPr>
        <p:spPr>
          <a:xfrm>
            <a:off x="4377025" y="1033859"/>
            <a:ext cx="1131992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had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populati oklahoma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city-</a:t>
            </a:r>
            <a:r>
              <a:rPr sz="1333" dirty="0">
                <a:latin typeface="Roboto"/>
                <a:cs typeface="Roboto"/>
              </a:rPr>
              <a:t> had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populati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4377026" y="1643459"/>
            <a:ext cx="11777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making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oklah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4377025" y="2049859"/>
            <a:ext cx="119718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oklahoma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city's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5458447" y="-8919"/>
            <a:ext cx="4112260" cy="2595453"/>
          </a:xfrm>
          <a:prstGeom prst="rect">
            <a:avLst/>
          </a:prstGeom>
        </p:spPr>
        <p:txBody>
          <a:bodyPr vert="horz" wrap="square" lIns="0" tIns="43179" rIns="0" bIns="0" rtlCol="0">
            <a:spAutoFit/>
          </a:bodyPr>
          <a:lstStyle/>
          <a:p>
            <a:pPr marL="68578" indent="-6773" algn="just">
              <a:spcBef>
                <a:spcPts val="339"/>
              </a:spcBef>
            </a:pPr>
            <a:r>
              <a:rPr sz="1333" spc="-13" dirty="0">
                <a:latin typeface="Roboto"/>
                <a:cs typeface="Roboto"/>
              </a:rPr>
              <a:t>ity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ranks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27th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among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united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states</a:t>
            </a:r>
            <a:r>
              <a:rPr sz="1333" spc="507" dirty="0">
                <a:latin typeface="Roboto"/>
                <a:cs typeface="Roboto"/>
              </a:rPr>
              <a:t> </a:t>
            </a:r>
            <a:r>
              <a:rPr sz="2000" baseline="19444" dirty="0">
                <a:latin typeface="Roboto"/>
                <a:cs typeface="Roboto"/>
              </a:rPr>
              <a:t>th</a:t>
            </a:r>
            <a:r>
              <a:rPr sz="2000" spc="569" baseline="19444" dirty="0">
                <a:latin typeface="Roboto"/>
                <a:cs typeface="Roboto"/>
              </a:rPr>
              <a:t>   </a:t>
            </a:r>
            <a:r>
              <a:rPr sz="2000" spc="-20" baseline="-30555" dirty="0">
                <a:latin typeface="Roboto"/>
                <a:cs typeface="Roboto"/>
              </a:rPr>
              <a:t>eelbarrow</a:t>
            </a:r>
            <a:r>
              <a:rPr sz="2000" spc="-29" baseline="-30555" dirty="0">
                <a:latin typeface="Roboto"/>
                <a:cs typeface="Roboto"/>
              </a:rPr>
              <a:t> </a:t>
            </a:r>
            <a:r>
              <a:rPr sz="2000" spc="-100" baseline="-30555" dirty="0">
                <a:latin typeface="Roboto"/>
                <a:cs typeface="Roboto"/>
              </a:rPr>
              <a:t>i</a:t>
            </a:r>
            <a:r>
              <a:rPr sz="2000" spc="-20" baseline="-30555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tion.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population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grew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following</a:t>
            </a:r>
            <a:r>
              <a:rPr sz="1333" spc="213" dirty="0">
                <a:latin typeface="Roboto"/>
                <a:cs typeface="Roboto"/>
              </a:rPr>
              <a:t> </a:t>
            </a:r>
            <a:r>
              <a:rPr sz="2000" baseline="19444" dirty="0">
                <a:latin typeface="Roboto"/>
                <a:cs typeface="Roboto"/>
              </a:rPr>
              <a:t>nd</a:t>
            </a:r>
            <a:r>
              <a:rPr sz="2000" spc="789" baseline="19444" dirty="0">
                <a:latin typeface="Roboto"/>
                <a:cs typeface="Roboto"/>
              </a:rPr>
              <a:t>   </a:t>
            </a:r>
            <a:r>
              <a:rPr sz="2000" baseline="-30555" dirty="0">
                <a:latin typeface="Roboto"/>
                <a:cs typeface="Roboto"/>
              </a:rPr>
              <a:t>ly</a:t>
            </a:r>
            <a:r>
              <a:rPr sz="2000" spc="-9" baseline="-30555" dirty="0">
                <a:latin typeface="Roboto"/>
                <a:cs typeface="Roboto"/>
              </a:rPr>
              <a:t> </a:t>
            </a:r>
            <a:r>
              <a:rPr sz="2000" spc="-20" baseline="-30555" dirty="0">
                <a:latin typeface="Roboto"/>
                <a:cs typeface="Roboto"/>
              </a:rPr>
              <a:t>with</a:t>
            </a:r>
            <a:r>
              <a:rPr sz="2000" spc="-40" baseline="-30555" dirty="0">
                <a:latin typeface="Roboto"/>
                <a:cs typeface="Roboto"/>
              </a:rPr>
              <a:t> just </a:t>
            </a:r>
            <a:r>
              <a:rPr sz="1333" dirty="0">
                <a:latin typeface="Roboto"/>
                <a:cs typeface="Roboto"/>
              </a:rPr>
              <a:t>s,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population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estimated</a:t>
            </a:r>
            <a:r>
              <a:rPr sz="1333" spc="480" dirty="0">
                <a:latin typeface="Roboto"/>
                <a:cs typeface="Roboto"/>
              </a:rPr>
              <a:t>   </a:t>
            </a:r>
            <a:r>
              <a:rPr sz="2000" baseline="19444" dirty="0">
                <a:latin typeface="Roboto"/>
                <a:cs typeface="Roboto"/>
              </a:rPr>
              <a:t>e</a:t>
            </a:r>
            <a:r>
              <a:rPr sz="2000" spc="789" baseline="19444" dirty="0">
                <a:latin typeface="Roboto"/>
                <a:cs typeface="Roboto"/>
              </a:rPr>
              <a:t>   </a:t>
            </a:r>
            <a:r>
              <a:rPr sz="2000" baseline="-30555" dirty="0">
                <a:latin typeface="Roboto"/>
                <a:cs typeface="Roboto"/>
              </a:rPr>
              <a:t>ed</a:t>
            </a:r>
            <a:r>
              <a:rPr sz="2000" spc="-20" baseline="-30555" dirty="0">
                <a:latin typeface="Roboto"/>
                <a:cs typeface="Roboto"/>
              </a:rPr>
              <a:t> </a:t>
            </a:r>
            <a:r>
              <a:rPr sz="2000" baseline="-30555" dirty="0">
                <a:latin typeface="Roboto"/>
                <a:cs typeface="Roboto"/>
              </a:rPr>
              <a:t>and</a:t>
            </a:r>
            <a:r>
              <a:rPr sz="2000" spc="-20" baseline="-30555" dirty="0">
                <a:latin typeface="Roboto"/>
                <a:cs typeface="Roboto"/>
              </a:rPr>
              <a:t> </a:t>
            </a:r>
            <a:r>
              <a:rPr sz="2000" spc="-40" baseline="-30555" dirty="0">
                <a:latin typeface="Roboto"/>
                <a:cs typeface="Roboto"/>
              </a:rPr>
              <a:t>guid</a:t>
            </a:r>
            <a:endParaRPr sz="2000" baseline="-30555">
              <a:latin typeface="Roboto"/>
              <a:cs typeface="Roboto"/>
            </a:endParaRPr>
          </a:p>
          <a:p>
            <a:pPr marL="2783770">
              <a:lnSpc>
                <a:spcPts val="579"/>
              </a:lnSpc>
            </a:pPr>
            <a:r>
              <a:rPr sz="1333" spc="-33" dirty="0">
                <a:latin typeface="Roboto"/>
                <a:cs typeface="Roboto"/>
              </a:rPr>
              <a:t>d,</a:t>
            </a:r>
            <a:endParaRPr sz="1333">
              <a:latin typeface="Roboto"/>
              <a:cs typeface="Roboto"/>
            </a:endParaRPr>
          </a:p>
          <a:p>
            <a:pPr marL="70272">
              <a:lnSpc>
                <a:spcPts val="1020"/>
              </a:lnSpc>
              <a:tabLst>
                <a:tab pos="2809170" algn="l"/>
                <a:tab pos="3278211" algn="l"/>
              </a:tabLst>
            </a:pPr>
            <a:r>
              <a:rPr sz="1333" dirty="0">
                <a:latin typeface="Roboto"/>
                <a:cs typeface="Roboto"/>
              </a:rPr>
              <a:t>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13" dirty="0">
                <a:latin typeface="Roboto"/>
                <a:cs typeface="Roboto"/>
              </a:rPr>
              <a:t> 643,648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july</a:t>
            </a:r>
            <a:r>
              <a:rPr sz="1333" spc="-13" dirty="0">
                <a:latin typeface="Roboto"/>
                <a:cs typeface="Roboto"/>
              </a:rPr>
              <a:t> 2017.[5]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49" baseline="-47222" dirty="0">
                <a:latin typeface="Roboto"/>
                <a:cs typeface="Roboto"/>
              </a:rPr>
              <a:t>the</a:t>
            </a:r>
            <a:r>
              <a:rPr sz="2000" baseline="-47222" dirty="0">
                <a:latin typeface="Roboto"/>
                <a:cs typeface="Roboto"/>
              </a:rPr>
              <a:t>	</a:t>
            </a:r>
            <a:r>
              <a:rPr sz="2000" baseline="-30555" dirty="0">
                <a:latin typeface="Roboto"/>
                <a:cs typeface="Roboto"/>
              </a:rPr>
              <a:t>es</a:t>
            </a:r>
            <a:r>
              <a:rPr sz="2000" spc="-69" baseline="-30555" dirty="0">
                <a:latin typeface="Roboto"/>
                <a:cs typeface="Roboto"/>
              </a:rPr>
              <a:t> </a:t>
            </a:r>
            <a:r>
              <a:rPr sz="2000" baseline="-30555" dirty="0">
                <a:latin typeface="Roboto"/>
                <a:cs typeface="Roboto"/>
              </a:rPr>
              <a:t>at</a:t>
            </a:r>
            <a:r>
              <a:rPr sz="2000" spc="-59" baseline="-30555" dirty="0">
                <a:latin typeface="Roboto"/>
                <a:cs typeface="Roboto"/>
              </a:rPr>
              <a:t> </a:t>
            </a:r>
            <a:r>
              <a:rPr sz="2000" baseline="-30555" dirty="0">
                <a:latin typeface="Roboto"/>
                <a:cs typeface="Roboto"/>
              </a:rPr>
              <a:t>the</a:t>
            </a:r>
            <a:r>
              <a:rPr sz="2000" spc="-59" baseline="-30555" dirty="0">
                <a:latin typeface="Roboto"/>
                <a:cs typeface="Roboto"/>
              </a:rPr>
              <a:t> </a:t>
            </a:r>
            <a:r>
              <a:rPr sz="2000" spc="-49" baseline="-30555" dirty="0">
                <a:latin typeface="Roboto"/>
                <a:cs typeface="Roboto"/>
              </a:rPr>
              <a:t>re</a:t>
            </a:r>
            <a:endParaRPr sz="2000" baseline="-30555">
              <a:latin typeface="Roboto"/>
              <a:cs typeface="Roboto"/>
            </a:endParaRPr>
          </a:p>
          <a:p>
            <a:pPr indent="184569">
              <a:tabLst>
                <a:tab pos="2784616" algn="l"/>
                <a:tab pos="3223179" algn="l"/>
                <a:tab pos="3268052" algn="l"/>
              </a:tabLst>
            </a:pPr>
            <a:r>
              <a:rPr sz="1333" spc="-13" dirty="0">
                <a:latin typeface="Roboto"/>
                <a:cs typeface="Roboto"/>
              </a:rPr>
              <a:t>klahoma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city metropolitan </a:t>
            </a:r>
            <a:r>
              <a:rPr sz="1333" spc="-27" dirty="0">
                <a:latin typeface="Roboto"/>
                <a:cs typeface="Roboto"/>
              </a:rPr>
              <a:t>area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1333" spc="-220" dirty="0">
                <a:latin typeface="Roboto"/>
                <a:cs typeface="Roboto"/>
              </a:rPr>
              <a:t> </a:t>
            </a:r>
            <a:r>
              <a:rPr sz="2000" baseline="-47222" dirty="0">
                <a:latin typeface="Roboto"/>
                <a:cs typeface="Roboto"/>
              </a:rPr>
              <a:t>a		</a:t>
            </a:r>
            <a:r>
              <a:rPr sz="2000" baseline="-30555" dirty="0">
                <a:latin typeface="Roboto"/>
                <a:cs typeface="Roboto"/>
              </a:rPr>
              <a:t>nt</a:t>
            </a:r>
            <a:r>
              <a:rPr sz="2000" spc="-80" baseline="-30555" dirty="0">
                <a:latin typeface="Roboto"/>
                <a:cs typeface="Roboto"/>
              </a:rPr>
              <a:t> </a:t>
            </a:r>
            <a:r>
              <a:rPr sz="2000" spc="-20" baseline="-30555" dirty="0">
                <a:latin typeface="Roboto"/>
                <a:cs typeface="Roboto"/>
              </a:rPr>
              <a:t>wheelba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1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1,358,452,[9]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1333" spc="-293" dirty="0">
                <a:latin typeface="Roboto"/>
                <a:cs typeface="Roboto"/>
              </a:rPr>
              <a:t> </a:t>
            </a:r>
            <a:r>
              <a:rPr sz="2000" spc="-40" baseline="-30555" dirty="0">
                <a:latin typeface="Roboto"/>
                <a:cs typeface="Roboto"/>
              </a:rPr>
              <a:t>elbarrow"</a:t>
            </a:r>
            <a:r>
              <a:rPr sz="2000" spc="49" baseline="-30555" dirty="0">
                <a:latin typeface="Roboto"/>
                <a:cs typeface="Roboto"/>
              </a:rPr>
              <a:t> </a:t>
            </a:r>
            <a:r>
              <a:rPr sz="2000" spc="-40" baseline="-30555" dirty="0">
                <a:latin typeface="Roboto"/>
                <a:cs typeface="Roboto"/>
              </a:rPr>
              <a:t>is </a:t>
            </a:r>
            <a:r>
              <a:rPr sz="1333" spc="-13" dirty="0">
                <a:latin typeface="Roboto"/>
                <a:cs typeface="Roboto"/>
              </a:rPr>
              <a:t>shawnee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combined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statistical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area</a:t>
            </a:r>
            <a:r>
              <a:rPr sz="1333" dirty="0">
                <a:latin typeface="Roboto"/>
                <a:cs typeface="Roboto"/>
              </a:rPr>
              <a:t>			</a:t>
            </a:r>
            <a:r>
              <a:rPr sz="1333" spc="-233" dirty="0">
                <a:latin typeface="Roboto"/>
                <a:cs typeface="Roboto"/>
              </a:rPr>
              <a:t> </a:t>
            </a:r>
            <a:r>
              <a:rPr sz="2000" spc="-149" baseline="-30555" dirty="0">
                <a:latin typeface="Roboto"/>
                <a:cs typeface="Roboto"/>
              </a:rPr>
              <a:t>w."</a:t>
            </a:r>
            <a:r>
              <a:rPr sz="2000" spc="20" baseline="-30555" dirty="0">
                <a:latin typeface="Roboto"/>
                <a:cs typeface="Roboto"/>
              </a:rPr>
              <a:t> </a:t>
            </a:r>
            <a:r>
              <a:rPr sz="2000" baseline="-30555" dirty="0">
                <a:latin typeface="Roboto"/>
                <a:cs typeface="Roboto"/>
              </a:rPr>
              <a:t>"barro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 </a:t>
            </a:r>
            <a:r>
              <a:rPr sz="1333" spc="-13" dirty="0">
                <a:latin typeface="Roboto"/>
                <a:cs typeface="Roboto"/>
              </a:rPr>
              <a:t>1,459,758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residents,[9]</a:t>
            </a:r>
            <a:r>
              <a:rPr sz="1333" dirty="0">
                <a:latin typeface="Roboto"/>
                <a:cs typeface="Roboto"/>
              </a:rPr>
              <a:t>		</a:t>
            </a:r>
            <a:r>
              <a:rPr sz="2000" baseline="-30555" dirty="0">
                <a:latin typeface="Roboto"/>
                <a:cs typeface="Roboto"/>
              </a:rPr>
              <a:t>sh</a:t>
            </a:r>
            <a:r>
              <a:rPr sz="2000" spc="-69" baseline="-30555" dirty="0">
                <a:latin typeface="Roboto"/>
                <a:cs typeface="Roboto"/>
              </a:rPr>
              <a:t> </a:t>
            </a:r>
            <a:r>
              <a:rPr sz="2000" spc="-49" baseline="-30555" dirty="0">
                <a:latin typeface="Roboto"/>
                <a:cs typeface="Roboto"/>
              </a:rPr>
              <a:t>"bearwe" </a:t>
            </a:r>
            <a:r>
              <a:rPr sz="1333" spc="-33" dirty="0">
                <a:latin typeface="Roboto"/>
                <a:cs typeface="Roboto"/>
              </a:rPr>
              <a:t>oma's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largest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metropolitan </a:t>
            </a:r>
            <a:r>
              <a:rPr sz="1333" spc="-27" dirty="0">
                <a:latin typeface="Roboto"/>
                <a:cs typeface="Roboto"/>
              </a:rPr>
              <a:t>area.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spc="-20" baseline="-30555" dirty="0">
                <a:latin typeface="Roboto"/>
                <a:cs typeface="Roboto"/>
              </a:rPr>
              <a:t>carrying</a:t>
            </a:r>
            <a:r>
              <a:rPr sz="2000" spc="-59" baseline="-30555" dirty="0">
                <a:latin typeface="Roboto"/>
                <a:cs typeface="Roboto"/>
              </a:rPr>
              <a:t> </a:t>
            </a:r>
            <a:r>
              <a:rPr sz="2000" spc="-20" baseline="-30555" dirty="0">
                <a:latin typeface="Roboto"/>
                <a:cs typeface="Roboto"/>
              </a:rPr>
              <a:t>loads.</a:t>
            </a:r>
            <a:endParaRPr sz="2000" baseline="-30555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33">
              <a:latin typeface="Roboto"/>
              <a:cs typeface="Roboto"/>
            </a:endParaRPr>
          </a:p>
          <a:p>
            <a:pPr marL="139697">
              <a:tabLst>
                <a:tab pos="2863355" algn="l"/>
              </a:tabLst>
            </a:pPr>
            <a:r>
              <a:rPr sz="1333" spc="-13" dirty="0">
                <a:latin typeface="Roboto"/>
                <a:cs typeface="Roboto"/>
              </a:rPr>
              <a:t>city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limits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extend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into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canadian,...</a:t>
            </a:r>
            <a:r>
              <a:rPr sz="1333" dirty="0">
                <a:latin typeface="Roboto"/>
                <a:cs typeface="Roboto"/>
              </a:rPr>
              <a:t>	</a:t>
            </a:r>
            <a:r>
              <a:rPr sz="2000" baseline="-30555" dirty="0">
                <a:latin typeface="Roboto"/>
                <a:cs typeface="Roboto"/>
              </a:rPr>
              <a:t>the</a:t>
            </a:r>
            <a:r>
              <a:rPr sz="2000" spc="-89" baseline="-30555" dirty="0">
                <a:latin typeface="Roboto"/>
                <a:cs typeface="Roboto"/>
              </a:rPr>
              <a:t> </a:t>
            </a:r>
            <a:r>
              <a:rPr sz="2000" spc="-20" baseline="-30555" dirty="0">
                <a:latin typeface="Roboto"/>
                <a:cs typeface="Roboto"/>
              </a:rPr>
              <a:t>wheelbarrow</a:t>
            </a:r>
            <a:endParaRPr sz="2000" baseline="-30555">
              <a:latin typeface="Roboto"/>
              <a:cs typeface="Roboto"/>
            </a:endParaRPr>
          </a:p>
          <a:p>
            <a:pPr marL="2863355">
              <a:spcBef>
                <a:spcPts val="747"/>
              </a:spcBef>
            </a:pPr>
            <a:r>
              <a:rPr sz="1333" spc="-13" dirty="0">
                <a:latin typeface="Roboto"/>
                <a:cs typeface="Roboto"/>
              </a:rPr>
              <a:t>weight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loa</a:t>
            </a:r>
            <a:endParaRPr sz="1333">
              <a:latin typeface="Roboto"/>
              <a:cs typeface="Roboto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5563955" y="-12699"/>
            <a:ext cx="3990340" cy="2532380"/>
            <a:chOff x="4172966" y="-9525"/>
            <a:chExt cx="2992755" cy="1899285"/>
          </a:xfrm>
        </p:grpSpPr>
        <p:sp>
          <p:nvSpPr>
            <p:cNvPr id="244" name="object 244"/>
            <p:cNvSpPr/>
            <p:nvPr/>
          </p:nvSpPr>
          <p:spPr>
            <a:xfrm>
              <a:off x="4182491" y="0"/>
              <a:ext cx="2973705" cy="1880235"/>
            </a:xfrm>
            <a:custGeom>
              <a:avLst/>
              <a:gdLst/>
              <a:ahLst/>
              <a:cxnLst/>
              <a:rect l="l" t="t" r="r" b="b"/>
              <a:pathLst>
                <a:path w="2973704" h="1880235">
                  <a:moveTo>
                    <a:pt x="2973599" y="1879633"/>
                  </a:moveTo>
                  <a:lnTo>
                    <a:pt x="0" y="1879633"/>
                  </a:lnTo>
                  <a:lnTo>
                    <a:pt x="0" y="0"/>
                  </a:lnTo>
                  <a:lnTo>
                    <a:pt x="2973599" y="0"/>
                  </a:lnTo>
                  <a:lnTo>
                    <a:pt x="2973599" y="187963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4182491" y="0"/>
              <a:ext cx="2973705" cy="1880235"/>
            </a:xfrm>
            <a:custGeom>
              <a:avLst/>
              <a:gdLst/>
              <a:ahLst/>
              <a:cxnLst/>
              <a:rect l="l" t="t" r="r" b="b"/>
              <a:pathLst>
                <a:path w="2973704" h="1880235">
                  <a:moveTo>
                    <a:pt x="2973599" y="0"/>
                  </a:moveTo>
                  <a:lnTo>
                    <a:pt x="2973599" y="1879633"/>
                  </a:lnTo>
                  <a:lnTo>
                    <a:pt x="0" y="1879633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6" name="object 246"/>
          <p:cNvSpPr txBox="1"/>
          <p:nvPr/>
        </p:nvSpPr>
        <p:spPr>
          <a:xfrm>
            <a:off x="5674022" y="173571"/>
            <a:ext cx="37304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signing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treaty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formally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ended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seven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47" name="object 247"/>
          <p:cNvSpPr txBox="1"/>
          <p:nvPr/>
        </p:nvSpPr>
        <p:spPr>
          <a:xfrm>
            <a:off x="5674022" y="376771"/>
            <a:ext cx="3683847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years'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known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french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war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theatre,[1]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marked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the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48" name="object 248"/>
          <p:cNvSpPr txBox="1"/>
          <p:nvPr/>
        </p:nvSpPr>
        <p:spPr>
          <a:xfrm>
            <a:off x="4343159" y="783171"/>
            <a:ext cx="5025813" cy="2222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000" baseline="-16666" dirty="0">
                <a:latin typeface="Roboto"/>
                <a:cs typeface="Roboto"/>
              </a:rPr>
              <a:t>as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of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2015,</a:t>
            </a:r>
            <a:r>
              <a:rPr sz="2000" spc="-29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the</a:t>
            </a:r>
            <a:r>
              <a:rPr sz="2000" spc="-40" baseline="-16666" dirty="0">
                <a:latin typeface="Roboto"/>
                <a:cs typeface="Roboto"/>
              </a:rPr>
              <a:t> </a:t>
            </a:r>
            <a:r>
              <a:rPr sz="2000" baseline="-16666" dirty="0">
                <a:latin typeface="Roboto"/>
                <a:cs typeface="Roboto"/>
              </a:rPr>
              <a:t>o</a:t>
            </a:r>
            <a:r>
              <a:rPr sz="2000" spc="29" baseline="-16666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beginning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british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dominance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outside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49" name="object 249"/>
          <p:cNvSpPr txBox="1"/>
          <p:nvPr/>
        </p:nvSpPr>
        <p:spPr>
          <a:xfrm>
            <a:off x="5674022" y="986372"/>
            <a:ext cx="3644900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europe.[2]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france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each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returned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territory </a:t>
            </a:r>
            <a:r>
              <a:rPr sz="1333" spc="-13" dirty="0">
                <a:latin typeface="Roboto"/>
                <a:cs typeface="Roboto"/>
              </a:rPr>
              <a:t>that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they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captured </a:t>
            </a:r>
            <a:r>
              <a:rPr sz="1333" dirty="0">
                <a:latin typeface="Roboto"/>
                <a:cs typeface="Roboto"/>
              </a:rPr>
              <a:t>during</a:t>
            </a:r>
            <a:r>
              <a:rPr sz="1333" spc="-7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war,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but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gained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much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of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50" name="object 250"/>
          <p:cNvSpPr txBox="1"/>
          <p:nvPr/>
        </p:nvSpPr>
        <p:spPr>
          <a:xfrm>
            <a:off x="5674022" y="1595971"/>
            <a:ext cx="29218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france's </a:t>
            </a:r>
            <a:r>
              <a:rPr sz="1333" spc="-13" dirty="0">
                <a:latin typeface="Roboto"/>
                <a:cs typeface="Roboto"/>
              </a:rPr>
              <a:t>possessions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north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america.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5674022" y="1799171"/>
            <a:ext cx="372533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Roboto"/>
                <a:cs typeface="Roboto"/>
              </a:rPr>
              <a:t>additionally,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great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britain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agreed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protect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roman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5674022" y="2002371"/>
            <a:ext cx="230801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latin typeface="Roboto"/>
                <a:cs typeface="Roboto"/>
              </a:rPr>
              <a:t>catholicism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new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world...</a:t>
            </a:r>
            <a:endParaRPr sz="1333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2399" y="991999"/>
            <a:ext cx="3547533" cy="5441960"/>
          </a:xfrm>
          <a:prstGeom prst="rect">
            <a:avLst/>
          </a:prstGeom>
          <a:solidFill>
            <a:srgbClr val="F4F4F4"/>
          </a:solidFill>
          <a:ln w="19049">
            <a:solidFill>
              <a:srgbClr val="000000"/>
            </a:solidFill>
          </a:ln>
        </p:spPr>
        <p:txBody>
          <a:bodyPr vert="horz" wrap="square" lIns="0" tIns="107527" rIns="0" bIns="0" rtlCol="0">
            <a:spAutoFit/>
          </a:bodyPr>
          <a:lstStyle/>
          <a:p>
            <a:pPr marL="114297">
              <a:spcBef>
                <a:spcPts val="847"/>
              </a:spcBef>
            </a:pPr>
            <a:r>
              <a:rPr sz="1333" dirty="0">
                <a:latin typeface="Roboto"/>
                <a:cs typeface="Roboto"/>
              </a:rPr>
              <a:t>Please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enable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JavaScript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our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site.</a:t>
            </a:r>
            <a:endParaRPr sz="1333">
              <a:latin typeface="Roboto"/>
              <a:cs typeface="Roboto"/>
            </a:endParaRPr>
          </a:p>
          <a:p>
            <a:pPr marL="114297" marR="2743978">
              <a:spcBef>
                <a:spcPts val="1600"/>
              </a:spcBef>
            </a:pPr>
            <a:r>
              <a:rPr sz="1333" spc="-27" dirty="0">
                <a:latin typeface="Roboto"/>
                <a:cs typeface="Roboto"/>
              </a:rPr>
              <a:t>Home Products </a:t>
            </a:r>
            <a:r>
              <a:rPr sz="1333" spc="-13" dirty="0">
                <a:latin typeface="Roboto"/>
                <a:cs typeface="Roboto"/>
              </a:rPr>
              <a:t>Shipping Contact </a:t>
            </a:r>
            <a:r>
              <a:rPr sz="1333" spc="-33" dirty="0">
                <a:latin typeface="Roboto"/>
                <a:cs typeface="Roboto"/>
              </a:rPr>
              <a:t>FAQ</a:t>
            </a:r>
            <a:endParaRPr sz="1333">
              <a:latin typeface="Roboto"/>
              <a:cs typeface="Roboto"/>
            </a:endParaRPr>
          </a:p>
          <a:p>
            <a:pPr marL="114297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Dried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Lemons,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$3.59/pound</a:t>
            </a:r>
            <a:endParaRPr sz="1333">
              <a:latin typeface="Roboto"/>
              <a:cs typeface="Roboto"/>
            </a:endParaRPr>
          </a:p>
          <a:p>
            <a:pPr marL="114297" marR="559631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Organic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dried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lemons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from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our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farm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spc="-13" dirty="0">
                <a:latin typeface="Roboto"/>
                <a:cs typeface="Roboto"/>
              </a:rPr>
              <a:t>California.</a:t>
            </a:r>
            <a:endParaRPr sz="1333">
              <a:latin typeface="Roboto"/>
              <a:cs typeface="Roboto"/>
            </a:endParaRPr>
          </a:p>
          <a:p>
            <a:pPr marL="114297" marR="436869"/>
            <a:r>
              <a:rPr sz="1333" spc="-13" dirty="0">
                <a:latin typeface="Roboto"/>
                <a:cs typeface="Roboto"/>
              </a:rPr>
              <a:t>Lemons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harvested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sun-</a:t>
            </a:r>
            <a:r>
              <a:rPr sz="1333" spc="-33" dirty="0">
                <a:latin typeface="Roboto"/>
                <a:cs typeface="Roboto"/>
              </a:rPr>
              <a:t>dried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 </a:t>
            </a:r>
            <a:r>
              <a:rPr sz="1333" spc="-13" dirty="0">
                <a:latin typeface="Roboto"/>
                <a:cs typeface="Roboto"/>
              </a:rPr>
              <a:t>maximum flavor.</a:t>
            </a:r>
            <a:endParaRPr sz="1333">
              <a:latin typeface="Roboto"/>
              <a:cs typeface="Roboto"/>
            </a:endParaRPr>
          </a:p>
          <a:p>
            <a:pPr marL="114297"/>
            <a:r>
              <a:rPr sz="1333" dirty="0">
                <a:latin typeface="Roboto"/>
                <a:cs typeface="Roboto"/>
              </a:rPr>
              <a:t>Good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soups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popcorn.</a:t>
            </a:r>
            <a:endParaRPr sz="1333">
              <a:latin typeface="Roboto"/>
              <a:cs typeface="Roboto"/>
            </a:endParaRPr>
          </a:p>
          <a:p>
            <a:pPr marL="114297" marR="411470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Citrus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Limon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(l.)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spc="-13" dirty="0">
                <a:latin typeface="Roboto"/>
                <a:cs typeface="Roboto"/>
              </a:rPr>
              <a:t> species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the </a:t>
            </a:r>
            <a:r>
              <a:rPr sz="1333" dirty="0">
                <a:latin typeface="Roboto"/>
                <a:cs typeface="Roboto"/>
              </a:rPr>
              <a:t>flowering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family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rutaceae.</a:t>
            </a:r>
            <a:endParaRPr sz="1333">
              <a:latin typeface="Roboto"/>
              <a:cs typeface="Roboto"/>
            </a:endParaRPr>
          </a:p>
          <a:p>
            <a:pPr marL="114297" marR="200655"/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tree's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fruit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purposes throughout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world,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 which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both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6%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acid,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33" dirty="0">
                <a:latin typeface="Roboto"/>
                <a:cs typeface="Roboto"/>
              </a:rPr>
              <a:t> it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599" y="992000"/>
            <a:ext cx="3547533" cy="5441897"/>
          </a:xfrm>
          <a:prstGeom prst="rect">
            <a:avLst/>
          </a:prstGeom>
          <a:solidFill>
            <a:srgbClr val="F4F4F4"/>
          </a:solidFill>
          <a:ln w="19049">
            <a:solidFill>
              <a:srgbClr val="000000"/>
            </a:solidFill>
          </a:ln>
        </p:spPr>
        <p:txBody>
          <a:bodyPr vert="horz" wrap="square" lIns="0" tIns="107527" rIns="0" bIns="0" rtlCol="0">
            <a:spAutoFit/>
          </a:bodyPr>
          <a:lstStyle/>
          <a:p>
            <a:pPr marL="114297">
              <a:spcBef>
                <a:spcPts val="847"/>
              </a:spcBef>
            </a:pPr>
            <a:r>
              <a:rPr sz="1333" spc="-27" dirty="0">
                <a:latin typeface="Roboto"/>
                <a:cs typeface="Roboto"/>
              </a:rPr>
              <a:t>Menu</a:t>
            </a:r>
            <a:endParaRPr sz="1333">
              <a:latin typeface="Roboto"/>
              <a:cs typeface="Roboto"/>
            </a:endParaRPr>
          </a:p>
          <a:p>
            <a:pPr marL="114297" marR="2512844">
              <a:lnSpc>
                <a:spcPct val="200000"/>
              </a:lnSpc>
            </a:pPr>
            <a:r>
              <a:rPr sz="1333" spc="-13" dirty="0">
                <a:latin typeface="Roboto"/>
                <a:cs typeface="Roboto"/>
              </a:rPr>
              <a:t>Lemon </a:t>
            </a:r>
            <a:r>
              <a:rPr sz="1333" spc="-27" dirty="0">
                <a:latin typeface="Roboto"/>
                <a:cs typeface="Roboto"/>
              </a:rPr>
              <a:t>Introduction</a:t>
            </a:r>
            <a:endParaRPr sz="1333">
              <a:latin typeface="Roboto"/>
              <a:cs typeface="Roboto"/>
            </a:endParaRPr>
          </a:p>
          <a:p>
            <a:pPr marL="114297" marR="411470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Citrus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Limon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(l.)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spc="-13" dirty="0">
                <a:latin typeface="Roboto"/>
                <a:cs typeface="Roboto"/>
              </a:rPr>
              <a:t> species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the </a:t>
            </a:r>
            <a:r>
              <a:rPr sz="1333" dirty="0">
                <a:latin typeface="Roboto"/>
                <a:cs typeface="Roboto"/>
              </a:rPr>
              <a:t>flowering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family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rutaceae.</a:t>
            </a:r>
            <a:endParaRPr sz="1333">
              <a:latin typeface="Roboto"/>
              <a:cs typeface="Roboto"/>
            </a:endParaRPr>
          </a:p>
          <a:p>
            <a:pPr marL="114297" marR="200655"/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tree's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fruit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purposes throughout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world,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 which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both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6%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acid,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33" dirty="0">
                <a:latin typeface="Roboto"/>
                <a:cs typeface="Roboto"/>
              </a:rPr>
              <a:t> it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endParaRPr sz="1333">
              <a:latin typeface="Roboto"/>
              <a:cs typeface="Roboto"/>
            </a:endParaRPr>
          </a:p>
          <a:p>
            <a:pPr marL="114297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Article</a:t>
            </a:r>
            <a:endParaRPr sz="1333">
              <a:latin typeface="Roboto"/>
              <a:cs typeface="Roboto"/>
            </a:endParaRPr>
          </a:p>
          <a:p>
            <a:pPr marL="114297" marR="190495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origin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unknown,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though lemons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thought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have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first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grown</a:t>
            </a:r>
            <a:r>
              <a:rPr sz="1333" spc="-33" dirty="0">
                <a:latin typeface="Roboto"/>
                <a:cs typeface="Roboto"/>
              </a:rPr>
              <a:t> in </a:t>
            </a:r>
            <a:r>
              <a:rPr sz="1333" dirty="0">
                <a:latin typeface="Roboto"/>
                <a:cs typeface="Roboto"/>
              </a:rPr>
              <a:t>Assam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region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northeast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India), northern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Burma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China.</a:t>
            </a:r>
            <a:endParaRPr sz="1333">
              <a:latin typeface="Roboto"/>
              <a:cs typeface="Roboto"/>
            </a:endParaRPr>
          </a:p>
          <a:p>
            <a:pPr marL="114297" marR="306486"/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genomic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study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indicated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it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hybrid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bitter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orange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(sour orange)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citron.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1199" y="991999"/>
            <a:ext cx="3547533" cy="5441768"/>
          </a:xfrm>
          <a:prstGeom prst="rect">
            <a:avLst/>
          </a:prstGeom>
          <a:solidFill>
            <a:srgbClr val="F4F4F4"/>
          </a:solidFill>
          <a:ln w="19049">
            <a:solidFill>
              <a:srgbClr val="000000"/>
            </a:solidFill>
          </a:ln>
        </p:spPr>
        <p:txBody>
          <a:bodyPr vert="horz" wrap="square" lIns="0" tIns="107527" rIns="0" bIns="0" rtlCol="0">
            <a:spAutoFit/>
          </a:bodyPr>
          <a:lstStyle/>
          <a:p>
            <a:pPr marL="114297" marR="385224">
              <a:spcBef>
                <a:spcPts val="847"/>
              </a:spcBef>
            </a:pPr>
            <a:r>
              <a:rPr sz="1333" dirty="0">
                <a:latin typeface="Roboto"/>
                <a:cs typeface="Roboto"/>
              </a:rPr>
              <a:t>Lorem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ipsum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dolor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sit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amet,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consectetur adipiscing</a:t>
            </a:r>
            <a:r>
              <a:rPr sz="13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elit.</a:t>
            </a:r>
            <a:endParaRPr sz="1333">
              <a:latin typeface="Roboto"/>
              <a:cs typeface="Roboto"/>
            </a:endParaRPr>
          </a:p>
          <a:p>
            <a:pPr marL="114297" marR="192189"/>
            <a:r>
              <a:rPr sz="1333" spc="-13" dirty="0">
                <a:latin typeface="Roboto"/>
                <a:cs typeface="Roboto"/>
              </a:rPr>
              <a:t>Curabitur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tempus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quam.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mollis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ante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consectetur.</a:t>
            </a:r>
            <a:endParaRPr sz="1333">
              <a:latin typeface="Roboto"/>
              <a:cs typeface="Roboto"/>
            </a:endParaRPr>
          </a:p>
          <a:p>
            <a:pPr marL="114297" marR="1772029"/>
            <a:r>
              <a:rPr sz="1333" spc="-13" dirty="0">
                <a:latin typeface="Roboto"/>
                <a:cs typeface="Roboto"/>
              </a:rPr>
              <a:t>Aliquam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erat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volutpat. </a:t>
            </a:r>
            <a:r>
              <a:rPr sz="1333" dirty="0">
                <a:latin typeface="Roboto"/>
                <a:cs typeface="Roboto"/>
              </a:rPr>
              <a:t>Donec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lacinia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est.</a:t>
            </a:r>
            <a:endParaRPr sz="1333">
              <a:latin typeface="Roboto"/>
              <a:cs typeface="Roboto"/>
            </a:endParaRPr>
          </a:p>
          <a:p>
            <a:pPr marL="114297" marR="598578"/>
            <a:r>
              <a:rPr sz="1333" spc="-13" dirty="0">
                <a:latin typeface="Roboto"/>
                <a:cs typeface="Roboto"/>
              </a:rPr>
              <a:t>Duis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semper,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magna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tempor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interdum suscipit,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ante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elit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molestie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urna,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eget efficitur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risus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nunc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ac</a:t>
            </a:r>
            <a:r>
              <a:rPr sz="1333" spc="-13" dirty="0">
                <a:latin typeface="Roboto"/>
                <a:cs typeface="Roboto"/>
              </a:rPr>
              <a:t> elit.</a:t>
            </a:r>
            <a:endParaRPr sz="1333">
              <a:latin typeface="Roboto"/>
              <a:cs typeface="Roboto"/>
            </a:endParaRPr>
          </a:p>
          <a:p>
            <a:pPr marL="114297"/>
            <a:r>
              <a:rPr sz="1333" dirty="0">
                <a:latin typeface="Roboto"/>
                <a:cs typeface="Roboto"/>
              </a:rPr>
              <a:t>Fusce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quis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blandit</a:t>
            </a:r>
            <a:r>
              <a:rPr sz="1333" spc="-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lectus.</a:t>
            </a:r>
            <a:endParaRPr sz="1333">
              <a:latin typeface="Roboto"/>
              <a:cs typeface="Roboto"/>
            </a:endParaRPr>
          </a:p>
          <a:p>
            <a:pPr marL="114297" marR="173562"/>
            <a:r>
              <a:rPr sz="1333" spc="-13" dirty="0">
                <a:latin typeface="Roboto"/>
                <a:cs typeface="Roboto"/>
              </a:rPr>
              <a:t>Mauris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mauris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turpis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tristique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lacinia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at </a:t>
            </a:r>
            <a:r>
              <a:rPr sz="1333" dirty="0">
                <a:latin typeface="Roboto"/>
                <a:cs typeface="Roboto"/>
              </a:rPr>
              <a:t>nec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ante.</a:t>
            </a:r>
            <a:endParaRPr sz="1333">
              <a:latin typeface="Roboto"/>
              <a:cs typeface="Roboto"/>
            </a:endParaRPr>
          </a:p>
          <a:p>
            <a:pPr marL="114297" marR="548626"/>
            <a:r>
              <a:rPr sz="1333" spc="-13" dirty="0">
                <a:latin typeface="Roboto"/>
                <a:cs typeface="Roboto"/>
              </a:rPr>
              <a:t>Aenean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scelerisque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tellus,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efficitur ipsum.</a:t>
            </a:r>
            <a:endParaRPr sz="1333">
              <a:latin typeface="Roboto"/>
              <a:cs typeface="Roboto"/>
            </a:endParaRPr>
          </a:p>
          <a:p>
            <a:pPr marL="114297" marR="382684"/>
            <a:r>
              <a:rPr sz="1333" spc="-13" dirty="0">
                <a:latin typeface="Roboto"/>
                <a:cs typeface="Roboto"/>
              </a:rPr>
              <a:t>Integer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justo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enim,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ornare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vitae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sem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non, </a:t>
            </a:r>
            <a:r>
              <a:rPr sz="1333" dirty="0">
                <a:latin typeface="Roboto"/>
                <a:cs typeface="Roboto"/>
              </a:rPr>
              <a:t>mollis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fermentum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lectus.</a:t>
            </a:r>
            <a:endParaRPr sz="1333">
              <a:latin typeface="Roboto"/>
              <a:cs typeface="Roboto"/>
            </a:endParaRPr>
          </a:p>
          <a:p>
            <a:pPr marL="114297" marR="106677"/>
            <a:r>
              <a:rPr sz="1333" spc="-13" dirty="0">
                <a:latin typeface="Roboto"/>
                <a:cs typeface="Roboto"/>
              </a:rPr>
              <a:t>Mauris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ultrices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nisl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at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libero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porta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sodales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dirty="0">
                <a:latin typeface="Roboto"/>
                <a:cs typeface="Roboto"/>
              </a:rPr>
              <a:t>ac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orci.</a:t>
            </a:r>
            <a:endParaRPr sz="1333">
              <a:latin typeface="Roboto"/>
              <a:cs typeface="Roboto"/>
            </a:endParaRPr>
          </a:p>
          <a:p>
            <a:pPr marL="281086" marR="1559521" indent="-167636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function Ball(r) </a:t>
            </a:r>
            <a:r>
              <a:rPr sz="1333" spc="-67" dirty="0">
                <a:latin typeface="Roboto"/>
                <a:cs typeface="Roboto"/>
              </a:rPr>
              <a:t>{</a:t>
            </a:r>
            <a:r>
              <a:rPr sz="1333" spc="-27" dirty="0">
                <a:latin typeface="Roboto"/>
                <a:cs typeface="Roboto"/>
              </a:rPr>
              <a:t> this.radius</a:t>
            </a:r>
            <a:r>
              <a:rPr sz="1333" spc="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=</a:t>
            </a:r>
            <a:r>
              <a:rPr sz="1333" spc="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r;</a:t>
            </a:r>
            <a:r>
              <a:rPr sz="1333" spc="66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this.area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=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pi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*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**</a:t>
            </a:r>
            <a:r>
              <a:rPr sz="1333" spc="-33" dirty="0">
                <a:latin typeface="Roboto"/>
                <a:cs typeface="Roboto"/>
              </a:rPr>
              <a:t> 2; </a:t>
            </a:r>
            <a:r>
              <a:rPr sz="1333" spc="-13" dirty="0">
                <a:latin typeface="Roboto"/>
                <a:cs typeface="Roboto"/>
              </a:rPr>
              <a:t>this.show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=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function(){</a:t>
            </a:r>
            <a:endParaRPr sz="1333">
              <a:latin typeface="Roboto"/>
              <a:cs typeface="Roboto"/>
            </a:endParaRPr>
          </a:p>
          <a:p>
            <a:pPr marL="448722"/>
            <a:r>
              <a:rPr sz="1333" spc="-13" dirty="0">
                <a:latin typeface="Roboto"/>
                <a:cs typeface="Roboto"/>
              </a:rPr>
              <a:t>drawCircle(r);</a:t>
            </a:r>
            <a:endParaRPr sz="1333">
              <a:latin typeface="Roboto"/>
              <a:cs typeface="Roboto"/>
            </a:endParaRPr>
          </a:p>
          <a:p>
            <a:pPr marL="281086"/>
            <a:r>
              <a:rPr sz="1333" spc="-67" dirty="0">
                <a:latin typeface="Roboto"/>
                <a:cs typeface="Roboto"/>
              </a:rPr>
              <a:t>}</a:t>
            </a:r>
            <a:endParaRPr sz="1333">
              <a:latin typeface="Roboto"/>
              <a:cs typeface="Roboto"/>
            </a:endParaRPr>
          </a:p>
          <a:p>
            <a:pPr marL="114297"/>
            <a:r>
              <a:rPr sz="1333" spc="-67" dirty="0">
                <a:latin typeface="Roboto"/>
                <a:cs typeface="Roboto"/>
              </a:rPr>
              <a:t>}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i="1" spc="-53" dirty="0"/>
              <a:t>Common</a:t>
            </a:r>
            <a:r>
              <a:rPr sz="3200" i="1" spc="-147" dirty="0"/>
              <a:t> </a:t>
            </a:r>
            <a:r>
              <a:rPr sz="3200" i="1" spc="-33" dirty="0"/>
              <a:t>Crawl</a:t>
            </a:r>
            <a:r>
              <a:rPr sz="3200" i="1" spc="-120" dirty="0"/>
              <a:t> </a:t>
            </a:r>
            <a:r>
              <a:rPr sz="3200" i="1" spc="-27" dirty="0"/>
              <a:t>Web</a:t>
            </a:r>
            <a:r>
              <a:rPr sz="3200" i="1" spc="-120" dirty="0"/>
              <a:t> </a:t>
            </a:r>
            <a:r>
              <a:rPr sz="3200" i="1" spc="-47" dirty="0"/>
              <a:t>Extracted</a:t>
            </a:r>
            <a:r>
              <a:rPr sz="3200" i="1" spc="-147" dirty="0"/>
              <a:t> </a:t>
            </a:r>
            <a:r>
              <a:rPr sz="3200" i="1" spc="-27" dirty="0"/>
              <a:t>Text</a:t>
            </a:r>
            <a:endParaRPr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2399" y="991999"/>
            <a:ext cx="3547533" cy="5441960"/>
          </a:xfrm>
          <a:prstGeom prst="rect">
            <a:avLst/>
          </a:prstGeom>
          <a:solidFill>
            <a:srgbClr val="F4F4F4"/>
          </a:solidFill>
          <a:ln w="19049">
            <a:solidFill>
              <a:srgbClr val="000000"/>
            </a:solidFill>
          </a:ln>
        </p:spPr>
        <p:txBody>
          <a:bodyPr vert="horz" wrap="square" lIns="0" tIns="107527" rIns="0" bIns="0" rtlCol="0">
            <a:spAutoFit/>
          </a:bodyPr>
          <a:lstStyle/>
          <a:p>
            <a:pPr marL="114297">
              <a:spcBef>
                <a:spcPts val="847"/>
              </a:spcBef>
            </a:pP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Please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enable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JavaScript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to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use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our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site.</a:t>
            </a:r>
            <a:endParaRPr sz="1333">
              <a:latin typeface="Roboto"/>
              <a:cs typeface="Roboto"/>
            </a:endParaRPr>
          </a:p>
          <a:p>
            <a:pPr marL="114297" marR="2743978">
              <a:spcBef>
                <a:spcPts val="1600"/>
              </a:spcBef>
            </a:pP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Home Products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Shipping Contact 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FAQ</a:t>
            </a:r>
            <a:endParaRPr sz="1333">
              <a:latin typeface="Roboto"/>
              <a:cs typeface="Roboto"/>
            </a:endParaRPr>
          </a:p>
          <a:p>
            <a:pPr marL="114297">
              <a:spcBef>
                <a:spcPts val="1600"/>
              </a:spcBef>
            </a:pP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Dried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Lemons,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$3.59/pound</a:t>
            </a:r>
            <a:endParaRPr sz="1333">
              <a:latin typeface="Roboto"/>
              <a:cs typeface="Roboto"/>
            </a:endParaRPr>
          </a:p>
          <a:p>
            <a:pPr marL="114297" marR="559631">
              <a:spcBef>
                <a:spcPts val="1600"/>
              </a:spcBef>
            </a:pPr>
            <a:r>
              <a:rPr sz="1333" spc="-13" dirty="0">
                <a:latin typeface="Roboto"/>
                <a:cs typeface="Roboto"/>
              </a:rPr>
              <a:t>Organic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dried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lemons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from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our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farm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in </a:t>
            </a:r>
            <a:r>
              <a:rPr sz="1333" spc="-13" dirty="0">
                <a:latin typeface="Roboto"/>
                <a:cs typeface="Roboto"/>
              </a:rPr>
              <a:t>California.</a:t>
            </a:r>
            <a:endParaRPr sz="1333">
              <a:latin typeface="Roboto"/>
              <a:cs typeface="Roboto"/>
            </a:endParaRPr>
          </a:p>
          <a:p>
            <a:pPr marL="114297" marR="436869"/>
            <a:r>
              <a:rPr sz="1333" spc="-13" dirty="0">
                <a:latin typeface="Roboto"/>
                <a:cs typeface="Roboto"/>
              </a:rPr>
              <a:t>Lemons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harvested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sun-</a:t>
            </a:r>
            <a:r>
              <a:rPr sz="1333" spc="-33" dirty="0">
                <a:latin typeface="Roboto"/>
                <a:cs typeface="Roboto"/>
              </a:rPr>
              <a:t>dried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 </a:t>
            </a:r>
            <a:r>
              <a:rPr sz="1333" spc="-13" dirty="0">
                <a:latin typeface="Roboto"/>
                <a:cs typeface="Roboto"/>
              </a:rPr>
              <a:t>maximum flavor.</a:t>
            </a:r>
            <a:endParaRPr sz="1333">
              <a:latin typeface="Roboto"/>
              <a:cs typeface="Roboto"/>
            </a:endParaRPr>
          </a:p>
          <a:p>
            <a:pPr marL="114297"/>
            <a:r>
              <a:rPr sz="1333" dirty="0">
                <a:latin typeface="Roboto"/>
                <a:cs typeface="Roboto"/>
              </a:rPr>
              <a:t>Good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soups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popcorn.</a:t>
            </a:r>
            <a:endParaRPr sz="1333">
              <a:latin typeface="Roboto"/>
              <a:cs typeface="Roboto"/>
            </a:endParaRPr>
          </a:p>
          <a:p>
            <a:pPr marL="114297" marR="411470">
              <a:spcBef>
                <a:spcPts val="1600"/>
              </a:spcBef>
            </a:pP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The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lemon,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Citrus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Limon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(l.)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Osbeck,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is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a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 species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of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small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evergreen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tree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in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the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flowering</a:t>
            </a:r>
            <a:r>
              <a:rPr sz="1333" spc="-6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plant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family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rutaceae.</a:t>
            </a:r>
            <a:endParaRPr sz="1333">
              <a:latin typeface="Roboto"/>
              <a:cs typeface="Roboto"/>
            </a:endParaRPr>
          </a:p>
          <a:p>
            <a:pPr marL="114297" marR="200655"/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The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tree's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ellipsoidal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yellow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fruit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used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for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culinary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and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non-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culinary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purposes throughout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the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world,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primarily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for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its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juice, which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has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both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culinary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and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cleaning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uses.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The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juice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of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the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lemon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about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5%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to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6%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citric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acid,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with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ph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of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around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2.2,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giving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it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sour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taste.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599" y="992000"/>
            <a:ext cx="3547533" cy="5441897"/>
          </a:xfrm>
          <a:prstGeom prst="rect">
            <a:avLst/>
          </a:prstGeom>
          <a:solidFill>
            <a:srgbClr val="F4F4F4"/>
          </a:solidFill>
          <a:ln w="19049">
            <a:solidFill>
              <a:srgbClr val="000000"/>
            </a:solidFill>
          </a:ln>
        </p:spPr>
        <p:txBody>
          <a:bodyPr vert="horz" wrap="square" lIns="0" tIns="107527" rIns="0" bIns="0" rtlCol="0">
            <a:spAutoFit/>
          </a:bodyPr>
          <a:lstStyle/>
          <a:p>
            <a:pPr marL="114297">
              <a:spcBef>
                <a:spcPts val="847"/>
              </a:spcBef>
            </a:pP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Menu</a:t>
            </a:r>
            <a:endParaRPr sz="1333">
              <a:latin typeface="Roboto"/>
              <a:cs typeface="Roboto"/>
            </a:endParaRPr>
          </a:p>
          <a:p>
            <a:pPr marL="114297" marR="2512844">
              <a:lnSpc>
                <a:spcPct val="200000"/>
              </a:lnSpc>
            </a:pP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Lemon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Introduction</a:t>
            </a:r>
            <a:endParaRPr sz="1333">
              <a:latin typeface="Roboto"/>
              <a:cs typeface="Roboto"/>
            </a:endParaRPr>
          </a:p>
          <a:p>
            <a:pPr marL="114297" marR="411470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Citrus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Limon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(l.)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Osbeck,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67" dirty="0">
                <a:latin typeface="Roboto"/>
                <a:cs typeface="Roboto"/>
              </a:rPr>
              <a:t>a</a:t>
            </a:r>
            <a:r>
              <a:rPr sz="1333" spc="-13" dirty="0">
                <a:latin typeface="Roboto"/>
                <a:cs typeface="Roboto"/>
              </a:rPr>
              <a:t> species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small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evergreen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tree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the </a:t>
            </a:r>
            <a:r>
              <a:rPr sz="1333" dirty="0">
                <a:latin typeface="Roboto"/>
                <a:cs typeface="Roboto"/>
              </a:rPr>
              <a:t>flowering</a:t>
            </a:r>
            <a:r>
              <a:rPr sz="1333" spc="-6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plant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family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rutaceae.</a:t>
            </a:r>
            <a:endParaRPr sz="1333">
              <a:latin typeface="Roboto"/>
              <a:cs typeface="Roboto"/>
            </a:endParaRPr>
          </a:p>
          <a:p>
            <a:pPr marL="114297" marR="200655"/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tree's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ellipsoidal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yellow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fruit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used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for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53" dirty="0">
                <a:latin typeface="Roboto"/>
                <a:cs typeface="Roboto"/>
              </a:rPr>
              <a:t>non-</a:t>
            </a:r>
            <a:r>
              <a:rPr sz="1333" spc="-33" dirty="0">
                <a:latin typeface="Roboto"/>
                <a:cs typeface="Roboto"/>
              </a:rPr>
              <a:t>culinary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purposes throughout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world,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primarily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for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its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juice, which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has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both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culinary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cleaning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uses.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juice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about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5%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6% </a:t>
            </a:r>
            <a:r>
              <a:rPr sz="1333" spc="-13" dirty="0">
                <a:latin typeface="Roboto"/>
                <a:cs typeface="Roboto"/>
              </a:rPr>
              <a:t>citric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acid,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with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ph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around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2.2,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giving</a:t>
            </a:r>
            <a:r>
              <a:rPr sz="1333" spc="-33" dirty="0">
                <a:latin typeface="Roboto"/>
                <a:cs typeface="Roboto"/>
              </a:rPr>
              <a:t> it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sour</a:t>
            </a:r>
            <a:r>
              <a:rPr sz="1333" spc="-5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taste.</a:t>
            </a:r>
            <a:endParaRPr sz="1333">
              <a:latin typeface="Roboto"/>
              <a:cs typeface="Roboto"/>
            </a:endParaRPr>
          </a:p>
          <a:p>
            <a:pPr marL="114297">
              <a:spcBef>
                <a:spcPts val="1600"/>
              </a:spcBef>
            </a:pP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Article</a:t>
            </a:r>
            <a:endParaRPr sz="1333">
              <a:latin typeface="Roboto"/>
              <a:cs typeface="Roboto"/>
            </a:endParaRPr>
          </a:p>
          <a:p>
            <a:pPr marL="114297" marR="190495">
              <a:spcBef>
                <a:spcPts val="1600"/>
              </a:spcBef>
            </a:pPr>
            <a:r>
              <a:rPr sz="1333" dirty="0">
                <a:latin typeface="Roboto"/>
                <a:cs typeface="Roboto"/>
              </a:rPr>
              <a:t>The</a:t>
            </a:r>
            <a:r>
              <a:rPr sz="1333" spc="-4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origin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unknown,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though lemons</a:t>
            </a:r>
            <a:r>
              <a:rPr sz="1333" spc="-4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are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thought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to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have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first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grown</a:t>
            </a:r>
            <a:r>
              <a:rPr sz="1333" spc="-33" dirty="0">
                <a:latin typeface="Roboto"/>
                <a:cs typeface="Roboto"/>
              </a:rPr>
              <a:t> in </a:t>
            </a:r>
            <a:r>
              <a:rPr sz="1333" dirty="0">
                <a:latin typeface="Roboto"/>
                <a:cs typeface="Roboto"/>
              </a:rPr>
              <a:t>Assam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(a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region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in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northeast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India), northern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Burma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or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China.</a:t>
            </a:r>
            <a:endParaRPr sz="1333">
              <a:latin typeface="Roboto"/>
              <a:cs typeface="Roboto"/>
            </a:endParaRPr>
          </a:p>
          <a:p>
            <a:pPr marL="114297" marR="306486"/>
            <a:r>
              <a:rPr sz="1333" dirty="0">
                <a:latin typeface="Roboto"/>
                <a:cs typeface="Roboto"/>
              </a:rPr>
              <a:t>A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genomic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study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of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the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lemon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indicated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33" dirty="0">
                <a:latin typeface="Roboto"/>
                <a:cs typeface="Roboto"/>
              </a:rPr>
              <a:t>it </a:t>
            </a:r>
            <a:r>
              <a:rPr sz="1333" dirty="0">
                <a:latin typeface="Roboto"/>
                <a:cs typeface="Roboto"/>
              </a:rPr>
              <a:t>was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27" dirty="0">
                <a:latin typeface="Roboto"/>
                <a:cs typeface="Roboto"/>
              </a:rPr>
              <a:t>hybrid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between</a:t>
            </a:r>
            <a:r>
              <a:rPr sz="1333" spc="-27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bitter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orange</a:t>
            </a:r>
            <a:r>
              <a:rPr sz="1333" spc="-20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(sour orange)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dirty="0">
                <a:latin typeface="Roboto"/>
                <a:cs typeface="Roboto"/>
              </a:rPr>
              <a:t>and</a:t>
            </a:r>
            <a:r>
              <a:rPr sz="1333" spc="-33" dirty="0">
                <a:latin typeface="Roboto"/>
                <a:cs typeface="Roboto"/>
              </a:rPr>
              <a:t> </a:t>
            </a:r>
            <a:r>
              <a:rPr sz="1333" spc="-13" dirty="0">
                <a:latin typeface="Roboto"/>
                <a:cs typeface="Roboto"/>
              </a:rPr>
              <a:t>citron.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1199" y="991999"/>
            <a:ext cx="3547533" cy="5441768"/>
          </a:xfrm>
          <a:prstGeom prst="rect">
            <a:avLst/>
          </a:prstGeom>
          <a:solidFill>
            <a:srgbClr val="F4F4F4"/>
          </a:solidFill>
          <a:ln w="19049">
            <a:solidFill>
              <a:srgbClr val="000000"/>
            </a:solidFill>
          </a:ln>
        </p:spPr>
        <p:txBody>
          <a:bodyPr vert="horz" wrap="square" lIns="0" tIns="107527" rIns="0" bIns="0" rtlCol="0">
            <a:spAutoFit/>
          </a:bodyPr>
          <a:lstStyle/>
          <a:p>
            <a:pPr marL="114297" marR="385224">
              <a:spcBef>
                <a:spcPts val="847"/>
              </a:spcBef>
            </a:pP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Lorem</a:t>
            </a:r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ipsum</a:t>
            </a:r>
            <a:r>
              <a:rPr sz="1333" spc="-6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dolor</a:t>
            </a:r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sit</a:t>
            </a:r>
            <a:r>
              <a:rPr sz="1333" spc="-6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amet,</a:t>
            </a:r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consectetur adipiscing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elit.</a:t>
            </a:r>
            <a:endParaRPr sz="1333">
              <a:latin typeface="Roboto"/>
              <a:cs typeface="Roboto"/>
            </a:endParaRPr>
          </a:p>
          <a:p>
            <a:pPr marL="114297" marR="192189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Curabitur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in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tempus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quam.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In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mollis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et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ante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at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consectetur.</a:t>
            </a:r>
            <a:endParaRPr sz="1333">
              <a:latin typeface="Roboto"/>
              <a:cs typeface="Roboto"/>
            </a:endParaRPr>
          </a:p>
          <a:p>
            <a:pPr marL="114297" marR="1772029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Aliquam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erat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volutpat.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Donec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at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lacinia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est.</a:t>
            </a:r>
            <a:endParaRPr sz="1333">
              <a:latin typeface="Roboto"/>
              <a:cs typeface="Roboto"/>
            </a:endParaRPr>
          </a:p>
          <a:p>
            <a:pPr marL="114297" marR="598578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Duis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semper,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magna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tempor</a:t>
            </a:r>
            <a:r>
              <a:rPr sz="1333" spc="-5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interdum suscipit,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ante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elit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molestie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urna,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eget efficitur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risus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nunc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ac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 elit.</a:t>
            </a:r>
            <a:endParaRPr sz="1333">
              <a:latin typeface="Roboto"/>
              <a:cs typeface="Roboto"/>
            </a:endParaRPr>
          </a:p>
          <a:p>
            <a:pPr marL="114297"/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Fusce</a:t>
            </a:r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quis</a:t>
            </a:r>
            <a:r>
              <a:rPr sz="1333" spc="-6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blandit</a:t>
            </a:r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lectus.</a:t>
            </a:r>
            <a:endParaRPr sz="1333">
              <a:latin typeface="Roboto"/>
              <a:cs typeface="Roboto"/>
            </a:endParaRPr>
          </a:p>
          <a:p>
            <a:pPr marL="114297" marR="173562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Mauris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at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mauris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turpis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tristique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lacinia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at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nec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ante.</a:t>
            </a:r>
            <a:endParaRPr sz="1333">
              <a:latin typeface="Roboto"/>
              <a:cs typeface="Roboto"/>
            </a:endParaRPr>
          </a:p>
          <a:p>
            <a:pPr marL="114297" marR="548626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Aenean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in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scelerisque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tellus,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</a:t>
            </a:r>
            <a:r>
              <a:rPr sz="1333" spc="-2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efficitur ipsum.</a:t>
            </a:r>
            <a:endParaRPr sz="1333">
              <a:latin typeface="Roboto"/>
              <a:cs typeface="Roboto"/>
            </a:endParaRPr>
          </a:p>
          <a:p>
            <a:pPr marL="114297" marR="382684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Integer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justo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enim,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ornare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vitae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sem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non,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mollis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fermentum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lectus.</a:t>
            </a:r>
            <a:endParaRPr sz="1333">
              <a:latin typeface="Roboto"/>
              <a:cs typeface="Roboto"/>
            </a:endParaRPr>
          </a:p>
          <a:p>
            <a:pPr marL="114297" marR="106677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Mauris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ultrices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nisl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at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libero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porta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sodales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in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ac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orci.</a:t>
            </a:r>
            <a:endParaRPr sz="1333">
              <a:latin typeface="Roboto"/>
              <a:cs typeface="Roboto"/>
            </a:endParaRPr>
          </a:p>
          <a:p>
            <a:pPr marL="281086" marR="1559521" indent="-167636">
              <a:spcBef>
                <a:spcPts val="1600"/>
              </a:spcBef>
            </a:pP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function Ball(r) </a:t>
            </a:r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{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this.radius</a:t>
            </a:r>
            <a:r>
              <a:rPr sz="1333" spc="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=</a:t>
            </a:r>
            <a:r>
              <a:rPr sz="1333" spc="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r;</a:t>
            </a:r>
            <a:r>
              <a:rPr sz="1333" spc="66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this.area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=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pi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*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r</a:t>
            </a:r>
            <a:r>
              <a:rPr sz="1333" spc="-2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**</a:t>
            </a:r>
            <a:r>
              <a:rPr sz="1333" spc="-33" dirty="0">
                <a:solidFill>
                  <a:srgbClr val="B7B7B7"/>
                </a:solidFill>
                <a:latin typeface="Roboto"/>
                <a:cs typeface="Roboto"/>
              </a:rPr>
              <a:t> 2;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this.show</a:t>
            </a:r>
            <a:r>
              <a:rPr sz="1333" spc="-47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dirty="0">
                <a:solidFill>
                  <a:srgbClr val="B7B7B7"/>
                </a:solidFill>
                <a:latin typeface="Roboto"/>
                <a:cs typeface="Roboto"/>
              </a:rPr>
              <a:t>=</a:t>
            </a:r>
            <a:r>
              <a:rPr sz="1333" spc="-40" dirty="0">
                <a:solidFill>
                  <a:srgbClr val="B7B7B7"/>
                </a:solidFill>
                <a:latin typeface="Roboto"/>
                <a:cs typeface="Roboto"/>
              </a:rPr>
              <a:t> </a:t>
            </a:r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function(){</a:t>
            </a:r>
            <a:endParaRPr sz="1333">
              <a:latin typeface="Roboto"/>
              <a:cs typeface="Roboto"/>
            </a:endParaRPr>
          </a:p>
          <a:p>
            <a:pPr marL="448722"/>
            <a:r>
              <a:rPr sz="1333" spc="-13" dirty="0">
                <a:solidFill>
                  <a:srgbClr val="B7B7B7"/>
                </a:solidFill>
                <a:latin typeface="Roboto"/>
                <a:cs typeface="Roboto"/>
              </a:rPr>
              <a:t>drawCircle(r);</a:t>
            </a:r>
            <a:endParaRPr sz="1333">
              <a:latin typeface="Roboto"/>
              <a:cs typeface="Roboto"/>
            </a:endParaRPr>
          </a:p>
          <a:p>
            <a:pPr marL="281086"/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}</a:t>
            </a:r>
            <a:endParaRPr sz="1333">
              <a:latin typeface="Roboto"/>
              <a:cs typeface="Roboto"/>
            </a:endParaRPr>
          </a:p>
          <a:p>
            <a:pPr marL="114297"/>
            <a:r>
              <a:rPr sz="1333" spc="-67" dirty="0">
                <a:solidFill>
                  <a:srgbClr val="B7B7B7"/>
                </a:solidFill>
                <a:latin typeface="Roboto"/>
                <a:cs typeface="Roboto"/>
              </a:rPr>
              <a:t>}</a:t>
            </a:r>
            <a:endParaRPr sz="1333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i="1" spc="-53" dirty="0"/>
              <a:t>Common</a:t>
            </a:r>
            <a:r>
              <a:rPr sz="3200" i="1" spc="-147" dirty="0"/>
              <a:t> </a:t>
            </a:r>
            <a:r>
              <a:rPr sz="3200" i="1" spc="-33" dirty="0"/>
              <a:t>Crawl</a:t>
            </a:r>
            <a:r>
              <a:rPr sz="3200" i="1" spc="-120" dirty="0"/>
              <a:t> </a:t>
            </a:r>
            <a:r>
              <a:rPr sz="3200" i="1" spc="-27" dirty="0"/>
              <a:t>Web</a:t>
            </a:r>
            <a:r>
              <a:rPr sz="3200" i="1" spc="-120" dirty="0"/>
              <a:t> </a:t>
            </a:r>
            <a:r>
              <a:rPr sz="3200" i="1" spc="-47" dirty="0"/>
              <a:t>Extracted</a:t>
            </a:r>
            <a:r>
              <a:rPr sz="3200" i="1" spc="-147" dirty="0"/>
              <a:t> </a:t>
            </a:r>
            <a:r>
              <a:rPr sz="3200" i="1" spc="-27" dirty="0"/>
              <a:t>Text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00" y="479883"/>
            <a:ext cx="10336400" cy="58982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A8909-850D-72A1-D969-331F55F65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32,000 </a:t>
            </a:r>
            <a:r>
              <a:rPr lang="en-US" dirty="0" err="1"/>
              <a:t>wordpieces</a:t>
            </a:r>
            <a:r>
              <a:rPr lang="en-US" dirty="0"/>
              <a:t> shared across input and output</a:t>
            </a:r>
          </a:p>
          <a:p>
            <a:r>
              <a:rPr lang="en-US" dirty="0"/>
              <a:t>Pre-training is English, but fine-tuning includes German, French, and Romanian</a:t>
            </a:r>
          </a:p>
          <a:p>
            <a:r>
              <a:rPr lang="en-US" dirty="0"/>
              <a:t>Trained </a:t>
            </a:r>
            <a:r>
              <a:rPr lang="en-US" dirty="0" err="1"/>
              <a:t>SentencePiece</a:t>
            </a:r>
            <a:r>
              <a:rPr lang="en-US" dirty="0"/>
              <a:t> model 10:1:1:1 English : German : French : Romanian</a:t>
            </a:r>
          </a:p>
          <a:p>
            <a:r>
              <a:rPr lang="en-US" dirty="0"/>
              <a:t>Can handle fixed set of languages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0D567B-10F1-E989-77E5-D5047D18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C2F30-4DC4-EB8E-F719-EDFBB70F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80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40F05A-82D7-B660-E882-4C06FB77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719387"/>
            <a:ext cx="11811000" cy="1419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A55696-286C-2923-B5EE-3EB568AE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objective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4AD898F-B442-A2D2-0927-F06BB3B25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2686050"/>
            <a:ext cx="1179195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ABD903A-5FE2-C204-EF41-E8A71E629A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353"/>
          <a:stretch/>
        </p:blipFill>
        <p:spPr>
          <a:xfrm>
            <a:off x="0" y="1043609"/>
            <a:ext cx="12192000" cy="298874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CAA6-623D-7C11-B5DC-BA4BC0B6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6742B01-4BA2-52B4-C06D-D3565EF2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608"/>
            <a:ext cx="12192000" cy="477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57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220071"/>
            <a:ext cx="11658600" cy="571096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Pretrain</a:t>
            </a:r>
            <a:endParaRPr lang="en-US" sz="3600"/>
          </a:p>
        </p:txBody>
      </p:sp>
      <p:grpSp>
        <p:nvGrpSpPr>
          <p:cNvPr id="3" name="object 3"/>
          <p:cNvGrpSpPr/>
          <p:nvPr/>
        </p:nvGrpSpPr>
        <p:grpSpPr>
          <a:xfrm>
            <a:off x="1160133" y="1843217"/>
            <a:ext cx="2297852" cy="2923540"/>
            <a:chOff x="870099" y="1382412"/>
            <a:chExt cx="1723389" cy="2192655"/>
          </a:xfrm>
        </p:grpSpPr>
        <p:sp>
          <p:nvSpPr>
            <p:cNvPr id="4" name="object 4"/>
            <p:cNvSpPr/>
            <p:nvPr/>
          </p:nvSpPr>
          <p:spPr>
            <a:xfrm>
              <a:off x="870099" y="1382412"/>
              <a:ext cx="1723389" cy="2192655"/>
            </a:xfrm>
            <a:custGeom>
              <a:avLst/>
              <a:gdLst/>
              <a:ahLst/>
              <a:cxnLst/>
              <a:rect l="l" t="t" r="r" b="b"/>
              <a:pathLst>
                <a:path w="1723389" h="2192654">
                  <a:moveTo>
                    <a:pt x="1547612" y="2192099"/>
                  </a:moveTo>
                  <a:lnTo>
                    <a:pt x="175287" y="2192099"/>
                  </a:lnTo>
                  <a:lnTo>
                    <a:pt x="128689" y="2185838"/>
                  </a:lnTo>
                  <a:lnTo>
                    <a:pt x="86816" y="2168168"/>
                  </a:lnTo>
                  <a:lnTo>
                    <a:pt x="51340" y="2140759"/>
                  </a:lnTo>
                  <a:lnTo>
                    <a:pt x="23931" y="2105283"/>
                  </a:lnTo>
                  <a:lnTo>
                    <a:pt x="6261" y="2063410"/>
                  </a:lnTo>
                  <a:lnTo>
                    <a:pt x="0" y="2016811"/>
                  </a:lnTo>
                  <a:lnTo>
                    <a:pt x="0" y="175287"/>
                  </a:lnTo>
                  <a:lnTo>
                    <a:pt x="6261" y="128689"/>
                  </a:lnTo>
                  <a:lnTo>
                    <a:pt x="23931" y="86816"/>
                  </a:lnTo>
                  <a:lnTo>
                    <a:pt x="51340" y="51340"/>
                  </a:lnTo>
                  <a:lnTo>
                    <a:pt x="86816" y="23931"/>
                  </a:lnTo>
                  <a:lnTo>
                    <a:pt x="128689" y="6261"/>
                  </a:lnTo>
                  <a:lnTo>
                    <a:pt x="175287" y="0"/>
                  </a:lnTo>
                  <a:lnTo>
                    <a:pt x="1547612" y="0"/>
                  </a:lnTo>
                  <a:lnTo>
                    <a:pt x="1614691" y="13342"/>
                  </a:lnTo>
                  <a:lnTo>
                    <a:pt x="1671559" y="51340"/>
                  </a:lnTo>
                  <a:lnTo>
                    <a:pt x="1709557" y="108208"/>
                  </a:lnTo>
                  <a:lnTo>
                    <a:pt x="1722899" y="175287"/>
                  </a:lnTo>
                  <a:lnTo>
                    <a:pt x="1722899" y="2016811"/>
                  </a:lnTo>
                  <a:lnTo>
                    <a:pt x="1716638" y="2063410"/>
                  </a:lnTo>
                  <a:lnTo>
                    <a:pt x="1698968" y="2105283"/>
                  </a:lnTo>
                  <a:lnTo>
                    <a:pt x="1671559" y="2140759"/>
                  </a:lnTo>
                  <a:lnTo>
                    <a:pt x="1636083" y="2168168"/>
                  </a:lnTo>
                  <a:lnTo>
                    <a:pt x="1594210" y="2185838"/>
                  </a:lnTo>
                  <a:lnTo>
                    <a:pt x="1547612" y="2192099"/>
                  </a:lnTo>
                  <a:close/>
                </a:path>
              </a:pathLst>
            </a:custGeom>
            <a:solidFill>
              <a:srgbClr val="CEE1F3">
                <a:alpha val="44689"/>
              </a:srgbClr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5" name="object 5"/>
            <p:cNvSpPr/>
            <p:nvPr/>
          </p:nvSpPr>
          <p:spPr>
            <a:xfrm>
              <a:off x="926947" y="1488363"/>
              <a:ext cx="1609725" cy="1962150"/>
            </a:xfrm>
            <a:custGeom>
              <a:avLst/>
              <a:gdLst/>
              <a:ahLst/>
              <a:cxnLst/>
              <a:rect l="l" t="t" r="r" b="b"/>
              <a:pathLst>
                <a:path w="1609725" h="1962150">
                  <a:moveTo>
                    <a:pt x="1609191" y="1662607"/>
                  </a:moveTo>
                  <a:lnTo>
                    <a:pt x="1591678" y="1620316"/>
                  </a:lnTo>
                  <a:lnTo>
                    <a:pt x="1549400" y="1602803"/>
                  </a:lnTo>
                  <a:lnTo>
                    <a:pt x="59791" y="1602803"/>
                  </a:lnTo>
                  <a:lnTo>
                    <a:pt x="36525" y="1607502"/>
                  </a:lnTo>
                  <a:lnTo>
                    <a:pt x="17513" y="1620316"/>
                  </a:lnTo>
                  <a:lnTo>
                    <a:pt x="4699" y="1639328"/>
                  </a:lnTo>
                  <a:lnTo>
                    <a:pt x="0" y="1662607"/>
                  </a:lnTo>
                  <a:lnTo>
                    <a:pt x="0" y="1901799"/>
                  </a:lnTo>
                  <a:lnTo>
                    <a:pt x="4699" y="1925078"/>
                  </a:lnTo>
                  <a:lnTo>
                    <a:pt x="17513" y="1944090"/>
                  </a:lnTo>
                  <a:lnTo>
                    <a:pt x="36525" y="1956904"/>
                  </a:lnTo>
                  <a:lnTo>
                    <a:pt x="59791" y="1961603"/>
                  </a:lnTo>
                  <a:lnTo>
                    <a:pt x="1549400" y="1961603"/>
                  </a:lnTo>
                  <a:lnTo>
                    <a:pt x="1572666" y="1956904"/>
                  </a:lnTo>
                  <a:lnTo>
                    <a:pt x="1591678" y="1944090"/>
                  </a:lnTo>
                  <a:lnTo>
                    <a:pt x="1604492" y="1925078"/>
                  </a:lnTo>
                  <a:lnTo>
                    <a:pt x="1609191" y="1901799"/>
                  </a:lnTo>
                  <a:lnTo>
                    <a:pt x="1609191" y="1662607"/>
                  </a:lnTo>
                  <a:close/>
                </a:path>
                <a:path w="1609725" h="1962150">
                  <a:moveTo>
                    <a:pt x="1609191" y="1006436"/>
                  </a:moveTo>
                  <a:lnTo>
                    <a:pt x="1594129" y="956703"/>
                  </a:lnTo>
                  <a:lnTo>
                    <a:pt x="1553857" y="923620"/>
                  </a:lnTo>
                  <a:lnTo>
                    <a:pt x="1519542" y="916787"/>
                  </a:lnTo>
                  <a:lnTo>
                    <a:pt x="89649" y="916787"/>
                  </a:lnTo>
                  <a:lnTo>
                    <a:pt x="54749" y="923836"/>
                  </a:lnTo>
                  <a:lnTo>
                    <a:pt x="26250" y="943051"/>
                  </a:lnTo>
                  <a:lnTo>
                    <a:pt x="7035" y="971550"/>
                  </a:lnTo>
                  <a:lnTo>
                    <a:pt x="0" y="1006436"/>
                  </a:lnTo>
                  <a:lnTo>
                    <a:pt x="0" y="1365034"/>
                  </a:lnTo>
                  <a:lnTo>
                    <a:pt x="7035" y="1399933"/>
                  </a:lnTo>
                  <a:lnTo>
                    <a:pt x="26250" y="1428432"/>
                  </a:lnTo>
                  <a:lnTo>
                    <a:pt x="54749" y="1447647"/>
                  </a:lnTo>
                  <a:lnTo>
                    <a:pt x="89649" y="1454696"/>
                  </a:lnTo>
                  <a:lnTo>
                    <a:pt x="1519542" y="1454696"/>
                  </a:lnTo>
                  <a:lnTo>
                    <a:pt x="1554441" y="1447647"/>
                  </a:lnTo>
                  <a:lnTo>
                    <a:pt x="1582940" y="1428432"/>
                  </a:lnTo>
                  <a:lnTo>
                    <a:pt x="1602155" y="1399933"/>
                  </a:lnTo>
                  <a:lnTo>
                    <a:pt x="1609191" y="1365034"/>
                  </a:lnTo>
                  <a:lnTo>
                    <a:pt x="1609191" y="1006436"/>
                  </a:lnTo>
                  <a:close/>
                </a:path>
                <a:path w="1609725" h="1962150">
                  <a:moveTo>
                    <a:pt x="1609344" y="129209"/>
                  </a:moveTo>
                  <a:lnTo>
                    <a:pt x="1599514" y="79768"/>
                  </a:lnTo>
                  <a:lnTo>
                    <a:pt x="1571498" y="37846"/>
                  </a:lnTo>
                  <a:lnTo>
                    <a:pt x="1529588" y="9842"/>
                  </a:lnTo>
                  <a:lnTo>
                    <a:pt x="1480146" y="0"/>
                  </a:lnTo>
                  <a:lnTo>
                    <a:pt x="129349" y="0"/>
                  </a:lnTo>
                  <a:lnTo>
                    <a:pt x="79057" y="10160"/>
                  </a:lnTo>
                  <a:lnTo>
                    <a:pt x="37985" y="37846"/>
                  </a:lnTo>
                  <a:lnTo>
                    <a:pt x="10299" y="78917"/>
                  </a:lnTo>
                  <a:lnTo>
                    <a:pt x="152" y="129209"/>
                  </a:lnTo>
                  <a:lnTo>
                    <a:pt x="152" y="645998"/>
                  </a:lnTo>
                  <a:lnTo>
                    <a:pt x="10299" y="696290"/>
                  </a:lnTo>
                  <a:lnTo>
                    <a:pt x="37985" y="737362"/>
                  </a:lnTo>
                  <a:lnTo>
                    <a:pt x="79057" y="765048"/>
                  </a:lnTo>
                  <a:lnTo>
                    <a:pt x="129349" y="775208"/>
                  </a:lnTo>
                  <a:lnTo>
                    <a:pt x="1480146" y="775208"/>
                  </a:lnTo>
                  <a:lnTo>
                    <a:pt x="1530438" y="765048"/>
                  </a:lnTo>
                  <a:lnTo>
                    <a:pt x="1571498" y="737362"/>
                  </a:lnTo>
                  <a:lnTo>
                    <a:pt x="1599196" y="696290"/>
                  </a:lnTo>
                  <a:lnTo>
                    <a:pt x="1609344" y="645998"/>
                  </a:lnTo>
                  <a:lnTo>
                    <a:pt x="1609344" y="12920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12999" y="2055767"/>
            <a:ext cx="2190327" cy="35879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20128" marR="208275" algn="ctr">
              <a:lnSpc>
                <a:spcPts val="2200"/>
              </a:lnSpc>
              <a:spcBef>
                <a:spcPts val="240"/>
              </a:spcBef>
            </a:pPr>
            <a:r>
              <a:rPr spc="-27" dirty="0">
                <a:latin typeface="Roboto Lt"/>
                <a:cs typeface="Roboto Lt"/>
              </a:rPr>
              <a:t>BERT</a:t>
            </a:r>
            <a:r>
              <a:rPr sz="1600" spc="-40" baseline="-33950" dirty="0">
                <a:latin typeface="Roboto Lt"/>
                <a:cs typeface="Roboto Lt"/>
              </a:rPr>
              <a:t>BASE</a:t>
            </a:r>
            <a:r>
              <a:rPr spc="-27" dirty="0">
                <a:latin typeface="Roboto Lt"/>
                <a:cs typeface="Roboto Lt"/>
              </a:rPr>
              <a:t>-</a:t>
            </a:r>
            <a:r>
              <a:rPr spc="-13" dirty="0">
                <a:latin typeface="Roboto Lt"/>
                <a:cs typeface="Roboto Lt"/>
              </a:rPr>
              <a:t>sized </a:t>
            </a:r>
            <a:r>
              <a:rPr spc="-33" dirty="0">
                <a:latin typeface="Roboto Lt"/>
                <a:cs typeface="Roboto Lt"/>
              </a:rPr>
              <a:t>encoder-</a:t>
            </a:r>
            <a:r>
              <a:rPr spc="-27" dirty="0">
                <a:latin typeface="Roboto Lt"/>
                <a:cs typeface="Roboto Lt"/>
              </a:rPr>
              <a:t>decoder </a:t>
            </a:r>
            <a:r>
              <a:rPr spc="-13" dirty="0">
                <a:latin typeface="Roboto Lt"/>
                <a:cs typeface="Roboto Lt"/>
              </a:rPr>
              <a:t>Transformer</a:t>
            </a:r>
            <a:endParaRPr>
              <a:latin typeface="Roboto Lt"/>
              <a:cs typeface="Roboto Lt"/>
            </a:endParaRPr>
          </a:p>
          <a:p>
            <a:pPr>
              <a:spcBef>
                <a:spcPts val="633"/>
              </a:spcBef>
            </a:pPr>
            <a:endParaRPr>
              <a:latin typeface="Roboto Lt"/>
              <a:cs typeface="Roboto Lt"/>
            </a:endParaRPr>
          </a:p>
          <a:p>
            <a:pPr marL="581645" marR="570639" algn="ctr">
              <a:lnSpc>
                <a:spcPts val="2200"/>
              </a:lnSpc>
              <a:spcBef>
                <a:spcPts val="7"/>
              </a:spcBef>
            </a:pPr>
            <a:r>
              <a:rPr spc="-13" dirty="0">
                <a:latin typeface="Roboto Lt"/>
                <a:cs typeface="Roboto Lt"/>
              </a:rPr>
              <a:t>Denoising objective</a:t>
            </a:r>
            <a:endParaRPr>
              <a:latin typeface="Roboto Lt"/>
              <a:cs typeface="Roboto Lt"/>
            </a:endParaRPr>
          </a:p>
          <a:p>
            <a:pPr>
              <a:spcBef>
                <a:spcPts val="612"/>
              </a:spcBef>
            </a:pPr>
            <a:endParaRPr>
              <a:latin typeface="Roboto Lt"/>
              <a:cs typeface="Roboto Lt"/>
            </a:endParaRPr>
          </a:p>
          <a:p>
            <a:pPr marL="847" algn="ctr"/>
            <a:r>
              <a:rPr dirty="0">
                <a:latin typeface="Roboto Lt"/>
                <a:cs typeface="Roboto Lt"/>
              </a:rPr>
              <a:t>C4</a:t>
            </a:r>
            <a:r>
              <a:rPr spc="-13" dirty="0">
                <a:latin typeface="Roboto Lt"/>
                <a:cs typeface="Roboto Lt"/>
              </a:rPr>
              <a:t> dataset</a:t>
            </a:r>
            <a:endParaRPr>
              <a:latin typeface="Roboto Lt"/>
              <a:cs typeface="Roboto Lt"/>
            </a:endParaRPr>
          </a:p>
          <a:p>
            <a:pPr>
              <a:spcBef>
                <a:spcPts val="453"/>
              </a:spcBef>
            </a:pPr>
            <a:endParaRPr>
              <a:latin typeface="Roboto Lt"/>
              <a:cs typeface="Roboto Lt"/>
            </a:endParaRPr>
          </a:p>
          <a:p>
            <a:pPr marL="761981">
              <a:spcBef>
                <a:spcPts val="7"/>
              </a:spcBef>
            </a:pPr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19</a:t>
            </a:r>
            <a:r>
              <a:rPr sz="1200" spc="160" baseline="29914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steps</a:t>
            </a:r>
            <a:endParaRPr sz="1200">
              <a:latin typeface="Roboto Lt"/>
              <a:cs typeface="Roboto Lt"/>
            </a:endParaRPr>
          </a:p>
          <a:p>
            <a:pPr marL="67732" marR="57572" indent="309026"/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35</a:t>
            </a:r>
            <a:r>
              <a:rPr sz="1200" spc="629" baseline="29914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or</a:t>
            </a:r>
            <a:r>
              <a:rPr sz="1200" spc="-1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~34B</a:t>
            </a:r>
            <a:r>
              <a:rPr sz="1200" spc="-2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tokens Inverse</a:t>
            </a:r>
            <a:r>
              <a:rPr sz="1200" spc="-4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square</a:t>
            </a:r>
            <a:r>
              <a:rPr sz="1200" spc="-3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root</a:t>
            </a:r>
            <a:r>
              <a:rPr sz="1200" spc="-33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learning</a:t>
            </a:r>
            <a:endParaRPr sz="1200">
              <a:latin typeface="Roboto Lt"/>
              <a:cs typeface="Roboto Lt"/>
            </a:endParaRPr>
          </a:p>
          <a:p>
            <a:pPr marL="598578"/>
            <a:r>
              <a:rPr sz="1200" dirty="0">
                <a:latin typeface="Roboto Lt"/>
                <a:cs typeface="Roboto Lt"/>
              </a:rPr>
              <a:t>rate</a:t>
            </a:r>
            <a:r>
              <a:rPr sz="1200" spc="-73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schedule</a:t>
            </a:r>
            <a:endParaRPr sz="12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93800" y="5635016"/>
            <a:ext cx="1735667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47" algn="ctr">
              <a:spcBef>
                <a:spcPts val="133"/>
              </a:spcBef>
            </a:pPr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34188" dirty="0">
                <a:latin typeface="Roboto Lt"/>
                <a:cs typeface="Roboto Lt"/>
              </a:rPr>
              <a:t>18</a:t>
            </a:r>
            <a:r>
              <a:rPr sz="1200" spc="160" baseline="34188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steps</a:t>
            </a:r>
            <a:endParaRPr sz="1200">
              <a:latin typeface="Roboto Lt"/>
              <a:cs typeface="Roboto Lt"/>
            </a:endParaRPr>
          </a:p>
          <a:p>
            <a:pPr marL="50799" marR="40639" algn="ctr"/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34</a:t>
            </a:r>
            <a:r>
              <a:rPr sz="1200" spc="629" baseline="29914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or</a:t>
            </a:r>
            <a:r>
              <a:rPr sz="1200" spc="-1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~17B</a:t>
            </a:r>
            <a:r>
              <a:rPr sz="1200" spc="-2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tokens Constant</a:t>
            </a:r>
            <a:r>
              <a:rPr sz="120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learning</a:t>
            </a:r>
            <a:r>
              <a:rPr sz="1200" dirty="0">
                <a:latin typeface="Roboto Lt"/>
                <a:cs typeface="Roboto Lt"/>
              </a:rPr>
              <a:t> </a:t>
            </a:r>
            <a:r>
              <a:rPr sz="1200" spc="-27" dirty="0">
                <a:latin typeface="Roboto Lt"/>
                <a:cs typeface="Roboto Lt"/>
              </a:rPr>
              <a:t>rate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89333" y="1157283"/>
            <a:ext cx="2146300" cy="508847"/>
          </a:xfrm>
          <a:custGeom>
            <a:avLst/>
            <a:gdLst/>
            <a:ahLst/>
            <a:cxnLst/>
            <a:rect l="l" t="t" r="r" b="b"/>
            <a:pathLst>
              <a:path w="1609725" h="381634">
                <a:moveTo>
                  <a:pt x="1545648" y="381299"/>
                </a:moveTo>
                <a:lnTo>
                  <a:pt x="63551" y="381299"/>
                </a:lnTo>
                <a:lnTo>
                  <a:pt x="38814" y="376305"/>
                </a:lnTo>
                <a:lnTo>
                  <a:pt x="18613" y="362686"/>
                </a:lnTo>
                <a:lnTo>
                  <a:pt x="4994" y="342485"/>
                </a:lnTo>
                <a:lnTo>
                  <a:pt x="0" y="317748"/>
                </a:lnTo>
                <a:lnTo>
                  <a:pt x="0" y="63551"/>
                </a:lnTo>
                <a:lnTo>
                  <a:pt x="4994" y="38814"/>
                </a:lnTo>
                <a:lnTo>
                  <a:pt x="18613" y="18613"/>
                </a:lnTo>
                <a:lnTo>
                  <a:pt x="38814" y="4994"/>
                </a:lnTo>
                <a:lnTo>
                  <a:pt x="63551" y="0"/>
                </a:lnTo>
                <a:lnTo>
                  <a:pt x="1545648" y="0"/>
                </a:lnTo>
                <a:lnTo>
                  <a:pt x="1590586" y="18613"/>
                </a:lnTo>
                <a:lnTo>
                  <a:pt x="1609199" y="63551"/>
                </a:lnTo>
                <a:lnTo>
                  <a:pt x="1609199" y="317748"/>
                </a:lnTo>
                <a:lnTo>
                  <a:pt x="1604205" y="342485"/>
                </a:lnTo>
                <a:lnTo>
                  <a:pt x="1590586" y="362686"/>
                </a:lnTo>
                <a:lnTo>
                  <a:pt x="1570385" y="376305"/>
                </a:lnTo>
                <a:lnTo>
                  <a:pt x="1545648" y="381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" name="object 4"/>
          <p:cNvSpPr txBox="1"/>
          <p:nvPr/>
        </p:nvSpPr>
        <p:spPr>
          <a:xfrm>
            <a:off x="5659676" y="1245367"/>
            <a:ext cx="726134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27" dirty="0">
                <a:latin typeface="Roboto Lt"/>
                <a:cs typeface="Roboto Lt"/>
              </a:rPr>
              <a:t>GLUE</a:t>
            </a:r>
            <a:endParaRPr>
              <a:latin typeface="Roboto Lt"/>
              <a:cs typeface="Roboto 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89333" y="1792450"/>
            <a:ext cx="2146300" cy="508847"/>
          </a:xfrm>
          <a:custGeom>
            <a:avLst/>
            <a:gdLst/>
            <a:ahLst/>
            <a:cxnLst/>
            <a:rect l="l" t="t" r="r" b="b"/>
            <a:pathLst>
              <a:path w="1609725" h="381635">
                <a:moveTo>
                  <a:pt x="1545648" y="381299"/>
                </a:moveTo>
                <a:lnTo>
                  <a:pt x="63551" y="381299"/>
                </a:lnTo>
                <a:lnTo>
                  <a:pt x="38814" y="376305"/>
                </a:lnTo>
                <a:lnTo>
                  <a:pt x="18613" y="362686"/>
                </a:lnTo>
                <a:lnTo>
                  <a:pt x="4994" y="342485"/>
                </a:lnTo>
                <a:lnTo>
                  <a:pt x="0" y="317748"/>
                </a:lnTo>
                <a:lnTo>
                  <a:pt x="0" y="63551"/>
                </a:lnTo>
                <a:lnTo>
                  <a:pt x="4994" y="38814"/>
                </a:lnTo>
                <a:lnTo>
                  <a:pt x="18613" y="18613"/>
                </a:lnTo>
                <a:lnTo>
                  <a:pt x="38814" y="4994"/>
                </a:lnTo>
                <a:lnTo>
                  <a:pt x="63551" y="0"/>
                </a:lnTo>
                <a:lnTo>
                  <a:pt x="1545648" y="0"/>
                </a:lnTo>
                <a:lnTo>
                  <a:pt x="1590586" y="18613"/>
                </a:lnTo>
                <a:lnTo>
                  <a:pt x="1609199" y="63551"/>
                </a:lnTo>
                <a:lnTo>
                  <a:pt x="1609199" y="317748"/>
                </a:lnTo>
                <a:lnTo>
                  <a:pt x="1604205" y="342485"/>
                </a:lnTo>
                <a:lnTo>
                  <a:pt x="1590586" y="362686"/>
                </a:lnTo>
                <a:lnTo>
                  <a:pt x="1570385" y="376305"/>
                </a:lnTo>
                <a:lnTo>
                  <a:pt x="1545648" y="381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6" name="object 6"/>
          <p:cNvSpPr txBox="1"/>
          <p:nvPr/>
        </p:nvSpPr>
        <p:spPr>
          <a:xfrm>
            <a:off x="5472949" y="1880534"/>
            <a:ext cx="9787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>
                <a:latin typeface="Roboto Lt"/>
                <a:cs typeface="Roboto Lt"/>
              </a:rPr>
              <a:t>CNN/DM</a:t>
            </a:r>
            <a:endParaRPr>
              <a:latin typeface="Roboto Lt"/>
              <a:cs typeface="Roboto L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89333" y="2427617"/>
            <a:ext cx="2146300" cy="508847"/>
          </a:xfrm>
          <a:custGeom>
            <a:avLst/>
            <a:gdLst/>
            <a:ahLst/>
            <a:cxnLst/>
            <a:rect l="l" t="t" r="r" b="b"/>
            <a:pathLst>
              <a:path w="1609725" h="381635">
                <a:moveTo>
                  <a:pt x="1545648" y="381299"/>
                </a:moveTo>
                <a:lnTo>
                  <a:pt x="63551" y="381299"/>
                </a:lnTo>
                <a:lnTo>
                  <a:pt x="38814" y="376305"/>
                </a:lnTo>
                <a:lnTo>
                  <a:pt x="18613" y="362686"/>
                </a:lnTo>
                <a:lnTo>
                  <a:pt x="4994" y="342485"/>
                </a:lnTo>
                <a:lnTo>
                  <a:pt x="0" y="317748"/>
                </a:lnTo>
                <a:lnTo>
                  <a:pt x="0" y="63551"/>
                </a:lnTo>
                <a:lnTo>
                  <a:pt x="4994" y="38814"/>
                </a:lnTo>
                <a:lnTo>
                  <a:pt x="18613" y="18613"/>
                </a:lnTo>
                <a:lnTo>
                  <a:pt x="38814" y="4994"/>
                </a:lnTo>
                <a:lnTo>
                  <a:pt x="63551" y="0"/>
                </a:lnTo>
                <a:lnTo>
                  <a:pt x="1545648" y="0"/>
                </a:lnTo>
                <a:lnTo>
                  <a:pt x="1590586" y="18613"/>
                </a:lnTo>
                <a:lnTo>
                  <a:pt x="1609199" y="63551"/>
                </a:lnTo>
                <a:lnTo>
                  <a:pt x="1609199" y="317748"/>
                </a:lnTo>
                <a:lnTo>
                  <a:pt x="1604205" y="342485"/>
                </a:lnTo>
                <a:lnTo>
                  <a:pt x="1590586" y="362686"/>
                </a:lnTo>
                <a:lnTo>
                  <a:pt x="1570385" y="376305"/>
                </a:lnTo>
                <a:lnTo>
                  <a:pt x="1545648" y="381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5578229" y="2515701"/>
            <a:ext cx="922414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>
                <a:latin typeface="Roboto Lt"/>
                <a:cs typeface="Roboto Lt"/>
              </a:rPr>
              <a:t>SQuAD</a:t>
            </a:r>
            <a:endParaRPr>
              <a:latin typeface="Roboto Lt"/>
              <a:cs typeface="Roboto L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89333" y="3062783"/>
            <a:ext cx="2146300" cy="508847"/>
          </a:xfrm>
          <a:custGeom>
            <a:avLst/>
            <a:gdLst/>
            <a:ahLst/>
            <a:cxnLst/>
            <a:rect l="l" t="t" r="r" b="b"/>
            <a:pathLst>
              <a:path w="1609725" h="381635">
                <a:moveTo>
                  <a:pt x="1545648" y="381299"/>
                </a:moveTo>
                <a:lnTo>
                  <a:pt x="63551" y="381299"/>
                </a:lnTo>
                <a:lnTo>
                  <a:pt x="38814" y="376305"/>
                </a:lnTo>
                <a:lnTo>
                  <a:pt x="18613" y="362686"/>
                </a:lnTo>
                <a:lnTo>
                  <a:pt x="4994" y="342485"/>
                </a:lnTo>
                <a:lnTo>
                  <a:pt x="0" y="317748"/>
                </a:lnTo>
                <a:lnTo>
                  <a:pt x="0" y="63551"/>
                </a:lnTo>
                <a:lnTo>
                  <a:pt x="4994" y="38814"/>
                </a:lnTo>
                <a:lnTo>
                  <a:pt x="18613" y="18613"/>
                </a:lnTo>
                <a:lnTo>
                  <a:pt x="38814" y="4994"/>
                </a:lnTo>
                <a:lnTo>
                  <a:pt x="63551" y="0"/>
                </a:lnTo>
                <a:lnTo>
                  <a:pt x="1545648" y="0"/>
                </a:lnTo>
                <a:lnTo>
                  <a:pt x="1590586" y="18613"/>
                </a:lnTo>
                <a:lnTo>
                  <a:pt x="1609199" y="63551"/>
                </a:lnTo>
                <a:lnTo>
                  <a:pt x="1609199" y="317748"/>
                </a:lnTo>
                <a:lnTo>
                  <a:pt x="1604205" y="342485"/>
                </a:lnTo>
                <a:lnTo>
                  <a:pt x="1590586" y="362686"/>
                </a:lnTo>
                <a:lnTo>
                  <a:pt x="1570385" y="376305"/>
                </a:lnTo>
                <a:lnTo>
                  <a:pt x="1545648" y="381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5357722" y="3150867"/>
            <a:ext cx="1451249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>
                <a:latin typeface="Roboto Lt"/>
                <a:cs typeface="Roboto Lt"/>
              </a:rPr>
              <a:t>SuperGLUE</a:t>
            </a:r>
            <a:endParaRPr dirty="0">
              <a:latin typeface="Roboto Lt"/>
              <a:cs typeface="Roboto 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89333" y="3698350"/>
            <a:ext cx="2146300" cy="508847"/>
          </a:xfrm>
          <a:custGeom>
            <a:avLst/>
            <a:gdLst/>
            <a:ahLst/>
            <a:cxnLst/>
            <a:rect l="l" t="t" r="r" b="b"/>
            <a:pathLst>
              <a:path w="1609725" h="381635">
                <a:moveTo>
                  <a:pt x="1545648" y="381299"/>
                </a:moveTo>
                <a:lnTo>
                  <a:pt x="63551" y="381299"/>
                </a:lnTo>
                <a:lnTo>
                  <a:pt x="38814" y="376305"/>
                </a:lnTo>
                <a:lnTo>
                  <a:pt x="18613" y="362686"/>
                </a:lnTo>
                <a:lnTo>
                  <a:pt x="4994" y="342485"/>
                </a:lnTo>
                <a:lnTo>
                  <a:pt x="0" y="317748"/>
                </a:lnTo>
                <a:lnTo>
                  <a:pt x="0" y="63551"/>
                </a:lnTo>
                <a:lnTo>
                  <a:pt x="4994" y="38814"/>
                </a:lnTo>
                <a:lnTo>
                  <a:pt x="18613" y="18613"/>
                </a:lnTo>
                <a:lnTo>
                  <a:pt x="38814" y="4994"/>
                </a:lnTo>
                <a:lnTo>
                  <a:pt x="63551" y="0"/>
                </a:lnTo>
                <a:lnTo>
                  <a:pt x="1545648" y="0"/>
                </a:lnTo>
                <a:lnTo>
                  <a:pt x="1590586" y="18613"/>
                </a:lnTo>
                <a:lnTo>
                  <a:pt x="1609199" y="63551"/>
                </a:lnTo>
                <a:lnTo>
                  <a:pt x="1609199" y="317748"/>
                </a:lnTo>
                <a:lnTo>
                  <a:pt x="1604205" y="342485"/>
                </a:lnTo>
                <a:lnTo>
                  <a:pt x="1590586" y="362686"/>
                </a:lnTo>
                <a:lnTo>
                  <a:pt x="1570385" y="376305"/>
                </a:lnTo>
                <a:lnTo>
                  <a:pt x="1545648" y="381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5236073" y="3786434"/>
            <a:ext cx="1452880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WMT14</a:t>
            </a:r>
            <a:r>
              <a:rPr spc="-53" dirty="0">
                <a:latin typeface="Roboto Lt"/>
                <a:cs typeface="Roboto Lt"/>
              </a:rPr>
              <a:t> </a:t>
            </a:r>
            <a:r>
              <a:rPr spc="-27" dirty="0">
                <a:latin typeface="Roboto Lt"/>
                <a:cs typeface="Roboto Lt"/>
              </a:rPr>
              <a:t>EnDe</a:t>
            </a:r>
            <a:endParaRPr>
              <a:latin typeface="Roboto Lt"/>
              <a:cs typeface="Roboto 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9333" y="4333917"/>
            <a:ext cx="2146300" cy="508847"/>
          </a:xfrm>
          <a:custGeom>
            <a:avLst/>
            <a:gdLst/>
            <a:ahLst/>
            <a:cxnLst/>
            <a:rect l="l" t="t" r="r" b="b"/>
            <a:pathLst>
              <a:path w="1609725" h="381635">
                <a:moveTo>
                  <a:pt x="1545648" y="381299"/>
                </a:moveTo>
                <a:lnTo>
                  <a:pt x="63551" y="381299"/>
                </a:lnTo>
                <a:lnTo>
                  <a:pt x="38814" y="376305"/>
                </a:lnTo>
                <a:lnTo>
                  <a:pt x="18613" y="362686"/>
                </a:lnTo>
                <a:lnTo>
                  <a:pt x="4994" y="342485"/>
                </a:lnTo>
                <a:lnTo>
                  <a:pt x="0" y="317748"/>
                </a:lnTo>
                <a:lnTo>
                  <a:pt x="0" y="63551"/>
                </a:lnTo>
                <a:lnTo>
                  <a:pt x="4994" y="38814"/>
                </a:lnTo>
                <a:lnTo>
                  <a:pt x="18613" y="18613"/>
                </a:lnTo>
                <a:lnTo>
                  <a:pt x="38814" y="4994"/>
                </a:lnTo>
                <a:lnTo>
                  <a:pt x="63551" y="0"/>
                </a:lnTo>
                <a:lnTo>
                  <a:pt x="1545648" y="0"/>
                </a:lnTo>
                <a:lnTo>
                  <a:pt x="1590586" y="18613"/>
                </a:lnTo>
                <a:lnTo>
                  <a:pt x="1609199" y="63551"/>
                </a:lnTo>
                <a:lnTo>
                  <a:pt x="1609199" y="317748"/>
                </a:lnTo>
                <a:lnTo>
                  <a:pt x="1604205" y="342485"/>
                </a:lnTo>
                <a:lnTo>
                  <a:pt x="1590586" y="362686"/>
                </a:lnTo>
                <a:lnTo>
                  <a:pt x="1570385" y="376305"/>
                </a:lnTo>
                <a:lnTo>
                  <a:pt x="1545648" y="381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5269856" y="4422001"/>
            <a:ext cx="1385147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WMT15</a:t>
            </a:r>
            <a:r>
              <a:rPr spc="-67" dirty="0">
                <a:latin typeface="Roboto Lt"/>
                <a:cs typeface="Roboto Lt"/>
              </a:rPr>
              <a:t> </a:t>
            </a:r>
            <a:r>
              <a:rPr spc="-27" dirty="0">
                <a:latin typeface="Roboto Lt"/>
                <a:cs typeface="Roboto Lt"/>
              </a:rPr>
              <a:t>EnFr</a:t>
            </a:r>
            <a:endParaRPr>
              <a:latin typeface="Roboto Lt"/>
              <a:cs typeface="Roboto L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89333" y="4969483"/>
            <a:ext cx="2146300" cy="508847"/>
          </a:xfrm>
          <a:custGeom>
            <a:avLst/>
            <a:gdLst/>
            <a:ahLst/>
            <a:cxnLst/>
            <a:rect l="l" t="t" r="r" b="b"/>
            <a:pathLst>
              <a:path w="1609725" h="381635">
                <a:moveTo>
                  <a:pt x="1545648" y="381299"/>
                </a:moveTo>
                <a:lnTo>
                  <a:pt x="63551" y="381299"/>
                </a:lnTo>
                <a:lnTo>
                  <a:pt x="38814" y="376305"/>
                </a:lnTo>
                <a:lnTo>
                  <a:pt x="18613" y="362686"/>
                </a:lnTo>
                <a:lnTo>
                  <a:pt x="4994" y="342485"/>
                </a:lnTo>
                <a:lnTo>
                  <a:pt x="0" y="317748"/>
                </a:lnTo>
                <a:lnTo>
                  <a:pt x="0" y="63551"/>
                </a:lnTo>
                <a:lnTo>
                  <a:pt x="4994" y="38814"/>
                </a:lnTo>
                <a:lnTo>
                  <a:pt x="18613" y="18613"/>
                </a:lnTo>
                <a:lnTo>
                  <a:pt x="38814" y="4994"/>
                </a:lnTo>
                <a:lnTo>
                  <a:pt x="63551" y="0"/>
                </a:lnTo>
                <a:lnTo>
                  <a:pt x="1545648" y="0"/>
                </a:lnTo>
                <a:lnTo>
                  <a:pt x="1590586" y="18613"/>
                </a:lnTo>
                <a:lnTo>
                  <a:pt x="1609199" y="63551"/>
                </a:lnTo>
                <a:lnTo>
                  <a:pt x="1609199" y="317748"/>
                </a:lnTo>
                <a:lnTo>
                  <a:pt x="1604205" y="342485"/>
                </a:lnTo>
                <a:lnTo>
                  <a:pt x="1590586" y="362686"/>
                </a:lnTo>
                <a:lnTo>
                  <a:pt x="1570385" y="376305"/>
                </a:lnTo>
                <a:lnTo>
                  <a:pt x="1545648" y="3812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6" name="object 16"/>
          <p:cNvSpPr txBox="1"/>
          <p:nvPr/>
        </p:nvSpPr>
        <p:spPr>
          <a:xfrm>
            <a:off x="5233298" y="5057567"/>
            <a:ext cx="1458807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WMT16</a:t>
            </a:r>
            <a:r>
              <a:rPr spc="-53" dirty="0">
                <a:latin typeface="Roboto Lt"/>
                <a:cs typeface="Roboto Lt"/>
              </a:rPr>
              <a:t> </a:t>
            </a:r>
            <a:r>
              <a:rPr spc="-27" dirty="0">
                <a:latin typeface="Roboto Lt"/>
                <a:cs typeface="Roboto Lt"/>
              </a:rPr>
              <a:t>EnRo</a:t>
            </a:r>
            <a:endParaRPr>
              <a:latin typeface="Roboto Lt"/>
              <a:cs typeface="Roboto L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29933" y="4821809"/>
            <a:ext cx="215646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45048">
              <a:spcBef>
                <a:spcPts val="133"/>
              </a:spcBef>
            </a:pPr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19</a:t>
            </a:r>
            <a:r>
              <a:rPr sz="1200" spc="160" baseline="29914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steps</a:t>
            </a:r>
            <a:endParaRPr sz="1200">
              <a:latin typeface="Roboto Lt"/>
              <a:cs typeface="Roboto Lt"/>
            </a:endParaRPr>
          </a:p>
          <a:p>
            <a:pPr marL="50799" marR="40639" indent="309026"/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35</a:t>
            </a:r>
            <a:r>
              <a:rPr sz="1200" spc="629" baseline="29914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or</a:t>
            </a:r>
            <a:r>
              <a:rPr sz="1200" spc="-1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~34B</a:t>
            </a:r>
            <a:r>
              <a:rPr sz="1200" spc="-2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tokens Inverse</a:t>
            </a:r>
            <a:r>
              <a:rPr sz="1200" spc="-4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square</a:t>
            </a:r>
            <a:r>
              <a:rPr sz="1200" spc="-3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root</a:t>
            </a:r>
            <a:r>
              <a:rPr sz="1200" spc="-33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learning</a:t>
            </a:r>
            <a:endParaRPr sz="1200">
              <a:latin typeface="Roboto Lt"/>
              <a:cs typeface="Roboto Lt"/>
            </a:endParaRPr>
          </a:p>
          <a:p>
            <a:pPr marL="581645"/>
            <a:r>
              <a:rPr sz="1200" dirty="0">
                <a:latin typeface="Roboto Lt"/>
                <a:cs typeface="Roboto Lt"/>
              </a:rPr>
              <a:t>rate</a:t>
            </a:r>
            <a:r>
              <a:rPr sz="1200" spc="-73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schedule</a:t>
            </a:r>
            <a:endParaRPr sz="1200">
              <a:latin typeface="Roboto Lt"/>
              <a:cs typeface="Roboto L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60133" y="1387863"/>
            <a:ext cx="3717713" cy="3854027"/>
            <a:chOff x="870099" y="1040897"/>
            <a:chExt cx="2788285" cy="2890520"/>
          </a:xfrm>
        </p:grpSpPr>
        <p:sp>
          <p:nvSpPr>
            <p:cNvPr id="19" name="object 19"/>
            <p:cNvSpPr/>
            <p:nvPr/>
          </p:nvSpPr>
          <p:spPr>
            <a:xfrm>
              <a:off x="2536300" y="1061372"/>
              <a:ext cx="1073785" cy="814705"/>
            </a:xfrm>
            <a:custGeom>
              <a:avLst/>
              <a:gdLst/>
              <a:ahLst/>
              <a:cxnLst/>
              <a:rect l="l" t="t" r="r" b="b"/>
              <a:pathLst>
                <a:path w="1073785" h="814705">
                  <a:moveTo>
                    <a:pt x="0" y="814589"/>
                  </a:moveTo>
                  <a:lnTo>
                    <a:pt x="54692" y="811925"/>
                  </a:lnTo>
                  <a:lnTo>
                    <a:pt x="105867" y="804174"/>
                  </a:lnTo>
                  <a:lnTo>
                    <a:pt x="153775" y="791699"/>
                  </a:lnTo>
                  <a:lnTo>
                    <a:pt x="198668" y="774865"/>
                  </a:lnTo>
                  <a:lnTo>
                    <a:pt x="240797" y="754034"/>
                  </a:lnTo>
                  <a:lnTo>
                    <a:pt x="280413" y="729569"/>
                  </a:lnTo>
                  <a:lnTo>
                    <a:pt x="317768" y="701835"/>
                  </a:lnTo>
                  <a:lnTo>
                    <a:pt x="353113" y="671194"/>
                  </a:lnTo>
                  <a:lnTo>
                    <a:pt x="386699" y="638009"/>
                  </a:lnTo>
                  <a:lnTo>
                    <a:pt x="418777" y="602645"/>
                  </a:lnTo>
                  <a:lnTo>
                    <a:pt x="449599" y="565464"/>
                  </a:lnTo>
                  <a:lnTo>
                    <a:pt x="479416" y="526829"/>
                  </a:lnTo>
                  <a:lnTo>
                    <a:pt x="508479" y="487105"/>
                  </a:lnTo>
                  <a:lnTo>
                    <a:pt x="537040" y="446654"/>
                  </a:lnTo>
                  <a:lnTo>
                    <a:pt x="565349" y="405839"/>
                  </a:lnTo>
                  <a:lnTo>
                    <a:pt x="595688" y="362119"/>
                  </a:lnTo>
                  <a:lnTo>
                    <a:pt x="626335" y="318846"/>
                  </a:lnTo>
                  <a:lnTo>
                    <a:pt x="657600" y="276466"/>
                  </a:lnTo>
                  <a:lnTo>
                    <a:pt x="689792" y="235428"/>
                  </a:lnTo>
                  <a:lnTo>
                    <a:pt x="723221" y="196176"/>
                  </a:lnTo>
                  <a:lnTo>
                    <a:pt x="758195" y="159159"/>
                  </a:lnTo>
                  <a:lnTo>
                    <a:pt x="795023" y="124824"/>
                  </a:lnTo>
                  <a:lnTo>
                    <a:pt x="829012" y="97331"/>
                  </a:lnTo>
                  <a:lnTo>
                    <a:pt x="864864" y="72532"/>
                  </a:lnTo>
                  <a:lnTo>
                    <a:pt x="902786" y="50728"/>
                  </a:lnTo>
                  <a:lnTo>
                    <a:pt x="942985" y="32216"/>
                  </a:lnTo>
                  <a:lnTo>
                    <a:pt x="985670" y="17297"/>
                  </a:lnTo>
                  <a:lnTo>
                    <a:pt x="1031045" y="6270"/>
                  </a:lnTo>
                  <a:lnTo>
                    <a:pt x="1066968" y="734"/>
                  </a:lnTo>
                  <a:lnTo>
                    <a:pt x="1069011" y="494"/>
                  </a:lnTo>
                  <a:lnTo>
                    <a:pt x="1071061" y="266"/>
                  </a:lnTo>
                  <a:lnTo>
                    <a:pt x="1073120" y="49"/>
                  </a:lnTo>
                  <a:lnTo>
                    <a:pt x="1073624" y="0"/>
                  </a:lnTo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9122" y="1045660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602" y="31424"/>
                  </a:moveTo>
                  <a:lnTo>
                    <a:pt x="0" y="0"/>
                  </a:lnTo>
                  <a:lnTo>
                    <a:pt x="43970" y="13511"/>
                  </a:lnTo>
                  <a:lnTo>
                    <a:pt x="1602" y="31424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609122" y="1045660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602" y="31424"/>
                  </a:moveTo>
                  <a:lnTo>
                    <a:pt x="43970" y="13511"/>
                  </a:lnTo>
                  <a:lnTo>
                    <a:pt x="0" y="0"/>
                  </a:lnTo>
                  <a:lnTo>
                    <a:pt x="1602" y="31424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36300" y="1536093"/>
              <a:ext cx="1073785" cy="340360"/>
            </a:xfrm>
            <a:custGeom>
              <a:avLst/>
              <a:gdLst/>
              <a:ahLst/>
              <a:cxnLst/>
              <a:rect l="l" t="t" r="r" b="b"/>
              <a:pathLst>
                <a:path w="1073785" h="340360">
                  <a:moveTo>
                    <a:pt x="0" y="339868"/>
                  </a:moveTo>
                  <a:lnTo>
                    <a:pt x="67806" y="338141"/>
                  </a:lnTo>
                  <a:lnTo>
                    <a:pt x="130213" y="333157"/>
                  </a:lnTo>
                  <a:lnTo>
                    <a:pt x="187713" y="325212"/>
                  </a:lnTo>
                  <a:lnTo>
                    <a:pt x="240797" y="314602"/>
                  </a:lnTo>
                  <a:lnTo>
                    <a:pt x="289954" y="301623"/>
                  </a:lnTo>
                  <a:lnTo>
                    <a:pt x="335676" y="286571"/>
                  </a:lnTo>
                  <a:lnTo>
                    <a:pt x="378454" y="269743"/>
                  </a:lnTo>
                  <a:lnTo>
                    <a:pt x="418777" y="251435"/>
                  </a:lnTo>
                  <a:lnTo>
                    <a:pt x="457138" y="231942"/>
                  </a:lnTo>
                  <a:lnTo>
                    <a:pt x="494026" y="211561"/>
                  </a:lnTo>
                  <a:lnTo>
                    <a:pt x="529933" y="190588"/>
                  </a:lnTo>
                  <a:lnTo>
                    <a:pt x="565349" y="169318"/>
                  </a:lnTo>
                  <a:lnTo>
                    <a:pt x="607892" y="143821"/>
                  </a:lnTo>
                  <a:lnTo>
                    <a:pt x="651283" y="118835"/>
                  </a:lnTo>
                  <a:lnTo>
                    <a:pt x="696369" y="94873"/>
                  </a:lnTo>
                  <a:lnTo>
                    <a:pt x="744000" y="72446"/>
                  </a:lnTo>
                  <a:lnTo>
                    <a:pt x="795023" y="52065"/>
                  </a:lnTo>
                  <a:lnTo>
                    <a:pt x="864864" y="30247"/>
                  </a:lnTo>
                  <a:lnTo>
                    <a:pt x="902786" y="21149"/>
                  </a:lnTo>
                  <a:lnTo>
                    <a:pt x="942985" y="13425"/>
                  </a:lnTo>
                  <a:lnTo>
                    <a:pt x="985670" y="7200"/>
                  </a:lnTo>
                  <a:lnTo>
                    <a:pt x="1031045" y="2599"/>
                  </a:lnTo>
                  <a:lnTo>
                    <a:pt x="1054807" y="946"/>
                  </a:lnTo>
                  <a:lnTo>
                    <a:pt x="1058829" y="708"/>
                  </a:lnTo>
                  <a:lnTo>
                    <a:pt x="1062883" y="489"/>
                  </a:lnTo>
                  <a:lnTo>
                    <a:pt x="1066968" y="289"/>
                  </a:lnTo>
                  <a:lnTo>
                    <a:pt x="1073563" y="0"/>
                  </a:lnTo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609524" y="15203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678" y="31458"/>
                  </a:moveTo>
                  <a:lnTo>
                    <a:pt x="0" y="0"/>
                  </a:lnTo>
                  <a:lnTo>
                    <a:pt x="43554" y="14797"/>
                  </a:lnTo>
                  <a:lnTo>
                    <a:pt x="678" y="31458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609524" y="15203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678" y="31458"/>
                  </a:moveTo>
                  <a:lnTo>
                    <a:pt x="43554" y="14797"/>
                  </a:lnTo>
                  <a:lnTo>
                    <a:pt x="0" y="0"/>
                  </a:lnTo>
                  <a:lnTo>
                    <a:pt x="678" y="31458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2536300" y="1875962"/>
              <a:ext cx="1073785" cy="135255"/>
            </a:xfrm>
            <a:custGeom>
              <a:avLst/>
              <a:gdLst/>
              <a:ahLst/>
              <a:cxnLst/>
              <a:rect l="l" t="t" r="r" b="b"/>
              <a:pathLst>
                <a:path w="1073785" h="135255">
                  <a:moveTo>
                    <a:pt x="0" y="0"/>
                  </a:moveTo>
                  <a:lnTo>
                    <a:pt x="73695" y="813"/>
                  </a:lnTo>
                  <a:lnTo>
                    <a:pt x="141018" y="3151"/>
                  </a:lnTo>
                  <a:lnTo>
                    <a:pt x="202608" y="6861"/>
                  </a:lnTo>
                  <a:lnTo>
                    <a:pt x="259101" y="11791"/>
                  </a:lnTo>
                  <a:lnTo>
                    <a:pt x="311133" y="17789"/>
                  </a:lnTo>
                  <a:lnTo>
                    <a:pt x="359343" y="24701"/>
                  </a:lnTo>
                  <a:lnTo>
                    <a:pt x="404367" y="32376"/>
                  </a:lnTo>
                  <a:lnTo>
                    <a:pt x="446843" y="40661"/>
                  </a:lnTo>
                  <a:lnTo>
                    <a:pt x="487407" y="49403"/>
                  </a:lnTo>
                  <a:lnTo>
                    <a:pt x="526697" y="58450"/>
                  </a:lnTo>
                  <a:lnTo>
                    <a:pt x="565349" y="67649"/>
                  </a:lnTo>
                  <a:lnTo>
                    <a:pt x="607892" y="77763"/>
                  </a:lnTo>
                  <a:lnTo>
                    <a:pt x="651283" y="87674"/>
                  </a:lnTo>
                  <a:lnTo>
                    <a:pt x="696369" y="97179"/>
                  </a:lnTo>
                  <a:lnTo>
                    <a:pt x="744000" y="106075"/>
                  </a:lnTo>
                  <a:lnTo>
                    <a:pt x="795023" y="114159"/>
                  </a:lnTo>
                  <a:lnTo>
                    <a:pt x="864864" y="122813"/>
                  </a:lnTo>
                  <a:lnTo>
                    <a:pt x="942985" y="129486"/>
                  </a:lnTo>
                  <a:lnTo>
                    <a:pt x="985670" y="131955"/>
                  </a:lnTo>
                  <a:lnTo>
                    <a:pt x="1031045" y="133780"/>
                  </a:lnTo>
                  <a:lnTo>
                    <a:pt x="1066968" y="134696"/>
                  </a:lnTo>
                  <a:lnTo>
                    <a:pt x="1073551" y="134811"/>
                  </a:lnTo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609717" y="19950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69" y="0"/>
                  </a:lnTo>
                  <a:lnTo>
                    <a:pt x="43358" y="16101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609717" y="19950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58" y="16101"/>
                  </a:lnTo>
                  <a:lnTo>
                    <a:pt x="26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36300" y="1875962"/>
              <a:ext cx="1073785" cy="609600"/>
            </a:xfrm>
            <a:custGeom>
              <a:avLst/>
              <a:gdLst/>
              <a:ahLst/>
              <a:cxnLst/>
              <a:rect l="l" t="t" r="r" b="b"/>
              <a:pathLst>
                <a:path w="1073785" h="609600">
                  <a:moveTo>
                    <a:pt x="0" y="0"/>
                  </a:moveTo>
                  <a:lnTo>
                    <a:pt x="58461" y="2284"/>
                  </a:lnTo>
                  <a:lnTo>
                    <a:pt x="112905" y="8916"/>
                  </a:lnTo>
                  <a:lnTo>
                    <a:pt x="163640" y="19561"/>
                  </a:lnTo>
                  <a:lnTo>
                    <a:pt x="210976" y="33884"/>
                  </a:lnTo>
                  <a:lnTo>
                    <a:pt x="255221" y="51550"/>
                  </a:lnTo>
                  <a:lnTo>
                    <a:pt x="296685" y="72226"/>
                  </a:lnTo>
                  <a:lnTo>
                    <a:pt x="335676" y="95578"/>
                  </a:lnTo>
                  <a:lnTo>
                    <a:pt x="372504" y="121269"/>
                  </a:lnTo>
                  <a:lnTo>
                    <a:pt x="407478" y="148968"/>
                  </a:lnTo>
                  <a:lnTo>
                    <a:pt x="440907" y="178338"/>
                  </a:lnTo>
                  <a:lnTo>
                    <a:pt x="473099" y="209045"/>
                  </a:lnTo>
                  <a:lnTo>
                    <a:pt x="504364" y="240756"/>
                  </a:lnTo>
                  <a:lnTo>
                    <a:pt x="535011" y="273136"/>
                  </a:lnTo>
                  <a:lnTo>
                    <a:pt x="565349" y="305849"/>
                  </a:lnTo>
                  <a:lnTo>
                    <a:pt x="600766" y="343992"/>
                  </a:lnTo>
                  <a:lnTo>
                    <a:pt x="636673" y="381604"/>
                  </a:lnTo>
                  <a:lnTo>
                    <a:pt x="673561" y="418154"/>
                  </a:lnTo>
                  <a:lnTo>
                    <a:pt x="711922" y="453111"/>
                  </a:lnTo>
                  <a:lnTo>
                    <a:pt x="752245" y="485943"/>
                  </a:lnTo>
                  <a:lnTo>
                    <a:pt x="795023" y="516121"/>
                  </a:lnTo>
                  <a:lnTo>
                    <a:pt x="829012" y="536693"/>
                  </a:lnTo>
                  <a:lnTo>
                    <a:pt x="864864" y="555249"/>
                  </a:lnTo>
                  <a:lnTo>
                    <a:pt x="902786" y="571564"/>
                  </a:lnTo>
                  <a:lnTo>
                    <a:pt x="942985" y="585415"/>
                  </a:lnTo>
                  <a:lnTo>
                    <a:pt x="985670" y="596579"/>
                  </a:lnTo>
                  <a:lnTo>
                    <a:pt x="1031045" y="604830"/>
                  </a:lnTo>
                  <a:lnTo>
                    <a:pt x="1054807" y="607793"/>
                  </a:lnTo>
                  <a:lnTo>
                    <a:pt x="1058829" y="608220"/>
                  </a:lnTo>
                  <a:lnTo>
                    <a:pt x="1073120" y="609484"/>
                  </a:lnTo>
                  <a:lnTo>
                    <a:pt x="1073591" y="609520"/>
                  </a:lnTo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609291" y="246976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2"/>
                  </a:moveTo>
                  <a:lnTo>
                    <a:pt x="1200" y="0"/>
                  </a:lnTo>
                  <a:lnTo>
                    <a:pt x="43793" y="17370"/>
                  </a:lnTo>
                  <a:lnTo>
                    <a:pt x="0" y="31442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3609291" y="246976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2"/>
                  </a:moveTo>
                  <a:lnTo>
                    <a:pt x="43793" y="17370"/>
                  </a:lnTo>
                  <a:lnTo>
                    <a:pt x="1200" y="0"/>
                  </a:lnTo>
                  <a:lnTo>
                    <a:pt x="0" y="31442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2536300" y="1875962"/>
              <a:ext cx="1073785" cy="1084580"/>
            </a:xfrm>
            <a:custGeom>
              <a:avLst/>
              <a:gdLst/>
              <a:ahLst/>
              <a:cxnLst/>
              <a:rect l="l" t="t" r="r" b="b"/>
              <a:pathLst>
                <a:path w="1073785" h="1084580">
                  <a:moveTo>
                    <a:pt x="0" y="0"/>
                  </a:moveTo>
                  <a:lnTo>
                    <a:pt x="45828" y="2472"/>
                  </a:lnTo>
                  <a:lnTo>
                    <a:pt x="89184" y="9704"/>
                  </a:lnTo>
                  <a:lnTo>
                    <a:pt x="130213" y="21415"/>
                  </a:lnTo>
                  <a:lnTo>
                    <a:pt x="169062" y="37325"/>
                  </a:lnTo>
                  <a:lnTo>
                    <a:pt x="205874" y="57154"/>
                  </a:lnTo>
                  <a:lnTo>
                    <a:pt x="240797" y="80622"/>
                  </a:lnTo>
                  <a:lnTo>
                    <a:pt x="273974" y="107449"/>
                  </a:lnTo>
                  <a:lnTo>
                    <a:pt x="305552" y="137356"/>
                  </a:lnTo>
                  <a:lnTo>
                    <a:pt x="335676" y="170062"/>
                  </a:lnTo>
                  <a:lnTo>
                    <a:pt x="364491" y="205288"/>
                  </a:lnTo>
                  <a:lnTo>
                    <a:pt x="392143" y="242753"/>
                  </a:lnTo>
                  <a:lnTo>
                    <a:pt x="418777" y="282177"/>
                  </a:lnTo>
                  <a:lnTo>
                    <a:pt x="444539" y="323282"/>
                  </a:lnTo>
                  <a:lnTo>
                    <a:pt x="469573" y="365786"/>
                  </a:lnTo>
                  <a:lnTo>
                    <a:pt x="494026" y="409409"/>
                  </a:lnTo>
                  <a:lnTo>
                    <a:pt x="518043" y="453873"/>
                  </a:lnTo>
                  <a:lnTo>
                    <a:pt x="541769" y="498896"/>
                  </a:lnTo>
                  <a:lnTo>
                    <a:pt x="565349" y="544199"/>
                  </a:lnTo>
                  <a:lnTo>
                    <a:pt x="588930" y="589503"/>
                  </a:lnTo>
                  <a:lnTo>
                    <a:pt x="612656" y="634526"/>
                  </a:lnTo>
                  <a:lnTo>
                    <a:pt x="636673" y="678990"/>
                  </a:lnTo>
                  <a:lnTo>
                    <a:pt x="661126" y="722613"/>
                  </a:lnTo>
                  <a:lnTo>
                    <a:pt x="686160" y="765117"/>
                  </a:lnTo>
                  <a:lnTo>
                    <a:pt x="711922" y="806222"/>
                  </a:lnTo>
                  <a:lnTo>
                    <a:pt x="738556" y="845646"/>
                  </a:lnTo>
                  <a:lnTo>
                    <a:pt x="766208" y="883111"/>
                  </a:lnTo>
                  <a:lnTo>
                    <a:pt x="795023" y="918337"/>
                  </a:lnTo>
                  <a:lnTo>
                    <a:pt x="829012" y="954940"/>
                  </a:lnTo>
                  <a:lnTo>
                    <a:pt x="864864" y="987956"/>
                  </a:lnTo>
                  <a:lnTo>
                    <a:pt x="902786" y="1016987"/>
                  </a:lnTo>
                  <a:lnTo>
                    <a:pt x="942985" y="1041632"/>
                  </a:lnTo>
                  <a:lnTo>
                    <a:pt x="985670" y="1061495"/>
                  </a:lnTo>
                  <a:lnTo>
                    <a:pt x="1031045" y="1076176"/>
                  </a:lnTo>
                  <a:lnTo>
                    <a:pt x="1054807" y="1081449"/>
                  </a:lnTo>
                  <a:lnTo>
                    <a:pt x="1058829" y="1082209"/>
                  </a:lnTo>
                  <a:lnTo>
                    <a:pt x="1073120" y="1084458"/>
                  </a:lnTo>
                  <a:lnTo>
                    <a:pt x="1073680" y="1084532"/>
                  </a:lnTo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3608916" y="2944798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3"/>
                  </a:moveTo>
                  <a:lnTo>
                    <a:pt x="2129" y="0"/>
                  </a:lnTo>
                  <a:lnTo>
                    <a:pt x="44190" y="18621"/>
                  </a:lnTo>
                  <a:lnTo>
                    <a:pt x="0" y="31393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3608916" y="2944798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3"/>
                  </a:moveTo>
                  <a:lnTo>
                    <a:pt x="44190" y="18621"/>
                  </a:lnTo>
                  <a:lnTo>
                    <a:pt x="2129" y="0"/>
                  </a:lnTo>
                  <a:lnTo>
                    <a:pt x="0" y="31393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2536300" y="1875962"/>
              <a:ext cx="1074420" cy="1559560"/>
            </a:xfrm>
            <a:custGeom>
              <a:avLst/>
              <a:gdLst/>
              <a:ahLst/>
              <a:cxnLst/>
              <a:rect l="l" t="t" r="r" b="b"/>
              <a:pathLst>
                <a:path w="1074420" h="1559560">
                  <a:moveTo>
                    <a:pt x="0" y="0"/>
                  </a:moveTo>
                  <a:lnTo>
                    <a:pt x="73695" y="9407"/>
                  </a:lnTo>
                  <a:lnTo>
                    <a:pt x="141018" y="36452"/>
                  </a:lnTo>
                  <a:lnTo>
                    <a:pt x="202608" y="79372"/>
                  </a:lnTo>
                  <a:lnTo>
                    <a:pt x="231452" y="106233"/>
                  </a:lnTo>
                  <a:lnTo>
                    <a:pt x="259101" y="136402"/>
                  </a:lnTo>
                  <a:lnTo>
                    <a:pt x="285635" y="169657"/>
                  </a:lnTo>
                  <a:lnTo>
                    <a:pt x="311133" y="205779"/>
                  </a:lnTo>
                  <a:lnTo>
                    <a:pt x="335676" y="244546"/>
                  </a:lnTo>
                  <a:lnTo>
                    <a:pt x="359343" y="285739"/>
                  </a:lnTo>
                  <a:lnTo>
                    <a:pt x="382213" y="329136"/>
                  </a:lnTo>
                  <a:lnTo>
                    <a:pt x="404367" y="374518"/>
                  </a:lnTo>
                  <a:lnTo>
                    <a:pt x="425884" y="421664"/>
                  </a:lnTo>
                  <a:lnTo>
                    <a:pt x="446843" y="470353"/>
                  </a:lnTo>
                  <a:lnTo>
                    <a:pt x="467324" y="520364"/>
                  </a:lnTo>
                  <a:lnTo>
                    <a:pt x="487407" y="571479"/>
                  </a:lnTo>
                  <a:lnTo>
                    <a:pt x="507171" y="623475"/>
                  </a:lnTo>
                  <a:lnTo>
                    <a:pt x="526697" y="676132"/>
                  </a:lnTo>
                  <a:lnTo>
                    <a:pt x="546063" y="729231"/>
                  </a:lnTo>
                  <a:lnTo>
                    <a:pt x="565349" y="782549"/>
                  </a:lnTo>
                  <a:lnTo>
                    <a:pt x="583027" y="831431"/>
                  </a:lnTo>
                  <a:lnTo>
                    <a:pt x="600766" y="880142"/>
                  </a:lnTo>
                  <a:lnTo>
                    <a:pt x="618627" y="928513"/>
                  </a:lnTo>
                  <a:lnTo>
                    <a:pt x="636673" y="976376"/>
                  </a:lnTo>
                  <a:lnTo>
                    <a:pt x="654963" y="1023558"/>
                  </a:lnTo>
                  <a:lnTo>
                    <a:pt x="673561" y="1069892"/>
                  </a:lnTo>
                  <a:lnTo>
                    <a:pt x="692527" y="1115207"/>
                  </a:lnTo>
                  <a:lnTo>
                    <a:pt x="711922" y="1159333"/>
                  </a:lnTo>
                  <a:lnTo>
                    <a:pt x="731808" y="1202100"/>
                  </a:lnTo>
                  <a:lnTo>
                    <a:pt x="752245" y="1243339"/>
                  </a:lnTo>
                  <a:lnTo>
                    <a:pt x="773297" y="1282880"/>
                  </a:lnTo>
                  <a:lnTo>
                    <a:pt x="795023" y="1320553"/>
                  </a:lnTo>
                  <a:lnTo>
                    <a:pt x="822071" y="1363055"/>
                  </a:lnTo>
                  <a:lnTo>
                    <a:pt x="850286" y="1402329"/>
                  </a:lnTo>
                  <a:lnTo>
                    <a:pt x="879772" y="1438082"/>
                  </a:lnTo>
                  <a:lnTo>
                    <a:pt x="910637" y="1470020"/>
                  </a:lnTo>
                  <a:lnTo>
                    <a:pt x="942985" y="1497849"/>
                  </a:lnTo>
                  <a:lnTo>
                    <a:pt x="985670" y="1526411"/>
                  </a:lnTo>
                  <a:lnTo>
                    <a:pt x="1031045" y="1547522"/>
                  </a:lnTo>
                  <a:lnTo>
                    <a:pt x="1066968" y="1558122"/>
                  </a:lnTo>
                  <a:lnTo>
                    <a:pt x="1069011" y="1558581"/>
                  </a:lnTo>
                  <a:lnTo>
                    <a:pt x="1071061" y="1559017"/>
                  </a:lnTo>
                  <a:lnTo>
                    <a:pt x="1073120" y="1559432"/>
                  </a:lnTo>
                  <a:lnTo>
                    <a:pt x="1073818" y="1559565"/>
                  </a:lnTo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3608595" y="3419869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317"/>
                  </a:moveTo>
                  <a:lnTo>
                    <a:pt x="3047" y="0"/>
                  </a:lnTo>
                  <a:lnTo>
                    <a:pt x="44545" y="19844"/>
                  </a:lnTo>
                  <a:lnTo>
                    <a:pt x="0" y="31317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3608595" y="3419869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317"/>
                  </a:moveTo>
                  <a:lnTo>
                    <a:pt x="44545" y="19844"/>
                  </a:lnTo>
                  <a:lnTo>
                    <a:pt x="3047" y="0"/>
                  </a:lnTo>
                  <a:lnTo>
                    <a:pt x="0" y="31317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2536300" y="1875962"/>
              <a:ext cx="1074420" cy="2035175"/>
            </a:xfrm>
            <a:custGeom>
              <a:avLst/>
              <a:gdLst/>
              <a:ahLst/>
              <a:cxnLst/>
              <a:rect l="l" t="t" r="r" b="b"/>
              <a:pathLst>
                <a:path w="1074420" h="2035175">
                  <a:moveTo>
                    <a:pt x="0" y="0"/>
                  </a:moveTo>
                  <a:lnTo>
                    <a:pt x="62788" y="8828"/>
                  </a:lnTo>
                  <a:lnTo>
                    <a:pt x="120944" y="34386"/>
                  </a:lnTo>
                  <a:lnTo>
                    <a:pt x="174854" y="75278"/>
                  </a:lnTo>
                  <a:lnTo>
                    <a:pt x="224904" y="130110"/>
                  </a:lnTo>
                  <a:lnTo>
                    <a:pt x="248603" y="162318"/>
                  </a:lnTo>
                  <a:lnTo>
                    <a:pt x="271481" y="197488"/>
                  </a:lnTo>
                  <a:lnTo>
                    <a:pt x="293587" y="235447"/>
                  </a:lnTo>
                  <a:lnTo>
                    <a:pt x="314969" y="276019"/>
                  </a:lnTo>
                  <a:lnTo>
                    <a:pt x="335676" y="319031"/>
                  </a:lnTo>
                  <a:lnTo>
                    <a:pt x="355756" y="364308"/>
                  </a:lnTo>
                  <a:lnTo>
                    <a:pt x="375256" y="411676"/>
                  </a:lnTo>
                  <a:lnTo>
                    <a:pt x="394226" y="460961"/>
                  </a:lnTo>
                  <a:lnTo>
                    <a:pt x="412714" y="511989"/>
                  </a:lnTo>
                  <a:lnTo>
                    <a:pt x="430767" y="564585"/>
                  </a:lnTo>
                  <a:lnTo>
                    <a:pt x="448434" y="618575"/>
                  </a:lnTo>
                  <a:lnTo>
                    <a:pt x="465763" y="673784"/>
                  </a:lnTo>
                  <a:lnTo>
                    <a:pt x="482803" y="730039"/>
                  </a:lnTo>
                  <a:lnTo>
                    <a:pt x="499602" y="787166"/>
                  </a:lnTo>
                  <a:lnTo>
                    <a:pt x="516208" y="844989"/>
                  </a:lnTo>
                  <a:lnTo>
                    <a:pt x="532669" y="903336"/>
                  </a:lnTo>
                  <a:lnTo>
                    <a:pt x="549033" y="962030"/>
                  </a:lnTo>
                  <a:lnTo>
                    <a:pt x="565349" y="1020899"/>
                  </a:lnTo>
                  <a:lnTo>
                    <a:pt x="579488" y="1071926"/>
                  </a:lnTo>
                  <a:lnTo>
                    <a:pt x="593659" y="1122838"/>
                  </a:lnTo>
                  <a:lnTo>
                    <a:pt x="607892" y="1173524"/>
                  </a:lnTo>
                  <a:lnTo>
                    <a:pt x="622220" y="1223870"/>
                  </a:lnTo>
                  <a:lnTo>
                    <a:pt x="636673" y="1273761"/>
                  </a:lnTo>
                  <a:lnTo>
                    <a:pt x="651283" y="1323086"/>
                  </a:lnTo>
                  <a:lnTo>
                    <a:pt x="666081" y="1371730"/>
                  </a:lnTo>
                  <a:lnTo>
                    <a:pt x="681100" y="1419580"/>
                  </a:lnTo>
                  <a:lnTo>
                    <a:pt x="696369" y="1466522"/>
                  </a:lnTo>
                  <a:lnTo>
                    <a:pt x="711922" y="1512444"/>
                  </a:lnTo>
                  <a:lnTo>
                    <a:pt x="727788" y="1557231"/>
                  </a:lnTo>
                  <a:lnTo>
                    <a:pt x="744000" y="1600771"/>
                  </a:lnTo>
                  <a:lnTo>
                    <a:pt x="760589" y="1642949"/>
                  </a:lnTo>
                  <a:lnTo>
                    <a:pt x="777586" y="1683653"/>
                  </a:lnTo>
                  <a:lnTo>
                    <a:pt x="795023" y="1722768"/>
                  </a:lnTo>
                  <a:lnTo>
                    <a:pt x="822071" y="1778216"/>
                  </a:lnTo>
                  <a:lnTo>
                    <a:pt x="850286" y="1829452"/>
                  </a:lnTo>
                  <a:lnTo>
                    <a:pt x="879772" y="1876095"/>
                  </a:lnTo>
                  <a:lnTo>
                    <a:pt x="910637" y="1917760"/>
                  </a:lnTo>
                  <a:lnTo>
                    <a:pt x="942985" y="1954066"/>
                  </a:lnTo>
                  <a:lnTo>
                    <a:pt x="985670" y="1991328"/>
                  </a:lnTo>
                  <a:lnTo>
                    <a:pt x="1031045" y="2018869"/>
                  </a:lnTo>
                  <a:lnTo>
                    <a:pt x="1066968" y="2032696"/>
                  </a:lnTo>
                  <a:lnTo>
                    <a:pt x="1073120" y="2034406"/>
                  </a:lnTo>
                  <a:lnTo>
                    <a:pt x="1074001" y="2034631"/>
                  </a:lnTo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3608328" y="389498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217"/>
                  </a:moveTo>
                  <a:lnTo>
                    <a:pt x="3946" y="0"/>
                  </a:lnTo>
                  <a:lnTo>
                    <a:pt x="44857" y="21030"/>
                  </a:lnTo>
                  <a:lnTo>
                    <a:pt x="0" y="31217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3608328" y="389498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217"/>
                  </a:moveTo>
                  <a:lnTo>
                    <a:pt x="44857" y="21030"/>
                  </a:lnTo>
                  <a:lnTo>
                    <a:pt x="3946" y="0"/>
                  </a:lnTo>
                  <a:lnTo>
                    <a:pt x="0" y="31217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870099" y="1382412"/>
              <a:ext cx="1723389" cy="2192655"/>
            </a:xfrm>
            <a:custGeom>
              <a:avLst/>
              <a:gdLst/>
              <a:ahLst/>
              <a:cxnLst/>
              <a:rect l="l" t="t" r="r" b="b"/>
              <a:pathLst>
                <a:path w="1723389" h="2192654">
                  <a:moveTo>
                    <a:pt x="1547612" y="2192099"/>
                  </a:moveTo>
                  <a:lnTo>
                    <a:pt x="175287" y="2192099"/>
                  </a:lnTo>
                  <a:lnTo>
                    <a:pt x="128689" y="2185838"/>
                  </a:lnTo>
                  <a:lnTo>
                    <a:pt x="86816" y="2168168"/>
                  </a:lnTo>
                  <a:lnTo>
                    <a:pt x="51340" y="2140759"/>
                  </a:lnTo>
                  <a:lnTo>
                    <a:pt x="23931" y="2105283"/>
                  </a:lnTo>
                  <a:lnTo>
                    <a:pt x="6261" y="2063410"/>
                  </a:lnTo>
                  <a:lnTo>
                    <a:pt x="0" y="2016811"/>
                  </a:lnTo>
                  <a:lnTo>
                    <a:pt x="0" y="175287"/>
                  </a:lnTo>
                  <a:lnTo>
                    <a:pt x="6261" y="128689"/>
                  </a:lnTo>
                  <a:lnTo>
                    <a:pt x="23931" y="86816"/>
                  </a:lnTo>
                  <a:lnTo>
                    <a:pt x="51340" y="51340"/>
                  </a:lnTo>
                  <a:lnTo>
                    <a:pt x="86816" y="23931"/>
                  </a:lnTo>
                  <a:lnTo>
                    <a:pt x="128689" y="6261"/>
                  </a:lnTo>
                  <a:lnTo>
                    <a:pt x="175287" y="0"/>
                  </a:lnTo>
                  <a:lnTo>
                    <a:pt x="1547612" y="0"/>
                  </a:lnTo>
                  <a:lnTo>
                    <a:pt x="1614691" y="13342"/>
                  </a:lnTo>
                  <a:lnTo>
                    <a:pt x="1671559" y="51340"/>
                  </a:lnTo>
                  <a:lnTo>
                    <a:pt x="1709557" y="108208"/>
                  </a:lnTo>
                  <a:lnTo>
                    <a:pt x="1722899" y="175287"/>
                  </a:lnTo>
                  <a:lnTo>
                    <a:pt x="1722899" y="2016811"/>
                  </a:lnTo>
                  <a:lnTo>
                    <a:pt x="1716638" y="2063410"/>
                  </a:lnTo>
                  <a:lnTo>
                    <a:pt x="1698968" y="2105283"/>
                  </a:lnTo>
                  <a:lnTo>
                    <a:pt x="1671559" y="2140759"/>
                  </a:lnTo>
                  <a:lnTo>
                    <a:pt x="1636083" y="2168168"/>
                  </a:lnTo>
                  <a:lnTo>
                    <a:pt x="1594210" y="2185838"/>
                  </a:lnTo>
                  <a:lnTo>
                    <a:pt x="1547612" y="2192099"/>
                  </a:lnTo>
                  <a:close/>
                </a:path>
              </a:pathLst>
            </a:custGeom>
            <a:solidFill>
              <a:srgbClr val="CEE1F3">
                <a:alpha val="44689"/>
              </a:srgbClr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927099" y="1488362"/>
              <a:ext cx="1609725" cy="775335"/>
            </a:xfrm>
            <a:custGeom>
              <a:avLst/>
              <a:gdLst/>
              <a:ahLst/>
              <a:cxnLst/>
              <a:rect l="l" t="t" r="r" b="b"/>
              <a:pathLst>
                <a:path w="1609725" h="775335">
                  <a:moveTo>
                    <a:pt x="1479997" y="775199"/>
                  </a:moveTo>
                  <a:lnTo>
                    <a:pt x="129202" y="775199"/>
                  </a:lnTo>
                  <a:lnTo>
                    <a:pt x="78911" y="765046"/>
                  </a:lnTo>
                  <a:lnTo>
                    <a:pt x="37842" y="737357"/>
                  </a:lnTo>
                  <a:lnTo>
                    <a:pt x="10153" y="696288"/>
                  </a:lnTo>
                  <a:lnTo>
                    <a:pt x="0" y="645997"/>
                  </a:lnTo>
                  <a:lnTo>
                    <a:pt x="0" y="129202"/>
                  </a:lnTo>
                  <a:lnTo>
                    <a:pt x="10153" y="78911"/>
                  </a:lnTo>
                  <a:lnTo>
                    <a:pt x="37842" y="37842"/>
                  </a:lnTo>
                  <a:lnTo>
                    <a:pt x="78911" y="10153"/>
                  </a:lnTo>
                  <a:lnTo>
                    <a:pt x="129202" y="0"/>
                  </a:lnTo>
                  <a:lnTo>
                    <a:pt x="1479997" y="0"/>
                  </a:lnTo>
                  <a:lnTo>
                    <a:pt x="1529441" y="9834"/>
                  </a:lnTo>
                  <a:lnTo>
                    <a:pt x="1571357" y="37842"/>
                  </a:lnTo>
                  <a:lnTo>
                    <a:pt x="1599365" y="79758"/>
                  </a:lnTo>
                  <a:lnTo>
                    <a:pt x="1609199" y="129202"/>
                  </a:lnTo>
                  <a:lnTo>
                    <a:pt x="1609199" y="645997"/>
                  </a:lnTo>
                  <a:lnTo>
                    <a:pt x="1599046" y="696288"/>
                  </a:lnTo>
                  <a:lnTo>
                    <a:pt x="1571357" y="737357"/>
                  </a:lnTo>
                  <a:lnTo>
                    <a:pt x="1530288" y="765046"/>
                  </a:lnTo>
                  <a:lnTo>
                    <a:pt x="1479997" y="775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772596" y="1374159"/>
            <a:ext cx="107188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13" dirty="0">
                <a:latin typeface="Roboto Lt"/>
                <a:cs typeface="Roboto Lt"/>
              </a:rPr>
              <a:t>Pretrain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46392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Finetune</a:t>
            </a:r>
            <a:endParaRPr lang="en-US"/>
          </a:p>
        </p:txBody>
      </p:sp>
      <p:sp>
        <p:nvSpPr>
          <p:cNvPr id="44" name="object 44"/>
          <p:cNvSpPr txBox="1"/>
          <p:nvPr/>
        </p:nvSpPr>
        <p:spPr>
          <a:xfrm>
            <a:off x="2079727" y="2223690"/>
            <a:ext cx="413173" cy="19150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1100" spc="-27" dirty="0">
                <a:latin typeface="Roboto Lt"/>
                <a:cs typeface="Roboto Lt"/>
              </a:rPr>
              <a:t>BASE</a:t>
            </a:r>
            <a:endParaRPr sz="1100">
              <a:latin typeface="Roboto Lt"/>
              <a:cs typeface="Roboto L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17130" y="2055767"/>
            <a:ext cx="15841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957556" algn="l"/>
              </a:tabLst>
            </a:pPr>
            <a:r>
              <a:rPr spc="-27" dirty="0">
                <a:latin typeface="Roboto Lt"/>
                <a:cs typeface="Roboto Lt"/>
              </a:rPr>
              <a:t>BERT</a:t>
            </a:r>
            <a:r>
              <a:rPr dirty="0">
                <a:latin typeface="Roboto Lt"/>
                <a:cs typeface="Roboto Lt"/>
              </a:rPr>
              <a:t>	</a:t>
            </a:r>
            <a:r>
              <a:rPr spc="-87" dirty="0">
                <a:latin typeface="Roboto Lt"/>
                <a:cs typeface="Roboto Lt"/>
              </a:rPr>
              <a:t>-</a:t>
            </a:r>
            <a:r>
              <a:rPr spc="-33" dirty="0">
                <a:latin typeface="Roboto Lt"/>
                <a:cs typeface="Roboto Lt"/>
              </a:rPr>
              <a:t>sized</a:t>
            </a:r>
            <a:endParaRPr>
              <a:latin typeface="Roboto Lt"/>
              <a:cs typeface="Roboto L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16279" y="2335167"/>
            <a:ext cx="1784773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8067" marR="6773" indent="-231981">
              <a:lnSpc>
                <a:spcPts val="2200"/>
              </a:lnSpc>
              <a:spcBef>
                <a:spcPts val="240"/>
              </a:spcBef>
            </a:pPr>
            <a:r>
              <a:rPr spc="-33" dirty="0">
                <a:latin typeface="Roboto Lt"/>
                <a:cs typeface="Roboto Lt"/>
              </a:rPr>
              <a:t>encoder-</a:t>
            </a:r>
            <a:r>
              <a:rPr spc="-27" dirty="0">
                <a:latin typeface="Roboto Lt"/>
                <a:cs typeface="Roboto Lt"/>
              </a:rPr>
              <a:t>decoder </a:t>
            </a:r>
            <a:r>
              <a:rPr spc="-13" dirty="0">
                <a:latin typeface="Roboto Lt"/>
                <a:cs typeface="Roboto Lt"/>
              </a:rPr>
              <a:t>Transformer</a:t>
            </a:r>
            <a:endParaRPr>
              <a:latin typeface="Roboto Lt"/>
              <a:cs typeface="Roboto L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235934" y="4121550"/>
            <a:ext cx="2146300" cy="479213"/>
          </a:xfrm>
          <a:custGeom>
            <a:avLst/>
            <a:gdLst/>
            <a:ahLst/>
            <a:cxnLst/>
            <a:rect l="l" t="t" r="r" b="b"/>
            <a:pathLst>
              <a:path w="1609725" h="359410">
                <a:moveTo>
                  <a:pt x="1549398" y="358799"/>
                </a:moveTo>
                <a:lnTo>
                  <a:pt x="59801" y="358799"/>
                </a:lnTo>
                <a:lnTo>
                  <a:pt x="36523" y="354100"/>
                </a:lnTo>
                <a:lnTo>
                  <a:pt x="17515" y="341284"/>
                </a:lnTo>
                <a:lnTo>
                  <a:pt x="4699" y="322276"/>
                </a:lnTo>
                <a:lnTo>
                  <a:pt x="0" y="298998"/>
                </a:lnTo>
                <a:lnTo>
                  <a:pt x="0" y="59801"/>
                </a:lnTo>
                <a:lnTo>
                  <a:pt x="4699" y="36523"/>
                </a:lnTo>
                <a:lnTo>
                  <a:pt x="17515" y="17515"/>
                </a:lnTo>
                <a:lnTo>
                  <a:pt x="36523" y="4699"/>
                </a:lnTo>
                <a:lnTo>
                  <a:pt x="59801" y="0"/>
                </a:lnTo>
                <a:lnTo>
                  <a:pt x="1549398" y="0"/>
                </a:lnTo>
                <a:lnTo>
                  <a:pt x="1591684" y="17515"/>
                </a:lnTo>
                <a:lnTo>
                  <a:pt x="1609199" y="59801"/>
                </a:lnTo>
                <a:lnTo>
                  <a:pt x="1609199" y="298998"/>
                </a:lnTo>
                <a:lnTo>
                  <a:pt x="1604500" y="322276"/>
                </a:lnTo>
                <a:lnTo>
                  <a:pt x="1591684" y="341284"/>
                </a:lnTo>
                <a:lnTo>
                  <a:pt x="1572676" y="354100"/>
                </a:lnTo>
                <a:lnTo>
                  <a:pt x="1549398" y="358799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48" name="object 48"/>
          <p:cNvSpPr txBox="1"/>
          <p:nvPr/>
        </p:nvSpPr>
        <p:spPr>
          <a:xfrm>
            <a:off x="1730353" y="4194634"/>
            <a:ext cx="1157392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C4</a:t>
            </a:r>
            <a:r>
              <a:rPr spc="-13" dirty="0">
                <a:latin typeface="Roboto Lt"/>
                <a:cs typeface="Roboto Lt"/>
              </a:rPr>
              <a:t> dataset</a:t>
            </a:r>
            <a:endParaRPr>
              <a:latin typeface="Roboto Lt"/>
              <a:cs typeface="Roboto L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235934" y="3206863"/>
            <a:ext cx="2146300" cy="717973"/>
          </a:xfrm>
          <a:custGeom>
            <a:avLst/>
            <a:gdLst/>
            <a:ahLst/>
            <a:cxnLst/>
            <a:rect l="l" t="t" r="r" b="b"/>
            <a:pathLst>
              <a:path w="1609725" h="538480">
                <a:moveTo>
                  <a:pt x="1519548" y="537899"/>
                </a:moveTo>
                <a:lnTo>
                  <a:pt x="89651" y="537899"/>
                </a:lnTo>
                <a:lnTo>
                  <a:pt x="54755" y="530854"/>
                </a:lnTo>
                <a:lnTo>
                  <a:pt x="26258" y="511641"/>
                </a:lnTo>
                <a:lnTo>
                  <a:pt x="7045" y="483144"/>
                </a:lnTo>
                <a:lnTo>
                  <a:pt x="0" y="448248"/>
                </a:lnTo>
                <a:lnTo>
                  <a:pt x="0" y="89651"/>
                </a:lnTo>
                <a:lnTo>
                  <a:pt x="7045" y="54755"/>
                </a:lnTo>
                <a:lnTo>
                  <a:pt x="26258" y="26258"/>
                </a:lnTo>
                <a:lnTo>
                  <a:pt x="54755" y="7045"/>
                </a:lnTo>
                <a:lnTo>
                  <a:pt x="89651" y="0"/>
                </a:lnTo>
                <a:lnTo>
                  <a:pt x="1519548" y="0"/>
                </a:lnTo>
                <a:lnTo>
                  <a:pt x="1569287" y="15062"/>
                </a:lnTo>
                <a:lnTo>
                  <a:pt x="1602375" y="55343"/>
                </a:lnTo>
                <a:lnTo>
                  <a:pt x="1609199" y="89651"/>
                </a:lnTo>
                <a:lnTo>
                  <a:pt x="1609199" y="448248"/>
                </a:lnTo>
                <a:lnTo>
                  <a:pt x="1602154" y="483144"/>
                </a:lnTo>
                <a:lnTo>
                  <a:pt x="1582941" y="511641"/>
                </a:lnTo>
                <a:lnTo>
                  <a:pt x="1554444" y="530854"/>
                </a:lnTo>
                <a:lnTo>
                  <a:pt x="1519548" y="537899"/>
                </a:lnTo>
                <a:close/>
              </a:path>
            </a:pathLst>
          </a:custGeom>
          <a:solidFill>
            <a:srgbClr val="CEE1F3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0" name="object 50"/>
          <p:cNvSpPr txBox="1"/>
          <p:nvPr/>
        </p:nvSpPr>
        <p:spPr>
          <a:xfrm>
            <a:off x="1777728" y="3259647"/>
            <a:ext cx="1061720" cy="57708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6885" marR="6773" indent="-50799">
              <a:lnSpc>
                <a:spcPts val="2200"/>
              </a:lnSpc>
              <a:spcBef>
                <a:spcPts val="240"/>
              </a:spcBef>
            </a:pPr>
            <a:r>
              <a:rPr spc="-13" dirty="0">
                <a:latin typeface="Roboto Lt"/>
                <a:cs typeface="Roboto Lt"/>
              </a:rPr>
              <a:t>Denoising objective</a:t>
            </a:r>
            <a:endParaRPr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93800" y="5635016"/>
            <a:ext cx="1735667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47" algn="ctr">
              <a:spcBef>
                <a:spcPts val="133"/>
              </a:spcBef>
            </a:pPr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34188" dirty="0">
                <a:latin typeface="Roboto Lt"/>
                <a:cs typeface="Roboto Lt"/>
              </a:rPr>
              <a:t>18</a:t>
            </a:r>
            <a:r>
              <a:rPr sz="1200" spc="160" baseline="34188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steps</a:t>
            </a:r>
            <a:endParaRPr sz="1200">
              <a:latin typeface="Roboto Lt"/>
              <a:cs typeface="Roboto Lt"/>
            </a:endParaRPr>
          </a:p>
          <a:p>
            <a:pPr marL="50799" marR="40639" algn="ctr"/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34</a:t>
            </a:r>
            <a:r>
              <a:rPr sz="1200" spc="629" baseline="29914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or</a:t>
            </a:r>
            <a:r>
              <a:rPr sz="1200" spc="-1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~17B</a:t>
            </a:r>
            <a:r>
              <a:rPr sz="1200" spc="-2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tokens Constant</a:t>
            </a:r>
            <a:r>
              <a:rPr sz="120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learning</a:t>
            </a:r>
            <a:r>
              <a:rPr sz="1200" dirty="0">
                <a:latin typeface="Roboto Lt"/>
                <a:cs typeface="Roboto Lt"/>
              </a:rPr>
              <a:t> </a:t>
            </a:r>
            <a:r>
              <a:rPr sz="1200" spc="-27" dirty="0">
                <a:latin typeface="Roboto Lt"/>
                <a:cs typeface="Roboto Lt"/>
              </a:rPr>
              <a:t>rate</a:t>
            </a:r>
            <a:endParaRPr sz="1200">
              <a:latin typeface="Roboto Lt"/>
              <a:cs typeface="Roboto 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0133" y="1157283"/>
            <a:ext cx="9603999" cy="43207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59676" y="1245367"/>
            <a:ext cx="673668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27" dirty="0">
                <a:latin typeface="Roboto Lt"/>
                <a:cs typeface="Roboto Lt"/>
              </a:rPr>
              <a:t>GLUE</a:t>
            </a:r>
            <a:endParaRPr>
              <a:latin typeface="Roboto Lt"/>
              <a:cs typeface="Roboto 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2949" y="1880534"/>
            <a:ext cx="9787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>
                <a:latin typeface="Roboto Lt"/>
                <a:cs typeface="Roboto Lt"/>
              </a:rPr>
              <a:t>CNN/DM</a:t>
            </a:r>
            <a:endParaRPr>
              <a:latin typeface="Roboto Lt"/>
              <a:cs typeface="Roboto 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8229" y="2515701"/>
            <a:ext cx="855766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>
                <a:latin typeface="Roboto Lt"/>
                <a:cs typeface="Roboto Lt"/>
              </a:rPr>
              <a:t>SQuAD</a:t>
            </a:r>
            <a:endParaRPr dirty="0">
              <a:latin typeface="Roboto Lt"/>
              <a:cs typeface="Roboto 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7723" y="3150867"/>
            <a:ext cx="1330112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>
                <a:latin typeface="Roboto Lt"/>
                <a:cs typeface="Roboto Lt"/>
              </a:rPr>
              <a:t>SuperGLUE</a:t>
            </a:r>
            <a:endParaRPr dirty="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6073" y="3786434"/>
            <a:ext cx="1452880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WMT14</a:t>
            </a:r>
            <a:r>
              <a:rPr spc="-53" dirty="0">
                <a:latin typeface="Roboto Lt"/>
                <a:cs typeface="Roboto Lt"/>
              </a:rPr>
              <a:t> </a:t>
            </a:r>
            <a:r>
              <a:rPr spc="-27" dirty="0">
                <a:latin typeface="Roboto Lt"/>
                <a:cs typeface="Roboto Lt"/>
              </a:rPr>
              <a:t>EnDe</a:t>
            </a:r>
            <a:endParaRPr>
              <a:latin typeface="Roboto Lt"/>
              <a:cs typeface="Roboto 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9856" y="4422001"/>
            <a:ext cx="1385147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WMT15</a:t>
            </a:r>
            <a:r>
              <a:rPr spc="-67" dirty="0">
                <a:latin typeface="Roboto Lt"/>
                <a:cs typeface="Roboto Lt"/>
              </a:rPr>
              <a:t> </a:t>
            </a:r>
            <a:r>
              <a:rPr spc="-27" dirty="0">
                <a:latin typeface="Roboto Lt"/>
                <a:cs typeface="Roboto Lt"/>
              </a:rPr>
              <a:t>EnFr</a:t>
            </a:r>
            <a:endParaRPr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3298" y="5057567"/>
            <a:ext cx="1458807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WMT16</a:t>
            </a:r>
            <a:r>
              <a:rPr spc="-53" dirty="0">
                <a:latin typeface="Roboto Lt"/>
                <a:cs typeface="Roboto Lt"/>
              </a:rPr>
              <a:t> </a:t>
            </a:r>
            <a:r>
              <a:rPr spc="-27" dirty="0">
                <a:latin typeface="Roboto Lt"/>
                <a:cs typeface="Roboto Lt"/>
              </a:rPr>
              <a:t>EnRo</a:t>
            </a:r>
            <a:endParaRPr>
              <a:latin typeface="Roboto Lt"/>
              <a:cs typeface="Roboto L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9933" y="4821809"/>
            <a:ext cx="215646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45048">
              <a:spcBef>
                <a:spcPts val="133"/>
              </a:spcBef>
            </a:pPr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19</a:t>
            </a:r>
            <a:r>
              <a:rPr sz="1200" spc="160" baseline="29914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steps</a:t>
            </a:r>
            <a:endParaRPr sz="1200">
              <a:latin typeface="Roboto Lt"/>
              <a:cs typeface="Roboto Lt"/>
            </a:endParaRPr>
          </a:p>
          <a:p>
            <a:pPr marL="50799" marR="40639" indent="309026"/>
            <a:r>
              <a:rPr sz="1200" dirty="0">
                <a:latin typeface="Roboto Lt"/>
                <a:cs typeface="Roboto Lt"/>
              </a:rPr>
              <a:t>2</a:t>
            </a:r>
            <a:r>
              <a:rPr sz="1200" baseline="29914" dirty="0">
                <a:latin typeface="Roboto Lt"/>
                <a:cs typeface="Roboto Lt"/>
              </a:rPr>
              <a:t>35</a:t>
            </a:r>
            <a:r>
              <a:rPr sz="1200" spc="629" baseline="29914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or</a:t>
            </a:r>
            <a:r>
              <a:rPr sz="1200" spc="-1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~34B</a:t>
            </a:r>
            <a:r>
              <a:rPr sz="1200" spc="-2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tokens Inverse</a:t>
            </a:r>
            <a:r>
              <a:rPr sz="1200" spc="-40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square</a:t>
            </a:r>
            <a:r>
              <a:rPr sz="1200" spc="-33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root</a:t>
            </a:r>
            <a:r>
              <a:rPr sz="1200" spc="-33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learning</a:t>
            </a:r>
            <a:endParaRPr sz="1200">
              <a:latin typeface="Roboto Lt"/>
              <a:cs typeface="Roboto Lt"/>
            </a:endParaRPr>
          </a:p>
          <a:p>
            <a:pPr marL="581645"/>
            <a:r>
              <a:rPr sz="1200" dirty="0">
                <a:latin typeface="Roboto Lt"/>
                <a:cs typeface="Roboto Lt"/>
              </a:rPr>
              <a:t>rate</a:t>
            </a:r>
            <a:r>
              <a:rPr sz="1200" spc="-73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schedule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2596" y="1374159"/>
            <a:ext cx="1071880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13" dirty="0">
                <a:latin typeface="Roboto Lt"/>
                <a:cs typeface="Roboto Lt"/>
              </a:rPr>
              <a:t>Pretrain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6700" y="20638"/>
            <a:ext cx="11658600" cy="969962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Finetune</a:t>
            </a:r>
            <a:endParaRPr lang="en-US"/>
          </a:p>
        </p:txBody>
      </p:sp>
      <p:sp>
        <p:nvSpPr>
          <p:cNvPr id="14" name="object 14"/>
          <p:cNvSpPr txBox="1"/>
          <p:nvPr/>
        </p:nvSpPr>
        <p:spPr>
          <a:xfrm>
            <a:off x="8931730" y="1012873"/>
            <a:ext cx="1576493" cy="616943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48163" marR="6773" indent="-132077">
              <a:lnSpc>
                <a:spcPct val="100699"/>
              </a:lnSpc>
              <a:spcBef>
                <a:spcPts val="113"/>
              </a:spcBef>
            </a:pPr>
            <a:r>
              <a:rPr sz="2000" dirty="0">
                <a:latin typeface="Roboto Lt"/>
                <a:cs typeface="Roboto Lt"/>
              </a:rPr>
              <a:t>Evaluate</a:t>
            </a:r>
            <a:r>
              <a:rPr sz="2000" spc="-147" dirty="0">
                <a:latin typeface="Roboto Lt"/>
                <a:cs typeface="Roboto Lt"/>
              </a:rPr>
              <a:t> </a:t>
            </a:r>
            <a:r>
              <a:rPr sz="2000" spc="-33" dirty="0">
                <a:latin typeface="Roboto Lt"/>
                <a:cs typeface="Roboto Lt"/>
              </a:rPr>
              <a:t>on </a:t>
            </a:r>
            <a:r>
              <a:rPr sz="2000" spc="-13" dirty="0">
                <a:latin typeface="Roboto Lt"/>
                <a:cs typeface="Roboto Lt"/>
              </a:rPr>
              <a:t>validation</a:t>
            </a:r>
            <a:endParaRPr sz="2000" dirty="0">
              <a:latin typeface="Roboto Lt"/>
              <a:cs typeface="Roboto 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31730" y="2312334"/>
            <a:ext cx="13301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step</a:t>
            </a:r>
            <a:r>
              <a:rPr spc="-67" dirty="0">
                <a:latin typeface="Roboto Lt"/>
                <a:cs typeface="Roboto Lt"/>
              </a:rPr>
              <a:t> </a:t>
            </a:r>
            <a:r>
              <a:rPr spc="-13" dirty="0">
                <a:latin typeface="Roboto Lt"/>
                <a:cs typeface="Roboto Lt"/>
              </a:rPr>
              <a:t>750000</a:t>
            </a:r>
            <a:endParaRPr>
              <a:latin typeface="Roboto Lt"/>
              <a:cs typeface="Roboto L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31730" y="2947501"/>
            <a:ext cx="13301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step</a:t>
            </a:r>
            <a:r>
              <a:rPr spc="-67" dirty="0">
                <a:latin typeface="Roboto Lt"/>
                <a:cs typeface="Roboto Lt"/>
              </a:rPr>
              <a:t> </a:t>
            </a:r>
            <a:r>
              <a:rPr spc="-13" dirty="0">
                <a:latin typeface="Roboto Lt"/>
                <a:cs typeface="Roboto Lt"/>
              </a:rPr>
              <a:t>760000</a:t>
            </a:r>
            <a:endParaRPr>
              <a:latin typeface="Roboto Lt"/>
              <a:cs typeface="Roboto L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31730" y="3582667"/>
            <a:ext cx="13301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step</a:t>
            </a:r>
            <a:r>
              <a:rPr spc="-67" dirty="0">
                <a:latin typeface="Roboto Lt"/>
                <a:cs typeface="Roboto Lt"/>
              </a:rPr>
              <a:t> </a:t>
            </a:r>
            <a:r>
              <a:rPr spc="-13" dirty="0">
                <a:latin typeface="Roboto Lt"/>
                <a:cs typeface="Roboto Lt"/>
              </a:rPr>
              <a:t>770000</a:t>
            </a:r>
            <a:endParaRPr>
              <a:latin typeface="Roboto Lt"/>
              <a:cs typeface="Roboto L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1730" y="4217834"/>
            <a:ext cx="13301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step</a:t>
            </a:r>
            <a:r>
              <a:rPr spc="-67" dirty="0">
                <a:latin typeface="Roboto Lt"/>
                <a:cs typeface="Roboto Lt"/>
              </a:rPr>
              <a:t> </a:t>
            </a:r>
            <a:r>
              <a:rPr spc="-13" dirty="0">
                <a:latin typeface="Roboto Lt"/>
                <a:cs typeface="Roboto Lt"/>
              </a:rPr>
              <a:t>780000</a:t>
            </a:r>
            <a:endParaRPr>
              <a:latin typeface="Roboto Lt"/>
              <a:cs typeface="Roboto L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55339" y="5634610"/>
            <a:ext cx="18812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49665" marR="6773" indent="-333578">
              <a:spcBef>
                <a:spcPts val="133"/>
              </a:spcBef>
            </a:pPr>
            <a:r>
              <a:rPr sz="1200" dirty="0">
                <a:latin typeface="Roboto Lt"/>
                <a:cs typeface="Roboto Lt"/>
              </a:rPr>
              <a:t>Evaluate</a:t>
            </a:r>
            <a:r>
              <a:rPr sz="1200" spc="220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all</a:t>
            </a:r>
            <a:r>
              <a:rPr sz="1200" spc="-47" dirty="0">
                <a:latin typeface="Roboto Lt"/>
                <a:cs typeface="Roboto Lt"/>
              </a:rPr>
              <a:t> </a:t>
            </a:r>
            <a:r>
              <a:rPr sz="1200" spc="-13" dirty="0">
                <a:latin typeface="Roboto Lt"/>
                <a:cs typeface="Roboto Lt"/>
              </a:rPr>
              <a:t>checkpoints, choose</a:t>
            </a:r>
            <a:r>
              <a:rPr sz="1200" spc="-27" dirty="0">
                <a:latin typeface="Roboto Lt"/>
                <a:cs typeface="Roboto Lt"/>
              </a:rPr>
              <a:t> </a:t>
            </a:r>
            <a:r>
              <a:rPr sz="1200" dirty="0">
                <a:latin typeface="Roboto Lt"/>
                <a:cs typeface="Roboto Lt"/>
              </a:rPr>
              <a:t>the</a:t>
            </a:r>
            <a:r>
              <a:rPr sz="1200" spc="-20" dirty="0">
                <a:latin typeface="Roboto Lt"/>
                <a:cs typeface="Roboto Lt"/>
              </a:rPr>
              <a:t> </a:t>
            </a:r>
            <a:r>
              <a:rPr sz="1200" spc="-27" dirty="0">
                <a:latin typeface="Roboto Lt"/>
                <a:cs typeface="Roboto Lt"/>
              </a:rPr>
              <a:t>best</a:t>
            </a:r>
            <a:endParaRPr sz="1200">
              <a:latin typeface="Roboto Lt"/>
              <a:cs typeface="Roboto L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9727" y="2223690"/>
            <a:ext cx="413173" cy="19150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1100" spc="-27" dirty="0">
                <a:latin typeface="Roboto Lt"/>
                <a:cs typeface="Roboto Lt"/>
              </a:rPr>
              <a:t>BASE</a:t>
            </a:r>
            <a:endParaRPr sz="1100">
              <a:latin typeface="Roboto Lt"/>
              <a:cs typeface="Roboto L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7130" y="2055767"/>
            <a:ext cx="15841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957556" algn="l"/>
              </a:tabLst>
            </a:pPr>
            <a:r>
              <a:rPr spc="-27" dirty="0">
                <a:latin typeface="Roboto Lt"/>
                <a:cs typeface="Roboto Lt"/>
              </a:rPr>
              <a:t>BERT</a:t>
            </a:r>
            <a:r>
              <a:rPr dirty="0">
                <a:latin typeface="Roboto Lt"/>
                <a:cs typeface="Roboto Lt"/>
              </a:rPr>
              <a:t>	</a:t>
            </a:r>
            <a:r>
              <a:rPr spc="-87" dirty="0">
                <a:latin typeface="Roboto Lt"/>
                <a:cs typeface="Roboto Lt"/>
              </a:rPr>
              <a:t>-</a:t>
            </a:r>
            <a:r>
              <a:rPr spc="-33" dirty="0">
                <a:latin typeface="Roboto Lt"/>
                <a:cs typeface="Roboto Lt"/>
              </a:rPr>
              <a:t>sized</a:t>
            </a:r>
            <a:endParaRPr>
              <a:latin typeface="Roboto Lt"/>
              <a:cs typeface="Roboto 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6279" y="2335167"/>
            <a:ext cx="1784773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8067" marR="6773" indent="-231981">
              <a:lnSpc>
                <a:spcPts val="2200"/>
              </a:lnSpc>
              <a:spcBef>
                <a:spcPts val="240"/>
              </a:spcBef>
            </a:pPr>
            <a:r>
              <a:rPr spc="-33" dirty="0">
                <a:latin typeface="Roboto Lt"/>
                <a:cs typeface="Roboto Lt"/>
              </a:rPr>
              <a:t>encoder-</a:t>
            </a:r>
            <a:r>
              <a:rPr spc="-27" dirty="0">
                <a:latin typeface="Roboto Lt"/>
                <a:cs typeface="Roboto Lt"/>
              </a:rPr>
              <a:t>decoder </a:t>
            </a:r>
            <a:r>
              <a:rPr spc="-13" dirty="0">
                <a:latin typeface="Roboto Lt"/>
                <a:cs typeface="Roboto Lt"/>
              </a:rPr>
              <a:t>Transformer</a:t>
            </a:r>
            <a:endParaRPr>
              <a:latin typeface="Roboto Lt"/>
              <a:cs typeface="Roboto 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30353" y="4194634"/>
            <a:ext cx="1157392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Roboto Lt"/>
                <a:cs typeface="Roboto Lt"/>
              </a:rPr>
              <a:t>C4</a:t>
            </a:r>
            <a:r>
              <a:rPr spc="-13" dirty="0">
                <a:latin typeface="Roboto Lt"/>
                <a:cs typeface="Roboto Lt"/>
              </a:rPr>
              <a:t> dataset</a:t>
            </a:r>
            <a:endParaRPr>
              <a:latin typeface="Roboto Lt"/>
              <a:cs typeface="Roboto L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77728" y="3259647"/>
            <a:ext cx="1061720" cy="57708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6885" marR="6773" indent="-50799">
              <a:lnSpc>
                <a:spcPts val="2200"/>
              </a:lnSpc>
              <a:spcBef>
                <a:spcPts val="240"/>
              </a:spcBef>
            </a:pPr>
            <a:r>
              <a:rPr spc="-13" dirty="0">
                <a:latin typeface="Roboto Lt"/>
                <a:cs typeface="Roboto Lt"/>
              </a:rPr>
              <a:t>Denoising objective</a:t>
            </a:r>
            <a:endParaRPr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183" y="2648465"/>
            <a:ext cx="11798300" cy="1534160"/>
            <a:chOff x="105137" y="1986349"/>
            <a:chExt cx="8848725" cy="11506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986349"/>
              <a:ext cx="8763887" cy="11502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9900" y="2395899"/>
              <a:ext cx="8839200" cy="692785"/>
            </a:xfrm>
            <a:custGeom>
              <a:avLst/>
              <a:gdLst/>
              <a:ahLst/>
              <a:cxnLst/>
              <a:rect l="l" t="t" r="r" b="b"/>
              <a:pathLst>
                <a:path w="8839200" h="692785">
                  <a:moveTo>
                    <a:pt x="8839199" y="692399"/>
                  </a:moveTo>
                  <a:lnTo>
                    <a:pt x="0" y="692399"/>
                  </a:lnTo>
                  <a:lnTo>
                    <a:pt x="0" y="0"/>
                  </a:lnTo>
                  <a:lnTo>
                    <a:pt x="8839199" y="0"/>
                  </a:lnTo>
                  <a:lnTo>
                    <a:pt x="8839199" y="692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9900" y="2395899"/>
              <a:ext cx="8839200" cy="692785"/>
            </a:xfrm>
            <a:custGeom>
              <a:avLst/>
              <a:gdLst/>
              <a:ahLst/>
              <a:cxnLst/>
              <a:rect l="l" t="t" r="r" b="b"/>
              <a:pathLst>
                <a:path w="8839200" h="692785">
                  <a:moveTo>
                    <a:pt x="0" y="0"/>
                  </a:moveTo>
                  <a:lnTo>
                    <a:pt x="8839199" y="0"/>
                  </a:lnTo>
                  <a:lnTo>
                    <a:pt x="8839199" y="692399"/>
                  </a:lnTo>
                  <a:lnTo>
                    <a:pt x="0" y="69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5633" y="3217518"/>
            <a:ext cx="934720" cy="86348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19"/>
              </a:lnSpc>
              <a:spcBef>
                <a:spcPts val="133"/>
              </a:spcBef>
            </a:pPr>
            <a:r>
              <a:rPr sz="1867" i="1" spc="-27" dirty="0">
                <a:latin typeface="Roboto Lt"/>
                <a:cs typeface="Roboto Lt"/>
              </a:rPr>
              <a:t>Setting</a:t>
            </a:r>
            <a:r>
              <a:rPr sz="1867" i="1" spc="-40" dirty="0">
                <a:latin typeface="Roboto Lt"/>
                <a:cs typeface="Roboto Lt"/>
              </a:rPr>
              <a:t> </a:t>
            </a:r>
            <a:r>
              <a:rPr sz="1867" i="1" spc="-67" dirty="0">
                <a:latin typeface="Roboto Lt"/>
                <a:cs typeface="Roboto Lt"/>
              </a:rPr>
              <a:t>1</a:t>
            </a:r>
            <a:endParaRPr sz="1867">
              <a:latin typeface="Roboto Lt"/>
              <a:cs typeface="Roboto Lt"/>
            </a:endParaRPr>
          </a:p>
          <a:p>
            <a:pPr marL="16933">
              <a:lnSpc>
                <a:spcPts val="2200"/>
              </a:lnSpc>
            </a:pPr>
            <a:r>
              <a:rPr sz="1867" i="1" spc="-27" dirty="0">
                <a:latin typeface="Roboto Lt"/>
                <a:cs typeface="Roboto Lt"/>
              </a:rPr>
              <a:t>Setting</a:t>
            </a:r>
            <a:r>
              <a:rPr sz="1867" i="1" spc="-40" dirty="0">
                <a:latin typeface="Roboto Lt"/>
                <a:cs typeface="Roboto Lt"/>
              </a:rPr>
              <a:t> </a:t>
            </a:r>
            <a:r>
              <a:rPr sz="1867" i="1" spc="-67" dirty="0">
                <a:latin typeface="Roboto Lt"/>
                <a:cs typeface="Roboto Lt"/>
              </a:rPr>
              <a:t>2</a:t>
            </a:r>
            <a:endParaRPr sz="1867">
              <a:latin typeface="Roboto Lt"/>
              <a:cs typeface="Roboto Lt"/>
            </a:endParaRPr>
          </a:p>
          <a:p>
            <a:pPr marL="16933">
              <a:lnSpc>
                <a:spcPts val="2219"/>
              </a:lnSpc>
            </a:pPr>
            <a:r>
              <a:rPr sz="1867" i="1" spc="-33" dirty="0">
                <a:latin typeface="Roboto Lt"/>
                <a:cs typeface="Roboto Lt"/>
              </a:rPr>
              <a:t>...</a:t>
            </a:r>
            <a:endParaRPr sz="1867">
              <a:latin typeface="Roboto Lt"/>
              <a:cs typeface="Roboto 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41147F-9961-90A0-A339-C5FE74B2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Downstream task performance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1" y="2648465"/>
            <a:ext cx="11685183" cy="153368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4F4DF-ED1C-47B8-D715-DAB4D7B59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</a:rPr>
              <a:t>GLUE/</a:t>
            </a:r>
            <a:r>
              <a:rPr lang="en-US" sz="2000" b="0" i="0" u="none" strike="noStrike" baseline="0" dirty="0" err="1">
                <a:latin typeface="Calibri" panose="020F0502020204030204" pitchFamily="34" charset="0"/>
              </a:rPr>
              <a:t>SuperGLUE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 are sets of tasks including </a:t>
            </a:r>
            <a:r>
              <a:rPr lang="en-US" sz="2000" b="0" i="0" u="none" strike="noStrike" baseline="0" dirty="0" err="1">
                <a:latin typeface="Calibri" panose="020F0502020204030204" pitchFamily="34" charset="0"/>
              </a:rPr>
              <a:t>CoLA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, STS-B, etc.</a:t>
            </a:r>
          </a:p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</a:rPr>
              <a:t>CNNDM is a summarization task</a:t>
            </a:r>
          </a:p>
          <a:p>
            <a:pPr algn="l"/>
            <a:r>
              <a:rPr lang="en-US" sz="2000" b="0" i="0" u="none" strike="noStrike" baseline="0" dirty="0" err="1">
                <a:latin typeface="Calibri" panose="020F0502020204030204" pitchFamily="34" charset="0"/>
              </a:rPr>
              <a:t>EnDe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/</a:t>
            </a:r>
            <a:r>
              <a:rPr lang="en-US" sz="2000" b="0" i="0" u="none" strike="noStrike" baseline="0" dirty="0" err="1">
                <a:latin typeface="Calibri" panose="020F0502020204030204" pitchFamily="34" charset="0"/>
              </a:rPr>
              <a:t>EnFr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/</a:t>
            </a:r>
            <a:r>
              <a:rPr lang="en-US" sz="2000" b="0" i="0" u="none" strike="noStrike" baseline="0" dirty="0" err="1">
                <a:latin typeface="Calibri" panose="020F0502020204030204" pitchFamily="34" charset="0"/>
              </a:rPr>
              <a:t>EnRo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 are translation tasks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E1CAF1-1CC5-B379-BA87-DD0E276F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performance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084" y="2093899"/>
            <a:ext cx="11860107" cy="2411307"/>
            <a:chOff x="21813" y="1570424"/>
            <a:chExt cx="8895080" cy="1808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986349"/>
              <a:ext cx="8763887" cy="11502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338" y="1733724"/>
              <a:ext cx="299720" cy="743585"/>
            </a:xfrm>
            <a:custGeom>
              <a:avLst/>
              <a:gdLst/>
              <a:ahLst/>
              <a:cxnLst/>
              <a:rect l="l" t="t" r="r" b="b"/>
              <a:pathLst>
                <a:path w="299720" h="743585">
                  <a:moveTo>
                    <a:pt x="299111" y="0"/>
                  </a:moveTo>
                  <a:lnTo>
                    <a:pt x="259032" y="4641"/>
                  </a:lnTo>
                  <a:lnTo>
                    <a:pt x="220221" y="17985"/>
                  </a:lnTo>
                  <a:lnTo>
                    <a:pt x="183124" y="39161"/>
                  </a:lnTo>
                  <a:lnTo>
                    <a:pt x="148189" y="67299"/>
                  </a:lnTo>
                  <a:lnTo>
                    <a:pt x="115860" y="101528"/>
                  </a:lnTo>
                  <a:lnTo>
                    <a:pt x="86585" y="140980"/>
                  </a:lnTo>
                  <a:lnTo>
                    <a:pt x="60810" y="184782"/>
                  </a:lnTo>
                  <a:lnTo>
                    <a:pt x="38982" y="232066"/>
                  </a:lnTo>
                  <a:lnTo>
                    <a:pt x="21546" y="281960"/>
                  </a:lnTo>
                  <a:lnTo>
                    <a:pt x="8948" y="333595"/>
                  </a:lnTo>
                  <a:lnTo>
                    <a:pt x="1637" y="386099"/>
                  </a:lnTo>
                  <a:lnTo>
                    <a:pt x="0" y="443821"/>
                  </a:lnTo>
                  <a:lnTo>
                    <a:pt x="4505" y="500385"/>
                  </a:lnTo>
                  <a:lnTo>
                    <a:pt x="14359" y="554632"/>
                  </a:lnTo>
                  <a:lnTo>
                    <a:pt x="28770" y="605404"/>
                  </a:lnTo>
                  <a:lnTo>
                    <a:pt x="46944" y="651543"/>
                  </a:lnTo>
                  <a:lnTo>
                    <a:pt x="73746" y="700937"/>
                  </a:lnTo>
                  <a:lnTo>
                    <a:pt x="103641" y="739019"/>
                  </a:lnTo>
                  <a:lnTo>
                    <a:pt x="107518" y="742871"/>
                  </a:lnTo>
                  <a:lnTo>
                    <a:pt x="107970" y="74330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90" y="2438807"/>
              <a:ext cx="81312" cy="643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69451" y="1579949"/>
              <a:ext cx="389890" cy="894715"/>
            </a:xfrm>
            <a:custGeom>
              <a:avLst/>
              <a:gdLst/>
              <a:ahLst/>
              <a:cxnLst/>
              <a:rect l="l" t="t" r="r" b="b"/>
              <a:pathLst>
                <a:path w="389890" h="894714">
                  <a:moveTo>
                    <a:pt x="0" y="0"/>
                  </a:moveTo>
                  <a:lnTo>
                    <a:pt x="40833" y="3458"/>
                  </a:lnTo>
                  <a:lnTo>
                    <a:pt x="80584" y="13495"/>
                  </a:lnTo>
                  <a:lnTo>
                    <a:pt x="119010" y="29606"/>
                  </a:lnTo>
                  <a:lnTo>
                    <a:pt x="155871" y="51283"/>
                  </a:lnTo>
                  <a:lnTo>
                    <a:pt x="190926" y="78021"/>
                  </a:lnTo>
                  <a:lnTo>
                    <a:pt x="223935" y="109314"/>
                  </a:lnTo>
                  <a:lnTo>
                    <a:pt x="254656" y="144656"/>
                  </a:lnTo>
                  <a:lnTo>
                    <a:pt x="282848" y="183540"/>
                  </a:lnTo>
                  <a:lnTo>
                    <a:pt x="308272" y="225461"/>
                  </a:lnTo>
                  <a:lnTo>
                    <a:pt x="330685" y="269912"/>
                  </a:lnTo>
                  <a:lnTo>
                    <a:pt x="349848" y="316388"/>
                  </a:lnTo>
                  <a:lnTo>
                    <a:pt x="365519" y="364381"/>
                  </a:lnTo>
                  <a:lnTo>
                    <a:pt x="377457" y="413387"/>
                  </a:lnTo>
                  <a:lnTo>
                    <a:pt x="385422" y="462899"/>
                  </a:lnTo>
                  <a:lnTo>
                    <a:pt x="389531" y="520628"/>
                  </a:lnTo>
                  <a:lnTo>
                    <a:pt x="388478" y="577553"/>
                  </a:lnTo>
                  <a:lnTo>
                    <a:pt x="382836" y="632871"/>
                  </a:lnTo>
                  <a:lnTo>
                    <a:pt x="373178" y="685777"/>
                  </a:lnTo>
                  <a:lnTo>
                    <a:pt x="360079" y="735469"/>
                  </a:lnTo>
                  <a:lnTo>
                    <a:pt x="344112" y="781143"/>
                  </a:lnTo>
                  <a:lnTo>
                    <a:pt x="316038" y="840362"/>
                  </a:lnTo>
                  <a:lnTo>
                    <a:pt x="284738" y="886019"/>
                  </a:lnTo>
                  <a:lnTo>
                    <a:pt x="280695" y="890637"/>
                  </a:lnTo>
                  <a:lnTo>
                    <a:pt x="280020" y="891386"/>
                  </a:lnTo>
                  <a:lnTo>
                    <a:pt x="279344" y="892123"/>
                  </a:lnTo>
                  <a:lnTo>
                    <a:pt x="278667" y="892850"/>
                  </a:lnTo>
                  <a:lnTo>
                    <a:pt x="277351" y="89424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4505" y="2435555"/>
              <a:ext cx="80932" cy="662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69451" y="1579949"/>
              <a:ext cx="443865" cy="1354455"/>
            </a:xfrm>
            <a:custGeom>
              <a:avLst/>
              <a:gdLst/>
              <a:ahLst/>
              <a:cxnLst/>
              <a:rect l="l" t="t" r="r" b="b"/>
              <a:pathLst>
                <a:path w="443865" h="1354455">
                  <a:moveTo>
                    <a:pt x="0" y="0"/>
                  </a:moveTo>
                  <a:lnTo>
                    <a:pt x="68457" y="11089"/>
                  </a:lnTo>
                  <a:lnTo>
                    <a:pt x="134121" y="42746"/>
                  </a:lnTo>
                  <a:lnTo>
                    <a:pt x="165605" y="65530"/>
                  </a:lnTo>
                  <a:lnTo>
                    <a:pt x="196030" y="92549"/>
                  </a:lnTo>
                  <a:lnTo>
                    <a:pt x="225275" y="123500"/>
                  </a:lnTo>
                  <a:lnTo>
                    <a:pt x="253219" y="158080"/>
                  </a:lnTo>
                  <a:lnTo>
                    <a:pt x="279743" y="195987"/>
                  </a:lnTo>
                  <a:lnTo>
                    <a:pt x="304727" y="236918"/>
                  </a:lnTo>
                  <a:lnTo>
                    <a:pt x="328049" y="280572"/>
                  </a:lnTo>
                  <a:lnTo>
                    <a:pt x="349589" y="326645"/>
                  </a:lnTo>
                  <a:lnTo>
                    <a:pt x="369227" y="374835"/>
                  </a:lnTo>
                  <a:lnTo>
                    <a:pt x="386843" y="424840"/>
                  </a:lnTo>
                  <a:lnTo>
                    <a:pt x="402316" y="476357"/>
                  </a:lnTo>
                  <a:lnTo>
                    <a:pt x="415526" y="529084"/>
                  </a:lnTo>
                  <a:lnTo>
                    <a:pt x="426353" y="582719"/>
                  </a:lnTo>
                  <a:lnTo>
                    <a:pt x="434675" y="636958"/>
                  </a:lnTo>
                  <a:lnTo>
                    <a:pt x="440374" y="691499"/>
                  </a:lnTo>
                  <a:lnTo>
                    <a:pt x="443288" y="743319"/>
                  </a:lnTo>
                  <a:lnTo>
                    <a:pt x="443870" y="794879"/>
                  </a:lnTo>
                  <a:lnTo>
                    <a:pt x="442263" y="845920"/>
                  </a:lnTo>
                  <a:lnTo>
                    <a:pt x="438614" y="896183"/>
                  </a:lnTo>
                  <a:lnTo>
                    <a:pt x="433065" y="945410"/>
                  </a:lnTo>
                  <a:lnTo>
                    <a:pt x="425761" y="993339"/>
                  </a:lnTo>
                  <a:lnTo>
                    <a:pt x="416848" y="1039713"/>
                  </a:lnTo>
                  <a:lnTo>
                    <a:pt x="406469" y="1084271"/>
                  </a:lnTo>
                  <a:lnTo>
                    <a:pt x="394768" y="1126756"/>
                  </a:lnTo>
                  <a:lnTo>
                    <a:pt x="381892" y="1166906"/>
                  </a:lnTo>
                  <a:lnTo>
                    <a:pt x="364361" y="1213417"/>
                  </a:lnTo>
                  <a:lnTo>
                    <a:pt x="345500" y="1255369"/>
                  </a:lnTo>
                  <a:lnTo>
                    <a:pt x="325591" y="1292257"/>
                  </a:lnTo>
                  <a:lnTo>
                    <a:pt x="299661" y="1330473"/>
                  </a:lnTo>
                  <a:lnTo>
                    <a:pt x="281092" y="1351515"/>
                  </a:lnTo>
                  <a:lnTo>
                    <a:pt x="278642" y="1353901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5056" y="2895600"/>
              <a:ext cx="81287" cy="644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02800" y="2957609"/>
              <a:ext cx="247650" cy="412115"/>
            </a:xfrm>
            <a:custGeom>
              <a:avLst/>
              <a:gdLst/>
              <a:ahLst/>
              <a:cxnLst/>
              <a:rect l="l" t="t" r="r" b="b"/>
              <a:pathLst>
                <a:path w="247650" h="412114">
                  <a:moveTo>
                    <a:pt x="247599" y="411565"/>
                  </a:moveTo>
                  <a:lnTo>
                    <a:pt x="201843" y="406730"/>
                  </a:lnTo>
                  <a:lnTo>
                    <a:pt x="158149" y="393067"/>
                  </a:lnTo>
                  <a:lnTo>
                    <a:pt x="117601" y="371836"/>
                  </a:lnTo>
                  <a:lnTo>
                    <a:pt x="81283" y="344299"/>
                  </a:lnTo>
                  <a:lnTo>
                    <a:pt x="50280" y="311718"/>
                  </a:lnTo>
                  <a:lnTo>
                    <a:pt x="25676" y="275352"/>
                  </a:lnTo>
                  <a:lnTo>
                    <a:pt x="8554" y="236464"/>
                  </a:lnTo>
                  <a:lnTo>
                    <a:pt x="0" y="196315"/>
                  </a:lnTo>
                  <a:lnTo>
                    <a:pt x="694" y="156166"/>
                  </a:lnTo>
                  <a:lnTo>
                    <a:pt x="9712" y="117278"/>
                  </a:lnTo>
                  <a:lnTo>
                    <a:pt x="25724" y="80912"/>
                  </a:lnTo>
                  <a:lnTo>
                    <a:pt x="47402" y="48331"/>
                  </a:lnTo>
                  <a:lnTo>
                    <a:pt x="78041" y="16695"/>
                  </a:lnTo>
                  <a:lnTo>
                    <a:pt x="87636" y="9311"/>
                  </a:lnTo>
                  <a:lnTo>
                    <a:pt x="90059" y="7538"/>
                  </a:lnTo>
                  <a:lnTo>
                    <a:pt x="92506" y="5836"/>
                  </a:lnTo>
                  <a:lnTo>
                    <a:pt x="94975" y="4210"/>
                  </a:lnTo>
                  <a:lnTo>
                    <a:pt x="96210" y="3398"/>
                  </a:lnTo>
                  <a:lnTo>
                    <a:pt x="97449" y="2604"/>
                  </a:lnTo>
                  <a:lnTo>
                    <a:pt x="98693" y="1829"/>
                  </a:lnTo>
                  <a:lnTo>
                    <a:pt x="10171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77803" y="2943320"/>
              <a:ext cx="62865" cy="41275"/>
            </a:xfrm>
            <a:custGeom>
              <a:avLst/>
              <a:gdLst/>
              <a:ahLst/>
              <a:cxnLst/>
              <a:rect l="l" t="t" r="r" b="b"/>
              <a:pathLst>
                <a:path w="62865" h="41275">
                  <a:moveTo>
                    <a:pt x="12426" y="41005"/>
                  </a:moveTo>
                  <a:lnTo>
                    <a:pt x="26715" y="14289"/>
                  </a:lnTo>
                  <a:lnTo>
                    <a:pt x="0" y="0"/>
                  </a:lnTo>
                  <a:lnTo>
                    <a:pt x="62543" y="3431"/>
                  </a:lnTo>
                  <a:lnTo>
                    <a:pt x="12426" y="4100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77803" y="2943320"/>
              <a:ext cx="62865" cy="41275"/>
            </a:xfrm>
            <a:custGeom>
              <a:avLst/>
              <a:gdLst/>
              <a:ahLst/>
              <a:cxnLst/>
              <a:rect l="l" t="t" r="r" b="b"/>
              <a:pathLst>
                <a:path w="62865" h="41275">
                  <a:moveTo>
                    <a:pt x="26715" y="14289"/>
                  </a:moveTo>
                  <a:lnTo>
                    <a:pt x="12426" y="41005"/>
                  </a:lnTo>
                  <a:lnTo>
                    <a:pt x="62543" y="3431"/>
                  </a:lnTo>
                  <a:lnTo>
                    <a:pt x="0" y="0"/>
                  </a:lnTo>
                  <a:lnTo>
                    <a:pt x="26715" y="1428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7967" y="2135717"/>
            <a:ext cx="2266527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Roboto Lt"/>
                <a:cs typeface="Roboto Lt"/>
              </a:rPr>
              <a:t>Star</a:t>
            </a:r>
            <a:r>
              <a:rPr sz="1867" spc="-87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denotes</a:t>
            </a:r>
            <a:r>
              <a:rPr sz="1867" spc="-87" dirty="0">
                <a:latin typeface="Roboto Lt"/>
                <a:cs typeface="Roboto Lt"/>
              </a:rPr>
              <a:t> </a:t>
            </a:r>
            <a:r>
              <a:rPr sz="1867" spc="-13" dirty="0">
                <a:latin typeface="Roboto Lt"/>
                <a:cs typeface="Roboto Lt"/>
              </a:rPr>
              <a:t>baseline</a:t>
            </a:r>
            <a:endParaRPr sz="1867">
              <a:latin typeface="Roboto Lt"/>
              <a:cs typeface="Roboto 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58688" y="1930685"/>
            <a:ext cx="25738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Roboto"/>
                <a:cs typeface="Roboto"/>
              </a:rPr>
              <a:t>Bold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dirty="0">
                <a:latin typeface="Roboto Lt"/>
                <a:cs typeface="Roboto Lt"/>
              </a:rPr>
              <a:t>=</a:t>
            </a:r>
            <a:r>
              <a:rPr sz="1867" spc="-4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1</a:t>
            </a:r>
            <a:r>
              <a:rPr sz="1867" spc="-4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std.</a:t>
            </a:r>
            <a:r>
              <a:rPr sz="1867" spc="-40" dirty="0">
                <a:latin typeface="Roboto Lt"/>
                <a:cs typeface="Roboto Lt"/>
              </a:rPr>
              <a:t> </a:t>
            </a:r>
            <a:r>
              <a:rPr sz="1867" spc="-27" dirty="0">
                <a:latin typeface="Roboto Lt"/>
                <a:cs typeface="Roboto Lt"/>
              </a:rPr>
              <a:t>dev.</a:t>
            </a:r>
            <a:r>
              <a:rPr sz="1867" spc="-4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of</a:t>
            </a:r>
            <a:r>
              <a:rPr sz="1867" spc="-40" dirty="0">
                <a:latin typeface="Roboto Lt"/>
                <a:cs typeface="Roboto Lt"/>
              </a:rPr>
              <a:t> </a:t>
            </a:r>
            <a:r>
              <a:rPr sz="1867" spc="-33" dirty="0">
                <a:latin typeface="Roboto Lt"/>
                <a:cs typeface="Roboto Lt"/>
              </a:rPr>
              <a:t>max</a:t>
            </a:r>
            <a:endParaRPr sz="1867">
              <a:latin typeface="Roboto Lt"/>
              <a:cs typeface="Roboto 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64567" y="4316318"/>
            <a:ext cx="15731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Roboto Lt"/>
                <a:cs typeface="Roboto Lt"/>
              </a:rPr>
              <a:t>Big</a:t>
            </a:r>
            <a:r>
              <a:rPr sz="1867" spc="-47" dirty="0">
                <a:latin typeface="Roboto Lt"/>
                <a:cs typeface="Roboto Lt"/>
              </a:rPr>
              <a:t> </a:t>
            </a:r>
            <a:r>
              <a:rPr sz="1867" spc="-13" dirty="0">
                <a:latin typeface="Roboto Lt"/>
                <a:cs typeface="Roboto Lt"/>
              </a:rPr>
              <a:t>training</a:t>
            </a:r>
            <a:r>
              <a:rPr sz="1867" spc="-47" dirty="0">
                <a:latin typeface="Roboto Lt"/>
                <a:cs typeface="Roboto Lt"/>
              </a:rPr>
              <a:t> </a:t>
            </a:r>
            <a:r>
              <a:rPr sz="1867" spc="-33" dirty="0">
                <a:latin typeface="Roboto Lt"/>
                <a:cs typeface="Roboto Lt"/>
              </a:rPr>
              <a:t>set</a:t>
            </a:r>
            <a:endParaRPr sz="1867">
              <a:latin typeface="Roboto Lt"/>
              <a:cs typeface="Roboto Lt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383CC9E-0D9B-BBDF-3AEA-B8E139B12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AA7615-68E5-446C-70EB-2583484E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Axis of Decisions for Pre-training and Fine-tuning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24C7F-1419-D3BF-2B17-4EB19112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60C090-5EA0-7BA5-D5A2-261A5ADD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84" y="1657906"/>
            <a:ext cx="9217152" cy="425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02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3DD0-F3EF-A049-6CE5-2547488C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25560-DE82-0135-DE28-2DEE2F286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BF663-EA2E-F20E-2307-9F92B01F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50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26644C4-5F68-BBB9-8ABC-9FACAD74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 variants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43A06C-3782-19EF-B055-D51883E9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C377F-ADF1-0D97-8CA8-4F6D45910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2"/>
          <a:stretch/>
        </p:blipFill>
        <p:spPr>
          <a:xfrm>
            <a:off x="1068018" y="1281176"/>
            <a:ext cx="9235973" cy="40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59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6528-5C25-F614-C919-801010DC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A38F7BB-52DB-BD22-9088-05E197BC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 variants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D9AF9-C7F9-4EA5-0CE2-0B2E9E3E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6150C-020B-78BA-B531-FDD0C590F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8" y="1281176"/>
            <a:ext cx="9235973" cy="482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99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81C0603-111B-204E-EEE5-95F633A787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7" name="Picture 6" descr="A diagram of a language model&#10;&#10;Description automatically generated">
            <a:extLst>
              <a:ext uri="{FF2B5EF4-FFF2-40B4-BE49-F238E27FC236}">
                <a16:creationId xmlns:a16="http://schemas.microsoft.com/office/drawing/2014/main" id="{00747F3F-BEC2-81B9-A593-175F7F2BE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40" y="68263"/>
            <a:ext cx="11342119" cy="635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16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923C8D-8545-A9FC-36D6-3D6E01D8C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799"/>
            <a:ext cx="11620501" cy="6275069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18F2DF-F5E8-922A-595C-B4441178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9D00882-420D-446F-B065-6675A463A27F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34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EB20A0-3E5F-6057-E2D7-EB96082BC1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0AF38-8C10-80A0-7A4E-7C0A1F8D9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185737"/>
            <a:ext cx="1170622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937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648" y="310214"/>
            <a:ext cx="11592697" cy="20114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9718" y="2868331"/>
            <a:ext cx="2156921" cy="34414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6372" y="3699775"/>
            <a:ext cx="2708505" cy="24617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04918" y="6335162"/>
            <a:ext cx="3725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133" spc="-33" dirty="0">
                <a:latin typeface="Courier New"/>
                <a:cs typeface="Courier New"/>
              </a:rPr>
              <a:t>x</a:t>
            </a:r>
            <a:r>
              <a:rPr sz="2100" spc="-49" baseline="-31746" dirty="0">
                <a:latin typeface="Courier New"/>
                <a:cs typeface="Courier New"/>
              </a:rPr>
              <a:t>1</a:t>
            </a:r>
            <a:endParaRPr sz="2100" baseline="-31746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7224" y="6361917"/>
            <a:ext cx="14926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  <a:tabLst>
                <a:tab pos="618897" algn="l"/>
                <a:tab pos="1170063" algn="l"/>
              </a:tabLst>
            </a:pP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3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4</a:t>
            </a:r>
            <a:endParaRPr baseline="-3395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31816" y="3699775"/>
            <a:ext cx="2708505" cy="246172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85106" y="2407745"/>
            <a:ext cx="1459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  <a:tabLst>
                <a:tab pos="649377" algn="l"/>
                <a:tab pos="1248802" algn="l"/>
              </a:tabLst>
            </a:pP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1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67" dirty="0">
                <a:latin typeface="Courier New"/>
                <a:cs typeface="Courier New"/>
              </a:rPr>
              <a:t>.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7960" y="4996764"/>
            <a:ext cx="369332" cy="1174325"/>
          </a:xfrm>
          <a:prstGeom prst="rect">
            <a:avLst/>
          </a:prstGeom>
        </p:spPr>
        <p:txBody>
          <a:bodyPr vert="vert270" wrap="square" lIns="0" tIns="8467" rIns="0" bIns="0" rtlCol="0">
            <a:spAutoFit/>
          </a:bodyPr>
          <a:lstStyle/>
          <a:p>
            <a:pPr marL="16933">
              <a:spcBef>
                <a:spcPts val="67"/>
              </a:spcBef>
            </a:pPr>
            <a:r>
              <a:rPr sz="2400" spc="-13" dirty="0">
                <a:latin typeface="Tahoma"/>
                <a:cs typeface="Tahoma"/>
              </a:rPr>
              <a:t>Encoder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4532" y="3026029"/>
            <a:ext cx="369332" cy="1197187"/>
          </a:xfrm>
          <a:prstGeom prst="rect">
            <a:avLst/>
          </a:prstGeom>
        </p:spPr>
        <p:txBody>
          <a:bodyPr vert="vert270" wrap="square" lIns="0" tIns="8467" rIns="0" bIns="0" rtlCol="0">
            <a:spAutoFit/>
          </a:bodyPr>
          <a:lstStyle/>
          <a:p>
            <a:pPr marL="16933">
              <a:spcBef>
                <a:spcPts val="67"/>
              </a:spcBef>
            </a:pPr>
            <a:r>
              <a:rPr sz="2400" spc="-13" dirty="0">
                <a:latin typeface="Tahoma"/>
                <a:cs typeface="Tahoma"/>
              </a:rPr>
              <a:t>Decoder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8258" y="6198631"/>
            <a:ext cx="26390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  <a:tabLst>
                <a:tab pos="649377" algn="l"/>
                <a:tab pos="1201390" algn="l"/>
                <a:tab pos="1731390" algn="l"/>
                <a:tab pos="2282556" algn="l"/>
              </a:tabLst>
            </a:pP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1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3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1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endParaRPr baseline="-33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6310" y="2634328"/>
            <a:ext cx="2557780" cy="901166"/>
          </a:xfrm>
          <a:prstGeom prst="rect">
            <a:avLst/>
          </a:prstGeom>
        </p:spPr>
        <p:txBody>
          <a:bodyPr vert="horz" wrap="square" lIns="0" tIns="140547" rIns="0" bIns="0" rtlCol="0">
            <a:spAutoFit/>
          </a:bodyPr>
          <a:lstStyle/>
          <a:p>
            <a:pPr marL="168481">
              <a:spcBef>
                <a:spcPts val="1107"/>
              </a:spcBef>
            </a:pPr>
            <a:r>
              <a:rPr sz="2400" dirty="0">
                <a:latin typeface="Tahoma"/>
                <a:cs typeface="Tahoma"/>
              </a:rPr>
              <a:t>Language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model</a:t>
            </a:r>
            <a:endParaRPr sz="2400">
              <a:latin typeface="Tahoma"/>
              <a:cs typeface="Tahoma"/>
            </a:endParaRPr>
          </a:p>
          <a:p>
            <a:pPr marL="135463">
              <a:spcBef>
                <a:spcPts val="760"/>
              </a:spcBef>
              <a:tabLst>
                <a:tab pos="717109" algn="l"/>
                <a:tab pos="1258115" algn="l"/>
                <a:tab pos="1809281" algn="l"/>
                <a:tab pos="2346901" algn="l"/>
              </a:tabLst>
            </a:pP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3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1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67" dirty="0">
                <a:latin typeface="Courier New"/>
                <a:cs typeface="Courier New"/>
              </a:rPr>
              <a:t>.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42814" y="6198631"/>
            <a:ext cx="26390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  <a:tabLst>
                <a:tab pos="649377" algn="l"/>
                <a:tab pos="1201390" algn="l"/>
                <a:tab pos="1731390" algn="l"/>
                <a:tab pos="2282556" algn="l"/>
              </a:tabLst>
            </a:pP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1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3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1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endParaRPr baseline="-33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48599" y="2634328"/>
            <a:ext cx="2490047" cy="901166"/>
          </a:xfrm>
          <a:prstGeom prst="rect">
            <a:avLst/>
          </a:prstGeom>
        </p:spPr>
        <p:txBody>
          <a:bodyPr vert="horz" wrap="square" lIns="0" tIns="140547" rIns="0" bIns="0" rtlCol="0">
            <a:spAutoFit/>
          </a:bodyPr>
          <a:lstStyle/>
          <a:p>
            <a:pPr algn="ctr">
              <a:spcBef>
                <a:spcPts val="1107"/>
              </a:spcBef>
            </a:pPr>
            <a:r>
              <a:rPr sz="2400" dirty="0">
                <a:latin typeface="Tahoma"/>
                <a:cs typeface="Tahoma"/>
              </a:rPr>
              <a:t>Prefix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140" dirty="0">
                <a:latin typeface="Tahoma"/>
                <a:cs typeface="Tahoma"/>
              </a:rPr>
              <a:t>LM</a:t>
            </a:r>
            <a:endParaRPr sz="2400">
              <a:latin typeface="Tahoma"/>
              <a:cs typeface="Tahoma"/>
            </a:endParaRPr>
          </a:p>
          <a:p>
            <a:pPr algn="ctr">
              <a:spcBef>
                <a:spcPts val="760"/>
              </a:spcBef>
              <a:tabLst>
                <a:tab pos="581645" algn="l"/>
                <a:tab pos="1122652" algn="l"/>
                <a:tab pos="1673818" algn="l"/>
                <a:tab pos="2211438" algn="l"/>
              </a:tabLst>
            </a:pP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x</a:t>
            </a:r>
            <a:r>
              <a:rPr spc="-49" baseline="-33950" dirty="0">
                <a:latin typeface="Courier New"/>
                <a:cs typeface="Courier New"/>
              </a:rPr>
              <a:t>3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1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33" dirty="0">
                <a:latin typeface="Courier New"/>
                <a:cs typeface="Courier New"/>
              </a:rPr>
              <a:t>y</a:t>
            </a:r>
            <a:r>
              <a:rPr spc="-49" baseline="-33950" dirty="0">
                <a:latin typeface="Courier New"/>
                <a:cs typeface="Courier New"/>
              </a:rPr>
              <a:t>2</a:t>
            </a:r>
            <a:r>
              <a:rPr baseline="-33950" dirty="0">
                <a:latin typeface="Courier New"/>
                <a:cs typeface="Courier New"/>
              </a:rPr>
              <a:t>	</a:t>
            </a:r>
            <a:r>
              <a:rPr sz="1867" spc="-67" dirty="0">
                <a:latin typeface="Courier New"/>
                <a:cs typeface="Courier New"/>
              </a:rPr>
              <a:t>.</a:t>
            </a:r>
            <a:endParaRPr sz="1867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56DA04-986A-5A1B-0423-7E79E9CC8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4645153"/>
            <a:ext cx="11658601" cy="1609344"/>
          </a:xfrm>
        </p:spPr>
        <p:txBody>
          <a:bodyPr/>
          <a:lstStyle/>
          <a:p>
            <a:pPr algn="l"/>
            <a:r>
              <a:rPr lang="en-US" sz="2000" b="0" i="0" u="none" strike="noStrike" baseline="0" dirty="0">
                <a:latin typeface="ArialMT"/>
              </a:rPr>
              <a:t>Sharing parameters in encoder and decoder models perform nearly as well as the baseline.</a:t>
            </a:r>
          </a:p>
          <a:p>
            <a:pPr algn="l"/>
            <a:r>
              <a:rPr lang="en-US" sz="2000" b="0" i="0" u="none" strike="noStrike" baseline="0" dirty="0">
                <a:latin typeface="ArialMT"/>
              </a:rPr>
              <a:t>Halving the number of layers in encoder and decoder hurts the performance.</a:t>
            </a:r>
          </a:p>
          <a:p>
            <a:pPr algn="l"/>
            <a:r>
              <a:rPr lang="en-US" sz="2000" b="0" i="0" u="none" strike="noStrike" baseline="0" dirty="0">
                <a:latin typeface="ArialMT"/>
              </a:rPr>
              <a:t>Performance of Encoder and Decoder with shared parameters is better than decoder only LM and prefix LM.</a:t>
            </a:r>
            <a:endParaRPr lang="en-US" sz="2000" dirty="0"/>
          </a:p>
          <a:p>
            <a:pPr algn="l"/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242AEC-9A57-E4E0-49A2-1468E765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E68A9-0578-DB58-7493-93ED226B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82CF69E0-3D84-2623-425B-C408164CC4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07" y="1797539"/>
            <a:ext cx="11592697" cy="201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271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1982-5253-93D2-9DAA-D8B4933C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F3AC9-3B0A-8470-F5B3-0A3C83FEB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04786-9957-9638-B52D-2460B76A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08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BF8FCA-6FC7-FBC4-DAB0-056F0B8D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Different Unsupervised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38B5FE-17E9-76A6-4F38-889DE669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3680E-89D7-F016-6255-9E987ED4B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09"/>
          <a:stretch/>
        </p:blipFill>
        <p:spPr>
          <a:xfrm>
            <a:off x="751336" y="1507694"/>
            <a:ext cx="10145873" cy="449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59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47303B-658D-EF95-7F9B-D3CDF9EAA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EA4B4B-A633-8564-0DEF-105056AF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5B9B-BAD5-B54C-CF28-537AE9C1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FF8F8-A2D0-B191-3E45-320CFAB69A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41" b="2189"/>
          <a:stretch/>
        </p:blipFill>
        <p:spPr>
          <a:xfrm>
            <a:off x="929031" y="1514773"/>
            <a:ext cx="10014508" cy="41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626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86A96F-C9BD-B56F-1AA9-E177226D9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Different BERT-style Unsupervised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ADF08-FD18-2A51-7311-C448FDC3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989B0-2B6E-2296-6C49-C48B9B1C9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31" y="1310353"/>
            <a:ext cx="10741937" cy="486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175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77E586-C9E0-7EFF-1F24-942164D1A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" y="1059152"/>
            <a:ext cx="11658600" cy="527309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979A249-B489-9B51-41B8-00632C1C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Comparison of variants of the BERT-style pre-training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50DEC-1F5F-FF7E-CAAA-304B3918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051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A5F064-5DC6-9833-5CD9-D2AE44708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B41B06-BED5-D54C-4916-D5AAFBB1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9371D-8ED6-7659-64D8-E40EE1EB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594B8A-6D3E-BF63-BDF9-0A2626C242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89"/>
          <a:stretch/>
        </p:blipFill>
        <p:spPr>
          <a:xfrm>
            <a:off x="1206475" y="1638605"/>
            <a:ext cx="8690991" cy="422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915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4C549D-EC53-B649-4324-11E8A7A7E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EEAC77-82CF-CE40-7B31-F4750A19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A90DE-CCDE-D3A9-1E4A-814557EE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F5A3C-E712-666D-BA86-AECC0294EB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99" b="4792"/>
          <a:stretch/>
        </p:blipFill>
        <p:spPr>
          <a:xfrm>
            <a:off x="775411" y="1623974"/>
            <a:ext cx="10336378" cy="439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014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3689C5-2395-929C-CB78-74657B440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812" y="1266825"/>
            <a:ext cx="9858375" cy="48577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A5532D4-1CE3-0331-0BB7-82EB8FB3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2E278-F8A7-C45E-28D3-55A32842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75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B08517-9AD0-6124-0690-463481B44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75" t="1436" r="-1375" b="3655"/>
          <a:stretch/>
        </p:blipFill>
        <p:spPr>
          <a:xfrm>
            <a:off x="647091" y="1499616"/>
            <a:ext cx="10109426" cy="438180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7AEFAB2-AB6E-F0C5-E1B1-4D641F7D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B790F-6E40-02FA-F09F-9D05AB63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29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F7C7FF-B276-7212-112F-4D251C3E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Pre-training dataset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E5537-2CDE-E431-6AFC-050DC37CA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8710B-7300-11D1-408E-4A35F48A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212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228" y="1633414"/>
            <a:ext cx="11436773" cy="3136900"/>
            <a:chOff x="310671" y="1225060"/>
            <a:chExt cx="8577580" cy="235267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671" y="1225060"/>
              <a:ext cx="8577028" cy="17942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6475" y="2804264"/>
              <a:ext cx="238125" cy="764540"/>
            </a:xfrm>
            <a:custGeom>
              <a:avLst/>
              <a:gdLst/>
              <a:ahLst/>
              <a:cxnLst/>
              <a:rect l="l" t="t" r="r" b="b"/>
              <a:pathLst>
                <a:path w="238125" h="764539">
                  <a:moveTo>
                    <a:pt x="238124" y="763935"/>
                  </a:moveTo>
                  <a:lnTo>
                    <a:pt x="173306" y="745866"/>
                  </a:lnTo>
                  <a:lnTo>
                    <a:pt x="112126" y="696322"/>
                  </a:lnTo>
                  <a:lnTo>
                    <a:pt x="84488" y="661932"/>
                  </a:lnTo>
                  <a:lnTo>
                    <a:pt x="59665" y="622297"/>
                  </a:lnTo>
                  <a:lnTo>
                    <a:pt x="38292" y="578291"/>
                  </a:lnTo>
                  <a:lnTo>
                    <a:pt x="21004" y="530787"/>
                  </a:lnTo>
                  <a:lnTo>
                    <a:pt x="8435" y="480660"/>
                  </a:lnTo>
                  <a:lnTo>
                    <a:pt x="1222" y="428784"/>
                  </a:lnTo>
                  <a:lnTo>
                    <a:pt x="0" y="376035"/>
                  </a:lnTo>
                  <a:lnTo>
                    <a:pt x="4529" y="327659"/>
                  </a:lnTo>
                  <a:lnTo>
                    <a:pt x="14186" y="279958"/>
                  </a:lnTo>
                  <a:lnTo>
                    <a:pt x="28534" y="233603"/>
                  </a:lnTo>
                  <a:lnTo>
                    <a:pt x="47133" y="189268"/>
                  </a:lnTo>
                  <a:lnTo>
                    <a:pt x="69544" y="147627"/>
                  </a:lnTo>
                  <a:lnTo>
                    <a:pt x="95329" y="109353"/>
                  </a:lnTo>
                  <a:lnTo>
                    <a:pt x="139373" y="59730"/>
                  </a:lnTo>
                  <a:lnTo>
                    <a:pt x="188540" y="21470"/>
                  </a:lnTo>
                  <a:lnTo>
                    <a:pt x="223425" y="3346"/>
                  </a:lnTo>
                  <a:lnTo>
                    <a:pt x="227888" y="1600"/>
                  </a:lnTo>
                  <a:lnTo>
                    <a:pt x="229003" y="1164"/>
                  </a:lnTo>
                  <a:lnTo>
                    <a:pt x="230120" y="737"/>
                  </a:lnTo>
                  <a:lnTo>
                    <a:pt x="231239" y="321"/>
                  </a:lnTo>
                  <a:lnTo>
                    <a:pt x="232125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93641" y="2787091"/>
              <a:ext cx="62230" cy="42545"/>
            </a:xfrm>
            <a:custGeom>
              <a:avLst/>
              <a:gdLst/>
              <a:ahLst/>
              <a:cxnLst/>
              <a:rect l="l" t="t" r="r" b="b"/>
              <a:pathLst>
                <a:path w="62229" h="42544">
                  <a:moveTo>
                    <a:pt x="7786" y="42133"/>
                  </a:moveTo>
                  <a:lnTo>
                    <a:pt x="24959" y="17173"/>
                  </a:lnTo>
                  <a:lnTo>
                    <a:pt x="0" y="0"/>
                  </a:lnTo>
                  <a:lnTo>
                    <a:pt x="61772" y="10369"/>
                  </a:lnTo>
                  <a:lnTo>
                    <a:pt x="7786" y="4213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93641" y="2787091"/>
              <a:ext cx="62230" cy="42545"/>
            </a:xfrm>
            <a:custGeom>
              <a:avLst/>
              <a:gdLst/>
              <a:ahLst/>
              <a:cxnLst/>
              <a:rect l="l" t="t" r="r" b="b"/>
              <a:pathLst>
                <a:path w="62229" h="42544">
                  <a:moveTo>
                    <a:pt x="24959" y="17173"/>
                  </a:moveTo>
                  <a:lnTo>
                    <a:pt x="7786" y="42133"/>
                  </a:lnTo>
                  <a:lnTo>
                    <a:pt x="61772" y="10369"/>
                  </a:lnTo>
                  <a:lnTo>
                    <a:pt x="0" y="0"/>
                  </a:lnTo>
                  <a:lnTo>
                    <a:pt x="24959" y="1717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63501" y="4113618"/>
            <a:ext cx="2630593" cy="10586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18530">
              <a:spcBef>
                <a:spcPts val="133"/>
              </a:spcBef>
            </a:pPr>
            <a:r>
              <a:rPr sz="1867" dirty="0">
                <a:latin typeface="Roboto Lt"/>
                <a:cs typeface="Roboto Lt"/>
              </a:rPr>
              <a:t>Much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better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on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spc="-13" dirty="0">
                <a:latin typeface="Roboto Lt"/>
                <a:cs typeface="Roboto Lt"/>
              </a:rPr>
              <a:t>ReCoRD</a:t>
            </a:r>
            <a:endParaRPr sz="1867">
              <a:latin typeface="Roboto Lt"/>
              <a:cs typeface="Roboto Lt"/>
            </a:endParaRPr>
          </a:p>
          <a:p>
            <a:pPr marL="16933">
              <a:spcBef>
                <a:spcPts val="1447"/>
              </a:spcBef>
            </a:pPr>
            <a:r>
              <a:rPr sz="1867" dirty="0">
                <a:latin typeface="Roboto Lt"/>
                <a:cs typeface="Roboto Lt"/>
              </a:rPr>
              <a:t>Much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better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on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spc="-13" dirty="0">
                <a:latin typeface="Roboto Lt"/>
                <a:cs typeface="Roboto Lt"/>
              </a:rPr>
              <a:t>MultiRC</a:t>
            </a:r>
            <a:endParaRPr sz="1867">
              <a:latin typeface="Roboto Lt"/>
              <a:cs typeface="Roboto L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75099" y="2897971"/>
            <a:ext cx="4005580" cy="1405467"/>
            <a:chOff x="2906324" y="2173478"/>
            <a:chExt cx="3004185" cy="1054100"/>
          </a:xfrm>
        </p:grpSpPr>
        <p:sp>
          <p:nvSpPr>
            <p:cNvPr id="9" name="object 9"/>
            <p:cNvSpPr/>
            <p:nvPr/>
          </p:nvSpPr>
          <p:spPr>
            <a:xfrm>
              <a:off x="5662674" y="2195891"/>
              <a:ext cx="238125" cy="1021715"/>
            </a:xfrm>
            <a:custGeom>
              <a:avLst/>
              <a:gdLst/>
              <a:ahLst/>
              <a:cxnLst/>
              <a:rect l="l" t="t" r="r" b="b"/>
              <a:pathLst>
                <a:path w="238125" h="1021714">
                  <a:moveTo>
                    <a:pt x="238124" y="1021258"/>
                  </a:moveTo>
                  <a:lnTo>
                    <a:pt x="183602" y="1003686"/>
                  </a:lnTo>
                  <a:lnTo>
                    <a:pt x="131674" y="954769"/>
                  </a:lnTo>
                  <a:lnTo>
                    <a:pt x="107498" y="920337"/>
                  </a:lnTo>
                  <a:lnTo>
                    <a:pt x="84949" y="880207"/>
                  </a:lnTo>
                  <a:lnTo>
                    <a:pt x="64351" y="835089"/>
                  </a:lnTo>
                  <a:lnTo>
                    <a:pt x="46031" y="785698"/>
                  </a:lnTo>
                  <a:lnTo>
                    <a:pt x="30315" y="732744"/>
                  </a:lnTo>
                  <a:lnTo>
                    <a:pt x="17527" y="676941"/>
                  </a:lnTo>
                  <a:lnTo>
                    <a:pt x="7995" y="619000"/>
                  </a:lnTo>
                  <a:lnTo>
                    <a:pt x="2044" y="559635"/>
                  </a:lnTo>
                  <a:lnTo>
                    <a:pt x="0" y="499558"/>
                  </a:lnTo>
                  <a:lnTo>
                    <a:pt x="1797" y="443757"/>
                  </a:lnTo>
                  <a:lnTo>
                    <a:pt x="6983" y="388526"/>
                  </a:lnTo>
                  <a:lnTo>
                    <a:pt x="15298" y="334435"/>
                  </a:lnTo>
                  <a:lnTo>
                    <a:pt x="26480" y="282056"/>
                  </a:lnTo>
                  <a:lnTo>
                    <a:pt x="40270" y="231959"/>
                  </a:lnTo>
                  <a:lnTo>
                    <a:pt x="56406" y="184713"/>
                  </a:lnTo>
                  <a:lnTo>
                    <a:pt x="74629" y="140889"/>
                  </a:lnTo>
                  <a:lnTo>
                    <a:pt x="92081" y="105799"/>
                  </a:lnTo>
                  <a:lnTo>
                    <a:pt x="130480" y="46318"/>
                  </a:lnTo>
                  <a:lnTo>
                    <a:pt x="156344" y="17486"/>
                  </a:lnTo>
                  <a:lnTo>
                    <a:pt x="175079" y="1611"/>
                  </a:lnTo>
                  <a:lnTo>
                    <a:pt x="177308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2564" y="2183003"/>
              <a:ext cx="62865" cy="40640"/>
            </a:xfrm>
            <a:custGeom>
              <a:avLst/>
              <a:gdLst/>
              <a:ahLst/>
              <a:cxnLst/>
              <a:rect l="l" t="t" r="r" b="b"/>
              <a:pathLst>
                <a:path w="62864" h="40639">
                  <a:moveTo>
                    <a:pt x="14531" y="40307"/>
                  </a:moveTo>
                  <a:lnTo>
                    <a:pt x="27419" y="12887"/>
                  </a:lnTo>
                  <a:lnTo>
                    <a:pt x="0" y="0"/>
                  </a:lnTo>
                  <a:lnTo>
                    <a:pt x="62637" y="191"/>
                  </a:lnTo>
                  <a:lnTo>
                    <a:pt x="14531" y="4030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2564" y="2183003"/>
              <a:ext cx="62865" cy="40640"/>
            </a:xfrm>
            <a:custGeom>
              <a:avLst/>
              <a:gdLst/>
              <a:ahLst/>
              <a:cxnLst/>
              <a:rect l="l" t="t" r="r" b="b"/>
              <a:pathLst>
                <a:path w="62864" h="40639">
                  <a:moveTo>
                    <a:pt x="27419" y="12887"/>
                  </a:moveTo>
                  <a:lnTo>
                    <a:pt x="14531" y="40307"/>
                  </a:lnTo>
                  <a:lnTo>
                    <a:pt x="62637" y="191"/>
                  </a:lnTo>
                  <a:lnTo>
                    <a:pt x="0" y="0"/>
                  </a:lnTo>
                  <a:lnTo>
                    <a:pt x="27419" y="12887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15849" y="2609015"/>
              <a:ext cx="178435" cy="608965"/>
            </a:xfrm>
            <a:custGeom>
              <a:avLst/>
              <a:gdLst/>
              <a:ahLst/>
              <a:cxnLst/>
              <a:rect l="l" t="t" r="r" b="b"/>
              <a:pathLst>
                <a:path w="178435" h="608964">
                  <a:moveTo>
                    <a:pt x="172475" y="608934"/>
                  </a:moveTo>
                  <a:lnTo>
                    <a:pt x="107926" y="582160"/>
                  </a:lnTo>
                  <a:lnTo>
                    <a:pt x="77721" y="551431"/>
                  </a:lnTo>
                  <a:lnTo>
                    <a:pt x="50650" y="511575"/>
                  </a:lnTo>
                  <a:lnTo>
                    <a:pt x="28027" y="464416"/>
                  </a:lnTo>
                  <a:lnTo>
                    <a:pt x="11167" y="411782"/>
                  </a:lnTo>
                  <a:lnTo>
                    <a:pt x="1386" y="355496"/>
                  </a:lnTo>
                  <a:lnTo>
                    <a:pt x="0" y="297384"/>
                  </a:lnTo>
                  <a:lnTo>
                    <a:pt x="5610" y="250808"/>
                  </a:lnTo>
                  <a:lnTo>
                    <a:pt x="16865" y="205165"/>
                  </a:lnTo>
                  <a:lnTo>
                    <a:pt x="33195" y="161393"/>
                  </a:lnTo>
                  <a:lnTo>
                    <a:pt x="54031" y="120424"/>
                  </a:lnTo>
                  <a:lnTo>
                    <a:pt x="78803" y="83194"/>
                  </a:lnTo>
                  <a:lnTo>
                    <a:pt x="114435" y="43337"/>
                  </a:lnTo>
                  <a:lnTo>
                    <a:pt x="154216" y="12608"/>
                  </a:lnTo>
                  <a:lnTo>
                    <a:pt x="177998" y="1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8332" y="2592750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30" h="41910">
                  <a:moveTo>
                    <a:pt x="9296" y="41825"/>
                  </a:moveTo>
                  <a:lnTo>
                    <a:pt x="25561" y="16264"/>
                  </a:lnTo>
                  <a:lnTo>
                    <a:pt x="0" y="0"/>
                  </a:lnTo>
                  <a:lnTo>
                    <a:pt x="62106" y="8141"/>
                  </a:lnTo>
                  <a:lnTo>
                    <a:pt x="9296" y="418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8332" y="2592750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30" h="41910">
                  <a:moveTo>
                    <a:pt x="25561" y="16264"/>
                  </a:moveTo>
                  <a:lnTo>
                    <a:pt x="9296" y="41825"/>
                  </a:lnTo>
                  <a:lnTo>
                    <a:pt x="62106" y="8141"/>
                  </a:lnTo>
                  <a:lnTo>
                    <a:pt x="0" y="0"/>
                  </a:lnTo>
                  <a:lnTo>
                    <a:pt x="25561" y="16264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152167" y="4114684"/>
            <a:ext cx="3313853" cy="7712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079473">
              <a:spcBef>
                <a:spcPts val="133"/>
              </a:spcBef>
            </a:pPr>
            <a:r>
              <a:rPr sz="1867" dirty="0">
                <a:latin typeface="Roboto Lt"/>
                <a:cs typeface="Roboto Lt"/>
              </a:rPr>
              <a:t>Much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worse</a:t>
            </a:r>
            <a:r>
              <a:rPr sz="1867" spc="-53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on</a:t>
            </a:r>
            <a:r>
              <a:rPr sz="1867" spc="-60" dirty="0">
                <a:latin typeface="Roboto Lt"/>
                <a:cs typeface="Roboto Lt"/>
              </a:rPr>
              <a:t> </a:t>
            </a:r>
            <a:r>
              <a:rPr sz="1867" spc="-27" dirty="0">
                <a:latin typeface="Roboto Lt"/>
                <a:cs typeface="Roboto Lt"/>
              </a:rPr>
              <a:t>CoLA</a:t>
            </a:r>
            <a:endParaRPr sz="1867">
              <a:latin typeface="Roboto Lt"/>
              <a:cs typeface="Roboto Lt"/>
            </a:endParaRPr>
          </a:p>
          <a:p>
            <a:pPr marL="16933">
              <a:spcBef>
                <a:spcPts val="1433"/>
              </a:spcBef>
            </a:pPr>
            <a:r>
              <a:rPr sz="1867" dirty="0">
                <a:latin typeface="Roboto Lt"/>
                <a:cs typeface="Roboto Lt"/>
              </a:rPr>
              <a:t>Order</a:t>
            </a:r>
            <a:r>
              <a:rPr sz="1867" spc="-33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of</a:t>
            </a:r>
            <a:r>
              <a:rPr sz="1867" spc="-33" dirty="0">
                <a:latin typeface="Roboto Lt"/>
                <a:cs typeface="Roboto Lt"/>
              </a:rPr>
              <a:t> </a:t>
            </a:r>
            <a:r>
              <a:rPr sz="1867" spc="-13" dirty="0">
                <a:latin typeface="Roboto Lt"/>
                <a:cs typeface="Roboto Lt"/>
              </a:rPr>
              <a:t>magnitude</a:t>
            </a:r>
            <a:r>
              <a:rPr sz="1867" spc="-33" dirty="0">
                <a:latin typeface="Roboto Lt"/>
                <a:cs typeface="Roboto Lt"/>
              </a:rPr>
              <a:t> </a:t>
            </a:r>
            <a:r>
              <a:rPr sz="1867" spc="-13" dirty="0">
                <a:latin typeface="Roboto Lt"/>
                <a:cs typeface="Roboto Lt"/>
              </a:rPr>
              <a:t>smaller</a:t>
            </a:r>
            <a:endParaRPr sz="1867">
              <a:latin typeface="Roboto Lt"/>
              <a:cs typeface="Roboto L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61324" y="3334000"/>
            <a:ext cx="593512" cy="1424093"/>
          </a:xfrm>
          <a:custGeom>
            <a:avLst/>
            <a:gdLst/>
            <a:ahLst/>
            <a:cxnLst/>
            <a:rect l="l" t="t" r="r" b="b"/>
            <a:pathLst>
              <a:path w="445135" h="1068070">
                <a:moveTo>
                  <a:pt x="445106" y="1067699"/>
                </a:moveTo>
                <a:lnTo>
                  <a:pt x="403986" y="1064637"/>
                </a:lnTo>
                <a:lnTo>
                  <a:pt x="363676" y="1055709"/>
                </a:lnTo>
                <a:lnTo>
                  <a:pt x="324387" y="1041307"/>
                </a:lnTo>
                <a:lnTo>
                  <a:pt x="286331" y="1021822"/>
                </a:lnTo>
                <a:lnTo>
                  <a:pt x="249720" y="997645"/>
                </a:lnTo>
                <a:lnTo>
                  <a:pt x="214765" y="969167"/>
                </a:lnTo>
                <a:lnTo>
                  <a:pt x="181679" y="936779"/>
                </a:lnTo>
                <a:lnTo>
                  <a:pt x="150674" y="900871"/>
                </a:lnTo>
                <a:lnTo>
                  <a:pt x="121960" y="861836"/>
                </a:lnTo>
                <a:lnTo>
                  <a:pt x="95750" y="820064"/>
                </a:lnTo>
                <a:lnTo>
                  <a:pt x="72256" y="775946"/>
                </a:lnTo>
                <a:lnTo>
                  <a:pt x="51689" y="729873"/>
                </a:lnTo>
                <a:lnTo>
                  <a:pt x="34261" y="682235"/>
                </a:lnTo>
                <a:lnTo>
                  <a:pt x="20185" y="633425"/>
                </a:lnTo>
                <a:lnTo>
                  <a:pt x="9671" y="583833"/>
                </a:lnTo>
                <a:lnTo>
                  <a:pt x="2932" y="533849"/>
                </a:lnTo>
                <a:lnTo>
                  <a:pt x="0" y="476749"/>
                </a:lnTo>
                <a:lnTo>
                  <a:pt x="1846" y="420231"/>
                </a:lnTo>
                <a:lnTo>
                  <a:pt x="8045" y="364881"/>
                </a:lnTo>
                <a:lnTo>
                  <a:pt x="18167" y="311282"/>
                </a:lnTo>
                <a:lnTo>
                  <a:pt x="31785" y="260018"/>
                </a:lnTo>
                <a:lnTo>
                  <a:pt x="48471" y="211672"/>
                </a:lnTo>
                <a:lnTo>
                  <a:pt x="67799" y="166828"/>
                </a:lnTo>
                <a:lnTo>
                  <a:pt x="89339" y="126069"/>
                </a:lnTo>
                <a:lnTo>
                  <a:pt x="112665" y="89980"/>
                </a:lnTo>
                <a:lnTo>
                  <a:pt x="137348" y="59143"/>
                </a:lnTo>
                <a:lnTo>
                  <a:pt x="189077" y="15564"/>
                </a:lnTo>
                <a:lnTo>
                  <a:pt x="215268" y="3988"/>
                </a:lnTo>
                <a:lnTo>
                  <a:pt x="241106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34DB02EC-9704-7DB6-FA7D-A4FDB8EEE444}"/>
              </a:ext>
            </a:extLst>
          </p:cNvPr>
          <p:cNvSpPr/>
          <p:nvPr/>
        </p:nvSpPr>
        <p:spPr>
          <a:xfrm>
            <a:off x="2789801" y="2829580"/>
            <a:ext cx="317500" cy="996992"/>
          </a:xfrm>
          <a:prstGeom prst="leftBrace">
            <a:avLst>
              <a:gd name="adj1" fmla="val 8333"/>
              <a:gd name="adj2" fmla="val 49248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3635" y="2557841"/>
            <a:ext cx="7311973" cy="41928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102" y="235707"/>
            <a:ext cx="11423759" cy="214627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62474E-24FF-252C-4628-071623EE4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" y="1056710"/>
            <a:ext cx="11658600" cy="5277979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369994B-B4A0-9B9D-B044-C0E33C14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F8B474-C3EF-FE89-58C6-D065051E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201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1696-A74C-B8D4-BDC9-015B6450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Multi-task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0B4C6-55A2-6B0B-C95E-7ACB8A8B0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F2F8C-D095-26C9-920C-F77ECE16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04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47298" y="5028705"/>
            <a:ext cx="2135293" cy="1284392"/>
            <a:chOff x="5060473" y="3771529"/>
            <a:chExt cx="1601470" cy="963294"/>
          </a:xfrm>
        </p:grpSpPr>
        <p:sp>
          <p:nvSpPr>
            <p:cNvPr id="3" name="object 3"/>
            <p:cNvSpPr/>
            <p:nvPr/>
          </p:nvSpPr>
          <p:spPr>
            <a:xfrm>
              <a:off x="5069998" y="3781054"/>
              <a:ext cx="1582420" cy="944244"/>
            </a:xfrm>
            <a:custGeom>
              <a:avLst/>
              <a:gdLst/>
              <a:ahLst/>
              <a:cxnLst/>
              <a:rect l="l" t="t" r="r" b="b"/>
              <a:pathLst>
                <a:path w="1582420" h="944245">
                  <a:moveTo>
                    <a:pt x="1507481" y="943799"/>
                  </a:moveTo>
                  <a:lnTo>
                    <a:pt x="74418" y="943799"/>
                  </a:lnTo>
                  <a:lnTo>
                    <a:pt x="45451" y="937951"/>
                  </a:lnTo>
                  <a:lnTo>
                    <a:pt x="21796" y="922003"/>
                  </a:lnTo>
                  <a:lnTo>
                    <a:pt x="5848" y="898348"/>
                  </a:lnTo>
                  <a:lnTo>
                    <a:pt x="0" y="869380"/>
                  </a:lnTo>
                  <a:lnTo>
                    <a:pt x="0" y="74418"/>
                  </a:lnTo>
                  <a:lnTo>
                    <a:pt x="5848" y="45451"/>
                  </a:lnTo>
                  <a:lnTo>
                    <a:pt x="21796" y="21796"/>
                  </a:lnTo>
                  <a:lnTo>
                    <a:pt x="45451" y="5848"/>
                  </a:lnTo>
                  <a:lnTo>
                    <a:pt x="74418" y="0"/>
                  </a:lnTo>
                  <a:lnTo>
                    <a:pt x="1507481" y="0"/>
                  </a:lnTo>
                  <a:lnTo>
                    <a:pt x="1548769" y="12503"/>
                  </a:lnTo>
                  <a:lnTo>
                    <a:pt x="1576235" y="45939"/>
                  </a:lnTo>
                  <a:lnTo>
                    <a:pt x="1581899" y="74418"/>
                  </a:lnTo>
                  <a:lnTo>
                    <a:pt x="1581899" y="869380"/>
                  </a:lnTo>
                  <a:lnTo>
                    <a:pt x="1576051" y="898348"/>
                  </a:lnTo>
                  <a:lnTo>
                    <a:pt x="1560103" y="922003"/>
                  </a:lnTo>
                  <a:lnTo>
                    <a:pt x="1536448" y="937951"/>
                  </a:lnTo>
                  <a:lnTo>
                    <a:pt x="1507481" y="94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69998" y="3781054"/>
              <a:ext cx="1582420" cy="944244"/>
            </a:xfrm>
            <a:custGeom>
              <a:avLst/>
              <a:gdLst/>
              <a:ahLst/>
              <a:cxnLst/>
              <a:rect l="l" t="t" r="r" b="b"/>
              <a:pathLst>
                <a:path w="1582420" h="944245">
                  <a:moveTo>
                    <a:pt x="0" y="74418"/>
                  </a:moveTo>
                  <a:lnTo>
                    <a:pt x="5848" y="45451"/>
                  </a:lnTo>
                  <a:lnTo>
                    <a:pt x="21796" y="21796"/>
                  </a:lnTo>
                  <a:lnTo>
                    <a:pt x="45451" y="5848"/>
                  </a:lnTo>
                  <a:lnTo>
                    <a:pt x="74418" y="0"/>
                  </a:lnTo>
                  <a:lnTo>
                    <a:pt x="1507481" y="0"/>
                  </a:lnTo>
                  <a:lnTo>
                    <a:pt x="1548769" y="12503"/>
                  </a:lnTo>
                  <a:lnTo>
                    <a:pt x="1576235" y="45939"/>
                  </a:lnTo>
                  <a:lnTo>
                    <a:pt x="1581899" y="74418"/>
                  </a:lnTo>
                  <a:lnTo>
                    <a:pt x="1581899" y="869380"/>
                  </a:lnTo>
                  <a:lnTo>
                    <a:pt x="1576051" y="898348"/>
                  </a:lnTo>
                  <a:lnTo>
                    <a:pt x="1560103" y="922003"/>
                  </a:lnTo>
                  <a:lnTo>
                    <a:pt x="1536448" y="937951"/>
                  </a:lnTo>
                  <a:lnTo>
                    <a:pt x="1507481" y="943799"/>
                  </a:lnTo>
                  <a:lnTo>
                    <a:pt x="74418" y="943799"/>
                  </a:lnTo>
                  <a:lnTo>
                    <a:pt x="45451" y="937951"/>
                  </a:lnTo>
                  <a:lnTo>
                    <a:pt x="21796" y="922003"/>
                  </a:lnTo>
                  <a:lnTo>
                    <a:pt x="5848" y="898348"/>
                  </a:lnTo>
                  <a:lnTo>
                    <a:pt x="0" y="869380"/>
                  </a:lnTo>
                  <a:lnTo>
                    <a:pt x="0" y="7441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01" y="481348"/>
            <a:ext cx="11766860" cy="187370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853980" y="5122589"/>
            <a:ext cx="894080" cy="446193"/>
            <a:chOff x="5140485" y="3841941"/>
            <a:chExt cx="670560" cy="334645"/>
          </a:xfrm>
        </p:grpSpPr>
        <p:sp>
          <p:nvSpPr>
            <p:cNvPr id="7" name="object 7"/>
            <p:cNvSpPr/>
            <p:nvPr/>
          </p:nvSpPr>
          <p:spPr>
            <a:xfrm>
              <a:off x="5150010" y="3851466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10" h="315595">
                  <a:moveTo>
                    <a:pt x="598748" y="315299"/>
                  </a:moveTo>
                  <a:lnTo>
                    <a:pt x="52550" y="315299"/>
                  </a:lnTo>
                  <a:lnTo>
                    <a:pt x="32095" y="311170"/>
                  </a:lnTo>
                  <a:lnTo>
                    <a:pt x="15391" y="299908"/>
                  </a:lnTo>
                  <a:lnTo>
                    <a:pt x="4129" y="283204"/>
                  </a:lnTo>
                  <a:lnTo>
                    <a:pt x="0" y="262749"/>
                  </a:lnTo>
                  <a:lnTo>
                    <a:pt x="0" y="52551"/>
                  </a:lnTo>
                  <a:lnTo>
                    <a:pt x="4129" y="32096"/>
                  </a:lnTo>
                  <a:lnTo>
                    <a:pt x="15391" y="15391"/>
                  </a:lnTo>
                  <a:lnTo>
                    <a:pt x="32095" y="4129"/>
                  </a:lnTo>
                  <a:lnTo>
                    <a:pt x="52550" y="0"/>
                  </a:lnTo>
                  <a:lnTo>
                    <a:pt x="598748" y="0"/>
                  </a:lnTo>
                  <a:lnTo>
                    <a:pt x="635908" y="15392"/>
                  </a:lnTo>
                  <a:lnTo>
                    <a:pt x="651299" y="52551"/>
                  </a:lnTo>
                  <a:lnTo>
                    <a:pt x="651299" y="262749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8" y="3152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50010" y="3851466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10" h="315595">
                  <a:moveTo>
                    <a:pt x="0" y="52551"/>
                  </a:moveTo>
                  <a:lnTo>
                    <a:pt x="4129" y="32096"/>
                  </a:lnTo>
                  <a:lnTo>
                    <a:pt x="15391" y="15391"/>
                  </a:lnTo>
                  <a:lnTo>
                    <a:pt x="32095" y="4129"/>
                  </a:lnTo>
                  <a:lnTo>
                    <a:pt x="52550" y="0"/>
                  </a:lnTo>
                  <a:lnTo>
                    <a:pt x="598748" y="0"/>
                  </a:lnTo>
                  <a:lnTo>
                    <a:pt x="635908" y="15392"/>
                  </a:lnTo>
                  <a:lnTo>
                    <a:pt x="651299" y="52551"/>
                  </a:lnTo>
                  <a:lnTo>
                    <a:pt x="651299" y="262749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8" y="315299"/>
                  </a:lnTo>
                  <a:lnTo>
                    <a:pt x="52550" y="315299"/>
                  </a:lnTo>
                  <a:lnTo>
                    <a:pt x="32095" y="311170"/>
                  </a:lnTo>
                  <a:lnTo>
                    <a:pt x="15391" y="299908"/>
                  </a:lnTo>
                  <a:lnTo>
                    <a:pt x="4129" y="283204"/>
                  </a:lnTo>
                  <a:lnTo>
                    <a:pt x="0" y="262749"/>
                  </a:lnTo>
                  <a:lnTo>
                    <a:pt x="0" y="525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010203" y="5206804"/>
            <a:ext cx="581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A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02185" y="5245061"/>
            <a:ext cx="894080" cy="446193"/>
            <a:chOff x="5926639" y="3933795"/>
            <a:chExt cx="670560" cy="334645"/>
          </a:xfrm>
        </p:grpSpPr>
        <p:sp>
          <p:nvSpPr>
            <p:cNvPr id="11" name="object 11"/>
            <p:cNvSpPr/>
            <p:nvPr/>
          </p:nvSpPr>
          <p:spPr>
            <a:xfrm>
              <a:off x="5936164" y="3943320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598748" y="315299"/>
                  </a:moveTo>
                  <a:lnTo>
                    <a:pt x="52550" y="315299"/>
                  </a:lnTo>
                  <a:lnTo>
                    <a:pt x="32095" y="311170"/>
                  </a:lnTo>
                  <a:lnTo>
                    <a:pt x="15391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1"/>
                  </a:lnTo>
                  <a:lnTo>
                    <a:pt x="4129" y="32095"/>
                  </a:lnTo>
                  <a:lnTo>
                    <a:pt x="15391" y="15391"/>
                  </a:lnTo>
                  <a:lnTo>
                    <a:pt x="32095" y="4129"/>
                  </a:lnTo>
                  <a:lnTo>
                    <a:pt x="52550" y="0"/>
                  </a:lnTo>
                  <a:lnTo>
                    <a:pt x="598748" y="0"/>
                  </a:lnTo>
                  <a:lnTo>
                    <a:pt x="635907" y="15391"/>
                  </a:lnTo>
                  <a:lnTo>
                    <a:pt x="651300" y="52551"/>
                  </a:lnTo>
                  <a:lnTo>
                    <a:pt x="651300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8" y="3152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6164" y="3943320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0" y="52551"/>
                  </a:moveTo>
                  <a:lnTo>
                    <a:pt x="4129" y="32095"/>
                  </a:lnTo>
                  <a:lnTo>
                    <a:pt x="15391" y="15391"/>
                  </a:lnTo>
                  <a:lnTo>
                    <a:pt x="32095" y="4129"/>
                  </a:lnTo>
                  <a:lnTo>
                    <a:pt x="52550" y="0"/>
                  </a:lnTo>
                  <a:lnTo>
                    <a:pt x="598748" y="0"/>
                  </a:lnTo>
                  <a:lnTo>
                    <a:pt x="635907" y="15391"/>
                  </a:lnTo>
                  <a:lnTo>
                    <a:pt x="651300" y="52551"/>
                  </a:lnTo>
                  <a:lnTo>
                    <a:pt x="651300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8" y="315299"/>
                  </a:lnTo>
                  <a:lnTo>
                    <a:pt x="52550" y="315299"/>
                  </a:lnTo>
                  <a:lnTo>
                    <a:pt x="32095" y="311170"/>
                  </a:lnTo>
                  <a:lnTo>
                    <a:pt x="15391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059499" y="5329276"/>
            <a:ext cx="57912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B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75348" y="5761749"/>
            <a:ext cx="894080" cy="446193"/>
            <a:chOff x="5456511" y="4321311"/>
            <a:chExt cx="670560" cy="334645"/>
          </a:xfrm>
        </p:grpSpPr>
        <p:sp>
          <p:nvSpPr>
            <p:cNvPr id="15" name="object 15"/>
            <p:cNvSpPr/>
            <p:nvPr/>
          </p:nvSpPr>
          <p:spPr>
            <a:xfrm>
              <a:off x="5466036" y="4330836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10" h="315595">
                  <a:moveTo>
                    <a:pt x="598748" y="315299"/>
                  </a:moveTo>
                  <a:lnTo>
                    <a:pt x="52551" y="315299"/>
                  </a:lnTo>
                  <a:lnTo>
                    <a:pt x="32095" y="311170"/>
                  </a:lnTo>
                  <a:lnTo>
                    <a:pt x="15391" y="299907"/>
                  </a:lnTo>
                  <a:lnTo>
                    <a:pt x="4129" y="283203"/>
                  </a:lnTo>
                  <a:lnTo>
                    <a:pt x="0" y="262748"/>
                  </a:lnTo>
                  <a:lnTo>
                    <a:pt x="0" y="52550"/>
                  </a:lnTo>
                  <a:lnTo>
                    <a:pt x="4129" y="32095"/>
                  </a:lnTo>
                  <a:lnTo>
                    <a:pt x="15391" y="15391"/>
                  </a:lnTo>
                  <a:lnTo>
                    <a:pt x="32095" y="4129"/>
                  </a:lnTo>
                  <a:lnTo>
                    <a:pt x="52551" y="0"/>
                  </a:lnTo>
                  <a:lnTo>
                    <a:pt x="598748" y="0"/>
                  </a:lnTo>
                  <a:lnTo>
                    <a:pt x="635908" y="15391"/>
                  </a:lnTo>
                  <a:lnTo>
                    <a:pt x="651299" y="52550"/>
                  </a:lnTo>
                  <a:lnTo>
                    <a:pt x="651299" y="262748"/>
                  </a:lnTo>
                  <a:lnTo>
                    <a:pt x="647170" y="283203"/>
                  </a:lnTo>
                  <a:lnTo>
                    <a:pt x="635908" y="299907"/>
                  </a:lnTo>
                  <a:lnTo>
                    <a:pt x="619204" y="311170"/>
                  </a:lnTo>
                  <a:lnTo>
                    <a:pt x="598748" y="3152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66036" y="4330836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10" h="315595">
                  <a:moveTo>
                    <a:pt x="0" y="52550"/>
                  </a:moveTo>
                  <a:lnTo>
                    <a:pt x="4129" y="32095"/>
                  </a:lnTo>
                  <a:lnTo>
                    <a:pt x="15391" y="15391"/>
                  </a:lnTo>
                  <a:lnTo>
                    <a:pt x="32095" y="4129"/>
                  </a:lnTo>
                  <a:lnTo>
                    <a:pt x="52551" y="0"/>
                  </a:lnTo>
                  <a:lnTo>
                    <a:pt x="598748" y="0"/>
                  </a:lnTo>
                  <a:lnTo>
                    <a:pt x="635908" y="15391"/>
                  </a:lnTo>
                  <a:lnTo>
                    <a:pt x="651299" y="52550"/>
                  </a:lnTo>
                  <a:lnTo>
                    <a:pt x="651299" y="262748"/>
                  </a:lnTo>
                  <a:lnTo>
                    <a:pt x="647170" y="283203"/>
                  </a:lnTo>
                  <a:lnTo>
                    <a:pt x="635908" y="299907"/>
                  </a:lnTo>
                  <a:lnTo>
                    <a:pt x="619204" y="311170"/>
                  </a:lnTo>
                  <a:lnTo>
                    <a:pt x="598748" y="315299"/>
                  </a:lnTo>
                  <a:lnTo>
                    <a:pt x="52551" y="315299"/>
                  </a:lnTo>
                  <a:lnTo>
                    <a:pt x="32095" y="311170"/>
                  </a:lnTo>
                  <a:lnTo>
                    <a:pt x="15391" y="299907"/>
                  </a:lnTo>
                  <a:lnTo>
                    <a:pt x="4129" y="283203"/>
                  </a:lnTo>
                  <a:lnTo>
                    <a:pt x="0" y="262748"/>
                  </a:lnTo>
                  <a:lnTo>
                    <a:pt x="0" y="525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29254" y="5845964"/>
            <a:ext cx="5867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C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423793" y="4889765"/>
            <a:ext cx="894080" cy="446193"/>
            <a:chOff x="7067845" y="3667323"/>
            <a:chExt cx="670560" cy="334645"/>
          </a:xfrm>
        </p:grpSpPr>
        <p:sp>
          <p:nvSpPr>
            <p:cNvPr id="19" name="object 19"/>
            <p:cNvSpPr/>
            <p:nvPr/>
          </p:nvSpPr>
          <p:spPr>
            <a:xfrm>
              <a:off x="7077370" y="3676848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598749" y="315299"/>
                  </a:moveTo>
                  <a:lnTo>
                    <a:pt x="52550" y="315299"/>
                  </a:lnTo>
                  <a:lnTo>
                    <a:pt x="32096" y="311170"/>
                  </a:lnTo>
                  <a:lnTo>
                    <a:pt x="15392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1"/>
                  </a:lnTo>
                  <a:lnTo>
                    <a:pt x="4129" y="32096"/>
                  </a:lnTo>
                  <a:lnTo>
                    <a:pt x="15392" y="15391"/>
                  </a:lnTo>
                  <a:lnTo>
                    <a:pt x="32096" y="4129"/>
                  </a:lnTo>
                  <a:lnTo>
                    <a:pt x="52550" y="0"/>
                  </a:lnTo>
                  <a:lnTo>
                    <a:pt x="598749" y="0"/>
                  </a:lnTo>
                  <a:lnTo>
                    <a:pt x="635908" y="15391"/>
                  </a:lnTo>
                  <a:lnTo>
                    <a:pt x="651299" y="52551"/>
                  </a:lnTo>
                  <a:lnTo>
                    <a:pt x="651299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9" y="3152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77370" y="3676848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0" y="52551"/>
                  </a:moveTo>
                  <a:lnTo>
                    <a:pt x="4129" y="32096"/>
                  </a:lnTo>
                  <a:lnTo>
                    <a:pt x="15392" y="15391"/>
                  </a:lnTo>
                  <a:lnTo>
                    <a:pt x="32096" y="4129"/>
                  </a:lnTo>
                  <a:lnTo>
                    <a:pt x="52550" y="0"/>
                  </a:lnTo>
                  <a:lnTo>
                    <a:pt x="598749" y="0"/>
                  </a:lnTo>
                  <a:lnTo>
                    <a:pt x="635908" y="15391"/>
                  </a:lnTo>
                  <a:lnTo>
                    <a:pt x="651299" y="52551"/>
                  </a:lnTo>
                  <a:lnTo>
                    <a:pt x="651299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9" y="315299"/>
                  </a:lnTo>
                  <a:lnTo>
                    <a:pt x="52550" y="315299"/>
                  </a:lnTo>
                  <a:lnTo>
                    <a:pt x="32096" y="311170"/>
                  </a:lnTo>
                  <a:lnTo>
                    <a:pt x="15392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580015" y="4973980"/>
            <a:ext cx="581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A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423793" y="5447702"/>
            <a:ext cx="894080" cy="446193"/>
            <a:chOff x="7067845" y="4085776"/>
            <a:chExt cx="670560" cy="334645"/>
          </a:xfrm>
        </p:grpSpPr>
        <p:sp>
          <p:nvSpPr>
            <p:cNvPr id="23" name="object 23"/>
            <p:cNvSpPr/>
            <p:nvPr/>
          </p:nvSpPr>
          <p:spPr>
            <a:xfrm>
              <a:off x="7077370" y="4095301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598749" y="315299"/>
                  </a:moveTo>
                  <a:lnTo>
                    <a:pt x="52550" y="315299"/>
                  </a:lnTo>
                  <a:lnTo>
                    <a:pt x="32096" y="311170"/>
                  </a:lnTo>
                  <a:lnTo>
                    <a:pt x="15392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0"/>
                  </a:lnTo>
                  <a:lnTo>
                    <a:pt x="4129" y="32095"/>
                  </a:lnTo>
                  <a:lnTo>
                    <a:pt x="15392" y="15391"/>
                  </a:lnTo>
                  <a:lnTo>
                    <a:pt x="32096" y="4129"/>
                  </a:lnTo>
                  <a:lnTo>
                    <a:pt x="52550" y="0"/>
                  </a:lnTo>
                  <a:lnTo>
                    <a:pt x="598749" y="0"/>
                  </a:lnTo>
                  <a:lnTo>
                    <a:pt x="635908" y="15391"/>
                  </a:lnTo>
                  <a:lnTo>
                    <a:pt x="651299" y="52550"/>
                  </a:lnTo>
                  <a:lnTo>
                    <a:pt x="651299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9" y="3152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77370" y="4095301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0" y="52550"/>
                  </a:moveTo>
                  <a:lnTo>
                    <a:pt x="4129" y="32095"/>
                  </a:lnTo>
                  <a:lnTo>
                    <a:pt x="15392" y="15391"/>
                  </a:lnTo>
                  <a:lnTo>
                    <a:pt x="32096" y="4129"/>
                  </a:lnTo>
                  <a:lnTo>
                    <a:pt x="52550" y="0"/>
                  </a:lnTo>
                  <a:lnTo>
                    <a:pt x="598749" y="0"/>
                  </a:lnTo>
                  <a:lnTo>
                    <a:pt x="635908" y="15391"/>
                  </a:lnTo>
                  <a:lnTo>
                    <a:pt x="651299" y="52550"/>
                  </a:lnTo>
                  <a:lnTo>
                    <a:pt x="651299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9" y="315299"/>
                  </a:lnTo>
                  <a:lnTo>
                    <a:pt x="52550" y="315299"/>
                  </a:lnTo>
                  <a:lnTo>
                    <a:pt x="32096" y="311170"/>
                  </a:lnTo>
                  <a:lnTo>
                    <a:pt x="15392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581105" y="5531917"/>
            <a:ext cx="57912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B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423793" y="6005640"/>
            <a:ext cx="894080" cy="446193"/>
            <a:chOff x="7067845" y="4504229"/>
            <a:chExt cx="670560" cy="334645"/>
          </a:xfrm>
        </p:grpSpPr>
        <p:sp>
          <p:nvSpPr>
            <p:cNvPr id="27" name="object 27"/>
            <p:cNvSpPr/>
            <p:nvPr/>
          </p:nvSpPr>
          <p:spPr>
            <a:xfrm>
              <a:off x="7077370" y="4513754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598749" y="315299"/>
                  </a:moveTo>
                  <a:lnTo>
                    <a:pt x="52550" y="315299"/>
                  </a:lnTo>
                  <a:lnTo>
                    <a:pt x="32096" y="311170"/>
                  </a:lnTo>
                  <a:lnTo>
                    <a:pt x="15392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0"/>
                  </a:lnTo>
                  <a:lnTo>
                    <a:pt x="4129" y="32095"/>
                  </a:lnTo>
                  <a:lnTo>
                    <a:pt x="15392" y="15391"/>
                  </a:lnTo>
                  <a:lnTo>
                    <a:pt x="32096" y="4129"/>
                  </a:lnTo>
                  <a:lnTo>
                    <a:pt x="52550" y="0"/>
                  </a:lnTo>
                  <a:lnTo>
                    <a:pt x="598749" y="0"/>
                  </a:lnTo>
                  <a:lnTo>
                    <a:pt x="635908" y="15391"/>
                  </a:lnTo>
                  <a:lnTo>
                    <a:pt x="651299" y="52550"/>
                  </a:lnTo>
                  <a:lnTo>
                    <a:pt x="651299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9" y="3152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77370" y="4513754"/>
              <a:ext cx="651510" cy="315595"/>
            </a:xfrm>
            <a:custGeom>
              <a:avLst/>
              <a:gdLst/>
              <a:ahLst/>
              <a:cxnLst/>
              <a:rect l="l" t="t" r="r" b="b"/>
              <a:pathLst>
                <a:path w="651509" h="315595">
                  <a:moveTo>
                    <a:pt x="0" y="52550"/>
                  </a:moveTo>
                  <a:lnTo>
                    <a:pt x="4129" y="32095"/>
                  </a:lnTo>
                  <a:lnTo>
                    <a:pt x="15392" y="15391"/>
                  </a:lnTo>
                  <a:lnTo>
                    <a:pt x="32096" y="4129"/>
                  </a:lnTo>
                  <a:lnTo>
                    <a:pt x="52550" y="0"/>
                  </a:lnTo>
                  <a:lnTo>
                    <a:pt x="598749" y="0"/>
                  </a:lnTo>
                  <a:lnTo>
                    <a:pt x="635908" y="15391"/>
                  </a:lnTo>
                  <a:lnTo>
                    <a:pt x="651299" y="52550"/>
                  </a:lnTo>
                  <a:lnTo>
                    <a:pt x="651299" y="262748"/>
                  </a:lnTo>
                  <a:lnTo>
                    <a:pt x="647170" y="283204"/>
                  </a:lnTo>
                  <a:lnTo>
                    <a:pt x="635908" y="299908"/>
                  </a:lnTo>
                  <a:lnTo>
                    <a:pt x="619204" y="311170"/>
                  </a:lnTo>
                  <a:lnTo>
                    <a:pt x="598749" y="315299"/>
                  </a:lnTo>
                  <a:lnTo>
                    <a:pt x="52550" y="315299"/>
                  </a:lnTo>
                  <a:lnTo>
                    <a:pt x="32096" y="311170"/>
                  </a:lnTo>
                  <a:lnTo>
                    <a:pt x="15392" y="299908"/>
                  </a:lnTo>
                  <a:lnTo>
                    <a:pt x="4129" y="283204"/>
                  </a:lnTo>
                  <a:lnTo>
                    <a:pt x="0" y="262748"/>
                  </a:lnTo>
                  <a:lnTo>
                    <a:pt x="0" y="525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577698" y="6089855"/>
            <a:ext cx="5867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C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856497" y="5097553"/>
            <a:ext cx="557107" cy="1146387"/>
            <a:chOff x="6642373" y="3823165"/>
            <a:chExt cx="417830" cy="859790"/>
          </a:xfrm>
        </p:grpSpPr>
        <p:sp>
          <p:nvSpPr>
            <p:cNvPr id="31" name="object 31"/>
            <p:cNvSpPr/>
            <p:nvPr/>
          </p:nvSpPr>
          <p:spPr>
            <a:xfrm>
              <a:off x="6651898" y="3848858"/>
              <a:ext cx="361950" cy="404495"/>
            </a:xfrm>
            <a:custGeom>
              <a:avLst/>
              <a:gdLst/>
              <a:ahLst/>
              <a:cxnLst/>
              <a:rect l="l" t="t" r="r" b="b"/>
              <a:pathLst>
                <a:path w="361950" h="404495">
                  <a:moveTo>
                    <a:pt x="0" y="404095"/>
                  </a:moveTo>
                  <a:lnTo>
                    <a:pt x="42484" y="397994"/>
                  </a:lnTo>
                  <a:lnTo>
                    <a:pt x="79387" y="380913"/>
                  </a:lnTo>
                  <a:lnTo>
                    <a:pt x="111639" y="354680"/>
                  </a:lnTo>
                  <a:lnTo>
                    <a:pt x="140169" y="321127"/>
                  </a:lnTo>
                  <a:lnTo>
                    <a:pt x="165908" y="282083"/>
                  </a:lnTo>
                  <a:lnTo>
                    <a:pt x="189785" y="239379"/>
                  </a:lnTo>
                  <a:lnTo>
                    <a:pt x="212730" y="194845"/>
                  </a:lnTo>
                  <a:lnTo>
                    <a:pt x="232774" y="155815"/>
                  </a:lnTo>
                  <a:lnTo>
                    <a:pt x="253439" y="118011"/>
                  </a:lnTo>
                  <a:lnTo>
                    <a:pt x="275350" y="82659"/>
                  </a:lnTo>
                  <a:lnTo>
                    <a:pt x="299130" y="50985"/>
                  </a:lnTo>
                  <a:lnTo>
                    <a:pt x="339666" y="13054"/>
                  </a:lnTo>
                  <a:lnTo>
                    <a:pt x="358711" y="1489"/>
                  </a:lnTo>
                  <a:lnTo>
                    <a:pt x="361722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87999" y="3832690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9453" y="41790"/>
                  </a:moveTo>
                  <a:lnTo>
                    <a:pt x="25621" y="16168"/>
                  </a:lnTo>
                  <a:lnTo>
                    <a:pt x="0" y="0"/>
                  </a:lnTo>
                  <a:lnTo>
                    <a:pt x="62135" y="7908"/>
                  </a:lnTo>
                  <a:lnTo>
                    <a:pt x="9453" y="4179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87999" y="3832690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25621" y="16168"/>
                  </a:moveTo>
                  <a:lnTo>
                    <a:pt x="9453" y="41790"/>
                  </a:lnTo>
                  <a:lnTo>
                    <a:pt x="62135" y="7908"/>
                  </a:lnTo>
                  <a:lnTo>
                    <a:pt x="0" y="0"/>
                  </a:lnTo>
                  <a:lnTo>
                    <a:pt x="25621" y="1616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51898" y="4252953"/>
              <a:ext cx="361950" cy="404495"/>
            </a:xfrm>
            <a:custGeom>
              <a:avLst/>
              <a:gdLst/>
              <a:ahLst/>
              <a:cxnLst/>
              <a:rect l="l" t="t" r="r" b="b"/>
              <a:pathLst>
                <a:path w="361950" h="404495">
                  <a:moveTo>
                    <a:pt x="0" y="0"/>
                  </a:moveTo>
                  <a:lnTo>
                    <a:pt x="42484" y="6100"/>
                  </a:lnTo>
                  <a:lnTo>
                    <a:pt x="79387" y="23182"/>
                  </a:lnTo>
                  <a:lnTo>
                    <a:pt x="111639" y="49414"/>
                  </a:lnTo>
                  <a:lnTo>
                    <a:pt x="140169" y="82967"/>
                  </a:lnTo>
                  <a:lnTo>
                    <a:pt x="165908" y="122011"/>
                  </a:lnTo>
                  <a:lnTo>
                    <a:pt x="189785" y="164715"/>
                  </a:lnTo>
                  <a:lnTo>
                    <a:pt x="212730" y="209249"/>
                  </a:lnTo>
                  <a:lnTo>
                    <a:pt x="232774" y="248280"/>
                  </a:lnTo>
                  <a:lnTo>
                    <a:pt x="253439" y="286083"/>
                  </a:lnTo>
                  <a:lnTo>
                    <a:pt x="275350" y="321435"/>
                  </a:lnTo>
                  <a:lnTo>
                    <a:pt x="299130" y="353109"/>
                  </a:lnTo>
                  <a:lnTo>
                    <a:pt x="339666" y="391040"/>
                  </a:lnTo>
                  <a:lnTo>
                    <a:pt x="358711" y="402605"/>
                  </a:lnTo>
                  <a:lnTo>
                    <a:pt x="361722" y="40409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87999" y="4631426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0" y="41790"/>
                  </a:moveTo>
                  <a:lnTo>
                    <a:pt x="25621" y="25622"/>
                  </a:lnTo>
                  <a:lnTo>
                    <a:pt x="9453" y="0"/>
                  </a:lnTo>
                  <a:lnTo>
                    <a:pt x="62135" y="33882"/>
                  </a:lnTo>
                  <a:lnTo>
                    <a:pt x="0" y="4179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87999" y="4631426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25621" y="25622"/>
                  </a:moveTo>
                  <a:lnTo>
                    <a:pt x="0" y="41790"/>
                  </a:lnTo>
                  <a:lnTo>
                    <a:pt x="62135" y="33882"/>
                  </a:lnTo>
                  <a:lnTo>
                    <a:pt x="9453" y="0"/>
                  </a:lnTo>
                  <a:lnTo>
                    <a:pt x="25621" y="25622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51898" y="4252953"/>
              <a:ext cx="360680" cy="635"/>
            </a:xfrm>
            <a:custGeom>
              <a:avLst/>
              <a:gdLst/>
              <a:ahLst/>
              <a:cxnLst/>
              <a:rect l="l" t="t" r="r" b="b"/>
              <a:pathLst>
                <a:path w="360679" h="635">
                  <a:moveTo>
                    <a:pt x="0" y="0"/>
                  </a:moveTo>
                  <a:lnTo>
                    <a:pt x="70634" y="25"/>
                  </a:lnTo>
                  <a:lnTo>
                    <a:pt x="126311" y="93"/>
                  </a:lnTo>
                  <a:lnTo>
                    <a:pt x="172015" y="189"/>
                  </a:lnTo>
                  <a:lnTo>
                    <a:pt x="212730" y="299"/>
                  </a:lnTo>
                  <a:lnTo>
                    <a:pt x="232774" y="355"/>
                  </a:lnTo>
                  <a:lnTo>
                    <a:pt x="253439" y="410"/>
                  </a:lnTo>
                  <a:lnTo>
                    <a:pt x="299130" y="505"/>
                  </a:lnTo>
                  <a:lnTo>
                    <a:pt x="339666" y="560"/>
                  </a:lnTo>
                  <a:lnTo>
                    <a:pt x="354788" y="573"/>
                  </a:lnTo>
                  <a:lnTo>
                    <a:pt x="360113" y="57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90581" y="4232098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79">
                  <a:moveTo>
                    <a:pt x="0" y="42846"/>
                  </a:moveTo>
                  <a:lnTo>
                    <a:pt x="21431" y="21431"/>
                  </a:lnTo>
                  <a:lnTo>
                    <a:pt x="15" y="0"/>
                  </a:lnTo>
                  <a:lnTo>
                    <a:pt x="58867" y="21444"/>
                  </a:lnTo>
                  <a:lnTo>
                    <a:pt x="0" y="4284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90581" y="4232098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79">
                  <a:moveTo>
                    <a:pt x="21431" y="21431"/>
                  </a:moveTo>
                  <a:lnTo>
                    <a:pt x="0" y="42846"/>
                  </a:lnTo>
                  <a:lnTo>
                    <a:pt x="58867" y="21444"/>
                  </a:lnTo>
                  <a:lnTo>
                    <a:pt x="15" y="0"/>
                  </a:lnTo>
                  <a:lnTo>
                    <a:pt x="21431" y="2143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82583" y="3234390"/>
            <a:ext cx="1380067" cy="589279"/>
            <a:chOff x="436937" y="2425792"/>
            <a:chExt cx="1035050" cy="441959"/>
          </a:xfrm>
        </p:grpSpPr>
        <p:sp>
          <p:nvSpPr>
            <p:cNvPr id="41" name="object 41"/>
            <p:cNvSpPr/>
            <p:nvPr/>
          </p:nvSpPr>
          <p:spPr>
            <a:xfrm>
              <a:off x="446462" y="2435317"/>
              <a:ext cx="1016000" cy="422909"/>
            </a:xfrm>
            <a:custGeom>
              <a:avLst/>
              <a:gdLst/>
              <a:ahLst/>
              <a:cxnLst/>
              <a:rect l="l" t="t" r="r" b="b"/>
              <a:pathLst>
                <a:path w="1016000" h="422910">
                  <a:moveTo>
                    <a:pt x="945398" y="422399"/>
                  </a:moveTo>
                  <a:lnTo>
                    <a:pt x="70401" y="422399"/>
                  </a:lnTo>
                  <a:lnTo>
                    <a:pt x="42997" y="416867"/>
                  </a:lnTo>
                  <a:lnTo>
                    <a:pt x="20620" y="401779"/>
                  </a:lnTo>
                  <a:lnTo>
                    <a:pt x="5532" y="379402"/>
                  </a:lnTo>
                  <a:lnTo>
                    <a:pt x="0" y="351998"/>
                  </a:lnTo>
                  <a:lnTo>
                    <a:pt x="0" y="70401"/>
                  </a:lnTo>
                  <a:lnTo>
                    <a:pt x="5532" y="42998"/>
                  </a:lnTo>
                  <a:lnTo>
                    <a:pt x="20620" y="20620"/>
                  </a:lnTo>
                  <a:lnTo>
                    <a:pt x="42997" y="5532"/>
                  </a:lnTo>
                  <a:lnTo>
                    <a:pt x="70401" y="0"/>
                  </a:lnTo>
                  <a:lnTo>
                    <a:pt x="945398" y="0"/>
                  </a:lnTo>
                  <a:lnTo>
                    <a:pt x="984457" y="11828"/>
                  </a:lnTo>
                  <a:lnTo>
                    <a:pt x="1010440" y="43460"/>
                  </a:lnTo>
                  <a:lnTo>
                    <a:pt x="1015799" y="70401"/>
                  </a:lnTo>
                  <a:lnTo>
                    <a:pt x="1015799" y="351998"/>
                  </a:lnTo>
                  <a:lnTo>
                    <a:pt x="1010267" y="379402"/>
                  </a:lnTo>
                  <a:lnTo>
                    <a:pt x="995179" y="401779"/>
                  </a:lnTo>
                  <a:lnTo>
                    <a:pt x="972801" y="416867"/>
                  </a:lnTo>
                  <a:lnTo>
                    <a:pt x="945398" y="4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6462" y="2435317"/>
              <a:ext cx="1016000" cy="422909"/>
            </a:xfrm>
            <a:custGeom>
              <a:avLst/>
              <a:gdLst/>
              <a:ahLst/>
              <a:cxnLst/>
              <a:rect l="l" t="t" r="r" b="b"/>
              <a:pathLst>
                <a:path w="1016000" h="422910">
                  <a:moveTo>
                    <a:pt x="0" y="70401"/>
                  </a:moveTo>
                  <a:lnTo>
                    <a:pt x="5532" y="42998"/>
                  </a:lnTo>
                  <a:lnTo>
                    <a:pt x="20620" y="20620"/>
                  </a:lnTo>
                  <a:lnTo>
                    <a:pt x="42997" y="5532"/>
                  </a:lnTo>
                  <a:lnTo>
                    <a:pt x="70401" y="0"/>
                  </a:lnTo>
                  <a:lnTo>
                    <a:pt x="945398" y="0"/>
                  </a:lnTo>
                  <a:lnTo>
                    <a:pt x="984457" y="11828"/>
                  </a:lnTo>
                  <a:lnTo>
                    <a:pt x="1010440" y="43460"/>
                  </a:lnTo>
                  <a:lnTo>
                    <a:pt x="1015799" y="70401"/>
                  </a:lnTo>
                  <a:lnTo>
                    <a:pt x="1015799" y="351998"/>
                  </a:lnTo>
                  <a:lnTo>
                    <a:pt x="1010267" y="379402"/>
                  </a:lnTo>
                  <a:lnTo>
                    <a:pt x="995179" y="401779"/>
                  </a:lnTo>
                  <a:lnTo>
                    <a:pt x="972801" y="416867"/>
                  </a:lnTo>
                  <a:lnTo>
                    <a:pt x="945398" y="422399"/>
                  </a:lnTo>
                  <a:lnTo>
                    <a:pt x="70401" y="422399"/>
                  </a:lnTo>
                  <a:lnTo>
                    <a:pt x="42997" y="416867"/>
                  </a:lnTo>
                  <a:lnTo>
                    <a:pt x="20620" y="401779"/>
                  </a:lnTo>
                  <a:lnTo>
                    <a:pt x="5532" y="379402"/>
                  </a:lnTo>
                  <a:lnTo>
                    <a:pt x="0" y="351998"/>
                  </a:lnTo>
                  <a:lnTo>
                    <a:pt x="0" y="704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00691" y="3275706"/>
            <a:ext cx="1143847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378451" marR="6773" indent="-362364">
              <a:lnSpc>
                <a:spcPct val="102299"/>
              </a:lnSpc>
              <a:spcBef>
                <a:spcPts val="93"/>
              </a:spcBef>
            </a:pPr>
            <a:r>
              <a:rPr sz="1467" spc="-13" dirty="0">
                <a:latin typeface="Roboto Lt"/>
                <a:cs typeface="Roboto Lt"/>
              </a:rPr>
              <a:t>Unsupervised </a:t>
            </a:r>
            <a:r>
              <a:rPr sz="1467" spc="-27" dirty="0">
                <a:latin typeface="Roboto Lt"/>
                <a:cs typeface="Roboto Lt"/>
              </a:rPr>
              <a:t>Task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543682" y="2739933"/>
            <a:ext cx="903393" cy="451273"/>
            <a:chOff x="1907761" y="2054949"/>
            <a:chExt cx="677545" cy="338455"/>
          </a:xfrm>
        </p:grpSpPr>
        <p:sp>
          <p:nvSpPr>
            <p:cNvPr id="45" name="object 45"/>
            <p:cNvSpPr/>
            <p:nvPr/>
          </p:nvSpPr>
          <p:spPr>
            <a:xfrm>
              <a:off x="1917286" y="2064474"/>
              <a:ext cx="658495" cy="319405"/>
            </a:xfrm>
            <a:custGeom>
              <a:avLst/>
              <a:gdLst/>
              <a:ahLst/>
              <a:cxnLst/>
              <a:rect l="l" t="t" r="r" b="b"/>
              <a:pathLst>
                <a:path w="658494" h="319405">
                  <a:moveTo>
                    <a:pt x="604748" y="318899"/>
                  </a:moveTo>
                  <a:lnTo>
                    <a:pt x="53150" y="318899"/>
                  </a:lnTo>
                  <a:lnTo>
                    <a:pt x="32462" y="314723"/>
                  </a:lnTo>
                  <a:lnTo>
                    <a:pt x="15567" y="303332"/>
                  </a:lnTo>
                  <a:lnTo>
                    <a:pt x="4176" y="286437"/>
                  </a:lnTo>
                  <a:lnTo>
                    <a:pt x="0" y="265748"/>
                  </a:lnTo>
                  <a:lnTo>
                    <a:pt x="0" y="53150"/>
                  </a:lnTo>
                  <a:lnTo>
                    <a:pt x="4176" y="32462"/>
                  </a:lnTo>
                  <a:lnTo>
                    <a:pt x="15567" y="15567"/>
                  </a:lnTo>
                  <a:lnTo>
                    <a:pt x="32462" y="4176"/>
                  </a:lnTo>
                  <a:lnTo>
                    <a:pt x="53150" y="0"/>
                  </a:lnTo>
                  <a:lnTo>
                    <a:pt x="604748" y="0"/>
                  </a:lnTo>
                  <a:lnTo>
                    <a:pt x="642332" y="15567"/>
                  </a:lnTo>
                  <a:lnTo>
                    <a:pt x="657899" y="53150"/>
                  </a:lnTo>
                  <a:lnTo>
                    <a:pt x="657899" y="265748"/>
                  </a:lnTo>
                  <a:lnTo>
                    <a:pt x="653723" y="286437"/>
                  </a:lnTo>
                  <a:lnTo>
                    <a:pt x="642332" y="303332"/>
                  </a:lnTo>
                  <a:lnTo>
                    <a:pt x="625437" y="314723"/>
                  </a:lnTo>
                  <a:lnTo>
                    <a:pt x="604748" y="3188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17286" y="2064474"/>
              <a:ext cx="658495" cy="319405"/>
            </a:xfrm>
            <a:custGeom>
              <a:avLst/>
              <a:gdLst/>
              <a:ahLst/>
              <a:cxnLst/>
              <a:rect l="l" t="t" r="r" b="b"/>
              <a:pathLst>
                <a:path w="658494" h="319405">
                  <a:moveTo>
                    <a:pt x="0" y="53150"/>
                  </a:moveTo>
                  <a:lnTo>
                    <a:pt x="4176" y="32462"/>
                  </a:lnTo>
                  <a:lnTo>
                    <a:pt x="15567" y="15567"/>
                  </a:lnTo>
                  <a:lnTo>
                    <a:pt x="32462" y="4176"/>
                  </a:lnTo>
                  <a:lnTo>
                    <a:pt x="53150" y="0"/>
                  </a:lnTo>
                  <a:lnTo>
                    <a:pt x="604748" y="0"/>
                  </a:lnTo>
                  <a:lnTo>
                    <a:pt x="642332" y="15567"/>
                  </a:lnTo>
                  <a:lnTo>
                    <a:pt x="657899" y="53150"/>
                  </a:lnTo>
                  <a:lnTo>
                    <a:pt x="657899" y="265748"/>
                  </a:lnTo>
                  <a:lnTo>
                    <a:pt x="653723" y="286437"/>
                  </a:lnTo>
                  <a:lnTo>
                    <a:pt x="642332" y="303332"/>
                  </a:lnTo>
                  <a:lnTo>
                    <a:pt x="625437" y="314723"/>
                  </a:lnTo>
                  <a:lnTo>
                    <a:pt x="604748" y="318899"/>
                  </a:lnTo>
                  <a:lnTo>
                    <a:pt x="53150" y="318899"/>
                  </a:lnTo>
                  <a:lnTo>
                    <a:pt x="32462" y="314723"/>
                  </a:lnTo>
                  <a:lnTo>
                    <a:pt x="15567" y="303332"/>
                  </a:lnTo>
                  <a:lnTo>
                    <a:pt x="4176" y="286437"/>
                  </a:lnTo>
                  <a:lnTo>
                    <a:pt x="0" y="265748"/>
                  </a:lnTo>
                  <a:lnTo>
                    <a:pt x="0" y="531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704303" y="2826548"/>
            <a:ext cx="581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A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543682" y="3303538"/>
            <a:ext cx="903393" cy="451273"/>
            <a:chOff x="1907761" y="2477653"/>
            <a:chExt cx="677545" cy="338455"/>
          </a:xfrm>
        </p:grpSpPr>
        <p:sp>
          <p:nvSpPr>
            <p:cNvPr id="49" name="object 49"/>
            <p:cNvSpPr/>
            <p:nvPr/>
          </p:nvSpPr>
          <p:spPr>
            <a:xfrm>
              <a:off x="1917286" y="2487178"/>
              <a:ext cx="658495" cy="319405"/>
            </a:xfrm>
            <a:custGeom>
              <a:avLst/>
              <a:gdLst/>
              <a:ahLst/>
              <a:cxnLst/>
              <a:rect l="l" t="t" r="r" b="b"/>
              <a:pathLst>
                <a:path w="658494" h="319405">
                  <a:moveTo>
                    <a:pt x="604748" y="318899"/>
                  </a:moveTo>
                  <a:lnTo>
                    <a:pt x="53150" y="318899"/>
                  </a:lnTo>
                  <a:lnTo>
                    <a:pt x="32462" y="314723"/>
                  </a:lnTo>
                  <a:lnTo>
                    <a:pt x="15567" y="303332"/>
                  </a:lnTo>
                  <a:lnTo>
                    <a:pt x="4176" y="286437"/>
                  </a:lnTo>
                  <a:lnTo>
                    <a:pt x="0" y="265748"/>
                  </a:lnTo>
                  <a:lnTo>
                    <a:pt x="0" y="53151"/>
                  </a:lnTo>
                  <a:lnTo>
                    <a:pt x="4176" y="32462"/>
                  </a:lnTo>
                  <a:lnTo>
                    <a:pt x="15567" y="15567"/>
                  </a:lnTo>
                  <a:lnTo>
                    <a:pt x="32462" y="4176"/>
                  </a:lnTo>
                  <a:lnTo>
                    <a:pt x="53150" y="0"/>
                  </a:lnTo>
                  <a:lnTo>
                    <a:pt x="604748" y="0"/>
                  </a:lnTo>
                  <a:lnTo>
                    <a:pt x="642332" y="15567"/>
                  </a:lnTo>
                  <a:lnTo>
                    <a:pt x="657899" y="53151"/>
                  </a:lnTo>
                  <a:lnTo>
                    <a:pt x="657899" y="265748"/>
                  </a:lnTo>
                  <a:lnTo>
                    <a:pt x="653723" y="286437"/>
                  </a:lnTo>
                  <a:lnTo>
                    <a:pt x="642332" y="303332"/>
                  </a:lnTo>
                  <a:lnTo>
                    <a:pt x="625437" y="314723"/>
                  </a:lnTo>
                  <a:lnTo>
                    <a:pt x="604748" y="3188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17286" y="2487178"/>
              <a:ext cx="658495" cy="319405"/>
            </a:xfrm>
            <a:custGeom>
              <a:avLst/>
              <a:gdLst/>
              <a:ahLst/>
              <a:cxnLst/>
              <a:rect l="l" t="t" r="r" b="b"/>
              <a:pathLst>
                <a:path w="658494" h="319405">
                  <a:moveTo>
                    <a:pt x="0" y="53151"/>
                  </a:moveTo>
                  <a:lnTo>
                    <a:pt x="4176" y="32462"/>
                  </a:lnTo>
                  <a:lnTo>
                    <a:pt x="15567" y="15567"/>
                  </a:lnTo>
                  <a:lnTo>
                    <a:pt x="32462" y="4176"/>
                  </a:lnTo>
                  <a:lnTo>
                    <a:pt x="53150" y="0"/>
                  </a:lnTo>
                  <a:lnTo>
                    <a:pt x="604748" y="0"/>
                  </a:lnTo>
                  <a:lnTo>
                    <a:pt x="642332" y="15567"/>
                  </a:lnTo>
                  <a:lnTo>
                    <a:pt x="657899" y="53151"/>
                  </a:lnTo>
                  <a:lnTo>
                    <a:pt x="657899" y="265748"/>
                  </a:lnTo>
                  <a:lnTo>
                    <a:pt x="653723" y="286437"/>
                  </a:lnTo>
                  <a:lnTo>
                    <a:pt x="642332" y="303332"/>
                  </a:lnTo>
                  <a:lnTo>
                    <a:pt x="625437" y="314723"/>
                  </a:lnTo>
                  <a:lnTo>
                    <a:pt x="604748" y="318899"/>
                  </a:lnTo>
                  <a:lnTo>
                    <a:pt x="53150" y="318899"/>
                  </a:lnTo>
                  <a:lnTo>
                    <a:pt x="32462" y="314723"/>
                  </a:lnTo>
                  <a:lnTo>
                    <a:pt x="15567" y="303332"/>
                  </a:lnTo>
                  <a:lnTo>
                    <a:pt x="4176" y="286437"/>
                  </a:lnTo>
                  <a:lnTo>
                    <a:pt x="0" y="265748"/>
                  </a:lnTo>
                  <a:lnTo>
                    <a:pt x="0" y="531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705393" y="3390153"/>
            <a:ext cx="57912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B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543682" y="3867144"/>
            <a:ext cx="903393" cy="451273"/>
            <a:chOff x="1907761" y="2900357"/>
            <a:chExt cx="677545" cy="338455"/>
          </a:xfrm>
        </p:grpSpPr>
        <p:sp>
          <p:nvSpPr>
            <p:cNvPr id="53" name="object 53"/>
            <p:cNvSpPr/>
            <p:nvPr/>
          </p:nvSpPr>
          <p:spPr>
            <a:xfrm>
              <a:off x="1917286" y="2909882"/>
              <a:ext cx="658495" cy="319405"/>
            </a:xfrm>
            <a:custGeom>
              <a:avLst/>
              <a:gdLst/>
              <a:ahLst/>
              <a:cxnLst/>
              <a:rect l="l" t="t" r="r" b="b"/>
              <a:pathLst>
                <a:path w="658494" h="319405">
                  <a:moveTo>
                    <a:pt x="604748" y="318899"/>
                  </a:moveTo>
                  <a:lnTo>
                    <a:pt x="53150" y="318899"/>
                  </a:lnTo>
                  <a:lnTo>
                    <a:pt x="32462" y="314723"/>
                  </a:lnTo>
                  <a:lnTo>
                    <a:pt x="15567" y="303332"/>
                  </a:lnTo>
                  <a:lnTo>
                    <a:pt x="4176" y="286437"/>
                  </a:lnTo>
                  <a:lnTo>
                    <a:pt x="0" y="265749"/>
                  </a:lnTo>
                  <a:lnTo>
                    <a:pt x="0" y="53151"/>
                  </a:lnTo>
                  <a:lnTo>
                    <a:pt x="4176" y="32462"/>
                  </a:lnTo>
                  <a:lnTo>
                    <a:pt x="15567" y="15567"/>
                  </a:lnTo>
                  <a:lnTo>
                    <a:pt x="32462" y="4176"/>
                  </a:lnTo>
                  <a:lnTo>
                    <a:pt x="53150" y="0"/>
                  </a:lnTo>
                  <a:lnTo>
                    <a:pt x="604748" y="0"/>
                  </a:lnTo>
                  <a:lnTo>
                    <a:pt x="642332" y="15567"/>
                  </a:lnTo>
                  <a:lnTo>
                    <a:pt x="657899" y="53151"/>
                  </a:lnTo>
                  <a:lnTo>
                    <a:pt x="657899" y="265749"/>
                  </a:lnTo>
                  <a:lnTo>
                    <a:pt x="653723" y="286437"/>
                  </a:lnTo>
                  <a:lnTo>
                    <a:pt x="642332" y="303332"/>
                  </a:lnTo>
                  <a:lnTo>
                    <a:pt x="625437" y="314723"/>
                  </a:lnTo>
                  <a:lnTo>
                    <a:pt x="604748" y="3188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17286" y="2909882"/>
              <a:ext cx="658495" cy="319405"/>
            </a:xfrm>
            <a:custGeom>
              <a:avLst/>
              <a:gdLst/>
              <a:ahLst/>
              <a:cxnLst/>
              <a:rect l="l" t="t" r="r" b="b"/>
              <a:pathLst>
                <a:path w="658494" h="319405">
                  <a:moveTo>
                    <a:pt x="0" y="53151"/>
                  </a:moveTo>
                  <a:lnTo>
                    <a:pt x="4176" y="32462"/>
                  </a:lnTo>
                  <a:lnTo>
                    <a:pt x="15567" y="15567"/>
                  </a:lnTo>
                  <a:lnTo>
                    <a:pt x="32462" y="4176"/>
                  </a:lnTo>
                  <a:lnTo>
                    <a:pt x="53150" y="0"/>
                  </a:lnTo>
                  <a:lnTo>
                    <a:pt x="604748" y="0"/>
                  </a:lnTo>
                  <a:lnTo>
                    <a:pt x="642332" y="15567"/>
                  </a:lnTo>
                  <a:lnTo>
                    <a:pt x="657899" y="53151"/>
                  </a:lnTo>
                  <a:lnTo>
                    <a:pt x="657899" y="265749"/>
                  </a:lnTo>
                  <a:lnTo>
                    <a:pt x="653723" y="286437"/>
                  </a:lnTo>
                  <a:lnTo>
                    <a:pt x="642332" y="303332"/>
                  </a:lnTo>
                  <a:lnTo>
                    <a:pt x="625437" y="314723"/>
                  </a:lnTo>
                  <a:lnTo>
                    <a:pt x="604748" y="318899"/>
                  </a:lnTo>
                  <a:lnTo>
                    <a:pt x="53150" y="318899"/>
                  </a:lnTo>
                  <a:lnTo>
                    <a:pt x="32462" y="314723"/>
                  </a:lnTo>
                  <a:lnTo>
                    <a:pt x="15567" y="303332"/>
                  </a:lnTo>
                  <a:lnTo>
                    <a:pt x="4176" y="286437"/>
                  </a:lnTo>
                  <a:lnTo>
                    <a:pt x="0" y="265749"/>
                  </a:lnTo>
                  <a:lnTo>
                    <a:pt x="0" y="531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701986" y="3953759"/>
            <a:ext cx="5867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C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936882" y="2947081"/>
            <a:ext cx="596053" cy="1164167"/>
            <a:chOff x="1452661" y="2210310"/>
            <a:chExt cx="447040" cy="873125"/>
          </a:xfrm>
        </p:grpSpPr>
        <p:sp>
          <p:nvSpPr>
            <p:cNvPr id="57" name="object 57"/>
            <p:cNvSpPr/>
            <p:nvPr/>
          </p:nvSpPr>
          <p:spPr>
            <a:xfrm>
              <a:off x="1462186" y="2236665"/>
              <a:ext cx="391160" cy="410209"/>
            </a:xfrm>
            <a:custGeom>
              <a:avLst/>
              <a:gdLst/>
              <a:ahLst/>
              <a:cxnLst/>
              <a:rect l="l" t="t" r="r" b="b"/>
              <a:pathLst>
                <a:path w="391160" h="410210">
                  <a:moveTo>
                    <a:pt x="0" y="409959"/>
                  </a:moveTo>
                  <a:lnTo>
                    <a:pt x="45443" y="403797"/>
                  </a:lnTo>
                  <a:lnTo>
                    <a:pt x="84916" y="386544"/>
                  </a:lnTo>
                  <a:lnTo>
                    <a:pt x="119414" y="360048"/>
                  </a:lnTo>
                  <a:lnTo>
                    <a:pt x="149930" y="326158"/>
                  </a:lnTo>
                  <a:lnTo>
                    <a:pt x="177462" y="286723"/>
                  </a:lnTo>
                  <a:lnTo>
                    <a:pt x="203003" y="243590"/>
                  </a:lnTo>
                  <a:lnTo>
                    <a:pt x="227550" y="198609"/>
                  </a:lnTo>
                  <a:lnTo>
                    <a:pt x="248994" y="159187"/>
                  </a:lnTo>
                  <a:lnTo>
                    <a:pt x="271104" y="121004"/>
                  </a:lnTo>
                  <a:lnTo>
                    <a:pt x="294548" y="85297"/>
                  </a:lnTo>
                  <a:lnTo>
                    <a:pt x="319992" y="53306"/>
                  </a:lnTo>
                  <a:lnTo>
                    <a:pt x="348102" y="26268"/>
                  </a:lnTo>
                  <a:lnTo>
                    <a:pt x="382324" y="3977"/>
                  </a:lnTo>
                  <a:lnTo>
                    <a:pt x="388006" y="1323"/>
                  </a:lnTo>
                  <a:lnTo>
                    <a:pt x="39106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28063" y="2219835"/>
              <a:ext cx="62230" cy="42545"/>
            </a:xfrm>
            <a:custGeom>
              <a:avLst/>
              <a:gdLst/>
              <a:ahLst/>
              <a:cxnLst/>
              <a:rect l="l" t="t" r="r" b="b"/>
              <a:pathLst>
                <a:path w="62230" h="42544">
                  <a:moveTo>
                    <a:pt x="8361" y="42022"/>
                  </a:moveTo>
                  <a:lnTo>
                    <a:pt x="25192" y="16830"/>
                  </a:lnTo>
                  <a:lnTo>
                    <a:pt x="0" y="0"/>
                  </a:lnTo>
                  <a:lnTo>
                    <a:pt x="61909" y="9524"/>
                  </a:lnTo>
                  <a:lnTo>
                    <a:pt x="8361" y="4202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828063" y="2219835"/>
              <a:ext cx="62230" cy="42545"/>
            </a:xfrm>
            <a:custGeom>
              <a:avLst/>
              <a:gdLst/>
              <a:ahLst/>
              <a:cxnLst/>
              <a:rect l="l" t="t" r="r" b="b"/>
              <a:pathLst>
                <a:path w="62230" h="42544">
                  <a:moveTo>
                    <a:pt x="25192" y="16830"/>
                  </a:moveTo>
                  <a:lnTo>
                    <a:pt x="8361" y="42022"/>
                  </a:lnTo>
                  <a:lnTo>
                    <a:pt x="61909" y="9524"/>
                  </a:lnTo>
                  <a:lnTo>
                    <a:pt x="0" y="0"/>
                  </a:lnTo>
                  <a:lnTo>
                    <a:pt x="25192" y="1683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462262" y="2646517"/>
              <a:ext cx="389890" cy="635"/>
            </a:xfrm>
            <a:custGeom>
              <a:avLst/>
              <a:gdLst/>
              <a:ahLst/>
              <a:cxnLst/>
              <a:rect l="l" t="t" r="r" b="b"/>
              <a:pathLst>
                <a:path w="389889" h="635">
                  <a:moveTo>
                    <a:pt x="0" y="0"/>
                  </a:moveTo>
                  <a:lnTo>
                    <a:pt x="75550" y="25"/>
                  </a:lnTo>
                  <a:lnTo>
                    <a:pt x="135101" y="93"/>
                  </a:lnTo>
                  <a:lnTo>
                    <a:pt x="183987" y="189"/>
                  </a:lnTo>
                  <a:lnTo>
                    <a:pt x="227540" y="299"/>
                  </a:lnTo>
                  <a:lnTo>
                    <a:pt x="248985" y="355"/>
                  </a:lnTo>
                  <a:lnTo>
                    <a:pt x="271096" y="410"/>
                  </a:lnTo>
                  <a:lnTo>
                    <a:pt x="319985" y="506"/>
                  </a:lnTo>
                  <a:lnTo>
                    <a:pt x="363361" y="560"/>
                  </a:lnTo>
                  <a:lnTo>
                    <a:pt x="379542" y="574"/>
                  </a:lnTo>
                  <a:lnTo>
                    <a:pt x="389813" y="57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30645" y="2625664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5" h="43180">
                  <a:moveTo>
                    <a:pt x="0" y="42846"/>
                  </a:moveTo>
                  <a:lnTo>
                    <a:pt x="21430" y="21430"/>
                  </a:lnTo>
                  <a:lnTo>
                    <a:pt x="14" y="0"/>
                  </a:lnTo>
                  <a:lnTo>
                    <a:pt x="58867" y="21443"/>
                  </a:lnTo>
                  <a:lnTo>
                    <a:pt x="0" y="4284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830645" y="2625664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5" h="43180">
                  <a:moveTo>
                    <a:pt x="21430" y="21430"/>
                  </a:moveTo>
                  <a:lnTo>
                    <a:pt x="0" y="42846"/>
                  </a:lnTo>
                  <a:lnTo>
                    <a:pt x="58867" y="21443"/>
                  </a:lnTo>
                  <a:lnTo>
                    <a:pt x="14" y="0"/>
                  </a:lnTo>
                  <a:lnTo>
                    <a:pt x="21430" y="2143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462262" y="2646517"/>
              <a:ext cx="391160" cy="410209"/>
            </a:xfrm>
            <a:custGeom>
              <a:avLst/>
              <a:gdLst/>
              <a:ahLst/>
              <a:cxnLst/>
              <a:rect l="l" t="t" r="r" b="b"/>
              <a:pathLst>
                <a:path w="391160" h="410210">
                  <a:moveTo>
                    <a:pt x="0" y="0"/>
                  </a:moveTo>
                  <a:lnTo>
                    <a:pt x="45441" y="6161"/>
                  </a:lnTo>
                  <a:lnTo>
                    <a:pt x="84912" y="23414"/>
                  </a:lnTo>
                  <a:lnTo>
                    <a:pt x="119408" y="49910"/>
                  </a:lnTo>
                  <a:lnTo>
                    <a:pt x="149923" y="83800"/>
                  </a:lnTo>
                  <a:lnTo>
                    <a:pt x="177454" y="123236"/>
                  </a:lnTo>
                  <a:lnTo>
                    <a:pt x="202994" y="166368"/>
                  </a:lnTo>
                  <a:lnTo>
                    <a:pt x="227540" y="211349"/>
                  </a:lnTo>
                  <a:lnTo>
                    <a:pt x="248985" y="250771"/>
                  </a:lnTo>
                  <a:lnTo>
                    <a:pt x="271096" y="288955"/>
                  </a:lnTo>
                  <a:lnTo>
                    <a:pt x="294540" y="324661"/>
                  </a:lnTo>
                  <a:lnTo>
                    <a:pt x="319985" y="356653"/>
                  </a:lnTo>
                  <a:lnTo>
                    <a:pt x="348097" y="383691"/>
                  </a:lnTo>
                  <a:lnTo>
                    <a:pt x="382320" y="405981"/>
                  </a:lnTo>
                  <a:lnTo>
                    <a:pt x="388003" y="408635"/>
                  </a:lnTo>
                  <a:lnTo>
                    <a:pt x="391068" y="40996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828139" y="3031286"/>
              <a:ext cx="62230" cy="42545"/>
            </a:xfrm>
            <a:custGeom>
              <a:avLst/>
              <a:gdLst/>
              <a:ahLst/>
              <a:cxnLst/>
              <a:rect l="l" t="t" r="r" b="b"/>
              <a:pathLst>
                <a:path w="62230" h="42544">
                  <a:moveTo>
                    <a:pt x="0" y="42022"/>
                  </a:moveTo>
                  <a:lnTo>
                    <a:pt x="25191" y="25191"/>
                  </a:lnTo>
                  <a:lnTo>
                    <a:pt x="8360" y="0"/>
                  </a:lnTo>
                  <a:lnTo>
                    <a:pt x="61908" y="32497"/>
                  </a:lnTo>
                  <a:lnTo>
                    <a:pt x="0" y="4202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28139" y="3031286"/>
              <a:ext cx="62230" cy="42545"/>
            </a:xfrm>
            <a:custGeom>
              <a:avLst/>
              <a:gdLst/>
              <a:ahLst/>
              <a:cxnLst/>
              <a:rect l="l" t="t" r="r" b="b"/>
              <a:pathLst>
                <a:path w="62230" h="42544">
                  <a:moveTo>
                    <a:pt x="25191" y="25191"/>
                  </a:moveTo>
                  <a:lnTo>
                    <a:pt x="0" y="42022"/>
                  </a:lnTo>
                  <a:lnTo>
                    <a:pt x="61908" y="32497"/>
                  </a:lnTo>
                  <a:lnTo>
                    <a:pt x="8360" y="0"/>
                  </a:lnTo>
                  <a:lnTo>
                    <a:pt x="25191" y="2519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4665599" y="2553501"/>
            <a:ext cx="2189480" cy="1971887"/>
            <a:chOff x="3499199" y="1915125"/>
            <a:chExt cx="1642110" cy="1478915"/>
          </a:xfrm>
        </p:grpSpPr>
        <p:sp>
          <p:nvSpPr>
            <p:cNvPr id="67" name="object 67"/>
            <p:cNvSpPr/>
            <p:nvPr/>
          </p:nvSpPr>
          <p:spPr>
            <a:xfrm>
              <a:off x="3508724" y="1924650"/>
              <a:ext cx="1623060" cy="1459865"/>
            </a:xfrm>
            <a:custGeom>
              <a:avLst/>
              <a:gdLst/>
              <a:ahLst/>
              <a:cxnLst/>
              <a:rect l="l" t="t" r="r" b="b"/>
              <a:pathLst>
                <a:path w="1623060" h="1459864">
                  <a:moveTo>
                    <a:pt x="1507594" y="1459800"/>
                  </a:moveTo>
                  <a:lnTo>
                    <a:pt x="115104" y="1459800"/>
                  </a:lnTo>
                  <a:lnTo>
                    <a:pt x="70301" y="1450754"/>
                  </a:lnTo>
                  <a:lnTo>
                    <a:pt x="33713" y="1426086"/>
                  </a:lnTo>
                  <a:lnTo>
                    <a:pt x="9045" y="1389499"/>
                  </a:lnTo>
                  <a:lnTo>
                    <a:pt x="0" y="1344694"/>
                  </a:lnTo>
                  <a:lnTo>
                    <a:pt x="0" y="115105"/>
                  </a:lnTo>
                  <a:lnTo>
                    <a:pt x="9045" y="70301"/>
                  </a:lnTo>
                  <a:lnTo>
                    <a:pt x="33713" y="33713"/>
                  </a:lnTo>
                  <a:lnTo>
                    <a:pt x="70301" y="9045"/>
                  </a:lnTo>
                  <a:lnTo>
                    <a:pt x="115104" y="0"/>
                  </a:lnTo>
                  <a:lnTo>
                    <a:pt x="1507594" y="0"/>
                  </a:lnTo>
                  <a:lnTo>
                    <a:pt x="1551643" y="8761"/>
                  </a:lnTo>
                  <a:lnTo>
                    <a:pt x="1588986" y="33713"/>
                  </a:lnTo>
                  <a:lnTo>
                    <a:pt x="1613938" y="71056"/>
                  </a:lnTo>
                  <a:lnTo>
                    <a:pt x="1622699" y="115105"/>
                  </a:lnTo>
                  <a:lnTo>
                    <a:pt x="1622699" y="1344694"/>
                  </a:lnTo>
                  <a:lnTo>
                    <a:pt x="1613654" y="1389499"/>
                  </a:lnTo>
                  <a:lnTo>
                    <a:pt x="1588986" y="1426086"/>
                  </a:lnTo>
                  <a:lnTo>
                    <a:pt x="1552398" y="1450754"/>
                  </a:lnTo>
                  <a:lnTo>
                    <a:pt x="1507594" y="14598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508724" y="1924650"/>
              <a:ext cx="1623060" cy="1459865"/>
            </a:xfrm>
            <a:custGeom>
              <a:avLst/>
              <a:gdLst/>
              <a:ahLst/>
              <a:cxnLst/>
              <a:rect l="l" t="t" r="r" b="b"/>
              <a:pathLst>
                <a:path w="1623060" h="1459864">
                  <a:moveTo>
                    <a:pt x="0" y="115105"/>
                  </a:moveTo>
                  <a:lnTo>
                    <a:pt x="9045" y="70301"/>
                  </a:lnTo>
                  <a:lnTo>
                    <a:pt x="33713" y="33713"/>
                  </a:lnTo>
                  <a:lnTo>
                    <a:pt x="70301" y="9045"/>
                  </a:lnTo>
                  <a:lnTo>
                    <a:pt x="115104" y="0"/>
                  </a:lnTo>
                  <a:lnTo>
                    <a:pt x="1507594" y="0"/>
                  </a:lnTo>
                  <a:lnTo>
                    <a:pt x="1551643" y="8761"/>
                  </a:lnTo>
                  <a:lnTo>
                    <a:pt x="1588986" y="33713"/>
                  </a:lnTo>
                  <a:lnTo>
                    <a:pt x="1613938" y="71056"/>
                  </a:lnTo>
                  <a:lnTo>
                    <a:pt x="1622699" y="115105"/>
                  </a:lnTo>
                  <a:lnTo>
                    <a:pt x="1622699" y="1344694"/>
                  </a:lnTo>
                  <a:lnTo>
                    <a:pt x="1613654" y="1389499"/>
                  </a:lnTo>
                  <a:lnTo>
                    <a:pt x="1588986" y="1426086"/>
                  </a:lnTo>
                  <a:lnTo>
                    <a:pt x="1552398" y="1450754"/>
                  </a:lnTo>
                  <a:lnTo>
                    <a:pt x="1507594" y="1459800"/>
                  </a:lnTo>
                  <a:lnTo>
                    <a:pt x="115104" y="1459800"/>
                  </a:lnTo>
                  <a:lnTo>
                    <a:pt x="70301" y="1450754"/>
                  </a:lnTo>
                  <a:lnTo>
                    <a:pt x="33713" y="1426086"/>
                  </a:lnTo>
                  <a:lnTo>
                    <a:pt x="9045" y="1389499"/>
                  </a:lnTo>
                  <a:lnTo>
                    <a:pt x="0" y="1344694"/>
                  </a:lnTo>
                  <a:lnTo>
                    <a:pt x="0" y="115105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82615" y="2451541"/>
              <a:ext cx="1031875" cy="429259"/>
            </a:xfrm>
            <a:custGeom>
              <a:avLst/>
              <a:gdLst/>
              <a:ahLst/>
              <a:cxnLst/>
              <a:rect l="l" t="t" r="r" b="b"/>
              <a:pathLst>
                <a:path w="1031875" h="429260">
                  <a:moveTo>
                    <a:pt x="959948" y="428699"/>
                  </a:moveTo>
                  <a:lnTo>
                    <a:pt x="71451" y="428699"/>
                  </a:lnTo>
                  <a:lnTo>
                    <a:pt x="43639" y="423085"/>
                  </a:lnTo>
                  <a:lnTo>
                    <a:pt x="20927" y="407772"/>
                  </a:lnTo>
                  <a:lnTo>
                    <a:pt x="5615" y="385060"/>
                  </a:lnTo>
                  <a:lnTo>
                    <a:pt x="0" y="357248"/>
                  </a:lnTo>
                  <a:lnTo>
                    <a:pt x="0" y="71451"/>
                  </a:lnTo>
                  <a:lnTo>
                    <a:pt x="5615" y="43639"/>
                  </a:lnTo>
                  <a:lnTo>
                    <a:pt x="20927" y="20927"/>
                  </a:lnTo>
                  <a:lnTo>
                    <a:pt x="43639" y="5615"/>
                  </a:lnTo>
                  <a:lnTo>
                    <a:pt x="71451" y="0"/>
                  </a:lnTo>
                  <a:lnTo>
                    <a:pt x="959948" y="0"/>
                  </a:lnTo>
                  <a:lnTo>
                    <a:pt x="999590" y="12004"/>
                  </a:lnTo>
                  <a:lnTo>
                    <a:pt x="1025961" y="44108"/>
                  </a:lnTo>
                  <a:lnTo>
                    <a:pt x="1031399" y="71451"/>
                  </a:lnTo>
                  <a:lnTo>
                    <a:pt x="1031399" y="357248"/>
                  </a:lnTo>
                  <a:lnTo>
                    <a:pt x="1025785" y="385060"/>
                  </a:lnTo>
                  <a:lnTo>
                    <a:pt x="1010472" y="407772"/>
                  </a:lnTo>
                  <a:lnTo>
                    <a:pt x="987760" y="423085"/>
                  </a:lnTo>
                  <a:lnTo>
                    <a:pt x="959948" y="428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782615" y="2451541"/>
              <a:ext cx="1031875" cy="429259"/>
            </a:xfrm>
            <a:custGeom>
              <a:avLst/>
              <a:gdLst/>
              <a:ahLst/>
              <a:cxnLst/>
              <a:rect l="l" t="t" r="r" b="b"/>
              <a:pathLst>
                <a:path w="1031875" h="429260">
                  <a:moveTo>
                    <a:pt x="0" y="71451"/>
                  </a:moveTo>
                  <a:lnTo>
                    <a:pt x="5615" y="43639"/>
                  </a:lnTo>
                  <a:lnTo>
                    <a:pt x="20927" y="20927"/>
                  </a:lnTo>
                  <a:lnTo>
                    <a:pt x="43639" y="5615"/>
                  </a:lnTo>
                  <a:lnTo>
                    <a:pt x="71451" y="0"/>
                  </a:lnTo>
                  <a:lnTo>
                    <a:pt x="959948" y="0"/>
                  </a:lnTo>
                  <a:lnTo>
                    <a:pt x="999590" y="12004"/>
                  </a:lnTo>
                  <a:lnTo>
                    <a:pt x="1025961" y="44108"/>
                  </a:lnTo>
                  <a:lnTo>
                    <a:pt x="1031399" y="71451"/>
                  </a:lnTo>
                  <a:lnTo>
                    <a:pt x="1031399" y="357248"/>
                  </a:lnTo>
                  <a:lnTo>
                    <a:pt x="1025785" y="385060"/>
                  </a:lnTo>
                  <a:lnTo>
                    <a:pt x="1010472" y="407772"/>
                  </a:lnTo>
                  <a:lnTo>
                    <a:pt x="987760" y="423085"/>
                  </a:lnTo>
                  <a:lnTo>
                    <a:pt x="959948" y="428699"/>
                  </a:lnTo>
                  <a:lnTo>
                    <a:pt x="71451" y="428699"/>
                  </a:lnTo>
                  <a:lnTo>
                    <a:pt x="43639" y="423085"/>
                  </a:lnTo>
                  <a:lnTo>
                    <a:pt x="20927" y="407772"/>
                  </a:lnTo>
                  <a:lnTo>
                    <a:pt x="5615" y="385060"/>
                  </a:lnTo>
                  <a:lnTo>
                    <a:pt x="0" y="357248"/>
                  </a:lnTo>
                  <a:lnTo>
                    <a:pt x="0" y="714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159295" y="3301539"/>
            <a:ext cx="1143847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378451" marR="6773" indent="-362364">
              <a:lnSpc>
                <a:spcPct val="102299"/>
              </a:lnSpc>
              <a:spcBef>
                <a:spcPts val="93"/>
              </a:spcBef>
            </a:pPr>
            <a:r>
              <a:rPr sz="1467" spc="-13" dirty="0">
                <a:latin typeface="Roboto Lt"/>
                <a:cs typeface="Roboto Lt"/>
              </a:rPr>
              <a:t>Unsupervised </a:t>
            </a:r>
            <a:r>
              <a:rPr sz="1467" spc="-27" dirty="0">
                <a:latin typeface="Roboto Lt"/>
                <a:cs typeface="Roboto Lt"/>
              </a:rPr>
              <a:t>Task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775024" y="2628388"/>
            <a:ext cx="916093" cy="456353"/>
            <a:chOff x="3581268" y="1971290"/>
            <a:chExt cx="687070" cy="342265"/>
          </a:xfrm>
        </p:grpSpPr>
        <p:sp>
          <p:nvSpPr>
            <p:cNvPr id="73" name="object 73"/>
            <p:cNvSpPr/>
            <p:nvPr/>
          </p:nvSpPr>
          <p:spPr>
            <a:xfrm>
              <a:off x="3590793" y="1980815"/>
              <a:ext cx="668020" cy="323215"/>
            </a:xfrm>
            <a:custGeom>
              <a:avLst/>
              <a:gdLst/>
              <a:ahLst/>
              <a:cxnLst/>
              <a:rect l="l" t="t" r="r" b="b"/>
              <a:pathLst>
                <a:path w="668020" h="323214">
                  <a:moveTo>
                    <a:pt x="613948" y="323099"/>
                  </a:moveTo>
                  <a:lnTo>
                    <a:pt x="53850" y="323099"/>
                  </a:lnTo>
                  <a:lnTo>
                    <a:pt x="32889" y="318868"/>
                  </a:lnTo>
                  <a:lnTo>
                    <a:pt x="15772" y="307327"/>
                  </a:lnTo>
                  <a:lnTo>
                    <a:pt x="4231" y="290210"/>
                  </a:lnTo>
                  <a:lnTo>
                    <a:pt x="0" y="269248"/>
                  </a:lnTo>
                  <a:lnTo>
                    <a:pt x="0" y="53851"/>
                  </a:lnTo>
                  <a:lnTo>
                    <a:pt x="4231" y="32889"/>
                  </a:lnTo>
                  <a:lnTo>
                    <a:pt x="15772" y="15772"/>
                  </a:lnTo>
                  <a:lnTo>
                    <a:pt x="32889" y="4231"/>
                  </a:lnTo>
                  <a:lnTo>
                    <a:pt x="53850" y="0"/>
                  </a:lnTo>
                  <a:lnTo>
                    <a:pt x="613948" y="0"/>
                  </a:lnTo>
                  <a:lnTo>
                    <a:pt x="652027" y="15772"/>
                  </a:lnTo>
                  <a:lnTo>
                    <a:pt x="667799" y="53851"/>
                  </a:lnTo>
                  <a:lnTo>
                    <a:pt x="667799" y="269248"/>
                  </a:lnTo>
                  <a:lnTo>
                    <a:pt x="663568" y="290210"/>
                  </a:lnTo>
                  <a:lnTo>
                    <a:pt x="652027" y="307327"/>
                  </a:lnTo>
                  <a:lnTo>
                    <a:pt x="634909" y="318868"/>
                  </a:lnTo>
                  <a:lnTo>
                    <a:pt x="613948" y="3230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90793" y="1980815"/>
              <a:ext cx="668020" cy="323215"/>
            </a:xfrm>
            <a:custGeom>
              <a:avLst/>
              <a:gdLst/>
              <a:ahLst/>
              <a:cxnLst/>
              <a:rect l="l" t="t" r="r" b="b"/>
              <a:pathLst>
                <a:path w="668020" h="323214">
                  <a:moveTo>
                    <a:pt x="0" y="53851"/>
                  </a:moveTo>
                  <a:lnTo>
                    <a:pt x="4231" y="32889"/>
                  </a:lnTo>
                  <a:lnTo>
                    <a:pt x="15772" y="15772"/>
                  </a:lnTo>
                  <a:lnTo>
                    <a:pt x="32889" y="4231"/>
                  </a:lnTo>
                  <a:lnTo>
                    <a:pt x="53850" y="0"/>
                  </a:lnTo>
                  <a:lnTo>
                    <a:pt x="613948" y="0"/>
                  </a:lnTo>
                  <a:lnTo>
                    <a:pt x="652027" y="15772"/>
                  </a:lnTo>
                  <a:lnTo>
                    <a:pt x="667799" y="53851"/>
                  </a:lnTo>
                  <a:lnTo>
                    <a:pt x="667799" y="269248"/>
                  </a:lnTo>
                  <a:lnTo>
                    <a:pt x="663568" y="290210"/>
                  </a:lnTo>
                  <a:lnTo>
                    <a:pt x="652027" y="307327"/>
                  </a:lnTo>
                  <a:lnTo>
                    <a:pt x="634909" y="318868"/>
                  </a:lnTo>
                  <a:lnTo>
                    <a:pt x="613948" y="323099"/>
                  </a:lnTo>
                  <a:lnTo>
                    <a:pt x="53850" y="323099"/>
                  </a:lnTo>
                  <a:lnTo>
                    <a:pt x="32889" y="318868"/>
                  </a:lnTo>
                  <a:lnTo>
                    <a:pt x="15772" y="307327"/>
                  </a:lnTo>
                  <a:lnTo>
                    <a:pt x="4231" y="290210"/>
                  </a:lnTo>
                  <a:lnTo>
                    <a:pt x="0" y="269248"/>
                  </a:lnTo>
                  <a:lnTo>
                    <a:pt x="0" y="538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4942246" y="2717804"/>
            <a:ext cx="581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A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850092" y="2754000"/>
            <a:ext cx="916093" cy="456353"/>
            <a:chOff x="4387569" y="2065499"/>
            <a:chExt cx="687070" cy="342265"/>
          </a:xfrm>
        </p:grpSpPr>
        <p:sp>
          <p:nvSpPr>
            <p:cNvPr id="77" name="object 77"/>
            <p:cNvSpPr/>
            <p:nvPr/>
          </p:nvSpPr>
          <p:spPr>
            <a:xfrm>
              <a:off x="4397094" y="2075024"/>
              <a:ext cx="668020" cy="323215"/>
            </a:xfrm>
            <a:custGeom>
              <a:avLst/>
              <a:gdLst/>
              <a:ahLst/>
              <a:cxnLst/>
              <a:rect l="l" t="t" r="r" b="b"/>
              <a:pathLst>
                <a:path w="668020" h="323214">
                  <a:moveTo>
                    <a:pt x="613948" y="323099"/>
                  </a:moveTo>
                  <a:lnTo>
                    <a:pt x="53851" y="323099"/>
                  </a:lnTo>
                  <a:lnTo>
                    <a:pt x="32889" y="318868"/>
                  </a:lnTo>
                  <a:lnTo>
                    <a:pt x="15772" y="307327"/>
                  </a:lnTo>
                  <a:lnTo>
                    <a:pt x="4231" y="290210"/>
                  </a:lnTo>
                  <a:lnTo>
                    <a:pt x="0" y="269249"/>
                  </a:lnTo>
                  <a:lnTo>
                    <a:pt x="0" y="53851"/>
                  </a:lnTo>
                  <a:lnTo>
                    <a:pt x="4231" y="32889"/>
                  </a:lnTo>
                  <a:lnTo>
                    <a:pt x="15772" y="15772"/>
                  </a:lnTo>
                  <a:lnTo>
                    <a:pt x="32889" y="4231"/>
                  </a:lnTo>
                  <a:lnTo>
                    <a:pt x="53851" y="0"/>
                  </a:lnTo>
                  <a:lnTo>
                    <a:pt x="613948" y="0"/>
                  </a:lnTo>
                  <a:lnTo>
                    <a:pt x="652027" y="15772"/>
                  </a:lnTo>
                  <a:lnTo>
                    <a:pt x="667799" y="53851"/>
                  </a:lnTo>
                  <a:lnTo>
                    <a:pt x="667799" y="269249"/>
                  </a:lnTo>
                  <a:lnTo>
                    <a:pt x="663568" y="290210"/>
                  </a:lnTo>
                  <a:lnTo>
                    <a:pt x="652027" y="307327"/>
                  </a:lnTo>
                  <a:lnTo>
                    <a:pt x="634910" y="318868"/>
                  </a:lnTo>
                  <a:lnTo>
                    <a:pt x="613948" y="3230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97094" y="2075024"/>
              <a:ext cx="668020" cy="323215"/>
            </a:xfrm>
            <a:custGeom>
              <a:avLst/>
              <a:gdLst/>
              <a:ahLst/>
              <a:cxnLst/>
              <a:rect l="l" t="t" r="r" b="b"/>
              <a:pathLst>
                <a:path w="668020" h="323214">
                  <a:moveTo>
                    <a:pt x="0" y="53851"/>
                  </a:moveTo>
                  <a:lnTo>
                    <a:pt x="4231" y="32889"/>
                  </a:lnTo>
                  <a:lnTo>
                    <a:pt x="15772" y="15772"/>
                  </a:lnTo>
                  <a:lnTo>
                    <a:pt x="32889" y="4231"/>
                  </a:lnTo>
                  <a:lnTo>
                    <a:pt x="53851" y="0"/>
                  </a:lnTo>
                  <a:lnTo>
                    <a:pt x="613948" y="0"/>
                  </a:lnTo>
                  <a:lnTo>
                    <a:pt x="652027" y="15772"/>
                  </a:lnTo>
                  <a:lnTo>
                    <a:pt x="667799" y="53851"/>
                  </a:lnTo>
                  <a:lnTo>
                    <a:pt x="667799" y="269249"/>
                  </a:lnTo>
                  <a:lnTo>
                    <a:pt x="663568" y="290210"/>
                  </a:lnTo>
                  <a:lnTo>
                    <a:pt x="652027" y="307327"/>
                  </a:lnTo>
                  <a:lnTo>
                    <a:pt x="634910" y="318868"/>
                  </a:lnTo>
                  <a:lnTo>
                    <a:pt x="613948" y="323099"/>
                  </a:lnTo>
                  <a:lnTo>
                    <a:pt x="53851" y="323099"/>
                  </a:lnTo>
                  <a:lnTo>
                    <a:pt x="32889" y="318868"/>
                  </a:lnTo>
                  <a:lnTo>
                    <a:pt x="15772" y="307327"/>
                  </a:lnTo>
                  <a:lnTo>
                    <a:pt x="4231" y="290210"/>
                  </a:lnTo>
                  <a:lnTo>
                    <a:pt x="0" y="269249"/>
                  </a:lnTo>
                  <a:lnTo>
                    <a:pt x="0" y="538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6018404" y="2843415"/>
            <a:ext cx="57912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B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207192" y="3961252"/>
            <a:ext cx="916093" cy="456353"/>
            <a:chOff x="3905394" y="2970938"/>
            <a:chExt cx="687070" cy="342265"/>
          </a:xfrm>
        </p:grpSpPr>
        <p:sp>
          <p:nvSpPr>
            <p:cNvPr id="81" name="object 81"/>
            <p:cNvSpPr/>
            <p:nvPr/>
          </p:nvSpPr>
          <p:spPr>
            <a:xfrm>
              <a:off x="3914919" y="2980463"/>
              <a:ext cx="668020" cy="323215"/>
            </a:xfrm>
            <a:custGeom>
              <a:avLst/>
              <a:gdLst/>
              <a:ahLst/>
              <a:cxnLst/>
              <a:rect l="l" t="t" r="r" b="b"/>
              <a:pathLst>
                <a:path w="668020" h="323214">
                  <a:moveTo>
                    <a:pt x="613948" y="323099"/>
                  </a:moveTo>
                  <a:lnTo>
                    <a:pt x="53850" y="323099"/>
                  </a:lnTo>
                  <a:lnTo>
                    <a:pt x="32889" y="318868"/>
                  </a:lnTo>
                  <a:lnTo>
                    <a:pt x="15772" y="307327"/>
                  </a:lnTo>
                  <a:lnTo>
                    <a:pt x="4231" y="290210"/>
                  </a:lnTo>
                  <a:lnTo>
                    <a:pt x="0" y="269248"/>
                  </a:lnTo>
                  <a:lnTo>
                    <a:pt x="0" y="53850"/>
                  </a:lnTo>
                  <a:lnTo>
                    <a:pt x="4231" y="32889"/>
                  </a:lnTo>
                  <a:lnTo>
                    <a:pt x="15772" y="15772"/>
                  </a:lnTo>
                  <a:lnTo>
                    <a:pt x="32889" y="4231"/>
                  </a:lnTo>
                  <a:lnTo>
                    <a:pt x="53850" y="0"/>
                  </a:lnTo>
                  <a:lnTo>
                    <a:pt x="613948" y="0"/>
                  </a:lnTo>
                  <a:lnTo>
                    <a:pt x="652027" y="15772"/>
                  </a:lnTo>
                  <a:lnTo>
                    <a:pt x="667799" y="53850"/>
                  </a:lnTo>
                  <a:lnTo>
                    <a:pt x="667799" y="269248"/>
                  </a:lnTo>
                  <a:lnTo>
                    <a:pt x="663568" y="290210"/>
                  </a:lnTo>
                  <a:lnTo>
                    <a:pt x="652027" y="307327"/>
                  </a:lnTo>
                  <a:lnTo>
                    <a:pt x="634909" y="318868"/>
                  </a:lnTo>
                  <a:lnTo>
                    <a:pt x="613948" y="3230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914919" y="2980463"/>
              <a:ext cx="668020" cy="323215"/>
            </a:xfrm>
            <a:custGeom>
              <a:avLst/>
              <a:gdLst/>
              <a:ahLst/>
              <a:cxnLst/>
              <a:rect l="l" t="t" r="r" b="b"/>
              <a:pathLst>
                <a:path w="668020" h="323214">
                  <a:moveTo>
                    <a:pt x="0" y="53850"/>
                  </a:moveTo>
                  <a:lnTo>
                    <a:pt x="4231" y="32889"/>
                  </a:lnTo>
                  <a:lnTo>
                    <a:pt x="15772" y="15772"/>
                  </a:lnTo>
                  <a:lnTo>
                    <a:pt x="32889" y="4231"/>
                  </a:lnTo>
                  <a:lnTo>
                    <a:pt x="53850" y="0"/>
                  </a:lnTo>
                  <a:lnTo>
                    <a:pt x="613948" y="0"/>
                  </a:lnTo>
                  <a:lnTo>
                    <a:pt x="652027" y="15772"/>
                  </a:lnTo>
                  <a:lnTo>
                    <a:pt x="667799" y="53850"/>
                  </a:lnTo>
                  <a:lnTo>
                    <a:pt x="667799" y="269248"/>
                  </a:lnTo>
                  <a:lnTo>
                    <a:pt x="663568" y="290210"/>
                  </a:lnTo>
                  <a:lnTo>
                    <a:pt x="652027" y="307327"/>
                  </a:lnTo>
                  <a:lnTo>
                    <a:pt x="634909" y="318868"/>
                  </a:lnTo>
                  <a:lnTo>
                    <a:pt x="613948" y="323099"/>
                  </a:lnTo>
                  <a:lnTo>
                    <a:pt x="53850" y="323099"/>
                  </a:lnTo>
                  <a:lnTo>
                    <a:pt x="32889" y="318868"/>
                  </a:lnTo>
                  <a:lnTo>
                    <a:pt x="15772" y="307327"/>
                  </a:lnTo>
                  <a:lnTo>
                    <a:pt x="4231" y="290210"/>
                  </a:lnTo>
                  <a:lnTo>
                    <a:pt x="0" y="269248"/>
                  </a:lnTo>
                  <a:lnTo>
                    <a:pt x="0" y="538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5372097" y="4050667"/>
            <a:ext cx="5867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C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8073934" y="2542801"/>
            <a:ext cx="2188633" cy="1971887"/>
            <a:chOff x="6055450" y="1907100"/>
            <a:chExt cx="1641475" cy="1478915"/>
          </a:xfrm>
        </p:grpSpPr>
        <p:sp>
          <p:nvSpPr>
            <p:cNvPr id="85" name="object 85"/>
            <p:cNvSpPr/>
            <p:nvPr/>
          </p:nvSpPr>
          <p:spPr>
            <a:xfrm>
              <a:off x="6064975" y="1916625"/>
              <a:ext cx="1622425" cy="1459865"/>
            </a:xfrm>
            <a:custGeom>
              <a:avLst/>
              <a:gdLst/>
              <a:ahLst/>
              <a:cxnLst/>
              <a:rect l="l" t="t" r="r" b="b"/>
              <a:pathLst>
                <a:path w="1622425" h="1459864">
                  <a:moveTo>
                    <a:pt x="1506994" y="1459799"/>
                  </a:moveTo>
                  <a:lnTo>
                    <a:pt x="115104" y="1459799"/>
                  </a:lnTo>
                  <a:lnTo>
                    <a:pt x="70301" y="1450754"/>
                  </a:lnTo>
                  <a:lnTo>
                    <a:pt x="33713" y="1426086"/>
                  </a:lnTo>
                  <a:lnTo>
                    <a:pt x="9045" y="1389498"/>
                  </a:lnTo>
                  <a:lnTo>
                    <a:pt x="0" y="1344694"/>
                  </a:lnTo>
                  <a:lnTo>
                    <a:pt x="0" y="115105"/>
                  </a:lnTo>
                  <a:lnTo>
                    <a:pt x="9045" y="70301"/>
                  </a:lnTo>
                  <a:lnTo>
                    <a:pt x="33713" y="33713"/>
                  </a:lnTo>
                  <a:lnTo>
                    <a:pt x="70301" y="9045"/>
                  </a:lnTo>
                  <a:lnTo>
                    <a:pt x="115104" y="0"/>
                  </a:lnTo>
                  <a:lnTo>
                    <a:pt x="1506994" y="0"/>
                  </a:lnTo>
                  <a:lnTo>
                    <a:pt x="1551043" y="8761"/>
                  </a:lnTo>
                  <a:lnTo>
                    <a:pt x="1588386" y="33713"/>
                  </a:lnTo>
                  <a:lnTo>
                    <a:pt x="1613338" y="71056"/>
                  </a:lnTo>
                  <a:lnTo>
                    <a:pt x="1622099" y="115105"/>
                  </a:lnTo>
                  <a:lnTo>
                    <a:pt x="1622099" y="1344694"/>
                  </a:lnTo>
                  <a:lnTo>
                    <a:pt x="1613054" y="1389498"/>
                  </a:lnTo>
                  <a:lnTo>
                    <a:pt x="1588386" y="1426086"/>
                  </a:lnTo>
                  <a:lnTo>
                    <a:pt x="1551798" y="1450754"/>
                  </a:lnTo>
                  <a:lnTo>
                    <a:pt x="1506994" y="145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64975" y="1916625"/>
              <a:ext cx="1622425" cy="1459865"/>
            </a:xfrm>
            <a:custGeom>
              <a:avLst/>
              <a:gdLst/>
              <a:ahLst/>
              <a:cxnLst/>
              <a:rect l="l" t="t" r="r" b="b"/>
              <a:pathLst>
                <a:path w="1622425" h="1459864">
                  <a:moveTo>
                    <a:pt x="0" y="115105"/>
                  </a:moveTo>
                  <a:lnTo>
                    <a:pt x="9045" y="70301"/>
                  </a:lnTo>
                  <a:lnTo>
                    <a:pt x="33713" y="33713"/>
                  </a:lnTo>
                  <a:lnTo>
                    <a:pt x="70301" y="9045"/>
                  </a:lnTo>
                  <a:lnTo>
                    <a:pt x="115104" y="0"/>
                  </a:lnTo>
                  <a:lnTo>
                    <a:pt x="1506994" y="0"/>
                  </a:lnTo>
                  <a:lnTo>
                    <a:pt x="1551043" y="8761"/>
                  </a:lnTo>
                  <a:lnTo>
                    <a:pt x="1588386" y="33713"/>
                  </a:lnTo>
                  <a:lnTo>
                    <a:pt x="1613338" y="71056"/>
                  </a:lnTo>
                  <a:lnTo>
                    <a:pt x="1622099" y="115105"/>
                  </a:lnTo>
                  <a:lnTo>
                    <a:pt x="1622099" y="1344694"/>
                  </a:lnTo>
                  <a:lnTo>
                    <a:pt x="1613054" y="1389498"/>
                  </a:lnTo>
                  <a:lnTo>
                    <a:pt x="1588386" y="1426086"/>
                  </a:lnTo>
                  <a:lnTo>
                    <a:pt x="1551798" y="1450754"/>
                  </a:lnTo>
                  <a:lnTo>
                    <a:pt x="1506994" y="1459799"/>
                  </a:lnTo>
                  <a:lnTo>
                    <a:pt x="115104" y="1459799"/>
                  </a:lnTo>
                  <a:lnTo>
                    <a:pt x="70301" y="1450754"/>
                  </a:lnTo>
                  <a:lnTo>
                    <a:pt x="33713" y="1426086"/>
                  </a:lnTo>
                  <a:lnTo>
                    <a:pt x="9045" y="1389498"/>
                  </a:lnTo>
                  <a:lnTo>
                    <a:pt x="0" y="1344694"/>
                  </a:lnTo>
                  <a:lnTo>
                    <a:pt x="0" y="115105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338828" y="2443450"/>
              <a:ext cx="1031240" cy="429259"/>
            </a:xfrm>
            <a:custGeom>
              <a:avLst/>
              <a:gdLst/>
              <a:ahLst/>
              <a:cxnLst/>
              <a:rect l="l" t="t" r="r" b="b"/>
              <a:pathLst>
                <a:path w="1031240" h="429260">
                  <a:moveTo>
                    <a:pt x="959348" y="428699"/>
                  </a:moveTo>
                  <a:lnTo>
                    <a:pt x="71451" y="428699"/>
                  </a:lnTo>
                  <a:lnTo>
                    <a:pt x="43639" y="423084"/>
                  </a:lnTo>
                  <a:lnTo>
                    <a:pt x="20927" y="407772"/>
                  </a:lnTo>
                  <a:lnTo>
                    <a:pt x="5615" y="385060"/>
                  </a:lnTo>
                  <a:lnTo>
                    <a:pt x="0" y="357248"/>
                  </a:lnTo>
                  <a:lnTo>
                    <a:pt x="0" y="71451"/>
                  </a:lnTo>
                  <a:lnTo>
                    <a:pt x="5615" y="43639"/>
                  </a:lnTo>
                  <a:lnTo>
                    <a:pt x="20927" y="20927"/>
                  </a:lnTo>
                  <a:lnTo>
                    <a:pt x="43639" y="5614"/>
                  </a:lnTo>
                  <a:lnTo>
                    <a:pt x="71451" y="0"/>
                  </a:lnTo>
                  <a:lnTo>
                    <a:pt x="959348" y="0"/>
                  </a:lnTo>
                  <a:lnTo>
                    <a:pt x="998989" y="12004"/>
                  </a:lnTo>
                  <a:lnTo>
                    <a:pt x="1025360" y="44108"/>
                  </a:lnTo>
                  <a:lnTo>
                    <a:pt x="1030799" y="71451"/>
                  </a:lnTo>
                  <a:lnTo>
                    <a:pt x="1030799" y="357248"/>
                  </a:lnTo>
                  <a:lnTo>
                    <a:pt x="1025185" y="385060"/>
                  </a:lnTo>
                  <a:lnTo>
                    <a:pt x="1009872" y="407772"/>
                  </a:lnTo>
                  <a:lnTo>
                    <a:pt x="987160" y="423084"/>
                  </a:lnTo>
                  <a:lnTo>
                    <a:pt x="959348" y="428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338828" y="2443450"/>
              <a:ext cx="1031240" cy="429259"/>
            </a:xfrm>
            <a:custGeom>
              <a:avLst/>
              <a:gdLst/>
              <a:ahLst/>
              <a:cxnLst/>
              <a:rect l="l" t="t" r="r" b="b"/>
              <a:pathLst>
                <a:path w="1031240" h="429260">
                  <a:moveTo>
                    <a:pt x="0" y="71451"/>
                  </a:moveTo>
                  <a:lnTo>
                    <a:pt x="5615" y="43639"/>
                  </a:lnTo>
                  <a:lnTo>
                    <a:pt x="20927" y="20927"/>
                  </a:lnTo>
                  <a:lnTo>
                    <a:pt x="43639" y="5614"/>
                  </a:lnTo>
                  <a:lnTo>
                    <a:pt x="71451" y="0"/>
                  </a:lnTo>
                  <a:lnTo>
                    <a:pt x="959348" y="0"/>
                  </a:lnTo>
                  <a:lnTo>
                    <a:pt x="998989" y="12004"/>
                  </a:lnTo>
                  <a:lnTo>
                    <a:pt x="1025360" y="44108"/>
                  </a:lnTo>
                  <a:lnTo>
                    <a:pt x="1030799" y="71451"/>
                  </a:lnTo>
                  <a:lnTo>
                    <a:pt x="1030799" y="357248"/>
                  </a:lnTo>
                  <a:lnTo>
                    <a:pt x="1025185" y="385060"/>
                  </a:lnTo>
                  <a:lnTo>
                    <a:pt x="1009872" y="407772"/>
                  </a:lnTo>
                  <a:lnTo>
                    <a:pt x="987160" y="423084"/>
                  </a:lnTo>
                  <a:lnTo>
                    <a:pt x="959348" y="428699"/>
                  </a:lnTo>
                  <a:lnTo>
                    <a:pt x="71451" y="428699"/>
                  </a:lnTo>
                  <a:lnTo>
                    <a:pt x="43639" y="423084"/>
                  </a:lnTo>
                  <a:lnTo>
                    <a:pt x="20927" y="407772"/>
                  </a:lnTo>
                  <a:lnTo>
                    <a:pt x="5615" y="385060"/>
                  </a:lnTo>
                  <a:lnTo>
                    <a:pt x="0" y="357248"/>
                  </a:lnTo>
                  <a:lnTo>
                    <a:pt x="0" y="7145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567179" y="3290750"/>
            <a:ext cx="1143847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378451" marR="6773" indent="-362364">
              <a:lnSpc>
                <a:spcPct val="102299"/>
              </a:lnSpc>
              <a:spcBef>
                <a:spcPts val="93"/>
              </a:spcBef>
            </a:pPr>
            <a:r>
              <a:rPr sz="1467" spc="-13" dirty="0">
                <a:latin typeface="Roboto Lt"/>
                <a:cs typeface="Roboto Lt"/>
              </a:rPr>
              <a:t>Unsupervised </a:t>
            </a:r>
            <a:r>
              <a:rPr sz="1467" spc="-27" dirty="0">
                <a:latin typeface="Roboto Lt"/>
                <a:cs typeface="Roboto Lt"/>
              </a:rPr>
              <a:t>Task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183343" y="2617677"/>
            <a:ext cx="916093" cy="457200"/>
            <a:chOff x="6137507" y="1963258"/>
            <a:chExt cx="687070" cy="342900"/>
          </a:xfrm>
        </p:grpSpPr>
        <p:sp>
          <p:nvSpPr>
            <p:cNvPr id="91" name="object 91"/>
            <p:cNvSpPr/>
            <p:nvPr/>
          </p:nvSpPr>
          <p:spPr>
            <a:xfrm>
              <a:off x="6147032" y="1972783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613898" y="323399"/>
                  </a:moveTo>
                  <a:lnTo>
                    <a:pt x="53900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9"/>
                  </a:lnTo>
                  <a:lnTo>
                    <a:pt x="0" y="53901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9"/>
                  </a:lnTo>
                  <a:lnTo>
                    <a:pt x="663563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147032" y="1972783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0" y="53901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9"/>
                  </a:lnTo>
                  <a:lnTo>
                    <a:pt x="663563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lnTo>
                    <a:pt x="53900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9"/>
                  </a:lnTo>
                  <a:lnTo>
                    <a:pt x="0" y="539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8350565" y="2707293"/>
            <a:ext cx="581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A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9258263" y="2743273"/>
            <a:ext cx="916093" cy="457200"/>
            <a:chOff x="6943697" y="2057455"/>
            <a:chExt cx="687070" cy="342900"/>
          </a:xfrm>
        </p:grpSpPr>
        <p:sp>
          <p:nvSpPr>
            <p:cNvPr id="95" name="object 95"/>
            <p:cNvSpPr/>
            <p:nvPr/>
          </p:nvSpPr>
          <p:spPr>
            <a:xfrm>
              <a:off x="6953222" y="2066980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613899" y="323399"/>
                  </a:moveTo>
                  <a:lnTo>
                    <a:pt x="53901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1" y="0"/>
                  </a:lnTo>
                  <a:lnTo>
                    <a:pt x="613899" y="0"/>
                  </a:lnTo>
                  <a:lnTo>
                    <a:pt x="652013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80" y="319164"/>
                  </a:lnTo>
                  <a:lnTo>
                    <a:pt x="613899" y="323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953222" y="2066980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0" y="53900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1" y="0"/>
                  </a:lnTo>
                  <a:lnTo>
                    <a:pt x="613899" y="0"/>
                  </a:lnTo>
                  <a:lnTo>
                    <a:pt x="652013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80" y="319164"/>
                  </a:lnTo>
                  <a:lnTo>
                    <a:pt x="613899" y="323399"/>
                  </a:lnTo>
                  <a:lnTo>
                    <a:pt x="53901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9426576" y="2832889"/>
            <a:ext cx="57912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B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8615451" y="3950373"/>
            <a:ext cx="916093" cy="457200"/>
            <a:chOff x="6461588" y="2962780"/>
            <a:chExt cx="687070" cy="342900"/>
          </a:xfrm>
        </p:grpSpPr>
        <p:sp>
          <p:nvSpPr>
            <p:cNvPr id="99" name="object 99"/>
            <p:cNvSpPr/>
            <p:nvPr/>
          </p:nvSpPr>
          <p:spPr>
            <a:xfrm>
              <a:off x="6471113" y="2972305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613898" y="323399"/>
                  </a:moveTo>
                  <a:lnTo>
                    <a:pt x="53900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9"/>
                  </a:lnTo>
                  <a:lnTo>
                    <a:pt x="0" y="53901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9"/>
                  </a:lnTo>
                  <a:lnTo>
                    <a:pt x="663563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471113" y="2972305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0" y="53901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9"/>
                  </a:lnTo>
                  <a:lnTo>
                    <a:pt x="663563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lnTo>
                    <a:pt x="53900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9"/>
                  </a:lnTo>
                  <a:lnTo>
                    <a:pt x="0" y="539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8780357" y="4039989"/>
            <a:ext cx="5867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C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0818654" y="2728269"/>
            <a:ext cx="916093" cy="457200"/>
            <a:chOff x="8113990" y="2046202"/>
            <a:chExt cx="687070" cy="342900"/>
          </a:xfrm>
        </p:grpSpPr>
        <p:sp>
          <p:nvSpPr>
            <p:cNvPr id="103" name="object 103"/>
            <p:cNvSpPr/>
            <p:nvPr/>
          </p:nvSpPr>
          <p:spPr>
            <a:xfrm>
              <a:off x="8123515" y="2055727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613898" y="323399"/>
                  </a:moveTo>
                  <a:lnTo>
                    <a:pt x="53900" y="323399"/>
                  </a:lnTo>
                  <a:lnTo>
                    <a:pt x="32919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19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123515" y="2055727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0" y="53900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19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lnTo>
                    <a:pt x="53900" y="323399"/>
                  </a:lnTo>
                  <a:lnTo>
                    <a:pt x="32919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10985875" y="2817885"/>
            <a:ext cx="581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A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0818654" y="3300433"/>
            <a:ext cx="916093" cy="457200"/>
            <a:chOff x="8113990" y="2475325"/>
            <a:chExt cx="687070" cy="342900"/>
          </a:xfrm>
        </p:grpSpPr>
        <p:sp>
          <p:nvSpPr>
            <p:cNvPr id="107" name="object 107"/>
            <p:cNvSpPr/>
            <p:nvPr/>
          </p:nvSpPr>
          <p:spPr>
            <a:xfrm>
              <a:off x="8123515" y="2484850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613898" y="323399"/>
                  </a:moveTo>
                  <a:lnTo>
                    <a:pt x="53900" y="323399"/>
                  </a:lnTo>
                  <a:lnTo>
                    <a:pt x="32919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19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123515" y="2484850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0" y="53900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19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lnTo>
                    <a:pt x="53900" y="323399"/>
                  </a:lnTo>
                  <a:lnTo>
                    <a:pt x="32919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10986965" y="3390049"/>
            <a:ext cx="57912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B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10818654" y="3872599"/>
            <a:ext cx="916093" cy="457200"/>
            <a:chOff x="8113990" y="2904449"/>
            <a:chExt cx="687070" cy="342900"/>
          </a:xfrm>
        </p:grpSpPr>
        <p:sp>
          <p:nvSpPr>
            <p:cNvPr id="111" name="object 111"/>
            <p:cNvSpPr/>
            <p:nvPr/>
          </p:nvSpPr>
          <p:spPr>
            <a:xfrm>
              <a:off x="8123515" y="2913974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613898" y="323399"/>
                  </a:moveTo>
                  <a:lnTo>
                    <a:pt x="53900" y="323399"/>
                  </a:lnTo>
                  <a:lnTo>
                    <a:pt x="32919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19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123515" y="2913974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0" y="53900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19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0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lnTo>
                    <a:pt x="53900" y="323399"/>
                  </a:lnTo>
                  <a:lnTo>
                    <a:pt x="32919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10983557" y="3962215"/>
            <a:ext cx="5867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C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0236733" y="2940911"/>
            <a:ext cx="571500" cy="1176020"/>
            <a:chOff x="7677549" y="2205683"/>
            <a:chExt cx="428625" cy="882015"/>
          </a:xfrm>
        </p:grpSpPr>
        <p:sp>
          <p:nvSpPr>
            <p:cNvPr id="115" name="object 115"/>
            <p:cNvSpPr/>
            <p:nvPr/>
          </p:nvSpPr>
          <p:spPr>
            <a:xfrm>
              <a:off x="7687074" y="2231535"/>
              <a:ext cx="372745" cy="415290"/>
            </a:xfrm>
            <a:custGeom>
              <a:avLst/>
              <a:gdLst/>
              <a:ahLst/>
              <a:cxnLst/>
              <a:rect l="l" t="t" r="r" b="b"/>
              <a:pathLst>
                <a:path w="372745" h="415289">
                  <a:moveTo>
                    <a:pt x="0" y="414989"/>
                  </a:moveTo>
                  <a:lnTo>
                    <a:pt x="43593" y="408736"/>
                  </a:lnTo>
                  <a:lnTo>
                    <a:pt x="81460" y="391225"/>
                  </a:lnTo>
                  <a:lnTo>
                    <a:pt x="114554" y="364335"/>
                  </a:lnTo>
                  <a:lnTo>
                    <a:pt x="143829" y="329940"/>
                  </a:lnTo>
                  <a:lnTo>
                    <a:pt x="170240" y="289916"/>
                  </a:lnTo>
                  <a:lnTo>
                    <a:pt x="194740" y="246141"/>
                  </a:lnTo>
                  <a:lnTo>
                    <a:pt x="218284" y="200489"/>
                  </a:lnTo>
                  <a:lnTo>
                    <a:pt x="238851" y="160480"/>
                  </a:lnTo>
                  <a:lnTo>
                    <a:pt x="260056" y="121727"/>
                  </a:lnTo>
                  <a:lnTo>
                    <a:pt x="282538" y="85489"/>
                  </a:lnTo>
                  <a:lnTo>
                    <a:pt x="306938" y="53020"/>
                  </a:lnTo>
                  <a:lnTo>
                    <a:pt x="333894" y="25579"/>
                  </a:lnTo>
                  <a:lnTo>
                    <a:pt x="366710" y="2956"/>
                  </a:lnTo>
                  <a:lnTo>
                    <a:pt x="372159" y="263"/>
                  </a:lnTo>
                  <a:lnTo>
                    <a:pt x="372734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034288" y="2215208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9195" y="41848"/>
                  </a:moveTo>
                  <a:lnTo>
                    <a:pt x="25521" y="16326"/>
                  </a:lnTo>
                  <a:lnTo>
                    <a:pt x="0" y="0"/>
                  </a:lnTo>
                  <a:lnTo>
                    <a:pt x="62085" y="8292"/>
                  </a:lnTo>
                  <a:lnTo>
                    <a:pt x="9195" y="4184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034288" y="2215208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25521" y="16326"/>
                  </a:moveTo>
                  <a:lnTo>
                    <a:pt x="9195" y="41848"/>
                  </a:lnTo>
                  <a:lnTo>
                    <a:pt x="62085" y="8292"/>
                  </a:lnTo>
                  <a:lnTo>
                    <a:pt x="0" y="0"/>
                  </a:lnTo>
                  <a:lnTo>
                    <a:pt x="25521" y="16326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687074" y="2646525"/>
              <a:ext cx="372745" cy="415290"/>
            </a:xfrm>
            <a:custGeom>
              <a:avLst/>
              <a:gdLst/>
              <a:ahLst/>
              <a:cxnLst/>
              <a:rect l="l" t="t" r="r" b="b"/>
              <a:pathLst>
                <a:path w="372745" h="415289">
                  <a:moveTo>
                    <a:pt x="0" y="0"/>
                  </a:moveTo>
                  <a:lnTo>
                    <a:pt x="43593" y="6253"/>
                  </a:lnTo>
                  <a:lnTo>
                    <a:pt x="81460" y="23763"/>
                  </a:lnTo>
                  <a:lnTo>
                    <a:pt x="114554" y="50654"/>
                  </a:lnTo>
                  <a:lnTo>
                    <a:pt x="143829" y="85049"/>
                  </a:lnTo>
                  <a:lnTo>
                    <a:pt x="170240" y="125072"/>
                  </a:lnTo>
                  <a:lnTo>
                    <a:pt x="194740" y="168848"/>
                  </a:lnTo>
                  <a:lnTo>
                    <a:pt x="218284" y="214499"/>
                  </a:lnTo>
                  <a:lnTo>
                    <a:pt x="238851" y="254509"/>
                  </a:lnTo>
                  <a:lnTo>
                    <a:pt x="260056" y="293261"/>
                  </a:lnTo>
                  <a:lnTo>
                    <a:pt x="282538" y="329500"/>
                  </a:lnTo>
                  <a:lnTo>
                    <a:pt x="306938" y="361968"/>
                  </a:lnTo>
                  <a:lnTo>
                    <a:pt x="333894" y="389409"/>
                  </a:lnTo>
                  <a:lnTo>
                    <a:pt x="366710" y="412032"/>
                  </a:lnTo>
                  <a:lnTo>
                    <a:pt x="372159" y="414726"/>
                  </a:lnTo>
                  <a:lnTo>
                    <a:pt x="372734" y="41498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034288" y="3035992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0" y="41848"/>
                  </a:moveTo>
                  <a:lnTo>
                    <a:pt x="25521" y="25521"/>
                  </a:lnTo>
                  <a:lnTo>
                    <a:pt x="9195" y="0"/>
                  </a:lnTo>
                  <a:lnTo>
                    <a:pt x="62085" y="33555"/>
                  </a:lnTo>
                  <a:lnTo>
                    <a:pt x="0" y="4184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034288" y="3035992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25521" y="25521"/>
                  </a:moveTo>
                  <a:lnTo>
                    <a:pt x="0" y="41848"/>
                  </a:lnTo>
                  <a:lnTo>
                    <a:pt x="62085" y="33555"/>
                  </a:lnTo>
                  <a:lnTo>
                    <a:pt x="9195" y="0"/>
                  </a:lnTo>
                  <a:lnTo>
                    <a:pt x="25521" y="2552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687074" y="2646525"/>
              <a:ext cx="371475" cy="635"/>
            </a:xfrm>
            <a:custGeom>
              <a:avLst/>
              <a:gdLst/>
              <a:ahLst/>
              <a:cxnLst/>
              <a:rect l="l" t="t" r="r" b="b"/>
              <a:pathLst>
                <a:path w="371475" h="635">
                  <a:moveTo>
                    <a:pt x="0" y="0"/>
                  </a:moveTo>
                  <a:lnTo>
                    <a:pt x="72478" y="25"/>
                  </a:lnTo>
                  <a:lnTo>
                    <a:pt x="129609" y="93"/>
                  </a:lnTo>
                  <a:lnTo>
                    <a:pt x="176507" y="189"/>
                  </a:lnTo>
                  <a:lnTo>
                    <a:pt x="218284" y="299"/>
                  </a:lnTo>
                  <a:lnTo>
                    <a:pt x="238851" y="355"/>
                  </a:lnTo>
                  <a:lnTo>
                    <a:pt x="260056" y="410"/>
                  </a:lnTo>
                  <a:lnTo>
                    <a:pt x="306938" y="506"/>
                  </a:lnTo>
                  <a:lnTo>
                    <a:pt x="348531" y="560"/>
                  </a:lnTo>
                  <a:lnTo>
                    <a:pt x="364046" y="574"/>
                  </a:lnTo>
                  <a:lnTo>
                    <a:pt x="371213" y="576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036857" y="2625670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0" y="42846"/>
                  </a:moveTo>
                  <a:lnTo>
                    <a:pt x="21431" y="21430"/>
                  </a:lnTo>
                  <a:lnTo>
                    <a:pt x="15" y="0"/>
                  </a:lnTo>
                  <a:lnTo>
                    <a:pt x="58868" y="21444"/>
                  </a:lnTo>
                  <a:lnTo>
                    <a:pt x="0" y="4284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036857" y="2625670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21431" y="21430"/>
                  </a:moveTo>
                  <a:lnTo>
                    <a:pt x="0" y="42846"/>
                  </a:lnTo>
                  <a:lnTo>
                    <a:pt x="58868" y="21444"/>
                  </a:lnTo>
                  <a:lnTo>
                    <a:pt x="15" y="0"/>
                  </a:lnTo>
                  <a:lnTo>
                    <a:pt x="21431" y="2143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4" name="object 124"/>
          <p:cNvGrpSpPr/>
          <p:nvPr/>
        </p:nvGrpSpPr>
        <p:grpSpPr>
          <a:xfrm>
            <a:off x="1874404" y="4685101"/>
            <a:ext cx="2188633" cy="1971887"/>
            <a:chOff x="1405802" y="3513825"/>
            <a:chExt cx="1641475" cy="1478915"/>
          </a:xfrm>
        </p:grpSpPr>
        <p:sp>
          <p:nvSpPr>
            <p:cNvPr id="125" name="object 125"/>
            <p:cNvSpPr/>
            <p:nvPr/>
          </p:nvSpPr>
          <p:spPr>
            <a:xfrm>
              <a:off x="1415327" y="3523350"/>
              <a:ext cx="1622425" cy="1459865"/>
            </a:xfrm>
            <a:custGeom>
              <a:avLst/>
              <a:gdLst/>
              <a:ahLst/>
              <a:cxnLst/>
              <a:rect l="l" t="t" r="r" b="b"/>
              <a:pathLst>
                <a:path w="1622425" h="1459864">
                  <a:moveTo>
                    <a:pt x="1506994" y="1459799"/>
                  </a:moveTo>
                  <a:lnTo>
                    <a:pt x="115105" y="1459799"/>
                  </a:lnTo>
                  <a:lnTo>
                    <a:pt x="70301" y="1450754"/>
                  </a:lnTo>
                  <a:lnTo>
                    <a:pt x="33713" y="1426086"/>
                  </a:lnTo>
                  <a:lnTo>
                    <a:pt x="9045" y="1389498"/>
                  </a:lnTo>
                  <a:lnTo>
                    <a:pt x="0" y="1344694"/>
                  </a:lnTo>
                  <a:lnTo>
                    <a:pt x="0" y="115104"/>
                  </a:lnTo>
                  <a:lnTo>
                    <a:pt x="9045" y="70301"/>
                  </a:lnTo>
                  <a:lnTo>
                    <a:pt x="33713" y="33713"/>
                  </a:lnTo>
                  <a:lnTo>
                    <a:pt x="70301" y="9045"/>
                  </a:lnTo>
                  <a:lnTo>
                    <a:pt x="115105" y="0"/>
                  </a:lnTo>
                  <a:lnTo>
                    <a:pt x="1506994" y="0"/>
                  </a:lnTo>
                  <a:lnTo>
                    <a:pt x="1551043" y="8761"/>
                  </a:lnTo>
                  <a:lnTo>
                    <a:pt x="1588386" y="33713"/>
                  </a:lnTo>
                  <a:lnTo>
                    <a:pt x="1613338" y="71056"/>
                  </a:lnTo>
                  <a:lnTo>
                    <a:pt x="1622100" y="115104"/>
                  </a:lnTo>
                  <a:lnTo>
                    <a:pt x="1622100" y="1344694"/>
                  </a:lnTo>
                  <a:lnTo>
                    <a:pt x="1613054" y="1389498"/>
                  </a:lnTo>
                  <a:lnTo>
                    <a:pt x="1588386" y="1426086"/>
                  </a:lnTo>
                  <a:lnTo>
                    <a:pt x="1551799" y="1450754"/>
                  </a:lnTo>
                  <a:lnTo>
                    <a:pt x="1506994" y="1459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415327" y="3523350"/>
              <a:ext cx="1622425" cy="1459865"/>
            </a:xfrm>
            <a:custGeom>
              <a:avLst/>
              <a:gdLst/>
              <a:ahLst/>
              <a:cxnLst/>
              <a:rect l="l" t="t" r="r" b="b"/>
              <a:pathLst>
                <a:path w="1622425" h="1459864">
                  <a:moveTo>
                    <a:pt x="0" y="115104"/>
                  </a:moveTo>
                  <a:lnTo>
                    <a:pt x="9045" y="70301"/>
                  </a:lnTo>
                  <a:lnTo>
                    <a:pt x="33713" y="33713"/>
                  </a:lnTo>
                  <a:lnTo>
                    <a:pt x="70301" y="9045"/>
                  </a:lnTo>
                  <a:lnTo>
                    <a:pt x="115105" y="0"/>
                  </a:lnTo>
                  <a:lnTo>
                    <a:pt x="1506994" y="0"/>
                  </a:lnTo>
                  <a:lnTo>
                    <a:pt x="1551043" y="8761"/>
                  </a:lnTo>
                  <a:lnTo>
                    <a:pt x="1588386" y="33713"/>
                  </a:lnTo>
                  <a:lnTo>
                    <a:pt x="1613338" y="71056"/>
                  </a:lnTo>
                  <a:lnTo>
                    <a:pt x="1622100" y="115104"/>
                  </a:lnTo>
                  <a:lnTo>
                    <a:pt x="1622100" y="1344694"/>
                  </a:lnTo>
                  <a:lnTo>
                    <a:pt x="1613054" y="1389498"/>
                  </a:lnTo>
                  <a:lnTo>
                    <a:pt x="1588386" y="1426086"/>
                  </a:lnTo>
                  <a:lnTo>
                    <a:pt x="1551799" y="1450754"/>
                  </a:lnTo>
                  <a:lnTo>
                    <a:pt x="1506994" y="1459799"/>
                  </a:lnTo>
                  <a:lnTo>
                    <a:pt x="115105" y="1459799"/>
                  </a:lnTo>
                  <a:lnTo>
                    <a:pt x="70301" y="1450754"/>
                  </a:lnTo>
                  <a:lnTo>
                    <a:pt x="33713" y="1426086"/>
                  </a:lnTo>
                  <a:lnTo>
                    <a:pt x="9045" y="1389498"/>
                  </a:lnTo>
                  <a:lnTo>
                    <a:pt x="0" y="1344694"/>
                  </a:lnTo>
                  <a:lnTo>
                    <a:pt x="0" y="115104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689180" y="4050175"/>
              <a:ext cx="1031240" cy="429259"/>
            </a:xfrm>
            <a:custGeom>
              <a:avLst/>
              <a:gdLst/>
              <a:ahLst/>
              <a:cxnLst/>
              <a:rect l="l" t="t" r="r" b="b"/>
              <a:pathLst>
                <a:path w="1031239" h="429260">
                  <a:moveTo>
                    <a:pt x="959348" y="428699"/>
                  </a:moveTo>
                  <a:lnTo>
                    <a:pt x="71451" y="428699"/>
                  </a:lnTo>
                  <a:lnTo>
                    <a:pt x="43639" y="423084"/>
                  </a:lnTo>
                  <a:lnTo>
                    <a:pt x="20927" y="407772"/>
                  </a:lnTo>
                  <a:lnTo>
                    <a:pt x="5615" y="385060"/>
                  </a:lnTo>
                  <a:lnTo>
                    <a:pt x="0" y="357248"/>
                  </a:lnTo>
                  <a:lnTo>
                    <a:pt x="0" y="71450"/>
                  </a:lnTo>
                  <a:lnTo>
                    <a:pt x="5615" y="43639"/>
                  </a:lnTo>
                  <a:lnTo>
                    <a:pt x="20927" y="20927"/>
                  </a:lnTo>
                  <a:lnTo>
                    <a:pt x="43639" y="5614"/>
                  </a:lnTo>
                  <a:lnTo>
                    <a:pt x="71451" y="0"/>
                  </a:lnTo>
                  <a:lnTo>
                    <a:pt x="959348" y="0"/>
                  </a:lnTo>
                  <a:lnTo>
                    <a:pt x="998989" y="12004"/>
                  </a:lnTo>
                  <a:lnTo>
                    <a:pt x="1025361" y="44107"/>
                  </a:lnTo>
                  <a:lnTo>
                    <a:pt x="1030799" y="71450"/>
                  </a:lnTo>
                  <a:lnTo>
                    <a:pt x="1030799" y="357248"/>
                  </a:lnTo>
                  <a:lnTo>
                    <a:pt x="1025184" y="385060"/>
                  </a:lnTo>
                  <a:lnTo>
                    <a:pt x="1009872" y="407772"/>
                  </a:lnTo>
                  <a:lnTo>
                    <a:pt x="987160" y="423084"/>
                  </a:lnTo>
                  <a:lnTo>
                    <a:pt x="959348" y="428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689180" y="4050175"/>
              <a:ext cx="1031240" cy="429259"/>
            </a:xfrm>
            <a:custGeom>
              <a:avLst/>
              <a:gdLst/>
              <a:ahLst/>
              <a:cxnLst/>
              <a:rect l="l" t="t" r="r" b="b"/>
              <a:pathLst>
                <a:path w="1031239" h="429260">
                  <a:moveTo>
                    <a:pt x="0" y="71450"/>
                  </a:moveTo>
                  <a:lnTo>
                    <a:pt x="5615" y="43639"/>
                  </a:lnTo>
                  <a:lnTo>
                    <a:pt x="20927" y="20927"/>
                  </a:lnTo>
                  <a:lnTo>
                    <a:pt x="43639" y="5614"/>
                  </a:lnTo>
                  <a:lnTo>
                    <a:pt x="71451" y="0"/>
                  </a:lnTo>
                  <a:lnTo>
                    <a:pt x="959348" y="0"/>
                  </a:lnTo>
                  <a:lnTo>
                    <a:pt x="998989" y="12004"/>
                  </a:lnTo>
                  <a:lnTo>
                    <a:pt x="1025361" y="44107"/>
                  </a:lnTo>
                  <a:lnTo>
                    <a:pt x="1030799" y="71450"/>
                  </a:lnTo>
                  <a:lnTo>
                    <a:pt x="1030799" y="357248"/>
                  </a:lnTo>
                  <a:lnTo>
                    <a:pt x="1025184" y="385060"/>
                  </a:lnTo>
                  <a:lnTo>
                    <a:pt x="1009872" y="407772"/>
                  </a:lnTo>
                  <a:lnTo>
                    <a:pt x="987160" y="423084"/>
                  </a:lnTo>
                  <a:lnTo>
                    <a:pt x="959348" y="428699"/>
                  </a:lnTo>
                  <a:lnTo>
                    <a:pt x="71451" y="428699"/>
                  </a:lnTo>
                  <a:lnTo>
                    <a:pt x="43639" y="423084"/>
                  </a:lnTo>
                  <a:lnTo>
                    <a:pt x="20927" y="407772"/>
                  </a:lnTo>
                  <a:lnTo>
                    <a:pt x="5615" y="385060"/>
                  </a:lnTo>
                  <a:lnTo>
                    <a:pt x="0" y="357248"/>
                  </a:lnTo>
                  <a:lnTo>
                    <a:pt x="0" y="71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2367649" y="5433050"/>
            <a:ext cx="1143847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378451" marR="6773" indent="-362364">
              <a:lnSpc>
                <a:spcPct val="102299"/>
              </a:lnSpc>
              <a:spcBef>
                <a:spcPts val="93"/>
              </a:spcBef>
            </a:pPr>
            <a:r>
              <a:rPr sz="1467" spc="-13" dirty="0">
                <a:latin typeface="Roboto Lt"/>
                <a:cs typeface="Roboto Lt"/>
              </a:rPr>
              <a:t>Unsupervised </a:t>
            </a:r>
            <a:r>
              <a:rPr sz="1467" spc="-27" dirty="0">
                <a:latin typeface="Roboto Lt"/>
                <a:cs typeface="Roboto Lt"/>
              </a:rPr>
              <a:t>Task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1983814" y="4759977"/>
            <a:ext cx="916093" cy="457200"/>
            <a:chOff x="1487860" y="3569983"/>
            <a:chExt cx="687070" cy="342900"/>
          </a:xfrm>
        </p:grpSpPr>
        <p:sp>
          <p:nvSpPr>
            <p:cNvPr id="131" name="object 131"/>
            <p:cNvSpPr/>
            <p:nvPr/>
          </p:nvSpPr>
          <p:spPr>
            <a:xfrm>
              <a:off x="1497385" y="3579508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19" h="323850">
                  <a:moveTo>
                    <a:pt x="613899" y="323399"/>
                  </a:moveTo>
                  <a:lnTo>
                    <a:pt x="53901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1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1" y="0"/>
                  </a:lnTo>
                  <a:lnTo>
                    <a:pt x="613899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9" y="3233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497385" y="3579508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19" h="323850">
                  <a:moveTo>
                    <a:pt x="0" y="53901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1" y="0"/>
                  </a:lnTo>
                  <a:lnTo>
                    <a:pt x="613899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9" y="323399"/>
                  </a:lnTo>
                  <a:lnTo>
                    <a:pt x="53901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2151035" y="4849593"/>
            <a:ext cx="581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A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2415922" y="6092673"/>
            <a:ext cx="916093" cy="457200"/>
            <a:chOff x="1811941" y="4569505"/>
            <a:chExt cx="687070" cy="342900"/>
          </a:xfrm>
        </p:grpSpPr>
        <p:sp>
          <p:nvSpPr>
            <p:cNvPr id="135" name="object 135"/>
            <p:cNvSpPr/>
            <p:nvPr/>
          </p:nvSpPr>
          <p:spPr>
            <a:xfrm>
              <a:off x="1821466" y="4579030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19" h="323850">
                  <a:moveTo>
                    <a:pt x="613898" y="323399"/>
                  </a:moveTo>
                  <a:lnTo>
                    <a:pt x="53900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1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821466" y="4579030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19" h="323850">
                  <a:moveTo>
                    <a:pt x="0" y="53901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0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lnTo>
                    <a:pt x="53900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2580827" y="6182291"/>
            <a:ext cx="5867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C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4619123" y="5442733"/>
            <a:ext cx="916093" cy="457200"/>
            <a:chOff x="3464342" y="4082050"/>
            <a:chExt cx="687070" cy="342900"/>
          </a:xfrm>
        </p:grpSpPr>
        <p:sp>
          <p:nvSpPr>
            <p:cNvPr id="139" name="object 139"/>
            <p:cNvSpPr/>
            <p:nvPr/>
          </p:nvSpPr>
          <p:spPr>
            <a:xfrm>
              <a:off x="3473867" y="4091575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613898" y="323399"/>
                  </a:moveTo>
                  <a:lnTo>
                    <a:pt x="53901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1"/>
                  </a:ln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1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473867" y="4091575"/>
              <a:ext cx="668020" cy="323850"/>
            </a:xfrm>
            <a:custGeom>
              <a:avLst/>
              <a:gdLst/>
              <a:ahLst/>
              <a:cxnLst/>
              <a:rect l="l" t="t" r="r" b="b"/>
              <a:pathLst>
                <a:path w="668020" h="323850">
                  <a:moveTo>
                    <a:pt x="0" y="53901"/>
                  </a:moveTo>
                  <a:lnTo>
                    <a:pt x="4235" y="32920"/>
                  </a:lnTo>
                  <a:lnTo>
                    <a:pt x="15787" y="15787"/>
                  </a:lnTo>
                  <a:lnTo>
                    <a:pt x="32920" y="4235"/>
                  </a:lnTo>
                  <a:lnTo>
                    <a:pt x="53901" y="0"/>
                  </a:lnTo>
                  <a:lnTo>
                    <a:pt x="613898" y="0"/>
                  </a:lnTo>
                  <a:lnTo>
                    <a:pt x="652012" y="15787"/>
                  </a:lnTo>
                  <a:lnTo>
                    <a:pt x="667799" y="53901"/>
                  </a:lnTo>
                  <a:lnTo>
                    <a:pt x="667799" y="269498"/>
                  </a:lnTo>
                  <a:lnTo>
                    <a:pt x="663564" y="290479"/>
                  </a:lnTo>
                  <a:lnTo>
                    <a:pt x="652012" y="307612"/>
                  </a:lnTo>
                  <a:lnTo>
                    <a:pt x="634879" y="319164"/>
                  </a:lnTo>
                  <a:lnTo>
                    <a:pt x="613898" y="323399"/>
                  </a:lnTo>
                  <a:lnTo>
                    <a:pt x="53901" y="323399"/>
                  </a:lnTo>
                  <a:lnTo>
                    <a:pt x="32920" y="319164"/>
                  </a:lnTo>
                  <a:lnTo>
                    <a:pt x="15787" y="307612"/>
                  </a:lnTo>
                  <a:lnTo>
                    <a:pt x="4235" y="290479"/>
                  </a:lnTo>
                  <a:lnTo>
                    <a:pt x="0" y="269498"/>
                  </a:lnTo>
                  <a:lnTo>
                    <a:pt x="0" y="539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4787435" y="5532351"/>
            <a:ext cx="57912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27" dirty="0">
                <a:latin typeface="Roboto Lt"/>
                <a:cs typeface="Roboto Lt"/>
              </a:rPr>
              <a:t>Task</a:t>
            </a:r>
            <a:r>
              <a:rPr sz="1467" spc="-33" dirty="0">
                <a:latin typeface="Roboto Lt"/>
                <a:cs typeface="Roboto Lt"/>
              </a:rPr>
              <a:t> </a:t>
            </a:r>
            <a:r>
              <a:rPr sz="1467" spc="-67" dirty="0">
                <a:latin typeface="Roboto Lt"/>
                <a:cs typeface="Roboto Lt"/>
              </a:rPr>
              <a:t>B</a:t>
            </a:r>
            <a:endParaRPr sz="1467">
              <a:latin typeface="Roboto Lt"/>
              <a:cs typeface="Roboto Lt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4037204" y="5630494"/>
            <a:ext cx="570653" cy="82973"/>
            <a:chOff x="3027903" y="4222870"/>
            <a:chExt cx="427990" cy="62230"/>
          </a:xfrm>
        </p:grpSpPr>
        <p:sp>
          <p:nvSpPr>
            <p:cNvPr id="143" name="object 143"/>
            <p:cNvSpPr/>
            <p:nvPr/>
          </p:nvSpPr>
          <p:spPr>
            <a:xfrm>
              <a:off x="3037428" y="4253250"/>
              <a:ext cx="371475" cy="635"/>
            </a:xfrm>
            <a:custGeom>
              <a:avLst/>
              <a:gdLst/>
              <a:ahLst/>
              <a:cxnLst/>
              <a:rect l="l" t="t" r="r" b="b"/>
              <a:pathLst>
                <a:path w="371475" h="635">
                  <a:moveTo>
                    <a:pt x="0" y="0"/>
                  </a:moveTo>
                  <a:lnTo>
                    <a:pt x="72478" y="25"/>
                  </a:lnTo>
                  <a:lnTo>
                    <a:pt x="129609" y="93"/>
                  </a:lnTo>
                  <a:lnTo>
                    <a:pt x="176507" y="189"/>
                  </a:lnTo>
                  <a:lnTo>
                    <a:pt x="218284" y="299"/>
                  </a:lnTo>
                  <a:lnTo>
                    <a:pt x="238851" y="355"/>
                  </a:lnTo>
                  <a:lnTo>
                    <a:pt x="260056" y="410"/>
                  </a:lnTo>
                  <a:lnTo>
                    <a:pt x="306937" y="506"/>
                  </a:lnTo>
                  <a:lnTo>
                    <a:pt x="348530" y="560"/>
                  </a:lnTo>
                  <a:lnTo>
                    <a:pt x="364046" y="574"/>
                  </a:lnTo>
                  <a:lnTo>
                    <a:pt x="371214" y="576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387211" y="4232395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79">
                  <a:moveTo>
                    <a:pt x="0" y="42846"/>
                  </a:moveTo>
                  <a:lnTo>
                    <a:pt x="21430" y="21431"/>
                  </a:lnTo>
                  <a:lnTo>
                    <a:pt x="15" y="0"/>
                  </a:lnTo>
                  <a:lnTo>
                    <a:pt x="58867" y="21444"/>
                  </a:lnTo>
                  <a:lnTo>
                    <a:pt x="0" y="4284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387211" y="4232395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79">
                  <a:moveTo>
                    <a:pt x="21430" y="21431"/>
                  </a:moveTo>
                  <a:lnTo>
                    <a:pt x="0" y="42846"/>
                  </a:lnTo>
                  <a:lnTo>
                    <a:pt x="58867" y="21444"/>
                  </a:lnTo>
                  <a:lnTo>
                    <a:pt x="15" y="0"/>
                  </a:lnTo>
                  <a:lnTo>
                    <a:pt x="21430" y="2143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5030" y="115504"/>
            <a:ext cx="6464833" cy="11216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8881" y="1359515"/>
            <a:ext cx="5587867" cy="11514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4675" y="2625984"/>
            <a:ext cx="6255720" cy="1308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05013" y="4060322"/>
            <a:ext cx="6562440" cy="1044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59516" y="5220544"/>
            <a:ext cx="6547937" cy="15172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307339" y="423218"/>
            <a:ext cx="4910528" cy="672787"/>
          </a:xfrm>
        </p:spPr>
        <p:txBody>
          <a:bodyPr vert="horz" wrap="square" lIns="0" tIns="224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900" dirty="0"/>
              <a:t>Encoder-decoder architecture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7174" y="1675849"/>
            <a:ext cx="4700693" cy="459181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 algn="r">
              <a:spcBef>
                <a:spcPts val="133"/>
              </a:spcBef>
            </a:pPr>
            <a:r>
              <a:rPr sz="2933" dirty="0">
                <a:latin typeface="Roboto Lt"/>
                <a:cs typeface="Roboto Lt"/>
              </a:rPr>
              <a:t>Span</a:t>
            </a:r>
            <a:r>
              <a:rPr sz="2933" spc="-127" dirty="0">
                <a:latin typeface="Roboto Lt"/>
                <a:cs typeface="Roboto Lt"/>
              </a:rPr>
              <a:t> </a:t>
            </a:r>
            <a:r>
              <a:rPr sz="2933" spc="-13" dirty="0">
                <a:latin typeface="Roboto Lt"/>
                <a:cs typeface="Roboto Lt"/>
              </a:rPr>
              <a:t>prediction</a:t>
            </a:r>
            <a:r>
              <a:rPr sz="2933" spc="-127" dirty="0">
                <a:latin typeface="Roboto Lt"/>
                <a:cs typeface="Roboto Lt"/>
              </a:rPr>
              <a:t> </a:t>
            </a:r>
            <a:r>
              <a:rPr sz="2933" spc="-13" dirty="0">
                <a:latin typeface="Roboto Lt"/>
                <a:cs typeface="Roboto Lt"/>
              </a:rPr>
              <a:t>objective</a:t>
            </a:r>
            <a:endParaRPr sz="2933" dirty="0">
              <a:latin typeface="Roboto Lt"/>
              <a:cs typeface="Roboto Lt"/>
            </a:endParaRPr>
          </a:p>
          <a:p>
            <a:pPr marL="1138738" marR="7620" indent="1662812">
              <a:lnSpc>
                <a:spcPct val="293700"/>
              </a:lnSpc>
              <a:spcBef>
                <a:spcPts val="379"/>
              </a:spcBef>
            </a:pPr>
            <a:r>
              <a:rPr sz="2933" dirty="0">
                <a:latin typeface="Roboto Lt"/>
                <a:cs typeface="Roboto Lt"/>
              </a:rPr>
              <a:t>C4</a:t>
            </a:r>
            <a:r>
              <a:rPr sz="2933" spc="-27" dirty="0">
                <a:latin typeface="Roboto Lt"/>
                <a:cs typeface="Roboto Lt"/>
              </a:rPr>
              <a:t> </a:t>
            </a:r>
            <a:r>
              <a:rPr sz="2933" spc="-13" dirty="0">
                <a:latin typeface="Roboto Lt"/>
                <a:cs typeface="Roboto Lt"/>
              </a:rPr>
              <a:t>dataset </a:t>
            </a:r>
            <a:r>
              <a:rPr sz="2933" spc="-67" dirty="0">
                <a:latin typeface="Roboto Lt"/>
                <a:cs typeface="Roboto Lt"/>
              </a:rPr>
              <a:t>Multi-</a:t>
            </a:r>
            <a:r>
              <a:rPr sz="2933" spc="-27" dirty="0">
                <a:latin typeface="Roboto Lt"/>
                <a:cs typeface="Roboto Lt"/>
              </a:rPr>
              <a:t>task</a:t>
            </a:r>
            <a:r>
              <a:rPr sz="2933" spc="-40" dirty="0">
                <a:latin typeface="Roboto Lt"/>
                <a:cs typeface="Roboto Lt"/>
              </a:rPr>
              <a:t> </a:t>
            </a:r>
            <a:r>
              <a:rPr sz="2933" spc="-93" dirty="0">
                <a:latin typeface="Roboto Lt"/>
                <a:cs typeface="Roboto Lt"/>
              </a:rPr>
              <a:t>pre-</a:t>
            </a:r>
            <a:r>
              <a:rPr sz="2933" spc="-40" dirty="0">
                <a:latin typeface="Roboto Lt"/>
                <a:cs typeface="Roboto Lt"/>
              </a:rPr>
              <a:t>training</a:t>
            </a:r>
            <a:endParaRPr sz="2933" dirty="0">
              <a:latin typeface="Roboto Lt"/>
              <a:cs typeface="Roboto Lt"/>
            </a:endParaRPr>
          </a:p>
          <a:p>
            <a:pPr>
              <a:lnSpc>
                <a:spcPct val="100000"/>
              </a:lnSpc>
            </a:pPr>
            <a:endParaRPr sz="2933" dirty="0">
              <a:latin typeface="Roboto Lt"/>
              <a:cs typeface="Roboto Lt"/>
            </a:endParaRPr>
          </a:p>
          <a:p>
            <a:pPr>
              <a:spcBef>
                <a:spcPts val="493"/>
              </a:spcBef>
            </a:pPr>
            <a:endParaRPr sz="2933" dirty="0">
              <a:latin typeface="Roboto Lt"/>
              <a:cs typeface="Roboto Lt"/>
            </a:endParaRPr>
          </a:p>
          <a:p>
            <a:pPr marR="6773" algn="r"/>
            <a:r>
              <a:rPr sz="2933" dirty="0">
                <a:latin typeface="Roboto Lt"/>
                <a:cs typeface="Roboto Lt"/>
              </a:rPr>
              <a:t>Bigger</a:t>
            </a:r>
            <a:r>
              <a:rPr sz="2933" spc="-127" dirty="0">
                <a:latin typeface="Roboto Lt"/>
                <a:cs typeface="Roboto Lt"/>
              </a:rPr>
              <a:t> </a:t>
            </a:r>
            <a:r>
              <a:rPr sz="2933" dirty="0">
                <a:latin typeface="Roboto Lt"/>
                <a:cs typeface="Roboto Lt"/>
              </a:rPr>
              <a:t>models</a:t>
            </a:r>
            <a:r>
              <a:rPr sz="2933" spc="-127" dirty="0">
                <a:latin typeface="Roboto Lt"/>
                <a:cs typeface="Roboto Lt"/>
              </a:rPr>
              <a:t> </a:t>
            </a:r>
            <a:r>
              <a:rPr sz="2933" spc="-13" dirty="0">
                <a:latin typeface="Roboto Lt"/>
                <a:cs typeface="Roboto Lt"/>
              </a:rPr>
              <a:t>trained</a:t>
            </a:r>
            <a:r>
              <a:rPr sz="2933" spc="-127" dirty="0">
                <a:latin typeface="Roboto Lt"/>
                <a:cs typeface="Roboto Lt"/>
              </a:rPr>
              <a:t> </a:t>
            </a:r>
            <a:r>
              <a:rPr sz="2933" spc="-13" dirty="0">
                <a:latin typeface="Roboto Lt"/>
                <a:cs typeface="Roboto Lt"/>
              </a:rPr>
              <a:t>longer</a:t>
            </a:r>
            <a:endParaRPr sz="2933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434" y="1991050"/>
            <a:ext cx="11064948" cy="28271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Model size variants</a:t>
            </a:r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1" y="2185817"/>
            <a:ext cx="11776625" cy="24414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83859" y="4695297"/>
            <a:ext cx="21285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Roboto Lt"/>
                <a:cs typeface="Roboto Lt"/>
              </a:rPr>
              <a:t>Human</a:t>
            </a:r>
            <a:r>
              <a:rPr sz="1867" spc="-73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score</a:t>
            </a:r>
            <a:r>
              <a:rPr sz="1867" spc="-73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=</a:t>
            </a:r>
            <a:r>
              <a:rPr sz="1867" spc="-73" dirty="0">
                <a:latin typeface="Roboto Lt"/>
                <a:cs typeface="Roboto Lt"/>
              </a:rPr>
              <a:t> </a:t>
            </a:r>
            <a:r>
              <a:rPr sz="1867" spc="-27" dirty="0">
                <a:latin typeface="Roboto Lt"/>
                <a:cs typeface="Roboto Lt"/>
              </a:rPr>
              <a:t>89.8</a:t>
            </a:r>
            <a:endParaRPr sz="1867">
              <a:latin typeface="Roboto Lt"/>
              <a:cs typeface="Roboto 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0229" y="1551151"/>
            <a:ext cx="48852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67" dirty="0">
                <a:latin typeface="Roboto Lt"/>
                <a:cs typeface="Roboto Lt"/>
              </a:rPr>
              <a:t>Back-</a:t>
            </a:r>
            <a:r>
              <a:rPr sz="1867" spc="-13" dirty="0">
                <a:latin typeface="Roboto Lt"/>
                <a:cs typeface="Roboto Lt"/>
              </a:rPr>
              <a:t>translation</a:t>
            </a:r>
            <a:r>
              <a:rPr sz="1867" spc="-27" dirty="0">
                <a:latin typeface="Roboto Lt"/>
                <a:cs typeface="Roboto Lt"/>
              </a:rPr>
              <a:t> </a:t>
            </a:r>
            <a:r>
              <a:rPr sz="1867" dirty="0">
                <a:latin typeface="Roboto Lt"/>
                <a:cs typeface="Roboto Lt"/>
              </a:rPr>
              <a:t>beats</a:t>
            </a:r>
            <a:r>
              <a:rPr sz="1867" spc="-27" dirty="0">
                <a:latin typeface="Roboto Lt"/>
                <a:cs typeface="Roboto Lt"/>
              </a:rPr>
              <a:t> </a:t>
            </a:r>
            <a:r>
              <a:rPr sz="1867" spc="-40" dirty="0">
                <a:latin typeface="Roboto Lt"/>
                <a:cs typeface="Roboto Lt"/>
              </a:rPr>
              <a:t>English-</a:t>
            </a:r>
            <a:r>
              <a:rPr sz="1867" spc="-13" dirty="0">
                <a:latin typeface="Roboto Lt"/>
                <a:cs typeface="Roboto Lt"/>
              </a:rPr>
              <a:t>only</a:t>
            </a:r>
            <a:r>
              <a:rPr sz="1867" spc="-20" dirty="0">
                <a:latin typeface="Roboto Lt"/>
                <a:cs typeface="Roboto Lt"/>
              </a:rPr>
              <a:t> </a:t>
            </a:r>
            <a:r>
              <a:rPr sz="1867" spc="-67" dirty="0">
                <a:latin typeface="Roboto Lt"/>
                <a:cs typeface="Roboto Lt"/>
              </a:rPr>
              <a:t>pre-</a:t>
            </a:r>
            <a:r>
              <a:rPr sz="1867" spc="-13" dirty="0">
                <a:latin typeface="Roboto Lt"/>
                <a:cs typeface="Roboto Lt"/>
              </a:rPr>
              <a:t>training</a:t>
            </a:r>
            <a:endParaRPr sz="1867">
              <a:latin typeface="Roboto Lt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88065" y="1704565"/>
            <a:ext cx="4886960" cy="3169920"/>
            <a:chOff x="4491049" y="1278424"/>
            <a:chExt cx="3665220" cy="2377440"/>
          </a:xfrm>
        </p:grpSpPr>
        <p:sp>
          <p:nvSpPr>
            <p:cNvPr id="6" name="object 6"/>
            <p:cNvSpPr/>
            <p:nvPr/>
          </p:nvSpPr>
          <p:spPr>
            <a:xfrm>
              <a:off x="5093926" y="1287949"/>
              <a:ext cx="709295" cy="1042035"/>
            </a:xfrm>
            <a:custGeom>
              <a:avLst/>
              <a:gdLst/>
              <a:ahLst/>
              <a:cxnLst/>
              <a:rect l="l" t="t" r="r" b="b"/>
              <a:pathLst>
                <a:path w="709295" h="1042035">
                  <a:moveTo>
                    <a:pt x="182230" y="0"/>
                  </a:moveTo>
                  <a:lnTo>
                    <a:pt x="140402" y="17592"/>
                  </a:lnTo>
                  <a:lnTo>
                    <a:pt x="94700" y="66565"/>
                  </a:lnTo>
                  <a:lnTo>
                    <a:pt x="72469" y="101036"/>
                  </a:lnTo>
                  <a:lnTo>
                    <a:pt x="51757" y="141213"/>
                  </a:lnTo>
                  <a:lnTo>
                    <a:pt x="33392" y="186382"/>
                  </a:lnTo>
                  <a:lnTo>
                    <a:pt x="18206" y="235831"/>
                  </a:lnTo>
                  <a:lnTo>
                    <a:pt x="7025" y="288845"/>
                  </a:lnTo>
                  <a:lnTo>
                    <a:pt x="680" y="344713"/>
                  </a:lnTo>
                  <a:lnTo>
                    <a:pt x="0" y="402720"/>
                  </a:lnTo>
                  <a:lnTo>
                    <a:pt x="5813" y="462153"/>
                  </a:lnTo>
                  <a:lnTo>
                    <a:pt x="18949" y="522299"/>
                  </a:lnTo>
                  <a:lnTo>
                    <a:pt x="33380" y="565780"/>
                  </a:lnTo>
                  <a:lnTo>
                    <a:pt x="51902" y="608991"/>
                  </a:lnTo>
                  <a:lnTo>
                    <a:pt x="74357" y="651665"/>
                  </a:lnTo>
                  <a:lnTo>
                    <a:pt x="100583" y="693534"/>
                  </a:lnTo>
                  <a:lnTo>
                    <a:pt x="130421" y="734327"/>
                  </a:lnTo>
                  <a:lnTo>
                    <a:pt x="163711" y="773777"/>
                  </a:lnTo>
                  <a:lnTo>
                    <a:pt x="200292" y="811615"/>
                  </a:lnTo>
                  <a:lnTo>
                    <a:pt x="240005" y="847573"/>
                  </a:lnTo>
                  <a:lnTo>
                    <a:pt x="282689" y="881381"/>
                  </a:lnTo>
                  <a:lnTo>
                    <a:pt x="323512" y="909748"/>
                  </a:lnTo>
                  <a:lnTo>
                    <a:pt x="366496" y="935961"/>
                  </a:lnTo>
                  <a:lnTo>
                    <a:pt x="411523" y="959824"/>
                  </a:lnTo>
                  <a:lnTo>
                    <a:pt x="458477" y="981140"/>
                  </a:lnTo>
                  <a:lnTo>
                    <a:pt x="507242" y="999714"/>
                  </a:lnTo>
                  <a:lnTo>
                    <a:pt x="570565" y="1018778"/>
                  </a:lnTo>
                  <a:lnTo>
                    <a:pt x="636306" y="1032868"/>
                  </a:lnTo>
                  <a:lnTo>
                    <a:pt x="687061" y="1039942"/>
                  </a:lnTo>
                  <a:lnTo>
                    <a:pt x="704237" y="1041603"/>
                  </a:lnTo>
                  <a:lnTo>
                    <a:pt x="708897" y="104197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0557" y="2307662"/>
              <a:ext cx="59690" cy="43180"/>
            </a:xfrm>
            <a:custGeom>
              <a:avLst/>
              <a:gdLst/>
              <a:ahLst/>
              <a:cxnLst/>
              <a:rect l="l" t="t" r="r" b="b"/>
              <a:pathLst>
                <a:path w="59689" h="43180">
                  <a:moveTo>
                    <a:pt x="0" y="42812"/>
                  </a:moveTo>
                  <a:lnTo>
                    <a:pt x="22266" y="22266"/>
                  </a:lnTo>
                  <a:lnTo>
                    <a:pt x="1720" y="0"/>
                  </a:lnTo>
                  <a:lnTo>
                    <a:pt x="59672" y="23768"/>
                  </a:lnTo>
                  <a:lnTo>
                    <a:pt x="0" y="4281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80557" y="2307662"/>
              <a:ext cx="59690" cy="43180"/>
            </a:xfrm>
            <a:custGeom>
              <a:avLst/>
              <a:gdLst/>
              <a:ahLst/>
              <a:cxnLst/>
              <a:rect l="l" t="t" r="r" b="b"/>
              <a:pathLst>
                <a:path w="59689" h="43180">
                  <a:moveTo>
                    <a:pt x="22266" y="22266"/>
                  </a:moveTo>
                  <a:lnTo>
                    <a:pt x="0" y="42812"/>
                  </a:lnTo>
                  <a:lnTo>
                    <a:pt x="59672" y="23768"/>
                  </a:lnTo>
                  <a:lnTo>
                    <a:pt x="1720" y="0"/>
                  </a:lnTo>
                  <a:lnTo>
                    <a:pt x="22266" y="22266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99954" y="1287949"/>
              <a:ext cx="1845945" cy="1044575"/>
            </a:xfrm>
            <a:custGeom>
              <a:avLst/>
              <a:gdLst/>
              <a:ahLst/>
              <a:cxnLst/>
              <a:rect l="l" t="t" r="r" b="b"/>
              <a:pathLst>
                <a:path w="1845945" h="1044575">
                  <a:moveTo>
                    <a:pt x="176202" y="0"/>
                  </a:moveTo>
                  <a:lnTo>
                    <a:pt x="128202" y="29248"/>
                  </a:lnTo>
                  <a:lnTo>
                    <a:pt x="83797" y="77377"/>
                  </a:lnTo>
                  <a:lnTo>
                    <a:pt x="61588" y="108638"/>
                  </a:lnTo>
                  <a:lnTo>
                    <a:pt x="41024" y="144077"/>
                  </a:lnTo>
                  <a:lnTo>
                    <a:pt x="23346" y="183230"/>
                  </a:lnTo>
                  <a:lnTo>
                    <a:pt x="9790" y="225633"/>
                  </a:lnTo>
                  <a:lnTo>
                    <a:pt x="1595" y="270822"/>
                  </a:lnTo>
                  <a:lnTo>
                    <a:pt x="0" y="318332"/>
                  </a:lnTo>
                  <a:lnTo>
                    <a:pt x="6241" y="367699"/>
                  </a:lnTo>
                  <a:lnTo>
                    <a:pt x="21559" y="418459"/>
                  </a:lnTo>
                  <a:lnTo>
                    <a:pt x="47191" y="470147"/>
                  </a:lnTo>
                  <a:lnTo>
                    <a:pt x="84374" y="522299"/>
                  </a:lnTo>
                  <a:lnTo>
                    <a:pt x="134064" y="574452"/>
                  </a:lnTo>
                  <a:lnTo>
                    <a:pt x="163559" y="600383"/>
                  </a:lnTo>
                  <a:lnTo>
                    <a:pt x="196077" y="626140"/>
                  </a:lnTo>
                  <a:lnTo>
                    <a:pt x="231559" y="651665"/>
                  </a:lnTo>
                  <a:lnTo>
                    <a:pt x="269946" y="676900"/>
                  </a:lnTo>
                  <a:lnTo>
                    <a:pt x="311181" y="701787"/>
                  </a:lnTo>
                  <a:lnTo>
                    <a:pt x="355204" y="726267"/>
                  </a:lnTo>
                  <a:lnTo>
                    <a:pt x="401958" y="750283"/>
                  </a:lnTo>
                  <a:lnTo>
                    <a:pt x="451384" y="773777"/>
                  </a:lnTo>
                  <a:lnTo>
                    <a:pt x="503423" y="796691"/>
                  </a:lnTo>
                  <a:lnTo>
                    <a:pt x="558018" y="818966"/>
                  </a:lnTo>
                  <a:lnTo>
                    <a:pt x="615110" y="840545"/>
                  </a:lnTo>
                  <a:lnTo>
                    <a:pt x="674640" y="861369"/>
                  </a:lnTo>
                  <a:lnTo>
                    <a:pt x="736550" y="881381"/>
                  </a:lnTo>
                  <a:lnTo>
                    <a:pt x="780096" y="894530"/>
                  </a:lnTo>
                  <a:lnTo>
                    <a:pt x="824703" y="907255"/>
                  </a:lnTo>
                  <a:lnTo>
                    <a:pt x="870352" y="919540"/>
                  </a:lnTo>
                  <a:lnTo>
                    <a:pt x="917025" y="931364"/>
                  </a:lnTo>
                  <a:lnTo>
                    <a:pt x="964704" y="942710"/>
                  </a:lnTo>
                  <a:lnTo>
                    <a:pt x="1013369" y="953560"/>
                  </a:lnTo>
                  <a:lnTo>
                    <a:pt x="1063002" y="963894"/>
                  </a:lnTo>
                  <a:lnTo>
                    <a:pt x="1113585" y="973696"/>
                  </a:lnTo>
                  <a:lnTo>
                    <a:pt x="1165099" y="982945"/>
                  </a:lnTo>
                  <a:lnTo>
                    <a:pt x="1217526" y="991624"/>
                  </a:lnTo>
                  <a:lnTo>
                    <a:pt x="1270847" y="999714"/>
                  </a:lnTo>
                  <a:lnTo>
                    <a:pt x="1320494" y="1006598"/>
                  </a:lnTo>
                  <a:lnTo>
                    <a:pt x="1370863" y="1012957"/>
                  </a:lnTo>
                  <a:lnTo>
                    <a:pt x="1421939" y="1018778"/>
                  </a:lnTo>
                  <a:lnTo>
                    <a:pt x="1473709" y="1024046"/>
                  </a:lnTo>
                  <a:lnTo>
                    <a:pt x="1526157" y="1028748"/>
                  </a:lnTo>
                  <a:lnTo>
                    <a:pt x="1579269" y="1032868"/>
                  </a:lnTo>
                  <a:lnTo>
                    <a:pt x="1619531" y="1035569"/>
                  </a:lnTo>
                  <a:lnTo>
                    <a:pt x="1660153" y="1037929"/>
                  </a:lnTo>
                  <a:lnTo>
                    <a:pt x="1701129" y="1039942"/>
                  </a:lnTo>
                  <a:lnTo>
                    <a:pt x="1742452" y="1041603"/>
                  </a:lnTo>
                  <a:lnTo>
                    <a:pt x="1784117" y="1042905"/>
                  </a:lnTo>
                  <a:lnTo>
                    <a:pt x="1826118" y="1043842"/>
                  </a:lnTo>
                  <a:lnTo>
                    <a:pt x="1845818" y="104415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24202" y="2310530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0" y="42845"/>
                  </a:moveTo>
                  <a:lnTo>
                    <a:pt x="21569" y="21570"/>
                  </a:lnTo>
                  <a:lnTo>
                    <a:pt x="294" y="0"/>
                  </a:lnTo>
                  <a:lnTo>
                    <a:pt x="59005" y="21827"/>
                  </a:lnTo>
                  <a:lnTo>
                    <a:pt x="0" y="4284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24202" y="2310530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21569" y="21570"/>
                  </a:moveTo>
                  <a:lnTo>
                    <a:pt x="0" y="42845"/>
                  </a:lnTo>
                  <a:lnTo>
                    <a:pt x="59005" y="21827"/>
                  </a:lnTo>
                  <a:lnTo>
                    <a:pt x="294" y="0"/>
                  </a:lnTo>
                  <a:lnTo>
                    <a:pt x="21569" y="2157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06474" y="1287949"/>
              <a:ext cx="3002915" cy="1044575"/>
            </a:xfrm>
            <a:custGeom>
              <a:avLst/>
              <a:gdLst/>
              <a:ahLst/>
              <a:cxnLst/>
              <a:rect l="l" t="t" r="r" b="b"/>
              <a:pathLst>
                <a:path w="3002915" h="1044575">
                  <a:moveTo>
                    <a:pt x="169682" y="0"/>
                  </a:moveTo>
                  <a:lnTo>
                    <a:pt x="124602" y="35823"/>
                  </a:lnTo>
                  <a:lnTo>
                    <a:pt x="84276" y="77377"/>
                  </a:lnTo>
                  <a:lnTo>
                    <a:pt x="44075" y="131828"/>
                  </a:lnTo>
                  <a:lnTo>
                    <a:pt x="12987" y="197026"/>
                  </a:lnTo>
                  <a:lnTo>
                    <a:pt x="0" y="270822"/>
                  </a:lnTo>
                  <a:lnTo>
                    <a:pt x="3102" y="310272"/>
                  </a:lnTo>
                  <a:lnTo>
                    <a:pt x="14099" y="351065"/>
                  </a:lnTo>
                  <a:lnTo>
                    <a:pt x="34115" y="392934"/>
                  </a:lnTo>
                  <a:lnTo>
                    <a:pt x="64273" y="435608"/>
                  </a:lnTo>
                  <a:lnTo>
                    <a:pt x="105697" y="478819"/>
                  </a:lnTo>
                  <a:lnTo>
                    <a:pt x="159509" y="522299"/>
                  </a:lnTo>
                  <a:lnTo>
                    <a:pt x="213400" y="557886"/>
                  </a:lnTo>
                  <a:lnTo>
                    <a:pt x="276129" y="593326"/>
                  </a:lnTo>
                  <a:lnTo>
                    <a:pt x="310744" y="610945"/>
                  </a:lnTo>
                  <a:lnTo>
                    <a:pt x="347490" y="628471"/>
                  </a:lnTo>
                  <a:lnTo>
                    <a:pt x="386343" y="645888"/>
                  </a:lnTo>
                  <a:lnTo>
                    <a:pt x="427275" y="663175"/>
                  </a:lnTo>
                  <a:lnTo>
                    <a:pt x="470262" y="680316"/>
                  </a:lnTo>
                  <a:lnTo>
                    <a:pt x="515278" y="697291"/>
                  </a:lnTo>
                  <a:lnTo>
                    <a:pt x="562296" y="714082"/>
                  </a:lnTo>
                  <a:lnTo>
                    <a:pt x="611291" y="730670"/>
                  </a:lnTo>
                  <a:lnTo>
                    <a:pt x="662236" y="747038"/>
                  </a:lnTo>
                  <a:lnTo>
                    <a:pt x="715107" y="763167"/>
                  </a:lnTo>
                  <a:lnTo>
                    <a:pt x="769876" y="779038"/>
                  </a:lnTo>
                  <a:lnTo>
                    <a:pt x="826519" y="794633"/>
                  </a:lnTo>
                  <a:lnTo>
                    <a:pt x="885009" y="809934"/>
                  </a:lnTo>
                  <a:lnTo>
                    <a:pt x="945321" y="824923"/>
                  </a:lnTo>
                  <a:lnTo>
                    <a:pt x="1007428" y="839580"/>
                  </a:lnTo>
                  <a:lnTo>
                    <a:pt x="1071305" y="853887"/>
                  </a:lnTo>
                  <a:lnTo>
                    <a:pt x="1136926" y="867827"/>
                  </a:lnTo>
                  <a:lnTo>
                    <a:pt x="1204264" y="881381"/>
                  </a:lnTo>
                  <a:lnTo>
                    <a:pt x="1248740" y="889936"/>
                  </a:lnTo>
                  <a:lnTo>
                    <a:pt x="1293917" y="898317"/>
                  </a:lnTo>
                  <a:lnTo>
                    <a:pt x="1339788" y="906519"/>
                  </a:lnTo>
                  <a:lnTo>
                    <a:pt x="1386346" y="914536"/>
                  </a:lnTo>
                  <a:lnTo>
                    <a:pt x="1433585" y="922364"/>
                  </a:lnTo>
                  <a:lnTo>
                    <a:pt x="1481498" y="929998"/>
                  </a:lnTo>
                  <a:lnTo>
                    <a:pt x="1530077" y="937432"/>
                  </a:lnTo>
                  <a:lnTo>
                    <a:pt x="1579315" y="944662"/>
                  </a:lnTo>
                  <a:lnTo>
                    <a:pt x="1629205" y="951682"/>
                  </a:lnTo>
                  <a:lnTo>
                    <a:pt x="1679741" y="958489"/>
                  </a:lnTo>
                  <a:lnTo>
                    <a:pt x="1730915" y="965076"/>
                  </a:lnTo>
                  <a:lnTo>
                    <a:pt x="1782721" y="971438"/>
                  </a:lnTo>
                  <a:lnTo>
                    <a:pt x="1835151" y="977572"/>
                  </a:lnTo>
                  <a:lnTo>
                    <a:pt x="1888198" y="983471"/>
                  </a:lnTo>
                  <a:lnTo>
                    <a:pt x="1941856" y="989131"/>
                  </a:lnTo>
                  <a:lnTo>
                    <a:pt x="1996116" y="994547"/>
                  </a:lnTo>
                  <a:lnTo>
                    <a:pt x="2050973" y="999714"/>
                  </a:lnTo>
                  <a:lnTo>
                    <a:pt x="2098066" y="1003906"/>
                  </a:lnTo>
                  <a:lnTo>
                    <a:pt x="2145579" y="1007912"/>
                  </a:lnTo>
                  <a:lnTo>
                    <a:pt x="2193510" y="1011728"/>
                  </a:lnTo>
                  <a:lnTo>
                    <a:pt x="2241853" y="1015351"/>
                  </a:lnTo>
                  <a:lnTo>
                    <a:pt x="2290605" y="1018778"/>
                  </a:lnTo>
                  <a:lnTo>
                    <a:pt x="2339762" y="1022006"/>
                  </a:lnTo>
                  <a:lnTo>
                    <a:pt x="2389318" y="1025032"/>
                  </a:lnTo>
                  <a:lnTo>
                    <a:pt x="2439270" y="1027853"/>
                  </a:lnTo>
                  <a:lnTo>
                    <a:pt x="2489613" y="1030466"/>
                  </a:lnTo>
                  <a:lnTo>
                    <a:pt x="2540343" y="1032868"/>
                  </a:lnTo>
                  <a:lnTo>
                    <a:pt x="2591456" y="1035056"/>
                  </a:lnTo>
                  <a:lnTo>
                    <a:pt x="2642947" y="1037026"/>
                  </a:lnTo>
                  <a:lnTo>
                    <a:pt x="2694812" y="1038776"/>
                  </a:lnTo>
                  <a:lnTo>
                    <a:pt x="2747047" y="1040303"/>
                  </a:lnTo>
                  <a:lnTo>
                    <a:pt x="2799647" y="1041603"/>
                  </a:lnTo>
                  <a:lnTo>
                    <a:pt x="2865906" y="1042905"/>
                  </a:lnTo>
                  <a:lnTo>
                    <a:pt x="2932720" y="1043842"/>
                  </a:lnTo>
                  <a:lnTo>
                    <a:pt x="2983190" y="1044303"/>
                  </a:lnTo>
                  <a:lnTo>
                    <a:pt x="3000081" y="1044409"/>
                  </a:lnTo>
                  <a:lnTo>
                    <a:pt x="3002696" y="104442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87688" y="2310888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0" y="42846"/>
                  </a:moveTo>
                  <a:lnTo>
                    <a:pt x="21481" y="21481"/>
                  </a:lnTo>
                  <a:lnTo>
                    <a:pt x="117" y="0"/>
                  </a:lnTo>
                  <a:lnTo>
                    <a:pt x="58918" y="21584"/>
                  </a:lnTo>
                  <a:lnTo>
                    <a:pt x="0" y="4284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87688" y="2310888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21481" y="21481"/>
                  </a:moveTo>
                  <a:lnTo>
                    <a:pt x="0" y="42846"/>
                  </a:lnTo>
                  <a:lnTo>
                    <a:pt x="58918" y="21584"/>
                  </a:lnTo>
                  <a:lnTo>
                    <a:pt x="117" y="0"/>
                  </a:lnTo>
                  <a:lnTo>
                    <a:pt x="21481" y="2148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00574" y="3317277"/>
              <a:ext cx="214629" cy="328930"/>
            </a:xfrm>
            <a:custGeom>
              <a:avLst/>
              <a:gdLst/>
              <a:ahLst/>
              <a:cxnLst/>
              <a:rect l="l" t="t" r="r" b="b"/>
              <a:pathLst>
                <a:path w="214629" h="328929">
                  <a:moveTo>
                    <a:pt x="214294" y="328781"/>
                  </a:moveTo>
                  <a:lnTo>
                    <a:pt x="161571" y="322028"/>
                  </a:lnTo>
                  <a:lnTo>
                    <a:pt x="112248" y="303359"/>
                  </a:lnTo>
                  <a:lnTo>
                    <a:pt x="68879" y="275156"/>
                  </a:lnTo>
                  <a:lnTo>
                    <a:pt x="34013" y="239803"/>
                  </a:lnTo>
                  <a:lnTo>
                    <a:pt x="10203" y="199684"/>
                  </a:lnTo>
                  <a:lnTo>
                    <a:pt x="0" y="157181"/>
                  </a:lnTo>
                  <a:lnTo>
                    <a:pt x="2432" y="125174"/>
                  </a:lnTo>
                  <a:lnTo>
                    <a:pt x="29780" y="65181"/>
                  </a:lnTo>
                  <a:lnTo>
                    <a:pt x="65255" y="27664"/>
                  </a:lnTo>
                  <a:lnTo>
                    <a:pt x="109072" y="328"/>
                  </a:lnTo>
                  <a:lnTo>
                    <a:pt x="10982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84769" y="3301114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9462" y="41788"/>
                  </a:moveTo>
                  <a:lnTo>
                    <a:pt x="25625" y="16162"/>
                  </a:lnTo>
                  <a:lnTo>
                    <a:pt x="0" y="0"/>
                  </a:lnTo>
                  <a:lnTo>
                    <a:pt x="62137" y="7894"/>
                  </a:lnTo>
                  <a:lnTo>
                    <a:pt x="9462" y="4178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84769" y="3301114"/>
              <a:ext cx="62230" cy="41910"/>
            </a:xfrm>
            <a:custGeom>
              <a:avLst/>
              <a:gdLst/>
              <a:ahLst/>
              <a:cxnLst/>
              <a:rect l="l" t="t" r="r" b="b"/>
              <a:pathLst>
                <a:path w="62229" h="41910">
                  <a:moveTo>
                    <a:pt x="25625" y="16162"/>
                  </a:moveTo>
                  <a:lnTo>
                    <a:pt x="9462" y="41788"/>
                  </a:lnTo>
                  <a:lnTo>
                    <a:pt x="62137" y="7894"/>
                  </a:lnTo>
                  <a:lnTo>
                    <a:pt x="0" y="0"/>
                  </a:lnTo>
                  <a:lnTo>
                    <a:pt x="25625" y="16162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20DBB4-3552-A4D7-773A-8D0FFA32F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Unified text-to-text framework</a:t>
            </a:r>
          </a:p>
          <a:p>
            <a:r>
              <a:rPr lang="en-US" dirty="0"/>
              <a:t>Supports both discriminative and generative tasks</a:t>
            </a:r>
          </a:p>
          <a:p>
            <a:pPr lvl="1"/>
            <a:r>
              <a:rPr lang="en-US" dirty="0"/>
              <a:t>Classification, summarization, translation, etc.</a:t>
            </a:r>
          </a:p>
          <a:p>
            <a:pPr lvl="1"/>
            <a:r>
              <a:rPr lang="en-US" dirty="0"/>
              <a:t>Better on GLUE/</a:t>
            </a:r>
            <a:r>
              <a:rPr lang="en-US" dirty="0" err="1"/>
              <a:t>SuperGLUE</a:t>
            </a:r>
            <a:r>
              <a:rPr lang="en-US" dirty="0"/>
              <a:t>, </a:t>
            </a:r>
            <a:r>
              <a:rPr lang="en-US" dirty="0" err="1"/>
              <a:t>SQuAD</a:t>
            </a:r>
            <a:r>
              <a:rPr lang="en-US" dirty="0"/>
              <a:t>, and summarization; less on translation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6B1FD1-18AC-C8C3-A28C-C9189CF5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3621C-2E88-7445-5E00-B84474E9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AA961F-EC38-09BC-8D72-76D141C3A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95" y="3499672"/>
            <a:ext cx="6669176" cy="237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01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3200" y="548822"/>
            <a:ext cx="11785600" cy="2277533"/>
            <a:chOff x="152400" y="411616"/>
            <a:chExt cx="8839200" cy="1708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411616"/>
              <a:ext cx="8839199" cy="17076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6875" y="454466"/>
              <a:ext cx="4633224" cy="38644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200" y="3224888"/>
            <a:ext cx="10611955" cy="28543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63421" y="6252318"/>
            <a:ext cx="71043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5"/>
              </a:rPr>
              <a:t>https://github.com/google-research/text-</a:t>
            </a:r>
            <a:r>
              <a:rPr sz="1867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5"/>
              </a:rPr>
              <a:t>to-text-</a:t>
            </a:r>
            <a:r>
              <a:rPr sz="1867" u="heavy" spc="-5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5"/>
              </a:rPr>
              <a:t>transfer-</a:t>
            </a:r>
            <a:r>
              <a:rPr sz="1867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5"/>
              </a:rPr>
              <a:t>transformer</a:t>
            </a:r>
            <a:endParaRPr sz="1867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25A53-80EF-6DEE-0D3F-E74E5A0B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da-DK" dirty="0"/>
              <a:t>BART (Lewis et al. 2020)</a:t>
            </a:r>
          </a:p>
          <a:p>
            <a:pPr lvl="1"/>
            <a:r>
              <a:rPr lang="en-US" dirty="0"/>
              <a:t>Similar Architecture as T5.</a:t>
            </a:r>
          </a:p>
          <a:p>
            <a:pPr lvl="1"/>
            <a:r>
              <a:rPr lang="en-US" dirty="0"/>
              <a:t>Performs competitive to </a:t>
            </a:r>
            <a:r>
              <a:rPr lang="en-US" dirty="0" err="1"/>
              <a:t>RoBERTa</a:t>
            </a:r>
            <a:r>
              <a:rPr lang="en-US" dirty="0"/>
              <a:t> and </a:t>
            </a:r>
            <a:r>
              <a:rPr lang="en-US" dirty="0" err="1"/>
              <a:t>XLNet</a:t>
            </a:r>
            <a:r>
              <a:rPr lang="en-US" dirty="0"/>
              <a:t> on discriminative tasks.</a:t>
            </a:r>
          </a:p>
          <a:p>
            <a:pPr lvl="1"/>
            <a:r>
              <a:rPr lang="en-US" dirty="0"/>
              <a:t>Outperformed existing methods on question answering, and summarization tasks.</a:t>
            </a:r>
          </a:p>
          <a:p>
            <a:pPr lvl="1"/>
            <a:r>
              <a:rPr lang="en-US" dirty="0"/>
              <a:t>Improved results on machine translation with fine-tuning on target language.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828647-69AD-64A0-4B3B-2D3D5979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Other model variants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425526-2397-BE8E-3EE4-CD6F1221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854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DDDCF-3C9D-4C87-B885-FDF926B30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embeddings are the basis of deep learning for NLP</a:t>
            </a:r>
          </a:p>
          <a:p>
            <a:pPr lvl="1"/>
            <a:r>
              <a:rPr lang="en-US" dirty="0"/>
              <a:t>Word2vec, </a:t>
            </a:r>
            <a:r>
              <a:rPr lang="en-US" dirty="0" err="1"/>
              <a:t>GloVe</a:t>
            </a:r>
            <a:r>
              <a:rPr lang="en-US" dirty="0"/>
              <a:t>, </a:t>
            </a:r>
            <a:r>
              <a:rPr lang="en-US" dirty="0" err="1"/>
              <a:t>fastText</a:t>
            </a:r>
            <a:endParaRPr lang="en-US" dirty="0"/>
          </a:p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Always the same representation for each word, while it has multiple meanings depending on where it’s used.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Give each word an embedding based on the context it’s used in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BFA3B-B583-4BC3-B0A9-A88A6D18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Embeddings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A2AF0-B8CD-4343-8165-AEA83FB8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64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AA02E8-8315-42A5-A168-BB21A059D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527" y="3038706"/>
            <a:ext cx="5387022" cy="78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FAA54252-0079-4100-9EE5-34B49EF3A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708" y="5116947"/>
            <a:ext cx="6051967" cy="88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014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7DAC-B2D0-474C-882E-3953A69A6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Semi-Supervised Sequence Learning, Google, 2015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AB529-FC6A-F94C-89A2-C5B28F4E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History of Contextual Representations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450AD-E61B-9441-9352-E11B0482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65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66C7FC-A710-E64D-8FF8-C313ECCB7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086" y="2158584"/>
            <a:ext cx="9721434" cy="34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162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84B9BEBF-7B37-8646-9538-B5CDA80CD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8" y="2084862"/>
            <a:ext cx="11762132" cy="40873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871E7EC-165F-3441-B7E2-B55561F9B2B1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914400" rtl="1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1735B-10BB-4847-AD3D-B53BE0E057A0}"/>
              </a:ext>
            </a:extLst>
          </p:cNvPr>
          <p:cNvSpPr txBox="1">
            <a:spLocks/>
          </p:cNvSpPr>
          <p:nvPr/>
        </p:nvSpPr>
        <p:spPr>
          <a:xfrm>
            <a:off x="1171560" y="1336221"/>
            <a:ext cx="9601200" cy="489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err="1"/>
              <a:t>ELMo</a:t>
            </a:r>
            <a:r>
              <a:rPr lang="en-US" dirty="0"/>
              <a:t>: Deep Contextual Word Embeddings, AI2 &amp; University of Washington, 2017 </a:t>
            </a:r>
          </a:p>
          <a:p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EADDE2A-CC6F-C182-6744-7A2726FF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History of Contextual Representations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BFFA6E-CE04-7045-9C36-1F27C8F8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106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7E4D8312-D0F1-2747-B2A4-49D6313E1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703" y="1858987"/>
            <a:ext cx="8688471" cy="39871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016975-DEB3-BD4B-8EBF-CC3C4DA2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Deep language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D97CE-31B3-1F4E-8419-67944674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06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374DA4-67F1-8049-86CC-50A40D757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937" y="1748227"/>
            <a:ext cx="8717859" cy="438274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20BEA-0FDF-D240-99E3-D4107B97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Use all layers of language model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B93D5-FBE9-344E-952B-2BEF2BA3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079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AB906A-F9E8-E749-803B-F63058223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616" y="1921239"/>
            <a:ext cx="8482767" cy="40899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BBDC0A-8AAF-FA4C-B5B3-E2460C72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>
                <a:solidFill>
                  <a:schemeClr val="tx2"/>
                </a:solidFill>
              </a:rPr>
              <a:t>Learned task-specific combination of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67379-0F98-AB4B-87DE-6EDE5851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684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801B49-EA98-7E43-BBAD-3C5F2D161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694" y="1184223"/>
            <a:ext cx="10378610" cy="3952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808DD8-AD75-1C49-B3A1-4C828AC9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 err="1"/>
              <a:t>ELMo</a:t>
            </a:r>
            <a:r>
              <a:rPr lang="en-US" dirty="0"/>
              <a:t> improves NLP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469F4-AD54-CD44-8CB0-E6CA4572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C7659C-400E-5A45-8DE0-73554FDFD803}"/>
              </a:ext>
            </a:extLst>
          </p:cNvPr>
          <p:cNvSpPr txBox="1">
            <a:spLocks/>
          </p:cNvSpPr>
          <p:nvPr/>
        </p:nvSpPr>
        <p:spPr>
          <a:xfrm>
            <a:off x="1249845" y="4949637"/>
            <a:ext cx="9468173" cy="1325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Large-scale recurrent neural language models learn contextual representations that capture basic elements of semantics and syntax </a:t>
            </a:r>
          </a:p>
          <a:p>
            <a:r>
              <a:rPr lang="en-US" dirty="0"/>
              <a:t>E.g., the representations encode POS tags and word senses.</a:t>
            </a:r>
          </a:p>
        </p:txBody>
      </p:sp>
    </p:spTree>
    <p:extLst>
      <p:ext uri="{BB962C8B-B14F-4D97-AF65-F5344CB8AC3E}">
        <p14:creationId xmlns:p14="http://schemas.microsoft.com/office/powerpoint/2010/main" val="36767389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A233FF-F38F-D748-BDEE-5B677C26B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5650" y="1040606"/>
            <a:ext cx="5638800" cy="4406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D02822-91EA-D24B-BC8D-A764CB88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88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D6D2F-A4FD-314C-BD78-89ABE9F76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Language models only use left context or right context, but language understanding is bidirectional. </a:t>
            </a:r>
            <a:endParaRPr lang="en-US" dirty="0">
              <a:effectLst/>
            </a:endParaRPr>
          </a:p>
          <a:p>
            <a:r>
              <a:rPr lang="en-US" dirty="0"/>
              <a:t>Why are LMs unidirectional? </a:t>
            </a:r>
            <a:endParaRPr lang="en-US" dirty="0">
              <a:effectLst/>
            </a:endParaRPr>
          </a:p>
          <a:p>
            <a:r>
              <a:rPr lang="en-US" dirty="0"/>
              <a:t>Reason 1: Directionality is needed to generate a well-formed probability distribution. </a:t>
            </a:r>
          </a:p>
          <a:p>
            <a:pPr lvl="1"/>
            <a:r>
              <a:rPr lang="en-US" dirty="0"/>
              <a:t>We don’t care about this. </a:t>
            </a:r>
          </a:p>
          <a:p>
            <a:r>
              <a:rPr lang="en-US" dirty="0"/>
              <a:t>Reason 2: Words can “see themselves” in a bidirectional encoder. </a:t>
            </a:r>
          </a:p>
          <a:p>
            <a:endParaRPr lang="en-US" dirty="0">
              <a:effectLst/>
            </a:endParaRPr>
          </a:p>
          <a:p>
            <a:pPr lvl="1"/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8ABC8-3626-E943-AF6B-94F2ABA7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Previous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D10DA-29EF-0141-9A5C-F6721B2A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12D68B-65B7-1C45-8F1E-D145968A4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691" y="1633928"/>
            <a:ext cx="10894888" cy="453473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A09BA0-7DC2-2841-AB8E-E847FD04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Unidirectional vs. Bidirectional Models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5468D-4959-9646-BDA6-F779D303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249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5961-7BA9-2142-871C-F5ACB8979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Mask out k% of the input words, and then predict the masked words</a:t>
            </a:r>
          </a:p>
          <a:p>
            <a:pPr lvl="1"/>
            <a:r>
              <a:rPr lang="en-US" dirty="0"/>
              <a:t>k = 15% in BERT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FCE41-0C70-0E44-AF2B-F6588A9F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LM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9543A-4241-1041-BA29-ECA28DEF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C8CAC-3CA8-1B46-A231-DB08FC547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81" y="2791917"/>
            <a:ext cx="9283089" cy="360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896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F87D1-4316-5842-8295-F47AE3294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[Mask] token never seen at fine-tuning </a:t>
            </a:r>
            <a:endParaRPr lang="en-US" dirty="0">
              <a:effectLst/>
            </a:endParaRPr>
          </a:p>
          <a:p>
            <a:r>
              <a:rPr lang="en-US" dirty="0"/>
              <a:t>Solution: 15% of the words to predict, but don’t replace with [MASK] 100% of the time. Instead: </a:t>
            </a:r>
            <a:endParaRPr lang="en-US" dirty="0">
              <a:effectLst/>
            </a:endParaRPr>
          </a:p>
          <a:p>
            <a:r>
              <a:rPr lang="en-US" dirty="0"/>
              <a:t>80% of the time, replace with [MASK]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went to the store → went to the [MASK] </a:t>
            </a:r>
            <a:endParaRPr lang="en-US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r>
              <a:rPr lang="en-US" dirty="0"/>
              <a:t>10% of the time, replace random word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went to the store → went to the running </a:t>
            </a:r>
            <a:endParaRPr lang="en-US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r>
              <a:rPr lang="en-US" dirty="0"/>
              <a:t>10% of the time, keep same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went to the store → went to the store </a:t>
            </a:r>
            <a:endParaRPr lang="en-US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FC5D2-0EE9-6245-929F-4D522443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LM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E86CB-A2D9-D24E-B81F-32F4ADC4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5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1102-68D5-6B46-A1EC-5B813F43F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To learn relationships between sentences, predict whether Sentence B is actual sentence that proceeds Sentence A, or a random sentence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50C82-66C7-1C44-8585-5CD184F5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Next Sentence Prediction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86680-B8FE-664B-A5AB-DE933CFD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6" name="Picture 2" descr="Next Sentence Prediction with BERT - Scaler Topics">
            <a:extLst>
              <a:ext uri="{FF2B5EF4-FFF2-40B4-BE49-F238E27FC236}">
                <a16:creationId xmlns:a16="http://schemas.microsoft.com/office/drawing/2014/main" id="{DF541163-6611-C8D2-8F27-70F6C92464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" t="32294" r="8241" b="35361"/>
          <a:stretch/>
        </p:blipFill>
        <p:spPr bwMode="auto">
          <a:xfrm>
            <a:off x="2461845" y="2637692"/>
            <a:ext cx="7420182" cy="267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E4506B-CEE0-F719-009E-B185861531F2}"/>
              </a:ext>
            </a:extLst>
          </p:cNvPr>
          <p:cNvSpPr txBox="1"/>
          <p:nvPr/>
        </p:nvSpPr>
        <p:spPr>
          <a:xfrm>
            <a:off x="4126523" y="5588205"/>
            <a:ext cx="41761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www.scaler.com</a:t>
            </a:r>
            <a:r>
              <a:rPr lang="en-US" sz="1100" dirty="0"/>
              <a:t>/topics/</a:t>
            </a:r>
            <a:r>
              <a:rPr lang="en-US" sz="1100" dirty="0" err="1"/>
              <a:t>nlp</a:t>
            </a:r>
            <a:r>
              <a:rPr lang="en-US" sz="1100" dirty="0"/>
              <a:t>/</a:t>
            </a:r>
            <a:r>
              <a:rPr lang="en-US" sz="1100" dirty="0" err="1"/>
              <a:t>bert</a:t>
            </a:r>
            <a:r>
              <a:rPr lang="en-US" sz="1100" dirty="0"/>
              <a:t>-next-sentence-prediction/</a:t>
            </a:r>
          </a:p>
        </p:txBody>
      </p:sp>
    </p:spTree>
    <p:extLst>
      <p:ext uri="{BB962C8B-B14F-4D97-AF65-F5344CB8AC3E}">
        <p14:creationId xmlns:p14="http://schemas.microsoft.com/office/powerpoint/2010/main" val="38505466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941C4B-116F-2D46-AD34-ADF9E5461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355" y="1229193"/>
            <a:ext cx="11751092" cy="367897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D719-77C8-DD44-89FE-FAF5430A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8F385-EBAD-FA45-BE88-F38DE456009F}"/>
              </a:ext>
            </a:extLst>
          </p:cNvPr>
          <p:cNvSpPr/>
          <p:nvPr/>
        </p:nvSpPr>
        <p:spPr>
          <a:xfrm>
            <a:off x="2122715" y="5534561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Use a 30,000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WordPiece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vocabulary on input.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Each token is sum of three embeddings.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Single sequence is much more efficient. </a:t>
            </a:r>
          </a:p>
          <a:p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7271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55B198-2C50-F947-AAD6-259F9E901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9311" y="1124262"/>
            <a:ext cx="4907380" cy="4796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47C3D8-CD2C-EB44-8EFD-A327C81C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Architecture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33EEC-31E3-E94B-A998-81FB5C80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DE764C-50DA-DD4F-82D9-0B40FECAD36A}"/>
              </a:ext>
            </a:extLst>
          </p:cNvPr>
          <p:cNvSpPr txBox="1">
            <a:spLocks/>
          </p:cNvSpPr>
          <p:nvPr/>
        </p:nvSpPr>
        <p:spPr>
          <a:xfrm>
            <a:off x="442209" y="1516505"/>
            <a:ext cx="6290841" cy="3581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Multi-headed self attention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Models context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Feed-forward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Computes non-linear hierarchical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Layer norm and residuals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Makes training deep networks healthy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Positional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Allows model to learn relative positioning </a:t>
            </a:r>
          </a:p>
        </p:txBody>
      </p:sp>
    </p:spTree>
    <p:extLst>
      <p:ext uri="{BB962C8B-B14F-4D97-AF65-F5344CB8AC3E}">
        <p14:creationId xmlns:p14="http://schemas.microsoft.com/office/powerpoint/2010/main" val="257112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684E0-E9E1-A843-A296-2F479F8CA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 Wikipedia (2.5B words) + </a:t>
            </a:r>
            <a:r>
              <a:rPr lang="en-US" dirty="0" err="1"/>
              <a:t>BookCorpus</a:t>
            </a:r>
            <a:r>
              <a:rPr lang="en-US" dirty="0"/>
              <a:t> (800M words) </a:t>
            </a:r>
          </a:p>
          <a:p>
            <a:r>
              <a:rPr lang="en-US" dirty="0"/>
              <a:t>Batch Size: 131,072 words (1024 sequences * 128 length or 256 sequences * 512 length) </a:t>
            </a:r>
          </a:p>
          <a:p>
            <a:r>
              <a:rPr lang="en-US" dirty="0"/>
              <a:t>Training Time: 1M steps (~40 epochs)</a:t>
            </a:r>
          </a:p>
          <a:p>
            <a:r>
              <a:rPr lang="en-US" dirty="0"/>
              <a:t>Optimizer: </a:t>
            </a:r>
            <a:r>
              <a:rPr lang="en-US" dirty="0" err="1"/>
              <a:t>AdamW</a:t>
            </a:r>
            <a:r>
              <a:rPr lang="en-US" dirty="0"/>
              <a:t>, 1e-4 learning rate, linear decay</a:t>
            </a:r>
          </a:p>
          <a:p>
            <a:r>
              <a:rPr lang="en-US" b="1" dirty="0"/>
              <a:t>BERT-Base</a:t>
            </a:r>
            <a:r>
              <a:rPr lang="en-US" dirty="0"/>
              <a:t>: 12-layer, 768-hidden, 12-head</a:t>
            </a:r>
          </a:p>
          <a:p>
            <a:r>
              <a:rPr lang="en-US" b="1" dirty="0"/>
              <a:t>BERT-Large</a:t>
            </a:r>
            <a:r>
              <a:rPr lang="en-US" dirty="0"/>
              <a:t>: 24-layer, 1024-hidden, 16-head</a:t>
            </a:r>
          </a:p>
          <a:p>
            <a:r>
              <a:rPr lang="en-US" dirty="0"/>
              <a:t>Trained on 4x4 or 8x8 TPU slice for 4 days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769D2-7754-6842-B219-9ECDC130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30B50-E8E8-BA4D-A8BF-CEE21765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3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83C243-CF57-0F4E-B362-C3C0D8E4C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307" y="1509321"/>
            <a:ext cx="10721103" cy="46816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C7062-FABE-9047-9AA4-8B2EAEEF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Procedure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A2A453-9004-C743-A20B-0437A0C6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320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C4728F-E799-DD43-8DC8-DF4B5BA8C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155" y="1011835"/>
            <a:ext cx="5846165" cy="5846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C799DE-7490-DD41-8833-F94BA593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Procedure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FB1F3-4D6F-E945-AD48-76A27FC3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046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EA3811-93DF-AE4F-B28F-3257D24D2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515" y="2248524"/>
            <a:ext cx="11388968" cy="2690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007055-6AD7-3D41-B813-C8E5EE55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14E9AE-FCC1-8E42-9524-79E11885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F972F-1749-9440-AF7A-798CFBF9FEC0}"/>
              </a:ext>
            </a:extLst>
          </p:cNvPr>
          <p:cNvSpPr txBox="1"/>
          <p:nvPr/>
        </p:nvSpPr>
        <p:spPr>
          <a:xfrm>
            <a:off x="3009475" y="5316003"/>
            <a:ext cx="6913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GLUE is a set of NLU tasks designed to benchmark NLP models.</a:t>
            </a:r>
          </a:p>
        </p:txBody>
      </p:sp>
    </p:spTree>
    <p:extLst>
      <p:ext uri="{BB962C8B-B14F-4D97-AF65-F5344CB8AC3E}">
        <p14:creationId xmlns:p14="http://schemas.microsoft.com/office/powerpoint/2010/main" val="40461238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99447F-D1F3-C94B-9EB7-E816A05B8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643" y="1512601"/>
            <a:ext cx="6178242" cy="3832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81D05F-1144-2940-86F7-3C5D2332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Pre-training Task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01E2FA-2CD5-3542-BD2E-1515DAAA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1D750-B9C0-B14F-88A4-27CD5D00D070}"/>
              </a:ext>
            </a:extLst>
          </p:cNvPr>
          <p:cNvSpPr txBox="1"/>
          <p:nvPr/>
        </p:nvSpPr>
        <p:spPr>
          <a:xfrm>
            <a:off x="257263" y="5867400"/>
            <a:ext cx="11258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Masked LM (compared to left-to-right LM) is very important on some tasks, Next Sentence Prediction is important on other tasks.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Left-to-right model does very poorly on word-level task (</a:t>
            </a:r>
            <a:r>
              <a:rPr lang="en-US" sz="1600" dirty="0" err="1"/>
              <a:t>SQuAD</a:t>
            </a:r>
            <a:r>
              <a:rPr lang="en-US" sz="1600" dirty="0"/>
              <a:t>), although this is mitigated by </a:t>
            </a:r>
            <a:r>
              <a:rPr lang="en-US" sz="1600" dirty="0" err="1"/>
              <a:t>BiLSTM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8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CF592A-774E-9746-878F-CB607456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29" y="2519362"/>
            <a:ext cx="6099178" cy="41798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F2DD4-0191-9E42-B0C1-0D9C0B45F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Masked LM takes slightly longer to converge because we only predict 15% instead of 100%</a:t>
            </a:r>
          </a:p>
          <a:p>
            <a:r>
              <a:rPr lang="en-US" dirty="0"/>
              <a:t> But absolute results are much better almost immediately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20C90-E001-7647-928F-0C847CFD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Directionality and Training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1AACB-B03F-F149-AC7B-0DA46760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672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0BAC61-A63F-734C-A204-8A4405F8F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1534" y="1085891"/>
            <a:ext cx="6222584" cy="376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D9D473-C8F9-0843-B8F0-178FFF95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Model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2E382-027C-CB4A-962E-A9906949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7B120-5BD7-F74D-87E4-98D1A6AB1C17}"/>
              </a:ext>
            </a:extLst>
          </p:cNvPr>
          <p:cNvSpPr txBox="1"/>
          <p:nvPr/>
        </p:nvSpPr>
        <p:spPr>
          <a:xfrm>
            <a:off x="1022888" y="53779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3319AE-75F5-0B4F-8EAD-406F791F1C26}"/>
              </a:ext>
            </a:extLst>
          </p:cNvPr>
          <p:cNvSpPr txBox="1">
            <a:spLocks/>
          </p:cNvSpPr>
          <p:nvPr/>
        </p:nvSpPr>
        <p:spPr>
          <a:xfrm>
            <a:off x="1371600" y="4686301"/>
            <a:ext cx="10515600" cy="15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BFC8CE-44B3-7748-96D3-ABC1EDB2F61B}"/>
              </a:ext>
            </a:extLst>
          </p:cNvPr>
          <p:cNvSpPr txBox="1">
            <a:spLocks/>
          </p:cNvSpPr>
          <p:nvPr/>
        </p:nvSpPr>
        <p:spPr>
          <a:xfrm>
            <a:off x="1198408" y="4926806"/>
            <a:ext cx="10515600" cy="15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Big models help a lot </a:t>
            </a:r>
          </a:p>
          <a:p>
            <a:r>
              <a:rPr lang="en-US" dirty="0"/>
              <a:t>Going from 110M -&gt; 340M params helps even on datasets with 3,600 labeled examples </a:t>
            </a:r>
          </a:p>
        </p:txBody>
      </p:sp>
    </p:spTree>
    <p:extLst>
      <p:ext uri="{BB962C8B-B14F-4D97-AF65-F5344CB8AC3E}">
        <p14:creationId xmlns:p14="http://schemas.microsoft.com/office/powerpoint/2010/main" val="25258232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9670-D8AD-AC43-AA6B-1AEEFBFC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Better models like 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XLNet</a:t>
            </a:r>
            <a:r>
              <a:rPr lang="en-US" dirty="0"/>
              <a:t>, </a:t>
            </a:r>
            <a:r>
              <a:rPr lang="en-US" dirty="0" err="1"/>
              <a:t>ALBERTa</a:t>
            </a:r>
            <a:r>
              <a:rPr lang="en-US" dirty="0"/>
              <a:t> and T5. </a:t>
            </a:r>
          </a:p>
          <a:p>
            <a:pPr lvl="1"/>
            <a:r>
              <a:rPr lang="en-US" dirty="0"/>
              <a:t>Better pretraining objectives and / or more data and / or more parameters</a:t>
            </a:r>
          </a:p>
          <a:p>
            <a:r>
              <a:rPr lang="en-US" dirty="0"/>
              <a:t>Multilingual models like MBERT, XLM-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MBart</a:t>
            </a:r>
            <a:r>
              <a:rPr lang="en-US" dirty="0"/>
              <a:t> and MT5.</a:t>
            </a:r>
          </a:p>
          <a:p>
            <a:pPr lvl="1"/>
            <a:r>
              <a:rPr lang="en-US" dirty="0"/>
              <a:t>Pretraining on multilingual data</a:t>
            </a:r>
          </a:p>
          <a:p>
            <a:r>
              <a:rPr lang="en-US" dirty="0"/>
              <a:t>Domain-specific models like </a:t>
            </a:r>
            <a:r>
              <a:rPr lang="en-US" dirty="0" err="1"/>
              <a:t>BioBERT</a:t>
            </a:r>
            <a:r>
              <a:rPr lang="en-US" dirty="0"/>
              <a:t>, </a:t>
            </a:r>
            <a:r>
              <a:rPr lang="en-US" dirty="0" err="1"/>
              <a:t>LegalBERT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Adapting general-purpose models to specific domains.</a:t>
            </a:r>
          </a:p>
          <a:p>
            <a:r>
              <a:rPr lang="en-US" dirty="0"/>
              <a:t>Knowledge distillation</a:t>
            </a:r>
          </a:p>
          <a:p>
            <a:pPr lvl="1"/>
            <a:r>
              <a:rPr lang="en-US" dirty="0"/>
              <a:t>Distilling the knowledge in big models into smaller ones. </a:t>
            </a:r>
          </a:p>
          <a:p>
            <a:r>
              <a:rPr lang="en-US" dirty="0"/>
              <a:t>Zero and few shot learning</a:t>
            </a:r>
          </a:p>
          <a:p>
            <a:pPr lvl="1"/>
            <a:r>
              <a:rPr lang="en-US" dirty="0"/>
              <a:t>Given no or few examples, large models can still perform quite well.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04C28-81F3-684E-915C-C9C45864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Post-BERT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597CD-EBFA-0345-B3FA-E4275450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A1977E-1638-4C17-BCCE-0A867166971B}"/>
</file>

<file path=customXml/itemProps2.xml><?xml version="1.0" encoding="utf-8"?>
<ds:datastoreItem xmlns:ds="http://schemas.openxmlformats.org/officeDocument/2006/customXml" ds:itemID="{097F0B2D-6853-4600-A80A-A070B2FE0E9F}"/>
</file>

<file path=customXml/itemProps3.xml><?xml version="1.0" encoding="utf-8"?>
<ds:datastoreItem xmlns:ds="http://schemas.openxmlformats.org/officeDocument/2006/customXml" ds:itemID="{D920875E-9D9F-4F2C-AC47-FA80498F54CE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10697</TotalTime>
  <Words>7814</Words>
  <Application>Microsoft Office PowerPoint</Application>
  <PresentationFormat>Widescreen</PresentationFormat>
  <Paragraphs>863</Paragraphs>
  <Slides>86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9" baseType="lpstr">
      <vt:lpstr>Arial</vt:lpstr>
      <vt:lpstr>ArialMT</vt:lpstr>
      <vt:lpstr>Calibri</vt:lpstr>
      <vt:lpstr>Calibri-Bold</vt:lpstr>
      <vt:lpstr>Courier New</vt:lpstr>
      <vt:lpstr>Helvetica</vt:lpstr>
      <vt:lpstr>Roboto</vt:lpstr>
      <vt:lpstr>Roboto Lt</vt:lpstr>
      <vt:lpstr>Roboto Th</vt:lpstr>
      <vt:lpstr>Tahoma</vt:lpstr>
      <vt:lpstr>Times New Roman</vt:lpstr>
      <vt:lpstr>Wingdings</vt:lpstr>
      <vt:lpstr>Main</vt:lpstr>
      <vt:lpstr>Encoder-Decoder Pretrained Models: T5</vt:lpstr>
      <vt:lpstr>What is transfer learning and what makes it so useful?</vt:lpstr>
      <vt:lpstr>Unsupervised pre-training</vt:lpstr>
      <vt:lpstr>SQuAD Exact Match score (validation set)</vt:lpstr>
      <vt:lpstr>PowerPoint Presentation</vt:lpstr>
      <vt:lpstr>PowerPoint Presentation</vt:lpstr>
      <vt:lpstr>Lots of stuff!</vt:lpstr>
      <vt:lpstr>Transfer Learning Comparisons</vt:lpstr>
      <vt:lpstr>PowerPoint Presentation</vt:lpstr>
      <vt:lpstr>Text-to-Text Transfer Transformer T5</vt:lpstr>
      <vt:lpstr>T5</vt:lpstr>
      <vt:lpstr>T5</vt:lpstr>
      <vt:lpstr>T5</vt:lpstr>
      <vt:lpstr>T5</vt:lpstr>
      <vt:lpstr>T5</vt:lpstr>
      <vt:lpstr>PowerPoint Presentation</vt:lpstr>
      <vt:lpstr>C4: The Data</vt:lpstr>
      <vt:lpstr>C4: The Data</vt:lpstr>
      <vt:lpstr>PowerPoint Presentation</vt:lpstr>
      <vt:lpstr>Common Crawl Web Extracted Text</vt:lpstr>
      <vt:lpstr>Common Crawl Web Extracted Text</vt:lpstr>
      <vt:lpstr>PowerPoint Presentation</vt:lpstr>
      <vt:lpstr>Vocabulary</vt:lpstr>
      <vt:lpstr>Baseline objective</vt:lpstr>
      <vt:lpstr>PowerPoint Presentation</vt:lpstr>
      <vt:lpstr>PowerPoint Presentation</vt:lpstr>
      <vt:lpstr>PowerPoint Presentation</vt:lpstr>
      <vt:lpstr>Pretrain</vt:lpstr>
      <vt:lpstr>Finetune</vt:lpstr>
      <vt:lpstr>Finetune</vt:lpstr>
      <vt:lpstr>Downstream task performance</vt:lpstr>
      <vt:lpstr>Baseline performance</vt:lpstr>
      <vt:lpstr>PowerPoint Presentation</vt:lpstr>
      <vt:lpstr>Axis of Decisions for Pre-training and Fine-tuning</vt:lpstr>
      <vt:lpstr>Architecture</vt:lpstr>
      <vt:lpstr>Transformer architecture variants</vt:lpstr>
      <vt:lpstr>Transformer architecture variants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Objectives</vt:lpstr>
      <vt:lpstr>Different Unsupervised Objectives</vt:lpstr>
      <vt:lpstr>Performance</vt:lpstr>
      <vt:lpstr>Different BERT-style Unsupervised Objectives</vt:lpstr>
      <vt:lpstr>Comparison of variants of the BERT-style pre-training objective</vt:lpstr>
      <vt:lpstr>PowerPoint Presentation</vt:lpstr>
      <vt:lpstr>Performance</vt:lpstr>
      <vt:lpstr>PowerPoint Presentation</vt:lpstr>
      <vt:lpstr>Results</vt:lpstr>
      <vt:lpstr>Pre-training dataset</vt:lpstr>
      <vt:lpstr>PowerPoint Presentation</vt:lpstr>
      <vt:lpstr>PowerPoint Presentation</vt:lpstr>
      <vt:lpstr>Scaling</vt:lpstr>
      <vt:lpstr>Multi-task training</vt:lpstr>
      <vt:lpstr>PowerPoint Presentation</vt:lpstr>
      <vt:lpstr>Encoder-decoder architecture</vt:lpstr>
      <vt:lpstr>Model size variants</vt:lpstr>
      <vt:lpstr>PowerPoint Presentation</vt:lpstr>
      <vt:lpstr>Summary</vt:lpstr>
      <vt:lpstr>PowerPoint Presentation</vt:lpstr>
      <vt:lpstr>Other model variants</vt:lpstr>
      <vt:lpstr>Contextual Embeddings</vt:lpstr>
      <vt:lpstr>History of Contextual Representations </vt:lpstr>
      <vt:lpstr>History of Contextual Representations </vt:lpstr>
      <vt:lpstr>Deep language model</vt:lpstr>
      <vt:lpstr>Use all layers of language model </vt:lpstr>
      <vt:lpstr>Learned task-specific combination of layer</vt:lpstr>
      <vt:lpstr>ELMo improves NLP tasks</vt:lpstr>
      <vt:lpstr>PowerPoint Presentation</vt:lpstr>
      <vt:lpstr>Problem with Previous Methods</vt:lpstr>
      <vt:lpstr>Unidirectional vs. Bidirectional Models </vt:lpstr>
      <vt:lpstr>Masked LM </vt:lpstr>
      <vt:lpstr>Masked LM </vt:lpstr>
      <vt:lpstr>Next Sentence Prediction </vt:lpstr>
      <vt:lpstr>PowerPoint Presentation</vt:lpstr>
      <vt:lpstr>Model Architecture </vt:lpstr>
      <vt:lpstr>Model Details </vt:lpstr>
      <vt:lpstr>Fine-Tuning Procedure</vt:lpstr>
      <vt:lpstr>Fine-Tuning Procedure</vt:lpstr>
      <vt:lpstr>GLUE Results</vt:lpstr>
      <vt:lpstr>Effect of Pre-training Task</vt:lpstr>
      <vt:lpstr>Effect of Directionality and Training Time</vt:lpstr>
      <vt:lpstr>Effect of Model Size</vt:lpstr>
      <vt:lpstr>Post-BERT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153</cp:revision>
  <dcterms:created xsi:type="dcterms:W3CDTF">2021-09-22T08:38:12Z</dcterms:created>
  <dcterms:modified xsi:type="dcterms:W3CDTF">2024-03-09T06:06:20Z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