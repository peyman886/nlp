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3"/>
  </p:notesMasterIdLst>
  <p:handoutMasterIdLst>
    <p:handoutMasterId r:id="rId54"/>
  </p:handoutMasterIdLst>
  <p:sldIdLst>
    <p:sldId id="367" r:id="rId2"/>
    <p:sldId id="368" r:id="rId3"/>
    <p:sldId id="376" r:id="rId4"/>
    <p:sldId id="377" r:id="rId5"/>
    <p:sldId id="378" r:id="rId6"/>
    <p:sldId id="374" r:id="rId7"/>
    <p:sldId id="258" r:id="rId8"/>
    <p:sldId id="259" r:id="rId9"/>
    <p:sldId id="261" r:id="rId10"/>
    <p:sldId id="369" r:id="rId11"/>
    <p:sldId id="370" r:id="rId12"/>
    <p:sldId id="264" r:id="rId13"/>
    <p:sldId id="265" r:id="rId14"/>
    <p:sldId id="266" r:id="rId15"/>
    <p:sldId id="263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80" r:id="rId24"/>
    <p:sldId id="371" r:id="rId25"/>
    <p:sldId id="283" r:id="rId26"/>
    <p:sldId id="285" r:id="rId27"/>
    <p:sldId id="286" r:id="rId28"/>
    <p:sldId id="287" r:id="rId29"/>
    <p:sldId id="289" r:id="rId30"/>
    <p:sldId id="291" r:id="rId31"/>
    <p:sldId id="292" r:id="rId32"/>
    <p:sldId id="294" r:id="rId33"/>
    <p:sldId id="295" r:id="rId34"/>
    <p:sldId id="299" r:id="rId35"/>
    <p:sldId id="300" r:id="rId36"/>
    <p:sldId id="302" r:id="rId37"/>
    <p:sldId id="372" r:id="rId38"/>
    <p:sldId id="305" r:id="rId39"/>
    <p:sldId id="306" r:id="rId40"/>
    <p:sldId id="307" r:id="rId41"/>
    <p:sldId id="311" r:id="rId42"/>
    <p:sldId id="315" r:id="rId43"/>
    <p:sldId id="316" r:id="rId44"/>
    <p:sldId id="318" r:id="rId45"/>
    <p:sldId id="319" r:id="rId46"/>
    <p:sldId id="324" r:id="rId47"/>
    <p:sldId id="335" r:id="rId48"/>
    <p:sldId id="336" r:id="rId49"/>
    <p:sldId id="281" r:id="rId50"/>
    <p:sldId id="304" r:id="rId51"/>
    <p:sldId id="373" r:id="rId5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22" autoAdjust="0"/>
    <p:restoredTop sz="85146" autoAdjust="0"/>
  </p:normalViewPr>
  <p:slideViewPr>
    <p:cSldViewPr snapToGrid="0">
      <p:cViewPr varScale="1">
        <p:scale>
          <a:sx n="84" d="100"/>
          <a:sy n="84" d="100"/>
        </p:scale>
        <p:origin x="6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customXml" Target="../customXml/item3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ustomXml" Target="../customXml/item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129A6E-BADE-48A7-BEA0-052A0B1331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EC1B00-3C9E-4969-8470-DA6ECF6112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C057B9-7F8E-4A76-BB65-B0CDE389237C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50D77A-E581-480B-89FE-0DAC6EE8E1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4C490E-B55E-4814-BF43-BEF793D435D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02DEA-9E9C-4685-ADE8-1D7EAB487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088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64490D-F570-4B09-B1F1-76C91DD2C33E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B59005-A619-4B65-B892-C09CB53A2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93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nductive_reasoning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While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3" tooltip="Inductive reasoning"/>
              </a:rPr>
              <a:t>inductive reasoning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draws general conclusions that apply to many situations, abductive conclusions are confined to the particular observations in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9005-A619-4B65-B892-C09CB53A202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286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9005-A619-4B65-B892-C09CB53A202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746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8B55E72-2775-45AE-8CCB-EB9B0EA39B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 userDrawn="1"/>
        </p:nvSpPr>
        <p:spPr>
          <a:xfrm>
            <a:off x="711200" y="2667000"/>
            <a:ext cx="10769600" cy="1828800"/>
          </a:xfrm>
          <a:prstGeom prst="round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rtl="0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200" y="2667000"/>
            <a:ext cx="10769600" cy="1828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/>
          <p:nvPr/>
        </p:nvSpPr>
        <p:spPr>
          <a:xfrm>
            <a:off x="7895336" y="5076735"/>
            <a:ext cx="34933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0" dirty="0">
                <a:latin typeface="+mj-lt"/>
              </a:rPr>
              <a:t>Yadollah Yaghoobzadeh</a:t>
            </a:r>
          </a:p>
        </p:txBody>
      </p:sp>
      <p:pic>
        <p:nvPicPr>
          <p:cNvPr id="10" name="Picture 2" descr="Image result for دانشگاه تهران">
            <a:extLst>
              <a:ext uri="{FF2B5EF4-FFF2-40B4-BE49-F238E27FC236}">
                <a16:creationId xmlns:a16="http://schemas.microsoft.com/office/drawing/2014/main" id="{9E7CB819-1140-D440-A5AE-83AC42085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" y="914400"/>
            <a:ext cx="1188720" cy="118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Image result for دانشکده فنی لوگو">
            <a:extLst>
              <a:ext uri="{FF2B5EF4-FFF2-40B4-BE49-F238E27FC236}">
                <a16:creationId xmlns:a16="http://schemas.microsoft.com/office/drawing/2014/main" id="{820363BF-D45A-BC4C-8A96-854FBD06A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0" y="914400"/>
            <a:ext cx="1587962" cy="118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7454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>
            <a:lvl1pPr marL="182880" algn="l">
              <a:defRPr sz="40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246A69-1A96-2A98-509C-62C07C91A106}"/>
              </a:ext>
            </a:extLst>
          </p:cNvPr>
          <p:cNvSpPr txBox="1"/>
          <p:nvPr/>
        </p:nvSpPr>
        <p:spPr>
          <a:xfrm>
            <a:off x="228600" y="6488668"/>
            <a:ext cx="181610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— Spring 1403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E6AB8B-6628-4778-8FCB-1FBFFE37E74E}"/>
              </a:ext>
            </a:extLst>
          </p:cNvPr>
          <p:cNvCxnSpPr>
            <a:cxnSpLocks/>
          </p:cNvCxnSpPr>
          <p:nvPr userDrawn="1"/>
        </p:nvCxnSpPr>
        <p:spPr>
          <a:xfrm>
            <a:off x="266699" y="990600"/>
            <a:ext cx="98360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618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>
            <a:lvl1pPr marL="182880" algn="l">
              <a:defRPr sz="40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246A69-1A96-2A98-509C-62C07C91A106}"/>
              </a:ext>
            </a:extLst>
          </p:cNvPr>
          <p:cNvSpPr txBox="1"/>
          <p:nvPr/>
        </p:nvSpPr>
        <p:spPr>
          <a:xfrm>
            <a:off x="228600" y="6488668"/>
            <a:ext cx="181610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— Spring 1403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E6AB8B-6628-4778-8FCB-1FBFFE37E74E}"/>
              </a:ext>
            </a:extLst>
          </p:cNvPr>
          <p:cNvCxnSpPr>
            <a:cxnSpLocks/>
          </p:cNvCxnSpPr>
          <p:nvPr userDrawn="1"/>
        </p:nvCxnSpPr>
        <p:spPr>
          <a:xfrm>
            <a:off x="266699" y="990600"/>
            <a:ext cx="98360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5002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5240" y="3064057"/>
            <a:ext cx="8341520" cy="969781"/>
          </a:xfrm>
        </p:spPr>
        <p:txBody>
          <a:bodyPr/>
          <a:lstStyle>
            <a:lvl1pPr marL="182880" algn="l">
              <a:defRPr sz="4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246A69-1A96-2A98-509C-62C07C91A106}"/>
              </a:ext>
            </a:extLst>
          </p:cNvPr>
          <p:cNvSpPr txBox="1"/>
          <p:nvPr/>
        </p:nvSpPr>
        <p:spPr>
          <a:xfrm>
            <a:off x="228600" y="6488668"/>
            <a:ext cx="181610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— Spring 1403</a:t>
            </a:r>
          </a:p>
        </p:txBody>
      </p:sp>
    </p:spTree>
    <p:extLst>
      <p:ext uri="{BB962C8B-B14F-4D97-AF65-F5344CB8AC3E}">
        <p14:creationId xmlns:p14="http://schemas.microsoft.com/office/powerpoint/2010/main" val="1827210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1A9015F-2C1C-0901-4D5C-553042AB3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7868"/>
            <a:ext cx="11620501" cy="631293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9CCC80-3337-49C5-9FD9-324BBCAE8FEA}"/>
              </a:ext>
            </a:extLst>
          </p:cNvPr>
          <p:cNvSpPr txBox="1"/>
          <p:nvPr userDrawn="1"/>
        </p:nvSpPr>
        <p:spPr>
          <a:xfrm>
            <a:off x="228600" y="6488668"/>
            <a:ext cx="181610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— Spring 1403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DA4841B-B80A-F6C9-93FC-0F8ABAAA8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945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1" y="152400"/>
            <a:ext cx="5600698" cy="617220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EFB003-44D6-451B-86D6-5FF16B9CEB5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31618"/>
            <a:ext cx="5600699" cy="617220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3E4485-A598-4052-9941-9E9BC9E10119}"/>
              </a:ext>
            </a:extLst>
          </p:cNvPr>
          <p:cNvSpPr txBox="1"/>
          <p:nvPr userDrawn="1"/>
        </p:nvSpPr>
        <p:spPr>
          <a:xfrm>
            <a:off x="228600" y="6488668"/>
            <a:ext cx="181610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— Spring 1403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F7D44E6-A90F-113B-3256-810C6209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0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33" b="0" i="0">
                <a:solidFill>
                  <a:schemeClr val="tx1"/>
                </a:solidFill>
                <a:latin typeface="Roboto Lt"/>
                <a:cs typeface="Roboto L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67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3250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33" b="0" i="0">
                <a:solidFill>
                  <a:schemeClr val="tx1"/>
                </a:solidFill>
                <a:latin typeface="Roboto Lt"/>
                <a:cs typeface="Roboto L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8732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33" b="0" i="0">
                <a:solidFill>
                  <a:schemeClr val="tx1"/>
                </a:solidFill>
                <a:latin typeface="Roboto Lt"/>
                <a:cs typeface="Roboto L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9298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2968" y="625144"/>
            <a:ext cx="11166065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33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pPr marL="50799">
              <a:spcBef>
                <a:spcPts val="7"/>
              </a:spcBef>
            </a:pPr>
            <a:fld id="{81D60167-4931-47E6-BA6A-407CBD079E47}" type="slidenum">
              <a:rPr lang="en-US" smtClean="0"/>
              <a:pPr marL="50799">
                <a:spcBef>
                  <a:spcPts val="7"/>
                </a:spcBef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301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30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8" r:id="rId3"/>
    <p:sldLayoutId id="2147483679" r:id="rId4"/>
    <p:sldLayoutId id="2147483664" r:id="rId5"/>
    <p:sldLayoutId id="2147483665" r:id="rId6"/>
    <p:sldLayoutId id="2147483673" r:id="rId7"/>
    <p:sldLayoutId id="2147483675" r:id="rId8"/>
    <p:sldLayoutId id="2147483676" r:id="rId9"/>
    <p:sldLayoutId id="2147483677" r:id="rId10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jp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4.jp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0D085-445B-4930-BF23-86F3FF17C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3100388"/>
            <a:ext cx="10678850" cy="821531"/>
          </a:xfrm>
        </p:spPr>
        <p:txBody>
          <a:bodyPr/>
          <a:lstStyle/>
          <a:p>
            <a:r>
              <a:rPr lang="en-US" sz="4400" dirty="0">
                <a:latin typeface="Calibri"/>
                <a:cs typeface="Calibri"/>
              </a:rPr>
              <a:t>Reasoning in LLMs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F2B7C8-73FC-E5E3-5282-E158EB33A64A}"/>
              </a:ext>
            </a:extLst>
          </p:cNvPr>
          <p:cNvSpPr txBox="1"/>
          <p:nvPr/>
        </p:nvSpPr>
        <p:spPr>
          <a:xfrm>
            <a:off x="171045" y="6328860"/>
            <a:ext cx="609721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Slides adapted are adapted from various sources including from Elvis Saravia</a:t>
            </a:r>
          </a:p>
        </p:txBody>
      </p:sp>
    </p:spTree>
    <p:extLst>
      <p:ext uri="{BB962C8B-B14F-4D97-AF65-F5344CB8AC3E}">
        <p14:creationId xmlns:p14="http://schemas.microsoft.com/office/powerpoint/2010/main" val="1616806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6238AE-C2F2-6B3B-9573-E26592AA6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0" i="0" u="none" strike="noStrike" baseline="0" dirty="0">
                <a:latin typeface="URWPalladioL-Ital"/>
              </a:rPr>
              <a:t>The process of drawing </a:t>
            </a:r>
            <a:r>
              <a:rPr lang="en-US" sz="2800" b="0" i="0" u="none" strike="noStrike" baseline="0" dirty="0">
                <a:solidFill>
                  <a:srgbClr val="00B050"/>
                </a:solidFill>
                <a:latin typeface="URWPalladioL-Ital"/>
              </a:rPr>
              <a:t>conclusions</a:t>
            </a:r>
            <a:r>
              <a:rPr lang="en-US" sz="2800" b="0" i="0" u="none" strike="noStrike" baseline="0" dirty="0">
                <a:latin typeface="URWPalladioL-Ital"/>
              </a:rPr>
              <a:t> based on </a:t>
            </a:r>
            <a:r>
              <a:rPr lang="en-US" sz="2800" b="0" i="0" u="none" strike="noStrike" baseline="0" dirty="0">
                <a:solidFill>
                  <a:srgbClr val="00B050"/>
                </a:solidFill>
                <a:latin typeface="URWPalladioL-Ital"/>
              </a:rPr>
              <a:t>available information</a:t>
            </a:r>
            <a:r>
              <a:rPr lang="en-US" sz="2800" b="0" i="0" u="none" strike="noStrike" baseline="0" dirty="0">
                <a:latin typeface="URWPalladioL-Ital"/>
              </a:rPr>
              <a:t>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AEEC8D-075C-D097-9EBA-AD55E633D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Reasoning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82007-BEA5-4125-EE25-870702A21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360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B5D6BC-A474-A07A-E957-9B15025AD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Deductive</a:t>
            </a:r>
          </a:p>
          <a:p>
            <a:pPr lvl="1"/>
            <a:r>
              <a:rPr lang="en-US" dirty="0"/>
              <a:t>is a type of reasoning in which a conclusion is drawn based on the truth of the premises. </a:t>
            </a:r>
          </a:p>
          <a:p>
            <a:pPr lvl="1"/>
            <a:r>
              <a:rPr lang="en-US" dirty="0"/>
              <a:t>the conclusion must necessarily follow from the premises, meaning that if the premises are true, the conclusion must also be true. 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For example: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•Premise: All mammals have kidneys.</a:t>
            </a:r>
          </a:p>
          <a:p>
            <a:pPr marL="0" indent="0">
              <a:buNone/>
            </a:pPr>
            <a:r>
              <a:rPr lang="en-US" dirty="0"/>
              <a:t>• Premise: All whales are mammals.</a:t>
            </a:r>
          </a:p>
          <a:p>
            <a:pPr marL="0" indent="0">
              <a:buNone/>
            </a:pPr>
            <a:r>
              <a:rPr lang="en-US" dirty="0"/>
              <a:t>• Conclusion: All whales have kidneys.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0FD3D3-51F2-295B-55F5-74144E4D9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/>
          <a:p>
            <a:r>
              <a:rPr lang="en-US" dirty="0"/>
              <a:t>Types of Reasoning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30F3E-8F90-2AA6-0FFB-DCA6F8713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C5D2EE-0D96-077D-420E-8E6AC4B98E8B}"/>
              </a:ext>
            </a:extLst>
          </p:cNvPr>
          <p:cNvSpPr txBox="1"/>
          <p:nvPr/>
        </p:nvSpPr>
        <p:spPr>
          <a:xfrm>
            <a:off x="4301137" y="6544632"/>
            <a:ext cx="6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https://arxiv.org/abs/2212.10403</a:t>
            </a:r>
          </a:p>
        </p:txBody>
      </p:sp>
    </p:spTree>
    <p:extLst>
      <p:ext uri="{BB962C8B-B14F-4D97-AF65-F5344CB8AC3E}">
        <p14:creationId xmlns:p14="http://schemas.microsoft.com/office/powerpoint/2010/main" val="3334607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BDE85F-BFFB-A5B2-0D36-8F4AF47BA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Inductive reasoning</a:t>
            </a:r>
          </a:p>
          <a:p>
            <a:pPr lvl="1"/>
            <a:r>
              <a:rPr lang="en-US" dirty="0"/>
              <a:t>is a type of reasoning in which a conclusion is drawn based on observations or evidence. </a:t>
            </a:r>
          </a:p>
          <a:p>
            <a:pPr lvl="1"/>
            <a:r>
              <a:rPr lang="en-US" dirty="0"/>
              <a:t>the conclusion is likely to be true based on the available evidence, but it is not necessarily certain.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For example:</a:t>
            </a:r>
          </a:p>
          <a:p>
            <a:pPr marL="0" indent="0">
              <a:buNone/>
            </a:pPr>
            <a:r>
              <a:rPr lang="en-US" dirty="0"/>
              <a:t>• Observation: Every time we see a creature with wings, it is a bird.</a:t>
            </a:r>
          </a:p>
          <a:p>
            <a:pPr marL="0" indent="0">
              <a:buNone/>
            </a:pPr>
            <a:r>
              <a:rPr lang="en-US" dirty="0"/>
              <a:t>• Observation: We see a creature with wings.</a:t>
            </a:r>
          </a:p>
          <a:p>
            <a:pPr marL="0" indent="0">
              <a:buNone/>
            </a:pPr>
            <a:r>
              <a:rPr lang="en-US" dirty="0"/>
              <a:t>• Conclusion: The creature is likely to be a bird.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41DF068-8946-B836-4DEB-FA1EC874F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/>
          <a:p>
            <a:r>
              <a:rPr lang="en-US" dirty="0"/>
              <a:t>Types of Reasoning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589FB-34BE-10EE-6DFC-9AED53C86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100B7D-811A-FB4A-4C97-67E80A43D495}"/>
              </a:ext>
            </a:extLst>
          </p:cNvPr>
          <p:cNvSpPr txBox="1"/>
          <p:nvPr/>
        </p:nvSpPr>
        <p:spPr>
          <a:xfrm>
            <a:off x="4301137" y="6544632"/>
            <a:ext cx="6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https://arxiv.org/abs/2212.10403</a:t>
            </a:r>
          </a:p>
        </p:txBody>
      </p:sp>
    </p:spTree>
    <p:extLst>
      <p:ext uri="{BB962C8B-B14F-4D97-AF65-F5344CB8AC3E}">
        <p14:creationId xmlns:p14="http://schemas.microsoft.com/office/powerpoint/2010/main" val="4113575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8CCE31-3E10-24FE-6CFE-0F22280F3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Abductive reasoning. </a:t>
            </a:r>
          </a:p>
          <a:p>
            <a:pPr lvl="1"/>
            <a:r>
              <a:rPr lang="en-US" dirty="0"/>
              <a:t>is a type of reasoning in which a conclusion is drawn based on the best explanation for a given set of observations. </a:t>
            </a:r>
          </a:p>
          <a:p>
            <a:pPr lvl="1"/>
            <a:r>
              <a:rPr lang="en-US" dirty="0"/>
              <a:t>the conclusion is the most likely explanation based on the available evidence, but it is not necessarily certain.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For example:</a:t>
            </a:r>
          </a:p>
          <a:p>
            <a:pPr marL="0" indent="0">
              <a:buNone/>
            </a:pPr>
            <a:r>
              <a:rPr lang="en-US" dirty="0"/>
              <a:t>• Observation: The car cannot start and there is a puddle of liquid under the engine.</a:t>
            </a:r>
          </a:p>
          <a:p>
            <a:pPr marL="0" indent="0">
              <a:buNone/>
            </a:pPr>
            <a:r>
              <a:rPr lang="en-US" dirty="0"/>
              <a:t>• Conclusion: The most likely explanation is that the car has a leak in the radiator.</a:t>
            </a:r>
          </a:p>
          <a:p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D044E66-88E8-AEB6-D619-8A3051F4F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/>
          <a:p>
            <a:r>
              <a:rPr lang="en-US" dirty="0"/>
              <a:t>Types of Reasoning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7C0CB-62BD-5182-5EC6-F5F54902D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AA5901-3048-A8C4-2CA1-389920457476}"/>
              </a:ext>
            </a:extLst>
          </p:cNvPr>
          <p:cNvSpPr txBox="1"/>
          <p:nvPr/>
        </p:nvSpPr>
        <p:spPr>
          <a:xfrm>
            <a:off x="4301137" y="6544632"/>
            <a:ext cx="6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https://arxiv.org/abs/2212.10403</a:t>
            </a:r>
          </a:p>
        </p:txBody>
      </p:sp>
    </p:spTree>
    <p:extLst>
      <p:ext uri="{BB962C8B-B14F-4D97-AF65-F5344CB8AC3E}">
        <p14:creationId xmlns:p14="http://schemas.microsoft.com/office/powerpoint/2010/main" val="3975809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B5D6BC-A474-A07A-E957-9B15025AD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Abductive</a:t>
            </a: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: Seeing a wet road and deducing it probably rained recently.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Inductive</a:t>
            </a: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: Observing that the road gets wet every time it rains, and concluding that rain causes the road to be wet.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highlight>
                  <a:srgbClr val="FFFFFF"/>
                </a:highlight>
                <a:latin typeface="-apple-system"/>
              </a:rPr>
              <a:t>Deductive</a:t>
            </a:r>
            <a:r>
              <a:rPr lang="en-US" dirty="0">
                <a:solidFill>
                  <a:srgbClr val="111111"/>
                </a:solidFill>
                <a:highlight>
                  <a:srgbClr val="FFFFFF"/>
                </a:highlight>
                <a:latin typeface="-apple-system"/>
              </a:rPr>
              <a:t>: ? </a:t>
            </a:r>
            <a:endParaRPr lang="en-US" b="0" i="0" dirty="0">
              <a:solidFill>
                <a:srgbClr val="111111"/>
              </a:solidFill>
              <a:effectLst/>
              <a:highlight>
                <a:srgbClr val="FFFFFF"/>
              </a:highlight>
              <a:latin typeface="-apple-system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0FD3D3-51F2-295B-55F5-74144E4D9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Reasoning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30F3E-8F90-2AA6-0FFB-DCA6F8713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723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13" dirty="0"/>
              <a:t>Reasoning</a:t>
            </a:r>
            <a:r>
              <a:rPr sz="4000" spc="-113" dirty="0"/>
              <a:t> </a:t>
            </a:r>
            <a:r>
              <a:rPr sz="4000" spc="-7" dirty="0"/>
              <a:t>Problems</a:t>
            </a:r>
            <a:endParaRPr sz="400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7</a:t>
            </a:fld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196450" y="1664649"/>
            <a:ext cx="3792220" cy="2291080"/>
            <a:chOff x="147337" y="1248487"/>
            <a:chExt cx="2844165" cy="1718310"/>
          </a:xfrm>
        </p:grpSpPr>
        <p:sp>
          <p:nvSpPr>
            <p:cNvPr id="4" name="object 4"/>
            <p:cNvSpPr/>
            <p:nvPr/>
          </p:nvSpPr>
          <p:spPr>
            <a:xfrm>
              <a:off x="152099" y="1253249"/>
              <a:ext cx="2834640" cy="1708785"/>
            </a:xfrm>
            <a:custGeom>
              <a:avLst/>
              <a:gdLst/>
              <a:ahLst/>
              <a:cxnLst/>
              <a:rect l="l" t="t" r="r" b="b"/>
              <a:pathLst>
                <a:path w="2834640" h="1708785">
                  <a:moveTo>
                    <a:pt x="2549644" y="1708499"/>
                  </a:moveTo>
                  <a:lnTo>
                    <a:pt x="284755" y="1708499"/>
                  </a:lnTo>
                  <a:lnTo>
                    <a:pt x="238566" y="1704773"/>
                  </a:lnTo>
                  <a:lnTo>
                    <a:pt x="194750" y="1693982"/>
                  </a:lnTo>
                  <a:lnTo>
                    <a:pt x="153894" y="1676716"/>
                  </a:lnTo>
                  <a:lnTo>
                    <a:pt x="116582" y="1653558"/>
                  </a:lnTo>
                  <a:lnTo>
                    <a:pt x="83403" y="1625096"/>
                  </a:lnTo>
                  <a:lnTo>
                    <a:pt x="54941" y="1591917"/>
                  </a:lnTo>
                  <a:lnTo>
                    <a:pt x="31783" y="1554605"/>
                  </a:lnTo>
                  <a:lnTo>
                    <a:pt x="14517" y="1513749"/>
                  </a:lnTo>
                  <a:lnTo>
                    <a:pt x="3726" y="1469933"/>
                  </a:lnTo>
                  <a:lnTo>
                    <a:pt x="0" y="1423744"/>
                  </a:lnTo>
                  <a:lnTo>
                    <a:pt x="0" y="284755"/>
                  </a:lnTo>
                  <a:lnTo>
                    <a:pt x="3726" y="238566"/>
                  </a:lnTo>
                  <a:lnTo>
                    <a:pt x="14517" y="194750"/>
                  </a:lnTo>
                  <a:lnTo>
                    <a:pt x="31783" y="153894"/>
                  </a:lnTo>
                  <a:lnTo>
                    <a:pt x="54941" y="116582"/>
                  </a:lnTo>
                  <a:lnTo>
                    <a:pt x="83403" y="83403"/>
                  </a:lnTo>
                  <a:lnTo>
                    <a:pt x="116582" y="54941"/>
                  </a:lnTo>
                  <a:lnTo>
                    <a:pt x="153894" y="31783"/>
                  </a:lnTo>
                  <a:lnTo>
                    <a:pt x="194750" y="14517"/>
                  </a:lnTo>
                  <a:lnTo>
                    <a:pt x="238566" y="3726"/>
                  </a:lnTo>
                  <a:lnTo>
                    <a:pt x="284755" y="0"/>
                  </a:lnTo>
                  <a:lnTo>
                    <a:pt x="2549644" y="0"/>
                  </a:lnTo>
                  <a:lnTo>
                    <a:pt x="2594458" y="3547"/>
                  </a:lnTo>
                  <a:lnTo>
                    <a:pt x="2637766" y="13978"/>
                  </a:lnTo>
                  <a:lnTo>
                    <a:pt x="2678801" y="30975"/>
                  </a:lnTo>
                  <a:lnTo>
                    <a:pt x="2716800" y="54222"/>
                  </a:lnTo>
                  <a:lnTo>
                    <a:pt x="2750996" y="83402"/>
                  </a:lnTo>
                  <a:lnTo>
                    <a:pt x="2780177" y="117599"/>
                  </a:lnTo>
                  <a:lnTo>
                    <a:pt x="2803424" y="155598"/>
                  </a:lnTo>
                  <a:lnTo>
                    <a:pt x="2820421" y="196633"/>
                  </a:lnTo>
                  <a:lnTo>
                    <a:pt x="2830852" y="239941"/>
                  </a:lnTo>
                  <a:lnTo>
                    <a:pt x="2834399" y="284755"/>
                  </a:lnTo>
                  <a:lnTo>
                    <a:pt x="2834399" y="1423744"/>
                  </a:lnTo>
                  <a:lnTo>
                    <a:pt x="2830673" y="1469933"/>
                  </a:lnTo>
                  <a:lnTo>
                    <a:pt x="2819882" y="1513749"/>
                  </a:lnTo>
                  <a:lnTo>
                    <a:pt x="2802616" y="1554605"/>
                  </a:lnTo>
                  <a:lnTo>
                    <a:pt x="2779458" y="1591917"/>
                  </a:lnTo>
                  <a:lnTo>
                    <a:pt x="2750996" y="1625096"/>
                  </a:lnTo>
                  <a:lnTo>
                    <a:pt x="2717817" y="1653558"/>
                  </a:lnTo>
                  <a:lnTo>
                    <a:pt x="2680505" y="1676716"/>
                  </a:lnTo>
                  <a:lnTo>
                    <a:pt x="2639649" y="1693982"/>
                  </a:lnTo>
                  <a:lnTo>
                    <a:pt x="2595833" y="1704773"/>
                  </a:lnTo>
                  <a:lnTo>
                    <a:pt x="2549644" y="1708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2099" y="1253249"/>
              <a:ext cx="2834640" cy="1708785"/>
            </a:xfrm>
            <a:custGeom>
              <a:avLst/>
              <a:gdLst/>
              <a:ahLst/>
              <a:cxnLst/>
              <a:rect l="l" t="t" r="r" b="b"/>
              <a:pathLst>
                <a:path w="2834640" h="1708785">
                  <a:moveTo>
                    <a:pt x="0" y="284755"/>
                  </a:moveTo>
                  <a:lnTo>
                    <a:pt x="3726" y="238566"/>
                  </a:lnTo>
                  <a:lnTo>
                    <a:pt x="14517" y="194750"/>
                  </a:lnTo>
                  <a:lnTo>
                    <a:pt x="31783" y="153894"/>
                  </a:lnTo>
                  <a:lnTo>
                    <a:pt x="54941" y="116582"/>
                  </a:lnTo>
                  <a:lnTo>
                    <a:pt x="83403" y="83403"/>
                  </a:lnTo>
                  <a:lnTo>
                    <a:pt x="116582" y="54941"/>
                  </a:lnTo>
                  <a:lnTo>
                    <a:pt x="153894" y="31783"/>
                  </a:lnTo>
                  <a:lnTo>
                    <a:pt x="194750" y="14517"/>
                  </a:lnTo>
                  <a:lnTo>
                    <a:pt x="238566" y="3726"/>
                  </a:lnTo>
                  <a:lnTo>
                    <a:pt x="284755" y="0"/>
                  </a:lnTo>
                  <a:lnTo>
                    <a:pt x="2549644" y="0"/>
                  </a:lnTo>
                  <a:lnTo>
                    <a:pt x="2594458" y="3547"/>
                  </a:lnTo>
                  <a:lnTo>
                    <a:pt x="2637766" y="13978"/>
                  </a:lnTo>
                  <a:lnTo>
                    <a:pt x="2678801" y="30975"/>
                  </a:lnTo>
                  <a:lnTo>
                    <a:pt x="2716800" y="54222"/>
                  </a:lnTo>
                  <a:lnTo>
                    <a:pt x="2750996" y="83402"/>
                  </a:lnTo>
                  <a:lnTo>
                    <a:pt x="2780177" y="117599"/>
                  </a:lnTo>
                  <a:lnTo>
                    <a:pt x="2803424" y="155598"/>
                  </a:lnTo>
                  <a:lnTo>
                    <a:pt x="2820421" y="196633"/>
                  </a:lnTo>
                  <a:lnTo>
                    <a:pt x="2830852" y="239941"/>
                  </a:lnTo>
                  <a:lnTo>
                    <a:pt x="2834399" y="284755"/>
                  </a:lnTo>
                  <a:lnTo>
                    <a:pt x="2834399" y="1423744"/>
                  </a:lnTo>
                  <a:lnTo>
                    <a:pt x="2830673" y="1469933"/>
                  </a:lnTo>
                  <a:lnTo>
                    <a:pt x="2819882" y="1513749"/>
                  </a:lnTo>
                  <a:lnTo>
                    <a:pt x="2802616" y="1554605"/>
                  </a:lnTo>
                  <a:lnTo>
                    <a:pt x="2779458" y="1591917"/>
                  </a:lnTo>
                  <a:lnTo>
                    <a:pt x="2750996" y="1625096"/>
                  </a:lnTo>
                  <a:lnTo>
                    <a:pt x="2717817" y="1653558"/>
                  </a:lnTo>
                  <a:lnTo>
                    <a:pt x="2680505" y="1676716"/>
                  </a:lnTo>
                  <a:lnTo>
                    <a:pt x="2639649" y="1693982"/>
                  </a:lnTo>
                  <a:lnTo>
                    <a:pt x="2595833" y="1704773"/>
                  </a:lnTo>
                  <a:lnTo>
                    <a:pt x="2549644" y="1708499"/>
                  </a:lnTo>
                  <a:lnTo>
                    <a:pt x="284755" y="1708499"/>
                  </a:lnTo>
                  <a:lnTo>
                    <a:pt x="238566" y="1704773"/>
                  </a:lnTo>
                  <a:lnTo>
                    <a:pt x="194750" y="1693982"/>
                  </a:lnTo>
                  <a:lnTo>
                    <a:pt x="153894" y="1676716"/>
                  </a:lnTo>
                  <a:lnTo>
                    <a:pt x="116582" y="1653558"/>
                  </a:lnTo>
                  <a:lnTo>
                    <a:pt x="83403" y="1625096"/>
                  </a:lnTo>
                  <a:lnTo>
                    <a:pt x="54941" y="1591917"/>
                  </a:lnTo>
                  <a:lnTo>
                    <a:pt x="31783" y="1554605"/>
                  </a:lnTo>
                  <a:lnTo>
                    <a:pt x="14517" y="1513749"/>
                  </a:lnTo>
                  <a:lnTo>
                    <a:pt x="3726" y="1469933"/>
                  </a:lnTo>
                  <a:lnTo>
                    <a:pt x="0" y="1423744"/>
                  </a:lnTo>
                  <a:lnTo>
                    <a:pt x="0" y="284755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11370" y="1870087"/>
            <a:ext cx="3009900" cy="1159292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>
              <a:lnSpc>
                <a:spcPts val="2200"/>
              </a:lnSpc>
              <a:spcBef>
                <a:spcPts val="240"/>
              </a:spcBef>
            </a:pPr>
            <a:r>
              <a:rPr sz="1867" spc="-7" dirty="0">
                <a:latin typeface="Arial MT"/>
                <a:cs typeface="Arial MT"/>
              </a:rPr>
              <a:t>Q: If there are </a:t>
            </a:r>
            <a:r>
              <a:rPr sz="1867" dirty="0">
                <a:latin typeface="Arial MT"/>
                <a:cs typeface="Arial MT"/>
              </a:rPr>
              <a:t>3 cars </a:t>
            </a:r>
            <a:r>
              <a:rPr sz="1867" spc="-7" dirty="0">
                <a:latin typeface="Arial MT"/>
                <a:cs typeface="Arial MT"/>
              </a:rPr>
              <a:t>in the </a:t>
            </a:r>
            <a:r>
              <a:rPr sz="186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parking lot and </a:t>
            </a:r>
            <a:r>
              <a:rPr sz="1867" dirty="0">
                <a:latin typeface="Arial MT"/>
                <a:cs typeface="Arial MT"/>
              </a:rPr>
              <a:t>2 more cars </a:t>
            </a:r>
            <a:r>
              <a:rPr sz="1867" spc="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arrive,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how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many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cars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are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in </a:t>
            </a:r>
            <a:r>
              <a:rPr sz="1867" spc="-50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the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parking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lot?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1370" y="3267087"/>
            <a:ext cx="199220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Arial MT"/>
                <a:cs typeface="Arial MT"/>
              </a:rPr>
              <a:t>A:</a:t>
            </a:r>
            <a:r>
              <a:rPr sz="1867" spc="-6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The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answer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is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b="1" dirty="0">
                <a:solidFill>
                  <a:srgbClr val="A61B00"/>
                </a:solidFill>
                <a:latin typeface="Arial"/>
                <a:cs typeface="Arial"/>
              </a:rPr>
              <a:t>5</a:t>
            </a:r>
            <a:endParaRPr sz="1867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1533" y="4505595"/>
            <a:ext cx="3106420" cy="61200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7" dirty="0">
                <a:latin typeface="Times New Roman"/>
                <a:cs typeface="Times New Roman"/>
              </a:rPr>
              <a:t>Arithmetic</a:t>
            </a:r>
            <a:r>
              <a:rPr sz="2133" spc="-47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Reasoning</a:t>
            </a:r>
            <a:r>
              <a:rPr sz="2133" spc="460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(AR)</a:t>
            </a:r>
            <a:endParaRPr sz="2133">
              <a:latin typeface="Times New Roman"/>
              <a:cs typeface="Times New Roman"/>
            </a:endParaRPr>
          </a:p>
          <a:p>
            <a:pPr marL="16933">
              <a:spcBef>
                <a:spcPts val="13"/>
              </a:spcBef>
            </a:pPr>
            <a:r>
              <a:rPr sz="1733" dirty="0">
                <a:latin typeface="Arial MT"/>
                <a:cs typeface="Arial MT"/>
              </a:rPr>
              <a:t>(+</a:t>
            </a:r>
            <a:r>
              <a:rPr sz="1733" spc="-7" dirty="0">
                <a:latin typeface="Arial MT"/>
                <a:cs typeface="Arial MT"/>
              </a:rPr>
              <a:t> </a:t>
            </a:r>
            <a:r>
              <a:rPr sz="1733" spc="-727" dirty="0">
                <a:latin typeface="Arial MT"/>
                <a:cs typeface="Arial MT"/>
              </a:rPr>
              <a:t>−</a:t>
            </a:r>
            <a:r>
              <a:rPr sz="1733" spc="-7" dirty="0">
                <a:latin typeface="Arial MT"/>
                <a:cs typeface="Arial MT"/>
              </a:rPr>
              <a:t> ×÷…)</a:t>
            </a:r>
            <a:endParaRPr sz="1733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118850" y="1664649"/>
            <a:ext cx="3976793" cy="2291080"/>
            <a:chOff x="6089137" y="1248487"/>
            <a:chExt cx="2982595" cy="1718310"/>
          </a:xfrm>
        </p:grpSpPr>
        <p:sp>
          <p:nvSpPr>
            <p:cNvPr id="10" name="object 10"/>
            <p:cNvSpPr/>
            <p:nvPr/>
          </p:nvSpPr>
          <p:spPr>
            <a:xfrm>
              <a:off x="6093900" y="1253249"/>
              <a:ext cx="2973070" cy="1708785"/>
            </a:xfrm>
            <a:custGeom>
              <a:avLst/>
              <a:gdLst/>
              <a:ahLst/>
              <a:cxnLst/>
              <a:rect l="l" t="t" r="r" b="b"/>
              <a:pathLst>
                <a:path w="2973070" h="1708785">
                  <a:moveTo>
                    <a:pt x="2688244" y="1708499"/>
                  </a:moveTo>
                  <a:lnTo>
                    <a:pt x="284755" y="1708499"/>
                  </a:lnTo>
                  <a:lnTo>
                    <a:pt x="238566" y="1704773"/>
                  </a:lnTo>
                  <a:lnTo>
                    <a:pt x="194750" y="1693982"/>
                  </a:lnTo>
                  <a:lnTo>
                    <a:pt x="153894" y="1676716"/>
                  </a:lnTo>
                  <a:lnTo>
                    <a:pt x="116582" y="1653558"/>
                  </a:lnTo>
                  <a:lnTo>
                    <a:pt x="83403" y="1625096"/>
                  </a:lnTo>
                  <a:lnTo>
                    <a:pt x="54941" y="1591917"/>
                  </a:lnTo>
                  <a:lnTo>
                    <a:pt x="31783" y="1554605"/>
                  </a:lnTo>
                  <a:lnTo>
                    <a:pt x="14517" y="1513749"/>
                  </a:lnTo>
                  <a:lnTo>
                    <a:pt x="3726" y="1469933"/>
                  </a:lnTo>
                  <a:lnTo>
                    <a:pt x="0" y="1423744"/>
                  </a:lnTo>
                  <a:lnTo>
                    <a:pt x="0" y="284755"/>
                  </a:lnTo>
                  <a:lnTo>
                    <a:pt x="3726" y="238566"/>
                  </a:lnTo>
                  <a:lnTo>
                    <a:pt x="14517" y="194750"/>
                  </a:lnTo>
                  <a:lnTo>
                    <a:pt x="31783" y="153894"/>
                  </a:lnTo>
                  <a:lnTo>
                    <a:pt x="54941" y="116582"/>
                  </a:lnTo>
                  <a:lnTo>
                    <a:pt x="83403" y="83403"/>
                  </a:lnTo>
                  <a:lnTo>
                    <a:pt x="116582" y="54941"/>
                  </a:lnTo>
                  <a:lnTo>
                    <a:pt x="153894" y="31783"/>
                  </a:lnTo>
                  <a:lnTo>
                    <a:pt x="194750" y="14517"/>
                  </a:lnTo>
                  <a:lnTo>
                    <a:pt x="238566" y="3726"/>
                  </a:lnTo>
                  <a:lnTo>
                    <a:pt x="284755" y="0"/>
                  </a:lnTo>
                  <a:lnTo>
                    <a:pt x="2688244" y="0"/>
                  </a:lnTo>
                  <a:lnTo>
                    <a:pt x="2733059" y="3547"/>
                  </a:lnTo>
                  <a:lnTo>
                    <a:pt x="2776366" y="13978"/>
                  </a:lnTo>
                  <a:lnTo>
                    <a:pt x="2817401" y="30975"/>
                  </a:lnTo>
                  <a:lnTo>
                    <a:pt x="2855400" y="54222"/>
                  </a:lnTo>
                  <a:lnTo>
                    <a:pt x="2889596" y="83402"/>
                  </a:lnTo>
                  <a:lnTo>
                    <a:pt x="2918777" y="117599"/>
                  </a:lnTo>
                  <a:lnTo>
                    <a:pt x="2942024" y="155598"/>
                  </a:lnTo>
                  <a:lnTo>
                    <a:pt x="2959021" y="196633"/>
                  </a:lnTo>
                  <a:lnTo>
                    <a:pt x="2969452" y="239941"/>
                  </a:lnTo>
                  <a:lnTo>
                    <a:pt x="2972999" y="284755"/>
                  </a:lnTo>
                  <a:lnTo>
                    <a:pt x="2972999" y="1423744"/>
                  </a:lnTo>
                  <a:lnTo>
                    <a:pt x="2969273" y="1469933"/>
                  </a:lnTo>
                  <a:lnTo>
                    <a:pt x="2958482" y="1513749"/>
                  </a:lnTo>
                  <a:lnTo>
                    <a:pt x="2941215" y="1554605"/>
                  </a:lnTo>
                  <a:lnTo>
                    <a:pt x="2918058" y="1591917"/>
                  </a:lnTo>
                  <a:lnTo>
                    <a:pt x="2889596" y="1625096"/>
                  </a:lnTo>
                  <a:lnTo>
                    <a:pt x="2856417" y="1653558"/>
                  </a:lnTo>
                  <a:lnTo>
                    <a:pt x="2819105" y="1676716"/>
                  </a:lnTo>
                  <a:lnTo>
                    <a:pt x="2778249" y="1693982"/>
                  </a:lnTo>
                  <a:lnTo>
                    <a:pt x="2734433" y="1704773"/>
                  </a:lnTo>
                  <a:lnTo>
                    <a:pt x="2688244" y="1708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93900" y="1253249"/>
              <a:ext cx="2973070" cy="1708785"/>
            </a:xfrm>
            <a:custGeom>
              <a:avLst/>
              <a:gdLst/>
              <a:ahLst/>
              <a:cxnLst/>
              <a:rect l="l" t="t" r="r" b="b"/>
              <a:pathLst>
                <a:path w="2973070" h="1708785">
                  <a:moveTo>
                    <a:pt x="0" y="284755"/>
                  </a:moveTo>
                  <a:lnTo>
                    <a:pt x="3726" y="238566"/>
                  </a:lnTo>
                  <a:lnTo>
                    <a:pt x="14517" y="194750"/>
                  </a:lnTo>
                  <a:lnTo>
                    <a:pt x="31783" y="153894"/>
                  </a:lnTo>
                  <a:lnTo>
                    <a:pt x="54941" y="116582"/>
                  </a:lnTo>
                  <a:lnTo>
                    <a:pt x="83403" y="83403"/>
                  </a:lnTo>
                  <a:lnTo>
                    <a:pt x="116582" y="54941"/>
                  </a:lnTo>
                  <a:lnTo>
                    <a:pt x="153894" y="31783"/>
                  </a:lnTo>
                  <a:lnTo>
                    <a:pt x="194750" y="14517"/>
                  </a:lnTo>
                  <a:lnTo>
                    <a:pt x="238566" y="3726"/>
                  </a:lnTo>
                  <a:lnTo>
                    <a:pt x="284755" y="0"/>
                  </a:lnTo>
                  <a:lnTo>
                    <a:pt x="2688244" y="0"/>
                  </a:lnTo>
                  <a:lnTo>
                    <a:pt x="2733059" y="3547"/>
                  </a:lnTo>
                  <a:lnTo>
                    <a:pt x="2776366" y="13978"/>
                  </a:lnTo>
                  <a:lnTo>
                    <a:pt x="2817401" y="30975"/>
                  </a:lnTo>
                  <a:lnTo>
                    <a:pt x="2855400" y="54222"/>
                  </a:lnTo>
                  <a:lnTo>
                    <a:pt x="2889596" y="83402"/>
                  </a:lnTo>
                  <a:lnTo>
                    <a:pt x="2918777" y="117599"/>
                  </a:lnTo>
                  <a:lnTo>
                    <a:pt x="2942024" y="155598"/>
                  </a:lnTo>
                  <a:lnTo>
                    <a:pt x="2959021" y="196633"/>
                  </a:lnTo>
                  <a:lnTo>
                    <a:pt x="2969452" y="239941"/>
                  </a:lnTo>
                  <a:lnTo>
                    <a:pt x="2972999" y="284755"/>
                  </a:lnTo>
                  <a:lnTo>
                    <a:pt x="2972999" y="1423744"/>
                  </a:lnTo>
                  <a:lnTo>
                    <a:pt x="2969273" y="1469933"/>
                  </a:lnTo>
                  <a:lnTo>
                    <a:pt x="2958482" y="1513749"/>
                  </a:lnTo>
                  <a:lnTo>
                    <a:pt x="2941215" y="1554605"/>
                  </a:lnTo>
                  <a:lnTo>
                    <a:pt x="2918058" y="1591917"/>
                  </a:lnTo>
                  <a:lnTo>
                    <a:pt x="2889596" y="1625096"/>
                  </a:lnTo>
                  <a:lnTo>
                    <a:pt x="2856417" y="1653558"/>
                  </a:lnTo>
                  <a:lnTo>
                    <a:pt x="2819105" y="1676716"/>
                  </a:lnTo>
                  <a:lnTo>
                    <a:pt x="2778249" y="1693982"/>
                  </a:lnTo>
                  <a:lnTo>
                    <a:pt x="2734433" y="1704773"/>
                  </a:lnTo>
                  <a:lnTo>
                    <a:pt x="2688244" y="1708499"/>
                  </a:lnTo>
                  <a:lnTo>
                    <a:pt x="284755" y="1708499"/>
                  </a:lnTo>
                  <a:lnTo>
                    <a:pt x="238566" y="1704773"/>
                  </a:lnTo>
                  <a:lnTo>
                    <a:pt x="194750" y="1693982"/>
                  </a:lnTo>
                  <a:lnTo>
                    <a:pt x="153894" y="1676716"/>
                  </a:lnTo>
                  <a:lnTo>
                    <a:pt x="116582" y="1653558"/>
                  </a:lnTo>
                  <a:lnTo>
                    <a:pt x="83403" y="1625096"/>
                  </a:lnTo>
                  <a:lnTo>
                    <a:pt x="54941" y="1591917"/>
                  </a:lnTo>
                  <a:lnTo>
                    <a:pt x="31783" y="1554605"/>
                  </a:lnTo>
                  <a:lnTo>
                    <a:pt x="14517" y="1513749"/>
                  </a:lnTo>
                  <a:lnTo>
                    <a:pt x="3726" y="1469933"/>
                  </a:lnTo>
                  <a:lnTo>
                    <a:pt x="0" y="1423744"/>
                  </a:lnTo>
                  <a:lnTo>
                    <a:pt x="0" y="284755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333769" y="1870088"/>
            <a:ext cx="3442547" cy="14414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375064">
              <a:lnSpc>
                <a:spcPts val="2200"/>
              </a:lnSpc>
              <a:spcBef>
                <a:spcPts val="240"/>
              </a:spcBef>
            </a:pPr>
            <a:r>
              <a:rPr sz="1867" spc="-7" dirty="0">
                <a:latin typeface="Arial MT"/>
                <a:cs typeface="Arial MT"/>
              </a:rPr>
              <a:t>Q: What home entertainment </a:t>
            </a:r>
            <a:r>
              <a:rPr sz="1867" spc="-50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equipment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requires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cable?</a:t>
            </a:r>
            <a:endParaRPr sz="1867">
              <a:latin typeface="Arial MT"/>
              <a:cs typeface="Arial MT"/>
            </a:endParaRPr>
          </a:p>
          <a:p>
            <a:pPr marL="16933">
              <a:lnSpc>
                <a:spcPts val="2113"/>
              </a:lnSpc>
            </a:pPr>
            <a:r>
              <a:rPr sz="1867" spc="-7" dirty="0">
                <a:latin typeface="Arial MT"/>
                <a:cs typeface="Arial MT"/>
              </a:rPr>
              <a:t>Answer</a:t>
            </a:r>
            <a:r>
              <a:rPr sz="1867" spc="-4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Choices: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(a)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radio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shack</a:t>
            </a:r>
            <a:endParaRPr sz="1867">
              <a:latin typeface="Arial MT"/>
              <a:cs typeface="Arial MT"/>
            </a:endParaRPr>
          </a:p>
          <a:p>
            <a:pPr marL="16933" marR="231134">
              <a:lnSpc>
                <a:spcPts val="2200"/>
              </a:lnSpc>
              <a:spcBef>
                <a:spcPts val="87"/>
              </a:spcBef>
            </a:pPr>
            <a:r>
              <a:rPr sz="1867" dirty="0">
                <a:latin typeface="Arial MT"/>
                <a:cs typeface="Arial MT"/>
              </a:rPr>
              <a:t>(b)</a:t>
            </a:r>
            <a:r>
              <a:rPr sz="1867" spc="-4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substation</a:t>
            </a:r>
            <a:r>
              <a:rPr sz="1867" spc="-4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(c)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television</a:t>
            </a:r>
            <a:r>
              <a:rPr sz="1867" spc="-4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(d) </a:t>
            </a:r>
            <a:r>
              <a:rPr sz="1867" spc="-50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cabinet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33770" y="3546487"/>
            <a:ext cx="221572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Arial MT"/>
                <a:cs typeface="Arial MT"/>
              </a:rPr>
              <a:t>A:</a:t>
            </a:r>
            <a:r>
              <a:rPr sz="1867" spc="-6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The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answer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is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b="1" dirty="0">
                <a:solidFill>
                  <a:srgbClr val="A61B00"/>
                </a:solidFill>
                <a:latin typeface="Arial"/>
                <a:cs typeface="Arial"/>
              </a:rPr>
              <a:t>(c).</a:t>
            </a:r>
            <a:endParaRPr sz="1867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25367" y="4526196"/>
            <a:ext cx="3440007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7" dirty="0">
                <a:latin typeface="Times New Roman"/>
                <a:cs typeface="Times New Roman"/>
              </a:rPr>
              <a:t>Commonsense</a:t>
            </a:r>
            <a:r>
              <a:rPr sz="2133" spc="-60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Reasoning</a:t>
            </a:r>
            <a:r>
              <a:rPr sz="2133" spc="-60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(CR)</a:t>
            </a:r>
            <a:endParaRPr sz="2133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296283" y="1664649"/>
            <a:ext cx="3472180" cy="2291080"/>
            <a:chOff x="3222212" y="1248487"/>
            <a:chExt cx="2604135" cy="1718310"/>
          </a:xfrm>
        </p:grpSpPr>
        <p:sp>
          <p:nvSpPr>
            <p:cNvPr id="16" name="object 16"/>
            <p:cNvSpPr/>
            <p:nvPr/>
          </p:nvSpPr>
          <p:spPr>
            <a:xfrm>
              <a:off x="3226974" y="1253249"/>
              <a:ext cx="2594610" cy="1708785"/>
            </a:xfrm>
            <a:custGeom>
              <a:avLst/>
              <a:gdLst/>
              <a:ahLst/>
              <a:cxnLst/>
              <a:rect l="l" t="t" r="r" b="b"/>
              <a:pathLst>
                <a:path w="2594610" h="1708785">
                  <a:moveTo>
                    <a:pt x="2309644" y="1708499"/>
                  </a:moveTo>
                  <a:lnTo>
                    <a:pt x="284755" y="1708499"/>
                  </a:lnTo>
                  <a:lnTo>
                    <a:pt x="238566" y="1704773"/>
                  </a:lnTo>
                  <a:lnTo>
                    <a:pt x="194750" y="1693982"/>
                  </a:lnTo>
                  <a:lnTo>
                    <a:pt x="153894" y="1676716"/>
                  </a:lnTo>
                  <a:lnTo>
                    <a:pt x="116582" y="1653558"/>
                  </a:lnTo>
                  <a:lnTo>
                    <a:pt x="83403" y="1625096"/>
                  </a:lnTo>
                  <a:lnTo>
                    <a:pt x="54941" y="1591917"/>
                  </a:lnTo>
                  <a:lnTo>
                    <a:pt x="31783" y="1554605"/>
                  </a:lnTo>
                  <a:lnTo>
                    <a:pt x="14517" y="1513749"/>
                  </a:lnTo>
                  <a:lnTo>
                    <a:pt x="3726" y="1469933"/>
                  </a:lnTo>
                  <a:lnTo>
                    <a:pt x="0" y="1423744"/>
                  </a:lnTo>
                  <a:lnTo>
                    <a:pt x="0" y="284755"/>
                  </a:lnTo>
                  <a:lnTo>
                    <a:pt x="3726" y="238566"/>
                  </a:lnTo>
                  <a:lnTo>
                    <a:pt x="14517" y="194750"/>
                  </a:lnTo>
                  <a:lnTo>
                    <a:pt x="31783" y="153894"/>
                  </a:lnTo>
                  <a:lnTo>
                    <a:pt x="54941" y="116582"/>
                  </a:lnTo>
                  <a:lnTo>
                    <a:pt x="83403" y="83403"/>
                  </a:lnTo>
                  <a:lnTo>
                    <a:pt x="116582" y="54941"/>
                  </a:lnTo>
                  <a:lnTo>
                    <a:pt x="153894" y="31783"/>
                  </a:lnTo>
                  <a:lnTo>
                    <a:pt x="194750" y="14517"/>
                  </a:lnTo>
                  <a:lnTo>
                    <a:pt x="238566" y="3726"/>
                  </a:lnTo>
                  <a:lnTo>
                    <a:pt x="284755" y="0"/>
                  </a:lnTo>
                  <a:lnTo>
                    <a:pt x="2309644" y="0"/>
                  </a:lnTo>
                  <a:lnTo>
                    <a:pt x="2354458" y="3547"/>
                  </a:lnTo>
                  <a:lnTo>
                    <a:pt x="2397766" y="13978"/>
                  </a:lnTo>
                  <a:lnTo>
                    <a:pt x="2438801" y="30975"/>
                  </a:lnTo>
                  <a:lnTo>
                    <a:pt x="2476800" y="54222"/>
                  </a:lnTo>
                  <a:lnTo>
                    <a:pt x="2510996" y="83402"/>
                  </a:lnTo>
                  <a:lnTo>
                    <a:pt x="2540177" y="117599"/>
                  </a:lnTo>
                  <a:lnTo>
                    <a:pt x="2563424" y="155598"/>
                  </a:lnTo>
                  <a:lnTo>
                    <a:pt x="2580421" y="196633"/>
                  </a:lnTo>
                  <a:lnTo>
                    <a:pt x="2590852" y="239941"/>
                  </a:lnTo>
                  <a:lnTo>
                    <a:pt x="2594399" y="284755"/>
                  </a:lnTo>
                  <a:lnTo>
                    <a:pt x="2594399" y="1423744"/>
                  </a:lnTo>
                  <a:lnTo>
                    <a:pt x="2590673" y="1469933"/>
                  </a:lnTo>
                  <a:lnTo>
                    <a:pt x="2579882" y="1513749"/>
                  </a:lnTo>
                  <a:lnTo>
                    <a:pt x="2562616" y="1554605"/>
                  </a:lnTo>
                  <a:lnTo>
                    <a:pt x="2539458" y="1591917"/>
                  </a:lnTo>
                  <a:lnTo>
                    <a:pt x="2510996" y="1625096"/>
                  </a:lnTo>
                  <a:lnTo>
                    <a:pt x="2477817" y="1653558"/>
                  </a:lnTo>
                  <a:lnTo>
                    <a:pt x="2440505" y="1676716"/>
                  </a:lnTo>
                  <a:lnTo>
                    <a:pt x="2399649" y="1693982"/>
                  </a:lnTo>
                  <a:lnTo>
                    <a:pt x="2355833" y="1704773"/>
                  </a:lnTo>
                  <a:lnTo>
                    <a:pt x="2309644" y="1708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26974" y="1253249"/>
              <a:ext cx="2594610" cy="1708785"/>
            </a:xfrm>
            <a:custGeom>
              <a:avLst/>
              <a:gdLst/>
              <a:ahLst/>
              <a:cxnLst/>
              <a:rect l="l" t="t" r="r" b="b"/>
              <a:pathLst>
                <a:path w="2594610" h="1708785">
                  <a:moveTo>
                    <a:pt x="0" y="284755"/>
                  </a:moveTo>
                  <a:lnTo>
                    <a:pt x="3726" y="238566"/>
                  </a:lnTo>
                  <a:lnTo>
                    <a:pt x="14517" y="194750"/>
                  </a:lnTo>
                  <a:lnTo>
                    <a:pt x="31783" y="153894"/>
                  </a:lnTo>
                  <a:lnTo>
                    <a:pt x="54941" y="116582"/>
                  </a:lnTo>
                  <a:lnTo>
                    <a:pt x="83403" y="83403"/>
                  </a:lnTo>
                  <a:lnTo>
                    <a:pt x="116582" y="54941"/>
                  </a:lnTo>
                  <a:lnTo>
                    <a:pt x="153894" y="31783"/>
                  </a:lnTo>
                  <a:lnTo>
                    <a:pt x="194750" y="14517"/>
                  </a:lnTo>
                  <a:lnTo>
                    <a:pt x="238566" y="3726"/>
                  </a:lnTo>
                  <a:lnTo>
                    <a:pt x="284755" y="0"/>
                  </a:lnTo>
                  <a:lnTo>
                    <a:pt x="2309644" y="0"/>
                  </a:lnTo>
                  <a:lnTo>
                    <a:pt x="2354458" y="3547"/>
                  </a:lnTo>
                  <a:lnTo>
                    <a:pt x="2397766" y="13978"/>
                  </a:lnTo>
                  <a:lnTo>
                    <a:pt x="2438801" y="30975"/>
                  </a:lnTo>
                  <a:lnTo>
                    <a:pt x="2476800" y="54222"/>
                  </a:lnTo>
                  <a:lnTo>
                    <a:pt x="2510996" y="83402"/>
                  </a:lnTo>
                  <a:lnTo>
                    <a:pt x="2540177" y="117599"/>
                  </a:lnTo>
                  <a:lnTo>
                    <a:pt x="2563424" y="155598"/>
                  </a:lnTo>
                  <a:lnTo>
                    <a:pt x="2580421" y="196633"/>
                  </a:lnTo>
                  <a:lnTo>
                    <a:pt x="2590852" y="239941"/>
                  </a:lnTo>
                  <a:lnTo>
                    <a:pt x="2594399" y="284755"/>
                  </a:lnTo>
                  <a:lnTo>
                    <a:pt x="2594399" y="1423744"/>
                  </a:lnTo>
                  <a:lnTo>
                    <a:pt x="2590673" y="1469933"/>
                  </a:lnTo>
                  <a:lnTo>
                    <a:pt x="2579882" y="1513749"/>
                  </a:lnTo>
                  <a:lnTo>
                    <a:pt x="2562616" y="1554605"/>
                  </a:lnTo>
                  <a:lnTo>
                    <a:pt x="2539458" y="1591917"/>
                  </a:lnTo>
                  <a:lnTo>
                    <a:pt x="2510996" y="1625096"/>
                  </a:lnTo>
                  <a:lnTo>
                    <a:pt x="2477817" y="1653558"/>
                  </a:lnTo>
                  <a:lnTo>
                    <a:pt x="2440505" y="1676716"/>
                  </a:lnTo>
                  <a:lnTo>
                    <a:pt x="2399649" y="1693982"/>
                  </a:lnTo>
                  <a:lnTo>
                    <a:pt x="2355833" y="1704773"/>
                  </a:lnTo>
                  <a:lnTo>
                    <a:pt x="2309644" y="1708499"/>
                  </a:lnTo>
                  <a:lnTo>
                    <a:pt x="284755" y="1708499"/>
                  </a:lnTo>
                  <a:lnTo>
                    <a:pt x="238566" y="1704773"/>
                  </a:lnTo>
                  <a:lnTo>
                    <a:pt x="194750" y="1693982"/>
                  </a:lnTo>
                  <a:lnTo>
                    <a:pt x="153894" y="1676716"/>
                  </a:lnTo>
                  <a:lnTo>
                    <a:pt x="116582" y="1653558"/>
                  </a:lnTo>
                  <a:lnTo>
                    <a:pt x="83403" y="1625096"/>
                  </a:lnTo>
                  <a:lnTo>
                    <a:pt x="54941" y="1591917"/>
                  </a:lnTo>
                  <a:lnTo>
                    <a:pt x="31783" y="1554605"/>
                  </a:lnTo>
                  <a:lnTo>
                    <a:pt x="14517" y="1513749"/>
                  </a:lnTo>
                  <a:lnTo>
                    <a:pt x="3726" y="1469933"/>
                  </a:lnTo>
                  <a:lnTo>
                    <a:pt x="0" y="1423744"/>
                  </a:lnTo>
                  <a:lnTo>
                    <a:pt x="0" y="284755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511203" y="1870087"/>
            <a:ext cx="2648373" cy="877163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 algn="just">
              <a:lnSpc>
                <a:spcPts val="2200"/>
              </a:lnSpc>
              <a:spcBef>
                <a:spcPts val="240"/>
              </a:spcBef>
            </a:pPr>
            <a:r>
              <a:rPr sz="1867" spc="-7" dirty="0">
                <a:latin typeface="Arial MT"/>
                <a:cs typeface="Arial MT"/>
              </a:rPr>
              <a:t>Q: </a:t>
            </a:r>
            <a:r>
              <a:rPr sz="1867" spc="-60" dirty="0">
                <a:latin typeface="Arial MT"/>
                <a:cs typeface="Arial MT"/>
              </a:rPr>
              <a:t>Take </a:t>
            </a:r>
            <a:r>
              <a:rPr sz="1867" spc="-7" dirty="0">
                <a:latin typeface="Arial MT"/>
                <a:cs typeface="Arial MT"/>
              </a:rPr>
              <a:t>the last letters of </a:t>
            </a:r>
            <a:r>
              <a:rPr sz="1867" spc="-50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the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words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in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"Elon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Musk" </a:t>
            </a:r>
            <a:r>
              <a:rPr sz="1867" spc="-50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and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concatenate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them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11203" y="2987687"/>
            <a:ext cx="220302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Arial MT"/>
                <a:cs typeface="Arial MT"/>
              </a:rPr>
              <a:t>A:</a:t>
            </a:r>
            <a:r>
              <a:rPr sz="1867" spc="-6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The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answer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is </a:t>
            </a:r>
            <a:r>
              <a:rPr sz="1867" b="1" spc="-7" dirty="0">
                <a:solidFill>
                  <a:srgbClr val="A61B00"/>
                </a:solidFill>
                <a:latin typeface="Arial"/>
                <a:cs typeface="Arial"/>
              </a:rPr>
              <a:t>nk</a:t>
            </a:r>
            <a:r>
              <a:rPr sz="1867" b="1" spc="-7" dirty="0">
                <a:latin typeface="Arial"/>
                <a:cs typeface="Arial"/>
              </a:rPr>
              <a:t>.</a:t>
            </a:r>
            <a:endParaRPr sz="1867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08000" y="4526196"/>
            <a:ext cx="2858347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7" dirty="0">
                <a:latin typeface="Times New Roman"/>
                <a:cs typeface="Times New Roman"/>
              </a:rPr>
              <a:t>Symbolic</a:t>
            </a:r>
            <a:r>
              <a:rPr sz="2133" spc="-60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Reasoning</a:t>
            </a:r>
            <a:r>
              <a:rPr sz="2133" spc="-60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(SR)</a:t>
            </a:r>
            <a:endParaRPr sz="2133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13" dirty="0"/>
              <a:t>Reasoning</a:t>
            </a:r>
            <a:r>
              <a:rPr sz="4000" spc="-113" dirty="0"/>
              <a:t> </a:t>
            </a:r>
            <a:r>
              <a:rPr sz="4000" spc="-7" dirty="0"/>
              <a:t>Problems</a:t>
            </a:r>
            <a:endParaRPr sz="40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8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0200" y="2303256"/>
            <a:ext cx="3757721" cy="376251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02268" y="1540296"/>
            <a:ext cx="675555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7" dirty="0">
                <a:latin typeface="Times New Roman"/>
                <a:cs typeface="Times New Roman"/>
              </a:rPr>
              <a:t>Fine-tune</a:t>
            </a:r>
            <a:r>
              <a:rPr sz="2133" spc="-20" dirty="0">
                <a:latin typeface="Times New Roman"/>
                <a:cs typeface="Times New Roman"/>
              </a:rPr>
              <a:t> </a:t>
            </a:r>
            <a:r>
              <a:rPr sz="2133" spc="-47" dirty="0">
                <a:latin typeface="Times New Roman"/>
                <a:cs typeface="Times New Roman"/>
              </a:rPr>
              <a:t>GPT-3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on</a:t>
            </a:r>
            <a:r>
              <a:rPr sz="2133" spc="-7" dirty="0">
                <a:latin typeface="Times New Roman"/>
                <a:cs typeface="Times New Roman"/>
              </a:rPr>
              <a:t> GSM8K</a:t>
            </a:r>
            <a:r>
              <a:rPr sz="2133" spc="-20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(arithmetic):</a:t>
            </a:r>
            <a:r>
              <a:rPr sz="2133" spc="-7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(Cobbe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et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al.</a:t>
            </a:r>
            <a:r>
              <a:rPr sz="2133" spc="-20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2021)</a:t>
            </a:r>
            <a:endParaRPr sz="2133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93367" y="3515530"/>
            <a:ext cx="4814147" cy="67356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2133" spc="-7" dirty="0">
                <a:latin typeface="Times New Roman"/>
                <a:cs typeface="Times New Roman"/>
              </a:rPr>
              <a:t>Conjecture:</a:t>
            </a:r>
            <a:r>
              <a:rPr sz="213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to achieve </a:t>
            </a:r>
            <a:r>
              <a:rPr sz="2133" dirty="0">
                <a:latin typeface="Times New Roman"/>
                <a:cs typeface="Times New Roman"/>
              </a:rPr>
              <a:t>&gt; 80%, needs 100 </a:t>
            </a:r>
            <a:r>
              <a:rPr sz="2133" spc="7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times</a:t>
            </a:r>
            <a:r>
              <a:rPr sz="2133" spc="-27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more</a:t>
            </a:r>
            <a:r>
              <a:rPr sz="2133" spc="-27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fine-tuning</a:t>
            </a:r>
            <a:r>
              <a:rPr sz="2133" spc="-20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data</a:t>
            </a:r>
            <a:r>
              <a:rPr sz="2133" spc="-20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for</a:t>
            </a:r>
            <a:r>
              <a:rPr sz="2133" spc="-20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175B</a:t>
            </a:r>
            <a:r>
              <a:rPr sz="2133" spc="-20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model</a:t>
            </a:r>
            <a:endParaRPr sz="2133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9</a:t>
            </a:fld>
            <a:endParaRPr dirty="0"/>
          </a:p>
        </p:txBody>
      </p:sp>
      <p:sp>
        <p:nvSpPr>
          <p:cNvPr id="2" name="object 2"/>
          <p:cNvSpPr txBox="1"/>
          <p:nvPr/>
        </p:nvSpPr>
        <p:spPr>
          <a:xfrm>
            <a:off x="512968" y="283587"/>
            <a:ext cx="4215553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13" dirty="0">
                <a:latin typeface="Times New Roman"/>
                <a:cs typeface="Times New Roman"/>
              </a:rPr>
              <a:t>Reasoning</a:t>
            </a:r>
            <a:r>
              <a:rPr sz="4000" spc="-113" dirty="0">
                <a:latin typeface="Times New Roman"/>
                <a:cs typeface="Times New Roman"/>
              </a:rPr>
              <a:t> </a:t>
            </a:r>
            <a:r>
              <a:rPr sz="4000" spc="-7" dirty="0">
                <a:latin typeface="Times New Roman"/>
                <a:cs typeface="Times New Roman"/>
              </a:rPr>
              <a:t>Problems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85368" y="2242529"/>
            <a:ext cx="9087273" cy="112509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2400" spc="-7" dirty="0">
                <a:latin typeface="Times New Roman"/>
                <a:cs typeface="Times New Roman"/>
              </a:rPr>
              <a:t>Scaling </a:t>
            </a:r>
            <a:r>
              <a:rPr sz="2400" dirty="0">
                <a:latin typeface="Times New Roman"/>
                <a:cs typeface="Times New Roman"/>
              </a:rPr>
              <a:t>up </a:t>
            </a:r>
            <a:r>
              <a:rPr sz="2400" spc="-7" dirty="0">
                <a:latin typeface="Times New Roman"/>
                <a:cs typeface="Times New Roman"/>
              </a:rPr>
              <a:t>language model size </a:t>
            </a:r>
            <a:r>
              <a:rPr sz="2400" dirty="0">
                <a:latin typeface="Times New Roman"/>
                <a:cs typeface="Times New Roman"/>
              </a:rPr>
              <a:t>does not </a:t>
            </a:r>
            <a:r>
              <a:rPr sz="2400" b="1" spc="-7" dirty="0">
                <a:latin typeface="Times New Roman"/>
                <a:cs typeface="Times New Roman"/>
              </a:rPr>
              <a:t>efficiently </a:t>
            </a:r>
            <a:r>
              <a:rPr sz="2400" spc="-7" dirty="0">
                <a:latin typeface="Times New Roman"/>
                <a:cs typeface="Times New Roman"/>
              </a:rPr>
              <a:t>achieve </a:t>
            </a:r>
            <a:r>
              <a:rPr sz="2400" dirty="0">
                <a:latin typeface="Times New Roman"/>
                <a:cs typeface="Times New Roman"/>
              </a:rPr>
              <a:t>high performances, for </a:t>
            </a:r>
            <a:r>
              <a:rPr sz="2400" spc="-513" dirty="0">
                <a:latin typeface="Times New Roman"/>
                <a:cs typeface="Times New Roman"/>
              </a:rPr>
              <a:t> </a:t>
            </a:r>
            <a:r>
              <a:rPr sz="2400" spc="-7" dirty="0">
                <a:latin typeface="Times New Roman"/>
                <a:cs typeface="Times New Roman"/>
              </a:rPr>
              <a:t>Arithmetic Reasoning </a:t>
            </a:r>
            <a:r>
              <a:rPr sz="2400" spc="7" dirty="0">
                <a:latin typeface="Times New Roman"/>
                <a:cs typeface="Times New Roman"/>
              </a:rPr>
              <a:t>(</a:t>
            </a:r>
            <a:r>
              <a:rPr sz="2400" i="1" spc="7" dirty="0">
                <a:latin typeface="Times New Roman"/>
                <a:cs typeface="Times New Roman"/>
              </a:rPr>
              <a:t>AR</a:t>
            </a:r>
            <a:r>
              <a:rPr sz="2400" spc="7" dirty="0">
                <a:latin typeface="Times New Roman"/>
                <a:cs typeface="Times New Roman"/>
              </a:rPr>
              <a:t>), </a:t>
            </a:r>
            <a:r>
              <a:rPr sz="2400" spc="-7" dirty="0">
                <a:latin typeface="Times New Roman"/>
                <a:cs typeface="Times New Roman"/>
              </a:rPr>
              <a:t>CommonSense Reasoning </a:t>
            </a:r>
            <a:r>
              <a:rPr sz="2400" spc="13" dirty="0">
                <a:latin typeface="Times New Roman"/>
                <a:cs typeface="Times New Roman"/>
              </a:rPr>
              <a:t>(</a:t>
            </a:r>
            <a:r>
              <a:rPr sz="2400" i="1" spc="13" dirty="0">
                <a:latin typeface="Times New Roman"/>
                <a:cs typeface="Times New Roman"/>
              </a:rPr>
              <a:t>CR</a:t>
            </a:r>
            <a:r>
              <a:rPr sz="2400" spc="13" dirty="0">
                <a:latin typeface="Times New Roman"/>
                <a:cs typeface="Times New Roman"/>
              </a:rPr>
              <a:t>) </a:t>
            </a:r>
            <a:r>
              <a:rPr sz="2400" spc="-7" dirty="0">
                <a:latin typeface="Times New Roman"/>
                <a:cs typeface="Times New Roman"/>
              </a:rPr>
              <a:t>and Symbolic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7" dirty="0">
                <a:latin typeface="Times New Roman"/>
                <a:cs typeface="Times New Roman"/>
              </a:rPr>
              <a:t>Reasoning</a:t>
            </a:r>
            <a:r>
              <a:rPr sz="2400" spc="-13" dirty="0">
                <a:latin typeface="Times New Roman"/>
                <a:cs typeface="Times New Roman"/>
              </a:rPr>
              <a:t> </a:t>
            </a:r>
            <a:r>
              <a:rPr sz="2400" spc="7" dirty="0">
                <a:latin typeface="Times New Roman"/>
                <a:cs typeface="Times New Roman"/>
              </a:rPr>
              <a:t>(</a:t>
            </a:r>
            <a:r>
              <a:rPr sz="2400" i="1" spc="7" dirty="0">
                <a:latin typeface="Times New Roman"/>
                <a:cs typeface="Times New Roman"/>
              </a:rPr>
              <a:t>SR</a:t>
            </a:r>
            <a:r>
              <a:rPr sz="2400" spc="7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7" dirty="0">
                <a:latin typeface="Times New Roman"/>
                <a:cs typeface="Times New Roman"/>
              </a:rPr>
              <a:t>tasks.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10</a:t>
            </a:fld>
            <a:endParaRPr dirty="0"/>
          </a:p>
        </p:txBody>
      </p:sp>
      <p:sp>
        <p:nvSpPr>
          <p:cNvPr id="2" name="object 2"/>
          <p:cNvSpPr txBox="1"/>
          <p:nvPr/>
        </p:nvSpPr>
        <p:spPr>
          <a:xfrm>
            <a:off x="512968" y="283587"/>
            <a:ext cx="4215553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13" dirty="0">
                <a:latin typeface="Times New Roman"/>
                <a:cs typeface="Times New Roman"/>
              </a:rPr>
              <a:t>Reasoning</a:t>
            </a:r>
            <a:r>
              <a:rPr sz="4000" spc="-113" dirty="0">
                <a:latin typeface="Times New Roman"/>
                <a:cs typeface="Times New Roman"/>
              </a:rPr>
              <a:t> </a:t>
            </a:r>
            <a:r>
              <a:rPr sz="4000" spc="-7" dirty="0">
                <a:latin typeface="Times New Roman"/>
                <a:cs typeface="Times New Roman"/>
              </a:rPr>
              <a:t>Problems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85368" y="2242529"/>
            <a:ext cx="9087273" cy="112509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2400" spc="-7" dirty="0">
                <a:latin typeface="Times New Roman"/>
                <a:cs typeface="Times New Roman"/>
              </a:rPr>
              <a:t>Scaling </a:t>
            </a:r>
            <a:r>
              <a:rPr sz="2400" dirty="0">
                <a:latin typeface="Times New Roman"/>
                <a:cs typeface="Times New Roman"/>
              </a:rPr>
              <a:t>up </a:t>
            </a:r>
            <a:r>
              <a:rPr sz="2400" spc="-7" dirty="0">
                <a:latin typeface="Times New Roman"/>
                <a:cs typeface="Times New Roman"/>
              </a:rPr>
              <a:t>language model size </a:t>
            </a:r>
            <a:r>
              <a:rPr sz="2400" dirty="0">
                <a:latin typeface="Times New Roman"/>
                <a:cs typeface="Times New Roman"/>
              </a:rPr>
              <a:t>does not </a:t>
            </a:r>
            <a:r>
              <a:rPr sz="2400" b="1" spc="-7" dirty="0">
                <a:latin typeface="Times New Roman"/>
                <a:cs typeface="Times New Roman"/>
              </a:rPr>
              <a:t>efficiently </a:t>
            </a:r>
            <a:r>
              <a:rPr sz="2400" spc="-7" dirty="0">
                <a:latin typeface="Times New Roman"/>
                <a:cs typeface="Times New Roman"/>
              </a:rPr>
              <a:t>achieve </a:t>
            </a:r>
            <a:r>
              <a:rPr sz="2400" dirty="0">
                <a:latin typeface="Times New Roman"/>
                <a:cs typeface="Times New Roman"/>
              </a:rPr>
              <a:t>high performances, for </a:t>
            </a:r>
            <a:r>
              <a:rPr sz="2400" spc="-513" dirty="0">
                <a:latin typeface="Times New Roman"/>
                <a:cs typeface="Times New Roman"/>
              </a:rPr>
              <a:t> </a:t>
            </a:r>
            <a:r>
              <a:rPr sz="2400" spc="-7" dirty="0">
                <a:latin typeface="Times New Roman"/>
                <a:cs typeface="Times New Roman"/>
              </a:rPr>
              <a:t>Arithmetic Reasoning </a:t>
            </a:r>
            <a:r>
              <a:rPr sz="2400" spc="7" dirty="0">
                <a:latin typeface="Times New Roman"/>
                <a:cs typeface="Times New Roman"/>
              </a:rPr>
              <a:t>(</a:t>
            </a:r>
            <a:r>
              <a:rPr sz="2400" i="1" spc="7" dirty="0">
                <a:latin typeface="Times New Roman"/>
                <a:cs typeface="Times New Roman"/>
              </a:rPr>
              <a:t>AR</a:t>
            </a:r>
            <a:r>
              <a:rPr sz="2400" spc="7" dirty="0">
                <a:latin typeface="Times New Roman"/>
                <a:cs typeface="Times New Roman"/>
              </a:rPr>
              <a:t>), </a:t>
            </a:r>
            <a:r>
              <a:rPr sz="2400" spc="-7" dirty="0">
                <a:latin typeface="Times New Roman"/>
                <a:cs typeface="Times New Roman"/>
              </a:rPr>
              <a:t>CommonSense Reasoning </a:t>
            </a:r>
            <a:r>
              <a:rPr sz="2400" spc="13" dirty="0">
                <a:latin typeface="Times New Roman"/>
                <a:cs typeface="Times New Roman"/>
              </a:rPr>
              <a:t>(</a:t>
            </a:r>
            <a:r>
              <a:rPr sz="2400" i="1" spc="13" dirty="0">
                <a:latin typeface="Times New Roman"/>
                <a:cs typeface="Times New Roman"/>
              </a:rPr>
              <a:t>CR</a:t>
            </a:r>
            <a:r>
              <a:rPr sz="2400" spc="13" dirty="0">
                <a:latin typeface="Times New Roman"/>
                <a:cs typeface="Times New Roman"/>
              </a:rPr>
              <a:t>) </a:t>
            </a:r>
            <a:r>
              <a:rPr sz="2400" spc="-7" dirty="0">
                <a:latin typeface="Times New Roman"/>
                <a:cs typeface="Times New Roman"/>
              </a:rPr>
              <a:t>and Symbolic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7" dirty="0">
                <a:latin typeface="Times New Roman"/>
                <a:cs typeface="Times New Roman"/>
              </a:rPr>
              <a:t>Reasoning</a:t>
            </a:r>
            <a:r>
              <a:rPr sz="2400" spc="-13" dirty="0">
                <a:latin typeface="Times New Roman"/>
                <a:cs typeface="Times New Roman"/>
              </a:rPr>
              <a:t> </a:t>
            </a:r>
            <a:r>
              <a:rPr sz="2400" spc="7" dirty="0">
                <a:latin typeface="Times New Roman"/>
                <a:cs typeface="Times New Roman"/>
              </a:rPr>
              <a:t>(</a:t>
            </a:r>
            <a:r>
              <a:rPr sz="2400" i="1" spc="7" dirty="0">
                <a:latin typeface="Times New Roman"/>
                <a:cs typeface="Times New Roman"/>
              </a:rPr>
              <a:t>SR</a:t>
            </a:r>
            <a:r>
              <a:rPr sz="2400" spc="7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7" dirty="0">
                <a:latin typeface="Times New Roman"/>
                <a:cs typeface="Times New Roman"/>
              </a:rPr>
              <a:t>tasks.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97DA6F82-A47A-BC11-7994-20CDCB16A0D8}"/>
              </a:ext>
            </a:extLst>
          </p:cNvPr>
          <p:cNvSpPr txBox="1"/>
          <p:nvPr/>
        </p:nvSpPr>
        <p:spPr>
          <a:xfrm>
            <a:off x="3678035" y="4721736"/>
            <a:ext cx="519090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Times New Roman"/>
                <a:cs typeface="Times New Roman"/>
              </a:rPr>
              <a:t>Proposed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solution: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chain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thought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prompting</a:t>
            </a:r>
            <a:endParaRPr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29426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xfrm>
            <a:off x="11650133" y="8625790"/>
            <a:ext cx="3793067" cy="185521"/>
          </a:xfrm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11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4073" y="2657403"/>
            <a:ext cx="7070513" cy="1494426"/>
          </a:xfrm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800" spc="-13" dirty="0"/>
              <a:t>Chain</a:t>
            </a:r>
            <a:r>
              <a:rPr sz="4800" spc="-53" dirty="0"/>
              <a:t> </a:t>
            </a:r>
            <a:r>
              <a:rPr sz="4800" dirty="0"/>
              <a:t>of</a:t>
            </a:r>
            <a:r>
              <a:rPr sz="4800" spc="-113" dirty="0"/>
              <a:t> </a:t>
            </a:r>
            <a:r>
              <a:rPr sz="4800" spc="-13" dirty="0"/>
              <a:t>Thought</a:t>
            </a:r>
            <a:r>
              <a:rPr sz="4800" spc="-47" dirty="0"/>
              <a:t> </a:t>
            </a:r>
            <a:r>
              <a:rPr sz="4800" spc="-7" dirty="0"/>
              <a:t>Prompting</a:t>
            </a:r>
            <a:endParaRPr sz="4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13" dirty="0"/>
              <a:t>Chain</a:t>
            </a:r>
            <a:r>
              <a:rPr sz="4000" spc="-53" dirty="0"/>
              <a:t> </a:t>
            </a:r>
            <a:r>
              <a:rPr sz="4000" dirty="0"/>
              <a:t>of</a:t>
            </a:r>
            <a:r>
              <a:rPr sz="4000" spc="-107" dirty="0"/>
              <a:t> </a:t>
            </a:r>
            <a:r>
              <a:rPr sz="4000" spc="-7" dirty="0"/>
              <a:t>Thought</a:t>
            </a:r>
            <a:r>
              <a:rPr sz="4000" spc="-47" dirty="0"/>
              <a:t> </a:t>
            </a:r>
            <a:r>
              <a:rPr sz="4000" dirty="0"/>
              <a:t>(CoT)</a:t>
            </a:r>
            <a:endParaRPr sz="40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12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1293" y="1295691"/>
            <a:ext cx="6524884" cy="23602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9767" y="2572263"/>
            <a:ext cx="170857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b="1" spc="-7" dirty="0">
                <a:latin typeface="Times New Roman"/>
                <a:cs typeface="Times New Roman"/>
              </a:rPr>
              <a:t>Few-Shot</a:t>
            </a:r>
            <a:r>
              <a:rPr sz="2133" b="1" spc="-107" dirty="0">
                <a:latin typeface="Times New Roman"/>
                <a:cs typeface="Times New Roman"/>
              </a:rPr>
              <a:t> </a:t>
            </a:r>
            <a:r>
              <a:rPr sz="2133" b="1" spc="-7" dirty="0">
                <a:latin typeface="Times New Roman"/>
                <a:cs typeface="Times New Roman"/>
              </a:rPr>
              <a:t>CoT</a:t>
            </a:r>
            <a:endParaRPr sz="2133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13" dirty="0"/>
              <a:t>Chain</a:t>
            </a:r>
            <a:r>
              <a:rPr sz="4000" spc="-53" dirty="0"/>
              <a:t> </a:t>
            </a:r>
            <a:r>
              <a:rPr sz="4000" dirty="0"/>
              <a:t>of</a:t>
            </a:r>
            <a:r>
              <a:rPr sz="4000" spc="-107" dirty="0"/>
              <a:t> </a:t>
            </a:r>
            <a:r>
              <a:rPr sz="4000" spc="-7" dirty="0"/>
              <a:t>Thought</a:t>
            </a:r>
            <a:r>
              <a:rPr sz="4000" spc="-47" dirty="0"/>
              <a:t> </a:t>
            </a:r>
            <a:r>
              <a:rPr sz="4000" dirty="0"/>
              <a:t>(CoT)</a:t>
            </a:r>
            <a:endParaRPr sz="40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13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1293" y="1295691"/>
            <a:ext cx="6524884" cy="23602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20033" y="4216380"/>
            <a:ext cx="6345467" cy="220433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49767" y="2572263"/>
            <a:ext cx="170857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b="1" spc="-7" dirty="0">
                <a:latin typeface="Times New Roman"/>
                <a:cs typeface="Times New Roman"/>
              </a:rPr>
              <a:t>Few-Shot</a:t>
            </a:r>
            <a:r>
              <a:rPr sz="2133" b="1" spc="-107" dirty="0">
                <a:latin typeface="Times New Roman"/>
                <a:cs typeface="Times New Roman"/>
              </a:rPr>
              <a:t> </a:t>
            </a:r>
            <a:r>
              <a:rPr sz="2133" b="1" spc="-7" dirty="0">
                <a:latin typeface="Times New Roman"/>
                <a:cs typeface="Times New Roman"/>
              </a:rPr>
              <a:t>CoT</a:t>
            </a:r>
            <a:endParaRPr sz="2133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5601" y="5049163"/>
            <a:ext cx="178223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b="1" spc="-7" dirty="0">
                <a:latin typeface="Times New Roman"/>
                <a:cs typeface="Times New Roman"/>
              </a:rPr>
              <a:t>Zero-Shot</a:t>
            </a:r>
            <a:r>
              <a:rPr sz="2133" b="1" spc="-107" dirty="0">
                <a:latin typeface="Times New Roman"/>
                <a:cs typeface="Times New Roman"/>
              </a:rPr>
              <a:t> </a:t>
            </a:r>
            <a:r>
              <a:rPr sz="2133" b="1" spc="-7" dirty="0">
                <a:latin typeface="Times New Roman"/>
                <a:cs typeface="Times New Roman"/>
              </a:rPr>
              <a:t>CoT</a:t>
            </a:r>
            <a:endParaRPr sz="2133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13" dirty="0"/>
              <a:t>Chain</a:t>
            </a:r>
            <a:r>
              <a:rPr sz="4000" spc="-53" dirty="0"/>
              <a:t> </a:t>
            </a:r>
            <a:r>
              <a:rPr sz="4000" dirty="0"/>
              <a:t>of</a:t>
            </a:r>
            <a:r>
              <a:rPr sz="4000" spc="-107" dirty="0"/>
              <a:t> </a:t>
            </a:r>
            <a:r>
              <a:rPr sz="4000" spc="-7" dirty="0"/>
              <a:t>Thought</a:t>
            </a:r>
            <a:r>
              <a:rPr sz="4000" spc="-47" dirty="0"/>
              <a:t> </a:t>
            </a:r>
            <a:r>
              <a:rPr sz="4000" dirty="0"/>
              <a:t>(CoT)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14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274867" y="1376642"/>
            <a:ext cx="9911079" cy="163036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800" b="1" spc="-7" dirty="0">
                <a:latin typeface="Times New Roman"/>
                <a:cs typeface="Times New Roman"/>
              </a:rPr>
              <a:t>Definition:</a:t>
            </a:r>
            <a:endParaRPr sz="2800" dirty="0">
              <a:latin typeface="Times New Roman"/>
              <a:cs typeface="Times New Roman"/>
            </a:endParaRPr>
          </a:p>
          <a:p>
            <a:pPr>
              <a:spcBef>
                <a:spcPts val="53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16933" marR="6773"/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7" dirty="0">
                <a:latin typeface="Times New Roman"/>
                <a:cs typeface="Times New Roman"/>
              </a:rPr>
              <a:t>chain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7" dirty="0">
                <a:latin typeface="Times New Roman"/>
                <a:cs typeface="Times New Roman"/>
              </a:rPr>
              <a:t>thought is </a:t>
            </a:r>
            <a:r>
              <a:rPr sz="2400" b="1" dirty="0">
                <a:latin typeface="Times New Roman"/>
                <a:cs typeface="Times New Roman"/>
              </a:rPr>
              <a:t>a </a:t>
            </a:r>
            <a:r>
              <a:rPr sz="2400" b="1" spc="-7" dirty="0">
                <a:latin typeface="Times New Roman"/>
                <a:cs typeface="Times New Roman"/>
              </a:rPr>
              <a:t>series </a:t>
            </a:r>
            <a:r>
              <a:rPr sz="2400" b="1" dirty="0">
                <a:latin typeface="Times New Roman"/>
                <a:cs typeface="Times New Roman"/>
              </a:rPr>
              <a:t>of </a:t>
            </a:r>
            <a:r>
              <a:rPr sz="2400" b="1" spc="-7" dirty="0">
                <a:latin typeface="Times New Roman"/>
                <a:cs typeface="Times New Roman"/>
              </a:rPr>
              <a:t>intermediate natural language </a:t>
            </a:r>
            <a:r>
              <a:rPr sz="2400" b="1" spc="-13" dirty="0">
                <a:latin typeface="Times New Roman"/>
                <a:cs typeface="Times New Roman"/>
              </a:rPr>
              <a:t>reasoning </a:t>
            </a:r>
            <a:r>
              <a:rPr sz="2400" b="1" spc="-7" dirty="0">
                <a:latin typeface="Times New Roman"/>
                <a:cs typeface="Times New Roman"/>
              </a:rPr>
              <a:t>steps </a:t>
            </a:r>
            <a:r>
              <a:rPr sz="2400" spc="-7" dirty="0">
                <a:latin typeface="Times New Roman"/>
                <a:cs typeface="Times New Roman"/>
              </a:rPr>
              <a:t>that lead </a:t>
            </a:r>
            <a:r>
              <a:rPr sz="2400" spc="-513" dirty="0">
                <a:latin typeface="Times New Roman"/>
                <a:cs typeface="Times New Roman"/>
              </a:rPr>
              <a:t> </a:t>
            </a:r>
            <a:r>
              <a:rPr sz="2400" spc="-7" dirty="0">
                <a:latin typeface="Times New Roman"/>
                <a:cs typeface="Times New Roman"/>
              </a:rPr>
              <a:t>to</a:t>
            </a:r>
            <a:r>
              <a:rPr sz="2400" spc="-13" dirty="0">
                <a:latin typeface="Times New Roman"/>
                <a:cs typeface="Times New Roman"/>
              </a:rPr>
              <a:t> </a:t>
            </a:r>
            <a:r>
              <a:rPr sz="2400" spc="-7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final output.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8929">
              <a:spcBef>
                <a:spcPts val="70"/>
              </a:spcBef>
            </a:pPr>
            <a:r>
              <a:rPr lang="en-US" spc="-56"/>
              <a:t>Elements</a:t>
            </a:r>
            <a:r>
              <a:rPr lang="en-US" spc="-148"/>
              <a:t> </a:t>
            </a:r>
            <a:r>
              <a:rPr lang="en-US" spc="-32"/>
              <a:t>of</a:t>
            </a:r>
            <a:r>
              <a:rPr lang="en-US" spc="-143"/>
              <a:t> </a:t>
            </a:r>
            <a:r>
              <a:rPr lang="en-US"/>
              <a:t>a</a:t>
            </a:r>
            <a:r>
              <a:rPr lang="en-US" spc="-148"/>
              <a:t> </a:t>
            </a:r>
            <a:r>
              <a:rPr lang="en-US" spc="-63"/>
              <a:t>Prompt</a:t>
            </a:r>
            <a:endParaRPr lang="en-US" spc="-63" dirty="0"/>
          </a:p>
        </p:txBody>
      </p:sp>
      <p:sp>
        <p:nvSpPr>
          <p:cNvPr id="3" name="object 3"/>
          <p:cNvSpPr txBox="1"/>
          <p:nvPr/>
        </p:nvSpPr>
        <p:spPr>
          <a:xfrm>
            <a:off x="1986558" y="943305"/>
            <a:ext cx="7545139" cy="2369693"/>
          </a:xfrm>
          <a:prstGeom prst="rect">
            <a:avLst/>
          </a:prstGeom>
        </p:spPr>
        <p:txBody>
          <a:bodyPr vert="horz" wrap="square" lIns="0" tIns="87064" rIns="0" bIns="0" rtlCol="0">
            <a:spAutoFit/>
          </a:bodyPr>
          <a:lstStyle/>
          <a:p>
            <a:pPr marL="312528" indent="-303599">
              <a:spcBef>
                <a:spcPts val="686"/>
              </a:spcBef>
              <a:buClr>
                <a:srgbClr val="7571FF"/>
              </a:buClr>
              <a:buChar char="•"/>
              <a:tabLst>
                <a:tab pos="312081" algn="l"/>
                <a:tab pos="312528" algn="l"/>
              </a:tabLst>
            </a:pP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A</a:t>
            </a:r>
            <a:r>
              <a:rPr sz="2391" spc="-134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prompt</a:t>
            </a:r>
            <a:r>
              <a:rPr sz="2391" spc="-4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is composed </a:t>
            </a:r>
            <a:r>
              <a:rPr sz="2391" spc="-4" dirty="0">
                <a:solidFill>
                  <a:srgbClr val="5E5E5E"/>
                </a:solidFill>
                <a:latin typeface="Arial MT"/>
                <a:cs typeface="Arial MT"/>
              </a:rPr>
              <a:t>with</a:t>
            </a:r>
            <a:r>
              <a:rPr sz="2391" spc="4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spc="-4" dirty="0">
                <a:solidFill>
                  <a:srgbClr val="5E5E5E"/>
                </a:solidFill>
                <a:latin typeface="Arial MT"/>
                <a:cs typeface="Arial MT"/>
              </a:rPr>
              <a:t>the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spc="-4" dirty="0">
                <a:solidFill>
                  <a:srgbClr val="5E5E5E"/>
                </a:solidFill>
                <a:latin typeface="Arial MT"/>
                <a:cs typeface="Arial MT"/>
              </a:rPr>
              <a:t>following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spc="-4" dirty="0">
                <a:solidFill>
                  <a:srgbClr val="5E5E5E"/>
                </a:solidFill>
                <a:latin typeface="Arial MT"/>
                <a:cs typeface="Arial MT"/>
              </a:rPr>
              <a:t>components:</a:t>
            </a:r>
            <a:endParaRPr sz="2391" dirty="0">
              <a:latin typeface="Arial MT"/>
              <a:cs typeface="Arial MT"/>
            </a:endParaRPr>
          </a:p>
          <a:p>
            <a:pPr marL="625056" lvl="1" indent="-294669">
              <a:spcBef>
                <a:spcPts val="1150"/>
              </a:spcBef>
              <a:buClr>
                <a:srgbClr val="7571FF"/>
              </a:buClr>
              <a:buSzPct val="123333"/>
              <a:buChar char="•"/>
              <a:tabLst>
                <a:tab pos="624609" algn="l"/>
                <a:tab pos="625056" algn="l"/>
                <a:tab pos="2136798" algn="l"/>
                <a:tab pos="4131173" algn="l"/>
              </a:tabLst>
            </a:pPr>
            <a:r>
              <a:rPr sz="2109" spc="-4" dirty="0">
                <a:solidFill>
                  <a:srgbClr val="0C78F8"/>
                </a:solidFill>
                <a:latin typeface="Arial MT"/>
                <a:cs typeface="Arial MT"/>
              </a:rPr>
              <a:t>Instructions	 	</a:t>
            </a:r>
            <a:endParaRPr sz="2109" dirty="0">
              <a:latin typeface="Arial MT"/>
              <a:cs typeface="Arial MT"/>
            </a:endParaRPr>
          </a:p>
          <a:p>
            <a:pPr marL="625056" lvl="1" indent="-294669">
              <a:spcBef>
                <a:spcPts val="1174"/>
              </a:spcBef>
              <a:buClr>
                <a:srgbClr val="7571FF"/>
              </a:buClr>
              <a:buSzPct val="123333"/>
              <a:buChar char="•"/>
              <a:tabLst>
                <a:tab pos="624609" algn="l"/>
                <a:tab pos="625056" algn="l"/>
              </a:tabLst>
            </a:pPr>
            <a:r>
              <a:rPr sz="2109" spc="-4" dirty="0">
                <a:solidFill>
                  <a:srgbClr val="5E5E5E"/>
                </a:solidFill>
                <a:latin typeface="Arial MT"/>
                <a:cs typeface="Arial MT"/>
              </a:rPr>
              <a:t>Context</a:t>
            </a:r>
            <a:endParaRPr sz="2109" dirty="0">
              <a:latin typeface="Arial MT"/>
              <a:cs typeface="Arial MT"/>
            </a:endParaRPr>
          </a:p>
          <a:p>
            <a:pPr marL="625056" lvl="1" indent="-294669">
              <a:spcBef>
                <a:spcPts val="1174"/>
              </a:spcBef>
              <a:buClr>
                <a:srgbClr val="7571FF"/>
              </a:buClr>
              <a:buSzPct val="123333"/>
              <a:buChar char="•"/>
              <a:tabLst>
                <a:tab pos="624609" algn="l"/>
                <a:tab pos="625056" algn="l"/>
                <a:tab pos="3793643" algn="l"/>
              </a:tabLst>
            </a:pPr>
            <a:r>
              <a:rPr sz="2109" dirty="0">
                <a:solidFill>
                  <a:srgbClr val="D79911"/>
                </a:solidFill>
                <a:latin typeface="Arial MT"/>
                <a:cs typeface="Arial MT"/>
              </a:rPr>
              <a:t>Input</a:t>
            </a:r>
            <a:r>
              <a:rPr sz="2109" spc="-32" dirty="0">
                <a:solidFill>
                  <a:srgbClr val="D79911"/>
                </a:solidFill>
                <a:latin typeface="Arial MT"/>
                <a:cs typeface="Arial MT"/>
              </a:rPr>
              <a:t> </a:t>
            </a:r>
            <a:r>
              <a:rPr sz="2109" spc="-4" dirty="0">
                <a:solidFill>
                  <a:srgbClr val="D79911"/>
                </a:solidFill>
                <a:latin typeface="Arial MT"/>
                <a:cs typeface="Arial MT"/>
              </a:rPr>
              <a:t>data</a:t>
            </a:r>
            <a:r>
              <a:rPr sz="2109" spc="214" dirty="0">
                <a:solidFill>
                  <a:srgbClr val="D79911"/>
                </a:solidFill>
                <a:latin typeface="Arial MT"/>
                <a:cs typeface="Arial MT"/>
              </a:rPr>
              <a:t> </a:t>
            </a:r>
            <a:r>
              <a:rPr sz="2109" dirty="0">
                <a:solidFill>
                  <a:srgbClr val="D79911"/>
                </a:solidFill>
                <a:latin typeface="Arial MT"/>
                <a:cs typeface="Arial MT"/>
              </a:rPr>
              <a:t> 	</a:t>
            </a:r>
            <a:endParaRPr sz="2109" dirty="0">
              <a:latin typeface="Arial MT"/>
              <a:cs typeface="Arial MT"/>
            </a:endParaRPr>
          </a:p>
          <a:p>
            <a:pPr marL="625056" lvl="1" indent="-294669">
              <a:spcBef>
                <a:spcPts val="1174"/>
              </a:spcBef>
              <a:buClr>
                <a:srgbClr val="7571FF"/>
              </a:buClr>
              <a:buSzPct val="123333"/>
              <a:buChar char="•"/>
              <a:tabLst>
                <a:tab pos="624609" algn="l"/>
                <a:tab pos="625056" algn="l"/>
              </a:tabLst>
            </a:pPr>
            <a:r>
              <a:rPr sz="2109" spc="-4" dirty="0">
                <a:solidFill>
                  <a:srgbClr val="D112B8"/>
                </a:solidFill>
                <a:latin typeface="Arial MT"/>
                <a:cs typeface="Arial MT"/>
              </a:rPr>
              <a:t>Output</a:t>
            </a:r>
            <a:r>
              <a:rPr sz="2109" spc="-18" dirty="0">
                <a:solidFill>
                  <a:srgbClr val="D112B8"/>
                </a:solidFill>
                <a:latin typeface="Arial MT"/>
                <a:cs typeface="Arial MT"/>
              </a:rPr>
              <a:t> </a:t>
            </a:r>
            <a:r>
              <a:rPr sz="2109" spc="-4" dirty="0">
                <a:solidFill>
                  <a:srgbClr val="D112B8"/>
                </a:solidFill>
                <a:latin typeface="Arial MT"/>
                <a:cs typeface="Arial MT"/>
              </a:rPr>
              <a:t>indicator</a:t>
            </a:r>
            <a:endParaRPr sz="2109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83850" y="3681707"/>
            <a:ext cx="7024539" cy="2372171"/>
            <a:chOff x="1507342" y="5236206"/>
            <a:chExt cx="9990455" cy="3373754"/>
          </a:xfrm>
        </p:grpSpPr>
        <p:sp>
          <p:nvSpPr>
            <p:cNvPr id="5" name="object 5"/>
            <p:cNvSpPr/>
            <p:nvPr/>
          </p:nvSpPr>
          <p:spPr>
            <a:xfrm>
              <a:off x="1539194" y="5267956"/>
              <a:ext cx="9926955" cy="3310254"/>
            </a:xfrm>
            <a:custGeom>
              <a:avLst/>
              <a:gdLst/>
              <a:ahLst/>
              <a:cxnLst/>
              <a:rect l="l" t="t" r="r" b="b"/>
              <a:pathLst>
                <a:path w="9926955" h="3310254">
                  <a:moveTo>
                    <a:pt x="9794057" y="0"/>
                  </a:moveTo>
                  <a:lnTo>
                    <a:pt x="132354" y="0"/>
                  </a:lnTo>
                  <a:lnTo>
                    <a:pt x="105996" y="101"/>
                  </a:lnTo>
                  <a:lnTo>
                    <a:pt x="67856" y="2738"/>
                  </a:lnTo>
                  <a:lnTo>
                    <a:pt x="25156" y="25258"/>
                  </a:lnTo>
                  <a:lnTo>
                    <a:pt x="2636" y="67957"/>
                  </a:lnTo>
                  <a:lnTo>
                    <a:pt x="0" y="106097"/>
                  </a:lnTo>
                  <a:lnTo>
                    <a:pt x="0" y="3203732"/>
                  </a:lnTo>
                  <a:lnTo>
                    <a:pt x="2636" y="3241872"/>
                  </a:lnTo>
                  <a:lnTo>
                    <a:pt x="25156" y="3284571"/>
                  </a:lnTo>
                  <a:lnTo>
                    <a:pt x="67856" y="3307091"/>
                  </a:lnTo>
                  <a:lnTo>
                    <a:pt x="105996" y="3309728"/>
                  </a:lnTo>
                  <a:lnTo>
                    <a:pt x="132354" y="3309829"/>
                  </a:lnTo>
                  <a:lnTo>
                    <a:pt x="9794057" y="3309829"/>
                  </a:lnTo>
                  <a:lnTo>
                    <a:pt x="9841672" y="3309018"/>
                  </a:lnTo>
                  <a:lnTo>
                    <a:pt x="9887639" y="3295513"/>
                  </a:lnTo>
                  <a:lnTo>
                    <a:pt x="9920022" y="3255112"/>
                  </a:lnTo>
                  <a:lnTo>
                    <a:pt x="9926411" y="3203732"/>
                  </a:lnTo>
                  <a:lnTo>
                    <a:pt x="9926411" y="106097"/>
                  </a:lnTo>
                  <a:lnTo>
                    <a:pt x="9925701" y="84841"/>
                  </a:lnTo>
                  <a:lnTo>
                    <a:pt x="9912197" y="38873"/>
                  </a:lnTo>
                  <a:lnTo>
                    <a:pt x="9871795" y="6490"/>
                  </a:lnTo>
                  <a:lnTo>
                    <a:pt x="9820415" y="101"/>
                  </a:lnTo>
                  <a:lnTo>
                    <a:pt x="979405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9092" y="5267956"/>
              <a:ext cx="9926955" cy="3310254"/>
            </a:xfrm>
            <a:custGeom>
              <a:avLst/>
              <a:gdLst/>
              <a:ahLst/>
              <a:cxnLst/>
              <a:rect l="l" t="t" r="r" b="b"/>
              <a:pathLst>
                <a:path w="9926955" h="3310254">
                  <a:moveTo>
                    <a:pt x="132455" y="0"/>
                  </a:moveTo>
                  <a:lnTo>
                    <a:pt x="9794159" y="0"/>
                  </a:lnTo>
                  <a:lnTo>
                    <a:pt x="9820517" y="101"/>
                  </a:lnTo>
                  <a:lnTo>
                    <a:pt x="9858657" y="2738"/>
                  </a:lnTo>
                  <a:lnTo>
                    <a:pt x="9901356" y="25258"/>
                  </a:lnTo>
                  <a:lnTo>
                    <a:pt x="9923876" y="67957"/>
                  </a:lnTo>
                  <a:lnTo>
                    <a:pt x="9926513" y="106097"/>
                  </a:lnTo>
                  <a:lnTo>
                    <a:pt x="9926614" y="132455"/>
                  </a:lnTo>
                  <a:lnTo>
                    <a:pt x="9926614" y="3177374"/>
                  </a:lnTo>
                  <a:lnTo>
                    <a:pt x="9925803" y="3224989"/>
                  </a:lnTo>
                  <a:lnTo>
                    <a:pt x="9912298" y="3270956"/>
                  </a:lnTo>
                  <a:lnTo>
                    <a:pt x="9871897" y="3303339"/>
                  </a:lnTo>
                  <a:lnTo>
                    <a:pt x="9820517" y="3309728"/>
                  </a:lnTo>
                  <a:lnTo>
                    <a:pt x="9794159" y="3309829"/>
                  </a:lnTo>
                  <a:lnTo>
                    <a:pt x="132455" y="3309829"/>
                  </a:lnTo>
                  <a:lnTo>
                    <a:pt x="84841" y="3309018"/>
                  </a:lnTo>
                  <a:lnTo>
                    <a:pt x="38873" y="3295514"/>
                  </a:lnTo>
                  <a:lnTo>
                    <a:pt x="6490" y="3255112"/>
                  </a:lnTo>
                  <a:lnTo>
                    <a:pt x="101" y="3203732"/>
                  </a:lnTo>
                  <a:lnTo>
                    <a:pt x="0" y="3177374"/>
                  </a:lnTo>
                  <a:lnTo>
                    <a:pt x="0" y="132455"/>
                  </a:lnTo>
                  <a:lnTo>
                    <a:pt x="811" y="84841"/>
                  </a:lnTo>
                  <a:lnTo>
                    <a:pt x="14316" y="38873"/>
                  </a:lnTo>
                  <a:lnTo>
                    <a:pt x="54717" y="6490"/>
                  </a:lnTo>
                  <a:lnTo>
                    <a:pt x="106097" y="101"/>
                  </a:lnTo>
                  <a:lnTo>
                    <a:pt x="132455" y="0"/>
                  </a:lnTo>
                  <a:close/>
                </a:path>
              </a:pathLst>
            </a:custGeom>
            <a:ln w="63500">
              <a:solidFill>
                <a:srgbClr val="6D6B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388567" y="4327324"/>
            <a:ext cx="4573339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spc="7" dirty="0">
                <a:solidFill>
                  <a:srgbClr val="0E5FF6"/>
                </a:solidFill>
                <a:latin typeface="Courier New"/>
                <a:cs typeface="Courier New"/>
              </a:rPr>
              <a:t>text</a:t>
            </a:r>
            <a:r>
              <a:rPr sz="1512" spc="11" dirty="0">
                <a:solidFill>
                  <a:srgbClr val="0E5FF6"/>
                </a:solidFill>
                <a:latin typeface="Courier New"/>
                <a:cs typeface="Courier New"/>
              </a:rPr>
              <a:t> </a:t>
            </a:r>
            <a:r>
              <a:rPr sz="1512" spc="7" dirty="0">
                <a:solidFill>
                  <a:srgbClr val="0E5FF6"/>
                </a:solidFill>
                <a:latin typeface="Courier New"/>
                <a:cs typeface="Courier New"/>
              </a:rPr>
              <a:t>into</a:t>
            </a:r>
            <a:r>
              <a:rPr sz="1512" spc="14" dirty="0">
                <a:solidFill>
                  <a:srgbClr val="0E5FF6"/>
                </a:solidFill>
                <a:latin typeface="Courier New"/>
                <a:cs typeface="Courier New"/>
              </a:rPr>
              <a:t> </a:t>
            </a:r>
            <a:r>
              <a:rPr sz="1512" spc="7" dirty="0">
                <a:solidFill>
                  <a:srgbClr val="0E5FF6"/>
                </a:solidFill>
                <a:latin typeface="Courier New"/>
                <a:cs typeface="Courier New"/>
              </a:rPr>
              <a:t>neutral,</a:t>
            </a:r>
            <a:r>
              <a:rPr sz="1512" spc="11" dirty="0">
                <a:solidFill>
                  <a:srgbClr val="0E5FF6"/>
                </a:solidFill>
                <a:latin typeface="Courier New"/>
                <a:cs typeface="Courier New"/>
              </a:rPr>
              <a:t> </a:t>
            </a:r>
            <a:r>
              <a:rPr sz="1512" spc="7" dirty="0">
                <a:solidFill>
                  <a:srgbClr val="0E5FF6"/>
                </a:solidFill>
                <a:latin typeface="Courier New"/>
                <a:cs typeface="Courier New"/>
              </a:rPr>
              <a:t>negative</a:t>
            </a:r>
            <a:r>
              <a:rPr sz="1512" spc="14" dirty="0">
                <a:solidFill>
                  <a:srgbClr val="0E5FF6"/>
                </a:solidFill>
                <a:latin typeface="Courier New"/>
                <a:cs typeface="Courier New"/>
              </a:rPr>
              <a:t> </a:t>
            </a:r>
            <a:r>
              <a:rPr sz="1512" spc="11" dirty="0">
                <a:solidFill>
                  <a:srgbClr val="0E5FF6"/>
                </a:solidFill>
                <a:latin typeface="Courier New"/>
                <a:cs typeface="Courier New"/>
              </a:rPr>
              <a:t>or</a:t>
            </a:r>
            <a:r>
              <a:rPr sz="1512" spc="14" dirty="0">
                <a:solidFill>
                  <a:srgbClr val="0E5FF6"/>
                </a:solidFill>
                <a:latin typeface="Courier New"/>
                <a:cs typeface="Courier New"/>
              </a:rPr>
              <a:t> </a:t>
            </a:r>
            <a:r>
              <a:rPr sz="1512" spc="11" dirty="0">
                <a:solidFill>
                  <a:srgbClr val="0E5FF6"/>
                </a:solidFill>
                <a:latin typeface="Courier New"/>
                <a:cs typeface="Courier New"/>
              </a:rPr>
              <a:t>positive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70119" y="4327324"/>
            <a:ext cx="3755827" cy="656643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spc="7" dirty="0">
                <a:solidFill>
                  <a:srgbClr val="0E5FF6"/>
                </a:solidFill>
                <a:latin typeface="Courier New"/>
                <a:cs typeface="Courier New"/>
              </a:rPr>
              <a:t>Classify</a:t>
            </a:r>
            <a:r>
              <a:rPr sz="1512" spc="-18" dirty="0">
                <a:solidFill>
                  <a:srgbClr val="0E5FF6"/>
                </a:solidFill>
                <a:latin typeface="Courier New"/>
                <a:cs typeface="Courier New"/>
              </a:rPr>
              <a:t> </a:t>
            </a:r>
            <a:r>
              <a:rPr sz="1512" spc="7" dirty="0">
                <a:solidFill>
                  <a:srgbClr val="0E5FF6"/>
                </a:solidFill>
                <a:latin typeface="Courier New"/>
                <a:cs typeface="Courier New"/>
              </a:rPr>
              <a:t>the</a:t>
            </a:r>
            <a:endParaRPr sz="1512">
              <a:latin typeface="Courier New"/>
              <a:cs typeface="Courier New"/>
            </a:endParaRPr>
          </a:p>
          <a:p>
            <a:pPr marL="8929">
              <a:spcBef>
                <a:spcPts val="1350"/>
              </a:spcBef>
            </a:pPr>
            <a:r>
              <a:rPr sz="1512" spc="7" dirty="0">
                <a:latin typeface="Courier New"/>
                <a:cs typeface="Courier New"/>
              </a:rPr>
              <a:t>Text:</a:t>
            </a:r>
            <a:r>
              <a:rPr sz="1512" spc="11" dirty="0">
                <a:latin typeface="Courier New"/>
                <a:cs typeface="Courier New"/>
              </a:rPr>
              <a:t> </a:t>
            </a:r>
            <a:r>
              <a:rPr sz="1512" spc="11" dirty="0">
                <a:solidFill>
                  <a:srgbClr val="D99911"/>
                </a:solidFill>
                <a:latin typeface="Courier New"/>
                <a:cs typeface="Courier New"/>
              </a:rPr>
              <a:t>I </a:t>
            </a:r>
            <a:r>
              <a:rPr sz="1512" spc="7" dirty="0">
                <a:solidFill>
                  <a:srgbClr val="D99911"/>
                </a:solidFill>
                <a:latin typeface="Courier New"/>
                <a:cs typeface="Courier New"/>
              </a:rPr>
              <a:t>think</a:t>
            </a:r>
            <a:r>
              <a:rPr sz="1512" spc="11" dirty="0">
                <a:solidFill>
                  <a:srgbClr val="D99911"/>
                </a:solidFill>
                <a:latin typeface="Courier New"/>
                <a:cs typeface="Courier New"/>
              </a:rPr>
              <a:t> </a:t>
            </a:r>
            <a:r>
              <a:rPr sz="1512" spc="7" dirty="0">
                <a:solidFill>
                  <a:srgbClr val="D99911"/>
                </a:solidFill>
                <a:latin typeface="Courier New"/>
                <a:cs typeface="Courier New"/>
              </a:rPr>
              <a:t>the</a:t>
            </a:r>
            <a:r>
              <a:rPr sz="1512" spc="11" dirty="0">
                <a:solidFill>
                  <a:srgbClr val="D99911"/>
                </a:solidFill>
                <a:latin typeface="Courier New"/>
                <a:cs typeface="Courier New"/>
              </a:rPr>
              <a:t> </a:t>
            </a:r>
            <a:r>
              <a:rPr sz="1512" spc="7" dirty="0">
                <a:solidFill>
                  <a:srgbClr val="D99911"/>
                </a:solidFill>
                <a:latin typeface="Courier New"/>
                <a:cs typeface="Courier New"/>
              </a:rPr>
              <a:t>food</a:t>
            </a:r>
            <a:r>
              <a:rPr sz="1512" spc="11" dirty="0">
                <a:solidFill>
                  <a:srgbClr val="D99911"/>
                </a:solidFill>
                <a:latin typeface="Courier New"/>
                <a:cs typeface="Courier New"/>
              </a:rPr>
              <a:t> </a:t>
            </a:r>
            <a:r>
              <a:rPr sz="1512" spc="7" dirty="0">
                <a:solidFill>
                  <a:srgbClr val="D99911"/>
                </a:solidFill>
                <a:latin typeface="Courier New"/>
                <a:cs typeface="Courier New"/>
              </a:rPr>
              <a:t>was</a:t>
            </a:r>
            <a:r>
              <a:rPr sz="1512" spc="11" dirty="0">
                <a:solidFill>
                  <a:srgbClr val="D99911"/>
                </a:solidFill>
                <a:latin typeface="Courier New"/>
                <a:cs typeface="Courier New"/>
              </a:rPr>
              <a:t> okay.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70119" y="5130996"/>
            <a:ext cx="1186309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spc="7" dirty="0">
                <a:solidFill>
                  <a:srgbClr val="CB14B7"/>
                </a:solidFill>
                <a:latin typeface="Courier New"/>
                <a:cs typeface="Courier New"/>
              </a:rPr>
              <a:t>Sentiment:</a:t>
            </a:r>
            <a:endParaRPr sz="1512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481329" y="1704584"/>
            <a:ext cx="3695998" cy="3669209"/>
            <a:chOff x="1361535" y="2424297"/>
            <a:chExt cx="5256530" cy="5218430"/>
          </a:xfrm>
        </p:grpSpPr>
        <p:sp>
          <p:nvSpPr>
            <p:cNvPr id="11" name="object 11"/>
            <p:cNvSpPr/>
            <p:nvPr/>
          </p:nvSpPr>
          <p:spPr>
            <a:xfrm>
              <a:off x="3697571" y="2436997"/>
              <a:ext cx="2859405" cy="3683000"/>
            </a:xfrm>
            <a:custGeom>
              <a:avLst/>
              <a:gdLst/>
              <a:ahLst/>
              <a:cxnLst/>
              <a:rect l="l" t="t" r="r" b="b"/>
              <a:pathLst>
                <a:path w="2859404" h="3683000">
                  <a:moveTo>
                    <a:pt x="0" y="0"/>
                  </a:moveTo>
                  <a:lnTo>
                    <a:pt x="2836190" y="6669"/>
                  </a:lnTo>
                  <a:lnTo>
                    <a:pt x="2859211" y="3669817"/>
                  </a:lnTo>
                  <a:lnTo>
                    <a:pt x="2859291" y="3682517"/>
                  </a:lnTo>
                </a:path>
              </a:pathLst>
            </a:custGeom>
            <a:ln w="25400">
              <a:solidFill>
                <a:srgbClr val="350F0D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95825" y="6106431"/>
              <a:ext cx="121920" cy="122555"/>
            </a:xfrm>
            <a:custGeom>
              <a:avLst/>
              <a:gdLst/>
              <a:ahLst/>
              <a:cxnLst/>
              <a:rect l="l" t="t" r="r" b="b"/>
              <a:pathLst>
                <a:path w="121920" h="122554">
                  <a:moveTo>
                    <a:pt x="121917" y="0"/>
                  </a:moveTo>
                  <a:lnTo>
                    <a:pt x="0" y="765"/>
                  </a:lnTo>
                  <a:lnTo>
                    <a:pt x="61724" y="122300"/>
                  </a:lnTo>
                  <a:lnTo>
                    <a:pt x="121917" y="0"/>
                  </a:lnTo>
                  <a:close/>
                </a:path>
              </a:pathLst>
            </a:custGeom>
            <a:solidFill>
              <a:srgbClr val="350F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86515" y="3768652"/>
              <a:ext cx="2689225" cy="2925445"/>
            </a:xfrm>
            <a:custGeom>
              <a:avLst/>
              <a:gdLst/>
              <a:ahLst/>
              <a:cxnLst/>
              <a:rect l="l" t="t" r="r" b="b"/>
              <a:pathLst>
                <a:path w="2689225" h="2925445">
                  <a:moveTo>
                    <a:pt x="0" y="0"/>
                  </a:moveTo>
                  <a:lnTo>
                    <a:pt x="2667586" y="5337"/>
                  </a:lnTo>
                  <a:lnTo>
                    <a:pt x="2689059" y="2912724"/>
                  </a:lnTo>
                  <a:lnTo>
                    <a:pt x="2689153" y="2925424"/>
                  </a:lnTo>
                </a:path>
              </a:pathLst>
            </a:custGeom>
            <a:ln w="25400">
              <a:solidFill>
                <a:srgbClr val="350F0D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14617" y="6680926"/>
              <a:ext cx="121920" cy="122555"/>
            </a:xfrm>
            <a:custGeom>
              <a:avLst/>
              <a:gdLst/>
              <a:ahLst/>
              <a:cxnLst/>
              <a:rect l="l" t="t" r="r" b="b"/>
              <a:pathLst>
                <a:path w="121920" h="122554">
                  <a:moveTo>
                    <a:pt x="121916" y="0"/>
                  </a:moveTo>
                  <a:lnTo>
                    <a:pt x="0" y="900"/>
                  </a:lnTo>
                  <a:lnTo>
                    <a:pt x="61859" y="122367"/>
                  </a:lnTo>
                  <a:lnTo>
                    <a:pt x="121916" y="0"/>
                  </a:lnTo>
                  <a:close/>
                </a:path>
              </a:pathLst>
            </a:custGeom>
            <a:solidFill>
              <a:srgbClr val="350F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74235" y="4548361"/>
              <a:ext cx="243840" cy="3033395"/>
            </a:xfrm>
            <a:custGeom>
              <a:avLst/>
              <a:gdLst/>
              <a:ahLst/>
              <a:cxnLst/>
              <a:rect l="l" t="t" r="r" b="b"/>
              <a:pathLst>
                <a:path w="243840" h="3033395">
                  <a:moveTo>
                    <a:pt x="243476" y="3033016"/>
                  </a:moveTo>
                  <a:lnTo>
                    <a:pt x="230778" y="3032822"/>
                  </a:lnTo>
                  <a:lnTo>
                    <a:pt x="2933" y="3029344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350F0D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04082" y="7520231"/>
              <a:ext cx="123189" cy="121920"/>
            </a:xfrm>
            <a:custGeom>
              <a:avLst/>
              <a:gdLst/>
              <a:ahLst/>
              <a:cxnLst/>
              <a:rect l="l" t="t" r="r" b="b"/>
              <a:pathLst>
                <a:path w="123189" h="121920">
                  <a:moveTo>
                    <a:pt x="1860" y="0"/>
                  </a:moveTo>
                  <a:lnTo>
                    <a:pt x="0" y="121906"/>
                  </a:lnTo>
                  <a:lnTo>
                    <a:pt x="122835" y="62812"/>
                  </a:lnTo>
                  <a:lnTo>
                    <a:pt x="1860" y="0"/>
                  </a:lnTo>
                  <a:close/>
                </a:path>
              </a:pathLst>
            </a:custGeom>
            <a:solidFill>
              <a:srgbClr val="350F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13" dirty="0"/>
              <a:t>Chain</a:t>
            </a:r>
            <a:r>
              <a:rPr sz="4000" spc="-53" dirty="0"/>
              <a:t> </a:t>
            </a:r>
            <a:r>
              <a:rPr sz="4000" dirty="0"/>
              <a:t>of</a:t>
            </a:r>
            <a:r>
              <a:rPr sz="4000" spc="-107" dirty="0"/>
              <a:t> </a:t>
            </a:r>
            <a:r>
              <a:rPr sz="4000" spc="-7" dirty="0"/>
              <a:t>Thought</a:t>
            </a:r>
            <a:r>
              <a:rPr sz="4000" spc="-47" dirty="0"/>
              <a:t> </a:t>
            </a:r>
            <a:r>
              <a:rPr sz="4000" dirty="0"/>
              <a:t>(CoT)</a:t>
            </a:r>
            <a:endParaRPr sz="40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16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957" y="1157069"/>
            <a:ext cx="4404095" cy="279204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18634" y="1727272"/>
            <a:ext cx="87968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b="1" spc="-7" dirty="0">
                <a:solidFill>
                  <a:srgbClr val="37761C"/>
                </a:solidFill>
                <a:latin typeface="Times New Roman"/>
                <a:cs typeface="Times New Roman"/>
              </a:rPr>
              <a:t>Examples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2967" y="283587"/>
            <a:ext cx="4994487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13" dirty="0">
                <a:latin typeface="Times New Roman"/>
                <a:cs typeface="Times New Roman"/>
              </a:rPr>
              <a:t>Chain</a:t>
            </a:r>
            <a:r>
              <a:rPr sz="4000" spc="-53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of</a:t>
            </a:r>
            <a:r>
              <a:rPr sz="4000" spc="-107" dirty="0">
                <a:latin typeface="Times New Roman"/>
                <a:cs typeface="Times New Roman"/>
              </a:rPr>
              <a:t> </a:t>
            </a:r>
            <a:r>
              <a:rPr sz="4000" spc="-7" dirty="0">
                <a:latin typeface="Times New Roman"/>
                <a:cs typeface="Times New Roman"/>
              </a:rPr>
              <a:t>Thought</a:t>
            </a:r>
            <a:r>
              <a:rPr sz="4000" spc="-47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(CoT)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81956" y="1117459"/>
            <a:ext cx="9020387" cy="2832100"/>
            <a:chOff x="1036467" y="838094"/>
            <a:chExt cx="6765290" cy="21240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6467" y="867802"/>
              <a:ext cx="3303071" cy="209403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77574" y="838094"/>
              <a:ext cx="3423974" cy="2078845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18634" y="1727272"/>
            <a:ext cx="87968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b="1" spc="-7" dirty="0">
                <a:solidFill>
                  <a:srgbClr val="37761C"/>
                </a:solidFill>
                <a:latin typeface="Times New Roman"/>
                <a:cs typeface="Times New Roman"/>
              </a:rPr>
              <a:t>Examples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499433" y="1747673"/>
            <a:ext cx="1310640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b="1" spc="-7" dirty="0">
                <a:solidFill>
                  <a:srgbClr val="37761C"/>
                </a:solidFill>
                <a:latin typeface="Times New Roman"/>
                <a:cs typeface="Times New Roman"/>
              </a:rPr>
              <a:t>Co</a:t>
            </a:r>
            <a:r>
              <a:rPr sz="1600" b="1" dirty="0">
                <a:solidFill>
                  <a:srgbClr val="37761C"/>
                </a:solidFill>
                <a:latin typeface="Times New Roman"/>
                <a:cs typeface="Times New Roman"/>
              </a:rPr>
              <a:t>T</a:t>
            </a:r>
            <a:r>
              <a:rPr sz="1600" b="1" spc="-33" dirty="0">
                <a:solidFill>
                  <a:srgbClr val="37761C"/>
                </a:solidFill>
                <a:latin typeface="Times New Roman"/>
                <a:cs typeface="Times New Roman"/>
              </a:rPr>
              <a:t> </a:t>
            </a:r>
            <a:r>
              <a:rPr sz="1600" b="1" spc="-7" dirty="0">
                <a:solidFill>
                  <a:srgbClr val="37761C"/>
                </a:solidFill>
                <a:latin typeface="Times New Roman"/>
                <a:cs typeface="Times New Roman"/>
              </a:rPr>
              <a:t>Examples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79134" y="3204373"/>
            <a:ext cx="182287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b="1" spc="-7" dirty="0">
                <a:solidFill>
                  <a:srgbClr val="3C78D8"/>
                </a:solidFill>
                <a:latin typeface="Times New Roman"/>
                <a:cs typeface="Times New Roman"/>
              </a:rPr>
              <a:t>Step-by-ste</a:t>
            </a:r>
            <a:r>
              <a:rPr sz="1600" b="1" dirty="0">
                <a:solidFill>
                  <a:srgbClr val="3C78D8"/>
                </a:solidFill>
                <a:latin typeface="Times New Roman"/>
                <a:cs typeface="Times New Roman"/>
              </a:rPr>
              <a:t>p</a:t>
            </a:r>
            <a:r>
              <a:rPr sz="1600" b="1" spc="-93" dirty="0">
                <a:solidFill>
                  <a:srgbClr val="3C78D8"/>
                </a:solidFill>
                <a:latin typeface="Times New Roman"/>
                <a:cs typeface="Times New Roman"/>
              </a:rPr>
              <a:t> </a:t>
            </a:r>
            <a:r>
              <a:rPr sz="1600" b="1" spc="-7" dirty="0">
                <a:solidFill>
                  <a:srgbClr val="3C78D8"/>
                </a:solidFill>
                <a:latin typeface="Times New Roman"/>
                <a:cs typeface="Times New Roman"/>
              </a:rPr>
              <a:t>Answer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378434" y="1007433"/>
            <a:ext cx="1536700" cy="350520"/>
          </a:xfrm>
          <a:custGeom>
            <a:avLst/>
            <a:gdLst/>
            <a:ahLst/>
            <a:cxnLst/>
            <a:rect l="l" t="t" r="r" b="b"/>
            <a:pathLst>
              <a:path w="1152525" h="262890">
                <a:moveTo>
                  <a:pt x="0" y="0"/>
                </a:moveTo>
                <a:lnTo>
                  <a:pt x="1152299" y="0"/>
                </a:lnTo>
                <a:lnTo>
                  <a:pt x="1152299" y="262799"/>
                </a:lnTo>
                <a:lnTo>
                  <a:pt x="0" y="262799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878400" y="1025673"/>
            <a:ext cx="151299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40" dirty="0">
                <a:latin typeface="MS UI Gothic"/>
                <a:cs typeface="MS UI Gothic"/>
              </a:rPr>
              <a:t>（</a:t>
            </a:r>
            <a:r>
              <a:rPr sz="1600" spc="-40" dirty="0">
                <a:latin typeface="Times New Roman"/>
                <a:cs typeface="Times New Roman"/>
              </a:rPr>
              <a:t>Wei</a:t>
            </a:r>
            <a:r>
              <a:rPr sz="1600" spc="-33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et</a:t>
            </a:r>
            <a:r>
              <a:rPr sz="1600" spc="-27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al.,</a:t>
            </a:r>
            <a:r>
              <a:rPr sz="1600" spc="-3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2022</a:t>
            </a:r>
            <a:r>
              <a:rPr sz="1600" dirty="0">
                <a:latin typeface="MS UI Gothic"/>
                <a:cs typeface="MS UI Gothic"/>
              </a:rPr>
              <a:t>）</a:t>
            </a:r>
            <a:endParaRPr sz="1600">
              <a:latin typeface="MS UI Gothic"/>
              <a:cs typeface="MS UI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960000" y="1988900"/>
            <a:ext cx="4290907" cy="350520"/>
          </a:xfrm>
          <a:custGeom>
            <a:avLst/>
            <a:gdLst/>
            <a:ahLst/>
            <a:cxnLst/>
            <a:rect l="l" t="t" r="r" b="b"/>
            <a:pathLst>
              <a:path w="3218179" h="262889">
                <a:moveTo>
                  <a:pt x="3217799" y="262799"/>
                </a:moveTo>
                <a:lnTo>
                  <a:pt x="0" y="262799"/>
                </a:lnTo>
                <a:lnTo>
                  <a:pt x="0" y="0"/>
                </a:lnTo>
                <a:lnTo>
                  <a:pt x="3217799" y="0"/>
                </a:lnTo>
                <a:lnTo>
                  <a:pt x="3217799" y="262799"/>
                </a:lnTo>
                <a:close/>
              </a:path>
            </a:pathLst>
          </a:custGeom>
          <a:solidFill>
            <a:srgbClr val="FF0000">
              <a:alpha val="1214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C79E89FC-5A0A-B362-0F3C-CAF24828E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2967" y="283587"/>
            <a:ext cx="4994487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13" dirty="0">
                <a:latin typeface="Times New Roman"/>
                <a:cs typeface="Times New Roman"/>
              </a:rPr>
              <a:t>Chain</a:t>
            </a:r>
            <a:r>
              <a:rPr sz="4000" spc="-53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of</a:t>
            </a:r>
            <a:r>
              <a:rPr sz="4000" spc="-107" dirty="0">
                <a:latin typeface="Times New Roman"/>
                <a:cs typeface="Times New Roman"/>
              </a:rPr>
              <a:t> </a:t>
            </a:r>
            <a:r>
              <a:rPr sz="4000" spc="-7" dirty="0">
                <a:latin typeface="Times New Roman"/>
                <a:cs typeface="Times New Roman"/>
              </a:rPr>
              <a:t>Thought</a:t>
            </a:r>
            <a:r>
              <a:rPr sz="4000" spc="-47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(CoT)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81956" y="1117459"/>
            <a:ext cx="9020387" cy="2832100"/>
            <a:chOff x="1036467" y="838094"/>
            <a:chExt cx="6765290" cy="21240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6467" y="867802"/>
              <a:ext cx="3303071" cy="209403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77574" y="838094"/>
              <a:ext cx="3423974" cy="207884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26852" y="4161520"/>
            <a:ext cx="4341008" cy="172623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18634" y="1727272"/>
            <a:ext cx="87968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b="1" spc="-7" dirty="0">
                <a:solidFill>
                  <a:srgbClr val="37761C"/>
                </a:solidFill>
                <a:latin typeface="Times New Roman"/>
                <a:cs typeface="Times New Roman"/>
              </a:rPr>
              <a:t>Examples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499433" y="1747673"/>
            <a:ext cx="1310640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b="1" spc="-7" dirty="0">
                <a:solidFill>
                  <a:srgbClr val="37761C"/>
                </a:solidFill>
                <a:latin typeface="Times New Roman"/>
                <a:cs typeface="Times New Roman"/>
              </a:rPr>
              <a:t>Co</a:t>
            </a:r>
            <a:r>
              <a:rPr sz="1600" b="1" dirty="0">
                <a:solidFill>
                  <a:srgbClr val="37761C"/>
                </a:solidFill>
                <a:latin typeface="Times New Roman"/>
                <a:cs typeface="Times New Roman"/>
              </a:rPr>
              <a:t>T</a:t>
            </a:r>
            <a:r>
              <a:rPr sz="1600" b="1" spc="-33" dirty="0">
                <a:solidFill>
                  <a:srgbClr val="37761C"/>
                </a:solidFill>
                <a:latin typeface="Times New Roman"/>
                <a:cs typeface="Times New Roman"/>
              </a:rPr>
              <a:t> </a:t>
            </a:r>
            <a:r>
              <a:rPr sz="1600" b="1" spc="-7" dirty="0">
                <a:solidFill>
                  <a:srgbClr val="37761C"/>
                </a:solidFill>
                <a:latin typeface="Times New Roman"/>
                <a:cs typeface="Times New Roman"/>
              </a:rPr>
              <a:t>Examples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79134" y="3204373"/>
            <a:ext cx="182287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b="1" spc="-7" dirty="0">
                <a:solidFill>
                  <a:srgbClr val="3C78D8"/>
                </a:solidFill>
                <a:latin typeface="Times New Roman"/>
                <a:cs typeface="Times New Roman"/>
              </a:rPr>
              <a:t>Step-by-ste</a:t>
            </a:r>
            <a:r>
              <a:rPr sz="1600" b="1" dirty="0">
                <a:solidFill>
                  <a:srgbClr val="3C78D8"/>
                </a:solidFill>
                <a:latin typeface="Times New Roman"/>
                <a:cs typeface="Times New Roman"/>
              </a:rPr>
              <a:t>p</a:t>
            </a:r>
            <a:r>
              <a:rPr sz="1600" b="1" spc="-93" dirty="0">
                <a:solidFill>
                  <a:srgbClr val="3C78D8"/>
                </a:solidFill>
                <a:latin typeface="Times New Roman"/>
                <a:cs typeface="Times New Roman"/>
              </a:rPr>
              <a:t> </a:t>
            </a:r>
            <a:r>
              <a:rPr sz="1600" b="1" spc="-7" dirty="0">
                <a:solidFill>
                  <a:srgbClr val="3C78D8"/>
                </a:solidFill>
                <a:latin typeface="Times New Roman"/>
                <a:cs typeface="Times New Roman"/>
              </a:rPr>
              <a:t>Answer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378434" y="1007433"/>
            <a:ext cx="1536700" cy="350520"/>
          </a:xfrm>
          <a:custGeom>
            <a:avLst/>
            <a:gdLst/>
            <a:ahLst/>
            <a:cxnLst/>
            <a:rect l="l" t="t" r="r" b="b"/>
            <a:pathLst>
              <a:path w="1152525" h="262890">
                <a:moveTo>
                  <a:pt x="0" y="0"/>
                </a:moveTo>
                <a:lnTo>
                  <a:pt x="1152299" y="0"/>
                </a:lnTo>
                <a:lnTo>
                  <a:pt x="1152299" y="262799"/>
                </a:lnTo>
                <a:lnTo>
                  <a:pt x="0" y="262799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878400" y="1025673"/>
            <a:ext cx="151299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40" dirty="0">
                <a:latin typeface="MS UI Gothic"/>
                <a:cs typeface="MS UI Gothic"/>
              </a:rPr>
              <a:t>（</a:t>
            </a:r>
            <a:r>
              <a:rPr sz="1600" spc="-40" dirty="0">
                <a:latin typeface="Times New Roman"/>
                <a:cs typeface="Times New Roman"/>
              </a:rPr>
              <a:t>Wei</a:t>
            </a:r>
            <a:r>
              <a:rPr sz="1600" spc="-33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et</a:t>
            </a:r>
            <a:r>
              <a:rPr sz="1600" spc="-27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al.,</a:t>
            </a:r>
            <a:r>
              <a:rPr sz="1600" spc="-3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2022</a:t>
            </a:r>
            <a:r>
              <a:rPr sz="1600" dirty="0">
                <a:latin typeface="MS UI Gothic"/>
                <a:cs typeface="MS UI Gothic"/>
              </a:rPr>
              <a:t>）</a:t>
            </a:r>
            <a:endParaRPr sz="1600">
              <a:latin typeface="MS UI Gothic"/>
              <a:cs typeface="MS UI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960000" y="1988900"/>
            <a:ext cx="4290907" cy="350520"/>
          </a:xfrm>
          <a:custGeom>
            <a:avLst/>
            <a:gdLst/>
            <a:ahLst/>
            <a:cxnLst/>
            <a:rect l="l" t="t" r="r" b="b"/>
            <a:pathLst>
              <a:path w="3218179" h="262889">
                <a:moveTo>
                  <a:pt x="3217799" y="262799"/>
                </a:moveTo>
                <a:lnTo>
                  <a:pt x="0" y="262799"/>
                </a:lnTo>
                <a:lnTo>
                  <a:pt x="0" y="0"/>
                </a:lnTo>
                <a:lnTo>
                  <a:pt x="3217799" y="0"/>
                </a:lnTo>
                <a:lnTo>
                  <a:pt x="3217799" y="262799"/>
                </a:lnTo>
                <a:close/>
              </a:path>
            </a:pathLst>
          </a:custGeom>
          <a:solidFill>
            <a:srgbClr val="FF0000">
              <a:alpha val="1214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C05F8BF8-3AE1-855D-C0C7-CDE3DB47F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13" dirty="0"/>
              <a:t>Chain</a:t>
            </a:r>
            <a:r>
              <a:rPr sz="4000" spc="-53" dirty="0"/>
              <a:t> </a:t>
            </a:r>
            <a:r>
              <a:rPr sz="4000" dirty="0"/>
              <a:t>of</a:t>
            </a:r>
            <a:r>
              <a:rPr sz="4000" spc="-107" dirty="0"/>
              <a:t> </a:t>
            </a:r>
            <a:r>
              <a:rPr sz="4000" spc="-7" dirty="0"/>
              <a:t>Thought</a:t>
            </a:r>
            <a:r>
              <a:rPr sz="4000" spc="-47" dirty="0"/>
              <a:t> </a:t>
            </a:r>
            <a:r>
              <a:rPr sz="4000" dirty="0"/>
              <a:t>(CoT)</a:t>
            </a:r>
            <a:endParaRPr sz="4000"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19</a:t>
            </a:fld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1381956" y="1117459"/>
            <a:ext cx="9020387" cy="2832100"/>
            <a:chOff x="1036467" y="838094"/>
            <a:chExt cx="6765290" cy="21240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6467" y="867802"/>
              <a:ext cx="3303071" cy="209403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77574" y="838094"/>
              <a:ext cx="3423974" cy="2078845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5938656" y="4069317"/>
            <a:ext cx="4489872" cy="1841500"/>
            <a:chOff x="4453992" y="3051987"/>
            <a:chExt cx="3367404" cy="138112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53992" y="3147734"/>
              <a:ext cx="3367152" cy="128478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470924" y="3056750"/>
              <a:ext cx="652780" cy="208279"/>
            </a:xfrm>
            <a:custGeom>
              <a:avLst/>
              <a:gdLst/>
              <a:ahLst/>
              <a:cxnLst/>
              <a:rect l="l" t="t" r="r" b="b"/>
              <a:pathLst>
                <a:path w="652779" h="208279">
                  <a:moveTo>
                    <a:pt x="652499" y="208199"/>
                  </a:moveTo>
                  <a:lnTo>
                    <a:pt x="0" y="208199"/>
                  </a:lnTo>
                  <a:lnTo>
                    <a:pt x="0" y="0"/>
                  </a:lnTo>
                  <a:lnTo>
                    <a:pt x="652499" y="0"/>
                  </a:lnTo>
                  <a:lnTo>
                    <a:pt x="652499" y="208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70924" y="3056750"/>
              <a:ext cx="652780" cy="208279"/>
            </a:xfrm>
            <a:custGeom>
              <a:avLst/>
              <a:gdLst/>
              <a:ahLst/>
              <a:cxnLst/>
              <a:rect l="l" t="t" r="r" b="b"/>
              <a:pathLst>
                <a:path w="652779" h="208279">
                  <a:moveTo>
                    <a:pt x="0" y="0"/>
                  </a:moveTo>
                  <a:lnTo>
                    <a:pt x="652499" y="0"/>
                  </a:lnTo>
                  <a:lnTo>
                    <a:pt x="652499" y="208199"/>
                  </a:lnTo>
                  <a:lnTo>
                    <a:pt x="0" y="20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26852" y="4161520"/>
            <a:ext cx="4341008" cy="172623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18634" y="1727272"/>
            <a:ext cx="87968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b="1" spc="-7" dirty="0">
                <a:solidFill>
                  <a:srgbClr val="37761C"/>
                </a:solidFill>
                <a:latin typeface="Times New Roman"/>
                <a:cs typeface="Times New Roman"/>
              </a:rPr>
              <a:t>Examples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499433" y="1820872"/>
            <a:ext cx="1310640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b="1" spc="-7" dirty="0">
                <a:solidFill>
                  <a:srgbClr val="37761C"/>
                </a:solidFill>
                <a:latin typeface="Times New Roman"/>
                <a:cs typeface="Times New Roman"/>
              </a:rPr>
              <a:t>Co</a:t>
            </a:r>
            <a:r>
              <a:rPr sz="1600" b="1" dirty="0">
                <a:solidFill>
                  <a:srgbClr val="37761C"/>
                </a:solidFill>
                <a:latin typeface="Times New Roman"/>
                <a:cs typeface="Times New Roman"/>
              </a:rPr>
              <a:t>T</a:t>
            </a:r>
            <a:r>
              <a:rPr sz="1600" b="1" spc="-33" dirty="0">
                <a:solidFill>
                  <a:srgbClr val="37761C"/>
                </a:solidFill>
                <a:latin typeface="Times New Roman"/>
                <a:cs typeface="Times New Roman"/>
              </a:rPr>
              <a:t> </a:t>
            </a:r>
            <a:r>
              <a:rPr sz="1600" b="1" spc="-7" dirty="0">
                <a:solidFill>
                  <a:srgbClr val="37761C"/>
                </a:solidFill>
                <a:latin typeface="Times New Roman"/>
                <a:cs typeface="Times New Roman"/>
              </a:rPr>
              <a:t>Examples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79134" y="3204373"/>
            <a:ext cx="182287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b="1" spc="-7" dirty="0">
                <a:solidFill>
                  <a:srgbClr val="3C78D8"/>
                </a:solidFill>
                <a:latin typeface="Times New Roman"/>
                <a:cs typeface="Times New Roman"/>
              </a:rPr>
              <a:t>Step-by-ste</a:t>
            </a:r>
            <a:r>
              <a:rPr sz="1600" b="1" dirty="0">
                <a:solidFill>
                  <a:srgbClr val="3C78D8"/>
                </a:solidFill>
                <a:latin typeface="Times New Roman"/>
                <a:cs typeface="Times New Roman"/>
              </a:rPr>
              <a:t>p</a:t>
            </a:r>
            <a:r>
              <a:rPr sz="1600" b="1" spc="-93" dirty="0">
                <a:solidFill>
                  <a:srgbClr val="3C78D8"/>
                </a:solidFill>
                <a:latin typeface="Times New Roman"/>
                <a:cs typeface="Times New Roman"/>
              </a:rPr>
              <a:t> </a:t>
            </a:r>
            <a:r>
              <a:rPr sz="1600" b="1" spc="-7" dirty="0">
                <a:solidFill>
                  <a:srgbClr val="3C78D8"/>
                </a:solidFill>
                <a:latin typeface="Times New Roman"/>
                <a:cs typeface="Times New Roman"/>
              </a:rPr>
              <a:t>Answer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305968" y="5258573"/>
            <a:ext cx="189399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600" b="1" spc="-120" dirty="0">
                <a:latin typeface="Times New Roman"/>
                <a:cs typeface="Times New Roman"/>
              </a:rPr>
              <a:t>T</a:t>
            </a:r>
            <a:r>
              <a:rPr sz="1600" b="1" spc="-7" dirty="0">
                <a:latin typeface="Times New Roman"/>
                <a:cs typeface="Times New Roman"/>
              </a:rPr>
              <a:t>wo-stag</a:t>
            </a:r>
            <a:r>
              <a:rPr sz="1600" b="1" dirty="0">
                <a:latin typeface="Times New Roman"/>
                <a:cs typeface="Times New Roman"/>
              </a:rPr>
              <a:t>e</a:t>
            </a:r>
            <a:r>
              <a:rPr sz="1600" b="1" spc="-7" dirty="0">
                <a:latin typeface="Times New Roman"/>
                <a:cs typeface="Times New Roman"/>
              </a:rPr>
              <a:t> P</a:t>
            </a:r>
            <a:r>
              <a:rPr sz="1600" b="1" spc="-33" dirty="0">
                <a:latin typeface="Times New Roman"/>
                <a:cs typeface="Times New Roman"/>
              </a:rPr>
              <a:t>r</a:t>
            </a:r>
            <a:r>
              <a:rPr sz="1600" b="1" dirty="0">
                <a:latin typeface="Times New Roman"/>
                <a:cs typeface="Times New Roman"/>
              </a:rPr>
              <a:t>ompting  </a:t>
            </a:r>
            <a:r>
              <a:rPr sz="1600" b="1" spc="-7" dirty="0">
                <a:solidFill>
                  <a:srgbClr val="3C78D8"/>
                </a:solidFill>
                <a:latin typeface="Times New Roman"/>
                <a:cs typeface="Times New Roman"/>
              </a:rPr>
              <a:t>Step-by-ste</a:t>
            </a:r>
            <a:r>
              <a:rPr sz="1600" b="1" dirty="0">
                <a:solidFill>
                  <a:srgbClr val="3C78D8"/>
                </a:solidFill>
                <a:latin typeface="Times New Roman"/>
                <a:cs typeface="Times New Roman"/>
              </a:rPr>
              <a:t>p</a:t>
            </a:r>
            <a:r>
              <a:rPr sz="1600" b="1" spc="-93" dirty="0">
                <a:solidFill>
                  <a:srgbClr val="3C78D8"/>
                </a:solidFill>
                <a:latin typeface="Times New Roman"/>
                <a:cs typeface="Times New Roman"/>
              </a:rPr>
              <a:t> </a:t>
            </a:r>
            <a:r>
              <a:rPr sz="1600" b="1" spc="-7" dirty="0">
                <a:solidFill>
                  <a:srgbClr val="3C78D8"/>
                </a:solidFill>
                <a:latin typeface="Times New Roman"/>
                <a:cs typeface="Times New Roman"/>
              </a:rPr>
              <a:t>Answer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78434" y="1007433"/>
            <a:ext cx="1536700" cy="350520"/>
          </a:xfrm>
          <a:custGeom>
            <a:avLst/>
            <a:gdLst/>
            <a:ahLst/>
            <a:cxnLst/>
            <a:rect l="l" t="t" r="r" b="b"/>
            <a:pathLst>
              <a:path w="1152525" h="262890">
                <a:moveTo>
                  <a:pt x="0" y="0"/>
                </a:moveTo>
                <a:lnTo>
                  <a:pt x="1152299" y="0"/>
                </a:lnTo>
                <a:lnTo>
                  <a:pt x="1152299" y="262799"/>
                </a:lnTo>
                <a:lnTo>
                  <a:pt x="0" y="262799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128699" y="4039265"/>
            <a:ext cx="1499447" cy="350520"/>
          </a:xfrm>
          <a:custGeom>
            <a:avLst/>
            <a:gdLst/>
            <a:ahLst/>
            <a:cxnLst/>
            <a:rect l="l" t="t" r="r" b="b"/>
            <a:pathLst>
              <a:path w="1124585" h="262889">
                <a:moveTo>
                  <a:pt x="0" y="0"/>
                </a:moveTo>
                <a:lnTo>
                  <a:pt x="1124399" y="0"/>
                </a:lnTo>
                <a:lnTo>
                  <a:pt x="1124399" y="262799"/>
                </a:lnTo>
                <a:lnTo>
                  <a:pt x="0" y="262799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878400" y="1025673"/>
            <a:ext cx="151299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40" dirty="0">
                <a:latin typeface="MS UI Gothic"/>
                <a:cs typeface="MS UI Gothic"/>
              </a:rPr>
              <a:t>（</a:t>
            </a:r>
            <a:r>
              <a:rPr sz="1600" spc="-40" dirty="0">
                <a:latin typeface="Times New Roman"/>
                <a:cs typeface="Times New Roman"/>
              </a:rPr>
              <a:t>Wei</a:t>
            </a:r>
            <a:r>
              <a:rPr sz="1600" spc="-33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et</a:t>
            </a:r>
            <a:r>
              <a:rPr sz="1600" spc="-27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al.,</a:t>
            </a:r>
            <a:r>
              <a:rPr sz="1600" spc="-3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2022</a:t>
            </a:r>
            <a:r>
              <a:rPr sz="1600" dirty="0">
                <a:latin typeface="MS UI Gothic"/>
                <a:cs typeface="MS UI Gothic"/>
              </a:rPr>
              <a:t>）</a:t>
            </a:r>
            <a:endParaRPr sz="1600">
              <a:latin typeface="MS UI Gothic"/>
              <a:cs typeface="MS UI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604968" y="4128506"/>
            <a:ext cx="182287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7" dirty="0">
                <a:latin typeface="MS UI Gothic"/>
                <a:cs typeface="MS UI Gothic"/>
              </a:rPr>
              <a:t>（</a:t>
            </a:r>
            <a:r>
              <a:rPr sz="1600" spc="-7" dirty="0">
                <a:latin typeface="Times New Roman"/>
                <a:cs typeface="Times New Roman"/>
              </a:rPr>
              <a:t>KoJima</a:t>
            </a:r>
            <a:r>
              <a:rPr sz="1600" spc="-33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et</a:t>
            </a:r>
            <a:r>
              <a:rPr sz="1600" spc="-33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al.,</a:t>
            </a:r>
            <a:r>
              <a:rPr sz="1600" spc="-3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2022</a:t>
            </a:r>
            <a:r>
              <a:rPr sz="1600" dirty="0">
                <a:latin typeface="MS UI Gothic"/>
                <a:cs typeface="MS UI Gothic"/>
              </a:rPr>
              <a:t>）</a:t>
            </a:r>
            <a:endParaRPr sz="1600">
              <a:latin typeface="MS UI Gothic"/>
              <a:cs typeface="MS UI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960000" y="1988900"/>
            <a:ext cx="4290907" cy="350520"/>
          </a:xfrm>
          <a:custGeom>
            <a:avLst/>
            <a:gdLst/>
            <a:ahLst/>
            <a:cxnLst/>
            <a:rect l="l" t="t" r="r" b="b"/>
            <a:pathLst>
              <a:path w="3218179" h="262889">
                <a:moveTo>
                  <a:pt x="3217799" y="262799"/>
                </a:moveTo>
                <a:lnTo>
                  <a:pt x="0" y="262799"/>
                </a:lnTo>
                <a:lnTo>
                  <a:pt x="0" y="0"/>
                </a:lnTo>
                <a:lnTo>
                  <a:pt x="3217799" y="0"/>
                </a:lnTo>
                <a:lnTo>
                  <a:pt x="3217799" y="262799"/>
                </a:lnTo>
                <a:close/>
              </a:path>
            </a:pathLst>
          </a:custGeom>
          <a:solidFill>
            <a:srgbClr val="FF0000">
              <a:alpha val="1214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7" dirty="0"/>
              <a:t>Zero-Shot</a:t>
            </a:r>
            <a:r>
              <a:rPr sz="4000" spc="-33" dirty="0"/>
              <a:t> </a:t>
            </a:r>
            <a:r>
              <a:rPr sz="4000" spc="-13" dirty="0"/>
              <a:t>Chain</a:t>
            </a:r>
            <a:r>
              <a:rPr sz="4000" spc="-40" dirty="0"/>
              <a:t> </a:t>
            </a:r>
            <a:r>
              <a:rPr sz="4000" dirty="0"/>
              <a:t>of</a:t>
            </a:r>
            <a:r>
              <a:rPr sz="4000" spc="-100" dirty="0"/>
              <a:t> </a:t>
            </a:r>
            <a:r>
              <a:rPr sz="4000" spc="-7" dirty="0"/>
              <a:t>Thought</a:t>
            </a:r>
            <a:r>
              <a:rPr sz="4000" spc="-33" dirty="0"/>
              <a:t> </a:t>
            </a:r>
            <a:r>
              <a:rPr sz="4000" dirty="0"/>
              <a:t>(CoT)</a:t>
            </a:r>
            <a:endParaRPr sz="40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20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274867" y="1377995"/>
            <a:ext cx="6025727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7" dirty="0">
                <a:latin typeface="Times New Roman"/>
                <a:cs typeface="Times New Roman"/>
              </a:rPr>
              <a:t>For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b="1" spc="-7" dirty="0">
                <a:latin typeface="Times New Roman"/>
                <a:cs typeface="Times New Roman"/>
              </a:rPr>
              <a:t>zero-shot</a:t>
            </a:r>
            <a:r>
              <a:rPr sz="2133" b="1" spc="-13" dirty="0">
                <a:latin typeface="Times New Roman"/>
                <a:cs typeface="Times New Roman"/>
              </a:rPr>
              <a:t> </a:t>
            </a:r>
            <a:r>
              <a:rPr sz="2133" b="1" spc="-7" dirty="0">
                <a:latin typeface="Times New Roman"/>
                <a:cs typeface="Times New Roman"/>
              </a:rPr>
              <a:t>CoT</a:t>
            </a:r>
            <a:r>
              <a:rPr sz="2133" spc="-7" dirty="0">
                <a:latin typeface="Times New Roman"/>
                <a:cs typeface="Times New Roman"/>
              </a:rPr>
              <a:t>,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a</a:t>
            </a:r>
            <a:r>
              <a:rPr sz="2133" spc="-20" dirty="0">
                <a:latin typeface="Times New Roman"/>
                <a:cs typeface="Times New Roman"/>
              </a:rPr>
              <a:t> </a:t>
            </a:r>
            <a:r>
              <a:rPr sz="2133" b="1" dirty="0">
                <a:latin typeface="Times New Roman"/>
                <a:cs typeface="Times New Roman"/>
              </a:rPr>
              <a:t>two-stage</a:t>
            </a:r>
            <a:r>
              <a:rPr sz="2133" b="1" spc="-13" dirty="0">
                <a:latin typeface="Times New Roman"/>
                <a:cs typeface="Times New Roman"/>
              </a:rPr>
              <a:t> </a:t>
            </a:r>
            <a:r>
              <a:rPr sz="2133" b="1" spc="-7" dirty="0">
                <a:latin typeface="Times New Roman"/>
                <a:cs typeface="Times New Roman"/>
              </a:rPr>
              <a:t>prompting</a:t>
            </a:r>
            <a:r>
              <a:rPr sz="2133" b="1" spc="-20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is</a:t>
            </a:r>
            <a:r>
              <a:rPr sz="2133" spc="-20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applied:</a:t>
            </a:r>
            <a:endParaRPr sz="2133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2292" y="2310456"/>
            <a:ext cx="4356040" cy="362318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7368" y="3030679"/>
            <a:ext cx="811953" cy="7115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50000"/>
              </a:lnSpc>
              <a:spcBef>
                <a:spcPts val="133"/>
              </a:spcBef>
            </a:pPr>
            <a:r>
              <a:rPr sz="1600" b="1" spc="-7" dirty="0">
                <a:latin typeface="Times New Roman"/>
                <a:cs typeface="Times New Roman"/>
              </a:rPr>
              <a:t>Question  </a:t>
            </a:r>
            <a:r>
              <a:rPr sz="1600" b="1" spc="-27" dirty="0">
                <a:solidFill>
                  <a:srgbClr val="FF0000"/>
                </a:solidFill>
                <a:latin typeface="Times New Roman"/>
                <a:cs typeface="Times New Roman"/>
              </a:rPr>
              <a:t>Trigger1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734" y="5252371"/>
            <a:ext cx="937260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600" b="1" spc="-7" dirty="0">
                <a:latin typeface="Times New Roman"/>
                <a:cs typeface="Times New Roman"/>
              </a:rPr>
              <a:t>Reasoning  Path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7" dirty="0"/>
              <a:t>Zero-Shot</a:t>
            </a:r>
            <a:r>
              <a:rPr sz="4000" spc="-33" dirty="0"/>
              <a:t> </a:t>
            </a:r>
            <a:r>
              <a:rPr sz="4000" spc="-13" dirty="0"/>
              <a:t>Chain</a:t>
            </a:r>
            <a:r>
              <a:rPr sz="4000" spc="-40" dirty="0"/>
              <a:t> </a:t>
            </a:r>
            <a:r>
              <a:rPr sz="4000" dirty="0"/>
              <a:t>of</a:t>
            </a:r>
            <a:r>
              <a:rPr sz="4000" spc="-100" dirty="0"/>
              <a:t> </a:t>
            </a:r>
            <a:r>
              <a:rPr sz="4000" spc="-7" dirty="0"/>
              <a:t>Thought</a:t>
            </a:r>
            <a:r>
              <a:rPr sz="4000" spc="-33" dirty="0"/>
              <a:t> </a:t>
            </a:r>
            <a:r>
              <a:rPr sz="4000" dirty="0"/>
              <a:t>(CoT)</a:t>
            </a:r>
            <a:endParaRPr sz="400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21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274867" y="1377995"/>
            <a:ext cx="6025727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7" dirty="0">
                <a:latin typeface="Times New Roman"/>
                <a:cs typeface="Times New Roman"/>
              </a:rPr>
              <a:t>For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b="1" spc="-7" dirty="0">
                <a:latin typeface="Times New Roman"/>
                <a:cs typeface="Times New Roman"/>
              </a:rPr>
              <a:t>zero-shot</a:t>
            </a:r>
            <a:r>
              <a:rPr sz="2133" b="1" spc="-13" dirty="0">
                <a:latin typeface="Times New Roman"/>
                <a:cs typeface="Times New Roman"/>
              </a:rPr>
              <a:t> </a:t>
            </a:r>
            <a:r>
              <a:rPr sz="2133" b="1" spc="-7" dirty="0">
                <a:latin typeface="Times New Roman"/>
                <a:cs typeface="Times New Roman"/>
              </a:rPr>
              <a:t>CoT</a:t>
            </a:r>
            <a:r>
              <a:rPr sz="2133" spc="-7" dirty="0">
                <a:latin typeface="Times New Roman"/>
                <a:cs typeface="Times New Roman"/>
              </a:rPr>
              <a:t>,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a</a:t>
            </a:r>
            <a:r>
              <a:rPr sz="2133" spc="-20" dirty="0">
                <a:latin typeface="Times New Roman"/>
                <a:cs typeface="Times New Roman"/>
              </a:rPr>
              <a:t> </a:t>
            </a:r>
            <a:r>
              <a:rPr sz="2133" b="1" dirty="0">
                <a:latin typeface="Times New Roman"/>
                <a:cs typeface="Times New Roman"/>
              </a:rPr>
              <a:t>two-stage</a:t>
            </a:r>
            <a:r>
              <a:rPr sz="2133" b="1" spc="-13" dirty="0">
                <a:latin typeface="Times New Roman"/>
                <a:cs typeface="Times New Roman"/>
              </a:rPr>
              <a:t> </a:t>
            </a:r>
            <a:r>
              <a:rPr sz="2133" b="1" spc="-7" dirty="0">
                <a:latin typeface="Times New Roman"/>
                <a:cs typeface="Times New Roman"/>
              </a:rPr>
              <a:t>prompting</a:t>
            </a:r>
            <a:r>
              <a:rPr sz="2133" b="1" spc="-20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is</a:t>
            </a:r>
            <a:r>
              <a:rPr sz="2133" spc="-20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applied:</a:t>
            </a:r>
            <a:endParaRPr sz="2133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32293" y="2310456"/>
            <a:ext cx="9318412" cy="3623733"/>
            <a:chOff x="924219" y="1732842"/>
            <a:chExt cx="6988809" cy="27178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4219" y="1732842"/>
              <a:ext cx="3267030" cy="27173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3450" y="2089850"/>
              <a:ext cx="548699" cy="22116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12150" y="1740716"/>
              <a:ext cx="3200701" cy="263629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97368" y="3030679"/>
            <a:ext cx="811953" cy="7115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50000"/>
              </a:lnSpc>
              <a:spcBef>
                <a:spcPts val="133"/>
              </a:spcBef>
            </a:pPr>
            <a:r>
              <a:rPr sz="1600" b="1" spc="-7" dirty="0">
                <a:latin typeface="Times New Roman"/>
                <a:cs typeface="Times New Roman"/>
              </a:rPr>
              <a:t>Question  </a:t>
            </a:r>
            <a:r>
              <a:rPr sz="1600" b="1" spc="-27" dirty="0">
                <a:solidFill>
                  <a:srgbClr val="FF0000"/>
                </a:solidFill>
                <a:latin typeface="Times New Roman"/>
                <a:cs typeface="Times New Roman"/>
              </a:rPr>
              <a:t>Trigger1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34" y="5305571"/>
            <a:ext cx="937260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600" b="1" spc="-7" dirty="0">
                <a:latin typeface="Times New Roman"/>
                <a:cs typeface="Times New Roman"/>
              </a:rPr>
              <a:t>Reasoning  Path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05566" y="3810378"/>
            <a:ext cx="1408007" cy="70292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indent="13546">
              <a:lnSpc>
                <a:spcPct val="147500"/>
              </a:lnSpc>
              <a:spcBef>
                <a:spcPts val="133"/>
              </a:spcBef>
            </a:pPr>
            <a:r>
              <a:rPr sz="1600" b="1" spc="-7" dirty="0">
                <a:latin typeface="Times New Roman"/>
                <a:cs typeface="Times New Roman"/>
              </a:rPr>
              <a:t>Reasonin</a:t>
            </a:r>
            <a:r>
              <a:rPr sz="1600" b="1" dirty="0">
                <a:latin typeface="Times New Roman"/>
                <a:cs typeface="Times New Roman"/>
              </a:rPr>
              <a:t>g</a:t>
            </a:r>
            <a:r>
              <a:rPr sz="1600" b="1" spc="-7" dirty="0">
                <a:latin typeface="Times New Roman"/>
                <a:cs typeface="Times New Roman"/>
              </a:rPr>
              <a:t> Path  </a:t>
            </a:r>
            <a:r>
              <a:rPr sz="1600" b="1" spc="-27" dirty="0">
                <a:solidFill>
                  <a:srgbClr val="FF0000"/>
                </a:solidFill>
                <a:latin typeface="Times New Roman"/>
                <a:cs typeface="Times New Roman"/>
              </a:rPr>
              <a:t>Trigger2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05566" y="3152539"/>
            <a:ext cx="90085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b="1" spc="-7" dirty="0">
                <a:latin typeface="Times New Roman"/>
                <a:cs typeface="Times New Roman"/>
              </a:rPr>
              <a:t>Question</a:t>
            </a:r>
            <a:endParaRPr sz="1600">
              <a:latin typeface="Times New Roman"/>
              <a:cs typeface="Times New Roman"/>
            </a:endParaRPr>
          </a:p>
          <a:p>
            <a:pPr marL="16933"/>
            <a:r>
              <a:rPr sz="1600" b="1" spc="-7" dirty="0">
                <a:latin typeface="Times New Roman"/>
                <a:cs typeface="Times New Roman"/>
              </a:rPr>
              <a:t>+</a:t>
            </a:r>
            <a:r>
              <a:rPr sz="1600" b="1" spc="-120" dirty="0">
                <a:latin typeface="Times New Roman"/>
                <a:cs typeface="Times New Roman"/>
              </a:rPr>
              <a:t>T</a:t>
            </a:r>
            <a:r>
              <a:rPr sz="1600" b="1" spc="-7" dirty="0">
                <a:latin typeface="Times New Roman"/>
                <a:cs typeface="Times New Roman"/>
              </a:rPr>
              <a:t>rigger1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685934" y="5488740"/>
            <a:ext cx="70019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b="1" spc="-7" dirty="0">
                <a:latin typeface="Times New Roman"/>
                <a:cs typeface="Times New Roman"/>
              </a:rPr>
              <a:t>Answer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xfrm>
            <a:off x="11650133" y="8625790"/>
            <a:ext cx="3793067" cy="185521"/>
          </a:xfrm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22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38546" y="3026735"/>
            <a:ext cx="3691053" cy="755762"/>
          </a:xfrm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800" spc="-13" dirty="0"/>
              <a:t>Experiments</a:t>
            </a:r>
            <a:endParaRPr sz="4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141280-4A4D-6067-28CC-AA6058ECE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6933">
              <a:spcBef>
                <a:spcPts val="133"/>
              </a:spcBef>
            </a:pPr>
            <a:r>
              <a:rPr lang="en-US" sz="3200" spc="-7" dirty="0">
                <a:latin typeface="Times New Roman"/>
                <a:cs typeface="Times New Roman"/>
              </a:rPr>
              <a:t>Pre-trained</a:t>
            </a:r>
            <a:r>
              <a:rPr lang="en-US" sz="3200" spc="-67" dirty="0">
                <a:latin typeface="Times New Roman"/>
                <a:cs typeface="Times New Roman"/>
              </a:rPr>
              <a:t> </a:t>
            </a:r>
            <a:r>
              <a:rPr lang="en-US" sz="3200" spc="-7" dirty="0">
                <a:latin typeface="Times New Roman"/>
                <a:cs typeface="Times New Roman"/>
              </a:rPr>
              <a:t>LLMs:</a:t>
            </a:r>
            <a:endParaRPr lang="en-US" sz="3200" dirty="0">
              <a:latin typeface="Times New Roman"/>
              <a:cs typeface="Times New Roman"/>
            </a:endParaRPr>
          </a:p>
          <a:p>
            <a:pPr marL="766214" indent="-469042">
              <a:spcBef>
                <a:spcPts val="1967"/>
              </a:spcBef>
              <a:buFont typeface="Arial MT"/>
              <a:buChar char="●"/>
              <a:tabLst>
                <a:tab pos="766214" algn="l"/>
                <a:tab pos="767061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Instruct</a:t>
            </a:r>
            <a:r>
              <a:rPr lang="en-US" sz="3200" spc="-7" dirty="0">
                <a:latin typeface="Times New Roman"/>
                <a:cs typeface="Times New Roman"/>
              </a:rPr>
              <a:t> </a:t>
            </a:r>
            <a:r>
              <a:rPr lang="en-US" sz="3200" spc="-47" dirty="0">
                <a:latin typeface="Times New Roman"/>
                <a:cs typeface="Times New Roman"/>
              </a:rPr>
              <a:t>GPT-3</a:t>
            </a:r>
            <a:r>
              <a:rPr lang="en-US" sz="3200" spc="-7" dirty="0">
                <a:latin typeface="Times New Roman"/>
                <a:cs typeface="Times New Roman"/>
              </a:rPr>
              <a:t> (</a:t>
            </a:r>
            <a:r>
              <a:rPr lang="en-US" sz="2800" spc="-7" dirty="0" err="1">
                <a:latin typeface="Times New Roman"/>
                <a:cs typeface="Times New Roman"/>
              </a:rPr>
              <a:t>ada</a:t>
            </a:r>
            <a:r>
              <a:rPr lang="en-US" sz="2800" spc="-13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350M,</a:t>
            </a:r>
            <a:r>
              <a:rPr lang="en-US" sz="2800" spc="-7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babbage</a:t>
            </a:r>
            <a:r>
              <a:rPr lang="en-US" sz="2800" spc="-7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1.3B, </a:t>
            </a:r>
            <a:r>
              <a:rPr lang="en-US" sz="2800" spc="-7" dirty="0">
                <a:latin typeface="Times New Roman"/>
                <a:cs typeface="Times New Roman"/>
              </a:rPr>
              <a:t>curie</a:t>
            </a:r>
            <a:r>
              <a:rPr lang="en-US" sz="2800" spc="-13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6.7B,</a:t>
            </a:r>
            <a:r>
              <a:rPr lang="en-US" sz="2800" spc="-7" dirty="0">
                <a:latin typeface="Times New Roman"/>
                <a:cs typeface="Times New Roman"/>
              </a:rPr>
              <a:t> and</a:t>
            </a:r>
            <a:r>
              <a:rPr lang="en-US" sz="2800" spc="-13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davinci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spc="7" dirty="0">
                <a:latin typeface="Times New Roman"/>
                <a:cs typeface="Times New Roman"/>
              </a:rPr>
              <a:t>175B</a:t>
            </a:r>
            <a:r>
              <a:rPr lang="en-US" sz="3200" spc="7" dirty="0">
                <a:latin typeface="Times New Roman"/>
                <a:cs typeface="Times New Roman"/>
              </a:rPr>
              <a:t>)</a:t>
            </a:r>
            <a:r>
              <a:rPr lang="en-US" sz="3200" spc="-7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(Ouyang</a:t>
            </a:r>
            <a:r>
              <a:rPr lang="en-US" sz="3200" spc="-7" dirty="0">
                <a:latin typeface="Times New Roman"/>
                <a:cs typeface="Times New Roman"/>
              </a:rPr>
              <a:t> et</a:t>
            </a:r>
            <a:r>
              <a:rPr lang="en-US" sz="3200" spc="-13" dirty="0">
                <a:latin typeface="Times New Roman"/>
                <a:cs typeface="Times New Roman"/>
              </a:rPr>
              <a:t> </a:t>
            </a:r>
            <a:r>
              <a:rPr lang="en-US" sz="3200" spc="-7" dirty="0">
                <a:latin typeface="Times New Roman"/>
                <a:cs typeface="Times New Roman"/>
              </a:rPr>
              <a:t>al.,</a:t>
            </a:r>
            <a:r>
              <a:rPr lang="en-US" sz="3200" spc="-13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2022)</a:t>
            </a:r>
          </a:p>
          <a:p>
            <a:pPr marL="766214" indent="-469042">
              <a:spcBef>
                <a:spcPts val="1960"/>
              </a:spcBef>
              <a:buFont typeface="Arial MT"/>
              <a:buChar char="●"/>
              <a:tabLst>
                <a:tab pos="766214" algn="l"/>
                <a:tab pos="767061" algn="l"/>
              </a:tabLst>
            </a:pPr>
            <a:r>
              <a:rPr lang="en-US" sz="3200" spc="-7" dirty="0" err="1">
                <a:latin typeface="Times New Roman"/>
                <a:cs typeface="Times New Roman"/>
              </a:rPr>
              <a:t>PaLM</a:t>
            </a:r>
            <a:r>
              <a:rPr lang="en-US" sz="3200" spc="-27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(8B,</a:t>
            </a:r>
            <a:r>
              <a:rPr lang="en-US" sz="3200" spc="-13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62B,</a:t>
            </a:r>
            <a:r>
              <a:rPr lang="en-US" sz="3200" spc="-13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540B)</a:t>
            </a:r>
            <a:r>
              <a:rPr lang="en-US" sz="3200" spc="-13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(</a:t>
            </a:r>
            <a:r>
              <a:rPr lang="en-US" sz="3200" dirty="0" err="1">
                <a:latin typeface="Times New Roman"/>
                <a:cs typeface="Times New Roman"/>
              </a:rPr>
              <a:t>Chowdhery</a:t>
            </a:r>
            <a:r>
              <a:rPr lang="en-US" sz="3200" spc="-13" dirty="0">
                <a:latin typeface="Times New Roman"/>
                <a:cs typeface="Times New Roman"/>
              </a:rPr>
              <a:t> </a:t>
            </a:r>
            <a:r>
              <a:rPr lang="en-US" sz="3200" spc="-7" dirty="0">
                <a:latin typeface="Times New Roman"/>
                <a:cs typeface="Times New Roman"/>
              </a:rPr>
              <a:t>et</a:t>
            </a:r>
            <a:r>
              <a:rPr lang="en-US" sz="3200" spc="-20" dirty="0">
                <a:latin typeface="Times New Roman"/>
                <a:cs typeface="Times New Roman"/>
              </a:rPr>
              <a:t> </a:t>
            </a:r>
            <a:r>
              <a:rPr lang="en-US" sz="3200" spc="-7" dirty="0">
                <a:latin typeface="Times New Roman"/>
                <a:cs typeface="Times New Roman"/>
              </a:rPr>
              <a:t>al.,</a:t>
            </a:r>
            <a:r>
              <a:rPr lang="en-US" sz="3200" spc="-2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2022)</a:t>
            </a:r>
          </a:p>
          <a:p>
            <a:pPr marL="766214" indent="-469042">
              <a:spcBef>
                <a:spcPts val="1967"/>
              </a:spcBef>
              <a:buFont typeface="Arial MT"/>
              <a:buChar char="●"/>
              <a:tabLst>
                <a:tab pos="766214" algn="l"/>
                <a:tab pos="767061" algn="l"/>
              </a:tabLst>
            </a:pPr>
            <a:r>
              <a:rPr lang="en-US" sz="3200" spc="-7" dirty="0">
                <a:latin typeface="Times New Roman"/>
                <a:cs typeface="Times New Roman"/>
              </a:rPr>
              <a:t>LaMD</a:t>
            </a:r>
            <a:r>
              <a:rPr lang="en-US" sz="3200" dirty="0">
                <a:latin typeface="Times New Roman"/>
                <a:cs typeface="Times New Roman"/>
              </a:rPr>
              <a:t>A</a:t>
            </a:r>
            <a:r>
              <a:rPr lang="en-US" sz="3200" spc="-12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(422M, 2B, 8B, 68B, 137B) (</a:t>
            </a:r>
            <a:r>
              <a:rPr lang="en-US" sz="3200" dirty="0" err="1">
                <a:latin typeface="Times New Roman"/>
                <a:cs typeface="Times New Roman"/>
              </a:rPr>
              <a:t>Thoppilan</a:t>
            </a:r>
            <a:r>
              <a:rPr lang="en-US" sz="3200" dirty="0">
                <a:latin typeface="Times New Roman"/>
                <a:cs typeface="Times New Roman"/>
              </a:rPr>
              <a:t> </a:t>
            </a:r>
            <a:r>
              <a:rPr lang="en-US" sz="3200" spc="-7" dirty="0">
                <a:latin typeface="Times New Roman"/>
                <a:cs typeface="Times New Roman"/>
              </a:rPr>
              <a:t>e</a:t>
            </a:r>
            <a:r>
              <a:rPr lang="en-US" sz="3200" dirty="0">
                <a:latin typeface="Times New Roman"/>
                <a:cs typeface="Times New Roman"/>
              </a:rPr>
              <a:t>t</a:t>
            </a:r>
            <a:r>
              <a:rPr lang="en-US" sz="3200" spc="-7" dirty="0">
                <a:latin typeface="Times New Roman"/>
                <a:cs typeface="Times New Roman"/>
              </a:rPr>
              <a:t> al.</a:t>
            </a:r>
            <a:r>
              <a:rPr lang="en-US" sz="3200" dirty="0">
                <a:latin typeface="Times New Roman"/>
                <a:cs typeface="Times New Roman"/>
              </a:rPr>
              <a:t>,</a:t>
            </a:r>
            <a:r>
              <a:rPr lang="en-US" sz="3200" spc="-7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2022)</a:t>
            </a:r>
          </a:p>
          <a:p>
            <a:pPr marL="766214" indent="-469042">
              <a:spcBef>
                <a:spcPts val="1967"/>
              </a:spcBef>
              <a:buFont typeface="Arial MT"/>
              <a:buChar char="●"/>
              <a:tabLst>
                <a:tab pos="766214" algn="l"/>
                <a:tab pos="767061" algn="l"/>
              </a:tabLst>
            </a:pPr>
            <a:r>
              <a:rPr lang="en-US" sz="3200" spc="-47" dirty="0">
                <a:latin typeface="Times New Roman"/>
                <a:cs typeface="Times New Roman"/>
              </a:rPr>
              <a:t>GPT-3</a:t>
            </a:r>
            <a:r>
              <a:rPr lang="en-US" sz="3200" spc="-13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(</a:t>
            </a:r>
            <a:r>
              <a:rPr lang="en-US" sz="3200" dirty="0" err="1">
                <a:latin typeface="Times New Roman"/>
                <a:cs typeface="Times New Roman"/>
              </a:rPr>
              <a:t>ada</a:t>
            </a:r>
            <a:r>
              <a:rPr lang="en-US" sz="3200" spc="-13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350M,</a:t>
            </a:r>
            <a:r>
              <a:rPr lang="en-US" sz="3200" spc="-13" dirty="0">
                <a:latin typeface="Times New Roman"/>
                <a:cs typeface="Times New Roman"/>
              </a:rPr>
              <a:t> </a:t>
            </a:r>
            <a:r>
              <a:rPr lang="en-US" sz="3200" dirty="0" err="1">
                <a:latin typeface="Times New Roman"/>
                <a:cs typeface="Times New Roman"/>
              </a:rPr>
              <a:t>babbage</a:t>
            </a:r>
            <a:r>
              <a:rPr lang="en-US" sz="3200" spc="-7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1.3B,</a:t>
            </a:r>
            <a:r>
              <a:rPr lang="en-US" sz="3200" spc="-13" dirty="0">
                <a:latin typeface="Times New Roman"/>
                <a:cs typeface="Times New Roman"/>
              </a:rPr>
              <a:t> </a:t>
            </a:r>
            <a:r>
              <a:rPr lang="en-US" sz="3200" spc="-7" dirty="0">
                <a:latin typeface="Times New Roman"/>
                <a:cs typeface="Times New Roman"/>
              </a:rPr>
              <a:t>curie</a:t>
            </a:r>
            <a:r>
              <a:rPr lang="en-US" sz="3200" spc="-2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6.7B,</a:t>
            </a:r>
            <a:r>
              <a:rPr lang="en-US" sz="3200" spc="-7" dirty="0">
                <a:latin typeface="Times New Roman"/>
                <a:cs typeface="Times New Roman"/>
              </a:rPr>
              <a:t> </a:t>
            </a:r>
            <a:r>
              <a:rPr lang="en-US" sz="3200" dirty="0" err="1">
                <a:latin typeface="Times New Roman"/>
                <a:cs typeface="Times New Roman"/>
              </a:rPr>
              <a:t>davinci</a:t>
            </a:r>
            <a:r>
              <a:rPr lang="en-US" sz="3200" spc="-13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175B)</a:t>
            </a:r>
          </a:p>
          <a:p>
            <a:pPr marL="769601" indent="-469042">
              <a:spcBef>
                <a:spcPts val="1967"/>
              </a:spcBef>
              <a:buFont typeface="Arial MT"/>
              <a:buChar char="●"/>
              <a:tabLst>
                <a:tab pos="769601" algn="l"/>
                <a:tab pos="770447" algn="l"/>
              </a:tabLst>
            </a:pPr>
            <a:r>
              <a:rPr lang="en-US" sz="3200" spc="-47" dirty="0">
                <a:latin typeface="Times New Roman"/>
                <a:cs typeface="Times New Roman"/>
              </a:rPr>
              <a:t>GPT-2</a:t>
            </a:r>
            <a:r>
              <a:rPr lang="en-US" sz="3200" spc="-53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(1.5B)</a:t>
            </a:r>
          </a:p>
          <a:p>
            <a:pPr marL="769601" indent="-469042">
              <a:spcBef>
                <a:spcPts val="1967"/>
              </a:spcBef>
              <a:buFont typeface="Arial MT"/>
              <a:buChar char="●"/>
              <a:tabLst>
                <a:tab pos="769601" algn="l"/>
                <a:tab pos="770447" algn="l"/>
              </a:tabLst>
            </a:pPr>
            <a:r>
              <a:rPr lang="en-US" sz="3200" spc="-33" dirty="0">
                <a:latin typeface="Times New Roman"/>
                <a:cs typeface="Times New Roman"/>
              </a:rPr>
              <a:t>GPT-Neo</a:t>
            </a:r>
            <a:r>
              <a:rPr lang="en-US" sz="3200" spc="-7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(2.7B), </a:t>
            </a:r>
            <a:r>
              <a:rPr lang="en-US" sz="3200" spc="-47" dirty="0">
                <a:latin typeface="Times New Roman"/>
                <a:cs typeface="Times New Roman"/>
              </a:rPr>
              <a:t>GPT-J</a:t>
            </a:r>
            <a:r>
              <a:rPr lang="en-US" sz="3200" dirty="0">
                <a:latin typeface="Times New Roman"/>
                <a:cs typeface="Times New Roman"/>
              </a:rPr>
              <a:t> (6B),</a:t>
            </a:r>
            <a:r>
              <a:rPr lang="en-US" sz="3200" spc="-47" dirty="0">
                <a:latin typeface="Times New Roman"/>
                <a:cs typeface="Times New Roman"/>
              </a:rPr>
              <a:t> </a:t>
            </a:r>
            <a:r>
              <a:rPr lang="en-US" sz="3200" spc="-7" dirty="0">
                <a:latin typeface="Times New Roman"/>
                <a:cs typeface="Times New Roman"/>
              </a:rPr>
              <a:t>T0 </a:t>
            </a:r>
            <a:r>
              <a:rPr lang="en-US" sz="3200" spc="-20" dirty="0">
                <a:latin typeface="Times New Roman"/>
                <a:cs typeface="Times New Roman"/>
              </a:rPr>
              <a:t>(11B)</a:t>
            </a:r>
            <a:r>
              <a:rPr lang="en-US" sz="3200" dirty="0">
                <a:latin typeface="Times New Roman"/>
                <a:cs typeface="Times New Roman"/>
              </a:rPr>
              <a:t> (Sanh</a:t>
            </a:r>
            <a:r>
              <a:rPr lang="en-US" sz="3200" spc="-7" dirty="0">
                <a:latin typeface="Times New Roman"/>
                <a:cs typeface="Times New Roman"/>
              </a:rPr>
              <a:t> et al., </a:t>
            </a:r>
            <a:r>
              <a:rPr lang="en-US" sz="3200" dirty="0">
                <a:latin typeface="Times New Roman"/>
                <a:cs typeface="Times New Roman"/>
              </a:rPr>
              <a:t>2022),</a:t>
            </a:r>
            <a:r>
              <a:rPr lang="en-US" sz="3200" spc="-7" dirty="0">
                <a:latin typeface="Times New Roman"/>
                <a:cs typeface="Times New Roman"/>
              </a:rPr>
              <a:t> OPT</a:t>
            </a:r>
            <a:r>
              <a:rPr lang="en-US" sz="3200" spc="-4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(13B) (Zhang</a:t>
            </a:r>
            <a:r>
              <a:rPr lang="en-US" sz="3200" spc="-7" dirty="0">
                <a:latin typeface="Times New Roman"/>
                <a:cs typeface="Times New Roman"/>
              </a:rPr>
              <a:t> et al., </a:t>
            </a:r>
            <a:r>
              <a:rPr lang="en-US" sz="3200" dirty="0">
                <a:latin typeface="Times New Roman"/>
                <a:cs typeface="Times New Roman"/>
              </a:rPr>
              <a:t>2022)</a:t>
            </a: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7" dirty="0"/>
              <a:t>Models</a:t>
            </a:r>
            <a:endParaRPr sz="40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5638" y="2802499"/>
            <a:ext cx="8340725" cy="1492716"/>
          </a:xfrm>
        </p:spPr>
        <p:txBody>
          <a:bodyPr vert="horz" wrap="square" lIns="0" tIns="1524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Experiments  </a:t>
            </a:r>
            <a:br>
              <a:rPr lang="en-US" dirty="0"/>
            </a:br>
            <a:r>
              <a:rPr lang="en-US" dirty="0"/>
              <a:t>Arithmetic Reasoning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 vert="horz" wrap="square" lIns="0" tIns="847" rIns="0" bIns="0" rtlCol="0" anchor="ctr">
            <a:spAutoFit/>
          </a:bodyPr>
          <a:lstStyle/>
          <a:p>
            <a:fld id="{81D60167-4931-47E6-BA6A-407CBD079E47}" type="slidenum">
              <a:rPr lang="en-US" dirty="0"/>
              <a:pPr/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47950" y="1368450"/>
            <a:ext cx="4492413" cy="3748193"/>
            <a:chOff x="785962" y="1026337"/>
            <a:chExt cx="3369310" cy="2811145"/>
          </a:xfrm>
        </p:grpSpPr>
        <p:sp>
          <p:nvSpPr>
            <p:cNvPr id="3" name="object 3"/>
            <p:cNvSpPr/>
            <p:nvPr/>
          </p:nvSpPr>
          <p:spPr>
            <a:xfrm>
              <a:off x="790724" y="1031099"/>
              <a:ext cx="3359785" cy="2801620"/>
            </a:xfrm>
            <a:custGeom>
              <a:avLst/>
              <a:gdLst/>
              <a:ahLst/>
              <a:cxnLst/>
              <a:rect l="l" t="t" r="r" b="b"/>
              <a:pathLst>
                <a:path w="3359785" h="2801620">
                  <a:moveTo>
                    <a:pt x="2892840" y="2801099"/>
                  </a:moveTo>
                  <a:lnTo>
                    <a:pt x="466859" y="2801099"/>
                  </a:lnTo>
                  <a:lnTo>
                    <a:pt x="419125" y="2798689"/>
                  </a:lnTo>
                  <a:lnTo>
                    <a:pt x="372770" y="2791615"/>
                  </a:lnTo>
                  <a:lnTo>
                    <a:pt x="328029" y="2780110"/>
                  </a:lnTo>
                  <a:lnTo>
                    <a:pt x="285136" y="2764411"/>
                  </a:lnTo>
                  <a:lnTo>
                    <a:pt x="244326" y="2744752"/>
                  </a:lnTo>
                  <a:lnTo>
                    <a:pt x="205833" y="2721367"/>
                  </a:lnTo>
                  <a:lnTo>
                    <a:pt x="169893" y="2694492"/>
                  </a:lnTo>
                  <a:lnTo>
                    <a:pt x="136739" y="2664360"/>
                  </a:lnTo>
                  <a:lnTo>
                    <a:pt x="106607" y="2631206"/>
                  </a:lnTo>
                  <a:lnTo>
                    <a:pt x="79732" y="2595266"/>
                  </a:lnTo>
                  <a:lnTo>
                    <a:pt x="56347" y="2556773"/>
                  </a:lnTo>
                  <a:lnTo>
                    <a:pt x="36688" y="2515963"/>
                  </a:lnTo>
                  <a:lnTo>
                    <a:pt x="20989" y="2473070"/>
                  </a:lnTo>
                  <a:lnTo>
                    <a:pt x="9484" y="2428328"/>
                  </a:lnTo>
                  <a:lnTo>
                    <a:pt x="2410" y="2381974"/>
                  </a:lnTo>
                  <a:lnTo>
                    <a:pt x="0" y="2334240"/>
                  </a:lnTo>
                  <a:lnTo>
                    <a:pt x="0" y="466859"/>
                  </a:lnTo>
                  <a:lnTo>
                    <a:pt x="2410" y="419125"/>
                  </a:lnTo>
                  <a:lnTo>
                    <a:pt x="9484" y="372770"/>
                  </a:lnTo>
                  <a:lnTo>
                    <a:pt x="20989" y="328029"/>
                  </a:lnTo>
                  <a:lnTo>
                    <a:pt x="36688" y="285136"/>
                  </a:lnTo>
                  <a:lnTo>
                    <a:pt x="56347" y="244326"/>
                  </a:lnTo>
                  <a:lnTo>
                    <a:pt x="79732" y="205833"/>
                  </a:lnTo>
                  <a:lnTo>
                    <a:pt x="106607" y="169893"/>
                  </a:lnTo>
                  <a:lnTo>
                    <a:pt x="136739" y="136739"/>
                  </a:lnTo>
                  <a:lnTo>
                    <a:pt x="169893" y="106607"/>
                  </a:lnTo>
                  <a:lnTo>
                    <a:pt x="205833" y="79732"/>
                  </a:lnTo>
                  <a:lnTo>
                    <a:pt x="244326" y="56347"/>
                  </a:lnTo>
                  <a:lnTo>
                    <a:pt x="285136" y="36688"/>
                  </a:lnTo>
                  <a:lnTo>
                    <a:pt x="328029" y="20989"/>
                  </a:lnTo>
                  <a:lnTo>
                    <a:pt x="372770" y="9484"/>
                  </a:lnTo>
                  <a:lnTo>
                    <a:pt x="419125" y="2410"/>
                  </a:lnTo>
                  <a:lnTo>
                    <a:pt x="466859" y="0"/>
                  </a:lnTo>
                  <a:lnTo>
                    <a:pt x="2892840" y="0"/>
                  </a:lnTo>
                  <a:lnTo>
                    <a:pt x="2945519" y="2979"/>
                  </a:lnTo>
                  <a:lnTo>
                    <a:pt x="2997119" y="11793"/>
                  </a:lnTo>
                  <a:lnTo>
                    <a:pt x="3047185" y="26251"/>
                  </a:lnTo>
                  <a:lnTo>
                    <a:pt x="3095259" y="46164"/>
                  </a:lnTo>
                  <a:lnTo>
                    <a:pt x="3140884" y="71342"/>
                  </a:lnTo>
                  <a:lnTo>
                    <a:pt x="3183603" y="101597"/>
                  </a:lnTo>
                  <a:lnTo>
                    <a:pt x="3222959" y="136739"/>
                  </a:lnTo>
                  <a:lnTo>
                    <a:pt x="3258102" y="176096"/>
                  </a:lnTo>
                  <a:lnTo>
                    <a:pt x="3288357" y="218815"/>
                  </a:lnTo>
                  <a:lnTo>
                    <a:pt x="3313535" y="264440"/>
                  </a:lnTo>
                  <a:lnTo>
                    <a:pt x="3333448" y="312514"/>
                  </a:lnTo>
                  <a:lnTo>
                    <a:pt x="3347906" y="362580"/>
                  </a:lnTo>
                  <a:lnTo>
                    <a:pt x="3356720" y="414180"/>
                  </a:lnTo>
                  <a:lnTo>
                    <a:pt x="3359699" y="466859"/>
                  </a:lnTo>
                  <a:lnTo>
                    <a:pt x="3359699" y="2334240"/>
                  </a:lnTo>
                  <a:lnTo>
                    <a:pt x="3357289" y="2381974"/>
                  </a:lnTo>
                  <a:lnTo>
                    <a:pt x="3350215" y="2428328"/>
                  </a:lnTo>
                  <a:lnTo>
                    <a:pt x="3338710" y="2473070"/>
                  </a:lnTo>
                  <a:lnTo>
                    <a:pt x="3323011" y="2515963"/>
                  </a:lnTo>
                  <a:lnTo>
                    <a:pt x="3303352" y="2556773"/>
                  </a:lnTo>
                  <a:lnTo>
                    <a:pt x="3279967" y="2595266"/>
                  </a:lnTo>
                  <a:lnTo>
                    <a:pt x="3253092" y="2631206"/>
                  </a:lnTo>
                  <a:lnTo>
                    <a:pt x="3222960" y="2664360"/>
                  </a:lnTo>
                  <a:lnTo>
                    <a:pt x="3189806" y="2694492"/>
                  </a:lnTo>
                  <a:lnTo>
                    <a:pt x="3153866" y="2721367"/>
                  </a:lnTo>
                  <a:lnTo>
                    <a:pt x="3115373" y="2744752"/>
                  </a:lnTo>
                  <a:lnTo>
                    <a:pt x="3074563" y="2764411"/>
                  </a:lnTo>
                  <a:lnTo>
                    <a:pt x="3031670" y="2780110"/>
                  </a:lnTo>
                  <a:lnTo>
                    <a:pt x="2986928" y="2791615"/>
                  </a:lnTo>
                  <a:lnTo>
                    <a:pt x="2940574" y="2798689"/>
                  </a:lnTo>
                  <a:lnTo>
                    <a:pt x="2892840" y="28010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0724" y="1031099"/>
              <a:ext cx="3359785" cy="2801620"/>
            </a:xfrm>
            <a:custGeom>
              <a:avLst/>
              <a:gdLst/>
              <a:ahLst/>
              <a:cxnLst/>
              <a:rect l="l" t="t" r="r" b="b"/>
              <a:pathLst>
                <a:path w="3359785" h="2801620">
                  <a:moveTo>
                    <a:pt x="0" y="466859"/>
                  </a:moveTo>
                  <a:lnTo>
                    <a:pt x="2410" y="419125"/>
                  </a:lnTo>
                  <a:lnTo>
                    <a:pt x="9484" y="372770"/>
                  </a:lnTo>
                  <a:lnTo>
                    <a:pt x="20989" y="328029"/>
                  </a:lnTo>
                  <a:lnTo>
                    <a:pt x="36688" y="285136"/>
                  </a:lnTo>
                  <a:lnTo>
                    <a:pt x="56347" y="244326"/>
                  </a:lnTo>
                  <a:lnTo>
                    <a:pt x="79732" y="205833"/>
                  </a:lnTo>
                  <a:lnTo>
                    <a:pt x="106607" y="169893"/>
                  </a:lnTo>
                  <a:lnTo>
                    <a:pt x="136739" y="136739"/>
                  </a:lnTo>
                  <a:lnTo>
                    <a:pt x="169893" y="106607"/>
                  </a:lnTo>
                  <a:lnTo>
                    <a:pt x="205833" y="79732"/>
                  </a:lnTo>
                  <a:lnTo>
                    <a:pt x="244326" y="56347"/>
                  </a:lnTo>
                  <a:lnTo>
                    <a:pt x="285136" y="36688"/>
                  </a:lnTo>
                  <a:lnTo>
                    <a:pt x="328029" y="20989"/>
                  </a:lnTo>
                  <a:lnTo>
                    <a:pt x="372770" y="9484"/>
                  </a:lnTo>
                  <a:lnTo>
                    <a:pt x="419125" y="2410"/>
                  </a:lnTo>
                  <a:lnTo>
                    <a:pt x="466859" y="0"/>
                  </a:lnTo>
                  <a:lnTo>
                    <a:pt x="2892840" y="0"/>
                  </a:lnTo>
                  <a:lnTo>
                    <a:pt x="2945519" y="2979"/>
                  </a:lnTo>
                  <a:lnTo>
                    <a:pt x="2997119" y="11793"/>
                  </a:lnTo>
                  <a:lnTo>
                    <a:pt x="3047185" y="26251"/>
                  </a:lnTo>
                  <a:lnTo>
                    <a:pt x="3095259" y="46164"/>
                  </a:lnTo>
                  <a:lnTo>
                    <a:pt x="3140884" y="71342"/>
                  </a:lnTo>
                  <a:lnTo>
                    <a:pt x="3183603" y="101597"/>
                  </a:lnTo>
                  <a:lnTo>
                    <a:pt x="3222959" y="136739"/>
                  </a:lnTo>
                  <a:lnTo>
                    <a:pt x="3258102" y="176096"/>
                  </a:lnTo>
                  <a:lnTo>
                    <a:pt x="3288357" y="218815"/>
                  </a:lnTo>
                  <a:lnTo>
                    <a:pt x="3313535" y="264440"/>
                  </a:lnTo>
                  <a:lnTo>
                    <a:pt x="3333448" y="312514"/>
                  </a:lnTo>
                  <a:lnTo>
                    <a:pt x="3347906" y="362580"/>
                  </a:lnTo>
                  <a:lnTo>
                    <a:pt x="3356720" y="414180"/>
                  </a:lnTo>
                  <a:lnTo>
                    <a:pt x="3359699" y="466859"/>
                  </a:lnTo>
                  <a:lnTo>
                    <a:pt x="3359699" y="2334240"/>
                  </a:lnTo>
                  <a:lnTo>
                    <a:pt x="3357289" y="2381974"/>
                  </a:lnTo>
                  <a:lnTo>
                    <a:pt x="3350215" y="2428328"/>
                  </a:lnTo>
                  <a:lnTo>
                    <a:pt x="3338710" y="2473070"/>
                  </a:lnTo>
                  <a:lnTo>
                    <a:pt x="3323011" y="2515963"/>
                  </a:lnTo>
                  <a:lnTo>
                    <a:pt x="3303352" y="2556773"/>
                  </a:lnTo>
                  <a:lnTo>
                    <a:pt x="3279967" y="2595266"/>
                  </a:lnTo>
                  <a:lnTo>
                    <a:pt x="3253092" y="2631206"/>
                  </a:lnTo>
                  <a:lnTo>
                    <a:pt x="3222960" y="2664360"/>
                  </a:lnTo>
                  <a:lnTo>
                    <a:pt x="3189806" y="2694492"/>
                  </a:lnTo>
                  <a:lnTo>
                    <a:pt x="3153866" y="2721367"/>
                  </a:lnTo>
                  <a:lnTo>
                    <a:pt x="3115373" y="2744752"/>
                  </a:lnTo>
                  <a:lnTo>
                    <a:pt x="3074563" y="2764411"/>
                  </a:lnTo>
                  <a:lnTo>
                    <a:pt x="3031670" y="2780110"/>
                  </a:lnTo>
                  <a:lnTo>
                    <a:pt x="2986928" y="2791615"/>
                  </a:lnTo>
                  <a:lnTo>
                    <a:pt x="2940574" y="2798689"/>
                  </a:lnTo>
                  <a:lnTo>
                    <a:pt x="2892840" y="2801099"/>
                  </a:lnTo>
                  <a:lnTo>
                    <a:pt x="466859" y="2801099"/>
                  </a:lnTo>
                  <a:lnTo>
                    <a:pt x="419125" y="2798689"/>
                  </a:lnTo>
                  <a:lnTo>
                    <a:pt x="372770" y="2791615"/>
                  </a:lnTo>
                  <a:lnTo>
                    <a:pt x="328029" y="2780110"/>
                  </a:lnTo>
                  <a:lnTo>
                    <a:pt x="285136" y="2764411"/>
                  </a:lnTo>
                  <a:lnTo>
                    <a:pt x="244326" y="2744752"/>
                  </a:lnTo>
                  <a:lnTo>
                    <a:pt x="205833" y="2721367"/>
                  </a:lnTo>
                  <a:lnTo>
                    <a:pt x="169893" y="2694492"/>
                  </a:lnTo>
                  <a:lnTo>
                    <a:pt x="136739" y="2664360"/>
                  </a:lnTo>
                  <a:lnTo>
                    <a:pt x="106607" y="2631206"/>
                  </a:lnTo>
                  <a:lnTo>
                    <a:pt x="79732" y="2595266"/>
                  </a:lnTo>
                  <a:lnTo>
                    <a:pt x="56347" y="2556773"/>
                  </a:lnTo>
                  <a:lnTo>
                    <a:pt x="36688" y="2515963"/>
                  </a:lnTo>
                  <a:lnTo>
                    <a:pt x="20989" y="2473070"/>
                  </a:lnTo>
                  <a:lnTo>
                    <a:pt x="9484" y="2428328"/>
                  </a:lnTo>
                  <a:lnTo>
                    <a:pt x="2410" y="2381974"/>
                  </a:lnTo>
                  <a:lnTo>
                    <a:pt x="0" y="2334240"/>
                  </a:lnTo>
                  <a:lnTo>
                    <a:pt x="0" y="466859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427825" y="1645002"/>
            <a:ext cx="173143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b="1" spc="-7" dirty="0">
                <a:latin typeface="Arial"/>
                <a:cs typeface="Arial"/>
              </a:rPr>
              <a:t>Free</a:t>
            </a:r>
            <a:r>
              <a:rPr sz="1867" b="1" spc="-100" dirty="0">
                <a:latin typeface="Arial"/>
                <a:cs typeface="Arial"/>
              </a:rPr>
              <a:t> </a:t>
            </a:r>
            <a:r>
              <a:rPr sz="1867" b="1" spc="-7" dirty="0">
                <a:latin typeface="Arial"/>
                <a:cs typeface="Arial"/>
              </a:rPr>
              <a:t>Response</a:t>
            </a:r>
            <a:endParaRPr sz="1867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7" dirty="0"/>
              <a:t>Free</a:t>
            </a:r>
            <a:r>
              <a:rPr sz="4000" spc="-27" dirty="0"/>
              <a:t> </a:t>
            </a:r>
            <a:r>
              <a:rPr sz="4000" spc="-13" dirty="0"/>
              <a:t>Response</a:t>
            </a:r>
            <a:r>
              <a:rPr sz="4000" spc="-27" dirty="0"/>
              <a:t> </a:t>
            </a:r>
            <a:r>
              <a:rPr sz="4000" dirty="0"/>
              <a:t>-</a:t>
            </a:r>
            <a:r>
              <a:rPr sz="4000" spc="-13" dirty="0"/>
              <a:t> </a:t>
            </a:r>
            <a:r>
              <a:rPr sz="4000" spc="-7" dirty="0"/>
              <a:t>Few-Shot</a:t>
            </a:r>
            <a:r>
              <a:rPr sz="4000" spc="-20" dirty="0"/>
              <a:t> </a:t>
            </a:r>
            <a:r>
              <a:rPr sz="4000" spc="-7" dirty="0"/>
              <a:t>CoT</a:t>
            </a:r>
            <a:r>
              <a:rPr sz="4000" spc="-100" dirty="0"/>
              <a:t> </a:t>
            </a:r>
            <a:r>
              <a:rPr sz="4000" spc="-7" dirty="0"/>
              <a:t>Prompt</a:t>
            </a:r>
            <a:r>
              <a:rPr sz="4000" spc="-20" dirty="0"/>
              <a:t> </a:t>
            </a:r>
            <a:r>
              <a:rPr sz="4000" spc="-7" dirty="0"/>
              <a:t>Exemplar</a:t>
            </a:r>
            <a:endParaRPr sz="400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25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1333985" y="1885647"/>
            <a:ext cx="8506460" cy="2327261"/>
          </a:xfrm>
          <a:prstGeom prst="rect">
            <a:avLst/>
          </a:prstGeom>
        </p:spPr>
        <p:txBody>
          <a:bodyPr vert="horz" wrap="square" lIns="0" tIns="33867" rIns="0" bIns="0" rtlCol="0">
            <a:spAutoFit/>
          </a:bodyPr>
          <a:lstStyle/>
          <a:p>
            <a:pPr marL="5288994" indent="-448722">
              <a:spcBef>
                <a:spcPts val="267"/>
              </a:spcBef>
              <a:buFont typeface="Arial MT"/>
              <a:buChar char="●"/>
              <a:tabLst>
                <a:tab pos="5288994" algn="l"/>
                <a:tab pos="5289840" algn="l"/>
              </a:tabLst>
            </a:pPr>
            <a:r>
              <a:rPr sz="1867" b="1" spc="-7" dirty="0">
                <a:latin typeface="Times New Roman"/>
                <a:cs typeface="Times New Roman"/>
              </a:rPr>
              <a:t>Manually</a:t>
            </a:r>
            <a:r>
              <a:rPr sz="1867" b="1" spc="-33" dirty="0">
                <a:latin typeface="Times New Roman"/>
                <a:cs typeface="Times New Roman"/>
              </a:rPr>
              <a:t> </a:t>
            </a:r>
            <a:r>
              <a:rPr sz="1867" spc="-7" dirty="0">
                <a:latin typeface="Times New Roman"/>
                <a:cs typeface="Times New Roman"/>
              </a:rPr>
              <a:t>composed</a:t>
            </a:r>
            <a:r>
              <a:rPr sz="1867" spc="-40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Times New Roman"/>
                <a:cs typeface="Times New Roman"/>
              </a:rPr>
              <a:t>8</a:t>
            </a:r>
            <a:r>
              <a:rPr sz="1867" spc="-33" dirty="0">
                <a:latin typeface="Times New Roman"/>
                <a:cs typeface="Times New Roman"/>
              </a:rPr>
              <a:t> </a:t>
            </a:r>
            <a:r>
              <a:rPr sz="1867" spc="-7" dirty="0">
                <a:latin typeface="Times New Roman"/>
                <a:cs typeface="Times New Roman"/>
              </a:rPr>
              <a:t>exemplars</a:t>
            </a:r>
            <a:endParaRPr sz="1867">
              <a:latin typeface="Times New Roman"/>
              <a:cs typeface="Times New Roman"/>
            </a:endParaRPr>
          </a:p>
          <a:p>
            <a:pPr marL="16933" marR="4822493">
              <a:lnSpc>
                <a:spcPts val="2200"/>
              </a:lnSpc>
              <a:spcBef>
                <a:spcPts val="233"/>
              </a:spcBef>
            </a:pPr>
            <a:r>
              <a:rPr sz="1867" spc="-7" dirty="0">
                <a:latin typeface="Arial MT"/>
                <a:cs typeface="Arial MT"/>
              </a:rPr>
              <a:t>Q: If there are </a:t>
            </a:r>
            <a:r>
              <a:rPr sz="1867" dirty="0">
                <a:latin typeface="Arial MT"/>
                <a:cs typeface="Arial MT"/>
              </a:rPr>
              <a:t>3 cars </a:t>
            </a:r>
            <a:r>
              <a:rPr sz="1867" spc="-7" dirty="0">
                <a:latin typeface="Arial MT"/>
                <a:cs typeface="Arial MT"/>
              </a:rPr>
              <a:t>in the parking </a:t>
            </a:r>
            <a:r>
              <a:rPr sz="1867" spc="-50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lot and </a:t>
            </a:r>
            <a:r>
              <a:rPr sz="1867" dirty="0">
                <a:latin typeface="Arial MT"/>
                <a:cs typeface="Arial MT"/>
              </a:rPr>
              <a:t>2 more cars </a:t>
            </a:r>
            <a:r>
              <a:rPr sz="1867" spc="-7" dirty="0">
                <a:latin typeface="Arial MT"/>
                <a:cs typeface="Arial MT"/>
              </a:rPr>
              <a:t>arrive, how </a:t>
            </a:r>
            <a:r>
              <a:rPr sz="1867" dirty="0">
                <a:latin typeface="Arial MT"/>
                <a:cs typeface="Arial MT"/>
              </a:rPr>
              <a:t> many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cars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are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in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the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parking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lot?</a:t>
            </a:r>
            <a:endParaRPr sz="1867">
              <a:latin typeface="Arial MT"/>
              <a:cs typeface="Arial MT"/>
            </a:endParaRPr>
          </a:p>
          <a:p>
            <a:pPr>
              <a:spcBef>
                <a:spcPts val="53"/>
              </a:spcBef>
            </a:pPr>
            <a:endParaRPr sz="1867">
              <a:latin typeface="Arial MT"/>
              <a:cs typeface="Arial MT"/>
            </a:endParaRPr>
          </a:p>
          <a:p>
            <a:pPr marL="16933" marR="4966423">
              <a:lnSpc>
                <a:spcPts val="2200"/>
              </a:lnSpc>
              <a:spcBef>
                <a:spcPts val="7"/>
              </a:spcBef>
            </a:pPr>
            <a:r>
              <a:rPr sz="1867" spc="-7" dirty="0">
                <a:latin typeface="Arial MT"/>
                <a:cs typeface="Arial MT"/>
              </a:rPr>
              <a:t>A: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There are originally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3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cars.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2 </a:t>
            </a:r>
            <a:r>
              <a:rPr sz="1867" b="1" spc="-50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more</a:t>
            </a:r>
            <a:r>
              <a:rPr sz="1867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cars</a:t>
            </a:r>
            <a:r>
              <a:rPr sz="1867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arrive.</a:t>
            </a:r>
            <a:r>
              <a:rPr sz="1867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3</a:t>
            </a:r>
            <a:r>
              <a:rPr sz="1867" b="1" spc="-13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+</a:t>
            </a:r>
            <a:r>
              <a:rPr sz="1867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2</a:t>
            </a:r>
            <a:r>
              <a:rPr sz="1867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=</a:t>
            </a:r>
            <a:r>
              <a:rPr sz="1867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5.</a:t>
            </a:r>
            <a:r>
              <a:rPr sz="1867" b="1" spc="48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spc="-7" dirty="0">
                <a:latin typeface="Arial MT"/>
                <a:cs typeface="Arial MT"/>
              </a:rPr>
              <a:t>The</a:t>
            </a:r>
            <a:endParaRPr sz="1867">
              <a:latin typeface="Arial MT"/>
              <a:cs typeface="Arial MT"/>
            </a:endParaRPr>
          </a:p>
          <a:p>
            <a:pPr marL="16933">
              <a:lnSpc>
                <a:spcPts val="2133"/>
              </a:lnSpc>
            </a:pPr>
            <a:r>
              <a:rPr sz="1867" spc="-7" dirty="0">
                <a:latin typeface="Arial MT"/>
                <a:cs typeface="Arial MT"/>
              </a:rPr>
              <a:t>answer</a:t>
            </a:r>
            <a:r>
              <a:rPr sz="1867" spc="-4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is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b="1" spc="-7" dirty="0">
                <a:solidFill>
                  <a:srgbClr val="A61B00"/>
                </a:solidFill>
                <a:latin typeface="Arial"/>
                <a:cs typeface="Arial"/>
              </a:rPr>
              <a:t>5</a:t>
            </a:r>
            <a:r>
              <a:rPr sz="1867" b="1" spc="-7" dirty="0">
                <a:latin typeface="Arial"/>
                <a:cs typeface="Arial"/>
              </a:rPr>
              <a:t>.</a:t>
            </a:r>
            <a:endParaRPr sz="1867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43668" y="5283106"/>
            <a:ext cx="151299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40" dirty="0">
                <a:latin typeface="MS UI Gothic"/>
                <a:cs typeface="MS UI Gothic"/>
              </a:rPr>
              <a:t>（</a:t>
            </a:r>
            <a:r>
              <a:rPr sz="1600" spc="-40" dirty="0">
                <a:latin typeface="Times New Roman"/>
                <a:cs typeface="Times New Roman"/>
              </a:rPr>
              <a:t>Wei</a:t>
            </a:r>
            <a:r>
              <a:rPr sz="1600" spc="-33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et</a:t>
            </a:r>
            <a:r>
              <a:rPr sz="1600" spc="-27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al.,</a:t>
            </a:r>
            <a:r>
              <a:rPr sz="1600" spc="-3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2022</a:t>
            </a:r>
            <a:r>
              <a:rPr sz="1600" dirty="0">
                <a:latin typeface="MS UI Gothic"/>
                <a:cs typeface="MS UI Gothic"/>
              </a:rPr>
              <a:t>）</a:t>
            </a:r>
            <a:endParaRPr sz="1600">
              <a:latin typeface="MS UI Gothic"/>
              <a:cs typeface="MS UI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47950" y="1368450"/>
            <a:ext cx="4492413" cy="3748193"/>
            <a:chOff x="785962" y="1026337"/>
            <a:chExt cx="3369310" cy="2811145"/>
          </a:xfrm>
        </p:grpSpPr>
        <p:sp>
          <p:nvSpPr>
            <p:cNvPr id="3" name="object 3"/>
            <p:cNvSpPr/>
            <p:nvPr/>
          </p:nvSpPr>
          <p:spPr>
            <a:xfrm>
              <a:off x="790724" y="1031099"/>
              <a:ext cx="3359785" cy="2801620"/>
            </a:xfrm>
            <a:custGeom>
              <a:avLst/>
              <a:gdLst/>
              <a:ahLst/>
              <a:cxnLst/>
              <a:rect l="l" t="t" r="r" b="b"/>
              <a:pathLst>
                <a:path w="3359785" h="2801620">
                  <a:moveTo>
                    <a:pt x="2892840" y="2801099"/>
                  </a:moveTo>
                  <a:lnTo>
                    <a:pt x="466859" y="2801099"/>
                  </a:lnTo>
                  <a:lnTo>
                    <a:pt x="419125" y="2798689"/>
                  </a:lnTo>
                  <a:lnTo>
                    <a:pt x="372770" y="2791615"/>
                  </a:lnTo>
                  <a:lnTo>
                    <a:pt x="328029" y="2780110"/>
                  </a:lnTo>
                  <a:lnTo>
                    <a:pt x="285136" y="2764411"/>
                  </a:lnTo>
                  <a:lnTo>
                    <a:pt x="244326" y="2744752"/>
                  </a:lnTo>
                  <a:lnTo>
                    <a:pt x="205833" y="2721367"/>
                  </a:lnTo>
                  <a:lnTo>
                    <a:pt x="169893" y="2694492"/>
                  </a:lnTo>
                  <a:lnTo>
                    <a:pt x="136739" y="2664360"/>
                  </a:lnTo>
                  <a:lnTo>
                    <a:pt x="106607" y="2631206"/>
                  </a:lnTo>
                  <a:lnTo>
                    <a:pt x="79732" y="2595266"/>
                  </a:lnTo>
                  <a:lnTo>
                    <a:pt x="56347" y="2556773"/>
                  </a:lnTo>
                  <a:lnTo>
                    <a:pt x="36688" y="2515963"/>
                  </a:lnTo>
                  <a:lnTo>
                    <a:pt x="20989" y="2473070"/>
                  </a:lnTo>
                  <a:lnTo>
                    <a:pt x="9484" y="2428328"/>
                  </a:lnTo>
                  <a:lnTo>
                    <a:pt x="2410" y="2381974"/>
                  </a:lnTo>
                  <a:lnTo>
                    <a:pt x="0" y="2334240"/>
                  </a:lnTo>
                  <a:lnTo>
                    <a:pt x="0" y="466859"/>
                  </a:lnTo>
                  <a:lnTo>
                    <a:pt x="2410" y="419125"/>
                  </a:lnTo>
                  <a:lnTo>
                    <a:pt x="9484" y="372770"/>
                  </a:lnTo>
                  <a:lnTo>
                    <a:pt x="20989" y="328029"/>
                  </a:lnTo>
                  <a:lnTo>
                    <a:pt x="36688" y="285136"/>
                  </a:lnTo>
                  <a:lnTo>
                    <a:pt x="56347" y="244326"/>
                  </a:lnTo>
                  <a:lnTo>
                    <a:pt x="79732" y="205833"/>
                  </a:lnTo>
                  <a:lnTo>
                    <a:pt x="106607" y="169893"/>
                  </a:lnTo>
                  <a:lnTo>
                    <a:pt x="136739" y="136739"/>
                  </a:lnTo>
                  <a:lnTo>
                    <a:pt x="169893" y="106607"/>
                  </a:lnTo>
                  <a:lnTo>
                    <a:pt x="205833" y="79732"/>
                  </a:lnTo>
                  <a:lnTo>
                    <a:pt x="244326" y="56347"/>
                  </a:lnTo>
                  <a:lnTo>
                    <a:pt x="285136" y="36688"/>
                  </a:lnTo>
                  <a:lnTo>
                    <a:pt x="328029" y="20989"/>
                  </a:lnTo>
                  <a:lnTo>
                    <a:pt x="372770" y="9484"/>
                  </a:lnTo>
                  <a:lnTo>
                    <a:pt x="419125" y="2410"/>
                  </a:lnTo>
                  <a:lnTo>
                    <a:pt x="466859" y="0"/>
                  </a:lnTo>
                  <a:lnTo>
                    <a:pt x="2892840" y="0"/>
                  </a:lnTo>
                  <a:lnTo>
                    <a:pt x="2945519" y="2979"/>
                  </a:lnTo>
                  <a:lnTo>
                    <a:pt x="2997119" y="11793"/>
                  </a:lnTo>
                  <a:lnTo>
                    <a:pt x="3047185" y="26251"/>
                  </a:lnTo>
                  <a:lnTo>
                    <a:pt x="3095259" y="46164"/>
                  </a:lnTo>
                  <a:lnTo>
                    <a:pt x="3140884" y="71342"/>
                  </a:lnTo>
                  <a:lnTo>
                    <a:pt x="3183603" y="101597"/>
                  </a:lnTo>
                  <a:lnTo>
                    <a:pt x="3222959" y="136739"/>
                  </a:lnTo>
                  <a:lnTo>
                    <a:pt x="3258102" y="176096"/>
                  </a:lnTo>
                  <a:lnTo>
                    <a:pt x="3288357" y="218815"/>
                  </a:lnTo>
                  <a:lnTo>
                    <a:pt x="3313535" y="264440"/>
                  </a:lnTo>
                  <a:lnTo>
                    <a:pt x="3333448" y="312514"/>
                  </a:lnTo>
                  <a:lnTo>
                    <a:pt x="3347906" y="362580"/>
                  </a:lnTo>
                  <a:lnTo>
                    <a:pt x="3356720" y="414180"/>
                  </a:lnTo>
                  <a:lnTo>
                    <a:pt x="3359699" y="466859"/>
                  </a:lnTo>
                  <a:lnTo>
                    <a:pt x="3359699" y="2334240"/>
                  </a:lnTo>
                  <a:lnTo>
                    <a:pt x="3357289" y="2381974"/>
                  </a:lnTo>
                  <a:lnTo>
                    <a:pt x="3350215" y="2428328"/>
                  </a:lnTo>
                  <a:lnTo>
                    <a:pt x="3338710" y="2473070"/>
                  </a:lnTo>
                  <a:lnTo>
                    <a:pt x="3323011" y="2515963"/>
                  </a:lnTo>
                  <a:lnTo>
                    <a:pt x="3303352" y="2556773"/>
                  </a:lnTo>
                  <a:lnTo>
                    <a:pt x="3279967" y="2595266"/>
                  </a:lnTo>
                  <a:lnTo>
                    <a:pt x="3253092" y="2631206"/>
                  </a:lnTo>
                  <a:lnTo>
                    <a:pt x="3222960" y="2664360"/>
                  </a:lnTo>
                  <a:lnTo>
                    <a:pt x="3189806" y="2694492"/>
                  </a:lnTo>
                  <a:lnTo>
                    <a:pt x="3153866" y="2721367"/>
                  </a:lnTo>
                  <a:lnTo>
                    <a:pt x="3115373" y="2744752"/>
                  </a:lnTo>
                  <a:lnTo>
                    <a:pt x="3074563" y="2764411"/>
                  </a:lnTo>
                  <a:lnTo>
                    <a:pt x="3031670" y="2780110"/>
                  </a:lnTo>
                  <a:lnTo>
                    <a:pt x="2986928" y="2791615"/>
                  </a:lnTo>
                  <a:lnTo>
                    <a:pt x="2940574" y="2798689"/>
                  </a:lnTo>
                  <a:lnTo>
                    <a:pt x="2892840" y="28010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0724" y="1031099"/>
              <a:ext cx="3359785" cy="2801620"/>
            </a:xfrm>
            <a:custGeom>
              <a:avLst/>
              <a:gdLst/>
              <a:ahLst/>
              <a:cxnLst/>
              <a:rect l="l" t="t" r="r" b="b"/>
              <a:pathLst>
                <a:path w="3359785" h="2801620">
                  <a:moveTo>
                    <a:pt x="0" y="466859"/>
                  </a:moveTo>
                  <a:lnTo>
                    <a:pt x="2410" y="419125"/>
                  </a:lnTo>
                  <a:lnTo>
                    <a:pt x="9484" y="372770"/>
                  </a:lnTo>
                  <a:lnTo>
                    <a:pt x="20989" y="328029"/>
                  </a:lnTo>
                  <a:lnTo>
                    <a:pt x="36688" y="285136"/>
                  </a:lnTo>
                  <a:lnTo>
                    <a:pt x="56347" y="244326"/>
                  </a:lnTo>
                  <a:lnTo>
                    <a:pt x="79732" y="205833"/>
                  </a:lnTo>
                  <a:lnTo>
                    <a:pt x="106607" y="169893"/>
                  </a:lnTo>
                  <a:lnTo>
                    <a:pt x="136739" y="136739"/>
                  </a:lnTo>
                  <a:lnTo>
                    <a:pt x="169893" y="106607"/>
                  </a:lnTo>
                  <a:lnTo>
                    <a:pt x="205833" y="79732"/>
                  </a:lnTo>
                  <a:lnTo>
                    <a:pt x="244326" y="56347"/>
                  </a:lnTo>
                  <a:lnTo>
                    <a:pt x="285136" y="36688"/>
                  </a:lnTo>
                  <a:lnTo>
                    <a:pt x="328029" y="20989"/>
                  </a:lnTo>
                  <a:lnTo>
                    <a:pt x="372770" y="9484"/>
                  </a:lnTo>
                  <a:lnTo>
                    <a:pt x="419125" y="2410"/>
                  </a:lnTo>
                  <a:lnTo>
                    <a:pt x="466859" y="0"/>
                  </a:lnTo>
                  <a:lnTo>
                    <a:pt x="2892840" y="0"/>
                  </a:lnTo>
                  <a:lnTo>
                    <a:pt x="2945519" y="2979"/>
                  </a:lnTo>
                  <a:lnTo>
                    <a:pt x="2997119" y="11793"/>
                  </a:lnTo>
                  <a:lnTo>
                    <a:pt x="3047185" y="26251"/>
                  </a:lnTo>
                  <a:lnTo>
                    <a:pt x="3095259" y="46164"/>
                  </a:lnTo>
                  <a:lnTo>
                    <a:pt x="3140884" y="71342"/>
                  </a:lnTo>
                  <a:lnTo>
                    <a:pt x="3183603" y="101597"/>
                  </a:lnTo>
                  <a:lnTo>
                    <a:pt x="3222959" y="136739"/>
                  </a:lnTo>
                  <a:lnTo>
                    <a:pt x="3258102" y="176096"/>
                  </a:lnTo>
                  <a:lnTo>
                    <a:pt x="3288357" y="218815"/>
                  </a:lnTo>
                  <a:lnTo>
                    <a:pt x="3313535" y="264440"/>
                  </a:lnTo>
                  <a:lnTo>
                    <a:pt x="3333448" y="312514"/>
                  </a:lnTo>
                  <a:lnTo>
                    <a:pt x="3347906" y="362580"/>
                  </a:lnTo>
                  <a:lnTo>
                    <a:pt x="3356720" y="414180"/>
                  </a:lnTo>
                  <a:lnTo>
                    <a:pt x="3359699" y="466859"/>
                  </a:lnTo>
                  <a:lnTo>
                    <a:pt x="3359699" y="2334240"/>
                  </a:lnTo>
                  <a:lnTo>
                    <a:pt x="3357289" y="2381974"/>
                  </a:lnTo>
                  <a:lnTo>
                    <a:pt x="3350215" y="2428328"/>
                  </a:lnTo>
                  <a:lnTo>
                    <a:pt x="3338710" y="2473070"/>
                  </a:lnTo>
                  <a:lnTo>
                    <a:pt x="3323011" y="2515963"/>
                  </a:lnTo>
                  <a:lnTo>
                    <a:pt x="3303352" y="2556773"/>
                  </a:lnTo>
                  <a:lnTo>
                    <a:pt x="3279967" y="2595266"/>
                  </a:lnTo>
                  <a:lnTo>
                    <a:pt x="3253092" y="2631206"/>
                  </a:lnTo>
                  <a:lnTo>
                    <a:pt x="3222960" y="2664360"/>
                  </a:lnTo>
                  <a:lnTo>
                    <a:pt x="3189806" y="2694492"/>
                  </a:lnTo>
                  <a:lnTo>
                    <a:pt x="3153866" y="2721367"/>
                  </a:lnTo>
                  <a:lnTo>
                    <a:pt x="3115373" y="2744752"/>
                  </a:lnTo>
                  <a:lnTo>
                    <a:pt x="3074563" y="2764411"/>
                  </a:lnTo>
                  <a:lnTo>
                    <a:pt x="3031670" y="2780110"/>
                  </a:lnTo>
                  <a:lnTo>
                    <a:pt x="2986928" y="2791615"/>
                  </a:lnTo>
                  <a:lnTo>
                    <a:pt x="2940574" y="2798689"/>
                  </a:lnTo>
                  <a:lnTo>
                    <a:pt x="2892840" y="2801099"/>
                  </a:lnTo>
                  <a:lnTo>
                    <a:pt x="466859" y="2801099"/>
                  </a:lnTo>
                  <a:lnTo>
                    <a:pt x="419125" y="2798689"/>
                  </a:lnTo>
                  <a:lnTo>
                    <a:pt x="372770" y="2791615"/>
                  </a:lnTo>
                  <a:lnTo>
                    <a:pt x="328029" y="2780110"/>
                  </a:lnTo>
                  <a:lnTo>
                    <a:pt x="285136" y="2764411"/>
                  </a:lnTo>
                  <a:lnTo>
                    <a:pt x="244326" y="2744752"/>
                  </a:lnTo>
                  <a:lnTo>
                    <a:pt x="205833" y="2721367"/>
                  </a:lnTo>
                  <a:lnTo>
                    <a:pt x="169893" y="2694492"/>
                  </a:lnTo>
                  <a:lnTo>
                    <a:pt x="136739" y="2664360"/>
                  </a:lnTo>
                  <a:lnTo>
                    <a:pt x="106607" y="2631206"/>
                  </a:lnTo>
                  <a:lnTo>
                    <a:pt x="79732" y="2595266"/>
                  </a:lnTo>
                  <a:lnTo>
                    <a:pt x="56347" y="2556773"/>
                  </a:lnTo>
                  <a:lnTo>
                    <a:pt x="36688" y="2515963"/>
                  </a:lnTo>
                  <a:lnTo>
                    <a:pt x="20989" y="2473070"/>
                  </a:lnTo>
                  <a:lnTo>
                    <a:pt x="9484" y="2428328"/>
                  </a:lnTo>
                  <a:lnTo>
                    <a:pt x="2410" y="2381974"/>
                  </a:lnTo>
                  <a:lnTo>
                    <a:pt x="0" y="2334240"/>
                  </a:lnTo>
                  <a:lnTo>
                    <a:pt x="0" y="466859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427825" y="1645002"/>
            <a:ext cx="173143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b="1" spc="-7" dirty="0">
                <a:latin typeface="Arial"/>
                <a:cs typeface="Arial"/>
              </a:rPr>
              <a:t>Free</a:t>
            </a:r>
            <a:r>
              <a:rPr sz="1867" b="1" spc="-100" dirty="0">
                <a:latin typeface="Arial"/>
                <a:cs typeface="Arial"/>
              </a:rPr>
              <a:t> </a:t>
            </a:r>
            <a:r>
              <a:rPr sz="1867" b="1" spc="-7" dirty="0">
                <a:latin typeface="Arial"/>
                <a:cs typeface="Arial"/>
              </a:rPr>
              <a:t>Response</a:t>
            </a:r>
            <a:endParaRPr sz="186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33985" y="2203801"/>
            <a:ext cx="3690620" cy="877163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>
              <a:lnSpc>
                <a:spcPts val="2200"/>
              </a:lnSpc>
              <a:spcBef>
                <a:spcPts val="240"/>
              </a:spcBef>
            </a:pPr>
            <a:r>
              <a:rPr sz="1867" spc="-7" dirty="0">
                <a:latin typeface="Arial MT"/>
                <a:cs typeface="Arial MT"/>
              </a:rPr>
              <a:t>Q: If there are </a:t>
            </a:r>
            <a:r>
              <a:rPr sz="1867" dirty="0">
                <a:latin typeface="Arial MT"/>
                <a:cs typeface="Arial MT"/>
              </a:rPr>
              <a:t>3 cars </a:t>
            </a:r>
            <a:r>
              <a:rPr sz="1867" spc="-7" dirty="0">
                <a:latin typeface="Arial MT"/>
                <a:cs typeface="Arial MT"/>
              </a:rPr>
              <a:t>in the parking </a:t>
            </a:r>
            <a:r>
              <a:rPr sz="1867" spc="-50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lot and </a:t>
            </a:r>
            <a:r>
              <a:rPr sz="1867" dirty="0">
                <a:latin typeface="Arial MT"/>
                <a:cs typeface="Arial MT"/>
              </a:rPr>
              <a:t>2 more cars </a:t>
            </a:r>
            <a:r>
              <a:rPr sz="1867" spc="-7" dirty="0">
                <a:latin typeface="Arial MT"/>
                <a:cs typeface="Arial MT"/>
              </a:rPr>
              <a:t>arrive, how </a:t>
            </a:r>
            <a:r>
              <a:rPr sz="1867" dirty="0">
                <a:latin typeface="Arial MT"/>
                <a:cs typeface="Arial MT"/>
              </a:rPr>
              <a:t> many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cars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are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in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the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parking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lot?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33984" y="3321402"/>
            <a:ext cx="3545840" cy="864339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>
              <a:lnSpc>
                <a:spcPts val="2200"/>
              </a:lnSpc>
              <a:spcBef>
                <a:spcPts val="240"/>
              </a:spcBef>
            </a:pPr>
            <a:r>
              <a:rPr sz="1867" spc="-7" dirty="0">
                <a:latin typeface="Arial MT"/>
                <a:cs typeface="Arial MT"/>
              </a:rPr>
              <a:t>A: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There are originally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3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cars.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2 </a:t>
            </a:r>
            <a:r>
              <a:rPr sz="1867" b="1" spc="-50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more</a:t>
            </a:r>
            <a:r>
              <a:rPr sz="1867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cars</a:t>
            </a:r>
            <a:r>
              <a:rPr sz="1867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arrive.</a:t>
            </a:r>
            <a:r>
              <a:rPr sz="1867" b="1" spc="-13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i="1" dirty="0">
                <a:solidFill>
                  <a:srgbClr val="1155CC"/>
                </a:solidFill>
                <a:latin typeface="Arial"/>
                <a:cs typeface="Arial"/>
              </a:rPr>
              <a:t>3</a:t>
            </a:r>
            <a:r>
              <a:rPr sz="1867" b="1" i="1" spc="-13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67" b="1" i="1" dirty="0">
                <a:solidFill>
                  <a:srgbClr val="1155CC"/>
                </a:solidFill>
                <a:latin typeface="Arial"/>
                <a:cs typeface="Arial"/>
              </a:rPr>
              <a:t>+</a:t>
            </a:r>
            <a:r>
              <a:rPr sz="1867" b="1" i="1" spc="-2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67" b="1" i="1" dirty="0">
                <a:solidFill>
                  <a:srgbClr val="1155CC"/>
                </a:solidFill>
                <a:latin typeface="Arial"/>
                <a:cs typeface="Arial"/>
              </a:rPr>
              <a:t>2</a:t>
            </a:r>
            <a:r>
              <a:rPr sz="1867" b="1" i="1" spc="-2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67" b="1" i="1" dirty="0">
                <a:solidFill>
                  <a:srgbClr val="1155CC"/>
                </a:solidFill>
                <a:latin typeface="Arial"/>
                <a:cs typeface="Arial"/>
              </a:rPr>
              <a:t>=</a:t>
            </a:r>
            <a:r>
              <a:rPr sz="1867" b="1" i="1" spc="-2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67" b="1" i="1" dirty="0">
                <a:solidFill>
                  <a:srgbClr val="1155CC"/>
                </a:solidFill>
                <a:latin typeface="Arial"/>
                <a:cs typeface="Arial"/>
              </a:rPr>
              <a:t>5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.</a:t>
            </a:r>
            <a:r>
              <a:rPr sz="1867" b="1" spc="46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spc="-7" dirty="0">
                <a:latin typeface="Arial MT"/>
                <a:cs typeface="Arial MT"/>
              </a:rPr>
              <a:t>The</a:t>
            </a:r>
            <a:endParaRPr sz="1867">
              <a:latin typeface="Arial MT"/>
              <a:cs typeface="Arial MT"/>
            </a:endParaRPr>
          </a:p>
          <a:p>
            <a:pPr marL="16933">
              <a:lnSpc>
                <a:spcPts val="2133"/>
              </a:lnSpc>
            </a:pPr>
            <a:r>
              <a:rPr sz="1867" spc="-7" dirty="0">
                <a:latin typeface="Arial MT"/>
                <a:cs typeface="Arial MT"/>
              </a:rPr>
              <a:t>answer</a:t>
            </a:r>
            <a:r>
              <a:rPr sz="1867" spc="-4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is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b="1" spc="-7" dirty="0">
                <a:solidFill>
                  <a:srgbClr val="A61B00"/>
                </a:solidFill>
                <a:latin typeface="Arial"/>
                <a:cs typeface="Arial"/>
              </a:rPr>
              <a:t>5</a:t>
            </a:r>
            <a:r>
              <a:rPr sz="1867" b="1" spc="-7" dirty="0">
                <a:latin typeface="Arial"/>
                <a:cs typeface="Arial"/>
              </a:rPr>
              <a:t>.</a:t>
            </a:r>
            <a:endParaRPr sz="1867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7" dirty="0"/>
              <a:t>Free</a:t>
            </a:r>
            <a:r>
              <a:rPr sz="4000" spc="-27" dirty="0"/>
              <a:t> </a:t>
            </a:r>
            <a:r>
              <a:rPr sz="4000" spc="-13" dirty="0"/>
              <a:t>Response</a:t>
            </a:r>
            <a:r>
              <a:rPr sz="4000" spc="-27" dirty="0"/>
              <a:t> </a:t>
            </a:r>
            <a:r>
              <a:rPr sz="4000" dirty="0"/>
              <a:t>-</a:t>
            </a:r>
            <a:r>
              <a:rPr sz="4000" spc="-13" dirty="0"/>
              <a:t> </a:t>
            </a:r>
            <a:r>
              <a:rPr sz="4000" spc="-7" dirty="0"/>
              <a:t>Few-Shot</a:t>
            </a:r>
            <a:r>
              <a:rPr sz="4000" spc="-20" dirty="0"/>
              <a:t> </a:t>
            </a:r>
            <a:r>
              <a:rPr sz="4000" spc="-7" dirty="0"/>
              <a:t>CoT</a:t>
            </a:r>
            <a:r>
              <a:rPr sz="4000" spc="-100" dirty="0"/>
              <a:t> </a:t>
            </a:r>
            <a:r>
              <a:rPr sz="4000" spc="-7" dirty="0"/>
              <a:t>Prompt</a:t>
            </a:r>
            <a:r>
              <a:rPr sz="4000" spc="-20" dirty="0"/>
              <a:t> </a:t>
            </a:r>
            <a:r>
              <a:rPr sz="4000" spc="-7" dirty="0"/>
              <a:t>Exemplar</a:t>
            </a:r>
            <a:endParaRPr sz="400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26</a:t>
            </a:fld>
            <a:endParaRPr dirty="0"/>
          </a:p>
        </p:txBody>
      </p:sp>
      <p:grpSp>
        <p:nvGrpSpPr>
          <p:cNvPr id="9" name="object 9"/>
          <p:cNvGrpSpPr/>
          <p:nvPr/>
        </p:nvGrpSpPr>
        <p:grpSpPr>
          <a:xfrm>
            <a:off x="6810650" y="1368450"/>
            <a:ext cx="4492413" cy="3748193"/>
            <a:chOff x="5107987" y="1026337"/>
            <a:chExt cx="3369310" cy="2811145"/>
          </a:xfrm>
        </p:grpSpPr>
        <p:sp>
          <p:nvSpPr>
            <p:cNvPr id="10" name="object 10"/>
            <p:cNvSpPr/>
            <p:nvPr/>
          </p:nvSpPr>
          <p:spPr>
            <a:xfrm>
              <a:off x="5112749" y="1031099"/>
              <a:ext cx="3359785" cy="2801620"/>
            </a:xfrm>
            <a:custGeom>
              <a:avLst/>
              <a:gdLst/>
              <a:ahLst/>
              <a:cxnLst/>
              <a:rect l="l" t="t" r="r" b="b"/>
              <a:pathLst>
                <a:path w="3359784" h="2801620">
                  <a:moveTo>
                    <a:pt x="2892840" y="2801099"/>
                  </a:moveTo>
                  <a:lnTo>
                    <a:pt x="466859" y="2801099"/>
                  </a:lnTo>
                  <a:lnTo>
                    <a:pt x="419125" y="2798689"/>
                  </a:lnTo>
                  <a:lnTo>
                    <a:pt x="372770" y="2791615"/>
                  </a:lnTo>
                  <a:lnTo>
                    <a:pt x="328029" y="2780110"/>
                  </a:lnTo>
                  <a:lnTo>
                    <a:pt x="285136" y="2764411"/>
                  </a:lnTo>
                  <a:lnTo>
                    <a:pt x="244326" y="2744752"/>
                  </a:lnTo>
                  <a:lnTo>
                    <a:pt x="205833" y="2721367"/>
                  </a:lnTo>
                  <a:lnTo>
                    <a:pt x="169893" y="2694492"/>
                  </a:lnTo>
                  <a:lnTo>
                    <a:pt x="136739" y="2664360"/>
                  </a:lnTo>
                  <a:lnTo>
                    <a:pt x="106607" y="2631206"/>
                  </a:lnTo>
                  <a:lnTo>
                    <a:pt x="79732" y="2595266"/>
                  </a:lnTo>
                  <a:lnTo>
                    <a:pt x="56347" y="2556773"/>
                  </a:lnTo>
                  <a:lnTo>
                    <a:pt x="36688" y="2515963"/>
                  </a:lnTo>
                  <a:lnTo>
                    <a:pt x="20989" y="2473070"/>
                  </a:lnTo>
                  <a:lnTo>
                    <a:pt x="9484" y="2428328"/>
                  </a:lnTo>
                  <a:lnTo>
                    <a:pt x="2410" y="2381974"/>
                  </a:lnTo>
                  <a:lnTo>
                    <a:pt x="0" y="2334240"/>
                  </a:lnTo>
                  <a:lnTo>
                    <a:pt x="0" y="466859"/>
                  </a:lnTo>
                  <a:lnTo>
                    <a:pt x="2410" y="419125"/>
                  </a:lnTo>
                  <a:lnTo>
                    <a:pt x="9484" y="372770"/>
                  </a:lnTo>
                  <a:lnTo>
                    <a:pt x="20989" y="328029"/>
                  </a:lnTo>
                  <a:lnTo>
                    <a:pt x="36688" y="285136"/>
                  </a:lnTo>
                  <a:lnTo>
                    <a:pt x="56347" y="244326"/>
                  </a:lnTo>
                  <a:lnTo>
                    <a:pt x="79732" y="205833"/>
                  </a:lnTo>
                  <a:lnTo>
                    <a:pt x="106607" y="169893"/>
                  </a:lnTo>
                  <a:lnTo>
                    <a:pt x="136739" y="136739"/>
                  </a:lnTo>
                  <a:lnTo>
                    <a:pt x="169893" y="106607"/>
                  </a:lnTo>
                  <a:lnTo>
                    <a:pt x="205833" y="79732"/>
                  </a:lnTo>
                  <a:lnTo>
                    <a:pt x="244326" y="56347"/>
                  </a:lnTo>
                  <a:lnTo>
                    <a:pt x="285136" y="36688"/>
                  </a:lnTo>
                  <a:lnTo>
                    <a:pt x="328029" y="20989"/>
                  </a:lnTo>
                  <a:lnTo>
                    <a:pt x="372770" y="9484"/>
                  </a:lnTo>
                  <a:lnTo>
                    <a:pt x="419125" y="2410"/>
                  </a:lnTo>
                  <a:lnTo>
                    <a:pt x="466859" y="0"/>
                  </a:lnTo>
                  <a:lnTo>
                    <a:pt x="2892840" y="0"/>
                  </a:lnTo>
                  <a:lnTo>
                    <a:pt x="2945519" y="2979"/>
                  </a:lnTo>
                  <a:lnTo>
                    <a:pt x="2997119" y="11793"/>
                  </a:lnTo>
                  <a:lnTo>
                    <a:pt x="3047185" y="26251"/>
                  </a:lnTo>
                  <a:lnTo>
                    <a:pt x="3095259" y="46164"/>
                  </a:lnTo>
                  <a:lnTo>
                    <a:pt x="3140884" y="71342"/>
                  </a:lnTo>
                  <a:lnTo>
                    <a:pt x="3183603" y="101597"/>
                  </a:lnTo>
                  <a:lnTo>
                    <a:pt x="3222959" y="136739"/>
                  </a:lnTo>
                  <a:lnTo>
                    <a:pt x="3258102" y="176096"/>
                  </a:lnTo>
                  <a:lnTo>
                    <a:pt x="3288357" y="218815"/>
                  </a:lnTo>
                  <a:lnTo>
                    <a:pt x="3313535" y="264440"/>
                  </a:lnTo>
                  <a:lnTo>
                    <a:pt x="3333448" y="312514"/>
                  </a:lnTo>
                  <a:lnTo>
                    <a:pt x="3347906" y="362580"/>
                  </a:lnTo>
                  <a:lnTo>
                    <a:pt x="3356720" y="414180"/>
                  </a:lnTo>
                  <a:lnTo>
                    <a:pt x="3359699" y="466859"/>
                  </a:lnTo>
                  <a:lnTo>
                    <a:pt x="3359699" y="2334240"/>
                  </a:lnTo>
                  <a:lnTo>
                    <a:pt x="3357289" y="2381974"/>
                  </a:lnTo>
                  <a:lnTo>
                    <a:pt x="3350215" y="2428328"/>
                  </a:lnTo>
                  <a:lnTo>
                    <a:pt x="3338710" y="2473070"/>
                  </a:lnTo>
                  <a:lnTo>
                    <a:pt x="3323011" y="2515963"/>
                  </a:lnTo>
                  <a:lnTo>
                    <a:pt x="3303352" y="2556773"/>
                  </a:lnTo>
                  <a:lnTo>
                    <a:pt x="3279967" y="2595266"/>
                  </a:lnTo>
                  <a:lnTo>
                    <a:pt x="3253092" y="2631206"/>
                  </a:lnTo>
                  <a:lnTo>
                    <a:pt x="3222960" y="2664360"/>
                  </a:lnTo>
                  <a:lnTo>
                    <a:pt x="3189806" y="2694492"/>
                  </a:lnTo>
                  <a:lnTo>
                    <a:pt x="3153866" y="2721367"/>
                  </a:lnTo>
                  <a:lnTo>
                    <a:pt x="3115373" y="2744752"/>
                  </a:lnTo>
                  <a:lnTo>
                    <a:pt x="3074563" y="2764411"/>
                  </a:lnTo>
                  <a:lnTo>
                    <a:pt x="3031670" y="2780110"/>
                  </a:lnTo>
                  <a:lnTo>
                    <a:pt x="2986928" y="2791615"/>
                  </a:lnTo>
                  <a:lnTo>
                    <a:pt x="2940574" y="2798689"/>
                  </a:lnTo>
                  <a:lnTo>
                    <a:pt x="2892840" y="28010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12749" y="1031099"/>
              <a:ext cx="3359785" cy="2801620"/>
            </a:xfrm>
            <a:custGeom>
              <a:avLst/>
              <a:gdLst/>
              <a:ahLst/>
              <a:cxnLst/>
              <a:rect l="l" t="t" r="r" b="b"/>
              <a:pathLst>
                <a:path w="3359784" h="2801620">
                  <a:moveTo>
                    <a:pt x="0" y="466859"/>
                  </a:moveTo>
                  <a:lnTo>
                    <a:pt x="2410" y="419125"/>
                  </a:lnTo>
                  <a:lnTo>
                    <a:pt x="9484" y="372770"/>
                  </a:lnTo>
                  <a:lnTo>
                    <a:pt x="20989" y="328029"/>
                  </a:lnTo>
                  <a:lnTo>
                    <a:pt x="36688" y="285136"/>
                  </a:lnTo>
                  <a:lnTo>
                    <a:pt x="56347" y="244326"/>
                  </a:lnTo>
                  <a:lnTo>
                    <a:pt x="79732" y="205833"/>
                  </a:lnTo>
                  <a:lnTo>
                    <a:pt x="106607" y="169893"/>
                  </a:lnTo>
                  <a:lnTo>
                    <a:pt x="136739" y="136739"/>
                  </a:lnTo>
                  <a:lnTo>
                    <a:pt x="169893" y="106607"/>
                  </a:lnTo>
                  <a:lnTo>
                    <a:pt x="205833" y="79732"/>
                  </a:lnTo>
                  <a:lnTo>
                    <a:pt x="244326" y="56347"/>
                  </a:lnTo>
                  <a:lnTo>
                    <a:pt x="285136" y="36688"/>
                  </a:lnTo>
                  <a:lnTo>
                    <a:pt x="328029" y="20989"/>
                  </a:lnTo>
                  <a:lnTo>
                    <a:pt x="372770" y="9484"/>
                  </a:lnTo>
                  <a:lnTo>
                    <a:pt x="419125" y="2410"/>
                  </a:lnTo>
                  <a:lnTo>
                    <a:pt x="466859" y="0"/>
                  </a:lnTo>
                  <a:lnTo>
                    <a:pt x="2892840" y="0"/>
                  </a:lnTo>
                  <a:lnTo>
                    <a:pt x="2945519" y="2979"/>
                  </a:lnTo>
                  <a:lnTo>
                    <a:pt x="2997119" y="11793"/>
                  </a:lnTo>
                  <a:lnTo>
                    <a:pt x="3047185" y="26251"/>
                  </a:lnTo>
                  <a:lnTo>
                    <a:pt x="3095259" y="46164"/>
                  </a:lnTo>
                  <a:lnTo>
                    <a:pt x="3140884" y="71342"/>
                  </a:lnTo>
                  <a:lnTo>
                    <a:pt x="3183603" y="101597"/>
                  </a:lnTo>
                  <a:lnTo>
                    <a:pt x="3222959" y="136739"/>
                  </a:lnTo>
                  <a:lnTo>
                    <a:pt x="3258102" y="176096"/>
                  </a:lnTo>
                  <a:lnTo>
                    <a:pt x="3288357" y="218815"/>
                  </a:lnTo>
                  <a:lnTo>
                    <a:pt x="3313535" y="264440"/>
                  </a:lnTo>
                  <a:lnTo>
                    <a:pt x="3333448" y="312514"/>
                  </a:lnTo>
                  <a:lnTo>
                    <a:pt x="3347906" y="362580"/>
                  </a:lnTo>
                  <a:lnTo>
                    <a:pt x="3356720" y="414180"/>
                  </a:lnTo>
                  <a:lnTo>
                    <a:pt x="3359699" y="466859"/>
                  </a:lnTo>
                  <a:lnTo>
                    <a:pt x="3359699" y="2334240"/>
                  </a:lnTo>
                  <a:lnTo>
                    <a:pt x="3357289" y="2381974"/>
                  </a:lnTo>
                  <a:lnTo>
                    <a:pt x="3350215" y="2428328"/>
                  </a:lnTo>
                  <a:lnTo>
                    <a:pt x="3338710" y="2473070"/>
                  </a:lnTo>
                  <a:lnTo>
                    <a:pt x="3323011" y="2515963"/>
                  </a:lnTo>
                  <a:lnTo>
                    <a:pt x="3303352" y="2556773"/>
                  </a:lnTo>
                  <a:lnTo>
                    <a:pt x="3279967" y="2595266"/>
                  </a:lnTo>
                  <a:lnTo>
                    <a:pt x="3253092" y="2631206"/>
                  </a:lnTo>
                  <a:lnTo>
                    <a:pt x="3222960" y="2664360"/>
                  </a:lnTo>
                  <a:lnTo>
                    <a:pt x="3189806" y="2694492"/>
                  </a:lnTo>
                  <a:lnTo>
                    <a:pt x="3153866" y="2721367"/>
                  </a:lnTo>
                  <a:lnTo>
                    <a:pt x="3115373" y="2744752"/>
                  </a:lnTo>
                  <a:lnTo>
                    <a:pt x="3074563" y="2764411"/>
                  </a:lnTo>
                  <a:lnTo>
                    <a:pt x="3031670" y="2780110"/>
                  </a:lnTo>
                  <a:lnTo>
                    <a:pt x="2986928" y="2791615"/>
                  </a:lnTo>
                  <a:lnTo>
                    <a:pt x="2940574" y="2798689"/>
                  </a:lnTo>
                  <a:lnTo>
                    <a:pt x="2892840" y="2801099"/>
                  </a:lnTo>
                  <a:lnTo>
                    <a:pt x="466859" y="2801099"/>
                  </a:lnTo>
                  <a:lnTo>
                    <a:pt x="419125" y="2798689"/>
                  </a:lnTo>
                  <a:lnTo>
                    <a:pt x="372770" y="2791615"/>
                  </a:lnTo>
                  <a:lnTo>
                    <a:pt x="328029" y="2780110"/>
                  </a:lnTo>
                  <a:lnTo>
                    <a:pt x="285136" y="2764411"/>
                  </a:lnTo>
                  <a:lnTo>
                    <a:pt x="244326" y="2744752"/>
                  </a:lnTo>
                  <a:lnTo>
                    <a:pt x="205833" y="2721367"/>
                  </a:lnTo>
                  <a:lnTo>
                    <a:pt x="169893" y="2694492"/>
                  </a:lnTo>
                  <a:lnTo>
                    <a:pt x="136739" y="2664360"/>
                  </a:lnTo>
                  <a:lnTo>
                    <a:pt x="106607" y="2631206"/>
                  </a:lnTo>
                  <a:lnTo>
                    <a:pt x="79732" y="2595266"/>
                  </a:lnTo>
                  <a:lnTo>
                    <a:pt x="56347" y="2556773"/>
                  </a:lnTo>
                  <a:lnTo>
                    <a:pt x="36688" y="2515963"/>
                  </a:lnTo>
                  <a:lnTo>
                    <a:pt x="20989" y="2473070"/>
                  </a:lnTo>
                  <a:lnTo>
                    <a:pt x="9484" y="2428328"/>
                  </a:lnTo>
                  <a:lnTo>
                    <a:pt x="2410" y="2381974"/>
                  </a:lnTo>
                  <a:lnTo>
                    <a:pt x="0" y="2334240"/>
                  </a:lnTo>
                  <a:lnTo>
                    <a:pt x="0" y="466859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190525" y="1645002"/>
            <a:ext cx="173143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b="1" spc="-7" dirty="0">
                <a:latin typeface="Arial"/>
                <a:cs typeface="Arial"/>
              </a:rPr>
              <a:t>Free</a:t>
            </a:r>
            <a:r>
              <a:rPr sz="1867" b="1" spc="-100" dirty="0">
                <a:latin typeface="Arial"/>
                <a:cs typeface="Arial"/>
              </a:rPr>
              <a:t> </a:t>
            </a:r>
            <a:r>
              <a:rPr sz="1867" b="1" spc="-7" dirty="0">
                <a:latin typeface="Arial"/>
                <a:cs typeface="Arial"/>
              </a:rPr>
              <a:t>Response</a:t>
            </a:r>
            <a:endParaRPr sz="1867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96684" y="2203802"/>
            <a:ext cx="3623733" cy="877163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>
              <a:lnSpc>
                <a:spcPts val="2200"/>
              </a:lnSpc>
              <a:spcBef>
                <a:spcPts val="240"/>
              </a:spcBef>
            </a:pPr>
            <a:r>
              <a:rPr sz="1867" spc="-7" dirty="0">
                <a:latin typeface="Arial MT"/>
                <a:cs typeface="Arial MT"/>
              </a:rPr>
              <a:t>Q: Olivia has $23. She bought five </a:t>
            </a:r>
            <a:r>
              <a:rPr sz="1867" spc="-50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bagels for $3 each. How </a:t>
            </a:r>
            <a:r>
              <a:rPr sz="1867" dirty="0">
                <a:latin typeface="Arial MT"/>
                <a:cs typeface="Arial MT"/>
              </a:rPr>
              <a:t>much </a:t>
            </a:r>
            <a:r>
              <a:rPr sz="1867" spc="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money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does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she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have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left?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96684" y="3321402"/>
            <a:ext cx="3911600" cy="1159292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>
              <a:lnSpc>
                <a:spcPts val="2200"/>
              </a:lnSpc>
              <a:spcBef>
                <a:spcPts val="240"/>
              </a:spcBef>
            </a:pPr>
            <a:r>
              <a:rPr sz="1867" spc="-7" dirty="0">
                <a:latin typeface="Arial MT"/>
                <a:cs typeface="Arial MT"/>
              </a:rPr>
              <a:t>A: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Olivia had 23 dollars.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5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bagels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 for</a:t>
            </a:r>
            <a:r>
              <a:rPr sz="1867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3</a:t>
            </a:r>
            <a:r>
              <a:rPr sz="1867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dollars</a:t>
            </a:r>
            <a:r>
              <a:rPr sz="1867" b="1" spc="-13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each</a:t>
            </a:r>
            <a:r>
              <a:rPr sz="1867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will</a:t>
            </a:r>
            <a:r>
              <a:rPr sz="1867" b="1" spc="-13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be</a:t>
            </a:r>
            <a:r>
              <a:rPr sz="1867" b="1" spc="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i="1" dirty="0">
                <a:solidFill>
                  <a:srgbClr val="1155CC"/>
                </a:solidFill>
                <a:latin typeface="Arial"/>
                <a:cs typeface="Arial"/>
              </a:rPr>
              <a:t>5</a:t>
            </a:r>
            <a:r>
              <a:rPr sz="1867" b="1" i="1" spc="-13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67" b="1" i="1" dirty="0">
                <a:solidFill>
                  <a:srgbClr val="1155CC"/>
                </a:solidFill>
                <a:latin typeface="Arial"/>
                <a:cs typeface="Arial"/>
              </a:rPr>
              <a:t>x</a:t>
            </a:r>
            <a:r>
              <a:rPr sz="1867" b="1" i="1" spc="-2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67" b="1" i="1" dirty="0">
                <a:solidFill>
                  <a:srgbClr val="1155CC"/>
                </a:solidFill>
                <a:latin typeface="Arial"/>
                <a:cs typeface="Arial"/>
              </a:rPr>
              <a:t>3</a:t>
            </a:r>
            <a:r>
              <a:rPr sz="1867" b="1" i="1" spc="-2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67" b="1" i="1" dirty="0">
                <a:solidFill>
                  <a:srgbClr val="1155CC"/>
                </a:solidFill>
                <a:latin typeface="Arial"/>
                <a:cs typeface="Arial"/>
              </a:rPr>
              <a:t>=</a:t>
            </a:r>
            <a:r>
              <a:rPr sz="1867" b="1" i="1" spc="-13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67" b="1" i="1" spc="-7" dirty="0">
                <a:solidFill>
                  <a:srgbClr val="1155CC"/>
                </a:solidFill>
                <a:latin typeface="Arial"/>
                <a:cs typeface="Arial"/>
              </a:rPr>
              <a:t>15 </a:t>
            </a:r>
            <a:r>
              <a:rPr sz="1867" b="1" i="1" spc="-50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dollars. So she has </a:t>
            </a:r>
            <a:r>
              <a:rPr sz="1867" b="1" i="1" spc="-7" dirty="0">
                <a:solidFill>
                  <a:srgbClr val="1155CC"/>
                </a:solidFill>
                <a:latin typeface="Arial"/>
                <a:cs typeface="Arial"/>
              </a:rPr>
              <a:t>23 </a:t>
            </a:r>
            <a:r>
              <a:rPr sz="1867" b="1" i="1" dirty="0">
                <a:solidFill>
                  <a:srgbClr val="1155CC"/>
                </a:solidFill>
                <a:latin typeface="Arial"/>
                <a:cs typeface="Arial"/>
              </a:rPr>
              <a:t>- </a:t>
            </a:r>
            <a:r>
              <a:rPr sz="1867" b="1" i="1" spc="-7" dirty="0">
                <a:solidFill>
                  <a:srgbClr val="1155CC"/>
                </a:solidFill>
                <a:latin typeface="Arial"/>
                <a:cs typeface="Arial"/>
              </a:rPr>
              <a:t>15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dollars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left.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i="1" spc="-7" dirty="0">
                <a:solidFill>
                  <a:srgbClr val="1155CC"/>
                </a:solidFill>
                <a:latin typeface="Arial"/>
                <a:cs typeface="Arial"/>
              </a:rPr>
              <a:t>23</a:t>
            </a:r>
            <a:r>
              <a:rPr sz="1867" b="1" i="1" spc="-13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67" b="1" i="1" dirty="0">
                <a:solidFill>
                  <a:srgbClr val="1155CC"/>
                </a:solidFill>
                <a:latin typeface="Arial"/>
                <a:cs typeface="Arial"/>
              </a:rPr>
              <a:t>-</a:t>
            </a:r>
            <a:r>
              <a:rPr sz="1867" b="1" i="1" spc="-13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67" b="1" i="1" spc="-7" dirty="0">
                <a:solidFill>
                  <a:srgbClr val="1155CC"/>
                </a:solidFill>
                <a:latin typeface="Arial"/>
                <a:cs typeface="Arial"/>
              </a:rPr>
              <a:t>15</a:t>
            </a:r>
            <a:r>
              <a:rPr sz="1867" b="1" i="1" spc="-13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67" b="1" i="1" spc="-7" dirty="0">
                <a:solidFill>
                  <a:srgbClr val="1155CC"/>
                </a:solidFill>
                <a:latin typeface="Arial"/>
                <a:cs typeface="Arial"/>
              </a:rPr>
              <a:t>is</a:t>
            </a:r>
            <a:r>
              <a:rPr sz="1867" b="1" i="1" spc="-13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67" b="1" i="1" dirty="0">
                <a:solidFill>
                  <a:srgbClr val="1155CC"/>
                </a:solidFill>
                <a:latin typeface="Arial"/>
                <a:cs typeface="Arial"/>
              </a:rPr>
              <a:t>8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.</a:t>
            </a:r>
            <a:r>
              <a:rPr sz="1867" b="1" spc="-13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latin typeface="Arial"/>
                <a:cs typeface="Arial"/>
              </a:rPr>
              <a:t>The</a:t>
            </a:r>
            <a:r>
              <a:rPr sz="1867" b="1" spc="-13" dirty="0">
                <a:latin typeface="Arial"/>
                <a:cs typeface="Arial"/>
              </a:rPr>
              <a:t> </a:t>
            </a:r>
            <a:r>
              <a:rPr sz="1867" b="1" spc="-7" dirty="0">
                <a:latin typeface="Arial"/>
                <a:cs typeface="Arial"/>
              </a:rPr>
              <a:t>answer is</a:t>
            </a:r>
            <a:r>
              <a:rPr sz="1867" b="1" dirty="0"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A61B00"/>
                </a:solidFill>
                <a:latin typeface="Arial"/>
                <a:cs typeface="Arial"/>
              </a:rPr>
              <a:t>8</a:t>
            </a:r>
            <a:r>
              <a:rPr sz="1867" b="1" spc="-7" dirty="0">
                <a:latin typeface="Arial"/>
                <a:cs typeface="Arial"/>
              </a:rPr>
              <a:t>.</a:t>
            </a:r>
            <a:endParaRPr sz="1867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24393" y="5771918"/>
            <a:ext cx="354076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67" dirty="0">
                <a:latin typeface="Times New Roman"/>
                <a:cs typeface="Times New Roman"/>
              </a:rPr>
              <a:t>You</a:t>
            </a:r>
            <a:r>
              <a:rPr sz="1867" spc="-20" dirty="0">
                <a:latin typeface="Times New Roman"/>
                <a:cs typeface="Times New Roman"/>
              </a:rPr>
              <a:t> </a:t>
            </a:r>
            <a:r>
              <a:rPr sz="1867" spc="-7" dirty="0">
                <a:latin typeface="Times New Roman"/>
                <a:cs typeface="Times New Roman"/>
              </a:rPr>
              <a:t>can</a:t>
            </a:r>
            <a:r>
              <a:rPr sz="1867" spc="-27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Times New Roman"/>
                <a:cs typeface="Times New Roman"/>
              </a:rPr>
              <a:t>have</a:t>
            </a:r>
            <a:r>
              <a:rPr sz="1867" spc="-13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Times New Roman"/>
                <a:cs typeface="Times New Roman"/>
              </a:rPr>
              <a:t>one</a:t>
            </a:r>
            <a:r>
              <a:rPr sz="1867" spc="-20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Times New Roman"/>
                <a:cs typeface="Times New Roman"/>
              </a:rPr>
              <a:t>or</a:t>
            </a:r>
            <a:r>
              <a:rPr sz="1867" spc="-20" dirty="0">
                <a:latin typeface="Times New Roman"/>
                <a:cs typeface="Times New Roman"/>
              </a:rPr>
              <a:t> </a:t>
            </a:r>
            <a:r>
              <a:rPr sz="1867" spc="-7" dirty="0">
                <a:latin typeface="Times New Roman"/>
                <a:cs typeface="Times New Roman"/>
              </a:rPr>
              <a:t>more</a:t>
            </a:r>
            <a:r>
              <a:rPr sz="1867" spc="-20" dirty="0">
                <a:latin typeface="Times New Roman"/>
                <a:cs typeface="Times New Roman"/>
              </a:rPr>
              <a:t> </a:t>
            </a:r>
            <a:r>
              <a:rPr sz="1867" spc="-7" dirty="0">
                <a:latin typeface="Times New Roman"/>
                <a:cs typeface="Times New Roman"/>
              </a:rPr>
              <a:t>equations.</a:t>
            </a:r>
            <a:endParaRPr sz="1867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43668" y="5283106"/>
            <a:ext cx="151299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40" dirty="0">
                <a:latin typeface="MS UI Gothic"/>
                <a:cs typeface="MS UI Gothic"/>
              </a:rPr>
              <a:t>（</a:t>
            </a:r>
            <a:r>
              <a:rPr sz="1600" spc="-40" dirty="0">
                <a:latin typeface="Times New Roman"/>
                <a:cs typeface="Times New Roman"/>
              </a:rPr>
              <a:t>Wei</a:t>
            </a:r>
            <a:r>
              <a:rPr sz="1600" spc="-33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et</a:t>
            </a:r>
            <a:r>
              <a:rPr sz="1600" spc="-27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al.,</a:t>
            </a:r>
            <a:r>
              <a:rPr sz="1600" spc="-3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2022</a:t>
            </a:r>
            <a:r>
              <a:rPr sz="1600" dirty="0">
                <a:latin typeface="MS UI Gothic"/>
                <a:cs typeface="MS UI Gothic"/>
              </a:rPr>
              <a:t>）</a:t>
            </a:r>
            <a:endParaRPr sz="1600">
              <a:latin typeface="MS UI Gothic"/>
              <a:cs typeface="MS UI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106368" y="5283106"/>
            <a:ext cx="151299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40" dirty="0">
                <a:latin typeface="MS UI Gothic"/>
                <a:cs typeface="MS UI Gothic"/>
              </a:rPr>
              <a:t>（</a:t>
            </a:r>
            <a:r>
              <a:rPr sz="1600" spc="-40" dirty="0">
                <a:latin typeface="Times New Roman"/>
                <a:cs typeface="Times New Roman"/>
              </a:rPr>
              <a:t>Wei</a:t>
            </a:r>
            <a:r>
              <a:rPr sz="1600" spc="-33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et</a:t>
            </a:r>
            <a:r>
              <a:rPr sz="1600" spc="-27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al.,</a:t>
            </a:r>
            <a:r>
              <a:rPr sz="1600" spc="-3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2022</a:t>
            </a:r>
            <a:r>
              <a:rPr sz="1600" dirty="0">
                <a:latin typeface="MS UI Gothic"/>
                <a:cs typeface="MS UI Gothic"/>
              </a:rPr>
              <a:t>）</a:t>
            </a:r>
            <a:endParaRPr sz="1600">
              <a:latin typeface="MS UI Gothic"/>
              <a:cs typeface="MS UI Goth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47950" y="1368450"/>
            <a:ext cx="4492413" cy="3748193"/>
            <a:chOff x="785962" y="1026337"/>
            <a:chExt cx="3369310" cy="2811145"/>
          </a:xfrm>
        </p:grpSpPr>
        <p:sp>
          <p:nvSpPr>
            <p:cNvPr id="3" name="object 3"/>
            <p:cNvSpPr/>
            <p:nvPr/>
          </p:nvSpPr>
          <p:spPr>
            <a:xfrm>
              <a:off x="790724" y="1031099"/>
              <a:ext cx="3359785" cy="2801620"/>
            </a:xfrm>
            <a:custGeom>
              <a:avLst/>
              <a:gdLst/>
              <a:ahLst/>
              <a:cxnLst/>
              <a:rect l="l" t="t" r="r" b="b"/>
              <a:pathLst>
                <a:path w="3359785" h="2801620">
                  <a:moveTo>
                    <a:pt x="2892840" y="2801099"/>
                  </a:moveTo>
                  <a:lnTo>
                    <a:pt x="466859" y="2801099"/>
                  </a:lnTo>
                  <a:lnTo>
                    <a:pt x="419125" y="2798689"/>
                  </a:lnTo>
                  <a:lnTo>
                    <a:pt x="372770" y="2791615"/>
                  </a:lnTo>
                  <a:lnTo>
                    <a:pt x="328029" y="2780110"/>
                  </a:lnTo>
                  <a:lnTo>
                    <a:pt x="285136" y="2764411"/>
                  </a:lnTo>
                  <a:lnTo>
                    <a:pt x="244326" y="2744752"/>
                  </a:lnTo>
                  <a:lnTo>
                    <a:pt x="205833" y="2721367"/>
                  </a:lnTo>
                  <a:lnTo>
                    <a:pt x="169893" y="2694492"/>
                  </a:lnTo>
                  <a:lnTo>
                    <a:pt x="136739" y="2664360"/>
                  </a:lnTo>
                  <a:lnTo>
                    <a:pt x="106607" y="2631206"/>
                  </a:lnTo>
                  <a:lnTo>
                    <a:pt x="79732" y="2595266"/>
                  </a:lnTo>
                  <a:lnTo>
                    <a:pt x="56347" y="2556773"/>
                  </a:lnTo>
                  <a:lnTo>
                    <a:pt x="36688" y="2515963"/>
                  </a:lnTo>
                  <a:lnTo>
                    <a:pt x="20989" y="2473070"/>
                  </a:lnTo>
                  <a:lnTo>
                    <a:pt x="9484" y="2428328"/>
                  </a:lnTo>
                  <a:lnTo>
                    <a:pt x="2410" y="2381974"/>
                  </a:lnTo>
                  <a:lnTo>
                    <a:pt x="0" y="2334240"/>
                  </a:lnTo>
                  <a:lnTo>
                    <a:pt x="0" y="466859"/>
                  </a:lnTo>
                  <a:lnTo>
                    <a:pt x="2410" y="419125"/>
                  </a:lnTo>
                  <a:lnTo>
                    <a:pt x="9484" y="372770"/>
                  </a:lnTo>
                  <a:lnTo>
                    <a:pt x="20989" y="328029"/>
                  </a:lnTo>
                  <a:lnTo>
                    <a:pt x="36688" y="285136"/>
                  </a:lnTo>
                  <a:lnTo>
                    <a:pt x="56347" y="244326"/>
                  </a:lnTo>
                  <a:lnTo>
                    <a:pt x="79732" y="205833"/>
                  </a:lnTo>
                  <a:lnTo>
                    <a:pt x="106607" y="169893"/>
                  </a:lnTo>
                  <a:lnTo>
                    <a:pt x="136739" y="136739"/>
                  </a:lnTo>
                  <a:lnTo>
                    <a:pt x="169893" y="106607"/>
                  </a:lnTo>
                  <a:lnTo>
                    <a:pt x="205833" y="79732"/>
                  </a:lnTo>
                  <a:lnTo>
                    <a:pt x="244326" y="56347"/>
                  </a:lnTo>
                  <a:lnTo>
                    <a:pt x="285136" y="36688"/>
                  </a:lnTo>
                  <a:lnTo>
                    <a:pt x="328029" y="20989"/>
                  </a:lnTo>
                  <a:lnTo>
                    <a:pt x="372770" y="9484"/>
                  </a:lnTo>
                  <a:lnTo>
                    <a:pt x="419125" y="2410"/>
                  </a:lnTo>
                  <a:lnTo>
                    <a:pt x="466859" y="0"/>
                  </a:lnTo>
                  <a:lnTo>
                    <a:pt x="2892840" y="0"/>
                  </a:lnTo>
                  <a:lnTo>
                    <a:pt x="2945519" y="2979"/>
                  </a:lnTo>
                  <a:lnTo>
                    <a:pt x="2997119" y="11793"/>
                  </a:lnTo>
                  <a:lnTo>
                    <a:pt x="3047185" y="26251"/>
                  </a:lnTo>
                  <a:lnTo>
                    <a:pt x="3095259" y="46164"/>
                  </a:lnTo>
                  <a:lnTo>
                    <a:pt x="3140884" y="71342"/>
                  </a:lnTo>
                  <a:lnTo>
                    <a:pt x="3183603" y="101597"/>
                  </a:lnTo>
                  <a:lnTo>
                    <a:pt x="3222959" y="136739"/>
                  </a:lnTo>
                  <a:lnTo>
                    <a:pt x="3258102" y="176096"/>
                  </a:lnTo>
                  <a:lnTo>
                    <a:pt x="3288357" y="218815"/>
                  </a:lnTo>
                  <a:lnTo>
                    <a:pt x="3313535" y="264440"/>
                  </a:lnTo>
                  <a:lnTo>
                    <a:pt x="3333448" y="312514"/>
                  </a:lnTo>
                  <a:lnTo>
                    <a:pt x="3347906" y="362580"/>
                  </a:lnTo>
                  <a:lnTo>
                    <a:pt x="3356720" y="414180"/>
                  </a:lnTo>
                  <a:lnTo>
                    <a:pt x="3359699" y="466859"/>
                  </a:lnTo>
                  <a:lnTo>
                    <a:pt x="3359699" y="2334240"/>
                  </a:lnTo>
                  <a:lnTo>
                    <a:pt x="3357289" y="2381974"/>
                  </a:lnTo>
                  <a:lnTo>
                    <a:pt x="3350215" y="2428328"/>
                  </a:lnTo>
                  <a:lnTo>
                    <a:pt x="3338710" y="2473070"/>
                  </a:lnTo>
                  <a:lnTo>
                    <a:pt x="3323011" y="2515963"/>
                  </a:lnTo>
                  <a:lnTo>
                    <a:pt x="3303352" y="2556773"/>
                  </a:lnTo>
                  <a:lnTo>
                    <a:pt x="3279967" y="2595266"/>
                  </a:lnTo>
                  <a:lnTo>
                    <a:pt x="3253092" y="2631206"/>
                  </a:lnTo>
                  <a:lnTo>
                    <a:pt x="3222960" y="2664360"/>
                  </a:lnTo>
                  <a:lnTo>
                    <a:pt x="3189806" y="2694492"/>
                  </a:lnTo>
                  <a:lnTo>
                    <a:pt x="3153866" y="2721367"/>
                  </a:lnTo>
                  <a:lnTo>
                    <a:pt x="3115373" y="2744752"/>
                  </a:lnTo>
                  <a:lnTo>
                    <a:pt x="3074563" y="2764411"/>
                  </a:lnTo>
                  <a:lnTo>
                    <a:pt x="3031670" y="2780110"/>
                  </a:lnTo>
                  <a:lnTo>
                    <a:pt x="2986928" y="2791615"/>
                  </a:lnTo>
                  <a:lnTo>
                    <a:pt x="2940574" y="2798689"/>
                  </a:lnTo>
                  <a:lnTo>
                    <a:pt x="2892840" y="28010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0724" y="1031099"/>
              <a:ext cx="3359785" cy="2801620"/>
            </a:xfrm>
            <a:custGeom>
              <a:avLst/>
              <a:gdLst/>
              <a:ahLst/>
              <a:cxnLst/>
              <a:rect l="l" t="t" r="r" b="b"/>
              <a:pathLst>
                <a:path w="3359785" h="2801620">
                  <a:moveTo>
                    <a:pt x="0" y="466859"/>
                  </a:moveTo>
                  <a:lnTo>
                    <a:pt x="2410" y="419125"/>
                  </a:lnTo>
                  <a:lnTo>
                    <a:pt x="9484" y="372770"/>
                  </a:lnTo>
                  <a:lnTo>
                    <a:pt x="20989" y="328029"/>
                  </a:lnTo>
                  <a:lnTo>
                    <a:pt x="36688" y="285136"/>
                  </a:lnTo>
                  <a:lnTo>
                    <a:pt x="56347" y="244326"/>
                  </a:lnTo>
                  <a:lnTo>
                    <a:pt x="79732" y="205833"/>
                  </a:lnTo>
                  <a:lnTo>
                    <a:pt x="106607" y="169893"/>
                  </a:lnTo>
                  <a:lnTo>
                    <a:pt x="136739" y="136739"/>
                  </a:lnTo>
                  <a:lnTo>
                    <a:pt x="169893" y="106607"/>
                  </a:lnTo>
                  <a:lnTo>
                    <a:pt x="205833" y="79732"/>
                  </a:lnTo>
                  <a:lnTo>
                    <a:pt x="244326" y="56347"/>
                  </a:lnTo>
                  <a:lnTo>
                    <a:pt x="285136" y="36688"/>
                  </a:lnTo>
                  <a:lnTo>
                    <a:pt x="328029" y="20989"/>
                  </a:lnTo>
                  <a:lnTo>
                    <a:pt x="372770" y="9484"/>
                  </a:lnTo>
                  <a:lnTo>
                    <a:pt x="419125" y="2410"/>
                  </a:lnTo>
                  <a:lnTo>
                    <a:pt x="466859" y="0"/>
                  </a:lnTo>
                  <a:lnTo>
                    <a:pt x="2892840" y="0"/>
                  </a:lnTo>
                  <a:lnTo>
                    <a:pt x="2945519" y="2979"/>
                  </a:lnTo>
                  <a:lnTo>
                    <a:pt x="2997119" y="11793"/>
                  </a:lnTo>
                  <a:lnTo>
                    <a:pt x="3047185" y="26251"/>
                  </a:lnTo>
                  <a:lnTo>
                    <a:pt x="3095259" y="46164"/>
                  </a:lnTo>
                  <a:lnTo>
                    <a:pt x="3140884" y="71342"/>
                  </a:lnTo>
                  <a:lnTo>
                    <a:pt x="3183603" y="101597"/>
                  </a:lnTo>
                  <a:lnTo>
                    <a:pt x="3222959" y="136739"/>
                  </a:lnTo>
                  <a:lnTo>
                    <a:pt x="3258102" y="176096"/>
                  </a:lnTo>
                  <a:lnTo>
                    <a:pt x="3288357" y="218815"/>
                  </a:lnTo>
                  <a:lnTo>
                    <a:pt x="3313535" y="264440"/>
                  </a:lnTo>
                  <a:lnTo>
                    <a:pt x="3333448" y="312514"/>
                  </a:lnTo>
                  <a:lnTo>
                    <a:pt x="3347906" y="362580"/>
                  </a:lnTo>
                  <a:lnTo>
                    <a:pt x="3356720" y="414180"/>
                  </a:lnTo>
                  <a:lnTo>
                    <a:pt x="3359699" y="466859"/>
                  </a:lnTo>
                  <a:lnTo>
                    <a:pt x="3359699" y="2334240"/>
                  </a:lnTo>
                  <a:lnTo>
                    <a:pt x="3357289" y="2381974"/>
                  </a:lnTo>
                  <a:lnTo>
                    <a:pt x="3350215" y="2428328"/>
                  </a:lnTo>
                  <a:lnTo>
                    <a:pt x="3338710" y="2473070"/>
                  </a:lnTo>
                  <a:lnTo>
                    <a:pt x="3323011" y="2515963"/>
                  </a:lnTo>
                  <a:lnTo>
                    <a:pt x="3303352" y="2556773"/>
                  </a:lnTo>
                  <a:lnTo>
                    <a:pt x="3279967" y="2595266"/>
                  </a:lnTo>
                  <a:lnTo>
                    <a:pt x="3253092" y="2631206"/>
                  </a:lnTo>
                  <a:lnTo>
                    <a:pt x="3222960" y="2664360"/>
                  </a:lnTo>
                  <a:lnTo>
                    <a:pt x="3189806" y="2694492"/>
                  </a:lnTo>
                  <a:lnTo>
                    <a:pt x="3153866" y="2721367"/>
                  </a:lnTo>
                  <a:lnTo>
                    <a:pt x="3115373" y="2744752"/>
                  </a:lnTo>
                  <a:lnTo>
                    <a:pt x="3074563" y="2764411"/>
                  </a:lnTo>
                  <a:lnTo>
                    <a:pt x="3031670" y="2780110"/>
                  </a:lnTo>
                  <a:lnTo>
                    <a:pt x="2986928" y="2791615"/>
                  </a:lnTo>
                  <a:lnTo>
                    <a:pt x="2940574" y="2798689"/>
                  </a:lnTo>
                  <a:lnTo>
                    <a:pt x="2892840" y="2801099"/>
                  </a:lnTo>
                  <a:lnTo>
                    <a:pt x="466859" y="2801099"/>
                  </a:lnTo>
                  <a:lnTo>
                    <a:pt x="419125" y="2798689"/>
                  </a:lnTo>
                  <a:lnTo>
                    <a:pt x="372770" y="2791615"/>
                  </a:lnTo>
                  <a:lnTo>
                    <a:pt x="328029" y="2780110"/>
                  </a:lnTo>
                  <a:lnTo>
                    <a:pt x="285136" y="2764411"/>
                  </a:lnTo>
                  <a:lnTo>
                    <a:pt x="244326" y="2744752"/>
                  </a:lnTo>
                  <a:lnTo>
                    <a:pt x="205833" y="2721367"/>
                  </a:lnTo>
                  <a:lnTo>
                    <a:pt x="169893" y="2694492"/>
                  </a:lnTo>
                  <a:lnTo>
                    <a:pt x="136739" y="2664360"/>
                  </a:lnTo>
                  <a:lnTo>
                    <a:pt x="106607" y="2631206"/>
                  </a:lnTo>
                  <a:lnTo>
                    <a:pt x="79732" y="2595266"/>
                  </a:lnTo>
                  <a:lnTo>
                    <a:pt x="56347" y="2556773"/>
                  </a:lnTo>
                  <a:lnTo>
                    <a:pt x="36688" y="2515963"/>
                  </a:lnTo>
                  <a:lnTo>
                    <a:pt x="20989" y="2473070"/>
                  </a:lnTo>
                  <a:lnTo>
                    <a:pt x="9484" y="2428328"/>
                  </a:lnTo>
                  <a:lnTo>
                    <a:pt x="2410" y="2381974"/>
                  </a:lnTo>
                  <a:lnTo>
                    <a:pt x="0" y="2334240"/>
                  </a:lnTo>
                  <a:lnTo>
                    <a:pt x="0" y="466859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427825" y="1645002"/>
            <a:ext cx="173143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b="1" spc="-7" dirty="0">
                <a:latin typeface="Arial"/>
                <a:cs typeface="Arial"/>
              </a:rPr>
              <a:t>Free</a:t>
            </a:r>
            <a:r>
              <a:rPr sz="1867" b="1" spc="-100" dirty="0">
                <a:latin typeface="Arial"/>
                <a:cs typeface="Arial"/>
              </a:rPr>
              <a:t> </a:t>
            </a:r>
            <a:r>
              <a:rPr sz="1867" b="1" spc="-7" dirty="0">
                <a:latin typeface="Arial"/>
                <a:cs typeface="Arial"/>
              </a:rPr>
              <a:t>Response</a:t>
            </a:r>
            <a:endParaRPr sz="186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33985" y="2203801"/>
            <a:ext cx="3690620" cy="877163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>
              <a:lnSpc>
                <a:spcPts val="2200"/>
              </a:lnSpc>
              <a:spcBef>
                <a:spcPts val="240"/>
              </a:spcBef>
            </a:pPr>
            <a:r>
              <a:rPr sz="1867" spc="-7" dirty="0">
                <a:latin typeface="Arial MT"/>
                <a:cs typeface="Arial MT"/>
              </a:rPr>
              <a:t>Q: If there are </a:t>
            </a:r>
            <a:r>
              <a:rPr sz="1867" dirty="0">
                <a:latin typeface="Arial MT"/>
                <a:cs typeface="Arial MT"/>
              </a:rPr>
              <a:t>3 cars </a:t>
            </a:r>
            <a:r>
              <a:rPr sz="1867" spc="-7" dirty="0">
                <a:latin typeface="Arial MT"/>
                <a:cs typeface="Arial MT"/>
              </a:rPr>
              <a:t>in the parking </a:t>
            </a:r>
            <a:r>
              <a:rPr sz="1867" spc="-50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lot and </a:t>
            </a:r>
            <a:r>
              <a:rPr sz="1867" dirty="0">
                <a:latin typeface="Arial MT"/>
                <a:cs typeface="Arial MT"/>
              </a:rPr>
              <a:t>2 more cars </a:t>
            </a:r>
            <a:r>
              <a:rPr sz="1867" spc="-7" dirty="0">
                <a:latin typeface="Arial MT"/>
                <a:cs typeface="Arial MT"/>
              </a:rPr>
              <a:t>arrive, how </a:t>
            </a:r>
            <a:r>
              <a:rPr sz="1867" dirty="0">
                <a:latin typeface="Arial MT"/>
                <a:cs typeface="Arial MT"/>
              </a:rPr>
              <a:t> many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cars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are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in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the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parking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lot?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33984" y="3321402"/>
            <a:ext cx="3545840" cy="864339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>
              <a:lnSpc>
                <a:spcPts val="2200"/>
              </a:lnSpc>
              <a:spcBef>
                <a:spcPts val="240"/>
              </a:spcBef>
            </a:pPr>
            <a:r>
              <a:rPr sz="1867" spc="-7" dirty="0">
                <a:latin typeface="Arial MT"/>
                <a:cs typeface="Arial MT"/>
              </a:rPr>
              <a:t>A: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There are originally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3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cars.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2 </a:t>
            </a:r>
            <a:r>
              <a:rPr sz="1867" b="1" spc="-50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more</a:t>
            </a:r>
            <a:r>
              <a:rPr sz="1867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cars</a:t>
            </a:r>
            <a:r>
              <a:rPr sz="1867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arrive.</a:t>
            </a:r>
            <a:r>
              <a:rPr sz="1867" b="1" spc="-13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i="1" dirty="0">
                <a:solidFill>
                  <a:srgbClr val="1155CC"/>
                </a:solidFill>
                <a:latin typeface="Arial"/>
                <a:cs typeface="Arial"/>
              </a:rPr>
              <a:t>3</a:t>
            </a:r>
            <a:r>
              <a:rPr sz="1867" b="1" i="1" spc="-13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67" b="1" i="1" dirty="0">
                <a:solidFill>
                  <a:srgbClr val="1155CC"/>
                </a:solidFill>
                <a:latin typeface="Arial"/>
                <a:cs typeface="Arial"/>
              </a:rPr>
              <a:t>+</a:t>
            </a:r>
            <a:r>
              <a:rPr sz="1867" b="1" i="1" spc="-2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67" b="1" i="1" dirty="0">
                <a:solidFill>
                  <a:srgbClr val="1155CC"/>
                </a:solidFill>
                <a:latin typeface="Arial"/>
                <a:cs typeface="Arial"/>
              </a:rPr>
              <a:t>2</a:t>
            </a:r>
            <a:r>
              <a:rPr sz="1867" b="1" i="1" spc="-2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67" b="1" i="1" dirty="0">
                <a:solidFill>
                  <a:srgbClr val="1155CC"/>
                </a:solidFill>
                <a:latin typeface="Arial"/>
                <a:cs typeface="Arial"/>
              </a:rPr>
              <a:t>=</a:t>
            </a:r>
            <a:r>
              <a:rPr sz="1867" b="1" i="1" spc="-2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67" b="1" i="1" dirty="0">
                <a:solidFill>
                  <a:srgbClr val="1155CC"/>
                </a:solidFill>
                <a:latin typeface="Arial"/>
                <a:cs typeface="Arial"/>
              </a:rPr>
              <a:t>5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.</a:t>
            </a:r>
            <a:r>
              <a:rPr sz="1867" b="1" spc="46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spc="-7" dirty="0">
                <a:latin typeface="Arial MT"/>
                <a:cs typeface="Arial MT"/>
              </a:rPr>
              <a:t>The</a:t>
            </a:r>
            <a:endParaRPr sz="1867">
              <a:latin typeface="Arial MT"/>
              <a:cs typeface="Arial MT"/>
            </a:endParaRPr>
          </a:p>
          <a:p>
            <a:pPr marL="16933">
              <a:lnSpc>
                <a:spcPts val="2133"/>
              </a:lnSpc>
            </a:pPr>
            <a:r>
              <a:rPr sz="1867" spc="-7" dirty="0">
                <a:latin typeface="Arial MT"/>
                <a:cs typeface="Arial MT"/>
              </a:rPr>
              <a:t>answer</a:t>
            </a:r>
            <a:r>
              <a:rPr sz="1867" spc="-4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is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b="1" spc="-7" dirty="0">
                <a:solidFill>
                  <a:srgbClr val="A61B00"/>
                </a:solidFill>
                <a:latin typeface="Arial"/>
                <a:cs typeface="Arial"/>
              </a:rPr>
              <a:t>5</a:t>
            </a:r>
            <a:r>
              <a:rPr sz="1867" b="1" spc="-7" dirty="0">
                <a:latin typeface="Arial"/>
                <a:cs typeface="Arial"/>
              </a:rPr>
              <a:t>.</a:t>
            </a:r>
            <a:endParaRPr sz="1867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7" dirty="0"/>
              <a:t>Free</a:t>
            </a:r>
            <a:r>
              <a:rPr sz="4000" spc="-27" dirty="0"/>
              <a:t> </a:t>
            </a:r>
            <a:r>
              <a:rPr sz="4000" spc="-13" dirty="0"/>
              <a:t>Response</a:t>
            </a:r>
            <a:r>
              <a:rPr sz="4000" spc="-27" dirty="0"/>
              <a:t> </a:t>
            </a:r>
            <a:r>
              <a:rPr sz="4000" dirty="0"/>
              <a:t>-</a:t>
            </a:r>
            <a:r>
              <a:rPr sz="4000" spc="-13" dirty="0"/>
              <a:t> </a:t>
            </a:r>
            <a:r>
              <a:rPr sz="4000" spc="-7" dirty="0"/>
              <a:t>Few-Shot</a:t>
            </a:r>
            <a:r>
              <a:rPr sz="4000" spc="-20" dirty="0"/>
              <a:t> </a:t>
            </a:r>
            <a:r>
              <a:rPr sz="4000" spc="-7" dirty="0"/>
              <a:t>CoT</a:t>
            </a:r>
            <a:r>
              <a:rPr sz="4000" spc="-100" dirty="0"/>
              <a:t> </a:t>
            </a:r>
            <a:r>
              <a:rPr sz="4000" spc="-7" dirty="0"/>
              <a:t>Prompt</a:t>
            </a:r>
            <a:r>
              <a:rPr sz="4000" spc="-20" dirty="0"/>
              <a:t> </a:t>
            </a:r>
            <a:r>
              <a:rPr sz="4000" spc="-7" dirty="0"/>
              <a:t>Exemplar</a:t>
            </a:r>
            <a:endParaRPr sz="400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27</a:t>
            </a:fld>
            <a:endParaRPr dirty="0"/>
          </a:p>
        </p:txBody>
      </p:sp>
      <p:grpSp>
        <p:nvGrpSpPr>
          <p:cNvPr id="9" name="object 9"/>
          <p:cNvGrpSpPr/>
          <p:nvPr/>
        </p:nvGrpSpPr>
        <p:grpSpPr>
          <a:xfrm>
            <a:off x="6810650" y="1368450"/>
            <a:ext cx="4492413" cy="3748193"/>
            <a:chOff x="5107987" y="1026337"/>
            <a:chExt cx="3369310" cy="2811145"/>
          </a:xfrm>
        </p:grpSpPr>
        <p:sp>
          <p:nvSpPr>
            <p:cNvPr id="10" name="object 10"/>
            <p:cNvSpPr/>
            <p:nvPr/>
          </p:nvSpPr>
          <p:spPr>
            <a:xfrm>
              <a:off x="5112749" y="1031099"/>
              <a:ext cx="3359785" cy="2801620"/>
            </a:xfrm>
            <a:custGeom>
              <a:avLst/>
              <a:gdLst/>
              <a:ahLst/>
              <a:cxnLst/>
              <a:rect l="l" t="t" r="r" b="b"/>
              <a:pathLst>
                <a:path w="3359784" h="2801620">
                  <a:moveTo>
                    <a:pt x="2892840" y="2801099"/>
                  </a:moveTo>
                  <a:lnTo>
                    <a:pt x="466859" y="2801099"/>
                  </a:lnTo>
                  <a:lnTo>
                    <a:pt x="419125" y="2798689"/>
                  </a:lnTo>
                  <a:lnTo>
                    <a:pt x="372770" y="2791615"/>
                  </a:lnTo>
                  <a:lnTo>
                    <a:pt x="328029" y="2780110"/>
                  </a:lnTo>
                  <a:lnTo>
                    <a:pt x="285136" y="2764411"/>
                  </a:lnTo>
                  <a:lnTo>
                    <a:pt x="244326" y="2744752"/>
                  </a:lnTo>
                  <a:lnTo>
                    <a:pt x="205833" y="2721367"/>
                  </a:lnTo>
                  <a:lnTo>
                    <a:pt x="169893" y="2694492"/>
                  </a:lnTo>
                  <a:lnTo>
                    <a:pt x="136739" y="2664360"/>
                  </a:lnTo>
                  <a:lnTo>
                    <a:pt x="106607" y="2631206"/>
                  </a:lnTo>
                  <a:lnTo>
                    <a:pt x="79732" y="2595266"/>
                  </a:lnTo>
                  <a:lnTo>
                    <a:pt x="56347" y="2556773"/>
                  </a:lnTo>
                  <a:lnTo>
                    <a:pt x="36688" y="2515963"/>
                  </a:lnTo>
                  <a:lnTo>
                    <a:pt x="20989" y="2473070"/>
                  </a:lnTo>
                  <a:lnTo>
                    <a:pt x="9484" y="2428328"/>
                  </a:lnTo>
                  <a:lnTo>
                    <a:pt x="2410" y="2381974"/>
                  </a:lnTo>
                  <a:lnTo>
                    <a:pt x="0" y="2334240"/>
                  </a:lnTo>
                  <a:lnTo>
                    <a:pt x="0" y="466859"/>
                  </a:lnTo>
                  <a:lnTo>
                    <a:pt x="2410" y="419125"/>
                  </a:lnTo>
                  <a:lnTo>
                    <a:pt x="9484" y="372770"/>
                  </a:lnTo>
                  <a:lnTo>
                    <a:pt x="20989" y="328029"/>
                  </a:lnTo>
                  <a:lnTo>
                    <a:pt x="36688" y="285136"/>
                  </a:lnTo>
                  <a:lnTo>
                    <a:pt x="56347" y="244326"/>
                  </a:lnTo>
                  <a:lnTo>
                    <a:pt x="79732" y="205833"/>
                  </a:lnTo>
                  <a:lnTo>
                    <a:pt x="106607" y="169893"/>
                  </a:lnTo>
                  <a:lnTo>
                    <a:pt x="136739" y="136739"/>
                  </a:lnTo>
                  <a:lnTo>
                    <a:pt x="169893" y="106607"/>
                  </a:lnTo>
                  <a:lnTo>
                    <a:pt x="205833" y="79732"/>
                  </a:lnTo>
                  <a:lnTo>
                    <a:pt x="244326" y="56347"/>
                  </a:lnTo>
                  <a:lnTo>
                    <a:pt x="285136" y="36688"/>
                  </a:lnTo>
                  <a:lnTo>
                    <a:pt x="328029" y="20989"/>
                  </a:lnTo>
                  <a:lnTo>
                    <a:pt x="372770" y="9484"/>
                  </a:lnTo>
                  <a:lnTo>
                    <a:pt x="419125" y="2410"/>
                  </a:lnTo>
                  <a:lnTo>
                    <a:pt x="466859" y="0"/>
                  </a:lnTo>
                  <a:lnTo>
                    <a:pt x="2892840" y="0"/>
                  </a:lnTo>
                  <a:lnTo>
                    <a:pt x="2945519" y="2979"/>
                  </a:lnTo>
                  <a:lnTo>
                    <a:pt x="2997119" y="11793"/>
                  </a:lnTo>
                  <a:lnTo>
                    <a:pt x="3047185" y="26251"/>
                  </a:lnTo>
                  <a:lnTo>
                    <a:pt x="3095259" y="46164"/>
                  </a:lnTo>
                  <a:lnTo>
                    <a:pt x="3140884" y="71342"/>
                  </a:lnTo>
                  <a:lnTo>
                    <a:pt x="3183603" y="101597"/>
                  </a:lnTo>
                  <a:lnTo>
                    <a:pt x="3222959" y="136739"/>
                  </a:lnTo>
                  <a:lnTo>
                    <a:pt x="3258102" y="176096"/>
                  </a:lnTo>
                  <a:lnTo>
                    <a:pt x="3288357" y="218815"/>
                  </a:lnTo>
                  <a:lnTo>
                    <a:pt x="3313535" y="264440"/>
                  </a:lnTo>
                  <a:lnTo>
                    <a:pt x="3333448" y="312514"/>
                  </a:lnTo>
                  <a:lnTo>
                    <a:pt x="3347906" y="362580"/>
                  </a:lnTo>
                  <a:lnTo>
                    <a:pt x="3356720" y="414180"/>
                  </a:lnTo>
                  <a:lnTo>
                    <a:pt x="3359699" y="466859"/>
                  </a:lnTo>
                  <a:lnTo>
                    <a:pt x="3359699" y="2334240"/>
                  </a:lnTo>
                  <a:lnTo>
                    <a:pt x="3357289" y="2381974"/>
                  </a:lnTo>
                  <a:lnTo>
                    <a:pt x="3350215" y="2428328"/>
                  </a:lnTo>
                  <a:lnTo>
                    <a:pt x="3338710" y="2473070"/>
                  </a:lnTo>
                  <a:lnTo>
                    <a:pt x="3323011" y="2515963"/>
                  </a:lnTo>
                  <a:lnTo>
                    <a:pt x="3303352" y="2556773"/>
                  </a:lnTo>
                  <a:lnTo>
                    <a:pt x="3279967" y="2595266"/>
                  </a:lnTo>
                  <a:lnTo>
                    <a:pt x="3253092" y="2631206"/>
                  </a:lnTo>
                  <a:lnTo>
                    <a:pt x="3222960" y="2664360"/>
                  </a:lnTo>
                  <a:lnTo>
                    <a:pt x="3189806" y="2694492"/>
                  </a:lnTo>
                  <a:lnTo>
                    <a:pt x="3153866" y="2721367"/>
                  </a:lnTo>
                  <a:lnTo>
                    <a:pt x="3115373" y="2744752"/>
                  </a:lnTo>
                  <a:lnTo>
                    <a:pt x="3074563" y="2764411"/>
                  </a:lnTo>
                  <a:lnTo>
                    <a:pt x="3031670" y="2780110"/>
                  </a:lnTo>
                  <a:lnTo>
                    <a:pt x="2986928" y="2791615"/>
                  </a:lnTo>
                  <a:lnTo>
                    <a:pt x="2940574" y="2798689"/>
                  </a:lnTo>
                  <a:lnTo>
                    <a:pt x="2892840" y="28010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12749" y="1031099"/>
              <a:ext cx="3359785" cy="2801620"/>
            </a:xfrm>
            <a:custGeom>
              <a:avLst/>
              <a:gdLst/>
              <a:ahLst/>
              <a:cxnLst/>
              <a:rect l="l" t="t" r="r" b="b"/>
              <a:pathLst>
                <a:path w="3359784" h="2801620">
                  <a:moveTo>
                    <a:pt x="0" y="466859"/>
                  </a:moveTo>
                  <a:lnTo>
                    <a:pt x="2410" y="419125"/>
                  </a:lnTo>
                  <a:lnTo>
                    <a:pt x="9484" y="372770"/>
                  </a:lnTo>
                  <a:lnTo>
                    <a:pt x="20989" y="328029"/>
                  </a:lnTo>
                  <a:lnTo>
                    <a:pt x="36688" y="285136"/>
                  </a:lnTo>
                  <a:lnTo>
                    <a:pt x="56347" y="244326"/>
                  </a:lnTo>
                  <a:lnTo>
                    <a:pt x="79732" y="205833"/>
                  </a:lnTo>
                  <a:lnTo>
                    <a:pt x="106607" y="169893"/>
                  </a:lnTo>
                  <a:lnTo>
                    <a:pt x="136739" y="136739"/>
                  </a:lnTo>
                  <a:lnTo>
                    <a:pt x="169893" y="106607"/>
                  </a:lnTo>
                  <a:lnTo>
                    <a:pt x="205833" y="79732"/>
                  </a:lnTo>
                  <a:lnTo>
                    <a:pt x="244326" y="56347"/>
                  </a:lnTo>
                  <a:lnTo>
                    <a:pt x="285136" y="36688"/>
                  </a:lnTo>
                  <a:lnTo>
                    <a:pt x="328029" y="20989"/>
                  </a:lnTo>
                  <a:lnTo>
                    <a:pt x="372770" y="9484"/>
                  </a:lnTo>
                  <a:lnTo>
                    <a:pt x="419125" y="2410"/>
                  </a:lnTo>
                  <a:lnTo>
                    <a:pt x="466859" y="0"/>
                  </a:lnTo>
                  <a:lnTo>
                    <a:pt x="2892840" y="0"/>
                  </a:lnTo>
                  <a:lnTo>
                    <a:pt x="2945519" y="2979"/>
                  </a:lnTo>
                  <a:lnTo>
                    <a:pt x="2997119" y="11793"/>
                  </a:lnTo>
                  <a:lnTo>
                    <a:pt x="3047185" y="26251"/>
                  </a:lnTo>
                  <a:lnTo>
                    <a:pt x="3095259" y="46164"/>
                  </a:lnTo>
                  <a:lnTo>
                    <a:pt x="3140884" y="71342"/>
                  </a:lnTo>
                  <a:lnTo>
                    <a:pt x="3183603" y="101597"/>
                  </a:lnTo>
                  <a:lnTo>
                    <a:pt x="3222959" y="136739"/>
                  </a:lnTo>
                  <a:lnTo>
                    <a:pt x="3258102" y="176096"/>
                  </a:lnTo>
                  <a:lnTo>
                    <a:pt x="3288357" y="218815"/>
                  </a:lnTo>
                  <a:lnTo>
                    <a:pt x="3313535" y="264440"/>
                  </a:lnTo>
                  <a:lnTo>
                    <a:pt x="3333448" y="312514"/>
                  </a:lnTo>
                  <a:lnTo>
                    <a:pt x="3347906" y="362580"/>
                  </a:lnTo>
                  <a:lnTo>
                    <a:pt x="3356720" y="414180"/>
                  </a:lnTo>
                  <a:lnTo>
                    <a:pt x="3359699" y="466859"/>
                  </a:lnTo>
                  <a:lnTo>
                    <a:pt x="3359699" y="2334240"/>
                  </a:lnTo>
                  <a:lnTo>
                    <a:pt x="3357289" y="2381974"/>
                  </a:lnTo>
                  <a:lnTo>
                    <a:pt x="3350215" y="2428328"/>
                  </a:lnTo>
                  <a:lnTo>
                    <a:pt x="3338710" y="2473070"/>
                  </a:lnTo>
                  <a:lnTo>
                    <a:pt x="3323011" y="2515963"/>
                  </a:lnTo>
                  <a:lnTo>
                    <a:pt x="3303352" y="2556773"/>
                  </a:lnTo>
                  <a:lnTo>
                    <a:pt x="3279967" y="2595266"/>
                  </a:lnTo>
                  <a:lnTo>
                    <a:pt x="3253092" y="2631206"/>
                  </a:lnTo>
                  <a:lnTo>
                    <a:pt x="3222960" y="2664360"/>
                  </a:lnTo>
                  <a:lnTo>
                    <a:pt x="3189806" y="2694492"/>
                  </a:lnTo>
                  <a:lnTo>
                    <a:pt x="3153866" y="2721367"/>
                  </a:lnTo>
                  <a:lnTo>
                    <a:pt x="3115373" y="2744752"/>
                  </a:lnTo>
                  <a:lnTo>
                    <a:pt x="3074563" y="2764411"/>
                  </a:lnTo>
                  <a:lnTo>
                    <a:pt x="3031670" y="2780110"/>
                  </a:lnTo>
                  <a:lnTo>
                    <a:pt x="2986928" y="2791615"/>
                  </a:lnTo>
                  <a:lnTo>
                    <a:pt x="2940574" y="2798689"/>
                  </a:lnTo>
                  <a:lnTo>
                    <a:pt x="2892840" y="2801099"/>
                  </a:lnTo>
                  <a:lnTo>
                    <a:pt x="466859" y="2801099"/>
                  </a:lnTo>
                  <a:lnTo>
                    <a:pt x="419125" y="2798689"/>
                  </a:lnTo>
                  <a:lnTo>
                    <a:pt x="372770" y="2791615"/>
                  </a:lnTo>
                  <a:lnTo>
                    <a:pt x="328029" y="2780110"/>
                  </a:lnTo>
                  <a:lnTo>
                    <a:pt x="285136" y="2764411"/>
                  </a:lnTo>
                  <a:lnTo>
                    <a:pt x="244326" y="2744752"/>
                  </a:lnTo>
                  <a:lnTo>
                    <a:pt x="205833" y="2721367"/>
                  </a:lnTo>
                  <a:lnTo>
                    <a:pt x="169893" y="2694492"/>
                  </a:lnTo>
                  <a:lnTo>
                    <a:pt x="136739" y="2664360"/>
                  </a:lnTo>
                  <a:lnTo>
                    <a:pt x="106607" y="2631206"/>
                  </a:lnTo>
                  <a:lnTo>
                    <a:pt x="79732" y="2595266"/>
                  </a:lnTo>
                  <a:lnTo>
                    <a:pt x="56347" y="2556773"/>
                  </a:lnTo>
                  <a:lnTo>
                    <a:pt x="36688" y="2515963"/>
                  </a:lnTo>
                  <a:lnTo>
                    <a:pt x="20989" y="2473070"/>
                  </a:lnTo>
                  <a:lnTo>
                    <a:pt x="9484" y="2428328"/>
                  </a:lnTo>
                  <a:lnTo>
                    <a:pt x="2410" y="2381974"/>
                  </a:lnTo>
                  <a:lnTo>
                    <a:pt x="0" y="2334240"/>
                  </a:lnTo>
                  <a:lnTo>
                    <a:pt x="0" y="466859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190525" y="1645002"/>
            <a:ext cx="173143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b="1" spc="-7" dirty="0">
                <a:latin typeface="Arial"/>
                <a:cs typeface="Arial"/>
              </a:rPr>
              <a:t>Free</a:t>
            </a:r>
            <a:r>
              <a:rPr sz="1867" b="1" spc="-100" dirty="0">
                <a:latin typeface="Arial"/>
                <a:cs typeface="Arial"/>
              </a:rPr>
              <a:t> </a:t>
            </a:r>
            <a:r>
              <a:rPr sz="1867" b="1" spc="-7" dirty="0">
                <a:latin typeface="Arial"/>
                <a:cs typeface="Arial"/>
              </a:rPr>
              <a:t>Response</a:t>
            </a:r>
            <a:endParaRPr sz="1867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96684" y="2203802"/>
            <a:ext cx="3623733" cy="877163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>
              <a:lnSpc>
                <a:spcPts val="2200"/>
              </a:lnSpc>
              <a:spcBef>
                <a:spcPts val="240"/>
              </a:spcBef>
            </a:pPr>
            <a:r>
              <a:rPr sz="1867" spc="-7" dirty="0">
                <a:latin typeface="Arial MT"/>
                <a:cs typeface="Arial MT"/>
              </a:rPr>
              <a:t>Q: Olivia has $23. She bought five </a:t>
            </a:r>
            <a:r>
              <a:rPr sz="1867" spc="-50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bagels for $3 each. How </a:t>
            </a:r>
            <a:r>
              <a:rPr sz="1867" dirty="0">
                <a:latin typeface="Arial MT"/>
                <a:cs typeface="Arial MT"/>
              </a:rPr>
              <a:t>much </a:t>
            </a:r>
            <a:r>
              <a:rPr sz="1867" spc="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money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does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she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have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left?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96684" y="3321402"/>
            <a:ext cx="3911600" cy="1159292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>
              <a:lnSpc>
                <a:spcPts val="2200"/>
              </a:lnSpc>
              <a:spcBef>
                <a:spcPts val="240"/>
              </a:spcBef>
            </a:pPr>
            <a:r>
              <a:rPr sz="1867" spc="-7" dirty="0">
                <a:latin typeface="Arial MT"/>
                <a:cs typeface="Arial MT"/>
              </a:rPr>
              <a:t>A: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Olivia had 23 dollars.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5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bagels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 for</a:t>
            </a:r>
            <a:r>
              <a:rPr sz="1867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3</a:t>
            </a:r>
            <a:r>
              <a:rPr sz="1867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dollars</a:t>
            </a:r>
            <a:r>
              <a:rPr sz="1867" b="1" spc="-13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each</a:t>
            </a:r>
            <a:r>
              <a:rPr sz="1867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will</a:t>
            </a:r>
            <a:r>
              <a:rPr sz="1867" b="1" spc="-13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be</a:t>
            </a:r>
            <a:r>
              <a:rPr sz="1867" b="1" spc="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i="1" dirty="0">
                <a:solidFill>
                  <a:srgbClr val="1155CC"/>
                </a:solidFill>
                <a:latin typeface="Arial"/>
                <a:cs typeface="Arial"/>
              </a:rPr>
              <a:t>5</a:t>
            </a:r>
            <a:r>
              <a:rPr sz="1867" b="1" i="1" spc="-13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67" b="1" i="1" dirty="0">
                <a:solidFill>
                  <a:srgbClr val="1155CC"/>
                </a:solidFill>
                <a:latin typeface="Arial"/>
                <a:cs typeface="Arial"/>
              </a:rPr>
              <a:t>x</a:t>
            </a:r>
            <a:r>
              <a:rPr sz="1867" b="1" i="1" spc="-2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67" b="1" i="1" dirty="0">
                <a:solidFill>
                  <a:srgbClr val="1155CC"/>
                </a:solidFill>
                <a:latin typeface="Arial"/>
                <a:cs typeface="Arial"/>
              </a:rPr>
              <a:t>3</a:t>
            </a:r>
            <a:r>
              <a:rPr sz="1867" b="1" i="1" spc="-2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67" b="1" i="1" dirty="0">
                <a:solidFill>
                  <a:srgbClr val="1155CC"/>
                </a:solidFill>
                <a:latin typeface="Arial"/>
                <a:cs typeface="Arial"/>
              </a:rPr>
              <a:t>=</a:t>
            </a:r>
            <a:r>
              <a:rPr sz="1867" b="1" i="1" spc="-13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67" b="1" i="1" spc="-7" dirty="0">
                <a:solidFill>
                  <a:srgbClr val="1155CC"/>
                </a:solidFill>
                <a:latin typeface="Arial"/>
                <a:cs typeface="Arial"/>
              </a:rPr>
              <a:t>15 </a:t>
            </a:r>
            <a:r>
              <a:rPr sz="1867" b="1" i="1" spc="-50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dollars. So she has </a:t>
            </a:r>
            <a:r>
              <a:rPr sz="1867" b="1" i="1" spc="-7" dirty="0">
                <a:solidFill>
                  <a:srgbClr val="351B75"/>
                </a:solidFill>
                <a:latin typeface="Arial"/>
                <a:cs typeface="Arial"/>
              </a:rPr>
              <a:t>23 </a:t>
            </a:r>
            <a:r>
              <a:rPr sz="1867" b="1" i="1" dirty="0">
                <a:solidFill>
                  <a:srgbClr val="351B75"/>
                </a:solidFill>
                <a:latin typeface="Arial"/>
                <a:cs typeface="Arial"/>
              </a:rPr>
              <a:t>- </a:t>
            </a:r>
            <a:r>
              <a:rPr sz="1867" b="1" i="1" spc="-7" dirty="0">
                <a:solidFill>
                  <a:srgbClr val="351B75"/>
                </a:solidFill>
                <a:latin typeface="Arial"/>
                <a:cs typeface="Arial"/>
              </a:rPr>
              <a:t>15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dollars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left.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i="1" spc="-7" dirty="0">
                <a:solidFill>
                  <a:srgbClr val="351B75"/>
                </a:solidFill>
                <a:latin typeface="Arial"/>
                <a:cs typeface="Arial"/>
              </a:rPr>
              <a:t>23</a:t>
            </a:r>
            <a:r>
              <a:rPr sz="1867" b="1" i="1" spc="-13" dirty="0">
                <a:solidFill>
                  <a:srgbClr val="351B75"/>
                </a:solidFill>
                <a:latin typeface="Arial"/>
                <a:cs typeface="Arial"/>
              </a:rPr>
              <a:t> </a:t>
            </a:r>
            <a:r>
              <a:rPr sz="1867" b="1" i="1" dirty="0">
                <a:solidFill>
                  <a:srgbClr val="351B75"/>
                </a:solidFill>
                <a:latin typeface="Arial"/>
                <a:cs typeface="Arial"/>
              </a:rPr>
              <a:t>-</a:t>
            </a:r>
            <a:r>
              <a:rPr sz="1867" b="1" i="1" spc="-13" dirty="0">
                <a:solidFill>
                  <a:srgbClr val="351B75"/>
                </a:solidFill>
                <a:latin typeface="Arial"/>
                <a:cs typeface="Arial"/>
              </a:rPr>
              <a:t> </a:t>
            </a:r>
            <a:r>
              <a:rPr sz="1867" b="1" i="1" spc="-7" dirty="0">
                <a:solidFill>
                  <a:srgbClr val="351B75"/>
                </a:solidFill>
                <a:latin typeface="Arial"/>
                <a:cs typeface="Arial"/>
              </a:rPr>
              <a:t>15</a:t>
            </a:r>
            <a:r>
              <a:rPr sz="1867" b="1" i="1" spc="-13" dirty="0">
                <a:solidFill>
                  <a:srgbClr val="351B75"/>
                </a:solidFill>
                <a:latin typeface="Arial"/>
                <a:cs typeface="Arial"/>
              </a:rPr>
              <a:t> </a:t>
            </a:r>
            <a:r>
              <a:rPr sz="1867" b="1" i="1" spc="-7" dirty="0">
                <a:solidFill>
                  <a:srgbClr val="351B75"/>
                </a:solidFill>
                <a:latin typeface="Arial"/>
                <a:cs typeface="Arial"/>
              </a:rPr>
              <a:t>is</a:t>
            </a:r>
            <a:r>
              <a:rPr sz="1867" b="1" i="1" spc="-13" dirty="0">
                <a:solidFill>
                  <a:srgbClr val="351B75"/>
                </a:solidFill>
                <a:latin typeface="Arial"/>
                <a:cs typeface="Arial"/>
              </a:rPr>
              <a:t> </a:t>
            </a:r>
            <a:r>
              <a:rPr sz="1867" b="1" i="1" dirty="0">
                <a:solidFill>
                  <a:srgbClr val="351B75"/>
                </a:solidFill>
                <a:latin typeface="Arial"/>
                <a:cs typeface="Arial"/>
              </a:rPr>
              <a:t>8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.</a:t>
            </a:r>
            <a:r>
              <a:rPr sz="1867" b="1" spc="-13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latin typeface="Arial"/>
                <a:cs typeface="Arial"/>
              </a:rPr>
              <a:t>The</a:t>
            </a:r>
            <a:r>
              <a:rPr sz="1867" b="1" spc="-13" dirty="0">
                <a:latin typeface="Arial"/>
                <a:cs typeface="Arial"/>
              </a:rPr>
              <a:t> </a:t>
            </a:r>
            <a:r>
              <a:rPr sz="1867" b="1" spc="-7" dirty="0">
                <a:latin typeface="Arial"/>
                <a:cs typeface="Arial"/>
              </a:rPr>
              <a:t>answer is</a:t>
            </a:r>
            <a:r>
              <a:rPr sz="1867" b="1" dirty="0"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A61B00"/>
                </a:solidFill>
                <a:latin typeface="Arial"/>
                <a:cs typeface="Arial"/>
              </a:rPr>
              <a:t>8</a:t>
            </a:r>
            <a:r>
              <a:rPr sz="1867" b="1" spc="-7" dirty="0">
                <a:latin typeface="Arial"/>
                <a:cs typeface="Arial"/>
              </a:rPr>
              <a:t>.</a:t>
            </a:r>
            <a:endParaRPr sz="1867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43667" y="5283105"/>
            <a:ext cx="7276253" cy="77640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5779202" algn="l"/>
              </a:tabLst>
            </a:pPr>
            <a:r>
              <a:rPr sz="1600" spc="-40" dirty="0">
                <a:latin typeface="MS UI Gothic"/>
                <a:cs typeface="MS UI Gothic"/>
              </a:rPr>
              <a:t>（</a:t>
            </a:r>
            <a:r>
              <a:rPr sz="1600" spc="-40" dirty="0">
                <a:latin typeface="Times New Roman"/>
                <a:cs typeface="Times New Roman"/>
              </a:rPr>
              <a:t>Wei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et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al.,</a:t>
            </a:r>
            <a:r>
              <a:rPr sz="1600" spc="7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2022</a:t>
            </a:r>
            <a:r>
              <a:rPr sz="1600" dirty="0">
                <a:latin typeface="MS UI Gothic"/>
                <a:cs typeface="MS UI Gothic"/>
              </a:rPr>
              <a:t>）	</a:t>
            </a:r>
            <a:r>
              <a:rPr sz="1600" spc="-40" dirty="0">
                <a:latin typeface="MS UI Gothic"/>
                <a:cs typeface="MS UI Gothic"/>
              </a:rPr>
              <a:t>（</a:t>
            </a:r>
            <a:r>
              <a:rPr sz="1600" spc="-40" dirty="0">
                <a:latin typeface="Times New Roman"/>
                <a:cs typeface="Times New Roman"/>
              </a:rPr>
              <a:t>Wei</a:t>
            </a:r>
            <a:r>
              <a:rPr sz="1600" spc="-33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et</a:t>
            </a:r>
            <a:r>
              <a:rPr sz="1600" spc="-27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al.,</a:t>
            </a:r>
            <a:r>
              <a:rPr sz="1600" spc="-3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2022</a:t>
            </a:r>
            <a:r>
              <a:rPr sz="1600" dirty="0">
                <a:latin typeface="MS UI Gothic"/>
                <a:cs typeface="MS UI Gothic"/>
              </a:rPr>
              <a:t>）</a:t>
            </a:r>
            <a:endParaRPr sz="1600">
              <a:latin typeface="MS UI Gothic"/>
              <a:cs typeface="MS UI Gothic"/>
            </a:endParaRPr>
          </a:p>
          <a:p>
            <a:pPr>
              <a:spcBef>
                <a:spcPts val="47"/>
              </a:spcBef>
            </a:pPr>
            <a:endParaRPr sz="1467">
              <a:latin typeface="MS UI Gothic"/>
              <a:cs typeface="MS UI Gothic"/>
            </a:endParaRPr>
          </a:p>
          <a:p>
            <a:pPr marL="800927"/>
            <a:r>
              <a:rPr sz="1867" spc="-7" dirty="0">
                <a:latin typeface="Times New Roman"/>
                <a:cs typeface="Times New Roman"/>
              </a:rPr>
              <a:t>Equations</a:t>
            </a:r>
            <a:r>
              <a:rPr sz="1867" spc="-20" dirty="0">
                <a:latin typeface="Times New Roman"/>
                <a:cs typeface="Times New Roman"/>
              </a:rPr>
              <a:t> </a:t>
            </a:r>
            <a:r>
              <a:rPr sz="1867" spc="-7" dirty="0">
                <a:latin typeface="Times New Roman"/>
                <a:cs typeface="Times New Roman"/>
              </a:rPr>
              <a:t>can</a:t>
            </a:r>
            <a:r>
              <a:rPr sz="1867" spc="-13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Times New Roman"/>
                <a:cs typeface="Times New Roman"/>
              </a:rPr>
              <a:t>be</a:t>
            </a:r>
            <a:r>
              <a:rPr sz="1867" spc="-13" dirty="0">
                <a:latin typeface="Times New Roman"/>
                <a:cs typeface="Times New Roman"/>
              </a:rPr>
              <a:t> </a:t>
            </a:r>
            <a:r>
              <a:rPr sz="1867" spc="-7" dirty="0">
                <a:latin typeface="Times New Roman"/>
                <a:cs typeface="Times New Roman"/>
              </a:rPr>
              <a:t>incomplete</a:t>
            </a:r>
            <a:r>
              <a:rPr sz="1867" spc="-13" dirty="0">
                <a:latin typeface="Times New Roman"/>
                <a:cs typeface="Times New Roman"/>
              </a:rPr>
              <a:t> </a:t>
            </a:r>
            <a:r>
              <a:rPr sz="1867" spc="-7" dirty="0">
                <a:latin typeface="Times New Roman"/>
                <a:cs typeface="Times New Roman"/>
              </a:rPr>
              <a:t>and</a:t>
            </a:r>
            <a:r>
              <a:rPr sz="1867" spc="-13" dirty="0">
                <a:latin typeface="Times New Roman"/>
                <a:cs typeface="Times New Roman"/>
              </a:rPr>
              <a:t> </a:t>
            </a:r>
            <a:r>
              <a:rPr sz="1867" spc="-7" dirty="0">
                <a:latin typeface="Times New Roman"/>
                <a:cs typeface="Times New Roman"/>
              </a:rPr>
              <a:t>combined</a:t>
            </a:r>
            <a:r>
              <a:rPr sz="1867" spc="-20" dirty="0">
                <a:latin typeface="Times New Roman"/>
                <a:cs typeface="Times New Roman"/>
              </a:rPr>
              <a:t> </a:t>
            </a:r>
            <a:r>
              <a:rPr sz="1867" spc="-7" dirty="0">
                <a:latin typeface="Times New Roman"/>
                <a:cs typeface="Times New Roman"/>
              </a:rPr>
              <a:t>math</a:t>
            </a:r>
            <a:r>
              <a:rPr sz="1867" spc="-13" dirty="0">
                <a:latin typeface="Times New Roman"/>
                <a:cs typeface="Times New Roman"/>
              </a:rPr>
              <a:t> </a:t>
            </a:r>
            <a:r>
              <a:rPr sz="1867" spc="-7" dirty="0">
                <a:latin typeface="Times New Roman"/>
                <a:cs typeface="Times New Roman"/>
              </a:rPr>
              <a:t>with</a:t>
            </a:r>
            <a:r>
              <a:rPr sz="1867" spc="-20" dirty="0">
                <a:latin typeface="Times New Roman"/>
                <a:cs typeface="Times New Roman"/>
              </a:rPr>
              <a:t> </a:t>
            </a:r>
            <a:r>
              <a:rPr sz="1867" spc="-7" dirty="0">
                <a:latin typeface="Times New Roman"/>
                <a:cs typeface="Times New Roman"/>
              </a:rPr>
              <a:t>words.</a:t>
            </a:r>
            <a:endParaRPr sz="1867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47950" y="1368450"/>
            <a:ext cx="4492413" cy="3748193"/>
            <a:chOff x="785962" y="1026337"/>
            <a:chExt cx="3369310" cy="2811145"/>
          </a:xfrm>
        </p:grpSpPr>
        <p:sp>
          <p:nvSpPr>
            <p:cNvPr id="3" name="object 3"/>
            <p:cNvSpPr/>
            <p:nvPr/>
          </p:nvSpPr>
          <p:spPr>
            <a:xfrm>
              <a:off x="790724" y="1031099"/>
              <a:ext cx="3359785" cy="2801620"/>
            </a:xfrm>
            <a:custGeom>
              <a:avLst/>
              <a:gdLst/>
              <a:ahLst/>
              <a:cxnLst/>
              <a:rect l="l" t="t" r="r" b="b"/>
              <a:pathLst>
                <a:path w="3359785" h="2801620">
                  <a:moveTo>
                    <a:pt x="2892840" y="2801099"/>
                  </a:moveTo>
                  <a:lnTo>
                    <a:pt x="466859" y="2801099"/>
                  </a:lnTo>
                  <a:lnTo>
                    <a:pt x="419125" y="2798689"/>
                  </a:lnTo>
                  <a:lnTo>
                    <a:pt x="372770" y="2791615"/>
                  </a:lnTo>
                  <a:lnTo>
                    <a:pt x="328029" y="2780110"/>
                  </a:lnTo>
                  <a:lnTo>
                    <a:pt x="285136" y="2764411"/>
                  </a:lnTo>
                  <a:lnTo>
                    <a:pt x="244326" y="2744752"/>
                  </a:lnTo>
                  <a:lnTo>
                    <a:pt x="205833" y="2721367"/>
                  </a:lnTo>
                  <a:lnTo>
                    <a:pt x="169893" y="2694492"/>
                  </a:lnTo>
                  <a:lnTo>
                    <a:pt x="136739" y="2664360"/>
                  </a:lnTo>
                  <a:lnTo>
                    <a:pt x="106607" y="2631206"/>
                  </a:lnTo>
                  <a:lnTo>
                    <a:pt x="79732" y="2595266"/>
                  </a:lnTo>
                  <a:lnTo>
                    <a:pt x="56347" y="2556773"/>
                  </a:lnTo>
                  <a:lnTo>
                    <a:pt x="36688" y="2515963"/>
                  </a:lnTo>
                  <a:lnTo>
                    <a:pt x="20989" y="2473070"/>
                  </a:lnTo>
                  <a:lnTo>
                    <a:pt x="9484" y="2428328"/>
                  </a:lnTo>
                  <a:lnTo>
                    <a:pt x="2410" y="2381974"/>
                  </a:lnTo>
                  <a:lnTo>
                    <a:pt x="0" y="2334240"/>
                  </a:lnTo>
                  <a:lnTo>
                    <a:pt x="0" y="466859"/>
                  </a:lnTo>
                  <a:lnTo>
                    <a:pt x="2410" y="419125"/>
                  </a:lnTo>
                  <a:lnTo>
                    <a:pt x="9484" y="372770"/>
                  </a:lnTo>
                  <a:lnTo>
                    <a:pt x="20989" y="328029"/>
                  </a:lnTo>
                  <a:lnTo>
                    <a:pt x="36688" y="285136"/>
                  </a:lnTo>
                  <a:lnTo>
                    <a:pt x="56347" y="244326"/>
                  </a:lnTo>
                  <a:lnTo>
                    <a:pt x="79732" y="205833"/>
                  </a:lnTo>
                  <a:lnTo>
                    <a:pt x="106607" y="169893"/>
                  </a:lnTo>
                  <a:lnTo>
                    <a:pt x="136739" y="136739"/>
                  </a:lnTo>
                  <a:lnTo>
                    <a:pt x="169893" y="106607"/>
                  </a:lnTo>
                  <a:lnTo>
                    <a:pt x="205833" y="79732"/>
                  </a:lnTo>
                  <a:lnTo>
                    <a:pt x="244326" y="56347"/>
                  </a:lnTo>
                  <a:lnTo>
                    <a:pt x="285136" y="36688"/>
                  </a:lnTo>
                  <a:lnTo>
                    <a:pt x="328029" y="20989"/>
                  </a:lnTo>
                  <a:lnTo>
                    <a:pt x="372770" y="9484"/>
                  </a:lnTo>
                  <a:lnTo>
                    <a:pt x="419125" y="2410"/>
                  </a:lnTo>
                  <a:lnTo>
                    <a:pt x="466859" y="0"/>
                  </a:lnTo>
                  <a:lnTo>
                    <a:pt x="2892840" y="0"/>
                  </a:lnTo>
                  <a:lnTo>
                    <a:pt x="2945519" y="2979"/>
                  </a:lnTo>
                  <a:lnTo>
                    <a:pt x="2997119" y="11793"/>
                  </a:lnTo>
                  <a:lnTo>
                    <a:pt x="3047185" y="26251"/>
                  </a:lnTo>
                  <a:lnTo>
                    <a:pt x="3095259" y="46164"/>
                  </a:lnTo>
                  <a:lnTo>
                    <a:pt x="3140884" y="71342"/>
                  </a:lnTo>
                  <a:lnTo>
                    <a:pt x="3183603" y="101597"/>
                  </a:lnTo>
                  <a:lnTo>
                    <a:pt x="3222959" y="136739"/>
                  </a:lnTo>
                  <a:lnTo>
                    <a:pt x="3258102" y="176096"/>
                  </a:lnTo>
                  <a:lnTo>
                    <a:pt x="3288357" y="218815"/>
                  </a:lnTo>
                  <a:lnTo>
                    <a:pt x="3313535" y="264440"/>
                  </a:lnTo>
                  <a:lnTo>
                    <a:pt x="3333448" y="312514"/>
                  </a:lnTo>
                  <a:lnTo>
                    <a:pt x="3347906" y="362580"/>
                  </a:lnTo>
                  <a:lnTo>
                    <a:pt x="3356720" y="414180"/>
                  </a:lnTo>
                  <a:lnTo>
                    <a:pt x="3359699" y="466859"/>
                  </a:lnTo>
                  <a:lnTo>
                    <a:pt x="3359699" y="2334240"/>
                  </a:lnTo>
                  <a:lnTo>
                    <a:pt x="3357289" y="2381974"/>
                  </a:lnTo>
                  <a:lnTo>
                    <a:pt x="3350215" y="2428328"/>
                  </a:lnTo>
                  <a:lnTo>
                    <a:pt x="3338710" y="2473070"/>
                  </a:lnTo>
                  <a:lnTo>
                    <a:pt x="3323011" y="2515963"/>
                  </a:lnTo>
                  <a:lnTo>
                    <a:pt x="3303352" y="2556773"/>
                  </a:lnTo>
                  <a:lnTo>
                    <a:pt x="3279967" y="2595266"/>
                  </a:lnTo>
                  <a:lnTo>
                    <a:pt x="3253092" y="2631206"/>
                  </a:lnTo>
                  <a:lnTo>
                    <a:pt x="3222960" y="2664360"/>
                  </a:lnTo>
                  <a:lnTo>
                    <a:pt x="3189806" y="2694492"/>
                  </a:lnTo>
                  <a:lnTo>
                    <a:pt x="3153866" y="2721367"/>
                  </a:lnTo>
                  <a:lnTo>
                    <a:pt x="3115373" y="2744752"/>
                  </a:lnTo>
                  <a:lnTo>
                    <a:pt x="3074563" y="2764411"/>
                  </a:lnTo>
                  <a:lnTo>
                    <a:pt x="3031670" y="2780110"/>
                  </a:lnTo>
                  <a:lnTo>
                    <a:pt x="2986928" y="2791615"/>
                  </a:lnTo>
                  <a:lnTo>
                    <a:pt x="2940574" y="2798689"/>
                  </a:lnTo>
                  <a:lnTo>
                    <a:pt x="2892840" y="28010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0724" y="1031099"/>
              <a:ext cx="3359785" cy="2801620"/>
            </a:xfrm>
            <a:custGeom>
              <a:avLst/>
              <a:gdLst/>
              <a:ahLst/>
              <a:cxnLst/>
              <a:rect l="l" t="t" r="r" b="b"/>
              <a:pathLst>
                <a:path w="3359785" h="2801620">
                  <a:moveTo>
                    <a:pt x="0" y="466859"/>
                  </a:moveTo>
                  <a:lnTo>
                    <a:pt x="2410" y="419125"/>
                  </a:lnTo>
                  <a:lnTo>
                    <a:pt x="9484" y="372770"/>
                  </a:lnTo>
                  <a:lnTo>
                    <a:pt x="20989" y="328029"/>
                  </a:lnTo>
                  <a:lnTo>
                    <a:pt x="36688" y="285136"/>
                  </a:lnTo>
                  <a:lnTo>
                    <a:pt x="56347" y="244326"/>
                  </a:lnTo>
                  <a:lnTo>
                    <a:pt x="79732" y="205833"/>
                  </a:lnTo>
                  <a:lnTo>
                    <a:pt x="106607" y="169893"/>
                  </a:lnTo>
                  <a:lnTo>
                    <a:pt x="136739" y="136739"/>
                  </a:lnTo>
                  <a:lnTo>
                    <a:pt x="169893" y="106607"/>
                  </a:lnTo>
                  <a:lnTo>
                    <a:pt x="205833" y="79732"/>
                  </a:lnTo>
                  <a:lnTo>
                    <a:pt x="244326" y="56347"/>
                  </a:lnTo>
                  <a:lnTo>
                    <a:pt x="285136" y="36688"/>
                  </a:lnTo>
                  <a:lnTo>
                    <a:pt x="328029" y="20989"/>
                  </a:lnTo>
                  <a:lnTo>
                    <a:pt x="372770" y="9484"/>
                  </a:lnTo>
                  <a:lnTo>
                    <a:pt x="419125" y="2410"/>
                  </a:lnTo>
                  <a:lnTo>
                    <a:pt x="466859" y="0"/>
                  </a:lnTo>
                  <a:lnTo>
                    <a:pt x="2892840" y="0"/>
                  </a:lnTo>
                  <a:lnTo>
                    <a:pt x="2945519" y="2979"/>
                  </a:lnTo>
                  <a:lnTo>
                    <a:pt x="2997119" y="11793"/>
                  </a:lnTo>
                  <a:lnTo>
                    <a:pt x="3047185" y="26251"/>
                  </a:lnTo>
                  <a:lnTo>
                    <a:pt x="3095259" y="46164"/>
                  </a:lnTo>
                  <a:lnTo>
                    <a:pt x="3140884" y="71342"/>
                  </a:lnTo>
                  <a:lnTo>
                    <a:pt x="3183603" y="101597"/>
                  </a:lnTo>
                  <a:lnTo>
                    <a:pt x="3222959" y="136739"/>
                  </a:lnTo>
                  <a:lnTo>
                    <a:pt x="3258102" y="176096"/>
                  </a:lnTo>
                  <a:lnTo>
                    <a:pt x="3288357" y="218815"/>
                  </a:lnTo>
                  <a:lnTo>
                    <a:pt x="3313535" y="264440"/>
                  </a:lnTo>
                  <a:lnTo>
                    <a:pt x="3333448" y="312514"/>
                  </a:lnTo>
                  <a:lnTo>
                    <a:pt x="3347906" y="362580"/>
                  </a:lnTo>
                  <a:lnTo>
                    <a:pt x="3356720" y="414180"/>
                  </a:lnTo>
                  <a:lnTo>
                    <a:pt x="3359699" y="466859"/>
                  </a:lnTo>
                  <a:lnTo>
                    <a:pt x="3359699" y="2334240"/>
                  </a:lnTo>
                  <a:lnTo>
                    <a:pt x="3357289" y="2381974"/>
                  </a:lnTo>
                  <a:lnTo>
                    <a:pt x="3350215" y="2428328"/>
                  </a:lnTo>
                  <a:lnTo>
                    <a:pt x="3338710" y="2473070"/>
                  </a:lnTo>
                  <a:lnTo>
                    <a:pt x="3323011" y="2515963"/>
                  </a:lnTo>
                  <a:lnTo>
                    <a:pt x="3303352" y="2556773"/>
                  </a:lnTo>
                  <a:lnTo>
                    <a:pt x="3279967" y="2595266"/>
                  </a:lnTo>
                  <a:lnTo>
                    <a:pt x="3253092" y="2631206"/>
                  </a:lnTo>
                  <a:lnTo>
                    <a:pt x="3222960" y="2664360"/>
                  </a:lnTo>
                  <a:lnTo>
                    <a:pt x="3189806" y="2694492"/>
                  </a:lnTo>
                  <a:lnTo>
                    <a:pt x="3153866" y="2721367"/>
                  </a:lnTo>
                  <a:lnTo>
                    <a:pt x="3115373" y="2744752"/>
                  </a:lnTo>
                  <a:lnTo>
                    <a:pt x="3074563" y="2764411"/>
                  </a:lnTo>
                  <a:lnTo>
                    <a:pt x="3031670" y="2780110"/>
                  </a:lnTo>
                  <a:lnTo>
                    <a:pt x="2986928" y="2791615"/>
                  </a:lnTo>
                  <a:lnTo>
                    <a:pt x="2940574" y="2798689"/>
                  </a:lnTo>
                  <a:lnTo>
                    <a:pt x="2892840" y="2801099"/>
                  </a:lnTo>
                  <a:lnTo>
                    <a:pt x="466859" y="2801099"/>
                  </a:lnTo>
                  <a:lnTo>
                    <a:pt x="419125" y="2798689"/>
                  </a:lnTo>
                  <a:lnTo>
                    <a:pt x="372770" y="2791615"/>
                  </a:lnTo>
                  <a:lnTo>
                    <a:pt x="328029" y="2780110"/>
                  </a:lnTo>
                  <a:lnTo>
                    <a:pt x="285136" y="2764411"/>
                  </a:lnTo>
                  <a:lnTo>
                    <a:pt x="244326" y="2744752"/>
                  </a:lnTo>
                  <a:lnTo>
                    <a:pt x="205833" y="2721367"/>
                  </a:lnTo>
                  <a:lnTo>
                    <a:pt x="169893" y="2694492"/>
                  </a:lnTo>
                  <a:lnTo>
                    <a:pt x="136739" y="2664360"/>
                  </a:lnTo>
                  <a:lnTo>
                    <a:pt x="106607" y="2631206"/>
                  </a:lnTo>
                  <a:lnTo>
                    <a:pt x="79732" y="2595266"/>
                  </a:lnTo>
                  <a:lnTo>
                    <a:pt x="56347" y="2556773"/>
                  </a:lnTo>
                  <a:lnTo>
                    <a:pt x="36688" y="2515963"/>
                  </a:lnTo>
                  <a:lnTo>
                    <a:pt x="20989" y="2473070"/>
                  </a:lnTo>
                  <a:lnTo>
                    <a:pt x="9484" y="2428328"/>
                  </a:lnTo>
                  <a:lnTo>
                    <a:pt x="2410" y="2381974"/>
                  </a:lnTo>
                  <a:lnTo>
                    <a:pt x="0" y="2334240"/>
                  </a:lnTo>
                  <a:lnTo>
                    <a:pt x="0" y="466859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33985" y="1645002"/>
            <a:ext cx="3690620" cy="258196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109952">
              <a:spcBef>
                <a:spcPts val="133"/>
              </a:spcBef>
            </a:pPr>
            <a:r>
              <a:rPr sz="1867" b="1" spc="-7" dirty="0">
                <a:latin typeface="Arial"/>
                <a:cs typeface="Arial"/>
              </a:rPr>
              <a:t>Free</a:t>
            </a:r>
            <a:r>
              <a:rPr sz="1867" b="1" spc="-67" dirty="0">
                <a:latin typeface="Arial"/>
                <a:cs typeface="Arial"/>
              </a:rPr>
              <a:t> </a:t>
            </a:r>
            <a:r>
              <a:rPr sz="1867" b="1" spc="-7" dirty="0">
                <a:latin typeface="Arial"/>
                <a:cs typeface="Arial"/>
              </a:rPr>
              <a:t>Response</a:t>
            </a:r>
            <a:endParaRPr sz="1867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sz="1933">
              <a:latin typeface="Arial"/>
              <a:cs typeface="Arial"/>
            </a:endParaRPr>
          </a:p>
          <a:p>
            <a:pPr marL="16933" marR="6773">
              <a:lnSpc>
                <a:spcPts val="2200"/>
              </a:lnSpc>
            </a:pPr>
            <a:r>
              <a:rPr sz="1867" spc="-7" dirty="0">
                <a:latin typeface="Arial MT"/>
                <a:cs typeface="Arial MT"/>
              </a:rPr>
              <a:t>Q: If there are </a:t>
            </a:r>
            <a:r>
              <a:rPr sz="1867" dirty="0">
                <a:latin typeface="Arial MT"/>
                <a:cs typeface="Arial MT"/>
              </a:rPr>
              <a:t>3 cars </a:t>
            </a:r>
            <a:r>
              <a:rPr sz="1867" spc="-7" dirty="0">
                <a:latin typeface="Arial MT"/>
                <a:cs typeface="Arial MT"/>
              </a:rPr>
              <a:t>in the parking </a:t>
            </a:r>
            <a:r>
              <a:rPr sz="1867" spc="-50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lot and </a:t>
            </a:r>
            <a:r>
              <a:rPr sz="1867" dirty="0">
                <a:latin typeface="Arial MT"/>
                <a:cs typeface="Arial MT"/>
              </a:rPr>
              <a:t>2 more cars </a:t>
            </a:r>
            <a:r>
              <a:rPr sz="1867" spc="-7" dirty="0">
                <a:latin typeface="Arial MT"/>
                <a:cs typeface="Arial MT"/>
              </a:rPr>
              <a:t>arrive, how </a:t>
            </a:r>
            <a:r>
              <a:rPr sz="1867" dirty="0">
                <a:latin typeface="Arial MT"/>
                <a:cs typeface="Arial MT"/>
              </a:rPr>
              <a:t> many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cars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are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in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the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parking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lot?</a:t>
            </a:r>
            <a:endParaRPr sz="1867">
              <a:latin typeface="Arial MT"/>
              <a:cs typeface="Arial MT"/>
            </a:endParaRPr>
          </a:p>
          <a:p>
            <a:pPr>
              <a:spcBef>
                <a:spcPts val="53"/>
              </a:spcBef>
            </a:pPr>
            <a:endParaRPr sz="1867">
              <a:latin typeface="Arial MT"/>
              <a:cs typeface="Arial MT"/>
            </a:endParaRPr>
          </a:p>
          <a:p>
            <a:pPr marL="16933" marR="150703">
              <a:lnSpc>
                <a:spcPts val="2200"/>
              </a:lnSpc>
            </a:pPr>
            <a:r>
              <a:rPr sz="1867" spc="-7" dirty="0">
                <a:latin typeface="Arial MT"/>
                <a:cs typeface="Arial MT"/>
              </a:rPr>
              <a:t>A: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There are originally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3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cars.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2 </a:t>
            </a:r>
            <a:r>
              <a:rPr sz="1867" b="1" spc="-50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more</a:t>
            </a:r>
            <a:r>
              <a:rPr sz="1867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cars</a:t>
            </a:r>
            <a:r>
              <a:rPr sz="1867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arrive.</a:t>
            </a:r>
            <a:r>
              <a:rPr sz="1867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3</a:t>
            </a:r>
            <a:r>
              <a:rPr sz="1867" b="1" spc="-13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+</a:t>
            </a:r>
            <a:r>
              <a:rPr sz="1867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2</a:t>
            </a:r>
            <a:r>
              <a:rPr sz="1867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=</a:t>
            </a:r>
            <a:r>
              <a:rPr sz="1867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5.</a:t>
            </a:r>
            <a:r>
              <a:rPr sz="1867" b="1" spc="48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spc="-7" dirty="0">
                <a:latin typeface="Arial MT"/>
                <a:cs typeface="Arial MT"/>
              </a:rPr>
              <a:t>The</a:t>
            </a:r>
            <a:endParaRPr sz="1867">
              <a:latin typeface="Arial MT"/>
              <a:cs typeface="Arial MT"/>
            </a:endParaRPr>
          </a:p>
          <a:p>
            <a:pPr marL="16933">
              <a:lnSpc>
                <a:spcPts val="2133"/>
              </a:lnSpc>
            </a:pPr>
            <a:r>
              <a:rPr sz="1867" spc="-7" dirty="0">
                <a:latin typeface="Arial MT"/>
                <a:cs typeface="Arial MT"/>
              </a:rPr>
              <a:t>answer</a:t>
            </a:r>
            <a:r>
              <a:rPr sz="1867" spc="-4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is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b="1" spc="-7" dirty="0">
                <a:solidFill>
                  <a:srgbClr val="A61B00"/>
                </a:solidFill>
                <a:latin typeface="Arial"/>
                <a:cs typeface="Arial"/>
              </a:rPr>
              <a:t>5</a:t>
            </a:r>
            <a:r>
              <a:rPr sz="1867" b="1" spc="-7" dirty="0">
                <a:latin typeface="Arial"/>
                <a:cs typeface="Arial"/>
              </a:rPr>
              <a:t>.</a:t>
            </a:r>
            <a:endParaRPr sz="1867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7" dirty="0"/>
              <a:t>Free</a:t>
            </a:r>
            <a:r>
              <a:rPr sz="4000" spc="-27" dirty="0"/>
              <a:t> </a:t>
            </a:r>
            <a:r>
              <a:rPr sz="4000" spc="-13" dirty="0"/>
              <a:t>Response</a:t>
            </a:r>
            <a:r>
              <a:rPr sz="4000" spc="-27" dirty="0"/>
              <a:t> </a:t>
            </a:r>
            <a:r>
              <a:rPr sz="4000" dirty="0"/>
              <a:t>-</a:t>
            </a:r>
            <a:r>
              <a:rPr sz="4000" spc="-13" dirty="0"/>
              <a:t> </a:t>
            </a:r>
            <a:r>
              <a:rPr sz="4000" spc="-7" dirty="0"/>
              <a:t>Few-Shot</a:t>
            </a:r>
            <a:r>
              <a:rPr sz="4000" spc="-20" dirty="0"/>
              <a:t> </a:t>
            </a:r>
            <a:r>
              <a:rPr sz="4000" spc="-7" dirty="0"/>
              <a:t>CoT</a:t>
            </a:r>
            <a:r>
              <a:rPr sz="4000" spc="-100" dirty="0"/>
              <a:t> </a:t>
            </a:r>
            <a:r>
              <a:rPr sz="4000" spc="-7" dirty="0"/>
              <a:t>Prompt</a:t>
            </a:r>
            <a:r>
              <a:rPr sz="4000" spc="-20" dirty="0"/>
              <a:t> </a:t>
            </a:r>
            <a:r>
              <a:rPr sz="4000" spc="-7" dirty="0"/>
              <a:t>Exemplar</a:t>
            </a:r>
            <a:endParaRPr sz="400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28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6158957" y="1902484"/>
            <a:ext cx="5225627" cy="23359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64808" indent="-448722">
              <a:spcBef>
                <a:spcPts val="133"/>
              </a:spcBef>
              <a:buFont typeface="Arial MT"/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latin typeface="Times New Roman"/>
                <a:cs typeface="Times New Roman"/>
              </a:rPr>
              <a:t>Manually</a:t>
            </a:r>
            <a:r>
              <a:rPr sz="1867" b="1" spc="-27" dirty="0">
                <a:latin typeface="Times New Roman"/>
                <a:cs typeface="Times New Roman"/>
              </a:rPr>
              <a:t> </a:t>
            </a:r>
            <a:r>
              <a:rPr sz="1867" spc="-7" dirty="0">
                <a:latin typeface="Times New Roman"/>
                <a:cs typeface="Times New Roman"/>
              </a:rPr>
              <a:t>composed</a:t>
            </a:r>
            <a:r>
              <a:rPr sz="1867" spc="-13" dirty="0">
                <a:latin typeface="Times New Roman"/>
                <a:cs typeface="Times New Roman"/>
              </a:rPr>
              <a:t> </a:t>
            </a:r>
            <a:r>
              <a:rPr sz="1867" b="1" dirty="0">
                <a:latin typeface="Times New Roman"/>
                <a:cs typeface="Times New Roman"/>
              </a:rPr>
              <a:t>8</a:t>
            </a:r>
            <a:r>
              <a:rPr sz="1867" b="1" spc="-33" dirty="0">
                <a:latin typeface="Times New Roman"/>
                <a:cs typeface="Times New Roman"/>
              </a:rPr>
              <a:t> </a:t>
            </a:r>
            <a:r>
              <a:rPr sz="1867" spc="-7" dirty="0">
                <a:latin typeface="Times New Roman"/>
                <a:cs typeface="Times New Roman"/>
              </a:rPr>
              <a:t>exemplars</a:t>
            </a:r>
            <a:endParaRPr sz="1867">
              <a:latin typeface="Times New Roman"/>
              <a:cs typeface="Times New Roman"/>
            </a:endParaRPr>
          </a:p>
          <a:p>
            <a:pPr>
              <a:spcBef>
                <a:spcPts val="13"/>
              </a:spcBef>
              <a:buFont typeface="Arial MT"/>
              <a:buChar char="●"/>
            </a:pPr>
            <a:endParaRPr sz="1933">
              <a:latin typeface="Times New Roman"/>
              <a:cs typeface="Times New Roman"/>
            </a:endParaRPr>
          </a:p>
          <a:p>
            <a:pPr marL="464808" indent="-448722">
              <a:buFont typeface="Arial MT"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latin typeface="Times New Roman"/>
                <a:cs typeface="Times New Roman"/>
              </a:rPr>
              <a:t>All</a:t>
            </a:r>
            <a:r>
              <a:rPr sz="1867" spc="-27" dirty="0">
                <a:latin typeface="Times New Roman"/>
                <a:cs typeface="Times New Roman"/>
              </a:rPr>
              <a:t> </a:t>
            </a:r>
            <a:r>
              <a:rPr sz="1867" spc="-7" dirty="0">
                <a:latin typeface="Times New Roman"/>
                <a:cs typeface="Times New Roman"/>
              </a:rPr>
              <a:t>contains</a:t>
            </a:r>
            <a:r>
              <a:rPr sz="1867" spc="-27" dirty="0">
                <a:latin typeface="Times New Roman"/>
                <a:cs typeface="Times New Roman"/>
              </a:rPr>
              <a:t> </a:t>
            </a:r>
            <a:r>
              <a:rPr sz="1867" spc="-7" dirty="0">
                <a:latin typeface="Times New Roman"/>
                <a:cs typeface="Times New Roman"/>
              </a:rPr>
              <a:t>equations</a:t>
            </a:r>
            <a:r>
              <a:rPr sz="1867" spc="-20" dirty="0">
                <a:latin typeface="Times New Roman"/>
                <a:cs typeface="Times New Roman"/>
              </a:rPr>
              <a:t> </a:t>
            </a:r>
            <a:r>
              <a:rPr sz="1867" spc="-7" dirty="0">
                <a:latin typeface="Times New Roman"/>
                <a:cs typeface="Times New Roman"/>
              </a:rPr>
              <a:t>with</a:t>
            </a:r>
            <a:r>
              <a:rPr sz="1867" spc="-27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Times New Roman"/>
                <a:cs typeface="Times New Roman"/>
              </a:rPr>
              <a:t>flexible</a:t>
            </a:r>
            <a:r>
              <a:rPr sz="1867" spc="-13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Times New Roman"/>
                <a:cs typeface="Times New Roman"/>
              </a:rPr>
              <a:t>formats</a:t>
            </a:r>
            <a:endParaRPr sz="1867">
              <a:latin typeface="Times New Roman"/>
              <a:cs typeface="Times New Roman"/>
            </a:endParaRPr>
          </a:p>
          <a:p>
            <a:pPr>
              <a:spcBef>
                <a:spcPts val="20"/>
              </a:spcBef>
              <a:buFont typeface="Arial MT"/>
              <a:buChar char="●"/>
            </a:pPr>
            <a:endParaRPr sz="1933">
              <a:latin typeface="Times New Roman"/>
              <a:cs typeface="Times New Roman"/>
            </a:endParaRPr>
          </a:p>
          <a:p>
            <a:pPr marL="464808" indent="-448722">
              <a:buFont typeface="Arial MT"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latin typeface="Times New Roman"/>
                <a:cs typeface="Times New Roman"/>
              </a:rPr>
              <a:t>Benchmarked</a:t>
            </a:r>
            <a:r>
              <a:rPr sz="1867" spc="-67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Times New Roman"/>
                <a:cs typeface="Times New Roman"/>
              </a:rPr>
              <a:t>on:</a:t>
            </a:r>
            <a:endParaRPr sz="1867">
              <a:latin typeface="Times New Roman"/>
              <a:cs typeface="Times New Roman"/>
            </a:endParaRPr>
          </a:p>
          <a:p>
            <a:pPr marL="1074393" lvl="1" indent="-408083">
              <a:buSzPct val="71428"/>
              <a:buFont typeface="Arial"/>
              <a:buChar char="○"/>
              <a:tabLst>
                <a:tab pos="1073546" algn="l"/>
                <a:tab pos="1075240" algn="l"/>
              </a:tabLst>
            </a:pPr>
            <a:r>
              <a:rPr sz="1867" b="1" spc="-7" dirty="0">
                <a:latin typeface="Times New Roman"/>
                <a:cs typeface="Times New Roman"/>
              </a:rPr>
              <a:t>GSM8K</a:t>
            </a:r>
            <a:r>
              <a:rPr sz="1867" b="1" spc="-33" dirty="0">
                <a:latin typeface="Times New Roman"/>
                <a:cs typeface="Times New Roman"/>
              </a:rPr>
              <a:t> </a:t>
            </a:r>
            <a:r>
              <a:rPr sz="1867" b="1" dirty="0">
                <a:latin typeface="Times New Roman"/>
                <a:cs typeface="Times New Roman"/>
              </a:rPr>
              <a:t>(Cobbe</a:t>
            </a:r>
            <a:r>
              <a:rPr sz="1867" b="1" spc="-20" dirty="0">
                <a:latin typeface="Times New Roman"/>
                <a:cs typeface="Times New Roman"/>
              </a:rPr>
              <a:t> </a:t>
            </a:r>
            <a:r>
              <a:rPr sz="1867" b="1" spc="-7" dirty="0">
                <a:latin typeface="Times New Roman"/>
                <a:cs typeface="Times New Roman"/>
              </a:rPr>
              <a:t>et</a:t>
            </a:r>
            <a:r>
              <a:rPr sz="1867" b="1" spc="-33" dirty="0">
                <a:latin typeface="Times New Roman"/>
                <a:cs typeface="Times New Roman"/>
              </a:rPr>
              <a:t> </a:t>
            </a:r>
            <a:r>
              <a:rPr sz="1867" b="1" dirty="0">
                <a:latin typeface="Times New Roman"/>
                <a:cs typeface="Times New Roman"/>
              </a:rPr>
              <a:t>al.</a:t>
            </a:r>
            <a:r>
              <a:rPr sz="1867" b="1" spc="-20" dirty="0">
                <a:latin typeface="Times New Roman"/>
                <a:cs typeface="Times New Roman"/>
              </a:rPr>
              <a:t> </a:t>
            </a:r>
            <a:r>
              <a:rPr sz="1867" b="1" dirty="0">
                <a:latin typeface="Times New Roman"/>
                <a:cs typeface="Times New Roman"/>
              </a:rPr>
              <a:t>2021)</a:t>
            </a:r>
            <a:endParaRPr sz="1867">
              <a:latin typeface="Times New Roman"/>
              <a:cs typeface="Times New Roman"/>
            </a:endParaRPr>
          </a:p>
          <a:p>
            <a:pPr marL="1074393" lvl="1" indent="-408083">
              <a:buSzPct val="71428"/>
              <a:buFont typeface="Arial"/>
              <a:buChar char="○"/>
              <a:tabLst>
                <a:tab pos="1073546" algn="l"/>
                <a:tab pos="1075240" algn="l"/>
              </a:tabLst>
            </a:pPr>
            <a:r>
              <a:rPr sz="1867" b="1" spc="-7" dirty="0">
                <a:latin typeface="Times New Roman"/>
                <a:cs typeface="Times New Roman"/>
              </a:rPr>
              <a:t>S</a:t>
            </a:r>
            <a:r>
              <a:rPr sz="1867" b="1" spc="-240" dirty="0">
                <a:latin typeface="Times New Roman"/>
                <a:cs typeface="Times New Roman"/>
              </a:rPr>
              <a:t>V</a:t>
            </a:r>
            <a:r>
              <a:rPr sz="1867" b="1" spc="-7" dirty="0">
                <a:latin typeface="Times New Roman"/>
                <a:cs typeface="Times New Roman"/>
              </a:rPr>
              <a:t>AM</a:t>
            </a:r>
            <a:r>
              <a:rPr sz="1867" b="1" dirty="0">
                <a:latin typeface="Times New Roman"/>
                <a:cs typeface="Times New Roman"/>
              </a:rPr>
              <a:t>P</a:t>
            </a:r>
            <a:r>
              <a:rPr sz="1867" b="1" spc="-107" dirty="0">
                <a:latin typeface="Times New Roman"/>
                <a:cs typeface="Times New Roman"/>
              </a:rPr>
              <a:t> </a:t>
            </a:r>
            <a:r>
              <a:rPr sz="1867" b="1" dirty="0">
                <a:latin typeface="Times New Roman"/>
                <a:cs typeface="Times New Roman"/>
              </a:rPr>
              <a:t>(Patel </a:t>
            </a:r>
            <a:r>
              <a:rPr sz="1867" b="1" spc="-7" dirty="0">
                <a:latin typeface="Times New Roman"/>
                <a:cs typeface="Times New Roman"/>
              </a:rPr>
              <a:t>e</a:t>
            </a:r>
            <a:r>
              <a:rPr sz="1867" b="1" dirty="0">
                <a:latin typeface="Times New Roman"/>
                <a:cs typeface="Times New Roman"/>
              </a:rPr>
              <a:t>t</a:t>
            </a:r>
            <a:r>
              <a:rPr sz="1867" b="1" spc="-7" dirty="0">
                <a:latin typeface="Times New Roman"/>
                <a:cs typeface="Times New Roman"/>
              </a:rPr>
              <a:t> </a:t>
            </a:r>
            <a:r>
              <a:rPr sz="1867" b="1" dirty="0">
                <a:latin typeface="Times New Roman"/>
                <a:cs typeface="Times New Roman"/>
              </a:rPr>
              <a:t>al., 2021)</a:t>
            </a:r>
            <a:endParaRPr sz="1867">
              <a:latin typeface="Times New Roman"/>
              <a:cs typeface="Times New Roman"/>
            </a:endParaRPr>
          </a:p>
          <a:p>
            <a:pPr marL="1074393" lvl="1" indent="-408083">
              <a:buSzPct val="71428"/>
              <a:buFont typeface="Arial"/>
              <a:buChar char="○"/>
              <a:tabLst>
                <a:tab pos="1073546" algn="l"/>
                <a:tab pos="1075240" algn="l"/>
              </a:tabLst>
            </a:pPr>
            <a:r>
              <a:rPr sz="1867" b="1" spc="-47" dirty="0">
                <a:latin typeface="Times New Roman"/>
                <a:cs typeface="Times New Roman"/>
              </a:rPr>
              <a:t>MAWPS</a:t>
            </a:r>
            <a:r>
              <a:rPr sz="1867" b="1" spc="-27" dirty="0">
                <a:latin typeface="Times New Roman"/>
                <a:cs typeface="Times New Roman"/>
              </a:rPr>
              <a:t> </a:t>
            </a:r>
            <a:r>
              <a:rPr sz="1867" b="1" dirty="0">
                <a:latin typeface="Times New Roman"/>
                <a:cs typeface="Times New Roman"/>
              </a:rPr>
              <a:t>(Koncel-Kedziorski</a:t>
            </a:r>
            <a:r>
              <a:rPr sz="1867" b="1" spc="-27" dirty="0">
                <a:latin typeface="Times New Roman"/>
                <a:cs typeface="Times New Roman"/>
              </a:rPr>
              <a:t> </a:t>
            </a:r>
            <a:r>
              <a:rPr sz="1867" b="1" spc="-7" dirty="0">
                <a:latin typeface="Times New Roman"/>
                <a:cs typeface="Times New Roman"/>
              </a:rPr>
              <a:t>et</a:t>
            </a:r>
            <a:r>
              <a:rPr sz="1867" b="1" spc="-33" dirty="0">
                <a:latin typeface="Times New Roman"/>
                <a:cs typeface="Times New Roman"/>
              </a:rPr>
              <a:t> </a:t>
            </a:r>
            <a:r>
              <a:rPr sz="1867" b="1" dirty="0">
                <a:latin typeface="Times New Roman"/>
                <a:cs typeface="Times New Roman"/>
              </a:rPr>
              <a:t>al.,</a:t>
            </a:r>
            <a:r>
              <a:rPr sz="1867" b="1" spc="-27" dirty="0">
                <a:latin typeface="Times New Roman"/>
                <a:cs typeface="Times New Roman"/>
              </a:rPr>
              <a:t> </a:t>
            </a:r>
            <a:r>
              <a:rPr sz="1867" b="1" dirty="0">
                <a:latin typeface="Times New Roman"/>
                <a:cs typeface="Times New Roman"/>
              </a:rPr>
              <a:t>2016)</a:t>
            </a:r>
            <a:endParaRPr sz="1867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43668" y="5283106"/>
            <a:ext cx="151299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40" dirty="0">
                <a:latin typeface="MS UI Gothic"/>
                <a:cs typeface="MS UI Gothic"/>
              </a:rPr>
              <a:t>（</a:t>
            </a:r>
            <a:r>
              <a:rPr sz="1600" spc="-40" dirty="0">
                <a:latin typeface="Times New Roman"/>
                <a:cs typeface="Times New Roman"/>
              </a:rPr>
              <a:t>Wei</a:t>
            </a:r>
            <a:r>
              <a:rPr sz="1600" spc="-33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et</a:t>
            </a:r>
            <a:r>
              <a:rPr sz="1600" spc="-27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al.,</a:t>
            </a:r>
            <a:r>
              <a:rPr sz="1600" spc="-3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2022</a:t>
            </a:r>
            <a:r>
              <a:rPr sz="1600" dirty="0">
                <a:latin typeface="MS UI Gothic"/>
                <a:cs typeface="MS UI Gothic"/>
              </a:rPr>
              <a:t>）</a:t>
            </a:r>
            <a:endParaRPr sz="1600">
              <a:latin typeface="MS UI Gothic"/>
              <a:cs typeface="MS UI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47950" y="1368450"/>
            <a:ext cx="4492413" cy="4570305"/>
            <a:chOff x="785962" y="1026337"/>
            <a:chExt cx="3369310" cy="3427729"/>
          </a:xfrm>
        </p:grpSpPr>
        <p:sp>
          <p:nvSpPr>
            <p:cNvPr id="3" name="object 3"/>
            <p:cNvSpPr/>
            <p:nvPr/>
          </p:nvSpPr>
          <p:spPr>
            <a:xfrm>
              <a:off x="790724" y="1031099"/>
              <a:ext cx="3359785" cy="3418204"/>
            </a:xfrm>
            <a:custGeom>
              <a:avLst/>
              <a:gdLst/>
              <a:ahLst/>
              <a:cxnLst/>
              <a:rect l="l" t="t" r="r" b="b"/>
              <a:pathLst>
                <a:path w="3359785" h="3418204">
                  <a:moveTo>
                    <a:pt x="2799738" y="3417599"/>
                  </a:moveTo>
                  <a:lnTo>
                    <a:pt x="559961" y="3417599"/>
                  </a:lnTo>
                  <a:lnTo>
                    <a:pt x="511645" y="3415544"/>
                  </a:lnTo>
                  <a:lnTo>
                    <a:pt x="464471" y="3409490"/>
                  </a:lnTo>
                  <a:lnTo>
                    <a:pt x="418606" y="3399605"/>
                  </a:lnTo>
                  <a:lnTo>
                    <a:pt x="374218" y="3386058"/>
                  </a:lnTo>
                  <a:lnTo>
                    <a:pt x="331477" y="3369016"/>
                  </a:lnTo>
                  <a:lnTo>
                    <a:pt x="290548" y="3348648"/>
                  </a:lnTo>
                  <a:lnTo>
                    <a:pt x="251602" y="3325121"/>
                  </a:lnTo>
                  <a:lnTo>
                    <a:pt x="214805" y="3298605"/>
                  </a:lnTo>
                  <a:lnTo>
                    <a:pt x="180326" y="3269266"/>
                  </a:lnTo>
                  <a:lnTo>
                    <a:pt x="148333" y="3237273"/>
                  </a:lnTo>
                  <a:lnTo>
                    <a:pt x="118994" y="3202794"/>
                  </a:lnTo>
                  <a:lnTo>
                    <a:pt x="92478" y="3165997"/>
                  </a:lnTo>
                  <a:lnTo>
                    <a:pt x="68951" y="3127051"/>
                  </a:lnTo>
                  <a:lnTo>
                    <a:pt x="48583" y="3086123"/>
                  </a:lnTo>
                  <a:lnTo>
                    <a:pt x="31541" y="3043381"/>
                  </a:lnTo>
                  <a:lnTo>
                    <a:pt x="17994" y="2998993"/>
                  </a:lnTo>
                  <a:lnTo>
                    <a:pt x="8109" y="2953128"/>
                  </a:lnTo>
                  <a:lnTo>
                    <a:pt x="2055" y="2905954"/>
                  </a:lnTo>
                  <a:lnTo>
                    <a:pt x="0" y="2857638"/>
                  </a:lnTo>
                  <a:lnTo>
                    <a:pt x="0" y="559961"/>
                  </a:lnTo>
                  <a:lnTo>
                    <a:pt x="2055" y="511645"/>
                  </a:lnTo>
                  <a:lnTo>
                    <a:pt x="8109" y="464471"/>
                  </a:lnTo>
                  <a:lnTo>
                    <a:pt x="17994" y="418606"/>
                  </a:lnTo>
                  <a:lnTo>
                    <a:pt x="31541" y="374218"/>
                  </a:lnTo>
                  <a:lnTo>
                    <a:pt x="48583" y="331477"/>
                  </a:lnTo>
                  <a:lnTo>
                    <a:pt x="68951" y="290548"/>
                  </a:lnTo>
                  <a:lnTo>
                    <a:pt x="92478" y="251602"/>
                  </a:lnTo>
                  <a:lnTo>
                    <a:pt x="118994" y="214805"/>
                  </a:lnTo>
                  <a:lnTo>
                    <a:pt x="148333" y="180326"/>
                  </a:lnTo>
                  <a:lnTo>
                    <a:pt x="180326" y="148333"/>
                  </a:lnTo>
                  <a:lnTo>
                    <a:pt x="214805" y="118994"/>
                  </a:lnTo>
                  <a:lnTo>
                    <a:pt x="251602" y="92478"/>
                  </a:lnTo>
                  <a:lnTo>
                    <a:pt x="290548" y="68951"/>
                  </a:lnTo>
                  <a:lnTo>
                    <a:pt x="331477" y="48583"/>
                  </a:lnTo>
                  <a:lnTo>
                    <a:pt x="374218" y="31541"/>
                  </a:lnTo>
                  <a:lnTo>
                    <a:pt x="418606" y="17994"/>
                  </a:lnTo>
                  <a:lnTo>
                    <a:pt x="464471" y="8109"/>
                  </a:lnTo>
                  <a:lnTo>
                    <a:pt x="511645" y="2055"/>
                  </a:lnTo>
                  <a:lnTo>
                    <a:pt x="559961" y="0"/>
                  </a:lnTo>
                  <a:lnTo>
                    <a:pt x="2799738" y="0"/>
                  </a:lnTo>
                  <a:lnTo>
                    <a:pt x="2848974" y="2167"/>
                  </a:lnTo>
                  <a:lnTo>
                    <a:pt x="2897500" y="8597"/>
                  </a:lnTo>
                  <a:lnTo>
                    <a:pt x="2945061" y="19184"/>
                  </a:lnTo>
                  <a:lnTo>
                    <a:pt x="2991397" y="33821"/>
                  </a:lnTo>
                  <a:lnTo>
                    <a:pt x="3036252" y="52400"/>
                  </a:lnTo>
                  <a:lnTo>
                    <a:pt x="3079366" y="74815"/>
                  </a:lnTo>
                  <a:lnTo>
                    <a:pt x="3120483" y="100959"/>
                  </a:lnTo>
                  <a:lnTo>
                    <a:pt x="3159343" y="130726"/>
                  </a:lnTo>
                  <a:lnTo>
                    <a:pt x="3195690" y="164008"/>
                  </a:lnTo>
                  <a:lnTo>
                    <a:pt x="3228973" y="200356"/>
                  </a:lnTo>
                  <a:lnTo>
                    <a:pt x="3258739" y="239216"/>
                  </a:lnTo>
                  <a:lnTo>
                    <a:pt x="3284884" y="280333"/>
                  </a:lnTo>
                  <a:lnTo>
                    <a:pt x="3307299" y="323447"/>
                  </a:lnTo>
                  <a:lnTo>
                    <a:pt x="3325878" y="368301"/>
                  </a:lnTo>
                  <a:lnTo>
                    <a:pt x="3340515" y="414638"/>
                  </a:lnTo>
                  <a:lnTo>
                    <a:pt x="3351102" y="462198"/>
                  </a:lnTo>
                  <a:lnTo>
                    <a:pt x="3357532" y="510725"/>
                  </a:lnTo>
                  <a:lnTo>
                    <a:pt x="3359699" y="559961"/>
                  </a:lnTo>
                  <a:lnTo>
                    <a:pt x="3359699" y="2857638"/>
                  </a:lnTo>
                  <a:lnTo>
                    <a:pt x="3357644" y="2905954"/>
                  </a:lnTo>
                  <a:lnTo>
                    <a:pt x="3351590" y="2953128"/>
                  </a:lnTo>
                  <a:lnTo>
                    <a:pt x="3341705" y="2998993"/>
                  </a:lnTo>
                  <a:lnTo>
                    <a:pt x="3328158" y="3043381"/>
                  </a:lnTo>
                  <a:lnTo>
                    <a:pt x="3311116" y="3086123"/>
                  </a:lnTo>
                  <a:lnTo>
                    <a:pt x="3290748" y="3127051"/>
                  </a:lnTo>
                  <a:lnTo>
                    <a:pt x="3267221" y="3165997"/>
                  </a:lnTo>
                  <a:lnTo>
                    <a:pt x="3240705" y="3202794"/>
                  </a:lnTo>
                  <a:lnTo>
                    <a:pt x="3211366" y="3237273"/>
                  </a:lnTo>
                  <a:lnTo>
                    <a:pt x="3179373" y="3269266"/>
                  </a:lnTo>
                  <a:lnTo>
                    <a:pt x="3144894" y="3298605"/>
                  </a:lnTo>
                  <a:lnTo>
                    <a:pt x="3108097" y="3325121"/>
                  </a:lnTo>
                  <a:lnTo>
                    <a:pt x="3069151" y="3348648"/>
                  </a:lnTo>
                  <a:lnTo>
                    <a:pt x="3028223" y="3369016"/>
                  </a:lnTo>
                  <a:lnTo>
                    <a:pt x="2985481" y="3386058"/>
                  </a:lnTo>
                  <a:lnTo>
                    <a:pt x="2941093" y="3399605"/>
                  </a:lnTo>
                  <a:lnTo>
                    <a:pt x="2895228" y="3409490"/>
                  </a:lnTo>
                  <a:lnTo>
                    <a:pt x="2848054" y="3415544"/>
                  </a:lnTo>
                  <a:lnTo>
                    <a:pt x="2799738" y="3417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0724" y="1031099"/>
              <a:ext cx="3359785" cy="3418204"/>
            </a:xfrm>
            <a:custGeom>
              <a:avLst/>
              <a:gdLst/>
              <a:ahLst/>
              <a:cxnLst/>
              <a:rect l="l" t="t" r="r" b="b"/>
              <a:pathLst>
                <a:path w="3359785" h="3418204">
                  <a:moveTo>
                    <a:pt x="0" y="559961"/>
                  </a:moveTo>
                  <a:lnTo>
                    <a:pt x="2055" y="511645"/>
                  </a:lnTo>
                  <a:lnTo>
                    <a:pt x="8109" y="464471"/>
                  </a:lnTo>
                  <a:lnTo>
                    <a:pt x="17994" y="418606"/>
                  </a:lnTo>
                  <a:lnTo>
                    <a:pt x="31541" y="374218"/>
                  </a:lnTo>
                  <a:lnTo>
                    <a:pt x="48583" y="331477"/>
                  </a:lnTo>
                  <a:lnTo>
                    <a:pt x="68951" y="290548"/>
                  </a:lnTo>
                  <a:lnTo>
                    <a:pt x="92478" y="251602"/>
                  </a:lnTo>
                  <a:lnTo>
                    <a:pt x="118994" y="214805"/>
                  </a:lnTo>
                  <a:lnTo>
                    <a:pt x="148333" y="180326"/>
                  </a:lnTo>
                  <a:lnTo>
                    <a:pt x="180326" y="148333"/>
                  </a:lnTo>
                  <a:lnTo>
                    <a:pt x="214805" y="118994"/>
                  </a:lnTo>
                  <a:lnTo>
                    <a:pt x="251602" y="92478"/>
                  </a:lnTo>
                  <a:lnTo>
                    <a:pt x="290548" y="68951"/>
                  </a:lnTo>
                  <a:lnTo>
                    <a:pt x="331477" y="48583"/>
                  </a:lnTo>
                  <a:lnTo>
                    <a:pt x="374218" y="31541"/>
                  </a:lnTo>
                  <a:lnTo>
                    <a:pt x="418606" y="17994"/>
                  </a:lnTo>
                  <a:lnTo>
                    <a:pt x="464471" y="8109"/>
                  </a:lnTo>
                  <a:lnTo>
                    <a:pt x="511645" y="2055"/>
                  </a:lnTo>
                  <a:lnTo>
                    <a:pt x="559961" y="0"/>
                  </a:lnTo>
                  <a:lnTo>
                    <a:pt x="2799738" y="0"/>
                  </a:lnTo>
                  <a:lnTo>
                    <a:pt x="2848974" y="2167"/>
                  </a:lnTo>
                  <a:lnTo>
                    <a:pt x="2897500" y="8597"/>
                  </a:lnTo>
                  <a:lnTo>
                    <a:pt x="2945061" y="19184"/>
                  </a:lnTo>
                  <a:lnTo>
                    <a:pt x="2991397" y="33821"/>
                  </a:lnTo>
                  <a:lnTo>
                    <a:pt x="3036252" y="52400"/>
                  </a:lnTo>
                  <a:lnTo>
                    <a:pt x="3079366" y="74815"/>
                  </a:lnTo>
                  <a:lnTo>
                    <a:pt x="3120483" y="100959"/>
                  </a:lnTo>
                  <a:lnTo>
                    <a:pt x="3159343" y="130726"/>
                  </a:lnTo>
                  <a:lnTo>
                    <a:pt x="3195690" y="164008"/>
                  </a:lnTo>
                  <a:lnTo>
                    <a:pt x="3228973" y="200356"/>
                  </a:lnTo>
                  <a:lnTo>
                    <a:pt x="3258739" y="239216"/>
                  </a:lnTo>
                  <a:lnTo>
                    <a:pt x="3284884" y="280333"/>
                  </a:lnTo>
                  <a:lnTo>
                    <a:pt x="3307299" y="323447"/>
                  </a:lnTo>
                  <a:lnTo>
                    <a:pt x="3325878" y="368301"/>
                  </a:lnTo>
                  <a:lnTo>
                    <a:pt x="3340515" y="414638"/>
                  </a:lnTo>
                  <a:lnTo>
                    <a:pt x="3351102" y="462198"/>
                  </a:lnTo>
                  <a:lnTo>
                    <a:pt x="3357532" y="510725"/>
                  </a:lnTo>
                  <a:lnTo>
                    <a:pt x="3359699" y="559961"/>
                  </a:lnTo>
                  <a:lnTo>
                    <a:pt x="3359699" y="2857638"/>
                  </a:lnTo>
                  <a:lnTo>
                    <a:pt x="3357644" y="2905954"/>
                  </a:lnTo>
                  <a:lnTo>
                    <a:pt x="3351590" y="2953128"/>
                  </a:lnTo>
                  <a:lnTo>
                    <a:pt x="3341705" y="2998993"/>
                  </a:lnTo>
                  <a:lnTo>
                    <a:pt x="3328158" y="3043381"/>
                  </a:lnTo>
                  <a:lnTo>
                    <a:pt x="3311116" y="3086123"/>
                  </a:lnTo>
                  <a:lnTo>
                    <a:pt x="3290748" y="3127051"/>
                  </a:lnTo>
                  <a:lnTo>
                    <a:pt x="3267221" y="3165997"/>
                  </a:lnTo>
                  <a:lnTo>
                    <a:pt x="3240705" y="3202794"/>
                  </a:lnTo>
                  <a:lnTo>
                    <a:pt x="3211366" y="3237273"/>
                  </a:lnTo>
                  <a:lnTo>
                    <a:pt x="3179373" y="3269266"/>
                  </a:lnTo>
                  <a:lnTo>
                    <a:pt x="3144894" y="3298605"/>
                  </a:lnTo>
                  <a:lnTo>
                    <a:pt x="3108097" y="3325121"/>
                  </a:lnTo>
                  <a:lnTo>
                    <a:pt x="3069151" y="3348648"/>
                  </a:lnTo>
                  <a:lnTo>
                    <a:pt x="3028223" y="3369016"/>
                  </a:lnTo>
                  <a:lnTo>
                    <a:pt x="2985481" y="3386058"/>
                  </a:lnTo>
                  <a:lnTo>
                    <a:pt x="2941093" y="3399605"/>
                  </a:lnTo>
                  <a:lnTo>
                    <a:pt x="2895228" y="3409490"/>
                  </a:lnTo>
                  <a:lnTo>
                    <a:pt x="2848054" y="3415544"/>
                  </a:lnTo>
                  <a:lnTo>
                    <a:pt x="2799738" y="3417599"/>
                  </a:lnTo>
                  <a:lnTo>
                    <a:pt x="559961" y="3417599"/>
                  </a:lnTo>
                  <a:lnTo>
                    <a:pt x="511645" y="3415544"/>
                  </a:lnTo>
                  <a:lnTo>
                    <a:pt x="464471" y="3409490"/>
                  </a:lnTo>
                  <a:lnTo>
                    <a:pt x="418606" y="3399605"/>
                  </a:lnTo>
                  <a:lnTo>
                    <a:pt x="374218" y="3386058"/>
                  </a:lnTo>
                  <a:lnTo>
                    <a:pt x="331477" y="3369016"/>
                  </a:lnTo>
                  <a:lnTo>
                    <a:pt x="290548" y="3348648"/>
                  </a:lnTo>
                  <a:lnTo>
                    <a:pt x="251602" y="3325121"/>
                  </a:lnTo>
                  <a:lnTo>
                    <a:pt x="214805" y="3298605"/>
                  </a:lnTo>
                  <a:lnTo>
                    <a:pt x="180326" y="3269266"/>
                  </a:lnTo>
                  <a:lnTo>
                    <a:pt x="148333" y="3237273"/>
                  </a:lnTo>
                  <a:lnTo>
                    <a:pt x="118994" y="3202794"/>
                  </a:lnTo>
                  <a:lnTo>
                    <a:pt x="92478" y="3165997"/>
                  </a:lnTo>
                  <a:lnTo>
                    <a:pt x="68951" y="3127051"/>
                  </a:lnTo>
                  <a:lnTo>
                    <a:pt x="48583" y="3086123"/>
                  </a:lnTo>
                  <a:lnTo>
                    <a:pt x="31541" y="3043381"/>
                  </a:lnTo>
                  <a:lnTo>
                    <a:pt x="17994" y="2998993"/>
                  </a:lnTo>
                  <a:lnTo>
                    <a:pt x="8109" y="2953128"/>
                  </a:lnTo>
                  <a:lnTo>
                    <a:pt x="2055" y="2905954"/>
                  </a:lnTo>
                  <a:lnTo>
                    <a:pt x="0" y="2857638"/>
                  </a:lnTo>
                  <a:lnTo>
                    <a:pt x="0" y="559961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401794" y="1681359"/>
            <a:ext cx="178562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b="1" dirty="0">
                <a:latin typeface="Arial"/>
                <a:cs typeface="Arial"/>
              </a:rPr>
              <a:t>Multiple</a:t>
            </a:r>
            <a:r>
              <a:rPr sz="1867" b="1" spc="-107" dirty="0">
                <a:latin typeface="Arial"/>
                <a:cs typeface="Arial"/>
              </a:rPr>
              <a:t> </a:t>
            </a:r>
            <a:r>
              <a:rPr sz="1867" b="1" spc="-7" dirty="0">
                <a:latin typeface="Arial"/>
                <a:cs typeface="Arial"/>
              </a:rPr>
              <a:t>Choice</a:t>
            </a:r>
            <a:endParaRPr sz="186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70343" y="2240161"/>
            <a:ext cx="3782907" cy="14414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>
              <a:lnSpc>
                <a:spcPts val="2200"/>
              </a:lnSpc>
              <a:spcBef>
                <a:spcPts val="240"/>
              </a:spcBef>
            </a:pPr>
            <a:r>
              <a:rPr sz="1867" spc="-7" dirty="0">
                <a:latin typeface="Arial MT"/>
                <a:cs typeface="Arial MT"/>
              </a:rPr>
              <a:t>Q:</a:t>
            </a:r>
            <a:r>
              <a:rPr sz="1867" spc="38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A</a:t>
            </a:r>
            <a:r>
              <a:rPr sz="1867" spc="-1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person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is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traveling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at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20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km/hr </a:t>
            </a:r>
            <a:r>
              <a:rPr sz="1867" spc="-50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and </a:t>
            </a:r>
            <a:r>
              <a:rPr sz="1867" dirty="0">
                <a:latin typeface="Arial MT"/>
                <a:cs typeface="Arial MT"/>
              </a:rPr>
              <a:t>reached </a:t>
            </a:r>
            <a:r>
              <a:rPr sz="1867" spc="-7" dirty="0">
                <a:latin typeface="Arial MT"/>
                <a:cs typeface="Arial MT"/>
              </a:rPr>
              <a:t>his destiny in 2.5 hr </a:t>
            </a:r>
            <a:r>
              <a:rPr sz="186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then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find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the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distance?</a:t>
            </a:r>
            <a:endParaRPr sz="1867">
              <a:latin typeface="Arial MT"/>
              <a:cs typeface="Arial MT"/>
            </a:endParaRPr>
          </a:p>
          <a:p>
            <a:pPr marL="16933" marR="228594">
              <a:lnSpc>
                <a:spcPts val="2200"/>
              </a:lnSpc>
            </a:pPr>
            <a:r>
              <a:rPr sz="1867" spc="-7" dirty="0">
                <a:latin typeface="Arial MT"/>
                <a:cs typeface="Arial MT"/>
              </a:rPr>
              <a:t>Answer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Choices: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(a)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53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km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(b)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55 </a:t>
            </a:r>
            <a:r>
              <a:rPr sz="1867" spc="-50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km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(c)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52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km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(d)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60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km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(e)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50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km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70343" y="3916560"/>
            <a:ext cx="3543300" cy="1159292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>
              <a:lnSpc>
                <a:spcPts val="2200"/>
              </a:lnSpc>
              <a:spcBef>
                <a:spcPts val="240"/>
              </a:spcBef>
            </a:pPr>
            <a:r>
              <a:rPr sz="1867" spc="-7" dirty="0">
                <a:latin typeface="Arial MT"/>
                <a:cs typeface="Arial MT"/>
              </a:rPr>
              <a:t>A: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867" b="1" spc="-27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distance</a:t>
            </a:r>
            <a:r>
              <a:rPr sz="1867" b="1" spc="-27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that</a:t>
            </a:r>
            <a:r>
              <a:rPr sz="1867" b="1" spc="-33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867" b="1" spc="-27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person </a:t>
            </a:r>
            <a:r>
              <a:rPr sz="1867" b="1" spc="-50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traveled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would have been 20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km/hr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*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2.5 hrs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=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50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km</a:t>
            </a:r>
            <a:r>
              <a:rPr sz="1867" dirty="0">
                <a:latin typeface="Arial MT"/>
                <a:cs typeface="Arial MT"/>
              </a:rPr>
              <a:t>. </a:t>
            </a:r>
            <a:r>
              <a:rPr sz="1867" spc="-7" dirty="0">
                <a:latin typeface="Arial MT"/>
                <a:cs typeface="Arial MT"/>
              </a:rPr>
              <a:t>The </a:t>
            </a:r>
            <a:r>
              <a:rPr sz="186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answer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is</a:t>
            </a:r>
            <a:r>
              <a:rPr sz="1867" dirty="0">
                <a:latin typeface="Arial MT"/>
                <a:cs typeface="Arial MT"/>
              </a:rPr>
              <a:t> </a:t>
            </a:r>
            <a:r>
              <a:rPr sz="1867" b="1" spc="-7" dirty="0">
                <a:solidFill>
                  <a:srgbClr val="A61B00"/>
                </a:solidFill>
                <a:latin typeface="Arial"/>
                <a:cs typeface="Arial"/>
              </a:rPr>
              <a:t>(e)</a:t>
            </a:r>
            <a:r>
              <a:rPr sz="1867" b="1" spc="-7" dirty="0">
                <a:latin typeface="Arial"/>
                <a:cs typeface="Arial"/>
              </a:rPr>
              <a:t>.</a:t>
            </a:r>
            <a:endParaRPr sz="1867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7" dirty="0"/>
              <a:t>Multiple</a:t>
            </a:r>
            <a:r>
              <a:rPr sz="4000" spc="-27" dirty="0"/>
              <a:t> </a:t>
            </a:r>
            <a:r>
              <a:rPr sz="4000" spc="-13" dirty="0"/>
              <a:t>Choice</a:t>
            </a:r>
            <a:r>
              <a:rPr sz="4000" spc="-27" dirty="0"/>
              <a:t> </a:t>
            </a:r>
            <a:r>
              <a:rPr sz="4000" dirty="0"/>
              <a:t>-</a:t>
            </a:r>
            <a:r>
              <a:rPr sz="4000" spc="-13" dirty="0"/>
              <a:t> </a:t>
            </a:r>
            <a:r>
              <a:rPr sz="4000" spc="-7" dirty="0"/>
              <a:t>Few-Shot</a:t>
            </a:r>
            <a:r>
              <a:rPr sz="4000" spc="-20" dirty="0"/>
              <a:t> </a:t>
            </a:r>
            <a:r>
              <a:rPr sz="4000" spc="-7" dirty="0"/>
              <a:t>CoT</a:t>
            </a:r>
            <a:r>
              <a:rPr sz="4000" spc="-100" dirty="0"/>
              <a:t> </a:t>
            </a:r>
            <a:r>
              <a:rPr sz="4000" spc="-7" dirty="0"/>
              <a:t>Prompt</a:t>
            </a:r>
            <a:r>
              <a:rPr sz="4000" spc="-20" dirty="0"/>
              <a:t> </a:t>
            </a:r>
            <a:r>
              <a:rPr sz="4000" spc="-7" dirty="0"/>
              <a:t>Exemplar</a:t>
            </a:r>
            <a:endParaRPr sz="400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29</a:t>
            </a:fld>
            <a:endParaRPr dirty="0"/>
          </a:p>
        </p:txBody>
      </p:sp>
      <p:grpSp>
        <p:nvGrpSpPr>
          <p:cNvPr id="9" name="object 9"/>
          <p:cNvGrpSpPr/>
          <p:nvPr/>
        </p:nvGrpSpPr>
        <p:grpSpPr>
          <a:xfrm>
            <a:off x="6551650" y="1343850"/>
            <a:ext cx="4764193" cy="4570305"/>
            <a:chOff x="4913737" y="1007887"/>
            <a:chExt cx="3573145" cy="3427729"/>
          </a:xfrm>
        </p:grpSpPr>
        <p:sp>
          <p:nvSpPr>
            <p:cNvPr id="10" name="object 10"/>
            <p:cNvSpPr/>
            <p:nvPr/>
          </p:nvSpPr>
          <p:spPr>
            <a:xfrm>
              <a:off x="4918500" y="1012650"/>
              <a:ext cx="3563620" cy="3418204"/>
            </a:xfrm>
            <a:custGeom>
              <a:avLst/>
              <a:gdLst/>
              <a:ahLst/>
              <a:cxnLst/>
              <a:rect l="l" t="t" r="r" b="b"/>
              <a:pathLst>
                <a:path w="3563620" h="3418204">
                  <a:moveTo>
                    <a:pt x="2993788" y="3417599"/>
                  </a:moveTo>
                  <a:lnTo>
                    <a:pt x="569611" y="3417599"/>
                  </a:lnTo>
                  <a:lnTo>
                    <a:pt x="520463" y="3415509"/>
                  </a:lnTo>
                  <a:lnTo>
                    <a:pt x="472475" y="3409350"/>
                  </a:lnTo>
                  <a:lnTo>
                    <a:pt x="425820" y="3399295"/>
                  </a:lnTo>
                  <a:lnTo>
                    <a:pt x="380668" y="3385514"/>
                  </a:lnTo>
                  <a:lnTo>
                    <a:pt x="337189" y="3368179"/>
                  </a:lnTo>
                  <a:lnTo>
                    <a:pt x="295555" y="3347460"/>
                  </a:lnTo>
                  <a:lnTo>
                    <a:pt x="255938" y="3323528"/>
                  </a:lnTo>
                  <a:lnTo>
                    <a:pt x="218507" y="3296554"/>
                  </a:lnTo>
                  <a:lnTo>
                    <a:pt x="183434" y="3266710"/>
                  </a:lnTo>
                  <a:lnTo>
                    <a:pt x="150889" y="3234165"/>
                  </a:lnTo>
                  <a:lnTo>
                    <a:pt x="121045" y="3199092"/>
                  </a:lnTo>
                  <a:lnTo>
                    <a:pt x="94071" y="3161661"/>
                  </a:lnTo>
                  <a:lnTo>
                    <a:pt x="70139" y="3122044"/>
                  </a:lnTo>
                  <a:lnTo>
                    <a:pt x="49420" y="3080410"/>
                  </a:lnTo>
                  <a:lnTo>
                    <a:pt x="32085" y="3036931"/>
                  </a:lnTo>
                  <a:lnTo>
                    <a:pt x="18304" y="2991779"/>
                  </a:lnTo>
                  <a:lnTo>
                    <a:pt x="8249" y="2945124"/>
                  </a:lnTo>
                  <a:lnTo>
                    <a:pt x="2090" y="2897136"/>
                  </a:lnTo>
                  <a:lnTo>
                    <a:pt x="0" y="2847988"/>
                  </a:lnTo>
                  <a:lnTo>
                    <a:pt x="0" y="569611"/>
                  </a:lnTo>
                  <a:lnTo>
                    <a:pt x="2090" y="520463"/>
                  </a:lnTo>
                  <a:lnTo>
                    <a:pt x="8249" y="472475"/>
                  </a:lnTo>
                  <a:lnTo>
                    <a:pt x="18304" y="425820"/>
                  </a:lnTo>
                  <a:lnTo>
                    <a:pt x="32085" y="380668"/>
                  </a:lnTo>
                  <a:lnTo>
                    <a:pt x="49420" y="337189"/>
                  </a:lnTo>
                  <a:lnTo>
                    <a:pt x="70139" y="295555"/>
                  </a:lnTo>
                  <a:lnTo>
                    <a:pt x="94071" y="255938"/>
                  </a:lnTo>
                  <a:lnTo>
                    <a:pt x="121045" y="218507"/>
                  </a:lnTo>
                  <a:lnTo>
                    <a:pt x="150889" y="183434"/>
                  </a:lnTo>
                  <a:lnTo>
                    <a:pt x="183434" y="150889"/>
                  </a:lnTo>
                  <a:lnTo>
                    <a:pt x="218507" y="121045"/>
                  </a:lnTo>
                  <a:lnTo>
                    <a:pt x="255938" y="94071"/>
                  </a:lnTo>
                  <a:lnTo>
                    <a:pt x="295555" y="70139"/>
                  </a:lnTo>
                  <a:lnTo>
                    <a:pt x="337189" y="49420"/>
                  </a:lnTo>
                  <a:lnTo>
                    <a:pt x="380668" y="32085"/>
                  </a:lnTo>
                  <a:lnTo>
                    <a:pt x="425820" y="18304"/>
                  </a:lnTo>
                  <a:lnTo>
                    <a:pt x="472475" y="8249"/>
                  </a:lnTo>
                  <a:lnTo>
                    <a:pt x="520463" y="2090"/>
                  </a:lnTo>
                  <a:lnTo>
                    <a:pt x="569611" y="0"/>
                  </a:lnTo>
                  <a:lnTo>
                    <a:pt x="2993788" y="0"/>
                  </a:lnTo>
                  <a:lnTo>
                    <a:pt x="3043872" y="2204"/>
                  </a:lnTo>
                  <a:lnTo>
                    <a:pt x="3093235" y="8745"/>
                  </a:lnTo>
                  <a:lnTo>
                    <a:pt x="3141615" y="19515"/>
                  </a:lnTo>
                  <a:lnTo>
                    <a:pt x="3188750" y="34403"/>
                  </a:lnTo>
                  <a:lnTo>
                    <a:pt x="3234378" y="53303"/>
                  </a:lnTo>
                  <a:lnTo>
                    <a:pt x="3278235" y="76104"/>
                  </a:lnTo>
                  <a:lnTo>
                    <a:pt x="3320061" y="102699"/>
                  </a:lnTo>
                  <a:lnTo>
                    <a:pt x="3359591" y="132979"/>
                  </a:lnTo>
                  <a:lnTo>
                    <a:pt x="3396564" y="166835"/>
                  </a:lnTo>
                  <a:lnTo>
                    <a:pt x="3430420" y="203808"/>
                  </a:lnTo>
                  <a:lnTo>
                    <a:pt x="3460700" y="243339"/>
                  </a:lnTo>
                  <a:lnTo>
                    <a:pt x="3487295" y="285164"/>
                  </a:lnTo>
                  <a:lnTo>
                    <a:pt x="3510096" y="329021"/>
                  </a:lnTo>
                  <a:lnTo>
                    <a:pt x="3528996" y="374649"/>
                  </a:lnTo>
                  <a:lnTo>
                    <a:pt x="3543884" y="421784"/>
                  </a:lnTo>
                  <a:lnTo>
                    <a:pt x="3554654" y="470164"/>
                  </a:lnTo>
                  <a:lnTo>
                    <a:pt x="3561195" y="519527"/>
                  </a:lnTo>
                  <a:lnTo>
                    <a:pt x="3563399" y="569611"/>
                  </a:lnTo>
                  <a:lnTo>
                    <a:pt x="3563399" y="2847988"/>
                  </a:lnTo>
                  <a:lnTo>
                    <a:pt x="3561309" y="2897136"/>
                  </a:lnTo>
                  <a:lnTo>
                    <a:pt x="3555150" y="2945124"/>
                  </a:lnTo>
                  <a:lnTo>
                    <a:pt x="3545095" y="2991779"/>
                  </a:lnTo>
                  <a:lnTo>
                    <a:pt x="3531314" y="3036931"/>
                  </a:lnTo>
                  <a:lnTo>
                    <a:pt x="3513979" y="3080410"/>
                  </a:lnTo>
                  <a:lnTo>
                    <a:pt x="3493260" y="3122044"/>
                  </a:lnTo>
                  <a:lnTo>
                    <a:pt x="3469328" y="3161661"/>
                  </a:lnTo>
                  <a:lnTo>
                    <a:pt x="3442354" y="3199092"/>
                  </a:lnTo>
                  <a:lnTo>
                    <a:pt x="3412510" y="3234165"/>
                  </a:lnTo>
                  <a:lnTo>
                    <a:pt x="3379965" y="3266710"/>
                  </a:lnTo>
                  <a:lnTo>
                    <a:pt x="3344892" y="3296554"/>
                  </a:lnTo>
                  <a:lnTo>
                    <a:pt x="3307461" y="3323528"/>
                  </a:lnTo>
                  <a:lnTo>
                    <a:pt x="3267843" y="3347460"/>
                  </a:lnTo>
                  <a:lnTo>
                    <a:pt x="3226210" y="3368179"/>
                  </a:lnTo>
                  <a:lnTo>
                    <a:pt x="3182731" y="3385514"/>
                  </a:lnTo>
                  <a:lnTo>
                    <a:pt x="3137579" y="3399295"/>
                  </a:lnTo>
                  <a:lnTo>
                    <a:pt x="3090923" y="3409350"/>
                  </a:lnTo>
                  <a:lnTo>
                    <a:pt x="3042936" y="3415509"/>
                  </a:lnTo>
                  <a:lnTo>
                    <a:pt x="2993788" y="3417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18500" y="1012650"/>
              <a:ext cx="3563620" cy="3418204"/>
            </a:xfrm>
            <a:custGeom>
              <a:avLst/>
              <a:gdLst/>
              <a:ahLst/>
              <a:cxnLst/>
              <a:rect l="l" t="t" r="r" b="b"/>
              <a:pathLst>
                <a:path w="3563620" h="3418204">
                  <a:moveTo>
                    <a:pt x="0" y="569611"/>
                  </a:moveTo>
                  <a:lnTo>
                    <a:pt x="2090" y="520463"/>
                  </a:lnTo>
                  <a:lnTo>
                    <a:pt x="8249" y="472475"/>
                  </a:lnTo>
                  <a:lnTo>
                    <a:pt x="18304" y="425820"/>
                  </a:lnTo>
                  <a:lnTo>
                    <a:pt x="32085" y="380668"/>
                  </a:lnTo>
                  <a:lnTo>
                    <a:pt x="49420" y="337189"/>
                  </a:lnTo>
                  <a:lnTo>
                    <a:pt x="70139" y="295555"/>
                  </a:lnTo>
                  <a:lnTo>
                    <a:pt x="94071" y="255938"/>
                  </a:lnTo>
                  <a:lnTo>
                    <a:pt x="121045" y="218507"/>
                  </a:lnTo>
                  <a:lnTo>
                    <a:pt x="150889" y="183434"/>
                  </a:lnTo>
                  <a:lnTo>
                    <a:pt x="183434" y="150889"/>
                  </a:lnTo>
                  <a:lnTo>
                    <a:pt x="218507" y="121045"/>
                  </a:lnTo>
                  <a:lnTo>
                    <a:pt x="255938" y="94071"/>
                  </a:lnTo>
                  <a:lnTo>
                    <a:pt x="295555" y="70139"/>
                  </a:lnTo>
                  <a:lnTo>
                    <a:pt x="337189" y="49420"/>
                  </a:lnTo>
                  <a:lnTo>
                    <a:pt x="380668" y="32085"/>
                  </a:lnTo>
                  <a:lnTo>
                    <a:pt x="425820" y="18304"/>
                  </a:lnTo>
                  <a:lnTo>
                    <a:pt x="472475" y="8249"/>
                  </a:lnTo>
                  <a:lnTo>
                    <a:pt x="520463" y="2090"/>
                  </a:lnTo>
                  <a:lnTo>
                    <a:pt x="569611" y="0"/>
                  </a:lnTo>
                  <a:lnTo>
                    <a:pt x="2993788" y="0"/>
                  </a:lnTo>
                  <a:lnTo>
                    <a:pt x="3043872" y="2204"/>
                  </a:lnTo>
                  <a:lnTo>
                    <a:pt x="3093235" y="8745"/>
                  </a:lnTo>
                  <a:lnTo>
                    <a:pt x="3141615" y="19515"/>
                  </a:lnTo>
                  <a:lnTo>
                    <a:pt x="3188750" y="34403"/>
                  </a:lnTo>
                  <a:lnTo>
                    <a:pt x="3234378" y="53303"/>
                  </a:lnTo>
                  <a:lnTo>
                    <a:pt x="3278235" y="76104"/>
                  </a:lnTo>
                  <a:lnTo>
                    <a:pt x="3320061" y="102699"/>
                  </a:lnTo>
                  <a:lnTo>
                    <a:pt x="3359591" y="132979"/>
                  </a:lnTo>
                  <a:lnTo>
                    <a:pt x="3396564" y="166835"/>
                  </a:lnTo>
                  <a:lnTo>
                    <a:pt x="3430420" y="203808"/>
                  </a:lnTo>
                  <a:lnTo>
                    <a:pt x="3460700" y="243339"/>
                  </a:lnTo>
                  <a:lnTo>
                    <a:pt x="3487295" y="285164"/>
                  </a:lnTo>
                  <a:lnTo>
                    <a:pt x="3510096" y="329021"/>
                  </a:lnTo>
                  <a:lnTo>
                    <a:pt x="3528996" y="374649"/>
                  </a:lnTo>
                  <a:lnTo>
                    <a:pt x="3543884" y="421784"/>
                  </a:lnTo>
                  <a:lnTo>
                    <a:pt x="3554654" y="470164"/>
                  </a:lnTo>
                  <a:lnTo>
                    <a:pt x="3561195" y="519527"/>
                  </a:lnTo>
                  <a:lnTo>
                    <a:pt x="3563399" y="569611"/>
                  </a:lnTo>
                  <a:lnTo>
                    <a:pt x="3563399" y="2847988"/>
                  </a:lnTo>
                  <a:lnTo>
                    <a:pt x="3561309" y="2897136"/>
                  </a:lnTo>
                  <a:lnTo>
                    <a:pt x="3555150" y="2945124"/>
                  </a:lnTo>
                  <a:lnTo>
                    <a:pt x="3545095" y="2991779"/>
                  </a:lnTo>
                  <a:lnTo>
                    <a:pt x="3531314" y="3036931"/>
                  </a:lnTo>
                  <a:lnTo>
                    <a:pt x="3513979" y="3080410"/>
                  </a:lnTo>
                  <a:lnTo>
                    <a:pt x="3493260" y="3122044"/>
                  </a:lnTo>
                  <a:lnTo>
                    <a:pt x="3469328" y="3161661"/>
                  </a:lnTo>
                  <a:lnTo>
                    <a:pt x="3442354" y="3199092"/>
                  </a:lnTo>
                  <a:lnTo>
                    <a:pt x="3412510" y="3234165"/>
                  </a:lnTo>
                  <a:lnTo>
                    <a:pt x="3379965" y="3266710"/>
                  </a:lnTo>
                  <a:lnTo>
                    <a:pt x="3344892" y="3296554"/>
                  </a:lnTo>
                  <a:lnTo>
                    <a:pt x="3307461" y="3323528"/>
                  </a:lnTo>
                  <a:lnTo>
                    <a:pt x="3267844" y="3347460"/>
                  </a:lnTo>
                  <a:lnTo>
                    <a:pt x="3226210" y="3368179"/>
                  </a:lnTo>
                  <a:lnTo>
                    <a:pt x="3182731" y="3385514"/>
                  </a:lnTo>
                  <a:lnTo>
                    <a:pt x="3137579" y="3399295"/>
                  </a:lnTo>
                  <a:lnTo>
                    <a:pt x="3090923" y="3409350"/>
                  </a:lnTo>
                  <a:lnTo>
                    <a:pt x="3042936" y="3415509"/>
                  </a:lnTo>
                  <a:lnTo>
                    <a:pt x="2993788" y="3417599"/>
                  </a:lnTo>
                  <a:lnTo>
                    <a:pt x="569611" y="3417599"/>
                  </a:lnTo>
                  <a:lnTo>
                    <a:pt x="520463" y="3415509"/>
                  </a:lnTo>
                  <a:lnTo>
                    <a:pt x="472475" y="3409350"/>
                  </a:lnTo>
                  <a:lnTo>
                    <a:pt x="425820" y="3399295"/>
                  </a:lnTo>
                  <a:lnTo>
                    <a:pt x="380668" y="3385514"/>
                  </a:lnTo>
                  <a:lnTo>
                    <a:pt x="337189" y="3368179"/>
                  </a:lnTo>
                  <a:lnTo>
                    <a:pt x="295555" y="3347460"/>
                  </a:lnTo>
                  <a:lnTo>
                    <a:pt x="255938" y="3323528"/>
                  </a:lnTo>
                  <a:lnTo>
                    <a:pt x="218507" y="3296554"/>
                  </a:lnTo>
                  <a:lnTo>
                    <a:pt x="183434" y="3266710"/>
                  </a:lnTo>
                  <a:lnTo>
                    <a:pt x="150889" y="3234165"/>
                  </a:lnTo>
                  <a:lnTo>
                    <a:pt x="121045" y="3199092"/>
                  </a:lnTo>
                  <a:lnTo>
                    <a:pt x="94071" y="3161661"/>
                  </a:lnTo>
                  <a:lnTo>
                    <a:pt x="70139" y="3122044"/>
                  </a:lnTo>
                  <a:lnTo>
                    <a:pt x="49420" y="3080410"/>
                  </a:lnTo>
                  <a:lnTo>
                    <a:pt x="32085" y="3036931"/>
                  </a:lnTo>
                  <a:lnTo>
                    <a:pt x="18304" y="2991779"/>
                  </a:lnTo>
                  <a:lnTo>
                    <a:pt x="8249" y="2945124"/>
                  </a:lnTo>
                  <a:lnTo>
                    <a:pt x="2090" y="2897136"/>
                  </a:lnTo>
                  <a:lnTo>
                    <a:pt x="0" y="2847988"/>
                  </a:lnTo>
                  <a:lnTo>
                    <a:pt x="0" y="569611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041294" y="1660529"/>
            <a:ext cx="178562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b="1" dirty="0">
                <a:latin typeface="Arial"/>
                <a:cs typeface="Arial"/>
              </a:rPr>
              <a:t>Multiple</a:t>
            </a:r>
            <a:r>
              <a:rPr sz="1867" b="1" spc="-107" dirty="0">
                <a:latin typeface="Arial"/>
                <a:cs typeface="Arial"/>
              </a:rPr>
              <a:t> </a:t>
            </a:r>
            <a:r>
              <a:rPr sz="1867" b="1" spc="-7" dirty="0">
                <a:latin typeface="Arial"/>
                <a:cs typeface="Arial"/>
              </a:rPr>
              <a:t>Choice</a:t>
            </a:r>
            <a:endParaRPr sz="1867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77811" y="2219329"/>
            <a:ext cx="4053840" cy="1159292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>
              <a:lnSpc>
                <a:spcPts val="2200"/>
              </a:lnSpc>
              <a:spcBef>
                <a:spcPts val="240"/>
              </a:spcBef>
            </a:pPr>
            <a:r>
              <a:rPr sz="1867" spc="-7" dirty="0">
                <a:latin typeface="Arial MT"/>
                <a:cs typeface="Arial MT"/>
              </a:rPr>
              <a:t>Q:</a:t>
            </a:r>
            <a:r>
              <a:rPr sz="186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If </a:t>
            </a:r>
            <a:r>
              <a:rPr sz="1867" dirty="0">
                <a:latin typeface="Arial MT"/>
                <a:cs typeface="Arial MT"/>
              </a:rPr>
              <a:t>a / b = </a:t>
            </a:r>
            <a:r>
              <a:rPr sz="1867" spc="-7" dirty="0">
                <a:latin typeface="Arial MT"/>
                <a:cs typeface="Arial MT"/>
              </a:rPr>
              <a:t>3/4 and 8a </a:t>
            </a:r>
            <a:r>
              <a:rPr sz="1867" dirty="0">
                <a:latin typeface="Arial MT"/>
                <a:cs typeface="Arial MT"/>
              </a:rPr>
              <a:t>+ </a:t>
            </a:r>
            <a:r>
              <a:rPr sz="1867" spc="-7" dirty="0">
                <a:latin typeface="Arial MT"/>
                <a:cs typeface="Arial MT"/>
              </a:rPr>
              <a:t>5b </a:t>
            </a:r>
            <a:r>
              <a:rPr sz="1867" dirty="0">
                <a:latin typeface="Arial MT"/>
                <a:cs typeface="Arial MT"/>
              </a:rPr>
              <a:t>= </a:t>
            </a:r>
            <a:r>
              <a:rPr sz="1867" spc="-7" dirty="0">
                <a:latin typeface="Arial MT"/>
                <a:cs typeface="Arial MT"/>
              </a:rPr>
              <a:t>22,then </a:t>
            </a:r>
            <a:r>
              <a:rPr sz="1867" spc="-50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find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the </a:t>
            </a:r>
            <a:r>
              <a:rPr sz="1867" dirty="0">
                <a:latin typeface="Arial MT"/>
                <a:cs typeface="Arial MT"/>
              </a:rPr>
              <a:t>value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of a.</a:t>
            </a:r>
            <a:endParaRPr sz="1867">
              <a:latin typeface="Arial MT"/>
              <a:cs typeface="Arial MT"/>
            </a:endParaRPr>
          </a:p>
          <a:p>
            <a:pPr marL="16933" marR="12700">
              <a:lnSpc>
                <a:spcPts val="2200"/>
              </a:lnSpc>
            </a:pPr>
            <a:r>
              <a:rPr sz="1867" spc="-7" dirty="0">
                <a:latin typeface="Arial MT"/>
                <a:cs typeface="Arial MT"/>
              </a:rPr>
              <a:t>Answer Choices: </a:t>
            </a:r>
            <a:r>
              <a:rPr sz="1867" dirty="0">
                <a:latin typeface="Arial MT"/>
                <a:cs typeface="Arial MT"/>
              </a:rPr>
              <a:t>(a) </a:t>
            </a:r>
            <a:r>
              <a:rPr sz="1867" spc="-7" dirty="0">
                <a:latin typeface="Arial MT"/>
                <a:cs typeface="Arial MT"/>
              </a:rPr>
              <a:t>1/2 </a:t>
            </a:r>
            <a:r>
              <a:rPr sz="1867" dirty="0">
                <a:latin typeface="Arial MT"/>
                <a:cs typeface="Arial MT"/>
              </a:rPr>
              <a:t>(b) </a:t>
            </a:r>
            <a:r>
              <a:rPr sz="1867" spc="-7" dirty="0">
                <a:latin typeface="Arial MT"/>
                <a:cs typeface="Arial MT"/>
              </a:rPr>
              <a:t>3/2 </a:t>
            </a:r>
            <a:r>
              <a:rPr sz="1867" dirty="0">
                <a:latin typeface="Arial MT"/>
                <a:cs typeface="Arial MT"/>
              </a:rPr>
              <a:t>(c) </a:t>
            </a:r>
            <a:r>
              <a:rPr sz="1867" spc="-7" dirty="0">
                <a:latin typeface="Arial MT"/>
                <a:cs typeface="Arial MT"/>
              </a:rPr>
              <a:t>5/2 </a:t>
            </a:r>
            <a:r>
              <a:rPr sz="1867" spc="-50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(d)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4/2 </a:t>
            </a:r>
            <a:r>
              <a:rPr sz="1867" dirty="0">
                <a:latin typeface="Arial MT"/>
                <a:cs typeface="Arial MT"/>
              </a:rPr>
              <a:t>(e)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7/2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77811" y="3616328"/>
            <a:ext cx="4047067" cy="14414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>
              <a:lnSpc>
                <a:spcPts val="2200"/>
              </a:lnSpc>
              <a:spcBef>
                <a:spcPts val="240"/>
              </a:spcBef>
            </a:pPr>
            <a:r>
              <a:rPr sz="1867" spc="-7" dirty="0">
                <a:latin typeface="Arial MT"/>
                <a:cs typeface="Arial MT"/>
              </a:rPr>
              <a:t>A:</a:t>
            </a:r>
            <a:r>
              <a:rPr sz="1867" spc="500" dirty="0">
                <a:latin typeface="Arial MT"/>
                <a:cs typeface="Arial MT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If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a / b =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3/4,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then b =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4a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/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3. So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8a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+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5(4a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/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3)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=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22. This simplifies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to </a:t>
            </a:r>
            <a:r>
              <a:rPr sz="1867" b="1" spc="-50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8a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+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20a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/ 3 =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22, which means 44a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/ </a:t>
            </a:r>
            <a:r>
              <a:rPr sz="1867" b="1" spc="-50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3 =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22. So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a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is equal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to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3/2. </a:t>
            </a:r>
            <a:r>
              <a:rPr sz="1867" spc="-7" dirty="0">
                <a:latin typeface="Arial MT"/>
                <a:cs typeface="Arial MT"/>
              </a:rPr>
              <a:t>The </a:t>
            </a:r>
            <a:r>
              <a:rPr sz="186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answer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is</a:t>
            </a:r>
            <a:r>
              <a:rPr sz="1867" dirty="0">
                <a:latin typeface="Arial MT"/>
                <a:cs typeface="Arial MT"/>
              </a:rPr>
              <a:t> </a:t>
            </a:r>
            <a:r>
              <a:rPr sz="1867" b="1" spc="-7" dirty="0">
                <a:solidFill>
                  <a:srgbClr val="A61B00"/>
                </a:solidFill>
                <a:latin typeface="Arial"/>
                <a:cs typeface="Arial"/>
              </a:rPr>
              <a:t>(b)</a:t>
            </a:r>
            <a:r>
              <a:rPr sz="1867" b="1" spc="-7" dirty="0">
                <a:latin typeface="Arial"/>
                <a:cs typeface="Arial"/>
              </a:rPr>
              <a:t>.</a:t>
            </a:r>
            <a:endParaRPr sz="1867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25833" y="6129951"/>
            <a:ext cx="359410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Times New Roman"/>
                <a:cs typeface="Times New Roman"/>
              </a:rPr>
              <a:t>The</a:t>
            </a:r>
            <a:r>
              <a:rPr sz="1867" spc="-40" dirty="0">
                <a:latin typeface="Times New Roman"/>
                <a:cs typeface="Times New Roman"/>
              </a:rPr>
              <a:t> </a:t>
            </a:r>
            <a:r>
              <a:rPr sz="1867" spc="-7" dirty="0">
                <a:latin typeface="Times New Roman"/>
                <a:cs typeface="Times New Roman"/>
              </a:rPr>
              <a:t>exemplars</a:t>
            </a:r>
            <a:r>
              <a:rPr sz="1867" spc="-33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Times New Roman"/>
                <a:cs typeface="Times New Roman"/>
              </a:rPr>
              <a:t>have </a:t>
            </a:r>
            <a:r>
              <a:rPr sz="1867" b="1" dirty="0">
                <a:latin typeface="Times New Roman"/>
                <a:cs typeface="Times New Roman"/>
              </a:rPr>
              <a:t>various</a:t>
            </a:r>
            <a:r>
              <a:rPr sz="1867" b="1" spc="-33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Times New Roman"/>
                <a:cs typeface="Times New Roman"/>
              </a:rPr>
              <a:t>formats.</a:t>
            </a:r>
            <a:endParaRPr sz="1867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7" dirty="0"/>
              <a:t>Multiple</a:t>
            </a:r>
            <a:r>
              <a:rPr sz="4000" spc="-27" dirty="0"/>
              <a:t> </a:t>
            </a:r>
            <a:r>
              <a:rPr sz="4000" spc="-13" dirty="0"/>
              <a:t>Choice</a:t>
            </a:r>
            <a:r>
              <a:rPr sz="4000" spc="-27" dirty="0"/>
              <a:t> </a:t>
            </a:r>
            <a:r>
              <a:rPr sz="4000" dirty="0"/>
              <a:t>-</a:t>
            </a:r>
            <a:r>
              <a:rPr sz="4000" spc="-13" dirty="0"/>
              <a:t> </a:t>
            </a:r>
            <a:r>
              <a:rPr sz="4000" spc="-7" dirty="0"/>
              <a:t>Few-Shot</a:t>
            </a:r>
            <a:r>
              <a:rPr sz="4000" spc="-20" dirty="0"/>
              <a:t> </a:t>
            </a:r>
            <a:r>
              <a:rPr sz="4000" spc="-7" dirty="0"/>
              <a:t>CoT</a:t>
            </a:r>
            <a:r>
              <a:rPr sz="4000" spc="-100" dirty="0"/>
              <a:t> </a:t>
            </a:r>
            <a:r>
              <a:rPr sz="4000" spc="-7" dirty="0"/>
              <a:t>Prompt</a:t>
            </a:r>
            <a:r>
              <a:rPr sz="4000" spc="-20" dirty="0"/>
              <a:t> </a:t>
            </a:r>
            <a:r>
              <a:rPr sz="4000" spc="-7" dirty="0"/>
              <a:t>Exemplar</a:t>
            </a:r>
            <a:endParaRPr sz="40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30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158958" y="1902484"/>
            <a:ext cx="4765887" cy="178713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64808" marR="6773" indent="-448722">
              <a:spcBef>
                <a:spcPts val="133"/>
              </a:spcBef>
              <a:buFont typeface="Arial MT"/>
              <a:buChar char="●"/>
              <a:tabLst>
                <a:tab pos="463962" algn="l"/>
                <a:tab pos="465655" algn="l"/>
              </a:tabLst>
            </a:pPr>
            <a:r>
              <a:rPr sz="1867" dirty="0">
                <a:latin typeface="Times New Roman"/>
                <a:cs typeface="Times New Roman"/>
              </a:rPr>
              <a:t>4 </a:t>
            </a:r>
            <a:r>
              <a:rPr sz="1867" spc="-7" dirty="0">
                <a:latin typeface="Times New Roman"/>
                <a:cs typeface="Times New Roman"/>
              </a:rPr>
              <a:t>exemplars, whose </a:t>
            </a:r>
            <a:r>
              <a:rPr sz="1867" dirty="0">
                <a:latin typeface="Times New Roman"/>
                <a:cs typeface="Times New Roman"/>
              </a:rPr>
              <a:t>questions, </a:t>
            </a:r>
            <a:r>
              <a:rPr sz="1867" spc="-7" dirty="0">
                <a:latin typeface="Times New Roman"/>
                <a:cs typeface="Times New Roman"/>
              </a:rPr>
              <a:t>intermediate </a:t>
            </a:r>
            <a:r>
              <a:rPr sz="1867" dirty="0">
                <a:latin typeface="Times New Roman"/>
                <a:cs typeface="Times New Roman"/>
              </a:rPr>
              <a:t> reasoning,</a:t>
            </a:r>
            <a:r>
              <a:rPr sz="1867" spc="-20" dirty="0">
                <a:latin typeface="Times New Roman"/>
                <a:cs typeface="Times New Roman"/>
              </a:rPr>
              <a:t> </a:t>
            </a:r>
            <a:r>
              <a:rPr sz="1867" spc="-7" dirty="0">
                <a:latin typeface="Times New Roman"/>
                <a:cs typeface="Times New Roman"/>
              </a:rPr>
              <a:t>and</a:t>
            </a:r>
            <a:r>
              <a:rPr sz="1867" spc="-27" dirty="0">
                <a:latin typeface="Times New Roman"/>
                <a:cs typeface="Times New Roman"/>
              </a:rPr>
              <a:t> </a:t>
            </a:r>
            <a:r>
              <a:rPr sz="1867" spc="-7" dirty="0">
                <a:latin typeface="Times New Roman"/>
                <a:cs typeface="Times New Roman"/>
              </a:rPr>
              <a:t>answers</a:t>
            </a:r>
            <a:r>
              <a:rPr sz="1867" spc="-27" dirty="0">
                <a:latin typeface="Times New Roman"/>
                <a:cs typeface="Times New Roman"/>
              </a:rPr>
              <a:t> </a:t>
            </a:r>
            <a:r>
              <a:rPr sz="1867" spc="-7" dirty="0">
                <a:latin typeface="Times New Roman"/>
                <a:cs typeface="Times New Roman"/>
              </a:rPr>
              <a:t>are</a:t>
            </a:r>
            <a:r>
              <a:rPr sz="1867" spc="-20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Times New Roman"/>
                <a:cs typeface="Times New Roman"/>
              </a:rPr>
              <a:t>from</a:t>
            </a:r>
            <a:r>
              <a:rPr sz="1867" spc="7" dirty="0">
                <a:latin typeface="Times New Roman"/>
                <a:cs typeface="Times New Roman"/>
              </a:rPr>
              <a:t> </a:t>
            </a:r>
            <a:r>
              <a:rPr sz="1867" b="1" dirty="0">
                <a:latin typeface="Times New Roman"/>
                <a:cs typeface="Times New Roman"/>
              </a:rPr>
              <a:t>training</a:t>
            </a:r>
            <a:r>
              <a:rPr sz="1867" b="1" spc="-20" dirty="0">
                <a:latin typeface="Times New Roman"/>
                <a:cs typeface="Times New Roman"/>
              </a:rPr>
              <a:t> </a:t>
            </a:r>
            <a:r>
              <a:rPr sz="1867" b="1" spc="-7" dirty="0">
                <a:latin typeface="Times New Roman"/>
                <a:cs typeface="Times New Roman"/>
              </a:rPr>
              <a:t>set</a:t>
            </a:r>
            <a:endParaRPr sz="1867">
              <a:latin typeface="Times New Roman"/>
              <a:cs typeface="Times New Roman"/>
            </a:endParaRPr>
          </a:p>
          <a:p>
            <a:pPr marL="464808" indent="-448722">
              <a:spcBef>
                <a:spcPts val="1333"/>
              </a:spcBef>
              <a:buFont typeface="Arial MT"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latin typeface="Times New Roman"/>
                <a:cs typeface="Times New Roman"/>
              </a:rPr>
              <a:t>Exemplars</a:t>
            </a:r>
            <a:r>
              <a:rPr sz="1867" spc="-40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Times New Roman"/>
                <a:cs typeface="Times New Roman"/>
              </a:rPr>
              <a:t>have</a:t>
            </a:r>
            <a:r>
              <a:rPr sz="1867" spc="-27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Times New Roman"/>
                <a:cs typeface="Times New Roman"/>
              </a:rPr>
              <a:t>flexible</a:t>
            </a:r>
            <a:r>
              <a:rPr sz="1867" spc="-33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Times New Roman"/>
                <a:cs typeface="Times New Roman"/>
              </a:rPr>
              <a:t>formats</a:t>
            </a:r>
            <a:endParaRPr sz="1867">
              <a:latin typeface="Times New Roman"/>
              <a:cs typeface="Times New Roman"/>
            </a:endParaRPr>
          </a:p>
          <a:p>
            <a:pPr marL="464808" marR="186262" indent="-448722">
              <a:spcBef>
                <a:spcPts val="1333"/>
              </a:spcBef>
              <a:buFont typeface="Arial MT"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latin typeface="Times New Roman"/>
                <a:cs typeface="Times New Roman"/>
              </a:rPr>
              <a:t>Benchmarked </a:t>
            </a:r>
            <a:r>
              <a:rPr sz="1867" dirty="0">
                <a:latin typeface="Times New Roman"/>
                <a:cs typeface="Times New Roman"/>
              </a:rPr>
              <a:t>on </a:t>
            </a:r>
            <a:r>
              <a:rPr sz="1867" b="1" spc="-27" dirty="0">
                <a:latin typeface="Times New Roman"/>
                <a:cs typeface="Times New Roman"/>
              </a:rPr>
              <a:t>AQuA-RAT </a:t>
            </a:r>
            <a:r>
              <a:rPr sz="1867" b="1" dirty="0">
                <a:latin typeface="Times New Roman"/>
                <a:cs typeface="Times New Roman"/>
              </a:rPr>
              <a:t>(Ling </a:t>
            </a:r>
            <a:r>
              <a:rPr sz="1867" b="1" spc="-7" dirty="0">
                <a:latin typeface="Times New Roman"/>
                <a:cs typeface="Times New Roman"/>
              </a:rPr>
              <a:t>et </a:t>
            </a:r>
            <a:r>
              <a:rPr sz="1867" b="1" dirty="0">
                <a:latin typeface="Times New Roman"/>
                <a:cs typeface="Times New Roman"/>
              </a:rPr>
              <a:t>al., </a:t>
            </a:r>
            <a:r>
              <a:rPr sz="1867" b="1" spc="-447" dirty="0">
                <a:latin typeface="Times New Roman"/>
                <a:cs typeface="Times New Roman"/>
              </a:rPr>
              <a:t> </a:t>
            </a:r>
            <a:r>
              <a:rPr sz="1867" b="1" dirty="0">
                <a:latin typeface="Times New Roman"/>
                <a:cs typeface="Times New Roman"/>
              </a:rPr>
              <a:t>2017)</a:t>
            </a:r>
            <a:endParaRPr sz="1867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47950" y="1368450"/>
            <a:ext cx="4492413" cy="4570305"/>
            <a:chOff x="785962" y="1026337"/>
            <a:chExt cx="3369310" cy="3427729"/>
          </a:xfrm>
        </p:grpSpPr>
        <p:sp>
          <p:nvSpPr>
            <p:cNvPr id="5" name="object 5"/>
            <p:cNvSpPr/>
            <p:nvPr/>
          </p:nvSpPr>
          <p:spPr>
            <a:xfrm>
              <a:off x="790724" y="1031099"/>
              <a:ext cx="3359785" cy="3418204"/>
            </a:xfrm>
            <a:custGeom>
              <a:avLst/>
              <a:gdLst/>
              <a:ahLst/>
              <a:cxnLst/>
              <a:rect l="l" t="t" r="r" b="b"/>
              <a:pathLst>
                <a:path w="3359785" h="3418204">
                  <a:moveTo>
                    <a:pt x="2799738" y="3417599"/>
                  </a:moveTo>
                  <a:lnTo>
                    <a:pt x="559961" y="3417599"/>
                  </a:lnTo>
                  <a:lnTo>
                    <a:pt x="511645" y="3415544"/>
                  </a:lnTo>
                  <a:lnTo>
                    <a:pt x="464471" y="3409490"/>
                  </a:lnTo>
                  <a:lnTo>
                    <a:pt x="418606" y="3399605"/>
                  </a:lnTo>
                  <a:lnTo>
                    <a:pt x="374218" y="3386058"/>
                  </a:lnTo>
                  <a:lnTo>
                    <a:pt x="331477" y="3369016"/>
                  </a:lnTo>
                  <a:lnTo>
                    <a:pt x="290548" y="3348648"/>
                  </a:lnTo>
                  <a:lnTo>
                    <a:pt x="251602" y="3325121"/>
                  </a:lnTo>
                  <a:lnTo>
                    <a:pt x="214805" y="3298605"/>
                  </a:lnTo>
                  <a:lnTo>
                    <a:pt x="180326" y="3269266"/>
                  </a:lnTo>
                  <a:lnTo>
                    <a:pt x="148333" y="3237273"/>
                  </a:lnTo>
                  <a:lnTo>
                    <a:pt x="118994" y="3202794"/>
                  </a:lnTo>
                  <a:lnTo>
                    <a:pt x="92478" y="3165997"/>
                  </a:lnTo>
                  <a:lnTo>
                    <a:pt x="68951" y="3127051"/>
                  </a:lnTo>
                  <a:lnTo>
                    <a:pt x="48583" y="3086123"/>
                  </a:lnTo>
                  <a:lnTo>
                    <a:pt x="31541" y="3043381"/>
                  </a:lnTo>
                  <a:lnTo>
                    <a:pt x="17994" y="2998993"/>
                  </a:lnTo>
                  <a:lnTo>
                    <a:pt x="8109" y="2953128"/>
                  </a:lnTo>
                  <a:lnTo>
                    <a:pt x="2055" y="2905954"/>
                  </a:lnTo>
                  <a:lnTo>
                    <a:pt x="0" y="2857638"/>
                  </a:lnTo>
                  <a:lnTo>
                    <a:pt x="0" y="559961"/>
                  </a:lnTo>
                  <a:lnTo>
                    <a:pt x="2055" y="511645"/>
                  </a:lnTo>
                  <a:lnTo>
                    <a:pt x="8109" y="464471"/>
                  </a:lnTo>
                  <a:lnTo>
                    <a:pt x="17994" y="418606"/>
                  </a:lnTo>
                  <a:lnTo>
                    <a:pt x="31541" y="374218"/>
                  </a:lnTo>
                  <a:lnTo>
                    <a:pt x="48583" y="331477"/>
                  </a:lnTo>
                  <a:lnTo>
                    <a:pt x="68951" y="290548"/>
                  </a:lnTo>
                  <a:lnTo>
                    <a:pt x="92478" y="251602"/>
                  </a:lnTo>
                  <a:lnTo>
                    <a:pt x="118994" y="214805"/>
                  </a:lnTo>
                  <a:lnTo>
                    <a:pt x="148333" y="180326"/>
                  </a:lnTo>
                  <a:lnTo>
                    <a:pt x="180326" y="148333"/>
                  </a:lnTo>
                  <a:lnTo>
                    <a:pt x="214805" y="118994"/>
                  </a:lnTo>
                  <a:lnTo>
                    <a:pt x="251602" y="92478"/>
                  </a:lnTo>
                  <a:lnTo>
                    <a:pt x="290548" y="68951"/>
                  </a:lnTo>
                  <a:lnTo>
                    <a:pt x="331477" y="48583"/>
                  </a:lnTo>
                  <a:lnTo>
                    <a:pt x="374218" y="31541"/>
                  </a:lnTo>
                  <a:lnTo>
                    <a:pt x="418606" y="17994"/>
                  </a:lnTo>
                  <a:lnTo>
                    <a:pt x="464471" y="8109"/>
                  </a:lnTo>
                  <a:lnTo>
                    <a:pt x="511645" y="2055"/>
                  </a:lnTo>
                  <a:lnTo>
                    <a:pt x="559961" y="0"/>
                  </a:lnTo>
                  <a:lnTo>
                    <a:pt x="2799738" y="0"/>
                  </a:lnTo>
                  <a:lnTo>
                    <a:pt x="2848974" y="2167"/>
                  </a:lnTo>
                  <a:lnTo>
                    <a:pt x="2897500" y="8597"/>
                  </a:lnTo>
                  <a:lnTo>
                    <a:pt x="2945061" y="19184"/>
                  </a:lnTo>
                  <a:lnTo>
                    <a:pt x="2991397" y="33821"/>
                  </a:lnTo>
                  <a:lnTo>
                    <a:pt x="3036252" y="52400"/>
                  </a:lnTo>
                  <a:lnTo>
                    <a:pt x="3079366" y="74815"/>
                  </a:lnTo>
                  <a:lnTo>
                    <a:pt x="3120483" y="100959"/>
                  </a:lnTo>
                  <a:lnTo>
                    <a:pt x="3159343" y="130726"/>
                  </a:lnTo>
                  <a:lnTo>
                    <a:pt x="3195690" y="164008"/>
                  </a:lnTo>
                  <a:lnTo>
                    <a:pt x="3228973" y="200356"/>
                  </a:lnTo>
                  <a:lnTo>
                    <a:pt x="3258739" y="239216"/>
                  </a:lnTo>
                  <a:lnTo>
                    <a:pt x="3284884" y="280333"/>
                  </a:lnTo>
                  <a:lnTo>
                    <a:pt x="3307299" y="323447"/>
                  </a:lnTo>
                  <a:lnTo>
                    <a:pt x="3325878" y="368301"/>
                  </a:lnTo>
                  <a:lnTo>
                    <a:pt x="3340515" y="414638"/>
                  </a:lnTo>
                  <a:lnTo>
                    <a:pt x="3351102" y="462198"/>
                  </a:lnTo>
                  <a:lnTo>
                    <a:pt x="3357532" y="510725"/>
                  </a:lnTo>
                  <a:lnTo>
                    <a:pt x="3359699" y="559961"/>
                  </a:lnTo>
                  <a:lnTo>
                    <a:pt x="3359699" y="2857638"/>
                  </a:lnTo>
                  <a:lnTo>
                    <a:pt x="3357644" y="2905954"/>
                  </a:lnTo>
                  <a:lnTo>
                    <a:pt x="3351590" y="2953128"/>
                  </a:lnTo>
                  <a:lnTo>
                    <a:pt x="3341705" y="2998993"/>
                  </a:lnTo>
                  <a:lnTo>
                    <a:pt x="3328158" y="3043381"/>
                  </a:lnTo>
                  <a:lnTo>
                    <a:pt x="3311116" y="3086123"/>
                  </a:lnTo>
                  <a:lnTo>
                    <a:pt x="3290748" y="3127051"/>
                  </a:lnTo>
                  <a:lnTo>
                    <a:pt x="3267221" y="3165997"/>
                  </a:lnTo>
                  <a:lnTo>
                    <a:pt x="3240705" y="3202794"/>
                  </a:lnTo>
                  <a:lnTo>
                    <a:pt x="3211366" y="3237273"/>
                  </a:lnTo>
                  <a:lnTo>
                    <a:pt x="3179373" y="3269266"/>
                  </a:lnTo>
                  <a:lnTo>
                    <a:pt x="3144894" y="3298605"/>
                  </a:lnTo>
                  <a:lnTo>
                    <a:pt x="3108097" y="3325121"/>
                  </a:lnTo>
                  <a:lnTo>
                    <a:pt x="3069151" y="3348648"/>
                  </a:lnTo>
                  <a:lnTo>
                    <a:pt x="3028223" y="3369016"/>
                  </a:lnTo>
                  <a:lnTo>
                    <a:pt x="2985481" y="3386058"/>
                  </a:lnTo>
                  <a:lnTo>
                    <a:pt x="2941093" y="3399605"/>
                  </a:lnTo>
                  <a:lnTo>
                    <a:pt x="2895228" y="3409490"/>
                  </a:lnTo>
                  <a:lnTo>
                    <a:pt x="2848054" y="3415544"/>
                  </a:lnTo>
                  <a:lnTo>
                    <a:pt x="2799738" y="3417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90724" y="1031099"/>
              <a:ext cx="3359785" cy="3418204"/>
            </a:xfrm>
            <a:custGeom>
              <a:avLst/>
              <a:gdLst/>
              <a:ahLst/>
              <a:cxnLst/>
              <a:rect l="l" t="t" r="r" b="b"/>
              <a:pathLst>
                <a:path w="3359785" h="3418204">
                  <a:moveTo>
                    <a:pt x="0" y="559961"/>
                  </a:moveTo>
                  <a:lnTo>
                    <a:pt x="2055" y="511645"/>
                  </a:lnTo>
                  <a:lnTo>
                    <a:pt x="8109" y="464471"/>
                  </a:lnTo>
                  <a:lnTo>
                    <a:pt x="17994" y="418606"/>
                  </a:lnTo>
                  <a:lnTo>
                    <a:pt x="31541" y="374218"/>
                  </a:lnTo>
                  <a:lnTo>
                    <a:pt x="48583" y="331477"/>
                  </a:lnTo>
                  <a:lnTo>
                    <a:pt x="68951" y="290548"/>
                  </a:lnTo>
                  <a:lnTo>
                    <a:pt x="92478" y="251602"/>
                  </a:lnTo>
                  <a:lnTo>
                    <a:pt x="118994" y="214805"/>
                  </a:lnTo>
                  <a:lnTo>
                    <a:pt x="148333" y="180326"/>
                  </a:lnTo>
                  <a:lnTo>
                    <a:pt x="180326" y="148333"/>
                  </a:lnTo>
                  <a:lnTo>
                    <a:pt x="214805" y="118994"/>
                  </a:lnTo>
                  <a:lnTo>
                    <a:pt x="251602" y="92478"/>
                  </a:lnTo>
                  <a:lnTo>
                    <a:pt x="290548" y="68951"/>
                  </a:lnTo>
                  <a:lnTo>
                    <a:pt x="331477" y="48583"/>
                  </a:lnTo>
                  <a:lnTo>
                    <a:pt x="374218" y="31541"/>
                  </a:lnTo>
                  <a:lnTo>
                    <a:pt x="418606" y="17994"/>
                  </a:lnTo>
                  <a:lnTo>
                    <a:pt x="464471" y="8109"/>
                  </a:lnTo>
                  <a:lnTo>
                    <a:pt x="511645" y="2055"/>
                  </a:lnTo>
                  <a:lnTo>
                    <a:pt x="559961" y="0"/>
                  </a:lnTo>
                  <a:lnTo>
                    <a:pt x="2799738" y="0"/>
                  </a:lnTo>
                  <a:lnTo>
                    <a:pt x="2848974" y="2167"/>
                  </a:lnTo>
                  <a:lnTo>
                    <a:pt x="2897500" y="8597"/>
                  </a:lnTo>
                  <a:lnTo>
                    <a:pt x="2945061" y="19184"/>
                  </a:lnTo>
                  <a:lnTo>
                    <a:pt x="2991397" y="33821"/>
                  </a:lnTo>
                  <a:lnTo>
                    <a:pt x="3036252" y="52400"/>
                  </a:lnTo>
                  <a:lnTo>
                    <a:pt x="3079366" y="74815"/>
                  </a:lnTo>
                  <a:lnTo>
                    <a:pt x="3120483" y="100959"/>
                  </a:lnTo>
                  <a:lnTo>
                    <a:pt x="3159343" y="130726"/>
                  </a:lnTo>
                  <a:lnTo>
                    <a:pt x="3195690" y="164008"/>
                  </a:lnTo>
                  <a:lnTo>
                    <a:pt x="3228973" y="200356"/>
                  </a:lnTo>
                  <a:lnTo>
                    <a:pt x="3258739" y="239216"/>
                  </a:lnTo>
                  <a:lnTo>
                    <a:pt x="3284884" y="280333"/>
                  </a:lnTo>
                  <a:lnTo>
                    <a:pt x="3307299" y="323447"/>
                  </a:lnTo>
                  <a:lnTo>
                    <a:pt x="3325878" y="368301"/>
                  </a:lnTo>
                  <a:lnTo>
                    <a:pt x="3340515" y="414638"/>
                  </a:lnTo>
                  <a:lnTo>
                    <a:pt x="3351102" y="462198"/>
                  </a:lnTo>
                  <a:lnTo>
                    <a:pt x="3357532" y="510725"/>
                  </a:lnTo>
                  <a:lnTo>
                    <a:pt x="3359699" y="559961"/>
                  </a:lnTo>
                  <a:lnTo>
                    <a:pt x="3359699" y="2857638"/>
                  </a:lnTo>
                  <a:lnTo>
                    <a:pt x="3357644" y="2905954"/>
                  </a:lnTo>
                  <a:lnTo>
                    <a:pt x="3351590" y="2953128"/>
                  </a:lnTo>
                  <a:lnTo>
                    <a:pt x="3341705" y="2998993"/>
                  </a:lnTo>
                  <a:lnTo>
                    <a:pt x="3328158" y="3043381"/>
                  </a:lnTo>
                  <a:lnTo>
                    <a:pt x="3311116" y="3086123"/>
                  </a:lnTo>
                  <a:lnTo>
                    <a:pt x="3290748" y="3127051"/>
                  </a:lnTo>
                  <a:lnTo>
                    <a:pt x="3267221" y="3165997"/>
                  </a:lnTo>
                  <a:lnTo>
                    <a:pt x="3240705" y="3202794"/>
                  </a:lnTo>
                  <a:lnTo>
                    <a:pt x="3211366" y="3237273"/>
                  </a:lnTo>
                  <a:lnTo>
                    <a:pt x="3179373" y="3269266"/>
                  </a:lnTo>
                  <a:lnTo>
                    <a:pt x="3144894" y="3298605"/>
                  </a:lnTo>
                  <a:lnTo>
                    <a:pt x="3108097" y="3325121"/>
                  </a:lnTo>
                  <a:lnTo>
                    <a:pt x="3069151" y="3348648"/>
                  </a:lnTo>
                  <a:lnTo>
                    <a:pt x="3028223" y="3369016"/>
                  </a:lnTo>
                  <a:lnTo>
                    <a:pt x="2985481" y="3386058"/>
                  </a:lnTo>
                  <a:lnTo>
                    <a:pt x="2941093" y="3399605"/>
                  </a:lnTo>
                  <a:lnTo>
                    <a:pt x="2895228" y="3409490"/>
                  </a:lnTo>
                  <a:lnTo>
                    <a:pt x="2848054" y="3415544"/>
                  </a:lnTo>
                  <a:lnTo>
                    <a:pt x="2799738" y="3417599"/>
                  </a:lnTo>
                  <a:lnTo>
                    <a:pt x="559961" y="3417599"/>
                  </a:lnTo>
                  <a:lnTo>
                    <a:pt x="511645" y="3415544"/>
                  </a:lnTo>
                  <a:lnTo>
                    <a:pt x="464471" y="3409490"/>
                  </a:lnTo>
                  <a:lnTo>
                    <a:pt x="418606" y="3399605"/>
                  </a:lnTo>
                  <a:lnTo>
                    <a:pt x="374218" y="3386058"/>
                  </a:lnTo>
                  <a:lnTo>
                    <a:pt x="331477" y="3369016"/>
                  </a:lnTo>
                  <a:lnTo>
                    <a:pt x="290548" y="3348648"/>
                  </a:lnTo>
                  <a:lnTo>
                    <a:pt x="251602" y="3325121"/>
                  </a:lnTo>
                  <a:lnTo>
                    <a:pt x="214805" y="3298605"/>
                  </a:lnTo>
                  <a:lnTo>
                    <a:pt x="180326" y="3269266"/>
                  </a:lnTo>
                  <a:lnTo>
                    <a:pt x="148333" y="3237273"/>
                  </a:lnTo>
                  <a:lnTo>
                    <a:pt x="118994" y="3202794"/>
                  </a:lnTo>
                  <a:lnTo>
                    <a:pt x="92478" y="3165997"/>
                  </a:lnTo>
                  <a:lnTo>
                    <a:pt x="68951" y="3127051"/>
                  </a:lnTo>
                  <a:lnTo>
                    <a:pt x="48583" y="3086123"/>
                  </a:lnTo>
                  <a:lnTo>
                    <a:pt x="31541" y="3043381"/>
                  </a:lnTo>
                  <a:lnTo>
                    <a:pt x="17994" y="2998993"/>
                  </a:lnTo>
                  <a:lnTo>
                    <a:pt x="8109" y="2953128"/>
                  </a:lnTo>
                  <a:lnTo>
                    <a:pt x="2055" y="2905954"/>
                  </a:lnTo>
                  <a:lnTo>
                    <a:pt x="0" y="2857638"/>
                  </a:lnTo>
                  <a:lnTo>
                    <a:pt x="0" y="559961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70343" y="1681359"/>
            <a:ext cx="3782907" cy="344117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048147">
              <a:spcBef>
                <a:spcPts val="133"/>
              </a:spcBef>
            </a:pPr>
            <a:r>
              <a:rPr sz="1867" b="1" dirty="0">
                <a:latin typeface="Arial"/>
                <a:cs typeface="Arial"/>
              </a:rPr>
              <a:t>Multiple</a:t>
            </a:r>
            <a:r>
              <a:rPr sz="1867" b="1" spc="-73" dirty="0">
                <a:latin typeface="Arial"/>
                <a:cs typeface="Arial"/>
              </a:rPr>
              <a:t> </a:t>
            </a:r>
            <a:r>
              <a:rPr sz="1867" b="1" spc="-7" dirty="0">
                <a:latin typeface="Arial"/>
                <a:cs typeface="Arial"/>
              </a:rPr>
              <a:t>Choice</a:t>
            </a:r>
            <a:endParaRPr sz="1867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sz="1933">
              <a:latin typeface="Arial"/>
              <a:cs typeface="Arial"/>
            </a:endParaRPr>
          </a:p>
          <a:p>
            <a:pPr marL="16933" marR="6773">
              <a:lnSpc>
                <a:spcPts val="2200"/>
              </a:lnSpc>
            </a:pPr>
            <a:r>
              <a:rPr sz="1867" spc="-7" dirty="0">
                <a:latin typeface="Arial MT"/>
                <a:cs typeface="Arial MT"/>
              </a:rPr>
              <a:t>Q:</a:t>
            </a:r>
            <a:r>
              <a:rPr sz="1867" spc="38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A</a:t>
            </a:r>
            <a:r>
              <a:rPr sz="1867" spc="-1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person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is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traveling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at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20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km/hr </a:t>
            </a:r>
            <a:r>
              <a:rPr sz="1867" spc="-50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and </a:t>
            </a:r>
            <a:r>
              <a:rPr sz="1867" dirty="0">
                <a:latin typeface="Arial MT"/>
                <a:cs typeface="Arial MT"/>
              </a:rPr>
              <a:t>reached </a:t>
            </a:r>
            <a:r>
              <a:rPr sz="1867" spc="-7" dirty="0">
                <a:latin typeface="Arial MT"/>
                <a:cs typeface="Arial MT"/>
              </a:rPr>
              <a:t>his destiny in 2.5 hr </a:t>
            </a:r>
            <a:r>
              <a:rPr sz="186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then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find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the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distance?</a:t>
            </a:r>
            <a:endParaRPr sz="1867">
              <a:latin typeface="Arial MT"/>
              <a:cs typeface="Arial MT"/>
            </a:endParaRPr>
          </a:p>
          <a:p>
            <a:pPr marL="16933" marR="228594">
              <a:lnSpc>
                <a:spcPts val="2200"/>
              </a:lnSpc>
            </a:pPr>
            <a:r>
              <a:rPr sz="1867" spc="-7" dirty="0">
                <a:latin typeface="Arial MT"/>
                <a:cs typeface="Arial MT"/>
              </a:rPr>
              <a:t>Answer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Choices: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(a)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53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km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(b)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55 </a:t>
            </a:r>
            <a:r>
              <a:rPr sz="1867" spc="-50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km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(c)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52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km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(d)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60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km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(e)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50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km</a:t>
            </a:r>
            <a:endParaRPr sz="1867">
              <a:latin typeface="Arial MT"/>
              <a:cs typeface="Arial MT"/>
            </a:endParaRPr>
          </a:p>
          <a:p>
            <a:pPr>
              <a:spcBef>
                <a:spcPts val="53"/>
              </a:spcBef>
            </a:pPr>
            <a:endParaRPr sz="1867">
              <a:latin typeface="Arial MT"/>
              <a:cs typeface="Arial MT"/>
            </a:endParaRPr>
          </a:p>
          <a:p>
            <a:pPr marL="16933" marR="245527">
              <a:lnSpc>
                <a:spcPts val="2200"/>
              </a:lnSpc>
            </a:pPr>
            <a:r>
              <a:rPr sz="1867" spc="-7" dirty="0">
                <a:latin typeface="Arial MT"/>
                <a:cs typeface="Arial MT"/>
              </a:rPr>
              <a:t>A: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867" b="1" spc="-27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distance</a:t>
            </a:r>
            <a:r>
              <a:rPr sz="1867" b="1" spc="-27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that</a:t>
            </a:r>
            <a:r>
              <a:rPr sz="1867" b="1" spc="-33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867" b="1" spc="-27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person </a:t>
            </a:r>
            <a:r>
              <a:rPr sz="1867" b="1" spc="-50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traveled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would have been 20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km/hr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*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2.5 hrs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=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50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km</a:t>
            </a:r>
            <a:r>
              <a:rPr sz="1867" dirty="0">
                <a:latin typeface="Arial MT"/>
                <a:cs typeface="Arial MT"/>
              </a:rPr>
              <a:t>. </a:t>
            </a:r>
            <a:r>
              <a:rPr sz="1867" spc="-7" dirty="0">
                <a:latin typeface="Arial MT"/>
                <a:cs typeface="Arial MT"/>
              </a:rPr>
              <a:t>The </a:t>
            </a:r>
            <a:r>
              <a:rPr sz="186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answer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is</a:t>
            </a:r>
            <a:r>
              <a:rPr sz="1867" dirty="0">
                <a:latin typeface="Arial MT"/>
                <a:cs typeface="Arial MT"/>
              </a:rPr>
              <a:t> </a:t>
            </a:r>
            <a:r>
              <a:rPr sz="1867" b="1" spc="-7" dirty="0">
                <a:solidFill>
                  <a:srgbClr val="A61B00"/>
                </a:solidFill>
                <a:latin typeface="Arial"/>
                <a:cs typeface="Arial"/>
              </a:rPr>
              <a:t>(e)</a:t>
            </a:r>
            <a:r>
              <a:rPr sz="1867" b="1" spc="-7" dirty="0">
                <a:latin typeface="Arial"/>
                <a:cs typeface="Arial"/>
              </a:rPr>
              <a:t>.</a:t>
            </a:r>
            <a:endParaRPr sz="1867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267" y="1371572"/>
            <a:ext cx="7517855" cy="46282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7" dirty="0"/>
              <a:t>Arithmetic</a:t>
            </a:r>
            <a:r>
              <a:rPr sz="4000" spc="-47" dirty="0"/>
              <a:t> </a:t>
            </a:r>
            <a:r>
              <a:rPr sz="4000" spc="-13" dirty="0"/>
              <a:t>Reasoning</a:t>
            </a:r>
            <a:r>
              <a:rPr sz="4000" spc="-47" dirty="0"/>
              <a:t> </a:t>
            </a:r>
            <a:r>
              <a:rPr sz="4000" dirty="0"/>
              <a:t>-</a:t>
            </a:r>
            <a:r>
              <a:rPr sz="4000" spc="-33" dirty="0"/>
              <a:t> </a:t>
            </a:r>
            <a:r>
              <a:rPr sz="4000" spc="-7" dirty="0"/>
              <a:t>Results</a:t>
            </a:r>
            <a:endParaRPr sz="40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31</a:t>
            </a:fld>
            <a:endParaRPr dirty="0"/>
          </a:p>
        </p:txBody>
      </p:sp>
      <p:grpSp>
        <p:nvGrpSpPr>
          <p:cNvPr id="4" name="object 4"/>
          <p:cNvGrpSpPr/>
          <p:nvPr/>
        </p:nvGrpSpPr>
        <p:grpSpPr>
          <a:xfrm>
            <a:off x="8576516" y="1498683"/>
            <a:ext cx="3315547" cy="4325620"/>
            <a:chOff x="6432387" y="1124012"/>
            <a:chExt cx="2486660" cy="3244215"/>
          </a:xfrm>
        </p:grpSpPr>
        <p:sp>
          <p:nvSpPr>
            <p:cNvPr id="5" name="object 5"/>
            <p:cNvSpPr/>
            <p:nvPr/>
          </p:nvSpPr>
          <p:spPr>
            <a:xfrm>
              <a:off x="6437150" y="1128774"/>
              <a:ext cx="2477135" cy="3234690"/>
            </a:xfrm>
            <a:custGeom>
              <a:avLst/>
              <a:gdLst/>
              <a:ahLst/>
              <a:cxnLst/>
              <a:rect l="l" t="t" r="r" b="b"/>
              <a:pathLst>
                <a:path w="2477134" h="3234690">
                  <a:moveTo>
                    <a:pt x="2064241" y="3234599"/>
                  </a:moveTo>
                  <a:lnTo>
                    <a:pt x="412858" y="3234599"/>
                  </a:lnTo>
                  <a:lnTo>
                    <a:pt x="364710" y="3231822"/>
                  </a:lnTo>
                  <a:lnTo>
                    <a:pt x="318193" y="3223696"/>
                  </a:lnTo>
                  <a:lnTo>
                    <a:pt x="273618" y="3210530"/>
                  </a:lnTo>
                  <a:lnTo>
                    <a:pt x="231293" y="3192636"/>
                  </a:lnTo>
                  <a:lnTo>
                    <a:pt x="191529" y="3170322"/>
                  </a:lnTo>
                  <a:lnTo>
                    <a:pt x="154636" y="3143899"/>
                  </a:lnTo>
                  <a:lnTo>
                    <a:pt x="120923" y="3113676"/>
                  </a:lnTo>
                  <a:lnTo>
                    <a:pt x="90700" y="3079963"/>
                  </a:lnTo>
                  <a:lnTo>
                    <a:pt x="64277" y="3043070"/>
                  </a:lnTo>
                  <a:lnTo>
                    <a:pt x="41963" y="3003306"/>
                  </a:lnTo>
                  <a:lnTo>
                    <a:pt x="24069" y="2960981"/>
                  </a:lnTo>
                  <a:lnTo>
                    <a:pt x="10903" y="2916406"/>
                  </a:lnTo>
                  <a:lnTo>
                    <a:pt x="2777" y="2869889"/>
                  </a:lnTo>
                  <a:lnTo>
                    <a:pt x="0" y="2821741"/>
                  </a:lnTo>
                  <a:lnTo>
                    <a:pt x="0" y="412858"/>
                  </a:lnTo>
                  <a:lnTo>
                    <a:pt x="2777" y="364710"/>
                  </a:lnTo>
                  <a:lnTo>
                    <a:pt x="10903" y="318193"/>
                  </a:lnTo>
                  <a:lnTo>
                    <a:pt x="24069" y="273618"/>
                  </a:lnTo>
                  <a:lnTo>
                    <a:pt x="41963" y="231293"/>
                  </a:lnTo>
                  <a:lnTo>
                    <a:pt x="64277" y="191529"/>
                  </a:lnTo>
                  <a:lnTo>
                    <a:pt x="90700" y="154636"/>
                  </a:lnTo>
                  <a:lnTo>
                    <a:pt x="120923" y="120923"/>
                  </a:lnTo>
                  <a:lnTo>
                    <a:pt x="154636" y="90700"/>
                  </a:lnTo>
                  <a:lnTo>
                    <a:pt x="191529" y="64277"/>
                  </a:lnTo>
                  <a:lnTo>
                    <a:pt x="231293" y="41963"/>
                  </a:lnTo>
                  <a:lnTo>
                    <a:pt x="273618" y="24069"/>
                  </a:lnTo>
                  <a:lnTo>
                    <a:pt x="318193" y="10903"/>
                  </a:lnTo>
                  <a:lnTo>
                    <a:pt x="364710" y="2777"/>
                  </a:lnTo>
                  <a:lnTo>
                    <a:pt x="412858" y="0"/>
                  </a:lnTo>
                  <a:lnTo>
                    <a:pt x="2064241" y="0"/>
                  </a:lnTo>
                  <a:lnTo>
                    <a:pt x="2110826" y="2635"/>
                  </a:lnTo>
                  <a:lnTo>
                    <a:pt x="2156458" y="10429"/>
                  </a:lnTo>
                  <a:lnTo>
                    <a:pt x="2200733" y="23214"/>
                  </a:lnTo>
                  <a:lnTo>
                    <a:pt x="2243246" y="40824"/>
                  </a:lnTo>
                  <a:lnTo>
                    <a:pt x="2283594" y="63090"/>
                  </a:lnTo>
                  <a:lnTo>
                    <a:pt x="2321372" y="89845"/>
                  </a:lnTo>
                  <a:lnTo>
                    <a:pt x="2356176" y="120923"/>
                  </a:lnTo>
                  <a:lnTo>
                    <a:pt x="2387253" y="155727"/>
                  </a:lnTo>
                  <a:lnTo>
                    <a:pt x="2414009" y="193505"/>
                  </a:lnTo>
                  <a:lnTo>
                    <a:pt x="2436275" y="233853"/>
                  </a:lnTo>
                  <a:lnTo>
                    <a:pt x="2453885" y="276366"/>
                  </a:lnTo>
                  <a:lnTo>
                    <a:pt x="2466670" y="320640"/>
                  </a:lnTo>
                  <a:lnTo>
                    <a:pt x="2474464" y="366272"/>
                  </a:lnTo>
                  <a:lnTo>
                    <a:pt x="2477099" y="412858"/>
                  </a:lnTo>
                  <a:lnTo>
                    <a:pt x="2477099" y="2821741"/>
                  </a:lnTo>
                  <a:lnTo>
                    <a:pt x="2474322" y="2869889"/>
                  </a:lnTo>
                  <a:lnTo>
                    <a:pt x="2466196" y="2916406"/>
                  </a:lnTo>
                  <a:lnTo>
                    <a:pt x="2453030" y="2960981"/>
                  </a:lnTo>
                  <a:lnTo>
                    <a:pt x="2435136" y="3003306"/>
                  </a:lnTo>
                  <a:lnTo>
                    <a:pt x="2412822" y="3043070"/>
                  </a:lnTo>
                  <a:lnTo>
                    <a:pt x="2386399" y="3079963"/>
                  </a:lnTo>
                  <a:lnTo>
                    <a:pt x="2356176" y="3113676"/>
                  </a:lnTo>
                  <a:lnTo>
                    <a:pt x="2322463" y="3143899"/>
                  </a:lnTo>
                  <a:lnTo>
                    <a:pt x="2285570" y="3170322"/>
                  </a:lnTo>
                  <a:lnTo>
                    <a:pt x="2245806" y="3192636"/>
                  </a:lnTo>
                  <a:lnTo>
                    <a:pt x="2203481" y="3210530"/>
                  </a:lnTo>
                  <a:lnTo>
                    <a:pt x="2158906" y="3223696"/>
                  </a:lnTo>
                  <a:lnTo>
                    <a:pt x="2112389" y="3231822"/>
                  </a:lnTo>
                  <a:lnTo>
                    <a:pt x="2064241" y="3234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37150" y="1128774"/>
              <a:ext cx="2477135" cy="3234690"/>
            </a:xfrm>
            <a:custGeom>
              <a:avLst/>
              <a:gdLst/>
              <a:ahLst/>
              <a:cxnLst/>
              <a:rect l="l" t="t" r="r" b="b"/>
              <a:pathLst>
                <a:path w="2477134" h="3234690">
                  <a:moveTo>
                    <a:pt x="0" y="412858"/>
                  </a:moveTo>
                  <a:lnTo>
                    <a:pt x="2777" y="364710"/>
                  </a:lnTo>
                  <a:lnTo>
                    <a:pt x="10903" y="318193"/>
                  </a:lnTo>
                  <a:lnTo>
                    <a:pt x="24069" y="273618"/>
                  </a:lnTo>
                  <a:lnTo>
                    <a:pt x="41963" y="231293"/>
                  </a:lnTo>
                  <a:lnTo>
                    <a:pt x="64277" y="191529"/>
                  </a:lnTo>
                  <a:lnTo>
                    <a:pt x="90700" y="154636"/>
                  </a:lnTo>
                  <a:lnTo>
                    <a:pt x="120923" y="120923"/>
                  </a:lnTo>
                  <a:lnTo>
                    <a:pt x="154636" y="90700"/>
                  </a:lnTo>
                  <a:lnTo>
                    <a:pt x="191529" y="64277"/>
                  </a:lnTo>
                  <a:lnTo>
                    <a:pt x="231293" y="41963"/>
                  </a:lnTo>
                  <a:lnTo>
                    <a:pt x="273618" y="24069"/>
                  </a:lnTo>
                  <a:lnTo>
                    <a:pt x="318193" y="10903"/>
                  </a:lnTo>
                  <a:lnTo>
                    <a:pt x="364710" y="2777"/>
                  </a:lnTo>
                  <a:lnTo>
                    <a:pt x="412858" y="0"/>
                  </a:lnTo>
                  <a:lnTo>
                    <a:pt x="2064241" y="0"/>
                  </a:lnTo>
                  <a:lnTo>
                    <a:pt x="2110826" y="2635"/>
                  </a:lnTo>
                  <a:lnTo>
                    <a:pt x="2156458" y="10429"/>
                  </a:lnTo>
                  <a:lnTo>
                    <a:pt x="2200733" y="23214"/>
                  </a:lnTo>
                  <a:lnTo>
                    <a:pt x="2243246" y="40824"/>
                  </a:lnTo>
                  <a:lnTo>
                    <a:pt x="2283594" y="63090"/>
                  </a:lnTo>
                  <a:lnTo>
                    <a:pt x="2321372" y="89845"/>
                  </a:lnTo>
                  <a:lnTo>
                    <a:pt x="2356176" y="120923"/>
                  </a:lnTo>
                  <a:lnTo>
                    <a:pt x="2387253" y="155727"/>
                  </a:lnTo>
                  <a:lnTo>
                    <a:pt x="2414009" y="193505"/>
                  </a:lnTo>
                  <a:lnTo>
                    <a:pt x="2436275" y="233853"/>
                  </a:lnTo>
                  <a:lnTo>
                    <a:pt x="2453885" y="276366"/>
                  </a:lnTo>
                  <a:lnTo>
                    <a:pt x="2466670" y="320640"/>
                  </a:lnTo>
                  <a:lnTo>
                    <a:pt x="2474464" y="366272"/>
                  </a:lnTo>
                  <a:lnTo>
                    <a:pt x="2477099" y="412858"/>
                  </a:lnTo>
                  <a:lnTo>
                    <a:pt x="2477099" y="2821741"/>
                  </a:lnTo>
                  <a:lnTo>
                    <a:pt x="2474322" y="2869889"/>
                  </a:lnTo>
                  <a:lnTo>
                    <a:pt x="2466196" y="2916406"/>
                  </a:lnTo>
                  <a:lnTo>
                    <a:pt x="2453030" y="2960981"/>
                  </a:lnTo>
                  <a:lnTo>
                    <a:pt x="2435136" y="3003306"/>
                  </a:lnTo>
                  <a:lnTo>
                    <a:pt x="2412822" y="3043070"/>
                  </a:lnTo>
                  <a:lnTo>
                    <a:pt x="2386399" y="3079963"/>
                  </a:lnTo>
                  <a:lnTo>
                    <a:pt x="2356176" y="3113676"/>
                  </a:lnTo>
                  <a:lnTo>
                    <a:pt x="2322463" y="3143899"/>
                  </a:lnTo>
                  <a:lnTo>
                    <a:pt x="2285570" y="3170322"/>
                  </a:lnTo>
                  <a:lnTo>
                    <a:pt x="2245806" y="3192636"/>
                  </a:lnTo>
                  <a:lnTo>
                    <a:pt x="2203481" y="3210530"/>
                  </a:lnTo>
                  <a:lnTo>
                    <a:pt x="2158906" y="3223696"/>
                  </a:lnTo>
                  <a:lnTo>
                    <a:pt x="2112389" y="3231822"/>
                  </a:lnTo>
                  <a:lnTo>
                    <a:pt x="2064241" y="3234599"/>
                  </a:lnTo>
                  <a:lnTo>
                    <a:pt x="412858" y="3234599"/>
                  </a:lnTo>
                  <a:lnTo>
                    <a:pt x="364710" y="3231822"/>
                  </a:lnTo>
                  <a:lnTo>
                    <a:pt x="318193" y="3223696"/>
                  </a:lnTo>
                  <a:lnTo>
                    <a:pt x="273618" y="3210530"/>
                  </a:lnTo>
                  <a:lnTo>
                    <a:pt x="231293" y="3192636"/>
                  </a:lnTo>
                  <a:lnTo>
                    <a:pt x="191529" y="3170322"/>
                  </a:lnTo>
                  <a:lnTo>
                    <a:pt x="154636" y="3143899"/>
                  </a:lnTo>
                  <a:lnTo>
                    <a:pt x="120923" y="3113676"/>
                  </a:lnTo>
                  <a:lnTo>
                    <a:pt x="90700" y="3079963"/>
                  </a:lnTo>
                  <a:lnTo>
                    <a:pt x="64277" y="3043070"/>
                  </a:lnTo>
                  <a:lnTo>
                    <a:pt x="41963" y="3003306"/>
                  </a:lnTo>
                  <a:lnTo>
                    <a:pt x="24069" y="2960981"/>
                  </a:lnTo>
                  <a:lnTo>
                    <a:pt x="10903" y="2916406"/>
                  </a:lnTo>
                  <a:lnTo>
                    <a:pt x="2777" y="2869889"/>
                  </a:lnTo>
                  <a:lnTo>
                    <a:pt x="0" y="2821741"/>
                  </a:lnTo>
                  <a:lnTo>
                    <a:pt x="0" y="412858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841463" y="1755502"/>
            <a:ext cx="2745740" cy="370272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8944" algn="ctr">
              <a:lnSpc>
                <a:spcPts val="1907"/>
              </a:lnSpc>
              <a:spcBef>
                <a:spcPts val="133"/>
              </a:spcBef>
            </a:pPr>
            <a:r>
              <a:rPr sz="1600" b="1" spc="-7" dirty="0">
                <a:latin typeface="Times New Roman"/>
                <a:cs typeface="Times New Roman"/>
              </a:rPr>
              <a:t>GSM8K</a:t>
            </a:r>
            <a:endParaRPr sz="1600">
              <a:latin typeface="Times New Roman"/>
              <a:cs typeface="Times New Roman"/>
            </a:endParaRPr>
          </a:p>
          <a:p>
            <a:pPr marL="16933" marR="379297">
              <a:lnSpc>
                <a:spcPts val="1907"/>
              </a:lnSpc>
              <a:spcBef>
                <a:spcPts val="60"/>
              </a:spcBef>
            </a:pPr>
            <a:r>
              <a:rPr sz="1600" spc="-7" dirty="0">
                <a:latin typeface="Times New Roman"/>
                <a:cs typeface="Times New Roman"/>
              </a:rPr>
              <a:t>Josh</a:t>
            </a:r>
            <a:r>
              <a:rPr sz="1600" spc="-3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decides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to</a:t>
            </a:r>
            <a:r>
              <a:rPr sz="1600" spc="-27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try</a:t>
            </a:r>
            <a:r>
              <a:rPr sz="1600" spc="-3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flipping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 </a:t>
            </a:r>
            <a:r>
              <a:rPr sz="1600" spc="-3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house.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He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buys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house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endParaRPr sz="1600">
              <a:latin typeface="Times New Roman"/>
              <a:cs typeface="Times New Roman"/>
            </a:endParaRPr>
          </a:p>
          <a:p>
            <a:pPr marL="16933">
              <a:lnSpc>
                <a:spcPts val="1820"/>
              </a:lnSpc>
            </a:pPr>
            <a:r>
              <a:rPr sz="1600" dirty="0">
                <a:latin typeface="Times New Roman"/>
                <a:cs typeface="Times New Roman"/>
              </a:rPr>
              <a:t>$80,000</a:t>
            </a:r>
            <a:r>
              <a:rPr sz="1600" spc="-27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and</a:t>
            </a:r>
            <a:r>
              <a:rPr sz="1600" spc="-27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then</a:t>
            </a:r>
            <a:r>
              <a:rPr sz="1600" spc="-27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puts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in</a:t>
            </a:r>
            <a:r>
              <a:rPr sz="1600" spc="-27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$50,000</a:t>
            </a:r>
            <a:endParaRPr sz="1600">
              <a:latin typeface="Times New Roman"/>
              <a:cs typeface="Times New Roman"/>
            </a:endParaRPr>
          </a:p>
          <a:p>
            <a:pPr marL="16933" marR="187109">
              <a:lnSpc>
                <a:spcPts val="1907"/>
              </a:lnSpc>
              <a:spcBef>
                <a:spcPts val="67"/>
              </a:spcBef>
            </a:pPr>
            <a:r>
              <a:rPr sz="1600" spc="-7" dirty="0">
                <a:latin typeface="Times New Roman"/>
                <a:cs typeface="Times New Roman"/>
              </a:rPr>
              <a:t>in </a:t>
            </a:r>
            <a:r>
              <a:rPr sz="1600" dirty="0">
                <a:latin typeface="Times New Roman"/>
                <a:cs typeface="Times New Roman"/>
              </a:rPr>
              <a:t>repairs. </a:t>
            </a:r>
            <a:r>
              <a:rPr sz="1600" spc="-7" dirty="0">
                <a:latin typeface="Times New Roman"/>
                <a:cs typeface="Times New Roman"/>
              </a:rPr>
              <a:t>This increased the </a:t>
            </a:r>
            <a:r>
              <a:rPr sz="1600" dirty="0">
                <a:latin typeface="Times New Roman"/>
                <a:cs typeface="Times New Roman"/>
              </a:rPr>
              <a:t> value of </a:t>
            </a:r>
            <a:r>
              <a:rPr sz="1600" spc="-7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house by 150%. </a:t>
            </a:r>
            <a:r>
              <a:rPr sz="1600" spc="7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How</a:t>
            </a:r>
            <a:r>
              <a:rPr sz="1600" spc="-33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much</a:t>
            </a:r>
            <a:r>
              <a:rPr sz="1600" spc="-27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profit</a:t>
            </a:r>
            <a:r>
              <a:rPr sz="1600" spc="-27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he</a:t>
            </a:r>
            <a:r>
              <a:rPr sz="1600" spc="-27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make?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33">
              <a:latin typeface="Times New Roman"/>
              <a:cs typeface="Times New Roman"/>
            </a:endParaRPr>
          </a:p>
          <a:p>
            <a:pPr>
              <a:spcBef>
                <a:spcPts val="27"/>
              </a:spcBef>
            </a:pPr>
            <a:endParaRPr sz="1467">
              <a:latin typeface="Times New Roman"/>
              <a:cs typeface="Times New Roman"/>
            </a:endParaRPr>
          </a:p>
          <a:p>
            <a:pPr marL="39792" algn="ctr">
              <a:lnSpc>
                <a:spcPts val="1907"/>
              </a:lnSpc>
            </a:pPr>
            <a:r>
              <a:rPr sz="1600" b="1" spc="-47" dirty="0">
                <a:latin typeface="Times New Roman"/>
                <a:cs typeface="Times New Roman"/>
              </a:rPr>
              <a:t>SVAMP</a:t>
            </a:r>
            <a:endParaRPr sz="1600">
              <a:latin typeface="Times New Roman"/>
              <a:cs typeface="Times New Roman"/>
            </a:endParaRPr>
          </a:p>
          <a:p>
            <a:pPr marL="16933" marR="107524">
              <a:lnSpc>
                <a:spcPts val="1907"/>
              </a:lnSpc>
              <a:spcBef>
                <a:spcPts val="67"/>
              </a:spcBef>
            </a:pPr>
            <a:r>
              <a:rPr sz="1600" spc="-7" dirty="0">
                <a:latin typeface="Times New Roman"/>
                <a:cs typeface="Times New Roman"/>
              </a:rPr>
              <a:t>Each </a:t>
            </a:r>
            <a:r>
              <a:rPr sz="1600" dirty="0">
                <a:latin typeface="Times New Roman"/>
                <a:cs typeface="Times New Roman"/>
              </a:rPr>
              <a:t>pack of dvds </a:t>
            </a:r>
            <a:r>
              <a:rPr sz="1600" spc="-7" dirty="0">
                <a:latin typeface="Times New Roman"/>
                <a:cs typeface="Times New Roman"/>
              </a:rPr>
              <a:t>costs </a:t>
            </a:r>
            <a:r>
              <a:rPr sz="1600" dirty="0">
                <a:latin typeface="Times New Roman"/>
                <a:cs typeface="Times New Roman"/>
              </a:rPr>
              <a:t>76 </a:t>
            </a:r>
            <a:r>
              <a:rPr sz="1600" spc="7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dollars. If </a:t>
            </a:r>
            <a:r>
              <a:rPr sz="1600" spc="-7" dirty="0">
                <a:latin typeface="Times New Roman"/>
                <a:cs typeface="Times New Roman"/>
              </a:rPr>
              <a:t>there is </a:t>
            </a:r>
            <a:r>
              <a:rPr sz="1600" dirty="0">
                <a:latin typeface="Times New Roman"/>
                <a:cs typeface="Times New Roman"/>
              </a:rPr>
              <a:t>a discount of </a:t>
            </a:r>
            <a:r>
              <a:rPr sz="1600" spc="7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25 dollars on </a:t>
            </a:r>
            <a:r>
              <a:rPr sz="1600" spc="-7" dirty="0">
                <a:latin typeface="Times New Roman"/>
                <a:cs typeface="Times New Roman"/>
              </a:rPr>
              <a:t>each </a:t>
            </a:r>
            <a:r>
              <a:rPr sz="1600" dirty="0">
                <a:latin typeface="Times New Roman"/>
                <a:cs typeface="Times New Roman"/>
              </a:rPr>
              <a:t>pack. </a:t>
            </a:r>
            <a:r>
              <a:rPr sz="1600" spc="-7" dirty="0">
                <a:latin typeface="Times New Roman"/>
                <a:cs typeface="Times New Roman"/>
              </a:rPr>
              <a:t>How 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much</a:t>
            </a:r>
            <a:r>
              <a:rPr sz="1600" spc="-27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</a:t>
            </a:r>
            <a:r>
              <a:rPr sz="1600" spc="-1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you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have</a:t>
            </a:r>
            <a:r>
              <a:rPr sz="1600" spc="-13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to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pay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to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buy </a:t>
            </a:r>
            <a:r>
              <a:rPr sz="1600" spc="-380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each</a:t>
            </a:r>
            <a:r>
              <a:rPr sz="1600" spc="-1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pack?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178" y="1380288"/>
            <a:ext cx="8215285" cy="466714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7" dirty="0"/>
              <a:t>Arithmetic</a:t>
            </a:r>
            <a:r>
              <a:rPr sz="4000" spc="-47" dirty="0"/>
              <a:t> </a:t>
            </a:r>
            <a:r>
              <a:rPr sz="4000" spc="-13" dirty="0"/>
              <a:t>Reasoning</a:t>
            </a:r>
            <a:r>
              <a:rPr sz="4000" spc="-47" dirty="0"/>
              <a:t> </a:t>
            </a:r>
            <a:r>
              <a:rPr sz="4000" dirty="0"/>
              <a:t>-</a:t>
            </a:r>
            <a:r>
              <a:rPr sz="4000" spc="-33" dirty="0"/>
              <a:t> </a:t>
            </a:r>
            <a:r>
              <a:rPr sz="4000" spc="-7" dirty="0"/>
              <a:t>Results</a:t>
            </a:r>
            <a:endParaRPr sz="40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32</a:t>
            </a:fld>
            <a:endParaRPr dirty="0"/>
          </a:p>
        </p:txBody>
      </p:sp>
      <p:grpSp>
        <p:nvGrpSpPr>
          <p:cNvPr id="4" name="object 4"/>
          <p:cNvGrpSpPr/>
          <p:nvPr/>
        </p:nvGrpSpPr>
        <p:grpSpPr>
          <a:xfrm>
            <a:off x="8576516" y="1498683"/>
            <a:ext cx="3315547" cy="4325620"/>
            <a:chOff x="6432387" y="1124012"/>
            <a:chExt cx="2486660" cy="3244215"/>
          </a:xfrm>
        </p:grpSpPr>
        <p:sp>
          <p:nvSpPr>
            <p:cNvPr id="5" name="object 5"/>
            <p:cNvSpPr/>
            <p:nvPr/>
          </p:nvSpPr>
          <p:spPr>
            <a:xfrm>
              <a:off x="6437150" y="1128774"/>
              <a:ext cx="2477135" cy="3234690"/>
            </a:xfrm>
            <a:custGeom>
              <a:avLst/>
              <a:gdLst/>
              <a:ahLst/>
              <a:cxnLst/>
              <a:rect l="l" t="t" r="r" b="b"/>
              <a:pathLst>
                <a:path w="2477134" h="3234690">
                  <a:moveTo>
                    <a:pt x="2064241" y="3234599"/>
                  </a:moveTo>
                  <a:lnTo>
                    <a:pt x="412858" y="3234599"/>
                  </a:lnTo>
                  <a:lnTo>
                    <a:pt x="364710" y="3231822"/>
                  </a:lnTo>
                  <a:lnTo>
                    <a:pt x="318193" y="3223696"/>
                  </a:lnTo>
                  <a:lnTo>
                    <a:pt x="273618" y="3210530"/>
                  </a:lnTo>
                  <a:lnTo>
                    <a:pt x="231293" y="3192636"/>
                  </a:lnTo>
                  <a:lnTo>
                    <a:pt x="191529" y="3170322"/>
                  </a:lnTo>
                  <a:lnTo>
                    <a:pt x="154636" y="3143899"/>
                  </a:lnTo>
                  <a:lnTo>
                    <a:pt x="120923" y="3113676"/>
                  </a:lnTo>
                  <a:lnTo>
                    <a:pt x="90700" y="3079963"/>
                  </a:lnTo>
                  <a:lnTo>
                    <a:pt x="64277" y="3043070"/>
                  </a:lnTo>
                  <a:lnTo>
                    <a:pt x="41963" y="3003306"/>
                  </a:lnTo>
                  <a:lnTo>
                    <a:pt x="24069" y="2960981"/>
                  </a:lnTo>
                  <a:lnTo>
                    <a:pt x="10903" y="2916406"/>
                  </a:lnTo>
                  <a:lnTo>
                    <a:pt x="2777" y="2869889"/>
                  </a:lnTo>
                  <a:lnTo>
                    <a:pt x="0" y="2821741"/>
                  </a:lnTo>
                  <a:lnTo>
                    <a:pt x="0" y="412858"/>
                  </a:lnTo>
                  <a:lnTo>
                    <a:pt x="2777" y="364710"/>
                  </a:lnTo>
                  <a:lnTo>
                    <a:pt x="10903" y="318193"/>
                  </a:lnTo>
                  <a:lnTo>
                    <a:pt x="24069" y="273618"/>
                  </a:lnTo>
                  <a:lnTo>
                    <a:pt x="41963" y="231293"/>
                  </a:lnTo>
                  <a:lnTo>
                    <a:pt x="64277" y="191529"/>
                  </a:lnTo>
                  <a:lnTo>
                    <a:pt x="90700" y="154636"/>
                  </a:lnTo>
                  <a:lnTo>
                    <a:pt x="120923" y="120923"/>
                  </a:lnTo>
                  <a:lnTo>
                    <a:pt x="154636" y="90700"/>
                  </a:lnTo>
                  <a:lnTo>
                    <a:pt x="191529" y="64277"/>
                  </a:lnTo>
                  <a:lnTo>
                    <a:pt x="231293" y="41963"/>
                  </a:lnTo>
                  <a:lnTo>
                    <a:pt x="273618" y="24069"/>
                  </a:lnTo>
                  <a:lnTo>
                    <a:pt x="318193" y="10903"/>
                  </a:lnTo>
                  <a:lnTo>
                    <a:pt x="364710" y="2777"/>
                  </a:lnTo>
                  <a:lnTo>
                    <a:pt x="412858" y="0"/>
                  </a:lnTo>
                  <a:lnTo>
                    <a:pt x="2064241" y="0"/>
                  </a:lnTo>
                  <a:lnTo>
                    <a:pt x="2110826" y="2635"/>
                  </a:lnTo>
                  <a:lnTo>
                    <a:pt x="2156458" y="10429"/>
                  </a:lnTo>
                  <a:lnTo>
                    <a:pt x="2200733" y="23214"/>
                  </a:lnTo>
                  <a:lnTo>
                    <a:pt x="2243246" y="40824"/>
                  </a:lnTo>
                  <a:lnTo>
                    <a:pt x="2283594" y="63090"/>
                  </a:lnTo>
                  <a:lnTo>
                    <a:pt x="2321372" y="89845"/>
                  </a:lnTo>
                  <a:lnTo>
                    <a:pt x="2356176" y="120923"/>
                  </a:lnTo>
                  <a:lnTo>
                    <a:pt x="2387253" y="155727"/>
                  </a:lnTo>
                  <a:lnTo>
                    <a:pt x="2414009" y="193505"/>
                  </a:lnTo>
                  <a:lnTo>
                    <a:pt x="2436275" y="233853"/>
                  </a:lnTo>
                  <a:lnTo>
                    <a:pt x="2453885" y="276366"/>
                  </a:lnTo>
                  <a:lnTo>
                    <a:pt x="2466670" y="320640"/>
                  </a:lnTo>
                  <a:lnTo>
                    <a:pt x="2474464" y="366272"/>
                  </a:lnTo>
                  <a:lnTo>
                    <a:pt x="2477099" y="412858"/>
                  </a:lnTo>
                  <a:lnTo>
                    <a:pt x="2477099" y="2821741"/>
                  </a:lnTo>
                  <a:lnTo>
                    <a:pt x="2474322" y="2869889"/>
                  </a:lnTo>
                  <a:lnTo>
                    <a:pt x="2466196" y="2916406"/>
                  </a:lnTo>
                  <a:lnTo>
                    <a:pt x="2453030" y="2960981"/>
                  </a:lnTo>
                  <a:lnTo>
                    <a:pt x="2435136" y="3003306"/>
                  </a:lnTo>
                  <a:lnTo>
                    <a:pt x="2412822" y="3043070"/>
                  </a:lnTo>
                  <a:lnTo>
                    <a:pt x="2386399" y="3079963"/>
                  </a:lnTo>
                  <a:lnTo>
                    <a:pt x="2356176" y="3113676"/>
                  </a:lnTo>
                  <a:lnTo>
                    <a:pt x="2322463" y="3143899"/>
                  </a:lnTo>
                  <a:lnTo>
                    <a:pt x="2285570" y="3170322"/>
                  </a:lnTo>
                  <a:lnTo>
                    <a:pt x="2245806" y="3192636"/>
                  </a:lnTo>
                  <a:lnTo>
                    <a:pt x="2203481" y="3210530"/>
                  </a:lnTo>
                  <a:lnTo>
                    <a:pt x="2158906" y="3223696"/>
                  </a:lnTo>
                  <a:lnTo>
                    <a:pt x="2112389" y="3231822"/>
                  </a:lnTo>
                  <a:lnTo>
                    <a:pt x="2064241" y="3234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37150" y="1128774"/>
              <a:ext cx="2477135" cy="3234690"/>
            </a:xfrm>
            <a:custGeom>
              <a:avLst/>
              <a:gdLst/>
              <a:ahLst/>
              <a:cxnLst/>
              <a:rect l="l" t="t" r="r" b="b"/>
              <a:pathLst>
                <a:path w="2477134" h="3234690">
                  <a:moveTo>
                    <a:pt x="0" y="412858"/>
                  </a:moveTo>
                  <a:lnTo>
                    <a:pt x="2777" y="364710"/>
                  </a:lnTo>
                  <a:lnTo>
                    <a:pt x="10903" y="318193"/>
                  </a:lnTo>
                  <a:lnTo>
                    <a:pt x="24069" y="273618"/>
                  </a:lnTo>
                  <a:lnTo>
                    <a:pt x="41963" y="231293"/>
                  </a:lnTo>
                  <a:lnTo>
                    <a:pt x="64277" y="191529"/>
                  </a:lnTo>
                  <a:lnTo>
                    <a:pt x="90700" y="154636"/>
                  </a:lnTo>
                  <a:lnTo>
                    <a:pt x="120923" y="120923"/>
                  </a:lnTo>
                  <a:lnTo>
                    <a:pt x="154636" y="90700"/>
                  </a:lnTo>
                  <a:lnTo>
                    <a:pt x="191529" y="64277"/>
                  </a:lnTo>
                  <a:lnTo>
                    <a:pt x="231293" y="41963"/>
                  </a:lnTo>
                  <a:lnTo>
                    <a:pt x="273618" y="24069"/>
                  </a:lnTo>
                  <a:lnTo>
                    <a:pt x="318193" y="10903"/>
                  </a:lnTo>
                  <a:lnTo>
                    <a:pt x="364710" y="2777"/>
                  </a:lnTo>
                  <a:lnTo>
                    <a:pt x="412858" y="0"/>
                  </a:lnTo>
                  <a:lnTo>
                    <a:pt x="2064241" y="0"/>
                  </a:lnTo>
                  <a:lnTo>
                    <a:pt x="2110826" y="2635"/>
                  </a:lnTo>
                  <a:lnTo>
                    <a:pt x="2156458" y="10429"/>
                  </a:lnTo>
                  <a:lnTo>
                    <a:pt x="2200733" y="23214"/>
                  </a:lnTo>
                  <a:lnTo>
                    <a:pt x="2243246" y="40824"/>
                  </a:lnTo>
                  <a:lnTo>
                    <a:pt x="2283594" y="63090"/>
                  </a:lnTo>
                  <a:lnTo>
                    <a:pt x="2321372" y="89845"/>
                  </a:lnTo>
                  <a:lnTo>
                    <a:pt x="2356176" y="120923"/>
                  </a:lnTo>
                  <a:lnTo>
                    <a:pt x="2387253" y="155727"/>
                  </a:lnTo>
                  <a:lnTo>
                    <a:pt x="2414009" y="193505"/>
                  </a:lnTo>
                  <a:lnTo>
                    <a:pt x="2436275" y="233853"/>
                  </a:lnTo>
                  <a:lnTo>
                    <a:pt x="2453885" y="276366"/>
                  </a:lnTo>
                  <a:lnTo>
                    <a:pt x="2466670" y="320640"/>
                  </a:lnTo>
                  <a:lnTo>
                    <a:pt x="2474464" y="366272"/>
                  </a:lnTo>
                  <a:lnTo>
                    <a:pt x="2477099" y="412858"/>
                  </a:lnTo>
                  <a:lnTo>
                    <a:pt x="2477099" y="2821741"/>
                  </a:lnTo>
                  <a:lnTo>
                    <a:pt x="2474322" y="2869889"/>
                  </a:lnTo>
                  <a:lnTo>
                    <a:pt x="2466196" y="2916406"/>
                  </a:lnTo>
                  <a:lnTo>
                    <a:pt x="2453030" y="2960981"/>
                  </a:lnTo>
                  <a:lnTo>
                    <a:pt x="2435136" y="3003306"/>
                  </a:lnTo>
                  <a:lnTo>
                    <a:pt x="2412822" y="3043070"/>
                  </a:lnTo>
                  <a:lnTo>
                    <a:pt x="2386399" y="3079963"/>
                  </a:lnTo>
                  <a:lnTo>
                    <a:pt x="2356176" y="3113676"/>
                  </a:lnTo>
                  <a:lnTo>
                    <a:pt x="2322463" y="3143899"/>
                  </a:lnTo>
                  <a:lnTo>
                    <a:pt x="2285570" y="3170322"/>
                  </a:lnTo>
                  <a:lnTo>
                    <a:pt x="2245806" y="3192636"/>
                  </a:lnTo>
                  <a:lnTo>
                    <a:pt x="2203481" y="3210530"/>
                  </a:lnTo>
                  <a:lnTo>
                    <a:pt x="2158906" y="3223696"/>
                  </a:lnTo>
                  <a:lnTo>
                    <a:pt x="2112389" y="3231822"/>
                  </a:lnTo>
                  <a:lnTo>
                    <a:pt x="2064241" y="3234599"/>
                  </a:lnTo>
                  <a:lnTo>
                    <a:pt x="412858" y="3234599"/>
                  </a:lnTo>
                  <a:lnTo>
                    <a:pt x="364710" y="3231822"/>
                  </a:lnTo>
                  <a:lnTo>
                    <a:pt x="318193" y="3223696"/>
                  </a:lnTo>
                  <a:lnTo>
                    <a:pt x="273618" y="3210530"/>
                  </a:lnTo>
                  <a:lnTo>
                    <a:pt x="231293" y="3192636"/>
                  </a:lnTo>
                  <a:lnTo>
                    <a:pt x="191529" y="3170322"/>
                  </a:lnTo>
                  <a:lnTo>
                    <a:pt x="154636" y="3143899"/>
                  </a:lnTo>
                  <a:lnTo>
                    <a:pt x="120923" y="3113676"/>
                  </a:lnTo>
                  <a:lnTo>
                    <a:pt x="90700" y="3079963"/>
                  </a:lnTo>
                  <a:lnTo>
                    <a:pt x="64277" y="3043070"/>
                  </a:lnTo>
                  <a:lnTo>
                    <a:pt x="41963" y="3003306"/>
                  </a:lnTo>
                  <a:lnTo>
                    <a:pt x="24069" y="2960981"/>
                  </a:lnTo>
                  <a:lnTo>
                    <a:pt x="10903" y="2916406"/>
                  </a:lnTo>
                  <a:lnTo>
                    <a:pt x="2777" y="2869889"/>
                  </a:lnTo>
                  <a:lnTo>
                    <a:pt x="0" y="2821741"/>
                  </a:lnTo>
                  <a:lnTo>
                    <a:pt x="0" y="412858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841463" y="1755501"/>
            <a:ext cx="2771140" cy="3942960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2652" indent="457189">
              <a:lnSpc>
                <a:spcPts val="1907"/>
              </a:lnSpc>
              <a:spcBef>
                <a:spcPts val="207"/>
              </a:spcBef>
            </a:pPr>
            <a:r>
              <a:rPr sz="1600" b="1" spc="-40" dirty="0">
                <a:latin typeface="Times New Roman"/>
                <a:cs typeface="Times New Roman"/>
              </a:rPr>
              <a:t>MAWPS</a:t>
            </a:r>
            <a:r>
              <a:rPr sz="1600" b="1" spc="3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- </a:t>
            </a:r>
            <a:r>
              <a:rPr sz="1600" b="1" spc="-7" dirty="0">
                <a:latin typeface="Times New Roman"/>
                <a:cs typeface="Times New Roman"/>
              </a:rPr>
              <a:t>MultiArith 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The school cafeteria </a:t>
            </a:r>
            <a:r>
              <a:rPr sz="1600" dirty="0">
                <a:latin typeface="Times New Roman"/>
                <a:cs typeface="Times New Roman"/>
              </a:rPr>
              <a:t>ordered 42 </a:t>
            </a:r>
            <a:r>
              <a:rPr sz="1600" spc="7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apples</a:t>
            </a:r>
            <a:r>
              <a:rPr sz="1600" spc="-27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and</a:t>
            </a:r>
            <a:r>
              <a:rPr sz="1600" spc="-27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7</a:t>
            </a:r>
            <a:r>
              <a:rPr sz="1600" spc="-1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green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apples</a:t>
            </a:r>
            <a:r>
              <a:rPr sz="1600" spc="-27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 </a:t>
            </a:r>
            <a:r>
              <a:rPr sz="1600" spc="-380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students lunches. But, if </a:t>
            </a:r>
            <a:r>
              <a:rPr sz="1600" dirty="0">
                <a:latin typeface="Times New Roman"/>
                <a:cs typeface="Times New Roman"/>
              </a:rPr>
              <a:t>only 9 </a:t>
            </a:r>
            <a:r>
              <a:rPr sz="1600" spc="7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students wanted </a:t>
            </a:r>
            <a:r>
              <a:rPr sz="1600" dirty="0">
                <a:latin typeface="Times New Roman"/>
                <a:cs typeface="Times New Roman"/>
              </a:rPr>
              <a:t>fruit, how </a:t>
            </a:r>
            <a:r>
              <a:rPr sz="1600" spc="-7" dirty="0">
                <a:latin typeface="Times New Roman"/>
                <a:cs typeface="Times New Roman"/>
              </a:rPr>
              <a:t>many </a:t>
            </a:r>
            <a:r>
              <a:rPr sz="1600" spc="-380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extra </a:t>
            </a:r>
            <a:r>
              <a:rPr sz="1600" dirty="0">
                <a:latin typeface="Times New Roman"/>
                <a:cs typeface="Times New Roman"/>
              </a:rPr>
              <a:t>did </a:t>
            </a:r>
            <a:r>
              <a:rPr sz="1600" spc="-7" dirty="0">
                <a:latin typeface="Times New Roman"/>
                <a:cs typeface="Times New Roman"/>
              </a:rPr>
              <a:t>the cafeteria end </a:t>
            </a:r>
            <a:r>
              <a:rPr sz="1600" dirty="0">
                <a:latin typeface="Times New Roman"/>
                <a:cs typeface="Times New Roman"/>
              </a:rPr>
              <a:t>up </a:t>
            </a:r>
            <a:r>
              <a:rPr sz="1600" spc="7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with?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33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67">
              <a:latin typeface="Times New Roman"/>
              <a:cs typeface="Times New Roman"/>
            </a:endParaRPr>
          </a:p>
          <a:p>
            <a:pPr marL="869505">
              <a:lnSpc>
                <a:spcPts val="1907"/>
              </a:lnSpc>
            </a:pPr>
            <a:r>
              <a:rPr sz="1600" b="1" spc="-20" dirty="0">
                <a:latin typeface="Times New Roman"/>
                <a:cs typeface="Times New Roman"/>
              </a:rPr>
              <a:t>AQuA-RAT</a:t>
            </a:r>
            <a:endParaRPr sz="1600">
              <a:latin typeface="Times New Roman"/>
              <a:cs typeface="Times New Roman"/>
            </a:endParaRPr>
          </a:p>
          <a:p>
            <a:pPr marL="16933" marR="72812" algn="just">
              <a:lnSpc>
                <a:spcPts val="1907"/>
              </a:lnSpc>
              <a:spcBef>
                <a:spcPts val="60"/>
              </a:spcBef>
            </a:pP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9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person </a:t>
            </a:r>
            <a:r>
              <a:rPr sz="1600" spc="-7" dirty="0">
                <a:latin typeface="Times New Roman"/>
                <a:cs typeface="Times New Roman"/>
              </a:rPr>
              <a:t>i</a:t>
            </a:r>
            <a:r>
              <a:rPr sz="1600" dirty="0">
                <a:latin typeface="Times New Roman"/>
                <a:cs typeface="Times New Roman"/>
              </a:rPr>
              <a:t>s</a:t>
            </a:r>
            <a:r>
              <a:rPr sz="1600" spc="-7" dirty="0">
                <a:latin typeface="Times New Roman"/>
                <a:cs typeface="Times New Roman"/>
              </a:rPr>
              <a:t> travelin</a:t>
            </a:r>
            <a:r>
              <a:rPr sz="1600" dirty="0">
                <a:latin typeface="Times New Roman"/>
                <a:cs typeface="Times New Roman"/>
              </a:rPr>
              <a:t>g</a:t>
            </a:r>
            <a:r>
              <a:rPr sz="1600" spc="-7" dirty="0">
                <a:latin typeface="Times New Roman"/>
                <a:cs typeface="Times New Roman"/>
              </a:rPr>
              <a:t> a</a:t>
            </a:r>
            <a:r>
              <a:rPr sz="1600" dirty="0">
                <a:latin typeface="Times New Roman"/>
                <a:cs typeface="Times New Roman"/>
              </a:rPr>
              <a:t>t</a:t>
            </a:r>
            <a:r>
              <a:rPr sz="1600" spc="-7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20 km/hr  </a:t>
            </a:r>
            <a:r>
              <a:rPr sz="1600" spc="-7" dirty="0">
                <a:latin typeface="Times New Roman"/>
                <a:cs typeface="Times New Roman"/>
              </a:rPr>
              <a:t>and </a:t>
            </a:r>
            <a:r>
              <a:rPr sz="1600" dirty="0">
                <a:latin typeface="Times New Roman"/>
                <a:cs typeface="Times New Roman"/>
              </a:rPr>
              <a:t>reached his destiny </a:t>
            </a:r>
            <a:r>
              <a:rPr sz="1600" spc="-7" dirty="0">
                <a:latin typeface="Times New Roman"/>
                <a:cs typeface="Times New Roman"/>
              </a:rPr>
              <a:t>in </a:t>
            </a:r>
            <a:r>
              <a:rPr sz="1600" dirty="0">
                <a:latin typeface="Times New Roman"/>
                <a:cs typeface="Times New Roman"/>
              </a:rPr>
              <a:t>2.5 hr </a:t>
            </a:r>
            <a:r>
              <a:rPr sz="1600" spc="-380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then</a:t>
            </a:r>
            <a:r>
              <a:rPr sz="1600" spc="-1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find</a:t>
            </a:r>
            <a:r>
              <a:rPr sz="1600" spc="-7" dirty="0">
                <a:latin typeface="Times New Roman"/>
                <a:cs typeface="Times New Roman"/>
              </a:rPr>
              <a:t> the</a:t>
            </a:r>
            <a:r>
              <a:rPr sz="1600" spc="-1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distance?</a:t>
            </a:r>
            <a:endParaRPr sz="1600">
              <a:latin typeface="Times New Roman"/>
              <a:cs typeface="Times New Roman"/>
            </a:endParaRPr>
          </a:p>
          <a:p>
            <a:pPr marL="16933" algn="just">
              <a:lnSpc>
                <a:spcPts val="1813"/>
              </a:lnSpc>
            </a:pPr>
            <a:r>
              <a:rPr sz="1600" spc="-7" dirty="0">
                <a:latin typeface="Times New Roman"/>
                <a:cs typeface="Times New Roman"/>
              </a:rPr>
              <a:t>Answer</a:t>
            </a:r>
            <a:r>
              <a:rPr sz="1600" spc="-27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Choices:</a:t>
            </a:r>
            <a:r>
              <a:rPr sz="1600" spc="-27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(a)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53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km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(b)</a:t>
            </a:r>
            <a:endParaRPr sz="1600">
              <a:latin typeface="Times New Roman"/>
              <a:cs typeface="Times New Roman"/>
            </a:endParaRPr>
          </a:p>
          <a:p>
            <a:pPr marL="16933" marR="6773" algn="just">
              <a:lnSpc>
                <a:spcPts val="1907"/>
              </a:lnSpc>
              <a:spcBef>
                <a:spcPts val="67"/>
              </a:spcBef>
            </a:pPr>
            <a:r>
              <a:rPr sz="1600" dirty="0">
                <a:latin typeface="Times New Roman"/>
                <a:cs typeface="Times New Roman"/>
              </a:rPr>
              <a:t>55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km</a:t>
            </a:r>
            <a:r>
              <a:rPr sz="1600" spc="-1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(c)</a:t>
            </a:r>
            <a:r>
              <a:rPr sz="1600" spc="-1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52</a:t>
            </a:r>
            <a:r>
              <a:rPr sz="1600" spc="-1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km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(d)</a:t>
            </a:r>
            <a:r>
              <a:rPr sz="1600" spc="-1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60</a:t>
            </a:r>
            <a:r>
              <a:rPr sz="1600" spc="-1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km</a:t>
            </a:r>
            <a:r>
              <a:rPr sz="1600" spc="-1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(e)</a:t>
            </a:r>
            <a:r>
              <a:rPr sz="1600" spc="-1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50 </a:t>
            </a:r>
            <a:r>
              <a:rPr sz="1600" spc="-39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km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5178" y="1347232"/>
            <a:ext cx="8216053" cy="4700693"/>
            <a:chOff x="116383" y="1010424"/>
            <a:chExt cx="6162040" cy="35255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383" y="1035216"/>
              <a:ext cx="6161464" cy="35003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4674" y="1019949"/>
              <a:ext cx="1880235" cy="1624965"/>
            </a:xfrm>
            <a:custGeom>
              <a:avLst/>
              <a:gdLst/>
              <a:ahLst/>
              <a:cxnLst/>
              <a:rect l="l" t="t" r="r" b="b"/>
              <a:pathLst>
                <a:path w="1880235" h="1624964">
                  <a:moveTo>
                    <a:pt x="0" y="0"/>
                  </a:moveTo>
                  <a:lnTo>
                    <a:pt x="1879799" y="0"/>
                  </a:lnTo>
                  <a:lnTo>
                    <a:pt x="1879799" y="1624799"/>
                  </a:lnTo>
                  <a:lnTo>
                    <a:pt x="0" y="1624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7" dirty="0"/>
              <a:t>Arithmetic</a:t>
            </a:r>
            <a:r>
              <a:rPr sz="4000" spc="-47" dirty="0"/>
              <a:t> </a:t>
            </a:r>
            <a:r>
              <a:rPr sz="4000" spc="-13" dirty="0"/>
              <a:t>Reasoning</a:t>
            </a:r>
            <a:r>
              <a:rPr sz="4000" spc="-47" dirty="0"/>
              <a:t> </a:t>
            </a:r>
            <a:r>
              <a:rPr sz="4000" dirty="0"/>
              <a:t>-</a:t>
            </a:r>
            <a:r>
              <a:rPr sz="4000" spc="-33" dirty="0"/>
              <a:t> </a:t>
            </a:r>
            <a:r>
              <a:rPr sz="4000" spc="-7" dirty="0"/>
              <a:t>Results</a:t>
            </a:r>
            <a:endParaRPr sz="400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33</a:t>
            </a:fld>
            <a:endParaRPr dirty="0"/>
          </a:p>
        </p:txBody>
      </p:sp>
      <p:grpSp>
        <p:nvGrpSpPr>
          <p:cNvPr id="6" name="object 6"/>
          <p:cNvGrpSpPr/>
          <p:nvPr/>
        </p:nvGrpSpPr>
        <p:grpSpPr>
          <a:xfrm>
            <a:off x="8576516" y="1498683"/>
            <a:ext cx="3315547" cy="4325620"/>
            <a:chOff x="6432387" y="1124012"/>
            <a:chExt cx="2486660" cy="3244215"/>
          </a:xfrm>
        </p:grpSpPr>
        <p:sp>
          <p:nvSpPr>
            <p:cNvPr id="7" name="object 7"/>
            <p:cNvSpPr/>
            <p:nvPr/>
          </p:nvSpPr>
          <p:spPr>
            <a:xfrm>
              <a:off x="6437150" y="1128774"/>
              <a:ext cx="2477135" cy="3234690"/>
            </a:xfrm>
            <a:custGeom>
              <a:avLst/>
              <a:gdLst/>
              <a:ahLst/>
              <a:cxnLst/>
              <a:rect l="l" t="t" r="r" b="b"/>
              <a:pathLst>
                <a:path w="2477134" h="3234690">
                  <a:moveTo>
                    <a:pt x="2064241" y="3234599"/>
                  </a:moveTo>
                  <a:lnTo>
                    <a:pt x="412858" y="3234599"/>
                  </a:lnTo>
                  <a:lnTo>
                    <a:pt x="364710" y="3231822"/>
                  </a:lnTo>
                  <a:lnTo>
                    <a:pt x="318193" y="3223696"/>
                  </a:lnTo>
                  <a:lnTo>
                    <a:pt x="273618" y="3210530"/>
                  </a:lnTo>
                  <a:lnTo>
                    <a:pt x="231293" y="3192636"/>
                  </a:lnTo>
                  <a:lnTo>
                    <a:pt x="191529" y="3170322"/>
                  </a:lnTo>
                  <a:lnTo>
                    <a:pt x="154636" y="3143899"/>
                  </a:lnTo>
                  <a:lnTo>
                    <a:pt x="120923" y="3113676"/>
                  </a:lnTo>
                  <a:lnTo>
                    <a:pt x="90700" y="3079963"/>
                  </a:lnTo>
                  <a:lnTo>
                    <a:pt x="64277" y="3043070"/>
                  </a:lnTo>
                  <a:lnTo>
                    <a:pt x="41963" y="3003306"/>
                  </a:lnTo>
                  <a:lnTo>
                    <a:pt x="24069" y="2960981"/>
                  </a:lnTo>
                  <a:lnTo>
                    <a:pt x="10903" y="2916406"/>
                  </a:lnTo>
                  <a:lnTo>
                    <a:pt x="2777" y="2869889"/>
                  </a:lnTo>
                  <a:lnTo>
                    <a:pt x="0" y="2821741"/>
                  </a:lnTo>
                  <a:lnTo>
                    <a:pt x="0" y="412858"/>
                  </a:lnTo>
                  <a:lnTo>
                    <a:pt x="2777" y="364710"/>
                  </a:lnTo>
                  <a:lnTo>
                    <a:pt x="10903" y="318193"/>
                  </a:lnTo>
                  <a:lnTo>
                    <a:pt x="24069" y="273618"/>
                  </a:lnTo>
                  <a:lnTo>
                    <a:pt x="41963" y="231293"/>
                  </a:lnTo>
                  <a:lnTo>
                    <a:pt x="64277" y="191529"/>
                  </a:lnTo>
                  <a:lnTo>
                    <a:pt x="90700" y="154636"/>
                  </a:lnTo>
                  <a:lnTo>
                    <a:pt x="120923" y="120923"/>
                  </a:lnTo>
                  <a:lnTo>
                    <a:pt x="154636" y="90700"/>
                  </a:lnTo>
                  <a:lnTo>
                    <a:pt x="191529" y="64277"/>
                  </a:lnTo>
                  <a:lnTo>
                    <a:pt x="231293" y="41963"/>
                  </a:lnTo>
                  <a:lnTo>
                    <a:pt x="273618" y="24069"/>
                  </a:lnTo>
                  <a:lnTo>
                    <a:pt x="318193" y="10903"/>
                  </a:lnTo>
                  <a:lnTo>
                    <a:pt x="364710" y="2777"/>
                  </a:lnTo>
                  <a:lnTo>
                    <a:pt x="412858" y="0"/>
                  </a:lnTo>
                  <a:lnTo>
                    <a:pt x="2064241" y="0"/>
                  </a:lnTo>
                  <a:lnTo>
                    <a:pt x="2110826" y="2635"/>
                  </a:lnTo>
                  <a:lnTo>
                    <a:pt x="2156458" y="10429"/>
                  </a:lnTo>
                  <a:lnTo>
                    <a:pt x="2200733" y="23214"/>
                  </a:lnTo>
                  <a:lnTo>
                    <a:pt x="2243246" y="40824"/>
                  </a:lnTo>
                  <a:lnTo>
                    <a:pt x="2283594" y="63090"/>
                  </a:lnTo>
                  <a:lnTo>
                    <a:pt x="2321372" y="89845"/>
                  </a:lnTo>
                  <a:lnTo>
                    <a:pt x="2356176" y="120923"/>
                  </a:lnTo>
                  <a:lnTo>
                    <a:pt x="2387253" y="155727"/>
                  </a:lnTo>
                  <a:lnTo>
                    <a:pt x="2414009" y="193505"/>
                  </a:lnTo>
                  <a:lnTo>
                    <a:pt x="2436275" y="233853"/>
                  </a:lnTo>
                  <a:lnTo>
                    <a:pt x="2453885" y="276366"/>
                  </a:lnTo>
                  <a:lnTo>
                    <a:pt x="2466670" y="320640"/>
                  </a:lnTo>
                  <a:lnTo>
                    <a:pt x="2474464" y="366272"/>
                  </a:lnTo>
                  <a:lnTo>
                    <a:pt x="2477099" y="412858"/>
                  </a:lnTo>
                  <a:lnTo>
                    <a:pt x="2477099" y="2821741"/>
                  </a:lnTo>
                  <a:lnTo>
                    <a:pt x="2474322" y="2869889"/>
                  </a:lnTo>
                  <a:lnTo>
                    <a:pt x="2466196" y="2916406"/>
                  </a:lnTo>
                  <a:lnTo>
                    <a:pt x="2453030" y="2960981"/>
                  </a:lnTo>
                  <a:lnTo>
                    <a:pt x="2435136" y="3003306"/>
                  </a:lnTo>
                  <a:lnTo>
                    <a:pt x="2412822" y="3043070"/>
                  </a:lnTo>
                  <a:lnTo>
                    <a:pt x="2386399" y="3079963"/>
                  </a:lnTo>
                  <a:lnTo>
                    <a:pt x="2356176" y="3113676"/>
                  </a:lnTo>
                  <a:lnTo>
                    <a:pt x="2322463" y="3143899"/>
                  </a:lnTo>
                  <a:lnTo>
                    <a:pt x="2285570" y="3170322"/>
                  </a:lnTo>
                  <a:lnTo>
                    <a:pt x="2245806" y="3192636"/>
                  </a:lnTo>
                  <a:lnTo>
                    <a:pt x="2203481" y="3210530"/>
                  </a:lnTo>
                  <a:lnTo>
                    <a:pt x="2158906" y="3223696"/>
                  </a:lnTo>
                  <a:lnTo>
                    <a:pt x="2112389" y="3231822"/>
                  </a:lnTo>
                  <a:lnTo>
                    <a:pt x="2064241" y="3234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437150" y="1128774"/>
              <a:ext cx="2477135" cy="3234690"/>
            </a:xfrm>
            <a:custGeom>
              <a:avLst/>
              <a:gdLst/>
              <a:ahLst/>
              <a:cxnLst/>
              <a:rect l="l" t="t" r="r" b="b"/>
              <a:pathLst>
                <a:path w="2477134" h="3234690">
                  <a:moveTo>
                    <a:pt x="0" y="412858"/>
                  </a:moveTo>
                  <a:lnTo>
                    <a:pt x="2777" y="364710"/>
                  </a:lnTo>
                  <a:lnTo>
                    <a:pt x="10903" y="318193"/>
                  </a:lnTo>
                  <a:lnTo>
                    <a:pt x="24069" y="273618"/>
                  </a:lnTo>
                  <a:lnTo>
                    <a:pt x="41963" y="231293"/>
                  </a:lnTo>
                  <a:lnTo>
                    <a:pt x="64277" y="191529"/>
                  </a:lnTo>
                  <a:lnTo>
                    <a:pt x="90700" y="154636"/>
                  </a:lnTo>
                  <a:lnTo>
                    <a:pt x="120923" y="120923"/>
                  </a:lnTo>
                  <a:lnTo>
                    <a:pt x="154636" y="90700"/>
                  </a:lnTo>
                  <a:lnTo>
                    <a:pt x="191529" y="64277"/>
                  </a:lnTo>
                  <a:lnTo>
                    <a:pt x="231293" y="41963"/>
                  </a:lnTo>
                  <a:lnTo>
                    <a:pt x="273618" y="24069"/>
                  </a:lnTo>
                  <a:lnTo>
                    <a:pt x="318193" y="10903"/>
                  </a:lnTo>
                  <a:lnTo>
                    <a:pt x="364710" y="2777"/>
                  </a:lnTo>
                  <a:lnTo>
                    <a:pt x="412858" y="0"/>
                  </a:lnTo>
                  <a:lnTo>
                    <a:pt x="2064241" y="0"/>
                  </a:lnTo>
                  <a:lnTo>
                    <a:pt x="2110826" y="2635"/>
                  </a:lnTo>
                  <a:lnTo>
                    <a:pt x="2156458" y="10429"/>
                  </a:lnTo>
                  <a:lnTo>
                    <a:pt x="2200733" y="23214"/>
                  </a:lnTo>
                  <a:lnTo>
                    <a:pt x="2243246" y="40824"/>
                  </a:lnTo>
                  <a:lnTo>
                    <a:pt x="2283594" y="63090"/>
                  </a:lnTo>
                  <a:lnTo>
                    <a:pt x="2321372" y="89845"/>
                  </a:lnTo>
                  <a:lnTo>
                    <a:pt x="2356176" y="120923"/>
                  </a:lnTo>
                  <a:lnTo>
                    <a:pt x="2387253" y="155727"/>
                  </a:lnTo>
                  <a:lnTo>
                    <a:pt x="2414009" y="193505"/>
                  </a:lnTo>
                  <a:lnTo>
                    <a:pt x="2436275" y="233853"/>
                  </a:lnTo>
                  <a:lnTo>
                    <a:pt x="2453885" y="276366"/>
                  </a:lnTo>
                  <a:lnTo>
                    <a:pt x="2466670" y="320640"/>
                  </a:lnTo>
                  <a:lnTo>
                    <a:pt x="2474464" y="366272"/>
                  </a:lnTo>
                  <a:lnTo>
                    <a:pt x="2477099" y="412858"/>
                  </a:lnTo>
                  <a:lnTo>
                    <a:pt x="2477099" y="2821741"/>
                  </a:lnTo>
                  <a:lnTo>
                    <a:pt x="2474322" y="2869889"/>
                  </a:lnTo>
                  <a:lnTo>
                    <a:pt x="2466196" y="2916406"/>
                  </a:lnTo>
                  <a:lnTo>
                    <a:pt x="2453030" y="2960981"/>
                  </a:lnTo>
                  <a:lnTo>
                    <a:pt x="2435136" y="3003306"/>
                  </a:lnTo>
                  <a:lnTo>
                    <a:pt x="2412822" y="3043070"/>
                  </a:lnTo>
                  <a:lnTo>
                    <a:pt x="2386399" y="3079963"/>
                  </a:lnTo>
                  <a:lnTo>
                    <a:pt x="2356176" y="3113676"/>
                  </a:lnTo>
                  <a:lnTo>
                    <a:pt x="2322463" y="3143899"/>
                  </a:lnTo>
                  <a:lnTo>
                    <a:pt x="2285570" y="3170322"/>
                  </a:lnTo>
                  <a:lnTo>
                    <a:pt x="2245806" y="3192636"/>
                  </a:lnTo>
                  <a:lnTo>
                    <a:pt x="2203481" y="3210530"/>
                  </a:lnTo>
                  <a:lnTo>
                    <a:pt x="2158906" y="3223696"/>
                  </a:lnTo>
                  <a:lnTo>
                    <a:pt x="2112389" y="3231822"/>
                  </a:lnTo>
                  <a:lnTo>
                    <a:pt x="2064241" y="3234599"/>
                  </a:lnTo>
                  <a:lnTo>
                    <a:pt x="412858" y="3234599"/>
                  </a:lnTo>
                  <a:lnTo>
                    <a:pt x="364710" y="3231822"/>
                  </a:lnTo>
                  <a:lnTo>
                    <a:pt x="318193" y="3223696"/>
                  </a:lnTo>
                  <a:lnTo>
                    <a:pt x="273618" y="3210530"/>
                  </a:lnTo>
                  <a:lnTo>
                    <a:pt x="231293" y="3192636"/>
                  </a:lnTo>
                  <a:lnTo>
                    <a:pt x="191529" y="3170322"/>
                  </a:lnTo>
                  <a:lnTo>
                    <a:pt x="154636" y="3143899"/>
                  </a:lnTo>
                  <a:lnTo>
                    <a:pt x="120923" y="3113676"/>
                  </a:lnTo>
                  <a:lnTo>
                    <a:pt x="90700" y="3079963"/>
                  </a:lnTo>
                  <a:lnTo>
                    <a:pt x="64277" y="3043070"/>
                  </a:lnTo>
                  <a:lnTo>
                    <a:pt x="41963" y="3003306"/>
                  </a:lnTo>
                  <a:lnTo>
                    <a:pt x="24069" y="2960981"/>
                  </a:lnTo>
                  <a:lnTo>
                    <a:pt x="10903" y="2916406"/>
                  </a:lnTo>
                  <a:lnTo>
                    <a:pt x="2777" y="2869889"/>
                  </a:lnTo>
                  <a:lnTo>
                    <a:pt x="0" y="2821741"/>
                  </a:lnTo>
                  <a:lnTo>
                    <a:pt x="0" y="412858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841463" y="1755501"/>
            <a:ext cx="2771140" cy="3942960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2652" indent="457189">
              <a:lnSpc>
                <a:spcPts val="1907"/>
              </a:lnSpc>
              <a:spcBef>
                <a:spcPts val="207"/>
              </a:spcBef>
            </a:pPr>
            <a:r>
              <a:rPr sz="1600" b="1" spc="-40" dirty="0">
                <a:latin typeface="Times New Roman"/>
                <a:cs typeface="Times New Roman"/>
              </a:rPr>
              <a:t>MAWPS</a:t>
            </a:r>
            <a:r>
              <a:rPr sz="1600" b="1" spc="3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- </a:t>
            </a:r>
            <a:r>
              <a:rPr sz="1600" b="1" spc="-7" dirty="0">
                <a:latin typeface="Times New Roman"/>
                <a:cs typeface="Times New Roman"/>
              </a:rPr>
              <a:t>MultiArith 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The school cafeteria </a:t>
            </a:r>
            <a:r>
              <a:rPr sz="1600" dirty="0">
                <a:latin typeface="Times New Roman"/>
                <a:cs typeface="Times New Roman"/>
              </a:rPr>
              <a:t>ordered 42 </a:t>
            </a:r>
            <a:r>
              <a:rPr sz="1600" spc="7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apples</a:t>
            </a:r>
            <a:r>
              <a:rPr sz="1600" spc="-27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and</a:t>
            </a:r>
            <a:r>
              <a:rPr sz="1600" spc="-27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7</a:t>
            </a:r>
            <a:r>
              <a:rPr sz="1600" spc="-1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green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apples</a:t>
            </a:r>
            <a:r>
              <a:rPr sz="1600" spc="-27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 </a:t>
            </a:r>
            <a:r>
              <a:rPr sz="1600" spc="-380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students lunches. But, if </a:t>
            </a:r>
            <a:r>
              <a:rPr sz="1600" dirty="0">
                <a:latin typeface="Times New Roman"/>
                <a:cs typeface="Times New Roman"/>
              </a:rPr>
              <a:t>only 9 </a:t>
            </a:r>
            <a:r>
              <a:rPr sz="1600" spc="7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students wanted </a:t>
            </a:r>
            <a:r>
              <a:rPr sz="1600" dirty="0">
                <a:latin typeface="Times New Roman"/>
                <a:cs typeface="Times New Roman"/>
              </a:rPr>
              <a:t>fruit, how </a:t>
            </a:r>
            <a:r>
              <a:rPr sz="1600" spc="-7" dirty="0">
                <a:latin typeface="Times New Roman"/>
                <a:cs typeface="Times New Roman"/>
              </a:rPr>
              <a:t>many </a:t>
            </a:r>
            <a:r>
              <a:rPr sz="1600" spc="-380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extra </a:t>
            </a:r>
            <a:r>
              <a:rPr sz="1600" dirty="0">
                <a:latin typeface="Times New Roman"/>
                <a:cs typeface="Times New Roman"/>
              </a:rPr>
              <a:t>did </a:t>
            </a:r>
            <a:r>
              <a:rPr sz="1600" spc="-7" dirty="0">
                <a:latin typeface="Times New Roman"/>
                <a:cs typeface="Times New Roman"/>
              </a:rPr>
              <a:t>the cafeteria end </a:t>
            </a:r>
            <a:r>
              <a:rPr sz="1600" dirty="0">
                <a:latin typeface="Times New Roman"/>
                <a:cs typeface="Times New Roman"/>
              </a:rPr>
              <a:t>up </a:t>
            </a:r>
            <a:r>
              <a:rPr sz="1600" spc="7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with?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33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67">
              <a:latin typeface="Times New Roman"/>
              <a:cs typeface="Times New Roman"/>
            </a:endParaRPr>
          </a:p>
          <a:p>
            <a:pPr marL="869505">
              <a:lnSpc>
                <a:spcPts val="1907"/>
              </a:lnSpc>
            </a:pPr>
            <a:r>
              <a:rPr sz="1600" b="1" spc="-20" dirty="0">
                <a:latin typeface="Times New Roman"/>
                <a:cs typeface="Times New Roman"/>
              </a:rPr>
              <a:t>AQuA-RAT</a:t>
            </a:r>
            <a:endParaRPr sz="1600">
              <a:latin typeface="Times New Roman"/>
              <a:cs typeface="Times New Roman"/>
            </a:endParaRPr>
          </a:p>
          <a:p>
            <a:pPr marL="16933" marR="72812" algn="just">
              <a:lnSpc>
                <a:spcPts val="1907"/>
              </a:lnSpc>
              <a:spcBef>
                <a:spcPts val="60"/>
              </a:spcBef>
            </a:pP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9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person </a:t>
            </a:r>
            <a:r>
              <a:rPr sz="1600" spc="-7" dirty="0">
                <a:latin typeface="Times New Roman"/>
                <a:cs typeface="Times New Roman"/>
              </a:rPr>
              <a:t>i</a:t>
            </a:r>
            <a:r>
              <a:rPr sz="1600" dirty="0">
                <a:latin typeface="Times New Roman"/>
                <a:cs typeface="Times New Roman"/>
              </a:rPr>
              <a:t>s</a:t>
            </a:r>
            <a:r>
              <a:rPr sz="1600" spc="-7" dirty="0">
                <a:latin typeface="Times New Roman"/>
                <a:cs typeface="Times New Roman"/>
              </a:rPr>
              <a:t> travelin</a:t>
            </a:r>
            <a:r>
              <a:rPr sz="1600" dirty="0">
                <a:latin typeface="Times New Roman"/>
                <a:cs typeface="Times New Roman"/>
              </a:rPr>
              <a:t>g</a:t>
            </a:r>
            <a:r>
              <a:rPr sz="1600" spc="-7" dirty="0">
                <a:latin typeface="Times New Roman"/>
                <a:cs typeface="Times New Roman"/>
              </a:rPr>
              <a:t> a</a:t>
            </a:r>
            <a:r>
              <a:rPr sz="1600" dirty="0">
                <a:latin typeface="Times New Roman"/>
                <a:cs typeface="Times New Roman"/>
              </a:rPr>
              <a:t>t</a:t>
            </a:r>
            <a:r>
              <a:rPr sz="1600" spc="-7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20 km/hr  </a:t>
            </a:r>
            <a:r>
              <a:rPr sz="1600" spc="-7" dirty="0">
                <a:latin typeface="Times New Roman"/>
                <a:cs typeface="Times New Roman"/>
              </a:rPr>
              <a:t>and </a:t>
            </a:r>
            <a:r>
              <a:rPr sz="1600" dirty="0">
                <a:latin typeface="Times New Roman"/>
                <a:cs typeface="Times New Roman"/>
              </a:rPr>
              <a:t>reached his destiny </a:t>
            </a:r>
            <a:r>
              <a:rPr sz="1600" spc="-7" dirty="0">
                <a:latin typeface="Times New Roman"/>
                <a:cs typeface="Times New Roman"/>
              </a:rPr>
              <a:t>in </a:t>
            </a:r>
            <a:r>
              <a:rPr sz="1600" dirty="0">
                <a:latin typeface="Times New Roman"/>
                <a:cs typeface="Times New Roman"/>
              </a:rPr>
              <a:t>2.5 hr </a:t>
            </a:r>
            <a:r>
              <a:rPr sz="1600" spc="-380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then</a:t>
            </a:r>
            <a:r>
              <a:rPr sz="1600" spc="-1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find</a:t>
            </a:r>
            <a:r>
              <a:rPr sz="1600" spc="-7" dirty="0">
                <a:latin typeface="Times New Roman"/>
                <a:cs typeface="Times New Roman"/>
              </a:rPr>
              <a:t> the</a:t>
            </a:r>
            <a:r>
              <a:rPr sz="1600" spc="-1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distance?</a:t>
            </a:r>
            <a:endParaRPr sz="1600">
              <a:latin typeface="Times New Roman"/>
              <a:cs typeface="Times New Roman"/>
            </a:endParaRPr>
          </a:p>
          <a:p>
            <a:pPr marL="16933" algn="just">
              <a:lnSpc>
                <a:spcPts val="1813"/>
              </a:lnSpc>
            </a:pPr>
            <a:r>
              <a:rPr sz="1600" spc="-7" dirty="0">
                <a:latin typeface="Times New Roman"/>
                <a:cs typeface="Times New Roman"/>
              </a:rPr>
              <a:t>Answer</a:t>
            </a:r>
            <a:r>
              <a:rPr sz="1600" spc="-27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Choices:</a:t>
            </a:r>
            <a:r>
              <a:rPr sz="1600" spc="-27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(a)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53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km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(b)</a:t>
            </a:r>
            <a:endParaRPr sz="1600">
              <a:latin typeface="Times New Roman"/>
              <a:cs typeface="Times New Roman"/>
            </a:endParaRPr>
          </a:p>
          <a:p>
            <a:pPr marL="16933" marR="6773" algn="just">
              <a:lnSpc>
                <a:spcPts val="1907"/>
              </a:lnSpc>
              <a:spcBef>
                <a:spcPts val="67"/>
              </a:spcBef>
            </a:pPr>
            <a:r>
              <a:rPr sz="1600" dirty="0">
                <a:latin typeface="Times New Roman"/>
                <a:cs typeface="Times New Roman"/>
              </a:rPr>
              <a:t>55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km</a:t>
            </a:r>
            <a:r>
              <a:rPr sz="1600" spc="-1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(c)</a:t>
            </a:r>
            <a:r>
              <a:rPr sz="1600" spc="-1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52</a:t>
            </a:r>
            <a:r>
              <a:rPr sz="1600" spc="-1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km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(d)</a:t>
            </a:r>
            <a:r>
              <a:rPr sz="1600" spc="-1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60</a:t>
            </a:r>
            <a:r>
              <a:rPr sz="1600" spc="-1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km</a:t>
            </a:r>
            <a:r>
              <a:rPr sz="1600" spc="-1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(e)</a:t>
            </a:r>
            <a:r>
              <a:rPr sz="1600" spc="-1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50 </a:t>
            </a:r>
            <a:r>
              <a:rPr sz="1600" spc="-39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km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7" dirty="0"/>
              <a:t>Arithmetic</a:t>
            </a:r>
            <a:r>
              <a:rPr sz="4000" spc="-47" dirty="0"/>
              <a:t> </a:t>
            </a:r>
            <a:r>
              <a:rPr sz="4000" spc="-13" dirty="0"/>
              <a:t>Reasoning</a:t>
            </a:r>
            <a:r>
              <a:rPr sz="4000" spc="-47" dirty="0"/>
              <a:t> </a:t>
            </a:r>
            <a:r>
              <a:rPr sz="4000" dirty="0"/>
              <a:t>-</a:t>
            </a:r>
            <a:r>
              <a:rPr sz="4000" spc="-33" dirty="0"/>
              <a:t> </a:t>
            </a:r>
            <a:r>
              <a:rPr sz="4000" spc="-7" dirty="0"/>
              <a:t>Observations</a:t>
            </a:r>
            <a:endParaRPr sz="40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34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3895" y="1693129"/>
            <a:ext cx="5936827" cy="431507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85128" marR="6773" indent="-469042">
              <a:spcBef>
                <a:spcPts val="133"/>
              </a:spcBef>
              <a:buFont typeface="Arial MT"/>
              <a:buChar char="●"/>
              <a:tabLst>
                <a:tab pos="485128" algn="l"/>
                <a:tab pos="485975" algn="l"/>
              </a:tabLst>
            </a:pPr>
            <a:r>
              <a:rPr sz="2133" spc="-7" dirty="0">
                <a:latin typeface="Times New Roman"/>
                <a:cs typeface="Times New Roman"/>
              </a:rPr>
              <a:t>Both zero-shot and </a:t>
            </a:r>
            <a:r>
              <a:rPr sz="2133" dirty="0">
                <a:latin typeface="Times New Roman"/>
                <a:cs typeface="Times New Roman"/>
              </a:rPr>
              <a:t>few-shot </a:t>
            </a:r>
            <a:r>
              <a:rPr sz="2133" spc="-7" dirty="0">
                <a:latin typeface="Times New Roman"/>
                <a:cs typeface="Times New Roman"/>
              </a:rPr>
              <a:t>chain </a:t>
            </a:r>
            <a:r>
              <a:rPr sz="2133" dirty="0">
                <a:latin typeface="Times New Roman"/>
                <a:cs typeface="Times New Roman"/>
              </a:rPr>
              <a:t>of </a:t>
            </a:r>
            <a:r>
              <a:rPr sz="2133" spc="-7" dirty="0">
                <a:latin typeface="Times New Roman"/>
                <a:cs typeface="Times New Roman"/>
              </a:rPr>
              <a:t>thought </a:t>
            </a:r>
            <a:r>
              <a:rPr sz="2133" dirty="0">
                <a:latin typeface="Times New Roman"/>
                <a:cs typeface="Times New Roman"/>
              </a:rPr>
              <a:t> promptings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are</a:t>
            </a:r>
            <a:r>
              <a:rPr sz="2133" spc="-20" dirty="0">
                <a:latin typeface="Times New Roman"/>
                <a:cs typeface="Times New Roman"/>
              </a:rPr>
              <a:t> </a:t>
            </a:r>
            <a:r>
              <a:rPr sz="2133" spc="-13" dirty="0">
                <a:latin typeface="Times New Roman"/>
                <a:cs typeface="Times New Roman"/>
              </a:rPr>
              <a:t>emergent</a:t>
            </a:r>
            <a:r>
              <a:rPr sz="2133" spc="-7" dirty="0">
                <a:latin typeface="Times New Roman"/>
                <a:cs typeface="Times New Roman"/>
              </a:rPr>
              <a:t> </a:t>
            </a:r>
            <a:r>
              <a:rPr sz="2133" b="1" dirty="0">
                <a:latin typeface="Times New Roman"/>
                <a:cs typeface="Times New Roman"/>
              </a:rPr>
              <a:t>abilities</a:t>
            </a:r>
            <a:r>
              <a:rPr sz="2133" b="1" spc="-13" dirty="0">
                <a:latin typeface="Times New Roman"/>
                <a:cs typeface="Times New Roman"/>
              </a:rPr>
              <a:t> </a:t>
            </a:r>
            <a:r>
              <a:rPr sz="2133" b="1" dirty="0">
                <a:latin typeface="Times New Roman"/>
                <a:cs typeface="Times New Roman"/>
              </a:rPr>
              <a:t>of</a:t>
            </a:r>
            <a:r>
              <a:rPr sz="2133" b="1" spc="-13" dirty="0">
                <a:latin typeface="Times New Roman"/>
                <a:cs typeface="Times New Roman"/>
              </a:rPr>
              <a:t> </a:t>
            </a:r>
            <a:r>
              <a:rPr sz="2133" b="1" dirty="0">
                <a:latin typeface="Times New Roman"/>
                <a:cs typeface="Times New Roman"/>
              </a:rPr>
              <a:t>model</a:t>
            </a:r>
            <a:r>
              <a:rPr sz="2133" b="1" spc="-13" dirty="0">
                <a:latin typeface="Times New Roman"/>
                <a:cs typeface="Times New Roman"/>
              </a:rPr>
              <a:t> </a:t>
            </a:r>
            <a:r>
              <a:rPr sz="2133" b="1" spc="-7" dirty="0">
                <a:latin typeface="Times New Roman"/>
                <a:cs typeface="Times New Roman"/>
              </a:rPr>
              <a:t>scale</a:t>
            </a:r>
            <a:r>
              <a:rPr sz="2133" spc="-7" dirty="0">
                <a:latin typeface="Times New Roman"/>
                <a:cs typeface="Times New Roman"/>
              </a:rPr>
              <a:t>.</a:t>
            </a:r>
            <a:endParaRPr sz="2133">
              <a:latin typeface="Times New Roman"/>
              <a:cs typeface="Times New Roman"/>
            </a:endParaRPr>
          </a:p>
          <a:p>
            <a:pPr>
              <a:spcBef>
                <a:spcPts val="27"/>
              </a:spcBef>
              <a:buFont typeface="Arial MT"/>
              <a:buChar char="●"/>
            </a:pPr>
            <a:endParaRPr sz="2200">
              <a:latin typeface="Times New Roman"/>
              <a:cs typeface="Times New Roman"/>
            </a:endParaRPr>
          </a:p>
          <a:p>
            <a:pPr marL="485128" marR="27939" indent="-469042">
              <a:buFont typeface="Arial MT"/>
              <a:buChar char="●"/>
              <a:tabLst>
                <a:tab pos="485128" algn="l"/>
                <a:tab pos="485975" algn="l"/>
              </a:tabLst>
            </a:pPr>
            <a:r>
              <a:rPr sz="2133" spc="-7" dirty="0">
                <a:latin typeface="Times New Roman"/>
                <a:cs typeface="Times New Roman"/>
              </a:rPr>
              <a:t>They </a:t>
            </a:r>
            <a:r>
              <a:rPr sz="2133" dirty="0">
                <a:latin typeface="Times New Roman"/>
                <a:cs typeface="Times New Roman"/>
              </a:rPr>
              <a:t>do not positively </a:t>
            </a:r>
            <a:r>
              <a:rPr sz="2133" spc="-7" dirty="0">
                <a:latin typeface="Times New Roman"/>
                <a:cs typeface="Times New Roman"/>
              </a:rPr>
              <a:t>impact </a:t>
            </a:r>
            <a:r>
              <a:rPr sz="2133" dirty="0">
                <a:latin typeface="Times New Roman"/>
                <a:cs typeface="Times New Roman"/>
              </a:rPr>
              <a:t>performance for </a:t>
            </a:r>
            <a:r>
              <a:rPr sz="2133" spc="7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small</a:t>
            </a:r>
            <a:r>
              <a:rPr sz="2133" spc="-27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models,</a:t>
            </a:r>
            <a:r>
              <a:rPr sz="2133" spc="-20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but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start</a:t>
            </a:r>
            <a:r>
              <a:rPr sz="2133" spc="-20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to</a:t>
            </a:r>
            <a:r>
              <a:rPr sz="2133" spc="-27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yield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performance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gains </a:t>
            </a:r>
            <a:r>
              <a:rPr sz="2133" spc="-51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when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used</a:t>
            </a:r>
            <a:r>
              <a:rPr sz="2133" spc="-7" dirty="0">
                <a:latin typeface="Times New Roman"/>
                <a:cs typeface="Times New Roman"/>
              </a:rPr>
              <a:t> with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models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with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more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than</a:t>
            </a:r>
            <a:r>
              <a:rPr sz="2133" spc="3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MS UI Gothic"/>
                <a:cs typeface="MS UI Gothic"/>
              </a:rPr>
              <a:t>∼</a:t>
            </a:r>
            <a:r>
              <a:rPr sz="2133" spc="-7" dirty="0">
                <a:latin typeface="Times New Roman"/>
                <a:cs typeface="Times New Roman"/>
              </a:rPr>
              <a:t>100B </a:t>
            </a:r>
            <a:r>
              <a:rPr sz="2133" dirty="0">
                <a:latin typeface="Times New Roman"/>
                <a:cs typeface="Times New Roman"/>
              </a:rPr>
              <a:t> parameters.</a:t>
            </a:r>
            <a:endParaRPr sz="2133">
              <a:latin typeface="Times New Roman"/>
              <a:cs typeface="Times New Roman"/>
            </a:endParaRPr>
          </a:p>
          <a:p>
            <a:pPr>
              <a:spcBef>
                <a:spcPts val="33"/>
              </a:spcBef>
              <a:buFont typeface="Arial MT"/>
              <a:buChar char="●"/>
            </a:pPr>
            <a:endParaRPr sz="2200">
              <a:latin typeface="Times New Roman"/>
              <a:cs typeface="Times New Roman"/>
            </a:endParaRPr>
          </a:p>
          <a:p>
            <a:pPr marL="485128" marR="353051" indent="-469042">
              <a:buFont typeface="Arial MT"/>
              <a:buChar char="●"/>
              <a:tabLst>
                <a:tab pos="485128" algn="l"/>
                <a:tab pos="485975" algn="l"/>
              </a:tabLst>
            </a:pPr>
            <a:r>
              <a:rPr sz="2133" spc="-7" dirty="0">
                <a:latin typeface="Times New Roman"/>
                <a:cs typeface="Times New Roman"/>
              </a:rPr>
              <a:t>Few-shot CoT achieves </a:t>
            </a:r>
            <a:r>
              <a:rPr sz="2133" b="1" spc="-7" dirty="0">
                <a:latin typeface="Times New Roman"/>
                <a:cs typeface="Times New Roman"/>
              </a:rPr>
              <a:t>better </a:t>
            </a:r>
            <a:r>
              <a:rPr sz="2133" dirty="0">
                <a:latin typeface="Times New Roman"/>
                <a:cs typeface="Times New Roman"/>
              </a:rPr>
              <a:t>performance on </a:t>
            </a:r>
            <a:r>
              <a:rPr sz="2133" spc="-51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LLM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than zero-shot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spc="-47" dirty="0">
                <a:latin typeface="Times New Roman"/>
                <a:cs typeface="Times New Roman"/>
              </a:rPr>
              <a:t>CoT.</a:t>
            </a:r>
            <a:endParaRPr sz="2133">
              <a:latin typeface="Times New Roman"/>
              <a:cs typeface="Times New Roman"/>
            </a:endParaRPr>
          </a:p>
          <a:p>
            <a:pPr>
              <a:spcBef>
                <a:spcPts val="27"/>
              </a:spcBef>
              <a:buFont typeface="Arial MT"/>
              <a:buChar char="●"/>
            </a:pPr>
            <a:endParaRPr sz="2200">
              <a:latin typeface="Times New Roman"/>
              <a:cs typeface="Times New Roman"/>
            </a:endParaRPr>
          </a:p>
          <a:p>
            <a:pPr marL="485128" marR="22013" indent="-469042">
              <a:buFont typeface="Arial MT"/>
              <a:buChar char="●"/>
              <a:tabLst>
                <a:tab pos="485128" algn="l"/>
                <a:tab pos="485975" algn="l"/>
              </a:tabLst>
            </a:pPr>
            <a:r>
              <a:rPr sz="2133" dirty="0">
                <a:latin typeface="Times New Roman"/>
                <a:cs typeface="Times New Roman"/>
              </a:rPr>
              <a:t>Instruct </a:t>
            </a:r>
            <a:r>
              <a:rPr sz="2133" spc="-40" dirty="0">
                <a:latin typeface="Times New Roman"/>
                <a:cs typeface="Times New Roman"/>
              </a:rPr>
              <a:t>GPT-3:</a:t>
            </a:r>
            <a:r>
              <a:rPr sz="2133" spc="-3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text-davinci-002 achieves similar </a:t>
            </a:r>
            <a:r>
              <a:rPr sz="2133" spc="-513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performance</a:t>
            </a:r>
            <a:r>
              <a:rPr sz="2133" spc="-7" dirty="0">
                <a:latin typeface="Times New Roman"/>
                <a:cs typeface="Times New Roman"/>
              </a:rPr>
              <a:t> as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PaLM </a:t>
            </a:r>
            <a:r>
              <a:rPr sz="2133" dirty="0">
                <a:latin typeface="Times New Roman"/>
                <a:cs typeface="Times New Roman"/>
              </a:rPr>
              <a:t>540B</a:t>
            </a:r>
            <a:r>
              <a:rPr sz="2133" spc="-7" dirty="0">
                <a:latin typeface="Times New Roman"/>
                <a:cs typeface="Times New Roman"/>
              </a:rPr>
              <a:t> model</a:t>
            </a:r>
            <a:endParaRPr sz="2133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9191" y="1851417"/>
            <a:ext cx="4260748" cy="371432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5240" y="2818395"/>
            <a:ext cx="8341520" cy="1461106"/>
          </a:xfrm>
          <a:prstGeom prst="rect">
            <a:avLst/>
          </a:prstGeom>
        </p:spPr>
        <p:txBody>
          <a:bodyPr vert="horz" wrap="square" lIns="0" tIns="1524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25671" marR="6773" indent="891518" algn="ctr">
              <a:lnSpc>
                <a:spcPct val="101299"/>
              </a:lnSpc>
              <a:spcBef>
                <a:spcPts val="120"/>
              </a:spcBef>
            </a:pPr>
            <a:r>
              <a:rPr spc="7" dirty="0"/>
              <a:t>Experiments </a:t>
            </a:r>
            <a:r>
              <a:rPr spc="13" dirty="0"/>
              <a:t> </a:t>
            </a:r>
            <a:br>
              <a:rPr lang="en-US" spc="13" dirty="0"/>
            </a:br>
            <a:r>
              <a:rPr spc="13" dirty="0"/>
              <a:t>Symbolic</a:t>
            </a:r>
            <a:r>
              <a:rPr spc="-33" dirty="0"/>
              <a:t> </a:t>
            </a:r>
            <a:r>
              <a:rPr spc="7" dirty="0"/>
              <a:t>Reasoning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35</a:t>
            </a:fld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47950" y="1165249"/>
            <a:ext cx="4492413" cy="3698240"/>
            <a:chOff x="785962" y="873937"/>
            <a:chExt cx="3369310" cy="2773680"/>
          </a:xfrm>
        </p:grpSpPr>
        <p:sp>
          <p:nvSpPr>
            <p:cNvPr id="3" name="object 3"/>
            <p:cNvSpPr/>
            <p:nvPr/>
          </p:nvSpPr>
          <p:spPr>
            <a:xfrm>
              <a:off x="790724" y="878699"/>
              <a:ext cx="3359785" cy="2764155"/>
            </a:xfrm>
            <a:custGeom>
              <a:avLst/>
              <a:gdLst/>
              <a:ahLst/>
              <a:cxnLst/>
              <a:rect l="l" t="t" r="r" b="b"/>
              <a:pathLst>
                <a:path w="3359785" h="2764154">
                  <a:moveTo>
                    <a:pt x="2899040" y="2763899"/>
                  </a:moveTo>
                  <a:lnTo>
                    <a:pt x="460659" y="2763899"/>
                  </a:lnTo>
                  <a:lnTo>
                    <a:pt x="413559" y="2761521"/>
                  </a:lnTo>
                  <a:lnTo>
                    <a:pt x="367820" y="2754541"/>
                  </a:lnTo>
                  <a:lnTo>
                    <a:pt x="323673" y="2743189"/>
                  </a:lnTo>
                  <a:lnTo>
                    <a:pt x="281349" y="2727699"/>
                  </a:lnTo>
                  <a:lnTo>
                    <a:pt x="241081" y="2708300"/>
                  </a:lnTo>
                  <a:lnTo>
                    <a:pt x="203100" y="2685226"/>
                  </a:lnTo>
                  <a:lnTo>
                    <a:pt x="167637" y="2658707"/>
                  </a:lnTo>
                  <a:lnTo>
                    <a:pt x="134923" y="2628975"/>
                  </a:lnTo>
                  <a:lnTo>
                    <a:pt x="105192" y="2596262"/>
                  </a:lnTo>
                  <a:lnTo>
                    <a:pt x="78673" y="2560799"/>
                  </a:lnTo>
                  <a:lnTo>
                    <a:pt x="55599" y="2522818"/>
                  </a:lnTo>
                  <a:lnTo>
                    <a:pt x="36200" y="2482550"/>
                  </a:lnTo>
                  <a:lnTo>
                    <a:pt x="20710" y="2440226"/>
                  </a:lnTo>
                  <a:lnTo>
                    <a:pt x="9358" y="2396079"/>
                  </a:lnTo>
                  <a:lnTo>
                    <a:pt x="2378" y="2350340"/>
                  </a:lnTo>
                  <a:lnTo>
                    <a:pt x="0" y="2303240"/>
                  </a:lnTo>
                  <a:lnTo>
                    <a:pt x="0" y="460659"/>
                  </a:lnTo>
                  <a:lnTo>
                    <a:pt x="2378" y="413559"/>
                  </a:lnTo>
                  <a:lnTo>
                    <a:pt x="9358" y="367820"/>
                  </a:lnTo>
                  <a:lnTo>
                    <a:pt x="20710" y="323673"/>
                  </a:lnTo>
                  <a:lnTo>
                    <a:pt x="36200" y="281349"/>
                  </a:lnTo>
                  <a:lnTo>
                    <a:pt x="55599" y="241081"/>
                  </a:lnTo>
                  <a:lnTo>
                    <a:pt x="78673" y="203100"/>
                  </a:lnTo>
                  <a:lnTo>
                    <a:pt x="105192" y="167637"/>
                  </a:lnTo>
                  <a:lnTo>
                    <a:pt x="134923" y="134923"/>
                  </a:lnTo>
                  <a:lnTo>
                    <a:pt x="167637" y="105192"/>
                  </a:lnTo>
                  <a:lnTo>
                    <a:pt x="203100" y="78673"/>
                  </a:lnTo>
                  <a:lnTo>
                    <a:pt x="241081" y="55599"/>
                  </a:lnTo>
                  <a:lnTo>
                    <a:pt x="281349" y="36200"/>
                  </a:lnTo>
                  <a:lnTo>
                    <a:pt x="323673" y="20710"/>
                  </a:lnTo>
                  <a:lnTo>
                    <a:pt x="367820" y="9358"/>
                  </a:lnTo>
                  <a:lnTo>
                    <a:pt x="413559" y="2378"/>
                  </a:lnTo>
                  <a:lnTo>
                    <a:pt x="460659" y="0"/>
                  </a:lnTo>
                  <a:lnTo>
                    <a:pt x="2899040" y="0"/>
                  </a:lnTo>
                  <a:lnTo>
                    <a:pt x="2951019" y="2940"/>
                  </a:lnTo>
                  <a:lnTo>
                    <a:pt x="3001934" y="11636"/>
                  </a:lnTo>
                  <a:lnTo>
                    <a:pt x="3051335" y="25902"/>
                  </a:lnTo>
                  <a:lnTo>
                    <a:pt x="3098771" y="45550"/>
                  </a:lnTo>
                  <a:lnTo>
                    <a:pt x="3143790" y="70395"/>
                  </a:lnTo>
                  <a:lnTo>
                    <a:pt x="3185942" y="100248"/>
                  </a:lnTo>
                  <a:lnTo>
                    <a:pt x="3224776" y="134923"/>
                  </a:lnTo>
                  <a:lnTo>
                    <a:pt x="3259451" y="173757"/>
                  </a:lnTo>
                  <a:lnTo>
                    <a:pt x="3289304" y="215909"/>
                  </a:lnTo>
                  <a:lnTo>
                    <a:pt x="3314149" y="260928"/>
                  </a:lnTo>
                  <a:lnTo>
                    <a:pt x="3333797" y="308364"/>
                  </a:lnTo>
                  <a:lnTo>
                    <a:pt x="3348063" y="357764"/>
                  </a:lnTo>
                  <a:lnTo>
                    <a:pt x="3356759" y="408680"/>
                  </a:lnTo>
                  <a:lnTo>
                    <a:pt x="3359699" y="460659"/>
                  </a:lnTo>
                  <a:lnTo>
                    <a:pt x="3359699" y="2303240"/>
                  </a:lnTo>
                  <a:lnTo>
                    <a:pt x="3357321" y="2350340"/>
                  </a:lnTo>
                  <a:lnTo>
                    <a:pt x="3350341" y="2396079"/>
                  </a:lnTo>
                  <a:lnTo>
                    <a:pt x="3338989" y="2440226"/>
                  </a:lnTo>
                  <a:lnTo>
                    <a:pt x="3323499" y="2482550"/>
                  </a:lnTo>
                  <a:lnTo>
                    <a:pt x="3304100" y="2522818"/>
                  </a:lnTo>
                  <a:lnTo>
                    <a:pt x="3281026" y="2560799"/>
                  </a:lnTo>
                  <a:lnTo>
                    <a:pt x="3254507" y="2596262"/>
                  </a:lnTo>
                  <a:lnTo>
                    <a:pt x="3224775" y="2628975"/>
                  </a:lnTo>
                  <a:lnTo>
                    <a:pt x="3192062" y="2658707"/>
                  </a:lnTo>
                  <a:lnTo>
                    <a:pt x="3156599" y="2685226"/>
                  </a:lnTo>
                  <a:lnTo>
                    <a:pt x="3118618" y="2708300"/>
                  </a:lnTo>
                  <a:lnTo>
                    <a:pt x="3078349" y="2727699"/>
                  </a:lnTo>
                  <a:lnTo>
                    <a:pt x="3036026" y="2743189"/>
                  </a:lnTo>
                  <a:lnTo>
                    <a:pt x="2991879" y="2754541"/>
                  </a:lnTo>
                  <a:lnTo>
                    <a:pt x="2946140" y="2761521"/>
                  </a:lnTo>
                  <a:lnTo>
                    <a:pt x="2899040" y="2763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0724" y="878699"/>
              <a:ext cx="3359785" cy="2764155"/>
            </a:xfrm>
            <a:custGeom>
              <a:avLst/>
              <a:gdLst/>
              <a:ahLst/>
              <a:cxnLst/>
              <a:rect l="l" t="t" r="r" b="b"/>
              <a:pathLst>
                <a:path w="3359785" h="2764154">
                  <a:moveTo>
                    <a:pt x="0" y="460659"/>
                  </a:moveTo>
                  <a:lnTo>
                    <a:pt x="2378" y="413559"/>
                  </a:lnTo>
                  <a:lnTo>
                    <a:pt x="9358" y="367820"/>
                  </a:lnTo>
                  <a:lnTo>
                    <a:pt x="20710" y="323673"/>
                  </a:lnTo>
                  <a:lnTo>
                    <a:pt x="36200" y="281349"/>
                  </a:lnTo>
                  <a:lnTo>
                    <a:pt x="55599" y="241081"/>
                  </a:lnTo>
                  <a:lnTo>
                    <a:pt x="78673" y="203100"/>
                  </a:lnTo>
                  <a:lnTo>
                    <a:pt x="105192" y="167637"/>
                  </a:lnTo>
                  <a:lnTo>
                    <a:pt x="134923" y="134923"/>
                  </a:lnTo>
                  <a:lnTo>
                    <a:pt x="167637" y="105192"/>
                  </a:lnTo>
                  <a:lnTo>
                    <a:pt x="203100" y="78673"/>
                  </a:lnTo>
                  <a:lnTo>
                    <a:pt x="241081" y="55599"/>
                  </a:lnTo>
                  <a:lnTo>
                    <a:pt x="281349" y="36200"/>
                  </a:lnTo>
                  <a:lnTo>
                    <a:pt x="323673" y="20710"/>
                  </a:lnTo>
                  <a:lnTo>
                    <a:pt x="367820" y="9358"/>
                  </a:lnTo>
                  <a:lnTo>
                    <a:pt x="413559" y="2378"/>
                  </a:lnTo>
                  <a:lnTo>
                    <a:pt x="460659" y="0"/>
                  </a:lnTo>
                  <a:lnTo>
                    <a:pt x="2899040" y="0"/>
                  </a:lnTo>
                  <a:lnTo>
                    <a:pt x="2951019" y="2940"/>
                  </a:lnTo>
                  <a:lnTo>
                    <a:pt x="3001934" y="11636"/>
                  </a:lnTo>
                  <a:lnTo>
                    <a:pt x="3051335" y="25902"/>
                  </a:lnTo>
                  <a:lnTo>
                    <a:pt x="3098771" y="45550"/>
                  </a:lnTo>
                  <a:lnTo>
                    <a:pt x="3143790" y="70395"/>
                  </a:lnTo>
                  <a:lnTo>
                    <a:pt x="3185942" y="100248"/>
                  </a:lnTo>
                  <a:lnTo>
                    <a:pt x="3224776" y="134923"/>
                  </a:lnTo>
                  <a:lnTo>
                    <a:pt x="3259451" y="173757"/>
                  </a:lnTo>
                  <a:lnTo>
                    <a:pt x="3289304" y="215909"/>
                  </a:lnTo>
                  <a:lnTo>
                    <a:pt x="3314149" y="260928"/>
                  </a:lnTo>
                  <a:lnTo>
                    <a:pt x="3333797" y="308364"/>
                  </a:lnTo>
                  <a:lnTo>
                    <a:pt x="3348063" y="357764"/>
                  </a:lnTo>
                  <a:lnTo>
                    <a:pt x="3356759" y="408680"/>
                  </a:lnTo>
                  <a:lnTo>
                    <a:pt x="3359699" y="460659"/>
                  </a:lnTo>
                  <a:lnTo>
                    <a:pt x="3359699" y="2303240"/>
                  </a:lnTo>
                  <a:lnTo>
                    <a:pt x="3357321" y="2350340"/>
                  </a:lnTo>
                  <a:lnTo>
                    <a:pt x="3350341" y="2396079"/>
                  </a:lnTo>
                  <a:lnTo>
                    <a:pt x="3338989" y="2440226"/>
                  </a:lnTo>
                  <a:lnTo>
                    <a:pt x="3323499" y="2482550"/>
                  </a:lnTo>
                  <a:lnTo>
                    <a:pt x="3304100" y="2522818"/>
                  </a:lnTo>
                  <a:lnTo>
                    <a:pt x="3281026" y="2560799"/>
                  </a:lnTo>
                  <a:lnTo>
                    <a:pt x="3254507" y="2596262"/>
                  </a:lnTo>
                  <a:lnTo>
                    <a:pt x="3224775" y="2628975"/>
                  </a:lnTo>
                  <a:lnTo>
                    <a:pt x="3192062" y="2658707"/>
                  </a:lnTo>
                  <a:lnTo>
                    <a:pt x="3156599" y="2685226"/>
                  </a:lnTo>
                  <a:lnTo>
                    <a:pt x="3118618" y="2708300"/>
                  </a:lnTo>
                  <a:lnTo>
                    <a:pt x="3078349" y="2727699"/>
                  </a:lnTo>
                  <a:lnTo>
                    <a:pt x="3036026" y="2743189"/>
                  </a:lnTo>
                  <a:lnTo>
                    <a:pt x="2991879" y="2754541"/>
                  </a:lnTo>
                  <a:lnTo>
                    <a:pt x="2946140" y="2761521"/>
                  </a:lnTo>
                  <a:lnTo>
                    <a:pt x="2899040" y="2763899"/>
                  </a:lnTo>
                  <a:lnTo>
                    <a:pt x="460659" y="2763899"/>
                  </a:lnTo>
                  <a:lnTo>
                    <a:pt x="413559" y="2761521"/>
                  </a:lnTo>
                  <a:lnTo>
                    <a:pt x="367820" y="2754541"/>
                  </a:lnTo>
                  <a:lnTo>
                    <a:pt x="323673" y="2743189"/>
                  </a:lnTo>
                  <a:lnTo>
                    <a:pt x="281349" y="2727699"/>
                  </a:lnTo>
                  <a:lnTo>
                    <a:pt x="241081" y="2708300"/>
                  </a:lnTo>
                  <a:lnTo>
                    <a:pt x="203100" y="2685226"/>
                  </a:lnTo>
                  <a:lnTo>
                    <a:pt x="167637" y="2658707"/>
                  </a:lnTo>
                  <a:lnTo>
                    <a:pt x="134923" y="2628975"/>
                  </a:lnTo>
                  <a:lnTo>
                    <a:pt x="105192" y="2596262"/>
                  </a:lnTo>
                  <a:lnTo>
                    <a:pt x="78673" y="2560799"/>
                  </a:lnTo>
                  <a:lnTo>
                    <a:pt x="55599" y="2522818"/>
                  </a:lnTo>
                  <a:lnTo>
                    <a:pt x="36200" y="2482550"/>
                  </a:lnTo>
                  <a:lnTo>
                    <a:pt x="20710" y="2440226"/>
                  </a:lnTo>
                  <a:lnTo>
                    <a:pt x="9358" y="2396079"/>
                  </a:lnTo>
                  <a:lnTo>
                    <a:pt x="2378" y="2350340"/>
                  </a:lnTo>
                  <a:lnTo>
                    <a:pt x="0" y="2303240"/>
                  </a:lnTo>
                  <a:lnTo>
                    <a:pt x="0" y="460659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31563" y="1439380"/>
            <a:ext cx="3739727" cy="28769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59631">
              <a:spcBef>
                <a:spcPts val="133"/>
              </a:spcBef>
            </a:pPr>
            <a:r>
              <a:rPr sz="1867" b="1" spc="-7" dirty="0">
                <a:latin typeface="Arial"/>
                <a:cs typeface="Arial"/>
              </a:rPr>
              <a:t>Last</a:t>
            </a:r>
            <a:r>
              <a:rPr sz="1867" b="1" spc="-47" dirty="0">
                <a:latin typeface="Arial"/>
                <a:cs typeface="Arial"/>
              </a:rPr>
              <a:t> </a:t>
            </a:r>
            <a:r>
              <a:rPr sz="1867" b="1" spc="-7" dirty="0">
                <a:latin typeface="Arial"/>
                <a:cs typeface="Arial"/>
              </a:rPr>
              <a:t>letter</a:t>
            </a:r>
            <a:r>
              <a:rPr sz="1867" b="1" spc="-47" dirty="0">
                <a:latin typeface="Arial"/>
                <a:cs typeface="Arial"/>
              </a:rPr>
              <a:t> </a:t>
            </a:r>
            <a:r>
              <a:rPr sz="1867" b="1" spc="-7" dirty="0">
                <a:latin typeface="Arial"/>
                <a:cs typeface="Arial"/>
              </a:rPr>
              <a:t>concatenation</a:t>
            </a:r>
            <a:endParaRPr sz="1867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sz="1933">
              <a:latin typeface="Arial"/>
              <a:cs typeface="Arial"/>
            </a:endParaRPr>
          </a:p>
          <a:p>
            <a:pPr marL="16933" marR="6773">
              <a:lnSpc>
                <a:spcPts val="2200"/>
              </a:lnSpc>
            </a:pPr>
            <a:r>
              <a:rPr sz="1867" spc="-7" dirty="0">
                <a:latin typeface="Arial MT"/>
                <a:cs typeface="Arial MT"/>
              </a:rPr>
              <a:t>Q: </a:t>
            </a:r>
            <a:r>
              <a:rPr sz="1867" spc="-60" dirty="0">
                <a:latin typeface="Arial MT"/>
                <a:cs typeface="Arial MT"/>
              </a:rPr>
              <a:t>Take </a:t>
            </a:r>
            <a:r>
              <a:rPr sz="1867" spc="-7" dirty="0">
                <a:latin typeface="Arial MT"/>
                <a:cs typeface="Arial MT"/>
              </a:rPr>
              <a:t>the last letters of the words </a:t>
            </a:r>
            <a:r>
              <a:rPr sz="1867" spc="-50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in "Elon </a:t>
            </a:r>
            <a:r>
              <a:rPr sz="1867" dirty="0">
                <a:latin typeface="Arial MT"/>
                <a:cs typeface="Arial MT"/>
              </a:rPr>
              <a:t>Musk" </a:t>
            </a:r>
            <a:r>
              <a:rPr sz="1867" spc="-7" dirty="0">
                <a:latin typeface="Arial MT"/>
                <a:cs typeface="Arial MT"/>
              </a:rPr>
              <a:t>and </a:t>
            </a:r>
            <a:r>
              <a:rPr sz="1867" dirty="0">
                <a:latin typeface="Arial MT"/>
                <a:cs typeface="Arial MT"/>
              </a:rPr>
              <a:t>concatenate </a:t>
            </a:r>
            <a:r>
              <a:rPr sz="1867" spc="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them</a:t>
            </a:r>
            <a:endParaRPr sz="1867">
              <a:latin typeface="Arial MT"/>
              <a:cs typeface="Arial MT"/>
            </a:endParaRPr>
          </a:p>
          <a:p>
            <a:pPr>
              <a:spcBef>
                <a:spcPts val="53"/>
              </a:spcBef>
            </a:pPr>
            <a:endParaRPr sz="1867">
              <a:latin typeface="Arial MT"/>
              <a:cs typeface="Arial MT"/>
            </a:endParaRPr>
          </a:p>
          <a:p>
            <a:pPr marL="16933" marR="30479">
              <a:lnSpc>
                <a:spcPts val="2200"/>
              </a:lnSpc>
            </a:pPr>
            <a:r>
              <a:rPr sz="1867" spc="-7" dirty="0">
                <a:latin typeface="Arial MT"/>
                <a:cs typeface="Arial MT"/>
              </a:rPr>
              <a:t>A: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The last letter of "Elon" is "n". </a:t>
            </a:r>
            <a:r>
              <a:rPr sz="1867" b="1" spc="-50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867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last</a:t>
            </a:r>
            <a:r>
              <a:rPr sz="1867" b="1" spc="-13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letter</a:t>
            </a:r>
            <a:r>
              <a:rPr sz="1867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of</a:t>
            </a:r>
            <a:r>
              <a:rPr sz="1867" b="1" spc="-13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"Musk"</a:t>
            </a:r>
            <a:r>
              <a:rPr sz="1867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is</a:t>
            </a:r>
            <a:r>
              <a:rPr sz="1867" b="1" spc="-13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"k".</a:t>
            </a:r>
            <a:endParaRPr sz="1867">
              <a:latin typeface="Arial"/>
              <a:cs typeface="Arial"/>
            </a:endParaRPr>
          </a:p>
          <a:p>
            <a:pPr marL="16933" marR="69424">
              <a:lnSpc>
                <a:spcPts val="2200"/>
              </a:lnSpc>
            </a:pP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Concatenating</a:t>
            </a:r>
            <a:r>
              <a:rPr sz="1867" b="1" spc="-4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them</a:t>
            </a:r>
            <a:r>
              <a:rPr sz="1867" b="1" spc="-33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is</a:t>
            </a:r>
            <a:r>
              <a:rPr sz="1867" b="1" spc="-33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"nk".</a:t>
            </a:r>
            <a:r>
              <a:rPr sz="1867" b="1" spc="-53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spc="-7" dirty="0">
                <a:latin typeface="Arial MT"/>
                <a:cs typeface="Arial MT"/>
              </a:rPr>
              <a:t>The </a:t>
            </a:r>
            <a:r>
              <a:rPr sz="1867" spc="-50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answer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is</a:t>
            </a:r>
            <a:r>
              <a:rPr sz="1867" dirty="0">
                <a:latin typeface="Arial MT"/>
                <a:cs typeface="Arial MT"/>
              </a:rPr>
              <a:t> </a:t>
            </a:r>
            <a:r>
              <a:rPr sz="1867" b="1" spc="-7" dirty="0">
                <a:solidFill>
                  <a:srgbClr val="A61B00"/>
                </a:solidFill>
                <a:latin typeface="Arial"/>
                <a:cs typeface="Arial"/>
              </a:rPr>
              <a:t>nk</a:t>
            </a:r>
            <a:r>
              <a:rPr sz="1867" b="1" spc="-7" dirty="0">
                <a:latin typeface="Arial"/>
                <a:cs typeface="Arial"/>
              </a:rPr>
              <a:t>.</a:t>
            </a:r>
            <a:endParaRPr sz="1867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7" dirty="0"/>
              <a:t>Symbolic</a:t>
            </a:r>
            <a:r>
              <a:rPr sz="4000" spc="-27" dirty="0"/>
              <a:t> </a:t>
            </a:r>
            <a:r>
              <a:rPr sz="4000" spc="-13" dirty="0"/>
              <a:t>Reasoning</a:t>
            </a:r>
            <a:r>
              <a:rPr sz="4000" spc="-33" dirty="0"/>
              <a:t> </a:t>
            </a:r>
            <a:r>
              <a:rPr sz="4000" dirty="0"/>
              <a:t>-</a:t>
            </a:r>
            <a:r>
              <a:rPr sz="4000" spc="-20" dirty="0"/>
              <a:t> </a:t>
            </a:r>
            <a:r>
              <a:rPr sz="4000" spc="-7" dirty="0"/>
              <a:t>Last</a:t>
            </a:r>
            <a:r>
              <a:rPr sz="4000" spc="-27" dirty="0"/>
              <a:t> </a:t>
            </a:r>
            <a:r>
              <a:rPr sz="4000" spc="-7" dirty="0"/>
              <a:t>Letter</a:t>
            </a:r>
            <a:r>
              <a:rPr sz="4000" spc="-27" dirty="0"/>
              <a:t> </a:t>
            </a:r>
            <a:r>
              <a:rPr sz="4000" spc="-7" dirty="0"/>
              <a:t>Concatenation</a:t>
            </a:r>
            <a:endParaRPr sz="40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36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6167658" y="1450152"/>
            <a:ext cx="4945380" cy="175116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64808" marR="1139585" indent="-448722">
              <a:spcBef>
                <a:spcPts val="133"/>
              </a:spcBef>
              <a:buFont typeface="Arial MT"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latin typeface="Times New Roman"/>
                <a:cs typeface="Times New Roman"/>
              </a:rPr>
              <a:t>Generate </a:t>
            </a:r>
            <a:r>
              <a:rPr sz="1867" dirty="0">
                <a:latin typeface="Times New Roman"/>
                <a:cs typeface="Times New Roman"/>
              </a:rPr>
              <a:t>full names by </a:t>
            </a:r>
            <a:r>
              <a:rPr sz="1867" b="1" spc="-7" dirty="0">
                <a:latin typeface="Times New Roman"/>
                <a:cs typeface="Times New Roman"/>
              </a:rPr>
              <a:t>randomly </a:t>
            </a:r>
            <a:r>
              <a:rPr sz="1867" b="1" dirty="0">
                <a:latin typeface="Times New Roman"/>
                <a:cs typeface="Times New Roman"/>
              </a:rPr>
              <a:t> </a:t>
            </a:r>
            <a:r>
              <a:rPr sz="1867" b="1" spc="-7" dirty="0">
                <a:latin typeface="Times New Roman"/>
                <a:cs typeface="Times New Roman"/>
              </a:rPr>
              <a:t>concatenating </a:t>
            </a:r>
            <a:r>
              <a:rPr sz="1867" dirty="0">
                <a:latin typeface="Times New Roman"/>
                <a:cs typeface="Times New Roman"/>
              </a:rPr>
              <a:t>names</a:t>
            </a:r>
            <a:r>
              <a:rPr sz="1867" spc="-27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Times New Roman"/>
                <a:cs typeface="Times New Roman"/>
              </a:rPr>
              <a:t>from</a:t>
            </a:r>
            <a:r>
              <a:rPr sz="1867" spc="-33" dirty="0">
                <a:latin typeface="Times New Roman"/>
                <a:cs typeface="Times New Roman"/>
              </a:rPr>
              <a:t> </a:t>
            </a:r>
            <a:r>
              <a:rPr sz="1867" spc="-7" dirty="0">
                <a:latin typeface="Times New Roman"/>
                <a:cs typeface="Times New Roman"/>
              </a:rPr>
              <a:t>the</a:t>
            </a:r>
            <a:r>
              <a:rPr sz="1867" spc="-33" dirty="0">
                <a:latin typeface="Times New Roman"/>
                <a:cs typeface="Times New Roman"/>
              </a:rPr>
              <a:t> </a:t>
            </a:r>
            <a:r>
              <a:rPr sz="1867" b="1" dirty="0">
                <a:latin typeface="Times New Roman"/>
                <a:cs typeface="Times New Roman"/>
              </a:rPr>
              <a:t>top</a:t>
            </a:r>
            <a:endParaRPr sz="1867">
              <a:latin typeface="Times New Roman"/>
              <a:cs typeface="Times New Roman"/>
            </a:endParaRPr>
          </a:p>
          <a:p>
            <a:pPr marL="464808" marR="6773"/>
            <a:r>
              <a:rPr sz="1867" b="1" dirty="0">
                <a:latin typeface="Times New Roman"/>
                <a:cs typeface="Times New Roman"/>
              </a:rPr>
              <a:t>one-thousand</a:t>
            </a:r>
            <a:r>
              <a:rPr sz="1867" b="1" spc="-27" dirty="0">
                <a:latin typeface="Times New Roman"/>
                <a:cs typeface="Times New Roman"/>
              </a:rPr>
              <a:t> </a:t>
            </a:r>
            <a:r>
              <a:rPr sz="1867" b="1" dirty="0">
                <a:latin typeface="Times New Roman"/>
                <a:cs typeface="Times New Roman"/>
              </a:rPr>
              <a:t>first</a:t>
            </a:r>
            <a:r>
              <a:rPr sz="1867" b="1" spc="-20" dirty="0">
                <a:latin typeface="Times New Roman"/>
                <a:cs typeface="Times New Roman"/>
              </a:rPr>
              <a:t> </a:t>
            </a:r>
            <a:r>
              <a:rPr sz="1867" b="1" dirty="0">
                <a:latin typeface="Times New Roman"/>
                <a:cs typeface="Times New Roman"/>
              </a:rPr>
              <a:t>and</a:t>
            </a:r>
            <a:r>
              <a:rPr sz="1867" b="1" spc="-20" dirty="0">
                <a:latin typeface="Times New Roman"/>
                <a:cs typeface="Times New Roman"/>
              </a:rPr>
              <a:t> </a:t>
            </a:r>
            <a:r>
              <a:rPr sz="1867" b="1" spc="-7" dirty="0">
                <a:latin typeface="Times New Roman"/>
                <a:cs typeface="Times New Roman"/>
              </a:rPr>
              <a:t>last</a:t>
            </a:r>
            <a:r>
              <a:rPr sz="1867" b="1" spc="-33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Times New Roman"/>
                <a:cs typeface="Times New Roman"/>
              </a:rPr>
              <a:t>names</a:t>
            </a:r>
            <a:r>
              <a:rPr sz="1867" spc="-20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Times New Roman"/>
                <a:cs typeface="Times New Roman"/>
              </a:rPr>
              <a:t>from</a:t>
            </a:r>
            <a:r>
              <a:rPr sz="1867" spc="-20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Times New Roman"/>
                <a:cs typeface="Times New Roman"/>
              </a:rPr>
              <a:t>name </a:t>
            </a:r>
            <a:r>
              <a:rPr sz="1867" spc="-447" dirty="0">
                <a:latin typeface="Times New Roman"/>
                <a:cs typeface="Times New Roman"/>
              </a:rPr>
              <a:t> </a:t>
            </a:r>
            <a:r>
              <a:rPr sz="1867" spc="-7" dirty="0">
                <a:latin typeface="Times New Roman"/>
                <a:cs typeface="Times New Roman"/>
              </a:rPr>
              <a:t>census</a:t>
            </a:r>
            <a:r>
              <a:rPr sz="1867" spc="-13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Times New Roman"/>
                <a:cs typeface="Times New Roman"/>
              </a:rPr>
              <a:t>data</a:t>
            </a:r>
            <a:endParaRPr sz="1867">
              <a:latin typeface="Times New Roman"/>
              <a:cs typeface="Times New Roman"/>
            </a:endParaRPr>
          </a:p>
          <a:p>
            <a:pPr>
              <a:spcBef>
                <a:spcPts val="13"/>
              </a:spcBef>
            </a:pPr>
            <a:endParaRPr sz="1933">
              <a:latin typeface="Times New Roman"/>
              <a:cs typeface="Times New Roman"/>
            </a:endParaRPr>
          </a:p>
          <a:p>
            <a:pPr marL="464808" indent="-448722">
              <a:buFont typeface="Arial MT"/>
              <a:buChar char="●"/>
              <a:tabLst>
                <a:tab pos="463962" algn="l"/>
                <a:tab pos="465655" algn="l"/>
              </a:tabLst>
            </a:pPr>
            <a:r>
              <a:rPr sz="1867" dirty="0">
                <a:latin typeface="Times New Roman"/>
                <a:cs typeface="Times New Roman"/>
              </a:rPr>
              <a:t>4</a:t>
            </a:r>
            <a:r>
              <a:rPr sz="1867" spc="-27" dirty="0">
                <a:latin typeface="Times New Roman"/>
                <a:cs typeface="Times New Roman"/>
              </a:rPr>
              <a:t> </a:t>
            </a:r>
            <a:r>
              <a:rPr sz="1867" spc="-7" dirty="0">
                <a:latin typeface="Times New Roman"/>
                <a:cs typeface="Times New Roman"/>
              </a:rPr>
              <a:t>exemplars</a:t>
            </a:r>
            <a:r>
              <a:rPr sz="1867" spc="-27" dirty="0">
                <a:latin typeface="Times New Roman"/>
                <a:cs typeface="Times New Roman"/>
              </a:rPr>
              <a:t> </a:t>
            </a:r>
            <a:r>
              <a:rPr sz="1867" spc="-7" dirty="0">
                <a:latin typeface="Times New Roman"/>
                <a:cs typeface="Times New Roman"/>
              </a:rPr>
              <a:t>with</a:t>
            </a:r>
            <a:r>
              <a:rPr sz="1867" dirty="0">
                <a:latin typeface="Times New Roman"/>
                <a:cs typeface="Times New Roman"/>
              </a:rPr>
              <a:t> </a:t>
            </a:r>
            <a:r>
              <a:rPr sz="1867" b="1" spc="-7" dirty="0">
                <a:latin typeface="Times New Roman"/>
                <a:cs typeface="Times New Roman"/>
              </a:rPr>
              <a:t>strict</a:t>
            </a:r>
            <a:r>
              <a:rPr sz="1867" b="1" spc="-27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Times New Roman"/>
                <a:cs typeface="Times New Roman"/>
              </a:rPr>
              <a:t>format</a:t>
            </a:r>
            <a:endParaRPr sz="1867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47950" y="1165250"/>
            <a:ext cx="4492413" cy="4284980"/>
            <a:chOff x="785962" y="873937"/>
            <a:chExt cx="3369310" cy="3213735"/>
          </a:xfrm>
        </p:grpSpPr>
        <p:sp>
          <p:nvSpPr>
            <p:cNvPr id="3" name="object 3"/>
            <p:cNvSpPr/>
            <p:nvPr/>
          </p:nvSpPr>
          <p:spPr>
            <a:xfrm>
              <a:off x="790724" y="878699"/>
              <a:ext cx="3359785" cy="3204210"/>
            </a:xfrm>
            <a:custGeom>
              <a:avLst/>
              <a:gdLst/>
              <a:ahLst/>
              <a:cxnLst/>
              <a:rect l="l" t="t" r="r" b="b"/>
              <a:pathLst>
                <a:path w="3359785" h="3204210">
                  <a:moveTo>
                    <a:pt x="2825739" y="3203699"/>
                  </a:moveTo>
                  <a:lnTo>
                    <a:pt x="533960" y="3203699"/>
                  </a:lnTo>
                  <a:lnTo>
                    <a:pt x="485359" y="3201517"/>
                  </a:lnTo>
                  <a:lnTo>
                    <a:pt x="437980" y="3195097"/>
                  </a:lnTo>
                  <a:lnTo>
                    <a:pt x="392012" y="3184626"/>
                  </a:lnTo>
                  <a:lnTo>
                    <a:pt x="347644" y="3170294"/>
                  </a:lnTo>
                  <a:lnTo>
                    <a:pt x="305064" y="3152288"/>
                  </a:lnTo>
                  <a:lnTo>
                    <a:pt x="264460" y="3130798"/>
                  </a:lnTo>
                  <a:lnTo>
                    <a:pt x="226021" y="3106012"/>
                  </a:lnTo>
                  <a:lnTo>
                    <a:pt x="189936" y="3078119"/>
                  </a:lnTo>
                  <a:lnTo>
                    <a:pt x="156393" y="3047306"/>
                  </a:lnTo>
                  <a:lnTo>
                    <a:pt x="125580" y="3013763"/>
                  </a:lnTo>
                  <a:lnTo>
                    <a:pt x="97687" y="2977678"/>
                  </a:lnTo>
                  <a:lnTo>
                    <a:pt x="72901" y="2939239"/>
                  </a:lnTo>
                  <a:lnTo>
                    <a:pt x="51411" y="2898635"/>
                  </a:lnTo>
                  <a:lnTo>
                    <a:pt x="33405" y="2856055"/>
                  </a:lnTo>
                  <a:lnTo>
                    <a:pt x="19073" y="2811687"/>
                  </a:lnTo>
                  <a:lnTo>
                    <a:pt x="8602" y="2765719"/>
                  </a:lnTo>
                  <a:lnTo>
                    <a:pt x="2182" y="2718340"/>
                  </a:lnTo>
                  <a:lnTo>
                    <a:pt x="0" y="2669739"/>
                  </a:lnTo>
                  <a:lnTo>
                    <a:pt x="0" y="533960"/>
                  </a:lnTo>
                  <a:lnTo>
                    <a:pt x="2182" y="485359"/>
                  </a:lnTo>
                  <a:lnTo>
                    <a:pt x="8602" y="437980"/>
                  </a:lnTo>
                  <a:lnTo>
                    <a:pt x="19073" y="392012"/>
                  </a:lnTo>
                  <a:lnTo>
                    <a:pt x="33405" y="347644"/>
                  </a:lnTo>
                  <a:lnTo>
                    <a:pt x="51411" y="305064"/>
                  </a:lnTo>
                  <a:lnTo>
                    <a:pt x="72901" y="264460"/>
                  </a:lnTo>
                  <a:lnTo>
                    <a:pt x="97687" y="226021"/>
                  </a:lnTo>
                  <a:lnTo>
                    <a:pt x="125580" y="189936"/>
                  </a:lnTo>
                  <a:lnTo>
                    <a:pt x="156393" y="156393"/>
                  </a:lnTo>
                  <a:lnTo>
                    <a:pt x="189936" y="125580"/>
                  </a:lnTo>
                  <a:lnTo>
                    <a:pt x="226021" y="97687"/>
                  </a:lnTo>
                  <a:lnTo>
                    <a:pt x="264460" y="72901"/>
                  </a:lnTo>
                  <a:lnTo>
                    <a:pt x="305064" y="51411"/>
                  </a:lnTo>
                  <a:lnTo>
                    <a:pt x="347644" y="33405"/>
                  </a:lnTo>
                  <a:lnTo>
                    <a:pt x="392012" y="19073"/>
                  </a:lnTo>
                  <a:lnTo>
                    <a:pt x="437980" y="8602"/>
                  </a:lnTo>
                  <a:lnTo>
                    <a:pt x="485359" y="2182"/>
                  </a:lnTo>
                  <a:lnTo>
                    <a:pt x="533960" y="0"/>
                  </a:lnTo>
                  <a:lnTo>
                    <a:pt x="2825739" y="0"/>
                  </a:lnTo>
                  <a:lnTo>
                    <a:pt x="2878514" y="2612"/>
                  </a:lnTo>
                  <a:lnTo>
                    <a:pt x="2930396" y="10354"/>
                  </a:lnTo>
                  <a:lnTo>
                    <a:pt x="2981034" y="23080"/>
                  </a:lnTo>
                  <a:lnTo>
                    <a:pt x="3030077" y="40645"/>
                  </a:lnTo>
                  <a:lnTo>
                    <a:pt x="3077176" y="62904"/>
                  </a:lnTo>
                  <a:lnTo>
                    <a:pt x="3121981" y="89711"/>
                  </a:lnTo>
                  <a:lnTo>
                    <a:pt x="3164141" y="120923"/>
                  </a:lnTo>
                  <a:lnTo>
                    <a:pt x="3203306" y="156393"/>
                  </a:lnTo>
                  <a:lnTo>
                    <a:pt x="3238777" y="195558"/>
                  </a:lnTo>
                  <a:lnTo>
                    <a:pt x="3269988" y="237719"/>
                  </a:lnTo>
                  <a:lnTo>
                    <a:pt x="3296796" y="282523"/>
                  </a:lnTo>
                  <a:lnTo>
                    <a:pt x="3319054" y="329622"/>
                  </a:lnTo>
                  <a:lnTo>
                    <a:pt x="3336619" y="378666"/>
                  </a:lnTo>
                  <a:lnTo>
                    <a:pt x="3349345" y="429303"/>
                  </a:lnTo>
                  <a:lnTo>
                    <a:pt x="3357087" y="481185"/>
                  </a:lnTo>
                  <a:lnTo>
                    <a:pt x="3359699" y="533960"/>
                  </a:lnTo>
                  <a:lnTo>
                    <a:pt x="3359699" y="2669739"/>
                  </a:lnTo>
                  <a:lnTo>
                    <a:pt x="3357517" y="2718340"/>
                  </a:lnTo>
                  <a:lnTo>
                    <a:pt x="3351097" y="2765719"/>
                  </a:lnTo>
                  <a:lnTo>
                    <a:pt x="3340626" y="2811687"/>
                  </a:lnTo>
                  <a:lnTo>
                    <a:pt x="3326294" y="2856055"/>
                  </a:lnTo>
                  <a:lnTo>
                    <a:pt x="3308288" y="2898635"/>
                  </a:lnTo>
                  <a:lnTo>
                    <a:pt x="3286798" y="2939239"/>
                  </a:lnTo>
                  <a:lnTo>
                    <a:pt x="3262012" y="2977678"/>
                  </a:lnTo>
                  <a:lnTo>
                    <a:pt x="3234119" y="3013763"/>
                  </a:lnTo>
                  <a:lnTo>
                    <a:pt x="3203306" y="3047306"/>
                  </a:lnTo>
                  <a:lnTo>
                    <a:pt x="3169763" y="3078119"/>
                  </a:lnTo>
                  <a:lnTo>
                    <a:pt x="3133678" y="3106012"/>
                  </a:lnTo>
                  <a:lnTo>
                    <a:pt x="3095239" y="3130798"/>
                  </a:lnTo>
                  <a:lnTo>
                    <a:pt x="3054635" y="3152288"/>
                  </a:lnTo>
                  <a:lnTo>
                    <a:pt x="3012055" y="3170294"/>
                  </a:lnTo>
                  <a:lnTo>
                    <a:pt x="2967687" y="3184626"/>
                  </a:lnTo>
                  <a:lnTo>
                    <a:pt x="2921719" y="3195097"/>
                  </a:lnTo>
                  <a:lnTo>
                    <a:pt x="2874340" y="3201517"/>
                  </a:lnTo>
                  <a:lnTo>
                    <a:pt x="2825739" y="32036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0724" y="878699"/>
              <a:ext cx="3359785" cy="3204210"/>
            </a:xfrm>
            <a:custGeom>
              <a:avLst/>
              <a:gdLst/>
              <a:ahLst/>
              <a:cxnLst/>
              <a:rect l="l" t="t" r="r" b="b"/>
              <a:pathLst>
                <a:path w="3359785" h="3204210">
                  <a:moveTo>
                    <a:pt x="0" y="533960"/>
                  </a:moveTo>
                  <a:lnTo>
                    <a:pt x="2182" y="485359"/>
                  </a:lnTo>
                  <a:lnTo>
                    <a:pt x="8602" y="437980"/>
                  </a:lnTo>
                  <a:lnTo>
                    <a:pt x="19073" y="392012"/>
                  </a:lnTo>
                  <a:lnTo>
                    <a:pt x="33405" y="347644"/>
                  </a:lnTo>
                  <a:lnTo>
                    <a:pt x="51411" y="305064"/>
                  </a:lnTo>
                  <a:lnTo>
                    <a:pt x="72901" y="264460"/>
                  </a:lnTo>
                  <a:lnTo>
                    <a:pt x="97687" y="226021"/>
                  </a:lnTo>
                  <a:lnTo>
                    <a:pt x="125580" y="189936"/>
                  </a:lnTo>
                  <a:lnTo>
                    <a:pt x="156393" y="156393"/>
                  </a:lnTo>
                  <a:lnTo>
                    <a:pt x="189936" y="125580"/>
                  </a:lnTo>
                  <a:lnTo>
                    <a:pt x="226021" y="97687"/>
                  </a:lnTo>
                  <a:lnTo>
                    <a:pt x="264460" y="72901"/>
                  </a:lnTo>
                  <a:lnTo>
                    <a:pt x="305064" y="51411"/>
                  </a:lnTo>
                  <a:lnTo>
                    <a:pt x="347644" y="33405"/>
                  </a:lnTo>
                  <a:lnTo>
                    <a:pt x="392012" y="19073"/>
                  </a:lnTo>
                  <a:lnTo>
                    <a:pt x="437980" y="8602"/>
                  </a:lnTo>
                  <a:lnTo>
                    <a:pt x="485359" y="2182"/>
                  </a:lnTo>
                  <a:lnTo>
                    <a:pt x="533960" y="0"/>
                  </a:lnTo>
                  <a:lnTo>
                    <a:pt x="2825739" y="0"/>
                  </a:lnTo>
                  <a:lnTo>
                    <a:pt x="2878514" y="2612"/>
                  </a:lnTo>
                  <a:lnTo>
                    <a:pt x="2930396" y="10354"/>
                  </a:lnTo>
                  <a:lnTo>
                    <a:pt x="2981034" y="23080"/>
                  </a:lnTo>
                  <a:lnTo>
                    <a:pt x="3030077" y="40645"/>
                  </a:lnTo>
                  <a:lnTo>
                    <a:pt x="3077176" y="62904"/>
                  </a:lnTo>
                  <a:lnTo>
                    <a:pt x="3121981" y="89711"/>
                  </a:lnTo>
                  <a:lnTo>
                    <a:pt x="3164141" y="120923"/>
                  </a:lnTo>
                  <a:lnTo>
                    <a:pt x="3203306" y="156393"/>
                  </a:lnTo>
                  <a:lnTo>
                    <a:pt x="3238777" y="195558"/>
                  </a:lnTo>
                  <a:lnTo>
                    <a:pt x="3269988" y="237719"/>
                  </a:lnTo>
                  <a:lnTo>
                    <a:pt x="3296796" y="282523"/>
                  </a:lnTo>
                  <a:lnTo>
                    <a:pt x="3319054" y="329622"/>
                  </a:lnTo>
                  <a:lnTo>
                    <a:pt x="3336619" y="378666"/>
                  </a:lnTo>
                  <a:lnTo>
                    <a:pt x="3349345" y="429303"/>
                  </a:lnTo>
                  <a:lnTo>
                    <a:pt x="3357087" y="481185"/>
                  </a:lnTo>
                  <a:lnTo>
                    <a:pt x="3359699" y="533960"/>
                  </a:lnTo>
                  <a:lnTo>
                    <a:pt x="3359699" y="2669739"/>
                  </a:lnTo>
                  <a:lnTo>
                    <a:pt x="3357517" y="2718340"/>
                  </a:lnTo>
                  <a:lnTo>
                    <a:pt x="3351097" y="2765719"/>
                  </a:lnTo>
                  <a:lnTo>
                    <a:pt x="3340626" y="2811687"/>
                  </a:lnTo>
                  <a:lnTo>
                    <a:pt x="3326294" y="2856055"/>
                  </a:lnTo>
                  <a:lnTo>
                    <a:pt x="3308288" y="2898635"/>
                  </a:lnTo>
                  <a:lnTo>
                    <a:pt x="3286798" y="2939239"/>
                  </a:lnTo>
                  <a:lnTo>
                    <a:pt x="3262012" y="2977678"/>
                  </a:lnTo>
                  <a:lnTo>
                    <a:pt x="3234119" y="3013763"/>
                  </a:lnTo>
                  <a:lnTo>
                    <a:pt x="3203306" y="3047306"/>
                  </a:lnTo>
                  <a:lnTo>
                    <a:pt x="3169763" y="3078119"/>
                  </a:lnTo>
                  <a:lnTo>
                    <a:pt x="3133678" y="3106012"/>
                  </a:lnTo>
                  <a:lnTo>
                    <a:pt x="3095239" y="3130798"/>
                  </a:lnTo>
                  <a:lnTo>
                    <a:pt x="3054635" y="3152288"/>
                  </a:lnTo>
                  <a:lnTo>
                    <a:pt x="3012055" y="3170294"/>
                  </a:lnTo>
                  <a:lnTo>
                    <a:pt x="2967687" y="3184626"/>
                  </a:lnTo>
                  <a:lnTo>
                    <a:pt x="2921719" y="3195097"/>
                  </a:lnTo>
                  <a:lnTo>
                    <a:pt x="2874340" y="3201517"/>
                  </a:lnTo>
                  <a:lnTo>
                    <a:pt x="2825739" y="3203699"/>
                  </a:lnTo>
                  <a:lnTo>
                    <a:pt x="533960" y="3203699"/>
                  </a:lnTo>
                  <a:lnTo>
                    <a:pt x="485359" y="3201517"/>
                  </a:lnTo>
                  <a:lnTo>
                    <a:pt x="437980" y="3195097"/>
                  </a:lnTo>
                  <a:lnTo>
                    <a:pt x="392012" y="3184626"/>
                  </a:lnTo>
                  <a:lnTo>
                    <a:pt x="347644" y="3170294"/>
                  </a:lnTo>
                  <a:lnTo>
                    <a:pt x="305064" y="3152288"/>
                  </a:lnTo>
                  <a:lnTo>
                    <a:pt x="264460" y="3130798"/>
                  </a:lnTo>
                  <a:lnTo>
                    <a:pt x="226021" y="3106012"/>
                  </a:lnTo>
                  <a:lnTo>
                    <a:pt x="189936" y="3078119"/>
                  </a:lnTo>
                  <a:lnTo>
                    <a:pt x="156393" y="3047306"/>
                  </a:lnTo>
                  <a:lnTo>
                    <a:pt x="125580" y="3013763"/>
                  </a:lnTo>
                  <a:lnTo>
                    <a:pt x="97687" y="2977678"/>
                  </a:lnTo>
                  <a:lnTo>
                    <a:pt x="72901" y="2939239"/>
                  </a:lnTo>
                  <a:lnTo>
                    <a:pt x="51411" y="2898635"/>
                  </a:lnTo>
                  <a:lnTo>
                    <a:pt x="33405" y="2856055"/>
                  </a:lnTo>
                  <a:lnTo>
                    <a:pt x="19073" y="2811687"/>
                  </a:lnTo>
                  <a:lnTo>
                    <a:pt x="8602" y="2765719"/>
                  </a:lnTo>
                  <a:lnTo>
                    <a:pt x="2182" y="2718340"/>
                  </a:lnTo>
                  <a:lnTo>
                    <a:pt x="0" y="2669739"/>
                  </a:lnTo>
                  <a:lnTo>
                    <a:pt x="0" y="53396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770499" y="1468006"/>
            <a:ext cx="104648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b="1" spc="-7" dirty="0">
                <a:latin typeface="Arial"/>
                <a:cs typeface="Arial"/>
              </a:rPr>
              <a:t>Coin</a:t>
            </a:r>
            <a:r>
              <a:rPr sz="1867" b="1" spc="-107" dirty="0">
                <a:latin typeface="Arial"/>
                <a:cs typeface="Arial"/>
              </a:rPr>
              <a:t> </a:t>
            </a:r>
            <a:r>
              <a:rPr sz="1867" b="1" spc="-7" dirty="0">
                <a:latin typeface="Arial"/>
                <a:cs typeface="Arial"/>
              </a:rPr>
              <a:t>Flip</a:t>
            </a:r>
            <a:endParaRPr sz="186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60189" y="2026805"/>
            <a:ext cx="3653367" cy="877163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>
              <a:lnSpc>
                <a:spcPts val="2200"/>
              </a:lnSpc>
              <a:spcBef>
                <a:spcPts val="240"/>
              </a:spcBef>
            </a:pPr>
            <a:r>
              <a:rPr sz="1867" spc="-7" dirty="0">
                <a:latin typeface="Arial MT"/>
                <a:cs typeface="Arial MT"/>
              </a:rPr>
              <a:t>Q:</a:t>
            </a:r>
            <a:r>
              <a:rPr sz="1867" dirty="0">
                <a:latin typeface="Arial MT"/>
                <a:cs typeface="Arial MT"/>
              </a:rPr>
              <a:t> A coin </a:t>
            </a:r>
            <a:r>
              <a:rPr sz="1867" spc="-7" dirty="0">
                <a:latin typeface="Arial MT"/>
                <a:cs typeface="Arial MT"/>
              </a:rPr>
              <a:t>is heads up. </a:t>
            </a:r>
            <a:r>
              <a:rPr sz="1867" spc="-73" dirty="0">
                <a:solidFill>
                  <a:srgbClr val="37761C"/>
                </a:solidFill>
                <a:latin typeface="Arial MT"/>
                <a:cs typeface="Arial MT"/>
              </a:rPr>
              <a:t>Tom </a:t>
            </a:r>
            <a:r>
              <a:rPr sz="1867" spc="-7" dirty="0">
                <a:latin typeface="Arial MT"/>
                <a:cs typeface="Arial MT"/>
              </a:rPr>
              <a:t>does </a:t>
            </a:r>
            <a:r>
              <a:rPr sz="186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not flip the </a:t>
            </a:r>
            <a:r>
              <a:rPr sz="1867" dirty="0">
                <a:latin typeface="Arial MT"/>
                <a:cs typeface="Arial MT"/>
              </a:rPr>
              <a:t>coin. </a:t>
            </a:r>
            <a:r>
              <a:rPr sz="1867" dirty="0">
                <a:solidFill>
                  <a:srgbClr val="37761C"/>
                </a:solidFill>
                <a:latin typeface="Arial MT"/>
                <a:cs typeface="Arial MT"/>
              </a:rPr>
              <a:t>Mike </a:t>
            </a:r>
            <a:r>
              <a:rPr sz="1867" spc="-7" dirty="0">
                <a:latin typeface="Arial MT"/>
                <a:cs typeface="Arial MT"/>
              </a:rPr>
              <a:t>does not flip </a:t>
            </a:r>
            <a:r>
              <a:rPr sz="1867" spc="-50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the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coin.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Is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the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coin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still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heads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up?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0189" y="3144406"/>
            <a:ext cx="3807460" cy="14414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>
              <a:lnSpc>
                <a:spcPts val="2200"/>
              </a:lnSpc>
              <a:spcBef>
                <a:spcPts val="240"/>
              </a:spcBef>
            </a:pPr>
            <a:r>
              <a:rPr sz="1867" spc="-7" dirty="0">
                <a:latin typeface="Arial MT"/>
                <a:cs typeface="Arial MT"/>
              </a:rPr>
              <a:t>A:</a:t>
            </a:r>
            <a:r>
              <a:rPr sz="1867" dirty="0">
                <a:latin typeface="Arial MT"/>
                <a:cs typeface="Arial MT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The coin was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flipped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by no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one. </a:t>
            </a:r>
            <a:r>
              <a:rPr sz="1867" b="1" spc="-7" dirty="0">
                <a:solidFill>
                  <a:srgbClr val="BE9000"/>
                </a:solidFill>
                <a:latin typeface="Arial"/>
                <a:cs typeface="Arial"/>
              </a:rPr>
              <a:t>So </a:t>
            </a:r>
            <a:r>
              <a:rPr sz="1867" b="1" dirty="0">
                <a:solidFill>
                  <a:srgbClr val="BE9000"/>
                </a:solidFill>
                <a:latin typeface="Arial"/>
                <a:cs typeface="Arial"/>
              </a:rPr>
              <a:t>the </a:t>
            </a:r>
            <a:r>
              <a:rPr sz="1867" b="1" spc="-7" dirty="0">
                <a:solidFill>
                  <a:srgbClr val="BE9000"/>
                </a:solidFill>
                <a:latin typeface="Arial"/>
                <a:cs typeface="Arial"/>
              </a:rPr>
              <a:t>coin was </a:t>
            </a:r>
            <a:r>
              <a:rPr sz="1867" b="1" dirty="0">
                <a:solidFill>
                  <a:srgbClr val="BE9000"/>
                </a:solidFill>
                <a:latin typeface="Arial"/>
                <a:cs typeface="Arial"/>
              </a:rPr>
              <a:t>flipped 0 </a:t>
            </a:r>
            <a:r>
              <a:rPr sz="1867" b="1" spc="7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BE9000"/>
                </a:solidFill>
                <a:latin typeface="Arial"/>
                <a:cs typeface="Arial"/>
              </a:rPr>
              <a:t>times. </a:t>
            </a:r>
            <a:r>
              <a:rPr sz="1867" b="1" spc="-7" dirty="0">
                <a:solidFill>
                  <a:srgbClr val="1155CC"/>
                </a:solidFill>
                <a:latin typeface="Arial"/>
                <a:cs typeface="Arial"/>
              </a:rPr>
              <a:t>The coin started heads up, </a:t>
            </a:r>
            <a:r>
              <a:rPr sz="1867" b="1" spc="-50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1155CC"/>
                </a:solidFill>
                <a:latin typeface="Arial"/>
                <a:cs typeface="Arial"/>
              </a:rPr>
              <a:t>and it was not </a:t>
            </a:r>
            <a:r>
              <a:rPr sz="1867" b="1" dirty="0">
                <a:solidFill>
                  <a:srgbClr val="1155CC"/>
                </a:solidFill>
                <a:latin typeface="Arial"/>
                <a:cs typeface="Arial"/>
              </a:rPr>
              <a:t>flipped, </a:t>
            </a:r>
            <a:r>
              <a:rPr sz="1867" b="1" spc="-7" dirty="0">
                <a:solidFill>
                  <a:srgbClr val="1155CC"/>
                </a:solidFill>
                <a:latin typeface="Arial"/>
                <a:cs typeface="Arial"/>
              </a:rPr>
              <a:t>so it is still </a:t>
            </a:r>
            <a:r>
              <a:rPr sz="1867" b="1" spc="-50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1155CC"/>
                </a:solidFill>
                <a:latin typeface="Arial"/>
                <a:cs typeface="Arial"/>
              </a:rPr>
              <a:t>heads</a:t>
            </a:r>
            <a:r>
              <a:rPr sz="1867" b="1" spc="-2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1155CC"/>
                </a:solidFill>
                <a:latin typeface="Arial"/>
                <a:cs typeface="Arial"/>
              </a:rPr>
              <a:t>up</a:t>
            </a:r>
            <a:r>
              <a:rPr sz="1867" dirty="0">
                <a:solidFill>
                  <a:srgbClr val="1155CC"/>
                </a:solidFill>
                <a:latin typeface="Arial MT"/>
                <a:cs typeface="Arial MT"/>
              </a:rPr>
              <a:t>.</a:t>
            </a:r>
            <a:r>
              <a:rPr sz="1867" spc="-13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So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the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answer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is</a:t>
            </a:r>
            <a:r>
              <a:rPr sz="1867" spc="7" dirty="0">
                <a:latin typeface="Arial MT"/>
                <a:cs typeface="Arial MT"/>
              </a:rPr>
              <a:t> </a:t>
            </a:r>
            <a:r>
              <a:rPr sz="1867" b="1" spc="-7" dirty="0">
                <a:solidFill>
                  <a:srgbClr val="990000"/>
                </a:solidFill>
                <a:latin typeface="Arial"/>
                <a:cs typeface="Arial"/>
              </a:rPr>
              <a:t>yes</a:t>
            </a:r>
            <a:r>
              <a:rPr sz="1867" spc="-7" dirty="0">
                <a:latin typeface="Arial MT"/>
                <a:cs typeface="Arial MT"/>
              </a:rPr>
              <a:t>.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7" dirty="0"/>
              <a:t>Symbolic</a:t>
            </a:r>
            <a:r>
              <a:rPr sz="4000" spc="-33" dirty="0"/>
              <a:t> </a:t>
            </a:r>
            <a:r>
              <a:rPr sz="4000" spc="-13" dirty="0"/>
              <a:t>Reasoning</a:t>
            </a:r>
            <a:r>
              <a:rPr sz="4000" spc="-33" dirty="0"/>
              <a:t> </a:t>
            </a:r>
            <a:r>
              <a:rPr sz="4000" dirty="0"/>
              <a:t>-</a:t>
            </a:r>
            <a:r>
              <a:rPr sz="4000" spc="-27" dirty="0"/>
              <a:t> </a:t>
            </a:r>
            <a:r>
              <a:rPr sz="4000" spc="-13" dirty="0"/>
              <a:t>Coin</a:t>
            </a:r>
            <a:r>
              <a:rPr sz="4000" spc="-40" dirty="0"/>
              <a:t> </a:t>
            </a:r>
            <a:r>
              <a:rPr sz="4000" spc="-7" dirty="0"/>
              <a:t>Flip</a:t>
            </a:r>
            <a:endParaRPr sz="400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37</a:t>
            </a:fld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4595449" y="5685150"/>
            <a:ext cx="300228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Times New Roman"/>
                <a:cs typeface="Times New Roman"/>
              </a:rPr>
              <a:t>8</a:t>
            </a:r>
            <a:r>
              <a:rPr sz="1867" spc="-27" dirty="0">
                <a:latin typeface="Times New Roman"/>
                <a:cs typeface="Times New Roman"/>
              </a:rPr>
              <a:t> </a:t>
            </a:r>
            <a:r>
              <a:rPr sz="1867" spc="-7" dirty="0">
                <a:latin typeface="Times New Roman"/>
                <a:cs typeface="Times New Roman"/>
              </a:rPr>
              <a:t>exemplars</a:t>
            </a:r>
            <a:r>
              <a:rPr sz="1867" spc="-33" dirty="0">
                <a:latin typeface="Times New Roman"/>
                <a:cs typeface="Times New Roman"/>
              </a:rPr>
              <a:t> </a:t>
            </a:r>
            <a:r>
              <a:rPr sz="1867" spc="-7" dirty="0">
                <a:latin typeface="Times New Roman"/>
                <a:cs typeface="Times New Roman"/>
              </a:rPr>
              <a:t>with </a:t>
            </a:r>
            <a:r>
              <a:rPr sz="1867" b="1" spc="-7" dirty="0">
                <a:latin typeface="Times New Roman"/>
                <a:cs typeface="Times New Roman"/>
              </a:rPr>
              <a:t>strict</a:t>
            </a:r>
            <a:r>
              <a:rPr sz="1867" b="1" spc="-33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Times New Roman"/>
                <a:cs typeface="Times New Roman"/>
              </a:rPr>
              <a:t>format.</a:t>
            </a:r>
            <a:endParaRPr sz="1867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810650" y="1165250"/>
            <a:ext cx="4492413" cy="4284980"/>
            <a:chOff x="5107987" y="873937"/>
            <a:chExt cx="3369310" cy="3213735"/>
          </a:xfrm>
        </p:grpSpPr>
        <p:sp>
          <p:nvSpPr>
            <p:cNvPr id="11" name="object 11"/>
            <p:cNvSpPr/>
            <p:nvPr/>
          </p:nvSpPr>
          <p:spPr>
            <a:xfrm>
              <a:off x="5112749" y="878699"/>
              <a:ext cx="3359785" cy="3204210"/>
            </a:xfrm>
            <a:custGeom>
              <a:avLst/>
              <a:gdLst/>
              <a:ahLst/>
              <a:cxnLst/>
              <a:rect l="l" t="t" r="r" b="b"/>
              <a:pathLst>
                <a:path w="3359784" h="3204210">
                  <a:moveTo>
                    <a:pt x="2825738" y="3203699"/>
                  </a:moveTo>
                  <a:lnTo>
                    <a:pt x="533960" y="3203699"/>
                  </a:lnTo>
                  <a:lnTo>
                    <a:pt x="485359" y="3201517"/>
                  </a:lnTo>
                  <a:lnTo>
                    <a:pt x="437980" y="3195097"/>
                  </a:lnTo>
                  <a:lnTo>
                    <a:pt x="392012" y="3184626"/>
                  </a:lnTo>
                  <a:lnTo>
                    <a:pt x="347644" y="3170294"/>
                  </a:lnTo>
                  <a:lnTo>
                    <a:pt x="305064" y="3152288"/>
                  </a:lnTo>
                  <a:lnTo>
                    <a:pt x="264460" y="3130798"/>
                  </a:lnTo>
                  <a:lnTo>
                    <a:pt x="226021" y="3106012"/>
                  </a:lnTo>
                  <a:lnTo>
                    <a:pt x="189936" y="3078119"/>
                  </a:lnTo>
                  <a:lnTo>
                    <a:pt x="156393" y="3047306"/>
                  </a:lnTo>
                  <a:lnTo>
                    <a:pt x="125580" y="3013763"/>
                  </a:lnTo>
                  <a:lnTo>
                    <a:pt x="97687" y="2977678"/>
                  </a:lnTo>
                  <a:lnTo>
                    <a:pt x="72901" y="2939239"/>
                  </a:lnTo>
                  <a:lnTo>
                    <a:pt x="51411" y="2898635"/>
                  </a:lnTo>
                  <a:lnTo>
                    <a:pt x="33405" y="2856055"/>
                  </a:lnTo>
                  <a:lnTo>
                    <a:pt x="19073" y="2811687"/>
                  </a:lnTo>
                  <a:lnTo>
                    <a:pt x="8602" y="2765719"/>
                  </a:lnTo>
                  <a:lnTo>
                    <a:pt x="2182" y="2718340"/>
                  </a:lnTo>
                  <a:lnTo>
                    <a:pt x="0" y="2669739"/>
                  </a:lnTo>
                  <a:lnTo>
                    <a:pt x="0" y="533960"/>
                  </a:lnTo>
                  <a:lnTo>
                    <a:pt x="2182" y="485359"/>
                  </a:lnTo>
                  <a:lnTo>
                    <a:pt x="8602" y="437980"/>
                  </a:lnTo>
                  <a:lnTo>
                    <a:pt x="19073" y="392012"/>
                  </a:lnTo>
                  <a:lnTo>
                    <a:pt x="33405" y="347644"/>
                  </a:lnTo>
                  <a:lnTo>
                    <a:pt x="51411" y="305064"/>
                  </a:lnTo>
                  <a:lnTo>
                    <a:pt x="72901" y="264460"/>
                  </a:lnTo>
                  <a:lnTo>
                    <a:pt x="97687" y="226021"/>
                  </a:lnTo>
                  <a:lnTo>
                    <a:pt x="125580" y="189936"/>
                  </a:lnTo>
                  <a:lnTo>
                    <a:pt x="156393" y="156393"/>
                  </a:lnTo>
                  <a:lnTo>
                    <a:pt x="189936" y="125580"/>
                  </a:lnTo>
                  <a:lnTo>
                    <a:pt x="226021" y="97687"/>
                  </a:lnTo>
                  <a:lnTo>
                    <a:pt x="264460" y="72901"/>
                  </a:lnTo>
                  <a:lnTo>
                    <a:pt x="305064" y="51411"/>
                  </a:lnTo>
                  <a:lnTo>
                    <a:pt x="347644" y="33405"/>
                  </a:lnTo>
                  <a:lnTo>
                    <a:pt x="392012" y="19073"/>
                  </a:lnTo>
                  <a:lnTo>
                    <a:pt x="437980" y="8602"/>
                  </a:lnTo>
                  <a:lnTo>
                    <a:pt x="485359" y="2182"/>
                  </a:lnTo>
                  <a:lnTo>
                    <a:pt x="533960" y="0"/>
                  </a:lnTo>
                  <a:lnTo>
                    <a:pt x="2825738" y="0"/>
                  </a:lnTo>
                  <a:lnTo>
                    <a:pt x="2878514" y="2612"/>
                  </a:lnTo>
                  <a:lnTo>
                    <a:pt x="2930396" y="10354"/>
                  </a:lnTo>
                  <a:lnTo>
                    <a:pt x="2981033" y="23080"/>
                  </a:lnTo>
                  <a:lnTo>
                    <a:pt x="3030077" y="40645"/>
                  </a:lnTo>
                  <a:lnTo>
                    <a:pt x="3077176" y="62904"/>
                  </a:lnTo>
                  <a:lnTo>
                    <a:pt x="3121980" y="89711"/>
                  </a:lnTo>
                  <a:lnTo>
                    <a:pt x="3164140" y="120923"/>
                  </a:lnTo>
                  <a:lnTo>
                    <a:pt x="3203306" y="156393"/>
                  </a:lnTo>
                  <a:lnTo>
                    <a:pt x="3238776" y="195558"/>
                  </a:lnTo>
                  <a:lnTo>
                    <a:pt x="3269988" y="237719"/>
                  </a:lnTo>
                  <a:lnTo>
                    <a:pt x="3296795" y="282523"/>
                  </a:lnTo>
                  <a:lnTo>
                    <a:pt x="3319054" y="329622"/>
                  </a:lnTo>
                  <a:lnTo>
                    <a:pt x="3336619" y="378666"/>
                  </a:lnTo>
                  <a:lnTo>
                    <a:pt x="3349345" y="429303"/>
                  </a:lnTo>
                  <a:lnTo>
                    <a:pt x="3357087" y="481185"/>
                  </a:lnTo>
                  <a:lnTo>
                    <a:pt x="3359699" y="533960"/>
                  </a:lnTo>
                  <a:lnTo>
                    <a:pt x="3359699" y="2669739"/>
                  </a:lnTo>
                  <a:lnTo>
                    <a:pt x="3357517" y="2718340"/>
                  </a:lnTo>
                  <a:lnTo>
                    <a:pt x="3351097" y="2765719"/>
                  </a:lnTo>
                  <a:lnTo>
                    <a:pt x="3340626" y="2811687"/>
                  </a:lnTo>
                  <a:lnTo>
                    <a:pt x="3326294" y="2856055"/>
                  </a:lnTo>
                  <a:lnTo>
                    <a:pt x="3308288" y="2898635"/>
                  </a:lnTo>
                  <a:lnTo>
                    <a:pt x="3286798" y="2939239"/>
                  </a:lnTo>
                  <a:lnTo>
                    <a:pt x="3262012" y="2977678"/>
                  </a:lnTo>
                  <a:lnTo>
                    <a:pt x="3234119" y="3013763"/>
                  </a:lnTo>
                  <a:lnTo>
                    <a:pt x="3203306" y="3047306"/>
                  </a:lnTo>
                  <a:lnTo>
                    <a:pt x="3169763" y="3078119"/>
                  </a:lnTo>
                  <a:lnTo>
                    <a:pt x="3133678" y="3106012"/>
                  </a:lnTo>
                  <a:lnTo>
                    <a:pt x="3095239" y="3130798"/>
                  </a:lnTo>
                  <a:lnTo>
                    <a:pt x="3054635" y="3152288"/>
                  </a:lnTo>
                  <a:lnTo>
                    <a:pt x="3012055" y="3170294"/>
                  </a:lnTo>
                  <a:lnTo>
                    <a:pt x="2967686" y="3184626"/>
                  </a:lnTo>
                  <a:lnTo>
                    <a:pt x="2921719" y="3195097"/>
                  </a:lnTo>
                  <a:lnTo>
                    <a:pt x="2874340" y="3201517"/>
                  </a:lnTo>
                  <a:lnTo>
                    <a:pt x="2825738" y="32036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12749" y="878699"/>
              <a:ext cx="3359785" cy="3204210"/>
            </a:xfrm>
            <a:custGeom>
              <a:avLst/>
              <a:gdLst/>
              <a:ahLst/>
              <a:cxnLst/>
              <a:rect l="l" t="t" r="r" b="b"/>
              <a:pathLst>
                <a:path w="3359784" h="3204210">
                  <a:moveTo>
                    <a:pt x="0" y="533960"/>
                  </a:moveTo>
                  <a:lnTo>
                    <a:pt x="2182" y="485359"/>
                  </a:lnTo>
                  <a:lnTo>
                    <a:pt x="8602" y="437980"/>
                  </a:lnTo>
                  <a:lnTo>
                    <a:pt x="19073" y="392012"/>
                  </a:lnTo>
                  <a:lnTo>
                    <a:pt x="33405" y="347644"/>
                  </a:lnTo>
                  <a:lnTo>
                    <a:pt x="51411" y="305064"/>
                  </a:lnTo>
                  <a:lnTo>
                    <a:pt x="72901" y="264460"/>
                  </a:lnTo>
                  <a:lnTo>
                    <a:pt x="97687" y="226021"/>
                  </a:lnTo>
                  <a:lnTo>
                    <a:pt x="125580" y="189936"/>
                  </a:lnTo>
                  <a:lnTo>
                    <a:pt x="156393" y="156393"/>
                  </a:lnTo>
                  <a:lnTo>
                    <a:pt x="189936" y="125580"/>
                  </a:lnTo>
                  <a:lnTo>
                    <a:pt x="226021" y="97687"/>
                  </a:lnTo>
                  <a:lnTo>
                    <a:pt x="264460" y="72901"/>
                  </a:lnTo>
                  <a:lnTo>
                    <a:pt x="305064" y="51411"/>
                  </a:lnTo>
                  <a:lnTo>
                    <a:pt x="347644" y="33405"/>
                  </a:lnTo>
                  <a:lnTo>
                    <a:pt x="392012" y="19073"/>
                  </a:lnTo>
                  <a:lnTo>
                    <a:pt x="437980" y="8602"/>
                  </a:lnTo>
                  <a:lnTo>
                    <a:pt x="485359" y="2182"/>
                  </a:lnTo>
                  <a:lnTo>
                    <a:pt x="533960" y="0"/>
                  </a:lnTo>
                  <a:lnTo>
                    <a:pt x="2825738" y="0"/>
                  </a:lnTo>
                  <a:lnTo>
                    <a:pt x="2878514" y="2612"/>
                  </a:lnTo>
                  <a:lnTo>
                    <a:pt x="2930396" y="10354"/>
                  </a:lnTo>
                  <a:lnTo>
                    <a:pt x="2981033" y="23080"/>
                  </a:lnTo>
                  <a:lnTo>
                    <a:pt x="3030077" y="40645"/>
                  </a:lnTo>
                  <a:lnTo>
                    <a:pt x="3077176" y="62904"/>
                  </a:lnTo>
                  <a:lnTo>
                    <a:pt x="3121980" y="89711"/>
                  </a:lnTo>
                  <a:lnTo>
                    <a:pt x="3164140" y="120923"/>
                  </a:lnTo>
                  <a:lnTo>
                    <a:pt x="3203306" y="156393"/>
                  </a:lnTo>
                  <a:lnTo>
                    <a:pt x="3238776" y="195558"/>
                  </a:lnTo>
                  <a:lnTo>
                    <a:pt x="3269988" y="237719"/>
                  </a:lnTo>
                  <a:lnTo>
                    <a:pt x="3296795" y="282523"/>
                  </a:lnTo>
                  <a:lnTo>
                    <a:pt x="3319054" y="329622"/>
                  </a:lnTo>
                  <a:lnTo>
                    <a:pt x="3336619" y="378666"/>
                  </a:lnTo>
                  <a:lnTo>
                    <a:pt x="3349345" y="429303"/>
                  </a:lnTo>
                  <a:lnTo>
                    <a:pt x="3357087" y="481185"/>
                  </a:lnTo>
                  <a:lnTo>
                    <a:pt x="3359699" y="533960"/>
                  </a:lnTo>
                  <a:lnTo>
                    <a:pt x="3359699" y="2669739"/>
                  </a:lnTo>
                  <a:lnTo>
                    <a:pt x="3357517" y="2718340"/>
                  </a:lnTo>
                  <a:lnTo>
                    <a:pt x="3351097" y="2765719"/>
                  </a:lnTo>
                  <a:lnTo>
                    <a:pt x="3340626" y="2811687"/>
                  </a:lnTo>
                  <a:lnTo>
                    <a:pt x="3326294" y="2856055"/>
                  </a:lnTo>
                  <a:lnTo>
                    <a:pt x="3308288" y="2898635"/>
                  </a:lnTo>
                  <a:lnTo>
                    <a:pt x="3286798" y="2939239"/>
                  </a:lnTo>
                  <a:lnTo>
                    <a:pt x="3262012" y="2977678"/>
                  </a:lnTo>
                  <a:lnTo>
                    <a:pt x="3234119" y="3013763"/>
                  </a:lnTo>
                  <a:lnTo>
                    <a:pt x="3203306" y="3047306"/>
                  </a:lnTo>
                  <a:lnTo>
                    <a:pt x="3169763" y="3078119"/>
                  </a:lnTo>
                  <a:lnTo>
                    <a:pt x="3133678" y="3106012"/>
                  </a:lnTo>
                  <a:lnTo>
                    <a:pt x="3095239" y="3130798"/>
                  </a:lnTo>
                  <a:lnTo>
                    <a:pt x="3054635" y="3152288"/>
                  </a:lnTo>
                  <a:lnTo>
                    <a:pt x="3012055" y="3170294"/>
                  </a:lnTo>
                  <a:lnTo>
                    <a:pt x="2967686" y="3184626"/>
                  </a:lnTo>
                  <a:lnTo>
                    <a:pt x="2921719" y="3195097"/>
                  </a:lnTo>
                  <a:lnTo>
                    <a:pt x="2874340" y="3201517"/>
                  </a:lnTo>
                  <a:lnTo>
                    <a:pt x="2825738" y="3203699"/>
                  </a:lnTo>
                  <a:lnTo>
                    <a:pt x="533960" y="3203699"/>
                  </a:lnTo>
                  <a:lnTo>
                    <a:pt x="485359" y="3201517"/>
                  </a:lnTo>
                  <a:lnTo>
                    <a:pt x="437980" y="3195097"/>
                  </a:lnTo>
                  <a:lnTo>
                    <a:pt x="392012" y="3184626"/>
                  </a:lnTo>
                  <a:lnTo>
                    <a:pt x="347644" y="3170294"/>
                  </a:lnTo>
                  <a:lnTo>
                    <a:pt x="305064" y="3152288"/>
                  </a:lnTo>
                  <a:lnTo>
                    <a:pt x="264460" y="3130798"/>
                  </a:lnTo>
                  <a:lnTo>
                    <a:pt x="226021" y="3106012"/>
                  </a:lnTo>
                  <a:lnTo>
                    <a:pt x="189936" y="3078119"/>
                  </a:lnTo>
                  <a:lnTo>
                    <a:pt x="156393" y="3047306"/>
                  </a:lnTo>
                  <a:lnTo>
                    <a:pt x="125580" y="3013763"/>
                  </a:lnTo>
                  <a:lnTo>
                    <a:pt x="97687" y="2977678"/>
                  </a:lnTo>
                  <a:lnTo>
                    <a:pt x="72901" y="2939239"/>
                  </a:lnTo>
                  <a:lnTo>
                    <a:pt x="51411" y="2898635"/>
                  </a:lnTo>
                  <a:lnTo>
                    <a:pt x="33405" y="2856055"/>
                  </a:lnTo>
                  <a:lnTo>
                    <a:pt x="19073" y="2811687"/>
                  </a:lnTo>
                  <a:lnTo>
                    <a:pt x="8602" y="2765719"/>
                  </a:lnTo>
                  <a:lnTo>
                    <a:pt x="2182" y="2718340"/>
                  </a:lnTo>
                  <a:lnTo>
                    <a:pt x="0" y="2669739"/>
                  </a:lnTo>
                  <a:lnTo>
                    <a:pt x="0" y="53396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533200" y="1468006"/>
            <a:ext cx="104648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b="1" spc="-7" dirty="0">
                <a:latin typeface="Arial"/>
                <a:cs typeface="Arial"/>
              </a:rPr>
              <a:t>Coin</a:t>
            </a:r>
            <a:r>
              <a:rPr sz="1867" b="1" spc="-107" dirty="0">
                <a:latin typeface="Arial"/>
                <a:cs typeface="Arial"/>
              </a:rPr>
              <a:t> </a:t>
            </a:r>
            <a:r>
              <a:rPr sz="1867" b="1" spc="-7" dirty="0">
                <a:latin typeface="Arial"/>
                <a:cs typeface="Arial"/>
              </a:rPr>
              <a:t>Flip</a:t>
            </a:r>
            <a:endParaRPr sz="1867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22888" y="2026806"/>
            <a:ext cx="3640667" cy="877163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>
              <a:lnSpc>
                <a:spcPts val="2200"/>
              </a:lnSpc>
              <a:spcBef>
                <a:spcPts val="240"/>
              </a:spcBef>
            </a:pPr>
            <a:r>
              <a:rPr sz="1867" spc="-7" dirty="0">
                <a:latin typeface="Arial MT"/>
                <a:cs typeface="Arial MT"/>
              </a:rPr>
              <a:t>Q:</a:t>
            </a:r>
            <a:r>
              <a:rPr sz="1867" spc="38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A</a:t>
            </a:r>
            <a:r>
              <a:rPr sz="1867" spc="-1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coin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is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heads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up. </a:t>
            </a:r>
            <a:r>
              <a:rPr sz="1867" dirty="0">
                <a:solidFill>
                  <a:srgbClr val="37761C"/>
                </a:solidFill>
                <a:latin typeface="Arial MT"/>
                <a:cs typeface="Arial MT"/>
              </a:rPr>
              <a:t>Jamey</a:t>
            </a:r>
            <a:r>
              <a:rPr sz="1867" spc="-2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flips </a:t>
            </a:r>
            <a:r>
              <a:rPr sz="1867" spc="-50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the </a:t>
            </a:r>
            <a:r>
              <a:rPr sz="1867" dirty="0">
                <a:latin typeface="Arial MT"/>
                <a:cs typeface="Arial MT"/>
              </a:rPr>
              <a:t>coin. </a:t>
            </a:r>
            <a:r>
              <a:rPr sz="1867" spc="-40" dirty="0">
                <a:solidFill>
                  <a:srgbClr val="37761C"/>
                </a:solidFill>
                <a:latin typeface="Arial MT"/>
                <a:cs typeface="Arial MT"/>
              </a:rPr>
              <a:t>Teressa </a:t>
            </a:r>
            <a:r>
              <a:rPr sz="1867" spc="-7" dirty="0">
                <a:latin typeface="Arial MT"/>
                <a:cs typeface="Arial MT"/>
              </a:rPr>
              <a:t>flips the </a:t>
            </a:r>
            <a:r>
              <a:rPr sz="1867" dirty="0">
                <a:latin typeface="Arial MT"/>
                <a:cs typeface="Arial MT"/>
              </a:rPr>
              <a:t>coin. </a:t>
            </a:r>
            <a:r>
              <a:rPr sz="1867" spc="-7" dirty="0">
                <a:latin typeface="Arial MT"/>
                <a:cs typeface="Arial MT"/>
              </a:rPr>
              <a:t>Is </a:t>
            </a:r>
            <a:r>
              <a:rPr sz="186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the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coin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still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heads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up?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22889" y="3144405"/>
            <a:ext cx="3863340" cy="2005677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>
              <a:lnSpc>
                <a:spcPts val="2200"/>
              </a:lnSpc>
              <a:spcBef>
                <a:spcPts val="240"/>
              </a:spcBef>
            </a:pPr>
            <a:r>
              <a:rPr sz="1867" spc="-7" dirty="0">
                <a:latin typeface="Arial MT"/>
                <a:cs typeface="Arial MT"/>
              </a:rPr>
              <a:t>A:</a:t>
            </a:r>
            <a:r>
              <a:rPr sz="1867" dirty="0">
                <a:latin typeface="Arial MT"/>
                <a:cs typeface="Arial MT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The coin was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flipped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by Jamey </a:t>
            </a:r>
            <a:r>
              <a:rPr sz="1867" b="1" spc="-507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and </a:t>
            </a:r>
            <a:r>
              <a:rPr sz="1867" b="1" spc="-27" dirty="0">
                <a:solidFill>
                  <a:srgbClr val="37761C"/>
                </a:solidFill>
                <a:latin typeface="Arial"/>
                <a:cs typeface="Arial"/>
              </a:rPr>
              <a:t>Teressa. </a:t>
            </a:r>
            <a:r>
              <a:rPr sz="1867" b="1" spc="-7" dirty="0">
                <a:solidFill>
                  <a:srgbClr val="BE9000"/>
                </a:solidFill>
                <a:latin typeface="Arial"/>
                <a:cs typeface="Arial"/>
              </a:rPr>
              <a:t>So </a:t>
            </a:r>
            <a:r>
              <a:rPr sz="1867" b="1" dirty="0">
                <a:solidFill>
                  <a:srgbClr val="BE9000"/>
                </a:solidFill>
                <a:latin typeface="Arial"/>
                <a:cs typeface="Arial"/>
              </a:rPr>
              <a:t>the </a:t>
            </a:r>
            <a:r>
              <a:rPr sz="1867" b="1" spc="-7" dirty="0">
                <a:solidFill>
                  <a:srgbClr val="BE9000"/>
                </a:solidFill>
                <a:latin typeface="Arial"/>
                <a:cs typeface="Arial"/>
              </a:rPr>
              <a:t>coin was </a:t>
            </a:r>
            <a:r>
              <a:rPr sz="1867" b="1" dirty="0">
                <a:solidFill>
                  <a:srgbClr val="BE9000"/>
                </a:solidFill>
                <a:latin typeface="Arial"/>
                <a:cs typeface="Arial"/>
              </a:rPr>
              <a:t> flipped 2 times, </a:t>
            </a:r>
            <a:r>
              <a:rPr sz="1867" b="1" spc="-7" dirty="0">
                <a:solidFill>
                  <a:srgbClr val="BE9000"/>
                </a:solidFill>
                <a:latin typeface="Arial"/>
                <a:cs typeface="Arial"/>
              </a:rPr>
              <a:t>which is an even </a:t>
            </a:r>
            <a:r>
              <a:rPr sz="1867" b="1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1867" b="1" spc="-20" dirty="0">
                <a:solidFill>
                  <a:srgbClr val="BE9000"/>
                </a:solidFill>
                <a:latin typeface="Arial"/>
                <a:cs typeface="Arial"/>
              </a:rPr>
              <a:t>number. </a:t>
            </a:r>
            <a:r>
              <a:rPr sz="1867" b="1" spc="-7" dirty="0">
                <a:solidFill>
                  <a:srgbClr val="1155CC"/>
                </a:solidFill>
                <a:latin typeface="Arial"/>
                <a:cs typeface="Arial"/>
              </a:rPr>
              <a:t>The coin started heads </a:t>
            </a:r>
            <a:r>
              <a:rPr sz="1867" b="1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1155CC"/>
                </a:solidFill>
                <a:latin typeface="Arial"/>
                <a:cs typeface="Arial"/>
              </a:rPr>
              <a:t>up, so after an even number of </a:t>
            </a:r>
            <a:r>
              <a:rPr sz="1867" b="1" dirty="0">
                <a:solidFill>
                  <a:srgbClr val="1155CC"/>
                </a:solidFill>
                <a:latin typeface="Arial"/>
                <a:cs typeface="Arial"/>
              </a:rPr>
              <a:t> flips, </a:t>
            </a:r>
            <a:r>
              <a:rPr sz="1867" b="1" spc="-7" dirty="0">
                <a:solidFill>
                  <a:srgbClr val="1155CC"/>
                </a:solidFill>
                <a:latin typeface="Arial"/>
                <a:cs typeface="Arial"/>
              </a:rPr>
              <a:t>it will still be heads up. </a:t>
            </a:r>
            <a:r>
              <a:rPr sz="1867" spc="-7" dirty="0">
                <a:latin typeface="Arial MT"/>
                <a:cs typeface="Arial MT"/>
              </a:rPr>
              <a:t>So </a:t>
            </a:r>
            <a:r>
              <a:rPr sz="186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the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answer is</a:t>
            </a:r>
            <a:r>
              <a:rPr sz="1867" dirty="0">
                <a:latin typeface="Arial MT"/>
                <a:cs typeface="Arial MT"/>
              </a:rPr>
              <a:t> </a:t>
            </a:r>
            <a:r>
              <a:rPr sz="1867" b="1" spc="-7" dirty="0">
                <a:solidFill>
                  <a:srgbClr val="990000"/>
                </a:solidFill>
                <a:latin typeface="Arial"/>
                <a:cs typeface="Arial"/>
              </a:rPr>
              <a:t>yes</a:t>
            </a:r>
            <a:r>
              <a:rPr sz="1867" spc="-7" dirty="0">
                <a:latin typeface="Arial MT"/>
                <a:cs typeface="Arial MT"/>
              </a:rPr>
              <a:t>.</a:t>
            </a:r>
            <a:endParaRPr sz="1867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47950" y="1165249"/>
            <a:ext cx="4492413" cy="3698240"/>
            <a:chOff x="785962" y="873937"/>
            <a:chExt cx="3369310" cy="2773680"/>
          </a:xfrm>
        </p:grpSpPr>
        <p:sp>
          <p:nvSpPr>
            <p:cNvPr id="3" name="object 3"/>
            <p:cNvSpPr/>
            <p:nvPr/>
          </p:nvSpPr>
          <p:spPr>
            <a:xfrm>
              <a:off x="790724" y="878699"/>
              <a:ext cx="3359785" cy="2764155"/>
            </a:xfrm>
            <a:custGeom>
              <a:avLst/>
              <a:gdLst/>
              <a:ahLst/>
              <a:cxnLst/>
              <a:rect l="l" t="t" r="r" b="b"/>
              <a:pathLst>
                <a:path w="3359785" h="2764154">
                  <a:moveTo>
                    <a:pt x="2899040" y="2763899"/>
                  </a:moveTo>
                  <a:lnTo>
                    <a:pt x="460659" y="2763899"/>
                  </a:lnTo>
                  <a:lnTo>
                    <a:pt x="413559" y="2761521"/>
                  </a:lnTo>
                  <a:lnTo>
                    <a:pt x="367820" y="2754541"/>
                  </a:lnTo>
                  <a:lnTo>
                    <a:pt x="323673" y="2743189"/>
                  </a:lnTo>
                  <a:lnTo>
                    <a:pt x="281349" y="2727699"/>
                  </a:lnTo>
                  <a:lnTo>
                    <a:pt x="241081" y="2708300"/>
                  </a:lnTo>
                  <a:lnTo>
                    <a:pt x="203100" y="2685226"/>
                  </a:lnTo>
                  <a:lnTo>
                    <a:pt x="167637" y="2658707"/>
                  </a:lnTo>
                  <a:lnTo>
                    <a:pt x="134923" y="2628975"/>
                  </a:lnTo>
                  <a:lnTo>
                    <a:pt x="105192" y="2596262"/>
                  </a:lnTo>
                  <a:lnTo>
                    <a:pt x="78673" y="2560799"/>
                  </a:lnTo>
                  <a:lnTo>
                    <a:pt x="55599" y="2522818"/>
                  </a:lnTo>
                  <a:lnTo>
                    <a:pt x="36200" y="2482550"/>
                  </a:lnTo>
                  <a:lnTo>
                    <a:pt x="20710" y="2440226"/>
                  </a:lnTo>
                  <a:lnTo>
                    <a:pt x="9358" y="2396079"/>
                  </a:lnTo>
                  <a:lnTo>
                    <a:pt x="2378" y="2350340"/>
                  </a:lnTo>
                  <a:lnTo>
                    <a:pt x="0" y="2303240"/>
                  </a:lnTo>
                  <a:lnTo>
                    <a:pt x="0" y="460659"/>
                  </a:lnTo>
                  <a:lnTo>
                    <a:pt x="2378" y="413559"/>
                  </a:lnTo>
                  <a:lnTo>
                    <a:pt x="9358" y="367820"/>
                  </a:lnTo>
                  <a:lnTo>
                    <a:pt x="20710" y="323673"/>
                  </a:lnTo>
                  <a:lnTo>
                    <a:pt x="36200" y="281349"/>
                  </a:lnTo>
                  <a:lnTo>
                    <a:pt x="55599" y="241081"/>
                  </a:lnTo>
                  <a:lnTo>
                    <a:pt x="78673" y="203100"/>
                  </a:lnTo>
                  <a:lnTo>
                    <a:pt x="105192" y="167637"/>
                  </a:lnTo>
                  <a:lnTo>
                    <a:pt x="134923" y="134923"/>
                  </a:lnTo>
                  <a:lnTo>
                    <a:pt x="167637" y="105192"/>
                  </a:lnTo>
                  <a:lnTo>
                    <a:pt x="203100" y="78673"/>
                  </a:lnTo>
                  <a:lnTo>
                    <a:pt x="241081" y="55599"/>
                  </a:lnTo>
                  <a:lnTo>
                    <a:pt x="281349" y="36200"/>
                  </a:lnTo>
                  <a:lnTo>
                    <a:pt x="323673" y="20710"/>
                  </a:lnTo>
                  <a:lnTo>
                    <a:pt x="367820" y="9358"/>
                  </a:lnTo>
                  <a:lnTo>
                    <a:pt x="413559" y="2378"/>
                  </a:lnTo>
                  <a:lnTo>
                    <a:pt x="460659" y="0"/>
                  </a:lnTo>
                  <a:lnTo>
                    <a:pt x="2899040" y="0"/>
                  </a:lnTo>
                  <a:lnTo>
                    <a:pt x="2951019" y="2940"/>
                  </a:lnTo>
                  <a:lnTo>
                    <a:pt x="3001934" y="11636"/>
                  </a:lnTo>
                  <a:lnTo>
                    <a:pt x="3051335" y="25902"/>
                  </a:lnTo>
                  <a:lnTo>
                    <a:pt x="3098771" y="45550"/>
                  </a:lnTo>
                  <a:lnTo>
                    <a:pt x="3143790" y="70395"/>
                  </a:lnTo>
                  <a:lnTo>
                    <a:pt x="3185942" y="100248"/>
                  </a:lnTo>
                  <a:lnTo>
                    <a:pt x="3224776" y="134923"/>
                  </a:lnTo>
                  <a:lnTo>
                    <a:pt x="3259451" y="173757"/>
                  </a:lnTo>
                  <a:lnTo>
                    <a:pt x="3289304" y="215909"/>
                  </a:lnTo>
                  <a:lnTo>
                    <a:pt x="3314149" y="260928"/>
                  </a:lnTo>
                  <a:lnTo>
                    <a:pt x="3333797" y="308364"/>
                  </a:lnTo>
                  <a:lnTo>
                    <a:pt x="3348063" y="357764"/>
                  </a:lnTo>
                  <a:lnTo>
                    <a:pt x="3356759" y="408680"/>
                  </a:lnTo>
                  <a:lnTo>
                    <a:pt x="3359699" y="460659"/>
                  </a:lnTo>
                  <a:lnTo>
                    <a:pt x="3359699" y="2303240"/>
                  </a:lnTo>
                  <a:lnTo>
                    <a:pt x="3357321" y="2350340"/>
                  </a:lnTo>
                  <a:lnTo>
                    <a:pt x="3350341" y="2396079"/>
                  </a:lnTo>
                  <a:lnTo>
                    <a:pt x="3338989" y="2440226"/>
                  </a:lnTo>
                  <a:lnTo>
                    <a:pt x="3323499" y="2482550"/>
                  </a:lnTo>
                  <a:lnTo>
                    <a:pt x="3304100" y="2522818"/>
                  </a:lnTo>
                  <a:lnTo>
                    <a:pt x="3281026" y="2560799"/>
                  </a:lnTo>
                  <a:lnTo>
                    <a:pt x="3254507" y="2596262"/>
                  </a:lnTo>
                  <a:lnTo>
                    <a:pt x="3224775" y="2628975"/>
                  </a:lnTo>
                  <a:lnTo>
                    <a:pt x="3192062" y="2658707"/>
                  </a:lnTo>
                  <a:lnTo>
                    <a:pt x="3156599" y="2685226"/>
                  </a:lnTo>
                  <a:lnTo>
                    <a:pt x="3118618" y="2708300"/>
                  </a:lnTo>
                  <a:lnTo>
                    <a:pt x="3078349" y="2727699"/>
                  </a:lnTo>
                  <a:lnTo>
                    <a:pt x="3036026" y="2743189"/>
                  </a:lnTo>
                  <a:lnTo>
                    <a:pt x="2991879" y="2754541"/>
                  </a:lnTo>
                  <a:lnTo>
                    <a:pt x="2946140" y="2761521"/>
                  </a:lnTo>
                  <a:lnTo>
                    <a:pt x="2899040" y="2763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0724" y="878699"/>
              <a:ext cx="3359785" cy="2764155"/>
            </a:xfrm>
            <a:custGeom>
              <a:avLst/>
              <a:gdLst/>
              <a:ahLst/>
              <a:cxnLst/>
              <a:rect l="l" t="t" r="r" b="b"/>
              <a:pathLst>
                <a:path w="3359785" h="2764154">
                  <a:moveTo>
                    <a:pt x="0" y="460659"/>
                  </a:moveTo>
                  <a:lnTo>
                    <a:pt x="2378" y="413559"/>
                  </a:lnTo>
                  <a:lnTo>
                    <a:pt x="9358" y="367820"/>
                  </a:lnTo>
                  <a:lnTo>
                    <a:pt x="20710" y="323673"/>
                  </a:lnTo>
                  <a:lnTo>
                    <a:pt x="36200" y="281349"/>
                  </a:lnTo>
                  <a:lnTo>
                    <a:pt x="55599" y="241081"/>
                  </a:lnTo>
                  <a:lnTo>
                    <a:pt x="78673" y="203100"/>
                  </a:lnTo>
                  <a:lnTo>
                    <a:pt x="105192" y="167637"/>
                  </a:lnTo>
                  <a:lnTo>
                    <a:pt x="134923" y="134923"/>
                  </a:lnTo>
                  <a:lnTo>
                    <a:pt x="167637" y="105192"/>
                  </a:lnTo>
                  <a:lnTo>
                    <a:pt x="203100" y="78673"/>
                  </a:lnTo>
                  <a:lnTo>
                    <a:pt x="241081" y="55599"/>
                  </a:lnTo>
                  <a:lnTo>
                    <a:pt x="281349" y="36200"/>
                  </a:lnTo>
                  <a:lnTo>
                    <a:pt x="323673" y="20710"/>
                  </a:lnTo>
                  <a:lnTo>
                    <a:pt x="367820" y="9358"/>
                  </a:lnTo>
                  <a:lnTo>
                    <a:pt x="413559" y="2378"/>
                  </a:lnTo>
                  <a:lnTo>
                    <a:pt x="460659" y="0"/>
                  </a:lnTo>
                  <a:lnTo>
                    <a:pt x="2899040" y="0"/>
                  </a:lnTo>
                  <a:lnTo>
                    <a:pt x="2951019" y="2940"/>
                  </a:lnTo>
                  <a:lnTo>
                    <a:pt x="3001934" y="11636"/>
                  </a:lnTo>
                  <a:lnTo>
                    <a:pt x="3051335" y="25902"/>
                  </a:lnTo>
                  <a:lnTo>
                    <a:pt x="3098771" y="45550"/>
                  </a:lnTo>
                  <a:lnTo>
                    <a:pt x="3143790" y="70395"/>
                  </a:lnTo>
                  <a:lnTo>
                    <a:pt x="3185942" y="100248"/>
                  </a:lnTo>
                  <a:lnTo>
                    <a:pt x="3224776" y="134923"/>
                  </a:lnTo>
                  <a:lnTo>
                    <a:pt x="3259451" y="173757"/>
                  </a:lnTo>
                  <a:lnTo>
                    <a:pt x="3289304" y="215909"/>
                  </a:lnTo>
                  <a:lnTo>
                    <a:pt x="3314149" y="260928"/>
                  </a:lnTo>
                  <a:lnTo>
                    <a:pt x="3333797" y="308364"/>
                  </a:lnTo>
                  <a:lnTo>
                    <a:pt x="3348063" y="357764"/>
                  </a:lnTo>
                  <a:lnTo>
                    <a:pt x="3356759" y="408680"/>
                  </a:lnTo>
                  <a:lnTo>
                    <a:pt x="3359699" y="460659"/>
                  </a:lnTo>
                  <a:lnTo>
                    <a:pt x="3359699" y="2303240"/>
                  </a:lnTo>
                  <a:lnTo>
                    <a:pt x="3357321" y="2350340"/>
                  </a:lnTo>
                  <a:lnTo>
                    <a:pt x="3350341" y="2396079"/>
                  </a:lnTo>
                  <a:lnTo>
                    <a:pt x="3338989" y="2440226"/>
                  </a:lnTo>
                  <a:lnTo>
                    <a:pt x="3323499" y="2482550"/>
                  </a:lnTo>
                  <a:lnTo>
                    <a:pt x="3304100" y="2522818"/>
                  </a:lnTo>
                  <a:lnTo>
                    <a:pt x="3281026" y="2560799"/>
                  </a:lnTo>
                  <a:lnTo>
                    <a:pt x="3254507" y="2596262"/>
                  </a:lnTo>
                  <a:lnTo>
                    <a:pt x="3224775" y="2628975"/>
                  </a:lnTo>
                  <a:lnTo>
                    <a:pt x="3192062" y="2658707"/>
                  </a:lnTo>
                  <a:lnTo>
                    <a:pt x="3156599" y="2685226"/>
                  </a:lnTo>
                  <a:lnTo>
                    <a:pt x="3118618" y="2708300"/>
                  </a:lnTo>
                  <a:lnTo>
                    <a:pt x="3078349" y="2727699"/>
                  </a:lnTo>
                  <a:lnTo>
                    <a:pt x="3036026" y="2743189"/>
                  </a:lnTo>
                  <a:lnTo>
                    <a:pt x="2991879" y="2754541"/>
                  </a:lnTo>
                  <a:lnTo>
                    <a:pt x="2946140" y="2761521"/>
                  </a:lnTo>
                  <a:lnTo>
                    <a:pt x="2899040" y="2763899"/>
                  </a:lnTo>
                  <a:lnTo>
                    <a:pt x="460659" y="2763899"/>
                  </a:lnTo>
                  <a:lnTo>
                    <a:pt x="413559" y="2761521"/>
                  </a:lnTo>
                  <a:lnTo>
                    <a:pt x="367820" y="2754541"/>
                  </a:lnTo>
                  <a:lnTo>
                    <a:pt x="323673" y="2743189"/>
                  </a:lnTo>
                  <a:lnTo>
                    <a:pt x="281349" y="2727699"/>
                  </a:lnTo>
                  <a:lnTo>
                    <a:pt x="241081" y="2708300"/>
                  </a:lnTo>
                  <a:lnTo>
                    <a:pt x="203100" y="2685226"/>
                  </a:lnTo>
                  <a:lnTo>
                    <a:pt x="167637" y="2658707"/>
                  </a:lnTo>
                  <a:lnTo>
                    <a:pt x="134923" y="2628975"/>
                  </a:lnTo>
                  <a:lnTo>
                    <a:pt x="105192" y="2596262"/>
                  </a:lnTo>
                  <a:lnTo>
                    <a:pt x="78673" y="2560799"/>
                  </a:lnTo>
                  <a:lnTo>
                    <a:pt x="55599" y="2522818"/>
                  </a:lnTo>
                  <a:lnTo>
                    <a:pt x="36200" y="2482550"/>
                  </a:lnTo>
                  <a:lnTo>
                    <a:pt x="20710" y="2440226"/>
                  </a:lnTo>
                  <a:lnTo>
                    <a:pt x="9358" y="2396079"/>
                  </a:lnTo>
                  <a:lnTo>
                    <a:pt x="2378" y="2350340"/>
                  </a:lnTo>
                  <a:lnTo>
                    <a:pt x="0" y="2303240"/>
                  </a:lnTo>
                  <a:lnTo>
                    <a:pt x="0" y="460659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874997" y="1439381"/>
            <a:ext cx="283548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b="1" spc="-7" dirty="0">
                <a:latin typeface="Arial"/>
                <a:cs typeface="Arial"/>
              </a:rPr>
              <a:t>Last</a:t>
            </a:r>
            <a:r>
              <a:rPr sz="1867" b="1" spc="-60" dirty="0">
                <a:latin typeface="Arial"/>
                <a:cs typeface="Arial"/>
              </a:rPr>
              <a:t> </a:t>
            </a:r>
            <a:r>
              <a:rPr sz="1867" b="1" spc="-7" dirty="0">
                <a:latin typeface="Arial"/>
                <a:cs typeface="Arial"/>
              </a:rPr>
              <a:t>letter</a:t>
            </a:r>
            <a:r>
              <a:rPr sz="1867" b="1" spc="-53" dirty="0">
                <a:latin typeface="Arial"/>
                <a:cs typeface="Arial"/>
              </a:rPr>
              <a:t> </a:t>
            </a:r>
            <a:r>
              <a:rPr sz="1867" b="1" spc="-7" dirty="0">
                <a:latin typeface="Arial"/>
                <a:cs typeface="Arial"/>
              </a:rPr>
              <a:t>concatenation</a:t>
            </a:r>
            <a:endParaRPr sz="186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31563" y="1998181"/>
            <a:ext cx="3739727" cy="877163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>
              <a:lnSpc>
                <a:spcPts val="2200"/>
              </a:lnSpc>
              <a:spcBef>
                <a:spcPts val="240"/>
              </a:spcBef>
            </a:pPr>
            <a:r>
              <a:rPr sz="1867" spc="-7" dirty="0">
                <a:latin typeface="Arial MT"/>
                <a:cs typeface="Arial MT"/>
              </a:rPr>
              <a:t>Q: </a:t>
            </a:r>
            <a:r>
              <a:rPr sz="1867" spc="-60" dirty="0">
                <a:latin typeface="Arial MT"/>
                <a:cs typeface="Arial MT"/>
              </a:rPr>
              <a:t>Take </a:t>
            </a:r>
            <a:r>
              <a:rPr sz="1867" spc="-7" dirty="0">
                <a:latin typeface="Arial MT"/>
                <a:cs typeface="Arial MT"/>
              </a:rPr>
              <a:t>the last letters of the words </a:t>
            </a:r>
            <a:r>
              <a:rPr sz="1867" spc="-50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in "Elon </a:t>
            </a:r>
            <a:r>
              <a:rPr sz="1867" dirty="0">
                <a:latin typeface="Arial MT"/>
                <a:cs typeface="Arial MT"/>
              </a:rPr>
              <a:t>Musk" </a:t>
            </a:r>
            <a:r>
              <a:rPr sz="1867" spc="-7" dirty="0">
                <a:latin typeface="Arial MT"/>
                <a:cs typeface="Arial MT"/>
              </a:rPr>
              <a:t>and </a:t>
            </a:r>
            <a:r>
              <a:rPr sz="1867" dirty="0">
                <a:latin typeface="Arial MT"/>
                <a:cs typeface="Arial MT"/>
              </a:rPr>
              <a:t>concatenate </a:t>
            </a:r>
            <a:r>
              <a:rPr sz="1867" spc="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them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31563" y="3115780"/>
            <a:ext cx="3716020" cy="1159292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>
              <a:lnSpc>
                <a:spcPts val="2200"/>
              </a:lnSpc>
              <a:spcBef>
                <a:spcPts val="240"/>
              </a:spcBef>
            </a:pPr>
            <a:r>
              <a:rPr sz="1867" spc="-7" dirty="0">
                <a:latin typeface="Arial MT"/>
                <a:cs typeface="Arial MT"/>
              </a:rPr>
              <a:t>A: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The last letter of "Elon" is "n". </a:t>
            </a:r>
            <a:r>
              <a:rPr sz="1867" b="1" spc="-50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867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last</a:t>
            </a:r>
            <a:r>
              <a:rPr sz="1867" b="1" spc="-13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letter</a:t>
            </a:r>
            <a:r>
              <a:rPr sz="1867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of</a:t>
            </a:r>
            <a:r>
              <a:rPr sz="1867" b="1" spc="-13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"Musk"</a:t>
            </a:r>
            <a:r>
              <a:rPr sz="1867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is</a:t>
            </a:r>
            <a:r>
              <a:rPr sz="1867" b="1" spc="-13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"k".</a:t>
            </a:r>
            <a:endParaRPr sz="1867">
              <a:latin typeface="Arial"/>
              <a:cs typeface="Arial"/>
            </a:endParaRPr>
          </a:p>
          <a:p>
            <a:pPr marL="16933" marR="45719">
              <a:lnSpc>
                <a:spcPts val="2200"/>
              </a:lnSpc>
            </a:pP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Concatenating</a:t>
            </a:r>
            <a:r>
              <a:rPr sz="1867" b="1" spc="-4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them</a:t>
            </a:r>
            <a:r>
              <a:rPr sz="1867" b="1" spc="-33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is</a:t>
            </a:r>
            <a:r>
              <a:rPr sz="1867" b="1" spc="-33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"nk".</a:t>
            </a:r>
            <a:r>
              <a:rPr sz="1867" b="1" spc="-53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spc="-7" dirty="0">
                <a:latin typeface="Arial MT"/>
                <a:cs typeface="Arial MT"/>
              </a:rPr>
              <a:t>The </a:t>
            </a:r>
            <a:r>
              <a:rPr sz="1867" spc="-50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answer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is</a:t>
            </a:r>
            <a:r>
              <a:rPr sz="1867" dirty="0">
                <a:latin typeface="Arial MT"/>
                <a:cs typeface="Arial MT"/>
              </a:rPr>
              <a:t> </a:t>
            </a:r>
            <a:r>
              <a:rPr sz="1867" b="1" spc="-7" dirty="0">
                <a:solidFill>
                  <a:srgbClr val="A61B00"/>
                </a:solidFill>
                <a:latin typeface="Arial"/>
                <a:cs typeface="Arial"/>
              </a:rPr>
              <a:t>nk</a:t>
            </a:r>
            <a:r>
              <a:rPr sz="1867" b="1" spc="-7" dirty="0">
                <a:latin typeface="Arial"/>
                <a:cs typeface="Arial"/>
              </a:rPr>
              <a:t>.</a:t>
            </a:r>
            <a:endParaRPr sz="1867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651716" y="1165249"/>
            <a:ext cx="4492413" cy="3698240"/>
            <a:chOff x="4988787" y="873937"/>
            <a:chExt cx="3369310" cy="2773680"/>
          </a:xfrm>
        </p:grpSpPr>
        <p:sp>
          <p:nvSpPr>
            <p:cNvPr id="9" name="object 9"/>
            <p:cNvSpPr/>
            <p:nvPr/>
          </p:nvSpPr>
          <p:spPr>
            <a:xfrm>
              <a:off x="4993549" y="878699"/>
              <a:ext cx="3359785" cy="2764155"/>
            </a:xfrm>
            <a:custGeom>
              <a:avLst/>
              <a:gdLst/>
              <a:ahLst/>
              <a:cxnLst/>
              <a:rect l="l" t="t" r="r" b="b"/>
              <a:pathLst>
                <a:path w="3359784" h="2764154">
                  <a:moveTo>
                    <a:pt x="2899040" y="2763899"/>
                  </a:moveTo>
                  <a:lnTo>
                    <a:pt x="460659" y="2763899"/>
                  </a:lnTo>
                  <a:lnTo>
                    <a:pt x="413559" y="2761521"/>
                  </a:lnTo>
                  <a:lnTo>
                    <a:pt x="367820" y="2754541"/>
                  </a:lnTo>
                  <a:lnTo>
                    <a:pt x="323673" y="2743189"/>
                  </a:lnTo>
                  <a:lnTo>
                    <a:pt x="281350" y="2727699"/>
                  </a:lnTo>
                  <a:lnTo>
                    <a:pt x="241081" y="2708300"/>
                  </a:lnTo>
                  <a:lnTo>
                    <a:pt x="203100" y="2685226"/>
                  </a:lnTo>
                  <a:lnTo>
                    <a:pt x="167637" y="2658707"/>
                  </a:lnTo>
                  <a:lnTo>
                    <a:pt x="134924" y="2628975"/>
                  </a:lnTo>
                  <a:lnTo>
                    <a:pt x="105192" y="2596262"/>
                  </a:lnTo>
                  <a:lnTo>
                    <a:pt x="78673" y="2560799"/>
                  </a:lnTo>
                  <a:lnTo>
                    <a:pt x="55599" y="2522818"/>
                  </a:lnTo>
                  <a:lnTo>
                    <a:pt x="36200" y="2482550"/>
                  </a:lnTo>
                  <a:lnTo>
                    <a:pt x="20710" y="2440226"/>
                  </a:lnTo>
                  <a:lnTo>
                    <a:pt x="9358" y="2396079"/>
                  </a:lnTo>
                  <a:lnTo>
                    <a:pt x="2378" y="2350340"/>
                  </a:lnTo>
                  <a:lnTo>
                    <a:pt x="0" y="2303240"/>
                  </a:lnTo>
                  <a:lnTo>
                    <a:pt x="0" y="460659"/>
                  </a:lnTo>
                  <a:lnTo>
                    <a:pt x="2378" y="413559"/>
                  </a:lnTo>
                  <a:lnTo>
                    <a:pt x="9358" y="367820"/>
                  </a:lnTo>
                  <a:lnTo>
                    <a:pt x="20710" y="323673"/>
                  </a:lnTo>
                  <a:lnTo>
                    <a:pt x="36200" y="281349"/>
                  </a:lnTo>
                  <a:lnTo>
                    <a:pt x="55599" y="241081"/>
                  </a:lnTo>
                  <a:lnTo>
                    <a:pt x="78673" y="203100"/>
                  </a:lnTo>
                  <a:lnTo>
                    <a:pt x="105192" y="167637"/>
                  </a:lnTo>
                  <a:lnTo>
                    <a:pt x="134924" y="134923"/>
                  </a:lnTo>
                  <a:lnTo>
                    <a:pt x="167637" y="105192"/>
                  </a:lnTo>
                  <a:lnTo>
                    <a:pt x="203100" y="78673"/>
                  </a:lnTo>
                  <a:lnTo>
                    <a:pt x="241081" y="55599"/>
                  </a:lnTo>
                  <a:lnTo>
                    <a:pt x="281350" y="36200"/>
                  </a:lnTo>
                  <a:lnTo>
                    <a:pt x="323673" y="20710"/>
                  </a:lnTo>
                  <a:lnTo>
                    <a:pt x="367820" y="9358"/>
                  </a:lnTo>
                  <a:lnTo>
                    <a:pt x="413559" y="2378"/>
                  </a:lnTo>
                  <a:lnTo>
                    <a:pt x="460659" y="0"/>
                  </a:lnTo>
                  <a:lnTo>
                    <a:pt x="2899040" y="0"/>
                  </a:lnTo>
                  <a:lnTo>
                    <a:pt x="2951019" y="2940"/>
                  </a:lnTo>
                  <a:lnTo>
                    <a:pt x="3001934" y="11636"/>
                  </a:lnTo>
                  <a:lnTo>
                    <a:pt x="3051335" y="25902"/>
                  </a:lnTo>
                  <a:lnTo>
                    <a:pt x="3098771" y="45550"/>
                  </a:lnTo>
                  <a:lnTo>
                    <a:pt x="3143790" y="70395"/>
                  </a:lnTo>
                  <a:lnTo>
                    <a:pt x="3185942" y="100248"/>
                  </a:lnTo>
                  <a:lnTo>
                    <a:pt x="3224775" y="134923"/>
                  </a:lnTo>
                  <a:lnTo>
                    <a:pt x="3259451" y="173757"/>
                  </a:lnTo>
                  <a:lnTo>
                    <a:pt x="3289304" y="215909"/>
                  </a:lnTo>
                  <a:lnTo>
                    <a:pt x="3314149" y="260928"/>
                  </a:lnTo>
                  <a:lnTo>
                    <a:pt x="3333797" y="308364"/>
                  </a:lnTo>
                  <a:lnTo>
                    <a:pt x="3348063" y="357764"/>
                  </a:lnTo>
                  <a:lnTo>
                    <a:pt x="3356759" y="408680"/>
                  </a:lnTo>
                  <a:lnTo>
                    <a:pt x="3359699" y="460659"/>
                  </a:lnTo>
                  <a:lnTo>
                    <a:pt x="3359699" y="2303240"/>
                  </a:lnTo>
                  <a:lnTo>
                    <a:pt x="3357321" y="2350340"/>
                  </a:lnTo>
                  <a:lnTo>
                    <a:pt x="3350341" y="2396079"/>
                  </a:lnTo>
                  <a:lnTo>
                    <a:pt x="3338989" y="2440226"/>
                  </a:lnTo>
                  <a:lnTo>
                    <a:pt x="3323499" y="2482550"/>
                  </a:lnTo>
                  <a:lnTo>
                    <a:pt x="3304100" y="2522818"/>
                  </a:lnTo>
                  <a:lnTo>
                    <a:pt x="3281026" y="2560799"/>
                  </a:lnTo>
                  <a:lnTo>
                    <a:pt x="3254507" y="2596262"/>
                  </a:lnTo>
                  <a:lnTo>
                    <a:pt x="3224775" y="2628975"/>
                  </a:lnTo>
                  <a:lnTo>
                    <a:pt x="3192062" y="2658707"/>
                  </a:lnTo>
                  <a:lnTo>
                    <a:pt x="3156599" y="2685226"/>
                  </a:lnTo>
                  <a:lnTo>
                    <a:pt x="3118618" y="2708300"/>
                  </a:lnTo>
                  <a:lnTo>
                    <a:pt x="3078349" y="2727699"/>
                  </a:lnTo>
                  <a:lnTo>
                    <a:pt x="3036026" y="2743189"/>
                  </a:lnTo>
                  <a:lnTo>
                    <a:pt x="2991879" y="2754541"/>
                  </a:lnTo>
                  <a:lnTo>
                    <a:pt x="2946140" y="2761521"/>
                  </a:lnTo>
                  <a:lnTo>
                    <a:pt x="2899040" y="2763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93549" y="878699"/>
              <a:ext cx="3359785" cy="2764155"/>
            </a:xfrm>
            <a:custGeom>
              <a:avLst/>
              <a:gdLst/>
              <a:ahLst/>
              <a:cxnLst/>
              <a:rect l="l" t="t" r="r" b="b"/>
              <a:pathLst>
                <a:path w="3359784" h="2764154">
                  <a:moveTo>
                    <a:pt x="0" y="460659"/>
                  </a:moveTo>
                  <a:lnTo>
                    <a:pt x="2378" y="413559"/>
                  </a:lnTo>
                  <a:lnTo>
                    <a:pt x="9358" y="367820"/>
                  </a:lnTo>
                  <a:lnTo>
                    <a:pt x="20710" y="323673"/>
                  </a:lnTo>
                  <a:lnTo>
                    <a:pt x="36200" y="281349"/>
                  </a:lnTo>
                  <a:lnTo>
                    <a:pt x="55599" y="241081"/>
                  </a:lnTo>
                  <a:lnTo>
                    <a:pt x="78673" y="203100"/>
                  </a:lnTo>
                  <a:lnTo>
                    <a:pt x="105192" y="167637"/>
                  </a:lnTo>
                  <a:lnTo>
                    <a:pt x="134924" y="134923"/>
                  </a:lnTo>
                  <a:lnTo>
                    <a:pt x="167637" y="105192"/>
                  </a:lnTo>
                  <a:lnTo>
                    <a:pt x="203100" y="78673"/>
                  </a:lnTo>
                  <a:lnTo>
                    <a:pt x="241081" y="55599"/>
                  </a:lnTo>
                  <a:lnTo>
                    <a:pt x="281350" y="36200"/>
                  </a:lnTo>
                  <a:lnTo>
                    <a:pt x="323673" y="20710"/>
                  </a:lnTo>
                  <a:lnTo>
                    <a:pt x="367820" y="9358"/>
                  </a:lnTo>
                  <a:lnTo>
                    <a:pt x="413559" y="2378"/>
                  </a:lnTo>
                  <a:lnTo>
                    <a:pt x="460659" y="0"/>
                  </a:lnTo>
                  <a:lnTo>
                    <a:pt x="2899040" y="0"/>
                  </a:lnTo>
                  <a:lnTo>
                    <a:pt x="2951019" y="2940"/>
                  </a:lnTo>
                  <a:lnTo>
                    <a:pt x="3001934" y="11636"/>
                  </a:lnTo>
                  <a:lnTo>
                    <a:pt x="3051335" y="25902"/>
                  </a:lnTo>
                  <a:lnTo>
                    <a:pt x="3098771" y="45550"/>
                  </a:lnTo>
                  <a:lnTo>
                    <a:pt x="3143790" y="70395"/>
                  </a:lnTo>
                  <a:lnTo>
                    <a:pt x="3185942" y="100248"/>
                  </a:lnTo>
                  <a:lnTo>
                    <a:pt x="3224775" y="134923"/>
                  </a:lnTo>
                  <a:lnTo>
                    <a:pt x="3259451" y="173757"/>
                  </a:lnTo>
                  <a:lnTo>
                    <a:pt x="3289304" y="215909"/>
                  </a:lnTo>
                  <a:lnTo>
                    <a:pt x="3314149" y="260928"/>
                  </a:lnTo>
                  <a:lnTo>
                    <a:pt x="3333797" y="308364"/>
                  </a:lnTo>
                  <a:lnTo>
                    <a:pt x="3348063" y="357764"/>
                  </a:lnTo>
                  <a:lnTo>
                    <a:pt x="3356759" y="408680"/>
                  </a:lnTo>
                  <a:lnTo>
                    <a:pt x="3359699" y="460659"/>
                  </a:lnTo>
                  <a:lnTo>
                    <a:pt x="3359699" y="2303240"/>
                  </a:lnTo>
                  <a:lnTo>
                    <a:pt x="3357321" y="2350340"/>
                  </a:lnTo>
                  <a:lnTo>
                    <a:pt x="3350341" y="2396079"/>
                  </a:lnTo>
                  <a:lnTo>
                    <a:pt x="3338989" y="2440226"/>
                  </a:lnTo>
                  <a:lnTo>
                    <a:pt x="3323499" y="2482550"/>
                  </a:lnTo>
                  <a:lnTo>
                    <a:pt x="3304100" y="2522818"/>
                  </a:lnTo>
                  <a:lnTo>
                    <a:pt x="3281026" y="2560799"/>
                  </a:lnTo>
                  <a:lnTo>
                    <a:pt x="3254507" y="2596262"/>
                  </a:lnTo>
                  <a:lnTo>
                    <a:pt x="3224775" y="2628975"/>
                  </a:lnTo>
                  <a:lnTo>
                    <a:pt x="3192062" y="2658707"/>
                  </a:lnTo>
                  <a:lnTo>
                    <a:pt x="3156599" y="2685226"/>
                  </a:lnTo>
                  <a:lnTo>
                    <a:pt x="3118618" y="2708300"/>
                  </a:lnTo>
                  <a:lnTo>
                    <a:pt x="3078349" y="2727699"/>
                  </a:lnTo>
                  <a:lnTo>
                    <a:pt x="3036026" y="2743189"/>
                  </a:lnTo>
                  <a:lnTo>
                    <a:pt x="2991879" y="2754541"/>
                  </a:lnTo>
                  <a:lnTo>
                    <a:pt x="2946140" y="2761521"/>
                  </a:lnTo>
                  <a:lnTo>
                    <a:pt x="2899040" y="2763899"/>
                  </a:lnTo>
                  <a:lnTo>
                    <a:pt x="460659" y="2763899"/>
                  </a:lnTo>
                  <a:lnTo>
                    <a:pt x="413559" y="2761521"/>
                  </a:lnTo>
                  <a:lnTo>
                    <a:pt x="367820" y="2754541"/>
                  </a:lnTo>
                  <a:lnTo>
                    <a:pt x="323673" y="2743189"/>
                  </a:lnTo>
                  <a:lnTo>
                    <a:pt x="281350" y="2727699"/>
                  </a:lnTo>
                  <a:lnTo>
                    <a:pt x="241081" y="2708300"/>
                  </a:lnTo>
                  <a:lnTo>
                    <a:pt x="203100" y="2685226"/>
                  </a:lnTo>
                  <a:lnTo>
                    <a:pt x="167637" y="2658707"/>
                  </a:lnTo>
                  <a:lnTo>
                    <a:pt x="134924" y="2628975"/>
                  </a:lnTo>
                  <a:lnTo>
                    <a:pt x="105192" y="2596262"/>
                  </a:lnTo>
                  <a:lnTo>
                    <a:pt x="78673" y="2560799"/>
                  </a:lnTo>
                  <a:lnTo>
                    <a:pt x="55599" y="2522818"/>
                  </a:lnTo>
                  <a:lnTo>
                    <a:pt x="36200" y="2482550"/>
                  </a:lnTo>
                  <a:lnTo>
                    <a:pt x="20710" y="2440226"/>
                  </a:lnTo>
                  <a:lnTo>
                    <a:pt x="9358" y="2396079"/>
                  </a:lnTo>
                  <a:lnTo>
                    <a:pt x="2378" y="2350340"/>
                  </a:lnTo>
                  <a:lnTo>
                    <a:pt x="0" y="2303240"/>
                  </a:lnTo>
                  <a:lnTo>
                    <a:pt x="0" y="460659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374265" y="1439381"/>
            <a:ext cx="104648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b="1" spc="-7" dirty="0">
                <a:latin typeface="Arial"/>
                <a:cs typeface="Arial"/>
              </a:rPr>
              <a:t>Coin</a:t>
            </a:r>
            <a:r>
              <a:rPr sz="1867" b="1" spc="-107" dirty="0">
                <a:latin typeface="Arial"/>
                <a:cs typeface="Arial"/>
              </a:rPr>
              <a:t> </a:t>
            </a:r>
            <a:r>
              <a:rPr sz="1867" b="1" spc="-7" dirty="0">
                <a:latin typeface="Arial"/>
                <a:cs typeface="Arial"/>
              </a:rPr>
              <a:t>Flip</a:t>
            </a:r>
            <a:endParaRPr sz="1867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7" dirty="0"/>
              <a:t>Symbolic</a:t>
            </a:r>
            <a:r>
              <a:rPr sz="4000" spc="-27" dirty="0"/>
              <a:t> </a:t>
            </a:r>
            <a:r>
              <a:rPr sz="4000" spc="-13" dirty="0"/>
              <a:t>Reasoning</a:t>
            </a:r>
            <a:r>
              <a:rPr sz="4000" spc="-27" dirty="0"/>
              <a:t> </a:t>
            </a:r>
            <a:r>
              <a:rPr sz="4000" dirty="0"/>
              <a:t>-</a:t>
            </a:r>
            <a:r>
              <a:rPr sz="4000" spc="-13" dirty="0"/>
              <a:t> </a:t>
            </a:r>
            <a:r>
              <a:rPr sz="4000" dirty="0"/>
              <a:t>In</a:t>
            </a:r>
            <a:r>
              <a:rPr sz="4000" spc="-13" dirty="0"/>
              <a:t> </a:t>
            </a:r>
            <a:r>
              <a:rPr sz="4000" dirty="0"/>
              <a:t>&amp;</a:t>
            </a:r>
            <a:r>
              <a:rPr sz="4000" spc="-20" dirty="0"/>
              <a:t> </a:t>
            </a:r>
            <a:r>
              <a:rPr sz="4000" spc="-7" dirty="0"/>
              <a:t>Out-of-domain</a:t>
            </a:r>
            <a:r>
              <a:rPr sz="4000" spc="-87" dirty="0"/>
              <a:t> </a:t>
            </a:r>
            <a:r>
              <a:rPr sz="4000" spc="-80" dirty="0"/>
              <a:t>Test</a:t>
            </a:r>
            <a:endParaRPr sz="400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38</a:t>
            </a:fld>
            <a:endParaRPr dirty="0"/>
          </a:p>
        </p:txBody>
      </p:sp>
      <p:sp>
        <p:nvSpPr>
          <p:cNvPr id="12" name="object 12"/>
          <p:cNvSpPr txBox="1"/>
          <p:nvPr/>
        </p:nvSpPr>
        <p:spPr>
          <a:xfrm>
            <a:off x="6935329" y="1998181"/>
            <a:ext cx="3876040" cy="877163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>
              <a:lnSpc>
                <a:spcPts val="2200"/>
              </a:lnSpc>
              <a:spcBef>
                <a:spcPts val="240"/>
              </a:spcBef>
            </a:pPr>
            <a:r>
              <a:rPr sz="1867" spc="-7" dirty="0">
                <a:latin typeface="Arial MT"/>
                <a:cs typeface="Arial MT"/>
              </a:rPr>
              <a:t>Q:</a:t>
            </a:r>
            <a:r>
              <a:rPr sz="1867" spc="38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A</a:t>
            </a:r>
            <a:r>
              <a:rPr sz="1867" spc="-11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coin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is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heads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up.</a:t>
            </a:r>
            <a:r>
              <a:rPr sz="1867" spc="-53" dirty="0">
                <a:latin typeface="Arial MT"/>
                <a:cs typeface="Arial MT"/>
              </a:rPr>
              <a:t> </a:t>
            </a:r>
            <a:r>
              <a:rPr sz="1867" spc="-73" dirty="0">
                <a:latin typeface="Arial MT"/>
                <a:cs typeface="Arial MT"/>
              </a:rPr>
              <a:t>Tom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does not </a:t>
            </a:r>
            <a:r>
              <a:rPr sz="1867" spc="-50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flip the </a:t>
            </a:r>
            <a:r>
              <a:rPr sz="1867" dirty="0">
                <a:latin typeface="Arial MT"/>
                <a:cs typeface="Arial MT"/>
              </a:rPr>
              <a:t>coin. Mike </a:t>
            </a:r>
            <a:r>
              <a:rPr sz="1867" spc="-7" dirty="0">
                <a:latin typeface="Arial MT"/>
                <a:cs typeface="Arial MT"/>
              </a:rPr>
              <a:t>does not flip the </a:t>
            </a:r>
            <a:r>
              <a:rPr sz="1867" dirty="0">
                <a:latin typeface="Arial MT"/>
                <a:cs typeface="Arial MT"/>
              </a:rPr>
              <a:t> coin.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Is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the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coin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still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heads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up?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35330" y="3115781"/>
            <a:ext cx="3807460" cy="14414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>
              <a:lnSpc>
                <a:spcPts val="2200"/>
              </a:lnSpc>
              <a:spcBef>
                <a:spcPts val="240"/>
              </a:spcBef>
            </a:pPr>
            <a:r>
              <a:rPr sz="1867" spc="-7" dirty="0">
                <a:latin typeface="Arial MT"/>
                <a:cs typeface="Arial MT"/>
              </a:rPr>
              <a:t>A:</a:t>
            </a:r>
            <a:r>
              <a:rPr sz="1867" dirty="0">
                <a:latin typeface="Arial MT"/>
                <a:cs typeface="Arial MT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The coin was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flipped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by no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one. So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the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coin was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flipped 0 </a:t>
            </a:r>
            <a:r>
              <a:rPr sz="1867" b="1" spc="7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times.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The coin started heads up, </a:t>
            </a:r>
            <a:r>
              <a:rPr sz="1867" b="1" spc="-50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and it was not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flipped,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so it is still </a:t>
            </a:r>
            <a:r>
              <a:rPr sz="1867" b="1" spc="-50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37761C"/>
                </a:solidFill>
                <a:latin typeface="Arial"/>
                <a:cs typeface="Arial"/>
              </a:rPr>
              <a:t>heads</a:t>
            </a:r>
            <a:r>
              <a:rPr sz="1867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37761C"/>
                </a:solidFill>
                <a:latin typeface="Arial"/>
                <a:cs typeface="Arial"/>
              </a:rPr>
              <a:t>up</a:t>
            </a:r>
            <a:r>
              <a:rPr sz="1867" dirty="0">
                <a:latin typeface="Arial MT"/>
                <a:cs typeface="Arial MT"/>
              </a:rPr>
              <a:t>.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So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the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answer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is</a:t>
            </a:r>
            <a:r>
              <a:rPr sz="1867" spc="13" dirty="0">
                <a:latin typeface="Arial MT"/>
                <a:cs typeface="Arial MT"/>
              </a:rPr>
              <a:t> </a:t>
            </a:r>
            <a:r>
              <a:rPr sz="1867" b="1" spc="-7" dirty="0">
                <a:solidFill>
                  <a:srgbClr val="990000"/>
                </a:solidFill>
                <a:latin typeface="Arial"/>
                <a:cs typeface="Arial"/>
              </a:rPr>
              <a:t>yes</a:t>
            </a:r>
            <a:r>
              <a:rPr sz="1867" spc="-7" dirty="0">
                <a:latin typeface="Arial MT"/>
                <a:cs typeface="Arial MT"/>
              </a:rPr>
              <a:t>.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61362" y="5389228"/>
            <a:ext cx="9767145" cy="67356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85128" indent="-469042">
              <a:spcBef>
                <a:spcPts val="133"/>
              </a:spcBef>
              <a:buFont typeface="Arial MT"/>
              <a:buChar char="●"/>
              <a:tabLst>
                <a:tab pos="485128" algn="l"/>
                <a:tab pos="485975" algn="l"/>
              </a:tabLst>
            </a:pPr>
            <a:r>
              <a:rPr sz="2133" dirty="0">
                <a:latin typeface="Times New Roman"/>
                <a:cs typeface="Times New Roman"/>
              </a:rPr>
              <a:t>In-domain</a:t>
            </a:r>
            <a:r>
              <a:rPr sz="2133" spc="-7" dirty="0">
                <a:latin typeface="Times New Roman"/>
                <a:cs typeface="Times New Roman"/>
              </a:rPr>
              <a:t> test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set: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examples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had</a:t>
            </a:r>
            <a:r>
              <a:rPr sz="2133" spc="-7" dirty="0">
                <a:latin typeface="Times New Roman"/>
                <a:cs typeface="Times New Roman"/>
              </a:rPr>
              <a:t> the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same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number</a:t>
            </a:r>
            <a:r>
              <a:rPr sz="2133" spc="-7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of </a:t>
            </a:r>
            <a:r>
              <a:rPr sz="2133" spc="-7" dirty="0">
                <a:latin typeface="Times New Roman"/>
                <a:cs typeface="Times New Roman"/>
              </a:rPr>
              <a:t>steps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as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the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few-shot</a:t>
            </a:r>
            <a:r>
              <a:rPr sz="2133" spc="-7" dirty="0">
                <a:latin typeface="Times New Roman"/>
                <a:cs typeface="Times New Roman"/>
              </a:rPr>
              <a:t> exemplars</a:t>
            </a:r>
            <a:endParaRPr sz="2133">
              <a:latin typeface="Times New Roman"/>
              <a:cs typeface="Times New Roman"/>
            </a:endParaRPr>
          </a:p>
          <a:p>
            <a:pPr marL="485128" indent="-469042">
              <a:buFont typeface="Arial MT"/>
              <a:buChar char="●"/>
              <a:tabLst>
                <a:tab pos="485128" algn="l"/>
                <a:tab pos="485975" algn="l"/>
              </a:tabLst>
            </a:pPr>
            <a:r>
              <a:rPr sz="2133" spc="-7" dirty="0">
                <a:latin typeface="Times New Roman"/>
                <a:cs typeface="Times New Roman"/>
              </a:rPr>
              <a:t>Out-of-domain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(OOD)</a:t>
            </a:r>
            <a:r>
              <a:rPr sz="2133" spc="-7" dirty="0">
                <a:latin typeface="Times New Roman"/>
                <a:cs typeface="Times New Roman"/>
              </a:rPr>
              <a:t> test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set: examples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had</a:t>
            </a:r>
            <a:r>
              <a:rPr sz="2133" spc="-7" dirty="0">
                <a:latin typeface="Times New Roman"/>
                <a:cs typeface="Times New Roman"/>
              </a:rPr>
              <a:t> more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steps than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those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in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the exemplars.</a:t>
            </a:r>
            <a:endParaRPr sz="2133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251" y="1380288"/>
            <a:ext cx="7996212" cy="466714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7" dirty="0"/>
              <a:t>Symbolic</a:t>
            </a:r>
            <a:r>
              <a:rPr sz="4000" spc="-27" dirty="0"/>
              <a:t> </a:t>
            </a:r>
            <a:r>
              <a:rPr sz="4000" spc="-13" dirty="0"/>
              <a:t>Reasoning</a:t>
            </a:r>
            <a:r>
              <a:rPr sz="4000" spc="-33" dirty="0"/>
              <a:t> </a:t>
            </a:r>
            <a:r>
              <a:rPr sz="4000" dirty="0"/>
              <a:t>-</a:t>
            </a:r>
            <a:r>
              <a:rPr sz="4000" spc="-20" dirty="0"/>
              <a:t> </a:t>
            </a:r>
            <a:r>
              <a:rPr sz="4000" spc="-7" dirty="0"/>
              <a:t>Last</a:t>
            </a:r>
            <a:r>
              <a:rPr sz="4000" spc="-27" dirty="0"/>
              <a:t> </a:t>
            </a:r>
            <a:r>
              <a:rPr sz="4000" spc="-7" dirty="0"/>
              <a:t>Letter</a:t>
            </a:r>
            <a:r>
              <a:rPr sz="4000" spc="-27" dirty="0"/>
              <a:t> </a:t>
            </a:r>
            <a:r>
              <a:rPr sz="4000" spc="-7" dirty="0"/>
              <a:t>Concatenation</a:t>
            </a:r>
            <a:endParaRPr sz="400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39</a:t>
            </a:fld>
            <a:endParaRPr dirty="0"/>
          </a:p>
        </p:txBody>
      </p:sp>
      <p:grpSp>
        <p:nvGrpSpPr>
          <p:cNvPr id="4" name="object 4"/>
          <p:cNvGrpSpPr/>
          <p:nvPr/>
        </p:nvGrpSpPr>
        <p:grpSpPr>
          <a:xfrm>
            <a:off x="8576516" y="1498683"/>
            <a:ext cx="3315547" cy="4325620"/>
            <a:chOff x="6432387" y="1124012"/>
            <a:chExt cx="2486660" cy="3244215"/>
          </a:xfrm>
        </p:grpSpPr>
        <p:sp>
          <p:nvSpPr>
            <p:cNvPr id="5" name="object 5"/>
            <p:cNvSpPr/>
            <p:nvPr/>
          </p:nvSpPr>
          <p:spPr>
            <a:xfrm>
              <a:off x="6437150" y="1128774"/>
              <a:ext cx="2477135" cy="3234690"/>
            </a:xfrm>
            <a:custGeom>
              <a:avLst/>
              <a:gdLst/>
              <a:ahLst/>
              <a:cxnLst/>
              <a:rect l="l" t="t" r="r" b="b"/>
              <a:pathLst>
                <a:path w="2477134" h="3234690">
                  <a:moveTo>
                    <a:pt x="2064241" y="3234599"/>
                  </a:moveTo>
                  <a:lnTo>
                    <a:pt x="412858" y="3234599"/>
                  </a:lnTo>
                  <a:lnTo>
                    <a:pt x="364710" y="3231822"/>
                  </a:lnTo>
                  <a:lnTo>
                    <a:pt x="318193" y="3223696"/>
                  </a:lnTo>
                  <a:lnTo>
                    <a:pt x="273618" y="3210530"/>
                  </a:lnTo>
                  <a:lnTo>
                    <a:pt x="231293" y="3192636"/>
                  </a:lnTo>
                  <a:lnTo>
                    <a:pt x="191529" y="3170322"/>
                  </a:lnTo>
                  <a:lnTo>
                    <a:pt x="154636" y="3143899"/>
                  </a:lnTo>
                  <a:lnTo>
                    <a:pt x="120923" y="3113676"/>
                  </a:lnTo>
                  <a:lnTo>
                    <a:pt x="90700" y="3079963"/>
                  </a:lnTo>
                  <a:lnTo>
                    <a:pt x="64277" y="3043070"/>
                  </a:lnTo>
                  <a:lnTo>
                    <a:pt x="41963" y="3003306"/>
                  </a:lnTo>
                  <a:lnTo>
                    <a:pt x="24069" y="2960981"/>
                  </a:lnTo>
                  <a:lnTo>
                    <a:pt x="10903" y="2916406"/>
                  </a:lnTo>
                  <a:lnTo>
                    <a:pt x="2777" y="2869889"/>
                  </a:lnTo>
                  <a:lnTo>
                    <a:pt x="0" y="2821741"/>
                  </a:lnTo>
                  <a:lnTo>
                    <a:pt x="0" y="412858"/>
                  </a:lnTo>
                  <a:lnTo>
                    <a:pt x="2777" y="364710"/>
                  </a:lnTo>
                  <a:lnTo>
                    <a:pt x="10903" y="318193"/>
                  </a:lnTo>
                  <a:lnTo>
                    <a:pt x="24069" y="273618"/>
                  </a:lnTo>
                  <a:lnTo>
                    <a:pt x="41963" y="231293"/>
                  </a:lnTo>
                  <a:lnTo>
                    <a:pt x="64277" y="191529"/>
                  </a:lnTo>
                  <a:lnTo>
                    <a:pt x="90700" y="154636"/>
                  </a:lnTo>
                  <a:lnTo>
                    <a:pt x="120923" y="120923"/>
                  </a:lnTo>
                  <a:lnTo>
                    <a:pt x="154636" y="90700"/>
                  </a:lnTo>
                  <a:lnTo>
                    <a:pt x="191529" y="64277"/>
                  </a:lnTo>
                  <a:lnTo>
                    <a:pt x="231293" y="41963"/>
                  </a:lnTo>
                  <a:lnTo>
                    <a:pt x="273618" y="24069"/>
                  </a:lnTo>
                  <a:lnTo>
                    <a:pt x="318193" y="10903"/>
                  </a:lnTo>
                  <a:lnTo>
                    <a:pt x="364710" y="2777"/>
                  </a:lnTo>
                  <a:lnTo>
                    <a:pt x="412858" y="0"/>
                  </a:lnTo>
                  <a:lnTo>
                    <a:pt x="2064241" y="0"/>
                  </a:lnTo>
                  <a:lnTo>
                    <a:pt x="2110826" y="2635"/>
                  </a:lnTo>
                  <a:lnTo>
                    <a:pt x="2156458" y="10429"/>
                  </a:lnTo>
                  <a:lnTo>
                    <a:pt x="2200733" y="23214"/>
                  </a:lnTo>
                  <a:lnTo>
                    <a:pt x="2243246" y="40824"/>
                  </a:lnTo>
                  <a:lnTo>
                    <a:pt x="2283594" y="63090"/>
                  </a:lnTo>
                  <a:lnTo>
                    <a:pt x="2321372" y="89845"/>
                  </a:lnTo>
                  <a:lnTo>
                    <a:pt x="2356176" y="120923"/>
                  </a:lnTo>
                  <a:lnTo>
                    <a:pt x="2387253" y="155727"/>
                  </a:lnTo>
                  <a:lnTo>
                    <a:pt x="2414009" y="193505"/>
                  </a:lnTo>
                  <a:lnTo>
                    <a:pt x="2436275" y="233853"/>
                  </a:lnTo>
                  <a:lnTo>
                    <a:pt x="2453885" y="276366"/>
                  </a:lnTo>
                  <a:lnTo>
                    <a:pt x="2466670" y="320640"/>
                  </a:lnTo>
                  <a:lnTo>
                    <a:pt x="2474464" y="366272"/>
                  </a:lnTo>
                  <a:lnTo>
                    <a:pt x="2477099" y="412858"/>
                  </a:lnTo>
                  <a:lnTo>
                    <a:pt x="2477099" y="2821741"/>
                  </a:lnTo>
                  <a:lnTo>
                    <a:pt x="2474322" y="2869889"/>
                  </a:lnTo>
                  <a:lnTo>
                    <a:pt x="2466196" y="2916406"/>
                  </a:lnTo>
                  <a:lnTo>
                    <a:pt x="2453030" y="2960981"/>
                  </a:lnTo>
                  <a:lnTo>
                    <a:pt x="2435136" y="3003306"/>
                  </a:lnTo>
                  <a:lnTo>
                    <a:pt x="2412822" y="3043070"/>
                  </a:lnTo>
                  <a:lnTo>
                    <a:pt x="2386399" y="3079963"/>
                  </a:lnTo>
                  <a:lnTo>
                    <a:pt x="2356176" y="3113676"/>
                  </a:lnTo>
                  <a:lnTo>
                    <a:pt x="2322463" y="3143899"/>
                  </a:lnTo>
                  <a:lnTo>
                    <a:pt x="2285570" y="3170322"/>
                  </a:lnTo>
                  <a:lnTo>
                    <a:pt x="2245806" y="3192636"/>
                  </a:lnTo>
                  <a:lnTo>
                    <a:pt x="2203481" y="3210530"/>
                  </a:lnTo>
                  <a:lnTo>
                    <a:pt x="2158906" y="3223696"/>
                  </a:lnTo>
                  <a:lnTo>
                    <a:pt x="2112389" y="3231822"/>
                  </a:lnTo>
                  <a:lnTo>
                    <a:pt x="2064241" y="3234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37150" y="1128774"/>
              <a:ext cx="2477135" cy="3234690"/>
            </a:xfrm>
            <a:custGeom>
              <a:avLst/>
              <a:gdLst/>
              <a:ahLst/>
              <a:cxnLst/>
              <a:rect l="l" t="t" r="r" b="b"/>
              <a:pathLst>
                <a:path w="2477134" h="3234690">
                  <a:moveTo>
                    <a:pt x="0" y="412858"/>
                  </a:moveTo>
                  <a:lnTo>
                    <a:pt x="2777" y="364710"/>
                  </a:lnTo>
                  <a:lnTo>
                    <a:pt x="10903" y="318193"/>
                  </a:lnTo>
                  <a:lnTo>
                    <a:pt x="24069" y="273618"/>
                  </a:lnTo>
                  <a:lnTo>
                    <a:pt x="41963" y="231293"/>
                  </a:lnTo>
                  <a:lnTo>
                    <a:pt x="64277" y="191529"/>
                  </a:lnTo>
                  <a:lnTo>
                    <a:pt x="90700" y="154636"/>
                  </a:lnTo>
                  <a:lnTo>
                    <a:pt x="120923" y="120923"/>
                  </a:lnTo>
                  <a:lnTo>
                    <a:pt x="154636" y="90700"/>
                  </a:lnTo>
                  <a:lnTo>
                    <a:pt x="191529" y="64277"/>
                  </a:lnTo>
                  <a:lnTo>
                    <a:pt x="231293" y="41963"/>
                  </a:lnTo>
                  <a:lnTo>
                    <a:pt x="273618" y="24069"/>
                  </a:lnTo>
                  <a:lnTo>
                    <a:pt x="318193" y="10903"/>
                  </a:lnTo>
                  <a:lnTo>
                    <a:pt x="364710" y="2777"/>
                  </a:lnTo>
                  <a:lnTo>
                    <a:pt x="412858" y="0"/>
                  </a:lnTo>
                  <a:lnTo>
                    <a:pt x="2064241" y="0"/>
                  </a:lnTo>
                  <a:lnTo>
                    <a:pt x="2110826" y="2635"/>
                  </a:lnTo>
                  <a:lnTo>
                    <a:pt x="2156458" y="10429"/>
                  </a:lnTo>
                  <a:lnTo>
                    <a:pt x="2200733" y="23214"/>
                  </a:lnTo>
                  <a:lnTo>
                    <a:pt x="2243246" y="40824"/>
                  </a:lnTo>
                  <a:lnTo>
                    <a:pt x="2283594" y="63090"/>
                  </a:lnTo>
                  <a:lnTo>
                    <a:pt x="2321372" y="89845"/>
                  </a:lnTo>
                  <a:lnTo>
                    <a:pt x="2356176" y="120923"/>
                  </a:lnTo>
                  <a:lnTo>
                    <a:pt x="2387253" y="155727"/>
                  </a:lnTo>
                  <a:lnTo>
                    <a:pt x="2414009" y="193505"/>
                  </a:lnTo>
                  <a:lnTo>
                    <a:pt x="2436275" y="233853"/>
                  </a:lnTo>
                  <a:lnTo>
                    <a:pt x="2453885" y="276366"/>
                  </a:lnTo>
                  <a:lnTo>
                    <a:pt x="2466670" y="320640"/>
                  </a:lnTo>
                  <a:lnTo>
                    <a:pt x="2474464" y="366272"/>
                  </a:lnTo>
                  <a:lnTo>
                    <a:pt x="2477099" y="412858"/>
                  </a:lnTo>
                  <a:lnTo>
                    <a:pt x="2477099" y="2821741"/>
                  </a:lnTo>
                  <a:lnTo>
                    <a:pt x="2474322" y="2869889"/>
                  </a:lnTo>
                  <a:lnTo>
                    <a:pt x="2466196" y="2916406"/>
                  </a:lnTo>
                  <a:lnTo>
                    <a:pt x="2453030" y="2960981"/>
                  </a:lnTo>
                  <a:lnTo>
                    <a:pt x="2435136" y="3003306"/>
                  </a:lnTo>
                  <a:lnTo>
                    <a:pt x="2412822" y="3043070"/>
                  </a:lnTo>
                  <a:lnTo>
                    <a:pt x="2386399" y="3079963"/>
                  </a:lnTo>
                  <a:lnTo>
                    <a:pt x="2356176" y="3113676"/>
                  </a:lnTo>
                  <a:lnTo>
                    <a:pt x="2322463" y="3143899"/>
                  </a:lnTo>
                  <a:lnTo>
                    <a:pt x="2285570" y="3170322"/>
                  </a:lnTo>
                  <a:lnTo>
                    <a:pt x="2245806" y="3192636"/>
                  </a:lnTo>
                  <a:lnTo>
                    <a:pt x="2203481" y="3210530"/>
                  </a:lnTo>
                  <a:lnTo>
                    <a:pt x="2158906" y="3223696"/>
                  </a:lnTo>
                  <a:lnTo>
                    <a:pt x="2112389" y="3231822"/>
                  </a:lnTo>
                  <a:lnTo>
                    <a:pt x="2064241" y="3234599"/>
                  </a:lnTo>
                  <a:lnTo>
                    <a:pt x="412858" y="3234599"/>
                  </a:lnTo>
                  <a:lnTo>
                    <a:pt x="364710" y="3231822"/>
                  </a:lnTo>
                  <a:lnTo>
                    <a:pt x="318193" y="3223696"/>
                  </a:lnTo>
                  <a:lnTo>
                    <a:pt x="273618" y="3210530"/>
                  </a:lnTo>
                  <a:lnTo>
                    <a:pt x="231293" y="3192636"/>
                  </a:lnTo>
                  <a:lnTo>
                    <a:pt x="191529" y="3170322"/>
                  </a:lnTo>
                  <a:lnTo>
                    <a:pt x="154636" y="3143899"/>
                  </a:lnTo>
                  <a:lnTo>
                    <a:pt x="120923" y="3113676"/>
                  </a:lnTo>
                  <a:lnTo>
                    <a:pt x="90700" y="3079963"/>
                  </a:lnTo>
                  <a:lnTo>
                    <a:pt x="64277" y="3043070"/>
                  </a:lnTo>
                  <a:lnTo>
                    <a:pt x="41963" y="3003306"/>
                  </a:lnTo>
                  <a:lnTo>
                    <a:pt x="24069" y="2960981"/>
                  </a:lnTo>
                  <a:lnTo>
                    <a:pt x="10903" y="2916406"/>
                  </a:lnTo>
                  <a:lnTo>
                    <a:pt x="2777" y="2869889"/>
                  </a:lnTo>
                  <a:lnTo>
                    <a:pt x="0" y="2821741"/>
                  </a:lnTo>
                  <a:lnTo>
                    <a:pt x="0" y="412858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841463" y="1755501"/>
            <a:ext cx="2438400" cy="130245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917764">
              <a:spcBef>
                <a:spcPts val="133"/>
              </a:spcBef>
            </a:pPr>
            <a:r>
              <a:rPr sz="1600" b="1" spc="-7" dirty="0">
                <a:latin typeface="Times New Roman"/>
                <a:cs typeface="Times New Roman"/>
              </a:rPr>
              <a:t>In-Domain</a:t>
            </a:r>
            <a:endParaRPr sz="1600">
              <a:latin typeface="Times New Roman"/>
              <a:cs typeface="Times New Roman"/>
            </a:endParaRPr>
          </a:p>
          <a:p>
            <a:pPr>
              <a:spcBef>
                <a:spcPts val="13"/>
              </a:spcBef>
            </a:pPr>
            <a:endParaRPr sz="1600">
              <a:latin typeface="Times New Roman"/>
              <a:cs typeface="Times New Roman"/>
            </a:endParaRPr>
          </a:p>
          <a:p>
            <a:pPr marL="16933" marR="6773">
              <a:lnSpc>
                <a:spcPct val="101000"/>
              </a:lnSpc>
            </a:pPr>
            <a:r>
              <a:rPr sz="1733" spc="-40" dirty="0">
                <a:latin typeface="Times New Roman"/>
                <a:cs typeface="Times New Roman"/>
              </a:rPr>
              <a:t>Take </a:t>
            </a:r>
            <a:r>
              <a:rPr sz="1733" spc="-7" dirty="0">
                <a:latin typeface="Times New Roman"/>
                <a:cs typeface="Times New Roman"/>
              </a:rPr>
              <a:t>the last letters </a:t>
            </a:r>
            <a:r>
              <a:rPr sz="1733" dirty="0">
                <a:latin typeface="Times New Roman"/>
                <a:cs typeface="Times New Roman"/>
              </a:rPr>
              <a:t>of </a:t>
            </a:r>
            <a:r>
              <a:rPr sz="1733" spc="-7" dirty="0">
                <a:latin typeface="Times New Roman"/>
                <a:cs typeface="Times New Roman"/>
              </a:rPr>
              <a:t>the </a:t>
            </a:r>
            <a:r>
              <a:rPr sz="1733" dirty="0">
                <a:latin typeface="Times New Roman"/>
                <a:cs typeface="Times New Roman"/>
              </a:rPr>
              <a:t> </a:t>
            </a:r>
            <a:r>
              <a:rPr sz="1733" spc="-7" dirty="0">
                <a:latin typeface="Times New Roman"/>
                <a:cs typeface="Times New Roman"/>
              </a:rPr>
              <a:t>words in "</a:t>
            </a:r>
            <a:r>
              <a:rPr sz="1733" b="1" spc="-7" dirty="0">
                <a:latin typeface="Times New Roman"/>
                <a:cs typeface="Times New Roman"/>
              </a:rPr>
              <a:t>Elon Musk</a:t>
            </a:r>
            <a:r>
              <a:rPr sz="1733" spc="-7" dirty="0">
                <a:latin typeface="Times New Roman"/>
                <a:cs typeface="Times New Roman"/>
              </a:rPr>
              <a:t>" and </a:t>
            </a:r>
            <a:r>
              <a:rPr sz="1733" spc="-413" dirty="0">
                <a:latin typeface="Times New Roman"/>
                <a:cs typeface="Times New Roman"/>
              </a:rPr>
              <a:t> </a:t>
            </a:r>
            <a:r>
              <a:rPr sz="1733" spc="-7" dirty="0">
                <a:latin typeface="Times New Roman"/>
                <a:cs typeface="Times New Roman"/>
              </a:rPr>
              <a:t>concatenate</a:t>
            </a:r>
            <a:r>
              <a:rPr sz="1733" spc="-20" dirty="0">
                <a:latin typeface="Times New Roman"/>
                <a:cs typeface="Times New Roman"/>
              </a:rPr>
              <a:t> </a:t>
            </a:r>
            <a:r>
              <a:rPr sz="1733" spc="-7" dirty="0">
                <a:latin typeface="Times New Roman"/>
                <a:cs typeface="Times New Roman"/>
              </a:rPr>
              <a:t>them.</a:t>
            </a:r>
            <a:endParaRPr sz="1733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82777" y="6492876"/>
            <a:ext cx="6685280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173"/>
              </a:lnSpc>
            </a:pPr>
            <a:r>
              <a:rPr sz="1867" dirty="0">
                <a:solidFill>
                  <a:srgbClr val="CC4125"/>
                </a:solidFill>
                <a:latin typeface="Times New Roman"/>
                <a:cs typeface="Times New Roman"/>
              </a:rPr>
              <a:t>*Zero-Shot</a:t>
            </a:r>
            <a:r>
              <a:rPr sz="1867" spc="-27" dirty="0">
                <a:solidFill>
                  <a:srgbClr val="CC4125"/>
                </a:solidFill>
                <a:latin typeface="Times New Roman"/>
                <a:cs typeface="Times New Roman"/>
              </a:rPr>
              <a:t> </a:t>
            </a:r>
            <a:r>
              <a:rPr sz="1867" dirty="0">
                <a:latin typeface="Times New Roman"/>
                <a:cs typeface="Times New Roman"/>
              </a:rPr>
              <a:t>results</a:t>
            </a:r>
            <a:r>
              <a:rPr sz="1867" spc="-13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Times New Roman"/>
                <a:cs typeface="Times New Roman"/>
              </a:rPr>
              <a:t>use</a:t>
            </a:r>
            <a:r>
              <a:rPr sz="1867" spc="-20" dirty="0">
                <a:latin typeface="Times New Roman"/>
                <a:cs typeface="Times New Roman"/>
              </a:rPr>
              <a:t> </a:t>
            </a:r>
            <a:r>
              <a:rPr sz="1867" b="1" spc="-20" dirty="0">
                <a:latin typeface="Times New Roman"/>
                <a:cs typeface="Times New Roman"/>
              </a:rPr>
              <a:t>Instruct-GPT-3</a:t>
            </a:r>
            <a:r>
              <a:rPr sz="1867" b="1" spc="-13" dirty="0">
                <a:latin typeface="Times New Roman"/>
                <a:cs typeface="Times New Roman"/>
              </a:rPr>
              <a:t> </a:t>
            </a:r>
            <a:r>
              <a:rPr sz="1867" b="1" dirty="0">
                <a:latin typeface="Times New Roman"/>
                <a:cs typeface="Times New Roman"/>
              </a:rPr>
              <a:t>175B</a:t>
            </a:r>
            <a:r>
              <a:rPr sz="1867" b="1" spc="-27" dirty="0">
                <a:latin typeface="Times New Roman"/>
                <a:cs typeface="Times New Roman"/>
              </a:rPr>
              <a:t> </a:t>
            </a:r>
            <a:r>
              <a:rPr sz="1867" spc="-7" dirty="0">
                <a:latin typeface="Times New Roman"/>
                <a:cs typeface="Times New Roman"/>
              </a:rPr>
              <a:t>text-davinci-002</a:t>
            </a:r>
            <a:r>
              <a:rPr sz="1867" spc="-20" dirty="0">
                <a:latin typeface="Times New Roman"/>
                <a:cs typeface="Times New Roman"/>
              </a:rPr>
              <a:t> </a:t>
            </a:r>
            <a:r>
              <a:rPr sz="1867" spc="-7" dirty="0">
                <a:latin typeface="Times New Roman"/>
                <a:cs typeface="Times New Roman"/>
              </a:rPr>
              <a:t>model.</a:t>
            </a:r>
            <a:endParaRPr sz="1867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41463" y="3838301"/>
            <a:ext cx="2611967" cy="130245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726422">
              <a:spcBef>
                <a:spcPts val="133"/>
              </a:spcBef>
            </a:pPr>
            <a:r>
              <a:rPr sz="1600" b="1" spc="-7" dirty="0">
                <a:latin typeface="Times New Roman"/>
                <a:cs typeface="Times New Roman"/>
              </a:rPr>
              <a:t>Out-of-Domain</a:t>
            </a:r>
            <a:endParaRPr sz="1600">
              <a:latin typeface="Times New Roman"/>
              <a:cs typeface="Times New Roman"/>
            </a:endParaRPr>
          </a:p>
          <a:p>
            <a:pPr>
              <a:spcBef>
                <a:spcPts val="13"/>
              </a:spcBef>
            </a:pPr>
            <a:endParaRPr sz="1600">
              <a:latin typeface="Times New Roman"/>
              <a:cs typeface="Times New Roman"/>
            </a:endParaRPr>
          </a:p>
          <a:p>
            <a:pPr marL="16933" marR="6773">
              <a:lnSpc>
                <a:spcPct val="101000"/>
              </a:lnSpc>
            </a:pPr>
            <a:r>
              <a:rPr sz="1733" spc="-40" dirty="0">
                <a:latin typeface="Times New Roman"/>
                <a:cs typeface="Times New Roman"/>
              </a:rPr>
              <a:t>Take </a:t>
            </a:r>
            <a:r>
              <a:rPr sz="1733" spc="-7" dirty="0">
                <a:latin typeface="Times New Roman"/>
                <a:cs typeface="Times New Roman"/>
              </a:rPr>
              <a:t>the last letters </a:t>
            </a:r>
            <a:r>
              <a:rPr sz="1733" dirty="0">
                <a:latin typeface="Times New Roman"/>
                <a:cs typeface="Times New Roman"/>
              </a:rPr>
              <a:t>of </a:t>
            </a:r>
            <a:r>
              <a:rPr sz="1733" spc="-7" dirty="0">
                <a:latin typeface="Times New Roman"/>
                <a:cs typeface="Times New Roman"/>
              </a:rPr>
              <a:t>the </a:t>
            </a:r>
            <a:r>
              <a:rPr sz="1733" dirty="0">
                <a:latin typeface="Times New Roman"/>
                <a:cs typeface="Times New Roman"/>
              </a:rPr>
              <a:t> </a:t>
            </a:r>
            <a:r>
              <a:rPr sz="1733" spc="-7" dirty="0">
                <a:latin typeface="Times New Roman"/>
                <a:cs typeface="Times New Roman"/>
              </a:rPr>
              <a:t>words in </a:t>
            </a:r>
            <a:r>
              <a:rPr sz="1733" dirty="0">
                <a:latin typeface="Times New Roman"/>
                <a:cs typeface="Times New Roman"/>
              </a:rPr>
              <a:t>"</a:t>
            </a:r>
            <a:r>
              <a:rPr sz="1733" b="1" dirty="0">
                <a:latin typeface="Times New Roman"/>
                <a:cs typeface="Times New Roman"/>
              </a:rPr>
              <a:t>Johann </a:t>
            </a:r>
            <a:r>
              <a:rPr sz="1733" b="1" spc="-7" dirty="0">
                <a:latin typeface="Times New Roman"/>
                <a:cs typeface="Times New Roman"/>
              </a:rPr>
              <a:t>Sebastian </a:t>
            </a:r>
            <a:r>
              <a:rPr sz="1733" b="1" spc="-413" dirty="0">
                <a:latin typeface="Times New Roman"/>
                <a:cs typeface="Times New Roman"/>
              </a:rPr>
              <a:t> </a:t>
            </a:r>
            <a:r>
              <a:rPr sz="1733" b="1" spc="-7" dirty="0">
                <a:latin typeface="Times New Roman"/>
                <a:cs typeface="Times New Roman"/>
              </a:rPr>
              <a:t>Bach</a:t>
            </a:r>
            <a:r>
              <a:rPr sz="1733" spc="-7" dirty="0">
                <a:latin typeface="Times New Roman"/>
                <a:cs typeface="Times New Roman"/>
              </a:rPr>
              <a:t>"</a:t>
            </a:r>
            <a:r>
              <a:rPr sz="1733" spc="-40" dirty="0">
                <a:latin typeface="Times New Roman"/>
                <a:cs typeface="Times New Roman"/>
              </a:rPr>
              <a:t> </a:t>
            </a:r>
            <a:r>
              <a:rPr sz="1733" spc="-7" dirty="0">
                <a:latin typeface="Times New Roman"/>
                <a:cs typeface="Times New Roman"/>
              </a:rPr>
              <a:t>and</a:t>
            </a:r>
            <a:r>
              <a:rPr sz="1733" spc="-40" dirty="0">
                <a:latin typeface="Times New Roman"/>
                <a:cs typeface="Times New Roman"/>
              </a:rPr>
              <a:t> </a:t>
            </a:r>
            <a:r>
              <a:rPr sz="1733" spc="-7" dirty="0">
                <a:latin typeface="Times New Roman"/>
                <a:cs typeface="Times New Roman"/>
              </a:rPr>
              <a:t>concatenate</a:t>
            </a:r>
            <a:r>
              <a:rPr sz="1733" spc="-40" dirty="0">
                <a:latin typeface="Times New Roman"/>
                <a:cs typeface="Times New Roman"/>
              </a:rPr>
              <a:t> </a:t>
            </a:r>
            <a:r>
              <a:rPr sz="1733" spc="-7" dirty="0">
                <a:latin typeface="Times New Roman"/>
                <a:cs typeface="Times New Roman"/>
              </a:rPr>
              <a:t>them.</a:t>
            </a:r>
            <a:endParaRPr sz="1733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251" y="1380288"/>
            <a:ext cx="7996212" cy="466714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7" dirty="0"/>
              <a:t>Symbolic</a:t>
            </a:r>
            <a:r>
              <a:rPr sz="4000" spc="-33" dirty="0"/>
              <a:t> </a:t>
            </a:r>
            <a:r>
              <a:rPr sz="4000" spc="-13" dirty="0"/>
              <a:t>Reasoning</a:t>
            </a:r>
            <a:r>
              <a:rPr sz="4000" spc="-33" dirty="0"/>
              <a:t> </a:t>
            </a:r>
            <a:r>
              <a:rPr sz="4000" dirty="0"/>
              <a:t>-</a:t>
            </a:r>
            <a:r>
              <a:rPr sz="4000" spc="-27" dirty="0"/>
              <a:t> </a:t>
            </a:r>
            <a:r>
              <a:rPr sz="4000" spc="-13" dirty="0"/>
              <a:t>Coin</a:t>
            </a:r>
            <a:r>
              <a:rPr sz="4000" spc="-40" dirty="0"/>
              <a:t> </a:t>
            </a:r>
            <a:r>
              <a:rPr sz="4000" spc="-7" dirty="0"/>
              <a:t>Flip</a:t>
            </a:r>
            <a:endParaRPr sz="40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40</a:t>
            </a:fld>
            <a:endParaRPr dirty="0"/>
          </a:p>
        </p:txBody>
      </p:sp>
      <p:grpSp>
        <p:nvGrpSpPr>
          <p:cNvPr id="4" name="object 4"/>
          <p:cNvGrpSpPr/>
          <p:nvPr/>
        </p:nvGrpSpPr>
        <p:grpSpPr>
          <a:xfrm>
            <a:off x="8576516" y="1498683"/>
            <a:ext cx="3315547" cy="4325620"/>
            <a:chOff x="6432387" y="1124012"/>
            <a:chExt cx="2486660" cy="3244215"/>
          </a:xfrm>
        </p:grpSpPr>
        <p:sp>
          <p:nvSpPr>
            <p:cNvPr id="5" name="object 5"/>
            <p:cNvSpPr/>
            <p:nvPr/>
          </p:nvSpPr>
          <p:spPr>
            <a:xfrm>
              <a:off x="6437150" y="1128774"/>
              <a:ext cx="2477135" cy="3234690"/>
            </a:xfrm>
            <a:custGeom>
              <a:avLst/>
              <a:gdLst/>
              <a:ahLst/>
              <a:cxnLst/>
              <a:rect l="l" t="t" r="r" b="b"/>
              <a:pathLst>
                <a:path w="2477134" h="3234690">
                  <a:moveTo>
                    <a:pt x="2064241" y="3234599"/>
                  </a:moveTo>
                  <a:lnTo>
                    <a:pt x="412858" y="3234599"/>
                  </a:lnTo>
                  <a:lnTo>
                    <a:pt x="364710" y="3231822"/>
                  </a:lnTo>
                  <a:lnTo>
                    <a:pt x="318193" y="3223696"/>
                  </a:lnTo>
                  <a:lnTo>
                    <a:pt x="273618" y="3210530"/>
                  </a:lnTo>
                  <a:lnTo>
                    <a:pt x="231293" y="3192636"/>
                  </a:lnTo>
                  <a:lnTo>
                    <a:pt x="191529" y="3170322"/>
                  </a:lnTo>
                  <a:lnTo>
                    <a:pt x="154636" y="3143899"/>
                  </a:lnTo>
                  <a:lnTo>
                    <a:pt x="120923" y="3113676"/>
                  </a:lnTo>
                  <a:lnTo>
                    <a:pt x="90700" y="3079963"/>
                  </a:lnTo>
                  <a:lnTo>
                    <a:pt x="64277" y="3043070"/>
                  </a:lnTo>
                  <a:lnTo>
                    <a:pt x="41963" y="3003306"/>
                  </a:lnTo>
                  <a:lnTo>
                    <a:pt x="24069" y="2960981"/>
                  </a:lnTo>
                  <a:lnTo>
                    <a:pt x="10903" y="2916406"/>
                  </a:lnTo>
                  <a:lnTo>
                    <a:pt x="2777" y="2869889"/>
                  </a:lnTo>
                  <a:lnTo>
                    <a:pt x="0" y="2821741"/>
                  </a:lnTo>
                  <a:lnTo>
                    <a:pt x="0" y="412858"/>
                  </a:lnTo>
                  <a:lnTo>
                    <a:pt x="2777" y="364710"/>
                  </a:lnTo>
                  <a:lnTo>
                    <a:pt x="10903" y="318193"/>
                  </a:lnTo>
                  <a:lnTo>
                    <a:pt x="24069" y="273618"/>
                  </a:lnTo>
                  <a:lnTo>
                    <a:pt x="41963" y="231293"/>
                  </a:lnTo>
                  <a:lnTo>
                    <a:pt x="64277" y="191529"/>
                  </a:lnTo>
                  <a:lnTo>
                    <a:pt x="90700" y="154636"/>
                  </a:lnTo>
                  <a:lnTo>
                    <a:pt x="120923" y="120923"/>
                  </a:lnTo>
                  <a:lnTo>
                    <a:pt x="154636" y="90700"/>
                  </a:lnTo>
                  <a:lnTo>
                    <a:pt x="191529" y="64277"/>
                  </a:lnTo>
                  <a:lnTo>
                    <a:pt x="231293" y="41963"/>
                  </a:lnTo>
                  <a:lnTo>
                    <a:pt x="273618" y="24069"/>
                  </a:lnTo>
                  <a:lnTo>
                    <a:pt x="318193" y="10903"/>
                  </a:lnTo>
                  <a:lnTo>
                    <a:pt x="364710" y="2777"/>
                  </a:lnTo>
                  <a:lnTo>
                    <a:pt x="412858" y="0"/>
                  </a:lnTo>
                  <a:lnTo>
                    <a:pt x="2064241" y="0"/>
                  </a:lnTo>
                  <a:lnTo>
                    <a:pt x="2110826" y="2635"/>
                  </a:lnTo>
                  <a:lnTo>
                    <a:pt x="2156458" y="10429"/>
                  </a:lnTo>
                  <a:lnTo>
                    <a:pt x="2200733" y="23214"/>
                  </a:lnTo>
                  <a:lnTo>
                    <a:pt x="2243246" y="40824"/>
                  </a:lnTo>
                  <a:lnTo>
                    <a:pt x="2283594" y="63090"/>
                  </a:lnTo>
                  <a:lnTo>
                    <a:pt x="2321372" y="89845"/>
                  </a:lnTo>
                  <a:lnTo>
                    <a:pt x="2356176" y="120923"/>
                  </a:lnTo>
                  <a:lnTo>
                    <a:pt x="2387253" y="155727"/>
                  </a:lnTo>
                  <a:lnTo>
                    <a:pt x="2414009" y="193505"/>
                  </a:lnTo>
                  <a:lnTo>
                    <a:pt x="2436275" y="233853"/>
                  </a:lnTo>
                  <a:lnTo>
                    <a:pt x="2453885" y="276366"/>
                  </a:lnTo>
                  <a:lnTo>
                    <a:pt x="2466670" y="320640"/>
                  </a:lnTo>
                  <a:lnTo>
                    <a:pt x="2474464" y="366272"/>
                  </a:lnTo>
                  <a:lnTo>
                    <a:pt x="2477099" y="412858"/>
                  </a:lnTo>
                  <a:lnTo>
                    <a:pt x="2477099" y="2821741"/>
                  </a:lnTo>
                  <a:lnTo>
                    <a:pt x="2474322" y="2869889"/>
                  </a:lnTo>
                  <a:lnTo>
                    <a:pt x="2466196" y="2916406"/>
                  </a:lnTo>
                  <a:lnTo>
                    <a:pt x="2453030" y="2960981"/>
                  </a:lnTo>
                  <a:lnTo>
                    <a:pt x="2435136" y="3003306"/>
                  </a:lnTo>
                  <a:lnTo>
                    <a:pt x="2412822" y="3043070"/>
                  </a:lnTo>
                  <a:lnTo>
                    <a:pt x="2386399" y="3079963"/>
                  </a:lnTo>
                  <a:lnTo>
                    <a:pt x="2356176" y="3113676"/>
                  </a:lnTo>
                  <a:lnTo>
                    <a:pt x="2322463" y="3143899"/>
                  </a:lnTo>
                  <a:lnTo>
                    <a:pt x="2285570" y="3170322"/>
                  </a:lnTo>
                  <a:lnTo>
                    <a:pt x="2245806" y="3192636"/>
                  </a:lnTo>
                  <a:lnTo>
                    <a:pt x="2203481" y="3210530"/>
                  </a:lnTo>
                  <a:lnTo>
                    <a:pt x="2158906" y="3223696"/>
                  </a:lnTo>
                  <a:lnTo>
                    <a:pt x="2112389" y="3231822"/>
                  </a:lnTo>
                  <a:lnTo>
                    <a:pt x="2064241" y="3234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37150" y="1128774"/>
              <a:ext cx="2477135" cy="3234690"/>
            </a:xfrm>
            <a:custGeom>
              <a:avLst/>
              <a:gdLst/>
              <a:ahLst/>
              <a:cxnLst/>
              <a:rect l="l" t="t" r="r" b="b"/>
              <a:pathLst>
                <a:path w="2477134" h="3234690">
                  <a:moveTo>
                    <a:pt x="0" y="412858"/>
                  </a:moveTo>
                  <a:lnTo>
                    <a:pt x="2777" y="364710"/>
                  </a:lnTo>
                  <a:lnTo>
                    <a:pt x="10903" y="318193"/>
                  </a:lnTo>
                  <a:lnTo>
                    <a:pt x="24069" y="273618"/>
                  </a:lnTo>
                  <a:lnTo>
                    <a:pt x="41963" y="231293"/>
                  </a:lnTo>
                  <a:lnTo>
                    <a:pt x="64277" y="191529"/>
                  </a:lnTo>
                  <a:lnTo>
                    <a:pt x="90700" y="154636"/>
                  </a:lnTo>
                  <a:lnTo>
                    <a:pt x="120923" y="120923"/>
                  </a:lnTo>
                  <a:lnTo>
                    <a:pt x="154636" y="90700"/>
                  </a:lnTo>
                  <a:lnTo>
                    <a:pt x="191529" y="64277"/>
                  </a:lnTo>
                  <a:lnTo>
                    <a:pt x="231293" y="41963"/>
                  </a:lnTo>
                  <a:lnTo>
                    <a:pt x="273618" y="24069"/>
                  </a:lnTo>
                  <a:lnTo>
                    <a:pt x="318193" y="10903"/>
                  </a:lnTo>
                  <a:lnTo>
                    <a:pt x="364710" y="2777"/>
                  </a:lnTo>
                  <a:lnTo>
                    <a:pt x="412858" y="0"/>
                  </a:lnTo>
                  <a:lnTo>
                    <a:pt x="2064241" y="0"/>
                  </a:lnTo>
                  <a:lnTo>
                    <a:pt x="2110826" y="2635"/>
                  </a:lnTo>
                  <a:lnTo>
                    <a:pt x="2156458" y="10429"/>
                  </a:lnTo>
                  <a:lnTo>
                    <a:pt x="2200733" y="23214"/>
                  </a:lnTo>
                  <a:lnTo>
                    <a:pt x="2243246" y="40824"/>
                  </a:lnTo>
                  <a:lnTo>
                    <a:pt x="2283594" y="63090"/>
                  </a:lnTo>
                  <a:lnTo>
                    <a:pt x="2321372" y="89845"/>
                  </a:lnTo>
                  <a:lnTo>
                    <a:pt x="2356176" y="120923"/>
                  </a:lnTo>
                  <a:lnTo>
                    <a:pt x="2387253" y="155727"/>
                  </a:lnTo>
                  <a:lnTo>
                    <a:pt x="2414009" y="193505"/>
                  </a:lnTo>
                  <a:lnTo>
                    <a:pt x="2436275" y="233853"/>
                  </a:lnTo>
                  <a:lnTo>
                    <a:pt x="2453885" y="276366"/>
                  </a:lnTo>
                  <a:lnTo>
                    <a:pt x="2466670" y="320640"/>
                  </a:lnTo>
                  <a:lnTo>
                    <a:pt x="2474464" y="366272"/>
                  </a:lnTo>
                  <a:lnTo>
                    <a:pt x="2477099" y="412858"/>
                  </a:lnTo>
                  <a:lnTo>
                    <a:pt x="2477099" y="2821741"/>
                  </a:lnTo>
                  <a:lnTo>
                    <a:pt x="2474322" y="2869889"/>
                  </a:lnTo>
                  <a:lnTo>
                    <a:pt x="2466196" y="2916406"/>
                  </a:lnTo>
                  <a:lnTo>
                    <a:pt x="2453030" y="2960981"/>
                  </a:lnTo>
                  <a:lnTo>
                    <a:pt x="2435136" y="3003306"/>
                  </a:lnTo>
                  <a:lnTo>
                    <a:pt x="2412822" y="3043070"/>
                  </a:lnTo>
                  <a:lnTo>
                    <a:pt x="2386399" y="3079963"/>
                  </a:lnTo>
                  <a:lnTo>
                    <a:pt x="2356176" y="3113676"/>
                  </a:lnTo>
                  <a:lnTo>
                    <a:pt x="2322463" y="3143899"/>
                  </a:lnTo>
                  <a:lnTo>
                    <a:pt x="2285570" y="3170322"/>
                  </a:lnTo>
                  <a:lnTo>
                    <a:pt x="2245806" y="3192636"/>
                  </a:lnTo>
                  <a:lnTo>
                    <a:pt x="2203481" y="3210530"/>
                  </a:lnTo>
                  <a:lnTo>
                    <a:pt x="2158906" y="3223696"/>
                  </a:lnTo>
                  <a:lnTo>
                    <a:pt x="2112389" y="3231822"/>
                  </a:lnTo>
                  <a:lnTo>
                    <a:pt x="2064241" y="3234599"/>
                  </a:lnTo>
                  <a:lnTo>
                    <a:pt x="412858" y="3234599"/>
                  </a:lnTo>
                  <a:lnTo>
                    <a:pt x="364710" y="3231822"/>
                  </a:lnTo>
                  <a:lnTo>
                    <a:pt x="318193" y="3223696"/>
                  </a:lnTo>
                  <a:lnTo>
                    <a:pt x="273618" y="3210530"/>
                  </a:lnTo>
                  <a:lnTo>
                    <a:pt x="231293" y="3192636"/>
                  </a:lnTo>
                  <a:lnTo>
                    <a:pt x="191529" y="3170322"/>
                  </a:lnTo>
                  <a:lnTo>
                    <a:pt x="154636" y="3143899"/>
                  </a:lnTo>
                  <a:lnTo>
                    <a:pt x="120923" y="3113676"/>
                  </a:lnTo>
                  <a:lnTo>
                    <a:pt x="90700" y="3079963"/>
                  </a:lnTo>
                  <a:lnTo>
                    <a:pt x="64277" y="3043070"/>
                  </a:lnTo>
                  <a:lnTo>
                    <a:pt x="41963" y="3003306"/>
                  </a:lnTo>
                  <a:lnTo>
                    <a:pt x="24069" y="2960981"/>
                  </a:lnTo>
                  <a:lnTo>
                    <a:pt x="10903" y="2916406"/>
                  </a:lnTo>
                  <a:lnTo>
                    <a:pt x="2777" y="2869889"/>
                  </a:lnTo>
                  <a:lnTo>
                    <a:pt x="0" y="2821741"/>
                  </a:lnTo>
                  <a:lnTo>
                    <a:pt x="0" y="412858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841463" y="1755502"/>
            <a:ext cx="2739813" cy="397542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5719" algn="ctr">
              <a:spcBef>
                <a:spcPts val="133"/>
              </a:spcBef>
            </a:pPr>
            <a:r>
              <a:rPr sz="1600" b="1" spc="-7" dirty="0">
                <a:latin typeface="Times New Roman"/>
                <a:cs typeface="Times New Roman"/>
              </a:rPr>
              <a:t>In-Domain</a:t>
            </a:r>
            <a:endParaRPr sz="1600">
              <a:latin typeface="Times New Roman"/>
              <a:cs typeface="Times New Roman"/>
            </a:endParaRPr>
          </a:p>
          <a:p>
            <a:pPr>
              <a:spcBef>
                <a:spcPts val="13"/>
              </a:spcBef>
            </a:pPr>
            <a:endParaRPr sz="1600">
              <a:latin typeface="Times New Roman"/>
              <a:cs typeface="Times New Roman"/>
            </a:endParaRPr>
          </a:p>
          <a:p>
            <a:pPr marL="16933" marR="97364">
              <a:lnSpc>
                <a:spcPct val="101000"/>
              </a:lnSpc>
            </a:pPr>
            <a:r>
              <a:rPr sz="1733" dirty="0">
                <a:latin typeface="Times New Roman"/>
                <a:cs typeface="Times New Roman"/>
              </a:rPr>
              <a:t>A</a:t>
            </a:r>
            <a:r>
              <a:rPr sz="1733" spc="-100" dirty="0">
                <a:latin typeface="Times New Roman"/>
                <a:cs typeface="Times New Roman"/>
              </a:rPr>
              <a:t> </a:t>
            </a:r>
            <a:r>
              <a:rPr sz="1733" spc="-7" dirty="0">
                <a:latin typeface="Times New Roman"/>
                <a:cs typeface="Times New Roman"/>
              </a:rPr>
              <a:t>coi</a:t>
            </a:r>
            <a:r>
              <a:rPr sz="1733" dirty="0">
                <a:latin typeface="Times New Roman"/>
                <a:cs typeface="Times New Roman"/>
              </a:rPr>
              <a:t>n</a:t>
            </a:r>
            <a:r>
              <a:rPr sz="1733" spc="-7" dirty="0">
                <a:latin typeface="Times New Roman"/>
                <a:cs typeface="Times New Roman"/>
              </a:rPr>
              <a:t> i</a:t>
            </a:r>
            <a:r>
              <a:rPr sz="1733" dirty="0">
                <a:latin typeface="Times New Roman"/>
                <a:cs typeface="Times New Roman"/>
              </a:rPr>
              <a:t>s</a:t>
            </a:r>
            <a:r>
              <a:rPr sz="1733" spc="-7" dirty="0">
                <a:latin typeface="Times New Roman"/>
                <a:cs typeface="Times New Roman"/>
              </a:rPr>
              <a:t> </a:t>
            </a:r>
            <a:r>
              <a:rPr sz="1733" dirty="0">
                <a:latin typeface="Times New Roman"/>
                <a:cs typeface="Times New Roman"/>
              </a:rPr>
              <a:t>heads up.</a:t>
            </a:r>
            <a:r>
              <a:rPr sz="1733" spc="13" dirty="0">
                <a:latin typeface="Times New Roman"/>
                <a:cs typeface="Times New Roman"/>
              </a:rPr>
              <a:t> </a:t>
            </a:r>
            <a:r>
              <a:rPr sz="1733" b="1" spc="-160" dirty="0">
                <a:latin typeface="Times New Roman"/>
                <a:cs typeface="Times New Roman"/>
              </a:rPr>
              <a:t>T</a:t>
            </a:r>
            <a:r>
              <a:rPr sz="1733" b="1" dirty="0">
                <a:latin typeface="Times New Roman"/>
                <a:cs typeface="Times New Roman"/>
              </a:rPr>
              <a:t>om </a:t>
            </a:r>
            <a:r>
              <a:rPr sz="1733" b="1" spc="-7" dirty="0">
                <a:latin typeface="Times New Roman"/>
                <a:cs typeface="Times New Roman"/>
              </a:rPr>
              <a:t>does  not </a:t>
            </a:r>
            <a:r>
              <a:rPr sz="1733" b="1" dirty="0">
                <a:latin typeface="Times New Roman"/>
                <a:cs typeface="Times New Roman"/>
              </a:rPr>
              <a:t>flip the </a:t>
            </a:r>
            <a:r>
              <a:rPr sz="1733" b="1" spc="-7" dirty="0">
                <a:latin typeface="Times New Roman"/>
                <a:cs typeface="Times New Roman"/>
              </a:rPr>
              <a:t>coin</a:t>
            </a:r>
            <a:r>
              <a:rPr sz="1733" spc="-7" dirty="0">
                <a:latin typeface="Times New Roman"/>
                <a:cs typeface="Times New Roman"/>
              </a:rPr>
              <a:t>. </a:t>
            </a:r>
            <a:r>
              <a:rPr sz="1733" b="1" i="1" spc="-7" dirty="0">
                <a:latin typeface="Times New Roman"/>
                <a:cs typeface="Times New Roman"/>
              </a:rPr>
              <a:t>Mike </a:t>
            </a:r>
            <a:r>
              <a:rPr sz="1733" b="1" i="1" dirty="0">
                <a:latin typeface="Times New Roman"/>
                <a:cs typeface="Times New Roman"/>
              </a:rPr>
              <a:t>does </a:t>
            </a:r>
            <a:r>
              <a:rPr sz="1733" b="1" i="1" spc="7" dirty="0">
                <a:latin typeface="Times New Roman"/>
                <a:cs typeface="Times New Roman"/>
              </a:rPr>
              <a:t> </a:t>
            </a:r>
            <a:r>
              <a:rPr sz="1733" b="1" i="1" spc="-7" dirty="0">
                <a:latin typeface="Times New Roman"/>
                <a:cs typeface="Times New Roman"/>
              </a:rPr>
              <a:t>not </a:t>
            </a:r>
            <a:r>
              <a:rPr sz="1733" b="1" i="1" dirty="0">
                <a:latin typeface="Times New Roman"/>
                <a:cs typeface="Times New Roman"/>
              </a:rPr>
              <a:t>flip </a:t>
            </a:r>
            <a:r>
              <a:rPr sz="1733" b="1" i="1" spc="-7" dirty="0">
                <a:latin typeface="Times New Roman"/>
                <a:cs typeface="Times New Roman"/>
              </a:rPr>
              <a:t>the coin</a:t>
            </a:r>
            <a:r>
              <a:rPr sz="1733" spc="-7" dirty="0">
                <a:latin typeface="Times New Roman"/>
                <a:cs typeface="Times New Roman"/>
              </a:rPr>
              <a:t>. </a:t>
            </a:r>
            <a:r>
              <a:rPr sz="1733" dirty="0">
                <a:latin typeface="Times New Roman"/>
                <a:cs typeface="Times New Roman"/>
              </a:rPr>
              <a:t>Is </a:t>
            </a:r>
            <a:r>
              <a:rPr sz="1733" spc="-7" dirty="0">
                <a:latin typeface="Times New Roman"/>
                <a:cs typeface="Times New Roman"/>
              </a:rPr>
              <a:t>the coin </a:t>
            </a:r>
            <a:r>
              <a:rPr sz="1733" dirty="0">
                <a:latin typeface="Times New Roman"/>
                <a:cs typeface="Times New Roman"/>
              </a:rPr>
              <a:t> </a:t>
            </a:r>
            <a:r>
              <a:rPr sz="1733" spc="-7" dirty="0">
                <a:latin typeface="Times New Roman"/>
                <a:cs typeface="Times New Roman"/>
              </a:rPr>
              <a:t>still</a:t>
            </a:r>
            <a:r>
              <a:rPr sz="1733" spc="-13" dirty="0">
                <a:latin typeface="Times New Roman"/>
                <a:cs typeface="Times New Roman"/>
              </a:rPr>
              <a:t> </a:t>
            </a:r>
            <a:r>
              <a:rPr sz="1733" dirty="0">
                <a:latin typeface="Times New Roman"/>
                <a:cs typeface="Times New Roman"/>
              </a:rPr>
              <a:t>heads</a:t>
            </a:r>
            <a:r>
              <a:rPr sz="1733" spc="-7" dirty="0">
                <a:latin typeface="Times New Roman"/>
                <a:cs typeface="Times New Roman"/>
              </a:rPr>
              <a:t> </a:t>
            </a:r>
            <a:r>
              <a:rPr sz="1733" dirty="0">
                <a:latin typeface="Times New Roman"/>
                <a:cs typeface="Times New Roman"/>
              </a:rPr>
              <a:t>up?</a:t>
            </a:r>
            <a:endParaRPr sz="1733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67">
              <a:latin typeface="Times New Roman"/>
              <a:cs typeface="Times New Roman"/>
            </a:endParaRPr>
          </a:p>
          <a:p>
            <a:pPr>
              <a:spcBef>
                <a:spcPts val="7"/>
              </a:spcBef>
            </a:pPr>
            <a:endParaRPr>
              <a:latin typeface="Times New Roman"/>
              <a:cs typeface="Times New Roman"/>
            </a:endParaRPr>
          </a:p>
          <a:p>
            <a:pPr marL="44026" algn="ctr"/>
            <a:r>
              <a:rPr sz="1600" b="1" spc="-7" dirty="0">
                <a:latin typeface="Times New Roman"/>
                <a:cs typeface="Times New Roman"/>
              </a:rPr>
              <a:t>Out-of-Domain</a:t>
            </a:r>
            <a:endParaRPr sz="1600">
              <a:latin typeface="Times New Roman"/>
              <a:cs typeface="Times New Roman"/>
            </a:endParaRPr>
          </a:p>
          <a:p>
            <a:pPr>
              <a:spcBef>
                <a:spcPts val="13"/>
              </a:spcBef>
            </a:pPr>
            <a:endParaRPr sz="1600">
              <a:latin typeface="Times New Roman"/>
              <a:cs typeface="Times New Roman"/>
            </a:endParaRPr>
          </a:p>
          <a:p>
            <a:pPr marL="16933" marR="6773">
              <a:lnSpc>
                <a:spcPct val="101000"/>
              </a:lnSpc>
            </a:pPr>
            <a:r>
              <a:rPr sz="1733" dirty="0">
                <a:latin typeface="Times New Roman"/>
                <a:cs typeface="Times New Roman"/>
              </a:rPr>
              <a:t>A</a:t>
            </a:r>
            <a:r>
              <a:rPr sz="1733" spc="-100" dirty="0">
                <a:latin typeface="Times New Roman"/>
                <a:cs typeface="Times New Roman"/>
              </a:rPr>
              <a:t> </a:t>
            </a:r>
            <a:r>
              <a:rPr sz="1733" spc="-7" dirty="0">
                <a:latin typeface="Times New Roman"/>
                <a:cs typeface="Times New Roman"/>
              </a:rPr>
              <a:t>coi</a:t>
            </a:r>
            <a:r>
              <a:rPr sz="1733" dirty="0">
                <a:latin typeface="Times New Roman"/>
                <a:cs typeface="Times New Roman"/>
              </a:rPr>
              <a:t>n</a:t>
            </a:r>
            <a:r>
              <a:rPr sz="1733" spc="-7" dirty="0">
                <a:latin typeface="Times New Roman"/>
                <a:cs typeface="Times New Roman"/>
              </a:rPr>
              <a:t> i</a:t>
            </a:r>
            <a:r>
              <a:rPr sz="1733" dirty="0">
                <a:latin typeface="Times New Roman"/>
                <a:cs typeface="Times New Roman"/>
              </a:rPr>
              <a:t>s</a:t>
            </a:r>
            <a:r>
              <a:rPr sz="1733" spc="-7" dirty="0">
                <a:latin typeface="Times New Roman"/>
                <a:cs typeface="Times New Roman"/>
              </a:rPr>
              <a:t> </a:t>
            </a:r>
            <a:r>
              <a:rPr sz="1733" dirty="0">
                <a:latin typeface="Times New Roman"/>
                <a:cs typeface="Times New Roman"/>
              </a:rPr>
              <a:t>heads up.</a:t>
            </a:r>
            <a:r>
              <a:rPr sz="1733" spc="13" dirty="0">
                <a:latin typeface="Times New Roman"/>
                <a:cs typeface="Times New Roman"/>
              </a:rPr>
              <a:t> </a:t>
            </a:r>
            <a:r>
              <a:rPr sz="1733" b="1" spc="-160" dirty="0">
                <a:latin typeface="Times New Roman"/>
                <a:cs typeface="Times New Roman"/>
              </a:rPr>
              <a:t>T</a:t>
            </a:r>
            <a:r>
              <a:rPr sz="1733" b="1" dirty="0">
                <a:latin typeface="Times New Roman"/>
                <a:cs typeface="Times New Roman"/>
              </a:rPr>
              <a:t>om </a:t>
            </a:r>
            <a:r>
              <a:rPr sz="1733" b="1" spc="-7" dirty="0">
                <a:latin typeface="Times New Roman"/>
                <a:cs typeface="Times New Roman"/>
              </a:rPr>
              <a:t>does  not </a:t>
            </a:r>
            <a:r>
              <a:rPr sz="1733" b="1" dirty="0">
                <a:latin typeface="Times New Roman"/>
                <a:cs typeface="Times New Roman"/>
              </a:rPr>
              <a:t>flip the </a:t>
            </a:r>
            <a:r>
              <a:rPr sz="1733" b="1" spc="-7" dirty="0">
                <a:latin typeface="Times New Roman"/>
                <a:cs typeface="Times New Roman"/>
              </a:rPr>
              <a:t>coin</a:t>
            </a:r>
            <a:r>
              <a:rPr sz="1733" spc="-7" dirty="0">
                <a:latin typeface="Times New Roman"/>
                <a:cs typeface="Times New Roman"/>
              </a:rPr>
              <a:t>. </a:t>
            </a:r>
            <a:r>
              <a:rPr sz="1733" b="1" i="1" spc="-7" dirty="0">
                <a:latin typeface="Times New Roman"/>
                <a:cs typeface="Times New Roman"/>
              </a:rPr>
              <a:t>Mike </a:t>
            </a:r>
            <a:r>
              <a:rPr sz="1733" b="1" i="1" dirty="0">
                <a:latin typeface="Times New Roman"/>
                <a:cs typeface="Times New Roman"/>
              </a:rPr>
              <a:t>does </a:t>
            </a:r>
            <a:r>
              <a:rPr sz="1733" b="1" i="1" spc="7" dirty="0">
                <a:latin typeface="Times New Roman"/>
                <a:cs typeface="Times New Roman"/>
              </a:rPr>
              <a:t> </a:t>
            </a:r>
            <a:r>
              <a:rPr sz="1733" b="1" i="1" spc="-7" dirty="0">
                <a:latin typeface="Times New Roman"/>
                <a:cs typeface="Times New Roman"/>
              </a:rPr>
              <a:t>not </a:t>
            </a:r>
            <a:r>
              <a:rPr sz="1733" b="1" i="1" dirty="0">
                <a:latin typeface="Times New Roman"/>
                <a:cs typeface="Times New Roman"/>
              </a:rPr>
              <a:t>flip </a:t>
            </a:r>
            <a:r>
              <a:rPr sz="1733" b="1" i="1" spc="-7" dirty="0">
                <a:latin typeface="Times New Roman"/>
                <a:cs typeface="Times New Roman"/>
              </a:rPr>
              <a:t>the coin</a:t>
            </a:r>
            <a:r>
              <a:rPr sz="1733" spc="-7" dirty="0">
                <a:latin typeface="Times New Roman"/>
                <a:cs typeface="Times New Roman"/>
              </a:rPr>
              <a:t>. </a:t>
            </a:r>
            <a:r>
              <a:rPr sz="1733" b="1" dirty="0">
                <a:latin typeface="Times New Roman"/>
                <a:cs typeface="Times New Roman"/>
              </a:rPr>
              <a:t>Jake flips </a:t>
            </a:r>
            <a:r>
              <a:rPr sz="1733" b="1" spc="7" dirty="0">
                <a:latin typeface="Times New Roman"/>
                <a:cs typeface="Times New Roman"/>
              </a:rPr>
              <a:t> </a:t>
            </a:r>
            <a:r>
              <a:rPr sz="1733" b="1" dirty="0">
                <a:latin typeface="Times New Roman"/>
                <a:cs typeface="Times New Roman"/>
              </a:rPr>
              <a:t>the</a:t>
            </a:r>
            <a:r>
              <a:rPr sz="1733" b="1" spc="-20" dirty="0">
                <a:latin typeface="Times New Roman"/>
                <a:cs typeface="Times New Roman"/>
              </a:rPr>
              <a:t> </a:t>
            </a:r>
            <a:r>
              <a:rPr sz="1733" b="1" spc="-7" dirty="0">
                <a:latin typeface="Times New Roman"/>
                <a:cs typeface="Times New Roman"/>
              </a:rPr>
              <a:t>coin</a:t>
            </a:r>
            <a:r>
              <a:rPr sz="1733" spc="-7" dirty="0">
                <a:latin typeface="Times New Roman"/>
                <a:cs typeface="Times New Roman"/>
              </a:rPr>
              <a:t>.</a:t>
            </a:r>
            <a:r>
              <a:rPr sz="1733" spc="-13" dirty="0">
                <a:latin typeface="Times New Roman"/>
                <a:cs typeface="Times New Roman"/>
              </a:rPr>
              <a:t> </a:t>
            </a:r>
            <a:r>
              <a:rPr sz="1733" dirty="0">
                <a:latin typeface="Times New Roman"/>
                <a:cs typeface="Times New Roman"/>
              </a:rPr>
              <a:t>Is</a:t>
            </a:r>
            <a:r>
              <a:rPr sz="1733" spc="-20" dirty="0">
                <a:latin typeface="Times New Roman"/>
                <a:cs typeface="Times New Roman"/>
              </a:rPr>
              <a:t> </a:t>
            </a:r>
            <a:r>
              <a:rPr sz="1733" spc="-7" dirty="0">
                <a:latin typeface="Times New Roman"/>
                <a:cs typeface="Times New Roman"/>
              </a:rPr>
              <a:t>the</a:t>
            </a:r>
            <a:r>
              <a:rPr sz="1733" spc="-20" dirty="0">
                <a:latin typeface="Times New Roman"/>
                <a:cs typeface="Times New Roman"/>
              </a:rPr>
              <a:t> </a:t>
            </a:r>
            <a:r>
              <a:rPr sz="1733" spc="-7" dirty="0">
                <a:latin typeface="Times New Roman"/>
                <a:cs typeface="Times New Roman"/>
              </a:rPr>
              <a:t>coin</a:t>
            </a:r>
            <a:r>
              <a:rPr sz="1733" spc="-27" dirty="0">
                <a:latin typeface="Times New Roman"/>
                <a:cs typeface="Times New Roman"/>
              </a:rPr>
              <a:t> </a:t>
            </a:r>
            <a:r>
              <a:rPr sz="1733" spc="-7" dirty="0">
                <a:latin typeface="Times New Roman"/>
                <a:cs typeface="Times New Roman"/>
              </a:rPr>
              <a:t>still</a:t>
            </a:r>
            <a:r>
              <a:rPr sz="1733" spc="-20" dirty="0">
                <a:latin typeface="Times New Roman"/>
                <a:cs typeface="Times New Roman"/>
              </a:rPr>
              <a:t> </a:t>
            </a:r>
            <a:r>
              <a:rPr sz="1733" dirty="0">
                <a:latin typeface="Times New Roman"/>
                <a:cs typeface="Times New Roman"/>
              </a:rPr>
              <a:t>heads </a:t>
            </a:r>
            <a:r>
              <a:rPr sz="1733" spc="-413" dirty="0">
                <a:latin typeface="Times New Roman"/>
                <a:cs typeface="Times New Roman"/>
              </a:rPr>
              <a:t> </a:t>
            </a:r>
            <a:r>
              <a:rPr sz="1733" dirty="0">
                <a:latin typeface="Times New Roman"/>
                <a:cs typeface="Times New Roman"/>
              </a:rPr>
              <a:t>up?</a:t>
            </a:r>
            <a:endParaRPr sz="1733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3332" y="6408298"/>
            <a:ext cx="6685280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173"/>
              </a:lnSpc>
            </a:pPr>
            <a:r>
              <a:rPr sz="1867" dirty="0">
                <a:solidFill>
                  <a:srgbClr val="CC4125"/>
                </a:solidFill>
                <a:latin typeface="Times New Roman"/>
                <a:cs typeface="Times New Roman"/>
              </a:rPr>
              <a:t>*Zero-Shot</a:t>
            </a:r>
            <a:r>
              <a:rPr sz="1867" spc="-27" dirty="0">
                <a:solidFill>
                  <a:srgbClr val="CC4125"/>
                </a:solidFill>
                <a:latin typeface="Times New Roman"/>
                <a:cs typeface="Times New Roman"/>
              </a:rPr>
              <a:t> </a:t>
            </a:r>
            <a:r>
              <a:rPr sz="1867" dirty="0">
                <a:latin typeface="Times New Roman"/>
                <a:cs typeface="Times New Roman"/>
              </a:rPr>
              <a:t>results</a:t>
            </a:r>
            <a:r>
              <a:rPr sz="1867" spc="-13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Times New Roman"/>
                <a:cs typeface="Times New Roman"/>
              </a:rPr>
              <a:t>use</a:t>
            </a:r>
            <a:r>
              <a:rPr sz="1867" spc="-20" dirty="0">
                <a:latin typeface="Times New Roman"/>
                <a:cs typeface="Times New Roman"/>
              </a:rPr>
              <a:t> </a:t>
            </a:r>
            <a:r>
              <a:rPr sz="1867" b="1" spc="-20" dirty="0">
                <a:latin typeface="Times New Roman"/>
                <a:cs typeface="Times New Roman"/>
              </a:rPr>
              <a:t>Instruct-GPT-3</a:t>
            </a:r>
            <a:r>
              <a:rPr sz="1867" b="1" spc="-13" dirty="0">
                <a:latin typeface="Times New Roman"/>
                <a:cs typeface="Times New Roman"/>
              </a:rPr>
              <a:t> </a:t>
            </a:r>
            <a:r>
              <a:rPr sz="1867" b="1" dirty="0">
                <a:latin typeface="Times New Roman"/>
                <a:cs typeface="Times New Roman"/>
              </a:rPr>
              <a:t>175B</a:t>
            </a:r>
            <a:r>
              <a:rPr sz="1867" b="1" spc="-27" dirty="0">
                <a:latin typeface="Times New Roman"/>
                <a:cs typeface="Times New Roman"/>
              </a:rPr>
              <a:t> </a:t>
            </a:r>
            <a:r>
              <a:rPr sz="1867" spc="-7" dirty="0">
                <a:latin typeface="Times New Roman"/>
                <a:cs typeface="Times New Roman"/>
              </a:rPr>
              <a:t>text-davinci-002</a:t>
            </a:r>
            <a:r>
              <a:rPr sz="1867" spc="-20" dirty="0">
                <a:latin typeface="Times New Roman"/>
                <a:cs typeface="Times New Roman"/>
              </a:rPr>
              <a:t> </a:t>
            </a:r>
            <a:r>
              <a:rPr sz="1867" spc="-7" dirty="0">
                <a:latin typeface="Times New Roman"/>
                <a:cs typeface="Times New Roman"/>
              </a:rPr>
              <a:t>model.</a:t>
            </a:r>
            <a:endParaRPr sz="1867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7" dirty="0"/>
              <a:t>Symbolic</a:t>
            </a:r>
            <a:r>
              <a:rPr sz="4000" spc="-47" dirty="0"/>
              <a:t> </a:t>
            </a:r>
            <a:r>
              <a:rPr sz="4000" spc="-13" dirty="0"/>
              <a:t>Reasoning</a:t>
            </a:r>
            <a:r>
              <a:rPr sz="4000" spc="-47" dirty="0"/>
              <a:t> </a:t>
            </a:r>
            <a:r>
              <a:rPr sz="4000" dirty="0"/>
              <a:t>-</a:t>
            </a:r>
            <a:r>
              <a:rPr sz="4000" spc="-33" dirty="0"/>
              <a:t> </a:t>
            </a:r>
            <a:r>
              <a:rPr sz="4000" spc="-7" dirty="0"/>
              <a:t>Observations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41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3961" y="1679695"/>
            <a:ext cx="10322560" cy="333037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85128" indent="-469042">
              <a:spcBef>
                <a:spcPts val="133"/>
              </a:spcBef>
              <a:buFont typeface="Arial MT"/>
              <a:buChar char="●"/>
              <a:tabLst>
                <a:tab pos="485128" algn="l"/>
                <a:tab pos="485975" algn="l"/>
              </a:tabLst>
            </a:pPr>
            <a:r>
              <a:rPr sz="2133" spc="-7" dirty="0">
                <a:latin typeface="Times New Roman"/>
                <a:cs typeface="Times New Roman"/>
              </a:rPr>
              <a:t>Standard</a:t>
            </a:r>
            <a:r>
              <a:rPr sz="2133" spc="-27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prompting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b="1" dirty="0">
                <a:latin typeface="Times New Roman"/>
                <a:cs typeface="Times New Roman"/>
              </a:rPr>
              <a:t>fails</a:t>
            </a:r>
            <a:r>
              <a:rPr sz="2133" b="1" spc="-13" dirty="0">
                <a:latin typeface="Times New Roman"/>
                <a:cs typeface="Times New Roman"/>
              </a:rPr>
              <a:t> </a:t>
            </a:r>
            <a:r>
              <a:rPr sz="2133" b="1" dirty="0">
                <a:latin typeface="Times New Roman"/>
                <a:cs typeface="Times New Roman"/>
              </a:rPr>
              <a:t>out-of-domain</a:t>
            </a:r>
            <a:r>
              <a:rPr sz="2133" b="1" spc="-20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tests</a:t>
            </a:r>
            <a:r>
              <a:rPr sz="2133" spc="-20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for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both</a:t>
            </a:r>
            <a:r>
              <a:rPr sz="2133" spc="-20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tasks.</a:t>
            </a:r>
            <a:endParaRPr sz="2133">
              <a:latin typeface="Times New Roman"/>
              <a:cs typeface="Times New Roman"/>
            </a:endParaRPr>
          </a:p>
          <a:p>
            <a:pPr>
              <a:spcBef>
                <a:spcPts val="27"/>
              </a:spcBef>
              <a:buFont typeface="Arial MT"/>
              <a:buChar char="●"/>
            </a:pPr>
            <a:endParaRPr sz="2200">
              <a:latin typeface="Times New Roman"/>
              <a:cs typeface="Times New Roman"/>
            </a:endParaRPr>
          </a:p>
          <a:p>
            <a:pPr marL="485128" indent="-469042">
              <a:buFont typeface="Arial MT"/>
              <a:buChar char="●"/>
              <a:tabLst>
                <a:tab pos="485128" algn="l"/>
                <a:tab pos="485975" algn="l"/>
              </a:tabLst>
            </a:pPr>
            <a:r>
              <a:rPr sz="2133" spc="-7" dirty="0">
                <a:latin typeface="Times New Roman"/>
                <a:cs typeface="Times New Roman"/>
              </a:rPr>
              <a:t>Few-shot</a:t>
            </a:r>
            <a:r>
              <a:rPr sz="2133" spc="-20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CoT</a:t>
            </a:r>
            <a:r>
              <a:rPr sz="2133" spc="-60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prompting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is</a:t>
            </a:r>
            <a:r>
              <a:rPr sz="2133" dirty="0">
                <a:latin typeface="Times New Roman"/>
                <a:cs typeface="Times New Roman"/>
              </a:rPr>
              <a:t> </a:t>
            </a:r>
            <a:r>
              <a:rPr sz="2133" b="1" spc="-7" dirty="0">
                <a:latin typeface="Times New Roman"/>
                <a:cs typeface="Times New Roman"/>
              </a:rPr>
              <a:t>emergent </a:t>
            </a:r>
            <a:r>
              <a:rPr sz="2133" b="1" dirty="0">
                <a:latin typeface="Times New Roman"/>
                <a:cs typeface="Times New Roman"/>
              </a:rPr>
              <a:t>abilities</a:t>
            </a:r>
            <a:r>
              <a:rPr sz="2133" b="1" spc="-13" dirty="0">
                <a:latin typeface="Times New Roman"/>
                <a:cs typeface="Times New Roman"/>
              </a:rPr>
              <a:t> </a:t>
            </a:r>
            <a:r>
              <a:rPr sz="2133" b="1" dirty="0">
                <a:latin typeface="Times New Roman"/>
                <a:cs typeface="Times New Roman"/>
              </a:rPr>
              <a:t>of</a:t>
            </a:r>
            <a:r>
              <a:rPr sz="2133" b="1" spc="-7" dirty="0">
                <a:latin typeface="Times New Roman"/>
                <a:cs typeface="Times New Roman"/>
              </a:rPr>
              <a:t> </a:t>
            </a:r>
            <a:r>
              <a:rPr sz="2133" b="1" dirty="0">
                <a:latin typeface="Times New Roman"/>
                <a:cs typeface="Times New Roman"/>
              </a:rPr>
              <a:t>model</a:t>
            </a:r>
            <a:r>
              <a:rPr sz="2133" b="1" spc="-13" dirty="0">
                <a:latin typeface="Times New Roman"/>
                <a:cs typeface="Times New Roman"/>
              </a:rPr>
              <a:t> </a:t>
            </a:r>
            <a:r>
              <a:rPr sz="2133" b="1" spc="-7" dirty="0">
                <a:latin typeface="Times New Roman"/>
                <a:cs typeface="Times New Roman"/>
              </a:rPr>
              <a:t>scale.</a:t>
            </a:r>
            <a:endParaRPr sz="2133">
              <a:latin typeface="Times New Roman"/>
              <a:cs typeface="Times New Roman"/>
            </a:endParaRPr>
          </a:p>
          <a:p>
            <a:pPr>
              <a:spcBef>
                <a:spcPts val="33"/>
              </a:spcBef>
              <a:buFont typeface="Arial MT"/>
              <a:buChar char="●"/>
            </a:pPr>
            <a:endParaRPr sz="2200">
              <a:latin typeface="Times New Roman"/>
              <a:cs typeface="Times New Roman"/>
            </a:endParaRPr>
          </a:p>
          <a:p>
            <a:pPr marL="485128" marR="974489" indent="-469042">
              <a:buFont typeface="Arial MT"/>
              <a:buChar char="●"/>
              <a:tabLst>
                <a:tab pos="485128" algn="l"/>
                <a:tab pos="485975" algn="l"/>
              </a:tabLst>
            </a:pPr>
            <a:r>
              <a:rPr sz="2133" spc="-7" dirty="0">
                <a:latin typeface="Times New Roman"/>
                <a:cs typeface="Times New Roman"/>
              </a:rPr>
              <a:t>CoT </a:t>
            </a:r>
            <a:r>
              <a:rPr sz="2133" dirty="0">
                <a:latin typeface="Times New Roman"/>
                <a:cs typeface="Times New Roman"/>
              </a:rPr>
              <a:t>does not positively </a:t>
            </a:r>
            <a:r>
              <a:rPr sz="2133" spc="-7" dirty="0">
                <a:latin typeface="Times New Roman"/>
                <a:cs typeface="Times New Roman"/>
              </a:rPr>
              <a:t>impact </a:t>
            </a:r>
            <a:r>
              <a:rPr sz="2133" dirty="0">
                <a:latin typeface="Times New Roman"/>
                <a:cs typeface="Times New Roman"/>
              </a:rPr>
              <a:t>performance for </a:t>
            </a:r>
            <a:r>
              <a:rPr sz="2133" spc="-7" dirty="0">
                <a:latin typeface="Times New Roman"/>
                <a:cs typeface="Times New Roman"/>
              </a:rPr>
              <a:t>small models, </a:t>
            </a:r>
            <a:r>
              <a:rPr sz="2133" dirty="0">
                <a:latin typeface="Times New Roman"/>
                <a:cs typeface="Times New Roman"/>
              </a:rPr>
              <a:t>but </a:t>
            </a:r>
            <a:r>
              <a:rPr sz="2133" spc="-7" dirty="0">
                <a:latin typeface="Times New Roman"/>
                <a:cs typeface="Times New Roman"/>
              </a:rPr>
              <a:t>start to </a:t>
            </a:r>
            <a:r>
              <a:rPr sz="2133" dirty="0">
                <a:latin typeface="Times New Roman"/>
                <a:cs typeface="Times New Roman"/>
              </a:rPr>
              <a:t>yield </a:t>
            </a:r>
            <a:r>
              <a:rPr sz="2133" spc="7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performance gains </a:t>
            </a:r>
            <a:r>
              <a:rPr sz="2133" spc="-7" dirty="0">
                <a:latin typeface="Times New Roman"/>
                <a:cs typeface="Times New Roman"/>
              </a:rPr>
              <a:t>when </a:t>
            </a:r>
            <a:r>
              <a:rPr sz="2133" dirty="0">
                <a:latin typeface="Times New Roman"/>
                <a:cs typeface="Times New Roman"/>
              </a:rPr>
              <a:t>using </a:t>
            </a:r>
            <a:r>
              <a:rPr sz="2133" spc="-7" dirty="0">
                <a:latin typeface="Times New Roman"/>
                <a:cs typeface="Times New Roman"/>
              </a:rPr>
              <a:t>models with more than </a:t>
            </a:r>
            <a:r>
              <a:rPr sz="2133" spc="-7" dirty="0">
                <a:latin typeface="MS UI Gothic"/>
                <a:cs typeface="MS UI Gothic"/>
              </a:rPr>
              <a:t>∼</a:t>
            </a:r>
            <a:r>
              <a:rPr sz="2133" spc="-7" dirty="0">
                <a:latin typeface="Times New Roman"/>
                <a:cs typeface="Times New Roman"/>
              </a:rPr>
              <a:t>100B </a:t>
            </a:r>
            <a:r>
              <a:rPr sz="2133" dirty="0">
                <a:latin typeface="Times New Roman"/>
                <a:cs typeface="Times New Roman"/>
              </a:rPr>
              <a:t>parameters for both </a:t>
            </a:r>
            <a:r>
              <a:rPr sz="2133" spc="-51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in-domain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and </a:t>
            </a:r>
            <a:r>
              <a:rPr sz="2133" dirty="0">
                <a:latin typeface="Times New Roman"/>
                <a:cs typeface="Times New Roman"/>
              </a:rPr>
              <a:t>out-of-domain </a:t>
            </a:r>
            <a:r>
              <a:rPr sz="2133" spc="-7" dirty="0">
                <a:latin typeface="Times New Roman"/>
                <a:cs typeface="Times New Roman"/>
              </a:rPr>
              <a:t>tests.</a:t>
            </a:r>
            <a:endParaRPr sz="2133">
              <a:latin typeface="Times New Roman"/>
              <a:cs typeface="Times New Roman"/>
            </a:endParaRPr>
          </a:p>
          <a:p>
            <a:pPr>
              <a:spcBef>
                <a:spcPts val="27"/>
              </a:spcBef>
              <a:buFont typeface="Arial MT"/>
              <a:buChar char="●"/>
            </a:pPr>
            <a:endParaRPr sz="2200">
              <a:latin typeface="Times New Roman"/>
              <a:cs typeface="Times New Roman"/>
            </a:endParaRPr>
          </a:p>
          <a:p>
            <a:pPr marL="485128" indent="-469042">
              <a:buFont typeface="Arial MT"/>
              <a:buChar char="●"/>
              <a:tabLst>
                <a:tab pos="485128" algn="l"/>
                <a:tab pos="485975" algn="l"/>
              </a:tabLst>
            </a:pPr>
            <a:r>
              <a:rPr sz="2133" b="1" spc="-7" dirty="0">
                <a:latin typeface="Times New Roman"/>
                <a:cs typeface="Times New Roman"/>
              </a:rPr>
              <a:t>Zero-shot</a:t>
            </a:r>
            <a:r>
              <a:rPr sz="2133" b="1" spc="-1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CoT</a:t>
            </a:r>
            <a:r>
              <a:rPr sz="2133" spc="-53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using</a:t>
            </a:r>
            <a:r>
              <a:rPr sz="2133" spc="-7" dirty="0">
                <a:latin typeface="Times New Roman"/>
                <a:cs typeface="Times New Roman"/>
              </a:rPr>
              <a:t> </a:t>
            </a:r>
            <a:r>
              <a:rPr sz="2133" b="1" spc="-20" dirty="0">
                <a:latin typeface="Times New Roman"/>
                <a:cs typeface="Times New Roman"/>
              </a:rPr>
              <a:t>Instruct-GPT-3</a:t>
            </a:r>
            <a:r>
              <a:rPr sz="2133" b="1" spc="-13" dirty="0">
                <a:latin typeface="Times New Roman"/>
                <a:cs typeface="Times New Roman"/>
              </a:rPr>
              <a:t> </a:t>
            </a:r>
            <a:r>
              <a:rPr sz="2133" b="1" dirty="0">
                <a:latin typeface="Times New Roman"/>
                <a:cs typeface="Times New Roman"/>
              </a:rPr>
              <a:t>175B</a:t>
            </a:r>
            <a:r>
              <a:rPr sz="2133" b="1" spc="-1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achieves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the</a:t>
            </a:r>
            <a:r>
              <a:rPr sz="2133" spc="-20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similar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performance</a:t>
            </a:r>
            <a:r>
              <a:rPr sz="2133" spc="-7" dirty="0">
                <a:latin typeface="Times New Roman"/>
                <a:cs typeface="Times New Roman"/>
              </a:rPr>
              <a:t> as</a:t>
            </a:r>
            <a:r>
              <a:rPr sz="2133" spc="27" dirty="0">
                <a:latin typeface="Times New Roman"/>
                <a:cs typeface="Times New Roman"/>
              </a:rPr>
              <a:t> </a:t>
            </a:r>
            <a:r>
              <a:rPr sz="2133" b="1" dirty="0">
                <a:latin typeface="Times New Roman"/>
                <a:cs typeface="Times New Roman"/>
              </a:rPr>
              <a:t>few-shot</a:t>
            </a:r>
            <a:endParaRPr sz="2133">
              <a:latin typeface="Times New Roman"/>
              <a:cs typeface="Times New Roman"/>
            </a:endParaRPr>
          </a:p>
          <a:p>
            <a:pPr marL="485128"/>
            <a:r>
              <a:rPr sz="2133" spc="-7" dirty="0">
                <a:latin typeface="Times New Roman"/>
                <a:cs typeface="Times New Roman"/>
              </a:rPr>
              <a:t>CoT</a:t>
            </a:r>
            <a:r>
              <a:rPr sz="2133" spc="-60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in</a:t>
            </a:r>
            <a:r>
              <a:rPr sz="2133" spc="-20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both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tasks</a:t>
            </a:r>
            <a:r>
              <a:rPr sz="2133" spc="-20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using</a:t>
            </a:r>
            <a:r>
              <a:rPr sz="2133" spc="7" dirty="0">
                <a:latin typeface="Times New Roman"/>
                <a:cs typeface="Times New Roman"/>
              </a:rPr>
              <a:t> </a:t>
            </a:r>
            <a:r>
              <a:rPr sz="2133" b="1" dirty="0">
                <a:latin typeface="Times New Roman"/>
                <a:cs typeface="Times New Roman"/>
              </a:rPr>
              <a:t>540B</a:t>
            </a:r>
            <a:r>
              <a:rPr sz="2133" b="1" spc="-13" dirty="0">
                <a:latin typeface="Times New Roman"/>
                <a:cs typeface="Times New Roman"/>
              </a:rPr>
              <a:t> </a:t>
            </a:r>
            <a:r>
              <a:rPr sz="2133" b="1" spc="-7" dirty="0">
                <a:latin typeface="Times New Roman"/>
                <a:cs typeface="Times New Roman"/>
              </a:rPr>
              <a:t>PaLM</a:t>
            </a:r>
            <a:r>
              <a:rPr sz="2133" b="1" spc="-20" dirty="0">
                <a:latin typeface="Times New Roman"/>
                <a:cs typeface="Times New Roman"/>
              </a:rPr>
              <a:t> </a:t>
            </a:r>
            <a:r>
              <a:rPr sz="2133" b="1" dirty="0">
                <a:latin typeface="Times New Roman"/>
                <a:cs typeface="Times New Roman"/>
              </a:rPr>
              <a:t>model.</a:t>
            </a:r>
            <a:endParaRPr sz="2133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47950" y="1165250"/>
            <a:ext cx="4492413" cy="2611119"/>
            <a:chOff x="785962" y="873937"/>
            <a:chExt cx="3369310" cy="1958339"/>
          </a:xfrm>
        </p:grpSpPr>
        <p:sp>
          <p:nvSpPr>
            <p:cNvPr id="3" name="object 3"/>
            <p:cNvSpPr/>
            <p:nvPr/>
          </p:nvSpPr>
          <p:spPr>
            <a:xfrm>
              <a:off x="790724" y="878699"/>
              <a:ext cx="3359785" cy="1948814"/>
            </a:xfrm>
            <a:custGeom>
              <a:avLst/>
              <a:gdLst/>
              <a:ahLst/>
              <a:cxnLst/>
              <a:rect l="l" t="t" r="r" b="b"/>
              <a:pathLst>
                <a:path w="3359785" h="1948814">
                  <a:moveTo>
                    <a:pt x="3034993" y="1948199"/>
                  </a:moveTo>
                  <a:lnTo>
                    <a:pt x="324706" y="1948199"/>
                  </a:lnTo>
                  <a:lnTo>
                    <a:pt x="276723" y="1944679"/>
                  </a:lnTo>
                  <a:lnTo>
                    <a:pt x="230926" y="1934452"/>
                  </a:lnTo>
                  <a:lnTo>
                    <a:pt x="187818" y="1918020"/>
                  </a:lnTo>
                  <a:lnTo>
                    <a:pt x="147900" y="1895887"/>
                  </a:lnTo>
                  <a:lnTo>
                    <a:pt x="111675" y="1868554"/>
                  </a:lnTo>
                  <a:lnTo>
                    <a:pt x="79645" y="1836524"/>
                  </a:lnTo>
                  <a:lnTo>
                    <a:pt x="52312" y="1800299"/>
                  </a:lnTo>
                  <a:lnTo>
                    <a:pt x="30179" y="1760381"/>
                  </a:lnTo>
                  <a:lnTo>
                    <a:pt x="13747" y="1717273"/>
                  </a:lnTo>
                  <a:lnTo>
                    <a:pt x="3520" y="1671476"/>
                  </a:lnTo>
                  <a:lnTo>
                    <a:pt x="0" y="1623493"/>
                  </a:lnTo>
                  <a:lnTo>
                    <a:pt x="0" y="324706"/>
                  </a:lnTo>
                  <a:lnTo>
                    <a:pt x="3520" y="276723"/>
                  </a:lnTo>
                  <a:lnTo>
                    <a:pt x="13747" y="230926"/>
                  </a:lnTo>
                  <a:lnTo>
                    <a:pt x="30179" y="187818"/>
                  </a:lnTo>
                  <a:lnTo>
                    <a:pt x="52312" y="147900"/>
                  </a:lnTo>
                  <a:lnTo>
                    <a:pt x="79645" y="111675"/>
                  </a:lnTo>
                  <a:lnTo>
                    <a:pt x="111675" y="79645"/>
                  </a:lnTo>
                  <a:lnTo>
                    <a:pt x="147900" y="52312"/>
                  </a:lnTo>
                  <a:lnTo>
                    <a:pt x="187818" y="30179"/>
                  </a:lnTo>
                  <a:lnTo>
                    <a:pt x="230926" y="13747"/>
                  </a:lnTo>
                  <a:lnTo>
                    <a:pt x="276723" y="3520"/>
                  </a:lnTo>
                  <a:lnTo>
                    <a:pt x="324706" y="0"/>
                  </a:lnTo>
                  <a:lnTo>
                    <a:pt x="3034993" y="0"/>
                  </a:lnTo>
                  <a:lnTo>
                    <a:pt x="3086095" y="4044"/>
                  </a:lnTo>
                  <a:lnTo>
                    <a:pt x="3135478" y="15939"/>
                  </a:lnTo>
                  <a:lnTo>
                    <a:pt x="3182271" y="35321"/>
                  </a:lnTo>
                  <a:lnTo>
                    <a:pt x="3225600" y="61830"/>
                  </a:lnTo>
                  <a:lnTo>
                    <a:pt x="3264595" y="95104"/>
                  </a:lnTo>
                  <a:lnTo>
                    <a:pt x="3297869" y="134099"/>
                  </a:lnTo>
                  <a:lnTo>
                    <a:pt x="3324378" y="177428"/>
                  </a:lnTo>
                  <a:lnTo>
                    <a:pt x="3343760" y="224221"/>
                  </a:lnTo>
                  <a:lnTo>
                    <a:pt x="3355654" y="273604"/>
                  </a:lnTo>
                  <a:lnTo>
                    <a:pt x="3359699" y="324706"/>
                  </a:lnTo>
                  <a:lnTo>
                    <a:pt x="3359699" y="1623493"/>
                  </a:lnTo>
                  <a:lnTo>
                    <a:pt x="3356179" y="1671476"/>
                  </a:lnTo>
                  <a:lnTo>
                    <a:pt x="3345952" y="1717273"/>
                  </a:lnTo>
                  <a:lnTo>
                    <a:pt x="3329520" y="1760381"/>
                  </a:lnTo>
                  <a:lnTo>
                    <a:pt x="3307387" y="1800299"/>
                  </a:lnTo>
                  <a:lnTo>
                    <a:pt x="3280054" y="1836524"/>
                  </a:lnTo>
                  <a:lnTo>
                    <a:pt x="3248024" y="1868554"/>
                  </a:lnTo>
                  <a:lnTo>
                    <a:pt x="3211799" y="1895887"/>
                  </a:lnTo>
                  <a:lnTo>
                    <a:pt x="3171881" y="1918020"/>
                  </a:lnTo>
                  <a:lnTo>
                    <a:pt x="3128772" y="1934452"/>
                  </a:lnTo>
                  <a:lnTo>
                    <a:pt x="3082976" y="1944679"/>
                  </a:lnTo>
                  <a:lnTo>
                    <a:pt x="3034993" y="1948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0724" y="878699"/>
              <a:ext cx="3359785" cy="1948814"/>
            </a:xfrm>
            <a:custGeom>
              <a:avLst/>
              <a:gdLst/>
              <a:ahLst/>
              <a:cxnLst/>
              <a:rect l="l" t="t" r="r" b="b"/>
              <a:pathLst>
                <a:path w="3359785" h="1948814">
                  <a:moveTo>
                    <a:pt x="0" y="324706"/>
                  </a:moveTo>
                  <a:lnTo>
                    <a:pt x="3520" y="276723"/>
                  </a:lnTo>
                  <a:lnTo>
                    <a:pt x="13747" y="230926"/>
                  </a:lnTo>
                  <a:lnTo>
                    <a:pt x="30179" y="187818"/>
                  </a:lnTo>
                  <a:lnTo>
                    <a:pt x="52312" y="147900"/>
                  </a:lnTo>
                  <a:lnTo>
                    <a:pt x="79645" y="111675"/>
                  </a:lnTo>
                  <a:lnTo>
                    <a:pt x="111675" y="79645"/>
                  </a:lnTo>
                  <a:lnTo>
                    <a:pt x="147900" y="52312"/>
                  </a:lnTo>
                  <a:lnTo>
                    <a:pt x="187818" y="30179"/>
                  </a:lnTo>
                  <a:lnTo>
                    <a:pt x="230926" y="13747"/>
                  </a:lnTo>
                  <a:lnTo>
                    <a:pt x="276723" y="3520"/>
                  </a:lnTo>
                  <a:lnTo>
                    <a:pt x="324706" y="0"/>
                  </a:lnTo>
                  <a:lnTo>
                    <a:pt x="3034993" y="0"/>
                  </a:lnTo>
                  <a:lnTo>
                    <a:pt x="3086095" y="4044"/>
                  </a:lnTo>
                  <a:lnTo>
                    <a:pt x="3135478" y="15939"/>
                  </a:lnTo>
                  <a:lnTo>
                    <a:pt x="3182271" y="35321"/>
                  </a:lnTo>
                  <a:lnTo>
                    <a:pt x="3225600" y="61830"/>
                  </a:lnTo>
                  <a:lnTo>
                    <a:pt x="3264595" y="95104"/>
                  </a:lnTo>
                  <a:lnTo>
                    <a:pt x="3297869" y="134099"/>
                  </a:lnTo>
                  <a:lnTo>
                    <a:pt x="3324378" y="177428"/>
                  </a:lnTo>
                  <a:lnTo>
                    <a:pt x="3343760" y="224221"/>
                  </a:lnTo>
                  <a:lnTo>
                    <a:pt x="3355654" y="273604"/>
                  </a:lnTo>
                  <a:lnTo>
                    <a:pt x="3359699" y="324706"/>
                  </a:lnTo>
                  <a:lnTo>
                    <a:pt x="3359699" y="1623493"/>
                  </a:lnTo>
                  <a:lnTo>
                    <a:pt x="3356179" y="1671476"/>
                  </a:lnTo>
                  <a:lnTo>
                    <a:pt x="3345952" y="1717273"/>
                  </a:lnTo>
                  <a:lnTo>
                    <a:pt x="3329520" y="1760381"/>
                  </a:lnTo>
                  <a:lnTo>
                    <a:pt x="3307387" y="1800299"/>
                  </a:lnTo>
                  <a:lnTo>
                    <a:pt x="3280054" y="1836524"/>
                  </a:lnTo>
                  <a:lnTo>
                    <a:pt x="3248024" y="1868554"/>
                  </a:lnTo>
                  <a:lnTo>
                    <a:pt x="3211799" y="1895887"/>
                  </a:lnTo>
                  <a:lnTo>
                    <a:pt x="3171881" y="1918020"/>
                  </a:lnTo>
                  <a:lnTo>
                    <a:pt x="3128772" y="1934452"/>
                  </a:lnTo>
                  <a:lnTo>
                    <a:pt x="3082976" y="1944679"/>
                  </a:lnTo>
                  <a:lnTo>
                    <a:pt x="3034993" y="1948199"/>
                  </a:lnTo>
                  <a:lnTo>
                    <a:pt x="324706" y="1948199"/>
                  </a:lnTo>
                  <a:lnTo>
                    <a:pt x="276723" y="1944679"/>
                  </a:lnTo>
                  <a:lnTo>
                    <a:pt x="230926" y="1934452"/>
                  </a:lnTo>
                  <a:lnTo>
                    <a:pt x="187818" y="1918020"/>
                  </a:lnTo>
                  <a:lnTo>
                    <a:pt x="147900" y="1895887"/>
                  </a:lnTo>
                  <a:lnTo>
                    <a:pt x="111675" y="1868554"/>
                  </a:lnTo>
                  <a:lnTo>
                    <a:pt x="79645" y="1836524"/>
                  </a:lnTo>
                  <a:lnTo>
                    <a:pt x="52312" y="1800299"/>
                  </a:lnTo>
                  <a:lnTo>
                    <a:pt x="30179" y="1760381"/>
                  </a:lnTo>
                  <a:lnTo>
                    <a:pt x="13747" y="1717273"/>
                  </a:lnTo>
                  <a:lnTo>
                    <a:pt x="3520" y="1671476"/>
                  </a:lnTo>
                  <a:lnTo>
                    <a:pt x="0" y="1623493"/>
                  </a:lnTo>
                  <a:lnTo>
                    <a:pt x="0" y="324706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6651716" y="1165250"/>
            <a:ext cx="4492413" cy="2611119"/>
            <a:chOff x="4988787" y="873937"/>
            <a:chExt cx="3369310" cy="1958339"/>
          </a:xfrm>
        </p:grpSpPr>
        <p:sp>
          <p:nvSpPr>
            <p:cNvPr id="6" name="object 6"/>
            <p:cNvSpPr/>
            <p:nvPr/>
          </p:nvSpPr>
          <p:spPr>
            <a:xfrm>
              <a:off x="4993549" y="878699"/>
              <a:ext cx="3359785" cy="1948814"/>
            </a:xfrm>
            <a:custGeom>
              <a:avLst/>
              <a:gdLst/>
              <a:ahLst/>
              <a:cxnLst/>
              <a:rect l="l" t="t" r="r" b="b"/>
              <a:pathLst>
                <a:path w="3359784" h="1948814">
                  <a:moveTo>
                    <a:pt x="3034993" y="1948199"/>
                  </a:moveTo>
                  <a:lnTo>
                    <a:pt x="324706" y="1948199"/>
                  </a:lnTo>
                  <a:lnTo>
                    <a:pt x="276723" y="1944679"/>
                  </a:lnTo>
                  <a:lnTo>
                    <a:pt x="230927" y="1934452"/>
                  </a:lnTo>
                  <a:lnTo>
                    <a:pt x="187818" y="1918020"/>
                  </a:lnTo>
                  <a:lnTo>
                    <a:pt x="147900" y="1895887"/>
                  </a:lnTo>
                  <a:lnTo>
                    <a:pt x="111675" y="1868554"/>
                  </a:lnTo>
                  <a:lnTo>
                    <a:pt x="79645" y="1836524"/>
                  </a:lnTo>
                  <a:lnTo>
                    <a:pt x="52312" y="1800299"/>
                  </a:lnTo>
                  <a:lnTo>
                    <a:pt x="30179" y="1760381"/>
                  </a:lnTo>
                  <a:lnTo>
                    <a:pt x="13747" y="1717273"/>
                  </a:lnTo>
                  <a:lnTo>
                    <a:pt x="3520" y="1671476"/>
                  </a:lnTo>
                  <a:lnTo>
                    <a:pt x="0" y="1623493"/>
                  </a:lnTo>
                  <a:lnTo>
                    <a:pt x="0" y="324706"/>
                  </a:lnTo>
                  <a:lnTo>
                    <a:pt x="3520" y="276723"/>
                  </a:lnTo>
                  <a:lnTo>
                    <a:pt x="13747" y="230926"/>
                  </a:lnTo>
                  <a:lnTo>
                    <a:pt x="30179" y="187818"/>
                  </a:lnTo>
                  <a:lnTo>
                    <a:pt x="52312" y="147900"/>
                  </a:lnTo>
                  <a:lnTo>
                    <a:pt x="79645" y="111675"/>
                  </a:lnTo>
                  <a:lnTo>
                    <a:pt x="111675" y="79645"/>
                  </a:lnTo>
                  <a:lnTo>
                    <a:pt x="147900" y="52312"/>
                  </a:lnTo>
                  <a:lnTo>
                    <a:pt x="187818" y="30179"/>
                  </a:lnTo>
                  <a:lnTo>
                    <a:pt x="230927" y="13747"/>
                  </a:lnTo>
                  <a:lnTo>
                    <a:pt x="276723" y="3520"/>
                  </a:lnTo>
                  <a:lnTo>
                    <a:pt x="324706" y="0"/>
                  </a:lnTo>
                  <a:lnTo>
                    <a:pt x="3034993" y="0"/>
                  </a:lnTo>
                  <a:lnTo>
                    <a:pt x="3086095" y="4044"/>
                  </a:lnTo>
                  <a:lnTo>
                    <a:pt x="3135478" y="15939"/>
                  </a:lnTo>
                  <a:lnTo>
                    <a:pt x="3182271" y="35321"/>
                  </a:lnTo>
                  <a:lnTo>
                    <a:pt x="3225600" y="61830"/>
                  </a:lnTo>
                  <a:lnTo>
                    <a:pt x="3264594" y="95104"/>
                  </a:lnTo>
                  <a:lnTo>
                    <a:pt x="3297869" y="134099"/>
                  </a:lnTo>
                  <a:lnTo>
                    <a:pt x="3324378" y="177428"/>
                  </a:lnTo>
                  <a:lnTo>
                    <a:pt x="3343760" y="224221"/>
                  </a:lnTo>
                  <a:lnTo>
                    <a:pt x="3355654" y="273604"/>
                  </a:lnTo>
                  <a:lnTo>
                    <a:pt x="3359699" y="324706"/>
                  </a:lnTo>
                  <a:lnTo>
                    <a:pt x="3359699" y="1623493"/>
                  </a:lnTo>
                  <a:lnTo>
                    <a:pt x="3356179" y="1671476"/>
                  </a:lnTo>
                  <a:lnTo>
                    <a:pt x="3345952" y="1717273"/>
                  </a:lnTo>
                  <a:lnTo>
                    <a:pt x="3329521" y="1760381"/>
                  </a:lnTo>
                  <a:lnTo>
                    <a:pt x="3307387" y="1800299"/>
                  </a:lnTo>
                  <a:lnTo>
                    <a:pt x="3280055" y="1836524"/>
                  </a:lnTo>
                  <a:lnTo>
                    <a:pt x="3248024" y="1868554"/>
                  </a:lnTo>
                  <a:lnTo>
                    <a:pt x="3211799" y="1895887"/>
                  </a:lnTo>
                  <a:lnTo>
                    <a:pt x="3171881" y="1918020"/>
                  </a:lnTo>
                  <a:lnTo>
                    <a:pt x="3128773" y="1934452"/>
                  </a:lnTo>
                  <a:lnTo>
                    <a:pt x="3082976" y="1944679"/>
                  </a:lnTo>
                  <a:lnTo>
                    <a:pt x="3034993" y="1948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93549" y="878699"/>
              <a:ext cx="3359785" cy="1948814"/>
            </a:xfrm>
            <a:custGeom>
              <a:avLst/>
              <a:gdLst/>
              <a:ahLst/>
              <a:cxnLst/>
              <a:rect l="l" t="t" r="r" b="b"/>
              <a:pathLst>
                <a:path w="3359784" h="1948814">
                  <a:moveTo>
                    <a:pt x="0" y="324706"/>
                  </a:moveTo>
                  <a:lnTo>
                    <a:pt x="3520" y="276723"/>
                  </a:lnTo>
                  <a:lnTo>
                    <a:pt x="13747" y="230926"/>
                  </a:lnTo>
                  <a:lnTo>
                    <a:pt x="30179" y="187818"/>
                  </a:lnTo>
                  <a:lnTo>
                    <a:pt x="52312" y="147900"/>
                  </a:lnTo>
                  <a:lnTo>
                    <a:pt x="79645" y="111675"/>
                  </a:lnTo>
                  <a:lnTo>
                    <a:pt x="111675" y="79645"/>
                  </a:lnTo>
                  <a:lnTo>
                    <a:pt x="147900" y="52312"/>
                  </a:lnTo>
                  <a:lnTo>
                    <a:pt x="187818" y="30179"/>
                  </a:lnTo>
                  <a:lnTo>
                    <a:pt x="230927" y="13747"/>
                  </a:lnTo>
                  <a:lnTo>
                    <a:pt x="276723" y="3520"/>
                  </a:lnTo>
                  <a:lnTo>
                    <a:pt x="324706" y="0"/>
                  </a:lnTo>
                  <a:lnTo>
                    <a:pt x="3034993" y="0"/>
                  </a:lnTo>
                  <a:lnTo>
                    <a:pt x="3086095" y="4044"/>
                  </a:lnTo>
                  <a:lnTo>
                    <a:pt x="3135478" y="15939"/>
                  </a:lnTo>
                  <a:lnTo>
                    <a:pt x="3182271" y="35321"/>
                  </a:lnTo>
                  <a:lnTo>
                    <a:pt x="3225600" y="61830"/>
                  </a:lnTo>
                  <a:lnTo>
                    <a:pt x="3264594" y="95104"/>
                  </a:lnTo>
                  <a:lnTo>
                    <a:pt x="3297869" y="134099"/>
                  </a:lnTo>
                  <a:lnTo>
                    <a:pt x="3324378" y="177428"/>
                  </a:lnTo>
                  <a:lnTo>
                    <a:pt x="3343760" y="224221"/>
                  </a:lnTo>
                  <a:lnTo>
                    <a:pt x="3355654" y="273604"/>
                  </a:lnTo>
                  <a:lnTo>
                    <a:pt x="3359699" y="324706"/>
                  </a:lnTo>
                  <a:lnTo>
                    <a:pt x="3359699" y="1623493"/>
                  </a:lnTo>
                  <a:lnTo>
                    <a:pt x="3356179" y="1671476"/>
                  </a:lnTo>
                  <a:lnTo>
                    <a:pt x="3345952" y="1717273"/>
                  </a:lnTo>
                  <a:lnTo>
                    <a:pt x="3329521" y="1760381"/>
                  </a:lnTo>
                  <a:lnTo>
                    <a:pt x="3307387" y="1800299"/>
                  </a:lnTo>
                  <a:lnTo>
                    <a:pt x="3280055" y="1836524"/>
                  </a:lnTo>
                  <a:lnTo>
                    <a:pt x="3248024" y="1868554"/>
                  </a:lnTo>
                  <a:lnTo>
                    <a:pt x="3211799" y="1895887"/>
                  </a:lnTo>
                  <a:lnTo>
                    <a:pt x="3171881" y="1918020"/>
                  </a:lnTo>
                  <a:lnTo>
                    <a:pt x="3128773" y="1934452"/>
                  </a:lnTo>
                  <a:lnTo>
                    <a:pt x="3082976" y="1944679"/>
                  </a:lnTo>
                  <a:lnTo>
                    <a:pt x="3034993" y="1948199"/>
                  </a:lnTo>
                  <a:lnTo>
                    <a:pt x="324706" y="1948199"/>
                  </a:lnTo>
                  <a:lnTo>
                    <a:pt x="276723" y="1944679"/>
                  </a:lnTo>
                  <a:lnTo>
                    <a:pt x="230927" y="1934452"/>
                  </a:lnTo>
                  <a:lnTo>
                    <a:pt x="187818" y="1918020"/>
                  </a:lnTo>
                  <a:lnTo>
                    <a:pt x="147900" y="1895887"/>
                  </a:lnTo>
                  <a:lnTo>
                    <a:pt x="111675" y="1868554"/>
                  </a:lnTo>
                  <a:lnTo>
                    <a:pt x="79645" y="1836524"/>
                  </a:lnTo>
                  <a:lnTo>
                    <a:pt x="52312" y="1800299"/>
                  </a:lnTo>
                  <a:lnTo>
                    <a:pt x="30179" y="1760381"/>
                  </a:lnTo>
                  <a:lnTo>
                    <a:pt x="13747" y="1717273"/>
                  </a:lnTo>
                  <a:lnTo>
                    <a:pt x="3520" y="1671476"/>
                  </a:lnTo>
                  <a:lnTo>
                    <a:pt x="0" y="1623493"/>
                  </a:lnTo>
                  <a:lnTo>
                    <a:pt x="0" y="324706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882237" y="1386288"/>
            <a:ext cx="3899747" cy="144832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33578">
              <a:spcBef>
                <a:spcPts val="133"/>
              </a:spcBef>
            </a:pPr>
            <a:r>
              <a:rPr sz="1867" b="1" spc="-7" dirty="0">
                <a:latin typeface="Arial"/>
                <a:cs typeface="Arial"/>
              </a:rPr>
              <a:t>StrategyQA</a:t>
            </a:r>
            <a:r>
              <a:rPr sz="1867" b="1" spc="-93" dirty="0">
                <a:latin typeface="Arial"/>
                <a:cs typeface="Arial"/>
              </a:rPr>
              <a:t> </a:t>
            </a:r>
            <a:r>
              <a:rPr sz="1867" b="1" dirty="0">
                <a:latin typeface="Arial"/>
                <a:cs typeface="Arial"/>
              </a:rPr>
              <a:t>(Geva</a:t>
            </a:r>
            <a:r>
              <a:rPr sz="1867" b="1" spc="-33" dirty="0">
                <a:latin typeface="Arial"/>
                <a:cs typeface="Arial"/>
              </a:rPr>
              <a:t> </a:t>
            </a:r>
            <a:r>
              <a:rPr sz="1867" b="1" spc="-7" dirty="0">
                <a:latin typeface="Arial"/>
                <a:cs typeface="Arial"/>
              </a:rPr>
              <a:t>et</a:t>
            </a:r>
            <a:r>
              <a:rPr sz="1867" b="1" spc="-27" dirty="0">
                <a:latin typeface="Arial"/>
                <a:cs typeface="Arial"/>
              </a:rPr>
              <a:t> </a:t>
            </a:r>
            <a:r>
              <a:rPr sz="1867" b="1" spc="-7" dirty="0">
                <a:latin typeface="Arial"/>
                <a:cs typeface="Arial"/>
              </a:rPr>
              <a:t>al.,</a:t>
            </a:r>
            <a:r>
              <a:rPr sz="1867" b="1" spc="-27" dirty="0">
                <a:latin typeface="Arial"/>
                <a:cs typeface="Arial"/>
              </a:rPr>
              <a:t> </a:t>
            </a:r>
            <a:r>
              <a:rPr sz="1867" b="1" spc="-7" dirty="0">
                <a:latin typeface="Arial"/>
                <a:cs typeface="Arial"/>
              </a:rPr>
              <a:t>2021)</a:t>
            </a:r>
            <a:endParaRPr sz="1867" dirty="0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sz="1933" dirty="0">
              <a:latin typeface="Arial"/>
              <a:cs typeface="Arial"/>
            </a:endParaRPr>
          </a:p>
          <a:p>
            <a:pPr marL="16933" marR="6773">
              <a:lnSpc>
                <a:spcPts val="2200"/>
              </a:lnSpc>
            </a:pPr>
            <a:r>
              <a:rPr sz="1867" spc="-7" dirty="0">
                <a:latin typeface="Arial MT"/>
                <a:cs typeface="Arial MT"/>
              </a:rPr>
              <a:t>Q:</a:t>
            </a:r>
            <a:r>
              <a:rPr sz="1867" spc="473" dirty="0">
                <a:latin typeface="Arial MT"/>
                <a:cs typeface="Arial MT"/>
              </a:rPr>
              <a:t> </a:t>
            </a:r>
            <a:r>
              <a:rPr lang="en-US" sz="1867" spc="-7" dirty="0">
                <a:latin typeface="Arial MT"/>
                <a:cs typeface="Arial MT"/>
              </a:rPr>
              <a:t>Did Aristotle use a laptop?</a:t>
            </a:r>
            <a:endParaRPr sz="1867" dirty="0">
              <a:latin typeface="Arial MT"/>
              <a:cs typeface="Arial MT"/>
            </a:endParaRPr>
          </a:p>
          <a:p>
            <a:pPr>
              <a:spcBef>
                <a:spcPts val="27"/>
              </a:spcBef>
            </a:pPr>
            <a:endParaRPr dirty="0">
              <a:latin typeface="Arial MT"/>
              <a:cs typeface="Arial MT"/>
            </a:endParaRPr>
          </a:p>
          <a:p>
            <a:pPr marL="16933"/>
            <a:r>
              <a:rPr sz="1867" spc="-7" dirty="0">
                <a:latin typeface="Arial MT"/>
                <a:cs typeface="Arial MT"/>
              </a:rPr>
              <a:t>A:</a:t>
            </a:r>
            <a:r>
              <a:rPr sz="1867" spc="-6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The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answer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is </a:t>
            </a:r>
            <a:r>
              <a:rPr lang="en-US" sz="1867" b="1" spc="-7" dirty="0">
                <a:solidFill>
                  <a:srgbClr val="A61B00"/>
                </a:solidFill>
                <a:latin typeface="Arial"/>
                <a:cs typeface="Arial"/>
              </a:rPr>
              <a:t>no</a:t>
            </a:r>
            <a:r>
              <a:rPr sz="1867" b="1" spc="-7" dirty="0">
                <a:solidFill>
                  <a:srgbClr val="A61B00"/>
                </a:solidFill>
                <a:latin typeface="Arial"/>
                <a:cs typeface="Arial"/>
              </a:rPr>
              <a:t>.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13" dirty="0"/>
              <a:t>Commonsense</a:t>
            </a:r>
            <a:r>
              <a:rPr sz="4000" spc="-40" dirty="0"/>
              <a:t> </a:t>
            </a:r>
            <a:r>
              <a:rPr sz="4000" spc="-13" dirty="0"/>
              <a:t>Reasoning</a:t>
            </a:r>
            <a:r>
              <a:rPr sz="4000" spc="-40" dirty="0"/>
              <a:t> </a:t>
            </a:r>
            <a:r>
              <a:rPr sz="4000" dirty="0"/>
              <a:t>-</a:t>
            </a:r>
            <a:r>
              <a:rPr sz="4000" spc="-100" dirty="0"/>
              <a:t> </a:t>
            </a:r>
            <a:r>
              <a:rPr sz="4000" spc="-93" dirty="0"/>
              <a:t>Toy</a:t>
            </a:r>
            <a:r>
              <a:rPr sz="4000" spc="-20" dirty="0"/>
              <a:t> </a:t>
            </a:r>
            <a:r>
              <a:rPr sz="4000" spc="-7" dirty="0"/>
              <a:t>Problems</a:t>
            </a:r>
            <a:endParaRPr sz="400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42</a:t>
            </a:fld>
            <a:endParaRPr dirty="0"/>
          </a:p>
        </p:txBody>
      </p:sp>
      <p:grpSp>
        <p:nvGrpSpPr>
          <p:cNvPr id="10" name="object 10"/>
          <p:cNvGrpSpPr/>
          <p:nvPr/>
        </p:nvGrpSpPr>
        <p:grpSpPr>
          <a:xfrm>
            <a:off x="6651716" y="4104217"/>
            <a:ext cx="4492413" cy="2441785"/>
            <a:chOff x="4988787" y="3078162"/>
            <a:chExt cx="3369310" cy="1831339"/>
          </a:xfrm>
        </p:grpSpPr>
        <p:sp>
          <p:nvSpPr>
            <p:cNvPr id="11" name="object 11"/>
            <p:cNvSpPr/>
            <p:nvPr/>
          </p:nvSpPr>
          <p:spPr>
            <a:xfrm>
              <a:off x="4993549" y="3082925"/>
              <a:ext cx="3359785" cy="1821814"/>
            </a:xfrm>
            <a:custGeom>
              <a:avLst/>
              <a:gdLst/>
              <a:ahLst/>
              <a:cxnLst/>
              <a:rect l="l" t="t" r="r" b="b"/>
              <a:pathLst>
                <a:path w="3359784" h="1821814">
                  <a:moveTo>
                    <a:pt x="3056093" y="1821599"/>
                  </a:moveTo>
                  <a:lnTo>
                    <a:pt x="303606" y="1821599"/>
                  </a:lnTo>
                  <a:lnTo>
                    <a:pt x="254359" y="1817626"/>
                  </a:lnTo>
                  <a:lnTo>
                    <a:pt x="207643" y="1806121"/>
                  </a:lnTo>
                  <a:lnTo>
                    <a:pt x="164081" y="1787712"/>
                  </a:lnTo>
                  <a:lnTo>
                    <a:pt x="124300" y="1763021"/>
                  </a:lnTo>
                  <a:lnTo>
                    <a:pt x="88924" y="1732675"/>
                  </a:lnTo>
                  <a:lnTo>
                    <a:pt x="58578" y="1697299"/>
                  </a:lnTo>
                  <a:lnTo>
                    <a:pt x="33887" y="1657518"/>
                  </a:lnTo>
                  <a:lnTo>
                    <a:pt x="15478" y="1613956"/>
                  </a:lnTo>
                  <a:lnTo>
                    <a:pt x="3973" y="1567240"/>
                  </a:lnTo>
                  <a:lnTo>
                    <a:pt x="0" y="1517993"/>
                  </a:lnTo>
                  <a:lnTo>
                    <a:pt x="0" y="303606"/>
                  </a:lnTo>
                  <a:lnTo>
                    <a:pt x="3973" y="254359"/>
                  </a:lnTo>
                  <a:lnTo>
                    <a:pt x="15478" y="207643"/>
                  </a:lnTo>
                  <a:lnTo>
                    <a:pt x="33887" y="164081"/>
                  </a:lnTo>
                  <a:lnTo>
                    <a:pt x="58578" y="124300"/>
                  </a:lnTo>
                  <a:lnTo>
                    <a:pt x="88924" y="88924"/>
                  </a:lnTo>
                  <a:lnTo>
                    <a:pt x="124300" y="58578"/>
                  </a:lnTo>
                  <a:lnTo>
                    <a:pt x="164081" y="33887"/>
                  </a:lnTo>
                  <a:lnTo>
                    <a:pt x="207643" y="15478"/>
                  </a:lnTo>
                  <a:lnTo>
                    <a:pt x="254359" y="3973"/>
                  </a:lnTo>
                  <a:lnTo>
                    <a:pt x="303606" y="0"/>
                  </a:lnTo>
                  <a:lnTo>
                    <a:pt x="3056093" y="0"/>
                  </a:lnTo>
                  <a:lnTo>
                    <a:pt x="3103875" y="3782"/>
                  </a:lnTo>
                  <a:lnTo>
                    <a:pt x="3150049" y="14903"/>
                  </a:lnTo>
                  <a:lnTo>
                    <a:pt x="3193800" y="33026"/>
                  </a:lnTo>
                  <a:lnTo>
                    <a:pt x="3234314" y="57812"/>
                  </a:lnTo>
                  <a:lnTo>
                    <a:pt x="3270775" y="88924"/>
                  </a:lnTo>
                  <a:lnTo>
                    <a:pt x="3301887" y="125384"/>
                  </a:lnTo>
                  <a:lnTo>
                    <a:pt x="3326674" y="165898"/>
                  </a:lnTo>
                  <a:lnTo>
                    <a:pt x="3344796" y="209650"/>
                  </a:lnTo>
                  <a:lnTo>
                    <a:pt x="3355917" y="255825"/>
                  </a:lnTo>
                  <a:lnTo>
                    <a:pt x="3359699" y="303606"/>
                  </a:lnTo>
                  <a:lnTo>
                    <a:pt x="3359699" y="1517993"/>
                  </a:lnTo>
                  <a:lnTo>
                    <a:pt x="3355726" y="1567240"/>
                  </a:lnTo>
                  <a:lnTo>
                    <a:pt x="3344221" y="1613956"/>
                  </a:lnTo>
                  <a:lnTo>
                    <a:pt x="3325812" y="1657518"/>
                  </a:lnTo>
                  <a:lnTo>
                    <a:pt x="3301121" y="1697299"/>
                  </a:lnTo>
                  <a:lnTo>
                    <a:pt x="3270775" y="1732675"/>
                  </a:lnTo>
                  <a:lnTo>
                    <a:pt x="3235399" y="1763021"/>
                  </a:lnTo>
                  <a:lnTo>
                    <a:pt x="3195618" y="1787712"/>
                  </a:lnTo>
                  <a:lnTo>
                    <a:pt x="3152056" y="1806121"/>
                  </a:lnTo>
                  <a:lnTo>
                    <a:pt x="3105340" y="1817626"/>
                  </a:lnTo>
                  <a:lnTo>
                    <a:pt x="3056093" y="1821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93549" y="3082925"/>
              <a:ext cx="3359785" cy="1821814"/>
            </a:xfrm>
            <a:custGeom>
              <a:avLst/>
              <a:gdLst/>
              <a:ahLst/>
              <a:cxnLst/>
              <a:rect l="l" t="t" r="r" b="b"/>
              <a:pathLst>
                <a:path w="3359784" h="1821814">
                  <a:moveTo>
                    <a:pt x="0" y="303606"/>
                  </a:moveTo>
                  <a:lnTo>
                    <a:pt x="3973" y="254359"/>
                  </a:lnTo>
                  <a:lnTo>
                    <a:pt x="15478" y="207643"/>
                  </a:lnTo>
                  <a:lnTo>
                    <a:pt x="33887" y="164081"/>
                  </a:lnTo>
                  <a:lnTo>
                    <a:pt x="58578" y="124300"/>
                  </a:lnTo>
                  <a:lnTo>
                    <a:pt x="88924" y="88924"/>
                  </a:lnTo>
                  <a:lnTo>
                    <a:pt x="124300" y="58578"/>
                  </a:lnTo>
                  <a:lnTo>
                    <a:pt x="164081" y="33887"/>
                  </a:lnTo>
                  <a:lnTo>
                    <a:pt x="207643" y="15478"/>
                  </a:lnTo>
                  <a:lnTo>
                    <a:pt x="254359" y="3973"/>
                  </a:lnTo>
                  <a:lnTo>
                    <a:pt x="303606" y="0"/>
                  </a:lnTo>
                  <a:lnTo>
                    <a:pt x="3056093" y="0"/>
                  </a:lnTo>
                  <a:lnTo>
                    <a:pt x="3103875" y="3782"/>
                  </a:lnTo>
                  <a:lnTo>
                    <a:pt x="3150049" y="14903"/>
                  </a:lnTo>
                  <a:lnTo>
                    <a:pt x="3193800" y="33026"/>
                  </a:lnTo>
                  <a:lnTo>
                    <a:pt x="3234314" y="57812"/>
                  </a:lnTo>
                  <a:lnTo>
                    <a:pt x="3270775" y="88924"/>
                  </a:lnTo>
                  <a:lnTo>
                    <a:pt x="3301887" y="125384"/>
                  </a:lnTo>
                  <a:lnTo>
                    <a:pt x="3326674" y="165898"/>
                  </a:lnTo>
                  <a:lnTo>
                    <a:pt x="3344796" y="209650"/>
                  </a:lnTo>
                  <a:lnTo>
                    <a:pt x="3355917" y="255825"/>
                  </a:lnTo>
                  <a:lnTo>
                    <a:pt x="3359699" y="303606"/>
                  </a:lnTo>
                  <a:lnTo>
                    <a:pt x="3359699" y="1517993"/>
                  </a:lnTo>
                  <a:lnTo>
                    <a:pt x="3355726" y="1567240"/>
                  </a:lnTo>
                  <a:lnTo>
                    <a:pt x="3344221" y="1613956"/>
                  </a:lnTo>
                  <a:lnTo>
                    <a:pt x="3325812" y="1657518"/>
                  </a:lnTo>
                  <a:lnTo>
                    <a:pt x="3301121" y="1697299"/>
                  </a:lnTo>
                  <a:lnTo>
                    <a:pt x="3270775" y="1732675"/>
                  </a:lnTo>
                  <a:lnTo>
                    <a:pt x="3235399" y="1763021"/>
                  </a:lnTo>
                  <a:lnTo>
                    <a:pt x="3195618" y="1787712"/>
                  </a:lnTo>
                  <a:lnTo>
                    <a:pt x="3152056" y="1806121"/>
                  </a:lnTo>
                  <a:lnTo>
                    <a:pt x="3105340" y="1817626"/>
                  </a:lnTo>
                  <a:lnTo>
                    <a:pt x="3056093" y="1821599"/>
                  </a:lnTo>
                  <a:lnTo>
                    <a:pt x="303606" y="1821599"/>
                  </a:lnTo>
                  <a:lnTo>
                    <a:pt x="254359" y="1817626"/>
                  </a:lnTo>
                  <a:lnTo>
                    <a:pt x="207643" y="1806121"/>
                  </a:lnTo>
                  <a:lnTo>
                    <a:pt x="164081" y="1787712"/>
                  </a:lnTo>
                  <a:lnTo>
                    <a:pt x="124300" y="1763021"/>
                  </a:lnTo>
                  <a:lnTo>
                    <a:pt x="88924" y="1732675"/>
                  </a:lnTo>
                  <a:lnTo>
                    <a:pt x="58578" y="1697299"/>
                  </a:lnTo>
                  <a:lnTo>
                    <a:pt x="33887" y="1657518"/>
                  </a:lnTo>
                  <a:lnTo>
                    <a:pt x="15478" y="1613956"/>
                  </a:lnTo>
                  <a:lnTo>
                    <a:pt x="3973" y="1567240"/>
                  </a:lnTo>
                  <a:lnTo>
                    <a:pt x="0" y="1517993"/>
                  </a:lnTo>
                  <a:lnTo>
                    <a:pt x="0" y="303606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873997" y="4317015"/>
            <a:ext cx="3864187" cy="201258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898291">
              <a:spcBef>
                <a:spcPts val="133"/>
              </a:spcBef>
            </a:pPr>
            <a:r>
              <a:rPr sz="1867" b="1" spc="-7" dirty="0">
                <a:latin typeface="Arial"/>
                <a:cs typeface="Arial"/>
              </a:rPr>
              <a:t>Date</a:t>
            </a:r>
            <a:r>
              <a:rPr sz="1867" b="1" spc="-67" dirty="0">
                <a:latin typeface="Arial"/>
                <a:cs typeface="Arial"/>
              </a:rPr>
              <a:t> </a:t>
            </a:r>
            <a:r>
              <a:rPr sz="1867" b="1" spc="-7" dirty="0">
                <a:latin typeface="Arial"/>
                <a:cs typeface="Arial"/>
              </a:rPr>
              <a:t>Understanding</a:t>
            </a:r>
            <a:endParaRPr sz="1867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sz="1933">
              <a:latin typeface="Arial"/>
              <a:cs typeface="Arial"/>
            </a:endParaRPr>
          </a:p>
          <a:p>
            <a:pPr marL="16933" marR="6773">
              <a:lnSpc>
                <a:spcPts val="2200"/>
              </a:lnSpc>
            </a:pPr>
            <a:r>
              <a:rPr sz="1867" spc="-7" dirty="0">
                <a:latin typeface="Arial MT"/>
                <a:cs typeface="Arial MT"/>
              </a:rPr>
              <a:t>Q: 2015 is </a:t>
            </a:r>
            <a:r>
              <a:rPr sz="1867" dirty="0">
                <a:latin typeface="Arial MT"/>
                <a:cs typeface="Arial MT"/>
              </a:rPr>
              <a:t>coming </a:t>
            </a:r>
            <a:r>
              <a:rPr sz="1867" spc="-7" dirty="0">
                <a:latin typeface="Arial MT"/>
                <a:cs typeface="Arial MT"/>
              </a:rPr>
              <a:t>in 36 hours. What </a:t>
            </a:r>
            <a:r>
              <a:rPr sz="1867" spc="-50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is the date one week from today in </a:t>
            </a:r>
            <a:r>
              <a:rPr sz="1867" dirty="0">
                <a:latin typeface="Arial MT"/>
                <a:cs typeface="Arial MT"/>
              </a:rPr>
              <a:t> MM/DD/YYYY</a:t>
            </a:r>
            <a:endParaRPr sz="1867">
              <a:latin typeface="Arial MT"/>
              <a:cs typeface="Arial MT"/>
            </a:endParaRPr>
          </a:p>
          <a:p>
            <a:pPr>
              <a:spcBef>
                <a:spcPts val="27"/>
              </a:spcBef>
            </a:pPr>
            <a:endParaRPr>
              <a:latin typeface="Arial MT"/>
              <a:cs typeface="Arial MT"/>
            </a:endParaRPr>
          </a:p>
          <a:p>
            <a:pPr marL="16933"/>
            <a:r>
              <a:rPr sz="1867" spc="-7" dirty="0">
                <a:latin typeface="Arial MT"/>
                <a:cs typeface="Arial MT"/>
              </a:rPr>
              <a:t>A: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So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the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answer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is</a:t>
            </a:r>
            <a:r>
              <a:rPr sz="1867" dirty="0">
                <a:latin typeface="Arial MT"/>
                <a:cs typeface="Arial MT"/>
              </a:rPr>
              <a:t> </a:t>
            </a:r>
            <a:r>
              <a:rPr sz="1867" b="1" spc="-7" dirty="0">
                <a:solidFill>
                  <a:srgbClr val="A61B00"/>
                </a:solidFill>
                <a:latin typeface="Arial"/>
                <a:cs typeface="Arial"/>
              </a:rPr>
              <a:t>01/05/2015</a:t>
            </a:r>
            <a:r>
              <a:rPr sz="1867" spc="-7" dirty="0">
                <a:latin typeface="Arial MT"/>
                <a:cs typeface="Arial MT"/>
              </a:rPr>
              <a:t>.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047950" y="4104217"/>
            <a:ext cx="4492413" cy="2441785"/>
            <a:chOff x="785962" y="3078162"/>
            <a:chExt cx="3369310" cy="1831339"/>
          </a:xfrm>
        </p:grpSpPr>
        <p:sp>
          <p:nvSpPr>
            <p:cNvPr id="15" name="object 15"/>
            <p:cNvSpPr/>
            <p:nvPr/>
          </p:nvSpPr>
          <p:spPr>
            <a:xfrm>
              <a:off x="790724" y="3082925"/>
              <a:ext cx="3359785" cy="1821814"/>
            </a:xfrm>
            <a:custGeom>
              <a:avLst/>
              <a:gdLst/>
              <a:ahLst/>
              <a:cxnLst/>
              <a:rect l="l" t="t" r="r" b="b"/>
              <a:pathLst>
                <a:path w="3359785" h="1821814">
                  <a:moveTo>
                    <a:pt x="3056093" y="1821599"/>
                  </a:moveTo>
                  <a:lnTo>
                    <a:pt x="303606" y="1821599"/>
                  </a:lnTo>
                  <a:lnTo>
                    <a:pt x="254359" y="1817626"/>
                  </a:lnTo>
                  <a:lnTo>
                    <a:pt x="207643" y="1806121"/>
                  </a:lnTo>
                  <a:lnTo>
                    <a:pt x="164081" y="1787712"/>
                  </a:lnTo>
                  <a:lnTo>
                    <a:pt x="124300" y="1763021"/>
                  </a:lnTo>
                  <a:lnTo>
                    <a:pt x="88924" y="1732675"/>
                  </a:lnTo>
                  <a:lnTo>
                    <a:pt x="58578" y="1697299"/>
                  </a:lnTo>
                  <a:lnTo>
                    <a:pt x="33887" y="1657518"/>
                  </a:lnTo>
                  <a:lnTo>
                    <a:pt x="15478" y="1613956"/>
                  </a:lnTo>
                  <a:lnTo>
                    <a:pt x="3973" y="1567240"/>
                  </a:lnTo>
                  <a:lnTo>
                    <a:pt x="0" y="1517993"/>
                  </a:lnTo>
                  <a:lnTo>
                    <a:pt x="0" y="303606"/>
                  </a:lnTo>
                  <a:lnTo>
                    <a:pt x="3973" y="254359"/>
                  </a:lnTo>
                  <a:lnTo>
                    <a:pt x="15478" y="207643"/>
                  </a:lnTo>
                  <a:lnTo>
                    <a:pt x="33887" y="164081"/>
                  </a:lnTo>
                  <a:lnTo>
                    <a:pt x="58578" y="124300"/>
                  </a:lnTo>
                  <a:lnTo>
                    <a:pt x="88924" y="88924"/>
                  </a:lnTo>
                  <a:lnTo>
                    <a:pt x="124300" y="58578"/>
                  </a:lnTo>
                  <a:lnTo>
                    <a:pt x="164081" y="33887"/>
                  </a:lnTo>
                  <a:lnTo>
                    <a:pt x="207643" y="15478"/>
                  </a:lnTo>
                  <a:lnTo>
                    <a:pt x="254359" y="3973"/>
                  </a:lnTo>
                  <a:lnTo>
                    <a:pt x="303606" y="0"/>
                  </a:lnTo>
                  <a:lnTo>
                    <a:pt x="3056093" y="0"/>
                  </a:lnTo>
                  <a:lnTo>
                    <a:pt x="3103874" y="3782"/>
                  </a:lnTo>
                  <a:lnTo>
                    <a:pt x="3150049" y="14903"/>
                  </a:lnTo>
                  <a:lnTo>
                    <a:pt x="3193801" y="33026"/>
                  </a:lnTo>
                  <a:lnTo>
                    <a:pt x="3234315" y="57812"/>
                  </a:lnTo>
                  <a:lnTo>
                    <a:pt x="3270775" y="88924"/>
                  </a:lnTo>
                  <a:lnTo>
                    <a:pt x="3301887" y="125384"/>
                  </a:lnTo>
                  <a:lnTo>
                    <a:pt x="3326673" y="165898"/>
                  </a:lnTo>
                  <a:lnTo>
                    <a:pt x="3344796" y="209650"/>
                  </a:lnTo>
                  <a:lnTo>
                    <a:pt x="3355917" y="255825"/>
                  </a:lnTo>
                  <a:lnTo>
                    <a:pt x="3359699" y="303606"/>
                  </a:lnTo>
                  <a:lnTo>
                    <a:pt x="3359699" y="1517993"/>
                  </a:lnTo>
                  <a:lnTo>
                    <a:pt x="3355726" y="1567240"/>
                  </a:lnTo>
                  <a:lnTo>
                    <a:pt x="3344221" y="1613956"/>
                  </a:lnTo>
                  <a:lnTo>
                    <a:pt x="3325812" y="1657518"/>
                  </a:lnTo>
                  <a:lnTo>
                    <a:pt x="3301121" y="1697299"/>
                  </a:lnTo>
                  <a:lnTo>
                    <a:pt x="3270775" y="1732675"/>
                  </a:lnTo>
                  <a:lnTo>
                    <a:pt x="3235399" y="1763021"/>
                  </a:lnTo>
                  <a:lnTo>
                    <a:pt x="3195618" y="1787712"/>
                  </a:lnTo>
                  <a:lnTo>
                    <a:pt x="3152056" y="1806121"/>
                  </a:lnTo>
                  <a:lnTo>
                    <a:pt x="3105340" y="1817626"/>
                  </a:lnTo>
                  <a:lnTo>
                    <a:pt x="3056093" y="1821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90724" y="3082925"/>
              <a:ext cx="3359785" cy="1821814"/>
            </a:xfrm>
            <a:custGeom>
              <a:avLst/>
              <a:gdLst/>
              <a:ahLst/>
              <a:cxnLst/>
              <a:rect l="l" t="t" r="r" b="b"/>
              <a:pathLst>
                <a:path w="3359785" h="1821814">
                  <a:moveTo>
                    <a:pt x="0" y="303606"/>
                  </a:moveTo>
                  <a:lnTo>
                    <a:pt x="3973" y="254359"/>
                  </a:lnTo>
                  <a:lnTo>
                    <a:pt x="15478" y="207643"/>
                  </a:lnTo>
                  <a:lnTo>
                    <a:pt x="33887" y="164081"/>
                  </a:lnTo>
                  <a:lnTo>
                    <a:pt x="58578" y="124300"/>
                  </a:lnTo>
                  <a:lnTo>
                    <a:pt x="88924" y="88924"/>
                  </a:lnTo>
                  <a:lnTo>
                    <a:pt x="124300" y="58578"/>
                  </a:lnTo>
                  <a:lnTo>
                    <a:pt x="164081" y="33887"/>
                  </a:lnTo>
                  <a:lnTo>
                    <a:pt x="207643" y="15478"/>
                  </a:lnTo>
                  <a:lnTo>
                    <a:pt x="254359" y="3973"/>
                  </a:lnTo>
                  <a:lnTo>
                    <a:pt x="303606" y="0"/>
                  </a:lnTo>
                  <a:lnTo>
                    <a:pt x="3056093" y="0"/>
                  </a:lnTo>
                  <a:lnTo>
                    <a:pt x="3103874" y="3782"/>
                  </a:lnTo>
                  <a:lnTo>
                    <a:pt x="3150049" y="14903"/>
                  </a:lnTo>
                  <a:lnTo>
                    <a:pt x="3193801" y="33026"/>
                  </a:lnTo>
                  <a:lnTo>
                    <a:pt x="3234315" y="57812"/>
                  </a:lnTo>
                  <a:lnTo>
                    <a:pt x="3270775" y="88924"/>
                  </a:lnTo>
                  <a:lnTo>
                    <a:pt x="3301887" y="125384"/>
                  </a:lnTo>
                  <a:lnTo>
                    <a:pt x="3326673" y="165898"/>
                  </a:lnTo>
                  <a:lnTo>
                    <a:pt x="3344796" y="209650"/>
                  </a:lnTo>
                  <a:lnTo>
                    <a:pt x="3355917" y="255825"/>
                  </a:lnTo>
                  <a:lnTo>
                    <a:pt x="3359699" y="303606"/>
                  </a:lnTo>
                  <a:lnTo>
                    <a:pt x="3359699" y="1517993"/>
                  </a:lnTo>
                  <a:lnTo>
                    <a:pt x="3355726" y="1567240"/>
                  </a:lnTo>
                  <a:lnTo>
                    <a:pt x="3344221" y="1613956"/>
                  </a:lnTo>
                  <a:lnTo>
                    <a:pt x="3325812" y="1657518"/>
                  </a:lnTo>
                  <a:lnTo>
                    <a:pt x="3301121" y="1697299"/>
                  </a:lnTo>
                  <a:lnTo>
                    <a:pt x="3270775" y="1732675"/>
                  </a:lnTo>
                  <a:lnTo>
                    <a:pt x="3235399" y="1763021"/>
                  </a:lnTo>
                  <a:lnTo>
                    <a:pt x="3195618" y="1787712"/>
                  </a:lnTo>
                  <a:lnTo>
                    <a:pt x="3152056" y="1806121"/>
                  </a:lnTo>
                  <a:lnTo>
                    <a:pt x="3105340" y="1817626"/>
                  </a:lnTo>
                  <a:lnTo>
                    <a:pt x="3056093" y="1821599"/>
                  </a:lnTo>
                  <a:lnTo>
                    <a:pt x="303606" y="1821599"/>
                  </a:lnTo>
                  <a:lnTo>
                    <a:pt x="254359" y="1817626"/>
                  </a:lnTo>
                  <a:lnTo>
                    <a:pt x="207643" y="1806121"/>
                  </a:lnTo>
                  <a:lnTo>
                    <a:pt x="164081" y="1787712"/>
                  </a:lnTo>
                  <a:lnTo>
                    <a:pt x="124300" y="1763021"/>
                  </a:lnTo>
                  <a:lnTo>
                    <a:pt x="88924" y="1732675"/>
                  </a:lnTo>
                  <a:lnTo>
                    <a:pt x="58578" y="1697299"/>
                  </a:lnTo>
                  <a:lnTo>
                    <a:pt x="33887" y="1657518"/>
                  </a:lnTo>
                  <a:lnTo>
                    <a:pt x="15478" y="1613956"/>
                  </a:lnTo>
                  <a:lnTo>
                    <a:pt x="3973" y="1567240"/>
                  </a:lnTo>
                  <a:lnTo>
                    <a:pt x="0" y="1517993"/>
                  </a:lnTo>
                  <a:lnTo>
                    <a:pt x="0" y="303606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270231" y="1386288"/>
            <a:ext cx="3958167" cy="50212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88898" algn="ctr">
              <a:spcBef>
                <a:spcPts val="133"/>
              </a:spcBef>
            </a:pPr>
            <a:r>
              <a:rPr sz="1867" b="1" spc="-7" dirty="0">
                <a:latin typeface="Arial"/>
                <a:cs typeface="Arial"/>
              </a:rPr>
              <a:t>CSQA</a:t>
            </a:r>
            <a:r>
              <a:rPr sz="1867" b="1" spc="-93" dirty="0">
                <a:latin typeface="Arial"/>
                <a:cs typeface="Arial"/>
              </a:rPr>
              <a:t> </a:t>
            </a:r>
            <a:r>
              <a:rPr sz="1867" b="1" spc="-27" dirty="0">
                <a:latin typeface="Arial"/>
                <a:cs typeface="Arial"/>
              </a:rPr>
              <a:t>(Talmor </a:t>
            </a:r>
            <a:r>
              <a:rPr sz="1867" b="1" spc="-7" dirty="0">
                <a:latin typeface="Arial"/>
                <a:cs typeface="Arial"/>
              </a:rPr>
              <a:t>et</a:t>
            </a:r>
            <a:r>
              <a:rPr sz="1867" b="1" spc="-20" dirty="0">
                <a:latin typeface="Arial"/>
                <a:cs typeface="Arial"/>
              </a:rPr>
              <a:t> </a:t>
            </a:r>
            <a:r>
              <a:rPr sz="1867" b="1" spc="-7" dirty="0">
                <a:latin typeface="Arial"/>
                <a:cs typeface="Arial"/>
              </a:rPr>
              <a:t>al.,</a:t>
            </a:r>
            <a:r>
              <a:rPr sz="1867" b="1" spc="-27" dirty="0">
                <a:latin typeface="Arial"/>
                <a:cs typeface="Arial"/>
              </a:rPr>
              <a:t> </a:t>
            </a:r>
            <a:r>
              <a:rPr sz="1867" b="1" spc="-7" dirty="0">
                <a:latin typeface="Arial"/>
                <a:cs typeface="Arial"/>
              </a:rPr>
              <a:t>2019)</a:t>
            </a:r>
            <a:endParaRPr sz="1867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sz="1933">
              <a:latin typeface="Arial"/>
              <a:cs typeface="Arial"/>
            </a:endParaRPr>
          </a:p>
          <a:p>
            <a:pPr marL="24553" marR="882205">
              <a:lnSpc>
                <a:spcPts val="2200"/>
              </a:lnSpc>
            </a:pPr>
            <a:r>
              <a:rPr sz="1867" spc="-7" dirty="0">
                <a:latin typeface="Arial MT"/>
                <a:cs typeface="Arial MT"/>
              </a:rPr>
              <a:t>Q: What home entertainment </a:t>
            </a:r>
            <a:r>
              <a:rPr sz="1867" spc="-50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equipment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requires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cable?</a:t>
            </a:r>
            <a:endParaRPr sz="1867">
              <a:latin typeface="Arial MT"/>
              <a:cs typeface="Arial MT"/>
            </a:endParaRPr>
          </a:p>
          <a:p>
            <a:pPr marL="24553" marR="158323">
              <a:lnSpc>
                <a:spcPts val="2200"/>
              </a:lnSpc>
            </a:pPr>
            <a:r>
              <a:rPr sz="1867" spc="-7" dirty="0">
                <a:latin typeface="Arial MT"/>
                <a:cs typeface="Arial MT"/>
              </a:rPr>
              <a:t>Answer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Choices: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(a)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radio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shack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(b) </a:t>
            </a:r>
            <a:r>
              <a:rPr sz="1867" spc="-50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substation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(c)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television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(d)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cabinet</a:t>
            </a:r>
            <a:endParaRPr sz="1867">
              <a:latin typeface="Arial MT"/>
              <a:cs typeface="Arial MT"/>
            </a:endParaRPr>
          </a:p>
          <a:p>
            <a:pPr>
              <a:spcBef>
                <a:spcPts val="27"/>
              </a:spcBef>
            </a:pPr>
            <a:endParaRPr>
              <a:latin typeface="Arial MT"/>
              <a:cs typeface="Arial MT"/>
            </a:endParaRPr>
          </a:p>
          <a:p>
            <a:pPr marL="24553"/>
            <a:r>
              <a:rPr sz="1867" spc="-7" dirty="0">
                <a:latin typeface="Arial MT"/>
                <a:cs typeface="Arial MT"/>
              </a:rPr>
              <a:t>A:</a:t>
            </a:r>
            <a:r>
              <a:rPr sz="1867" spc="-6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The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answer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is </a:t>
            </a:r>
            <a:r>
              <a:rPr sz="1867" b="1" dirty="0">
                <a:solidFill>
                  <a:srgbClr val="A61B00"/>
                </a:solidFill>
                <a:latin typeface="Arial"/>
                <a:cs typeface="Arial"/>
              </a:rPr>
              <a:t>(c).</a:t>
            </a:r>
            <a:endParaRPr sz="1867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spcBef>
                <a:spcPts val="67"/>
              </a:spcBef>
            </a:pPr>
            <a:endParaRPr sz="2667">
              <a:latin typeface="Arial"/>
              <a:cs typeface="Arial"/>
            </a:endParaRPr>
          </a:p>
          <a:p>
            <a:pPr marL="87204" algn="ctr"/>
            <a:r>
              <a:rPr sz="1867" b="1" spc="-7" dirty="0">
                <a:latin typeface="Arial"/>
                <a:cs typeface="Arial"/>
              </a:rPr>
              <a:t>Sport</a:t>
            </a:r>
            <a:r>
              <a:rPr sz="1867" b="1" spc="-67" dirty="0">
                <a:latin typeface="Arial"/>
                <a:cs typeface="Arial"/>
              </a:rPr>
              <a:t> </a:t>
            </a:r>
            <a:r>
              <a:rPr sz="1867" b="1" spc="-7" dirty="0">
                <a:latin typeface="Arial"/>
                <a:cs typeface="Arial"/>
              </a:rPr>
              <a:t>Understanding</a:t>
            </a:r>
            <a:endParaRPr sz="1867">
              <a:latin typeface="Arial"/>
              <a:cs typeface="Arial"/>
            </a:endParaRPr>
          </a:p>
          <a:p>
            <a:pPr>
              <a:spcBef>
                <a:spcPts val="47"/>
              </a:spcBef>
            </a:pPr>
            <a:endParaRPr sz="1933">
              <a:latin typeface="Arial"/>
              <a:cs typeface="Arial"/>
            </a:endParaRPr>
          </a:p>
          <a:p>
            <a:pPr marL="16933" marR="6773">
              <a:lnSpc>
                <a:spcPts val="2200"/>
              </a:lnSpc>
            </a:pPr>
            <a:r>
              <a:rPr sz="1867" spc="-7" dirty="0">
                <a:latin typeface="Arial MT"/>
                <a:cs typeface="Arial MT"/>
              </a:rPr>
              <a:t>Q:</a:t>
            </a:r>
            <a:r>
              <a:rPr sz="186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Is the following </a:t>
            </a:r>
            <a:r>
              <a:rPr sz="1867" dirty="0">
                <a:latin typeface="Arial MT"/>
                <a:cs typeface="Arial MT"/>
              </a:rPr>
              <a:t>sentence </a:t>
            </a:r>
            <a:r>
              <a:rPr sz="1867" spc="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plausible?</a:t>
            </a:r>
            <a:r>
              <a:rPr sz="1867" spc="-4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“Jamel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Murray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was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perfect </a:t>
            </a:r>
            <a:r>
              <a:rPr sz="1867" spc="-50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from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the line.”</a:t>
            </a:r>
            <a:endParaRPr sz="1867">
              <a:latin typeface="Arial MT"/>
              <a:cs typeface="Arial MT"/>
            </a:endParaRPr>
          </a:p>
          <a:p>
            <a:pPr>
              <a:spcBef>
                <a:spcPts val="20"/>
              </a:spcBef>
            </a:pPr>
            <a:endParaRPr>
              <a:latin typeface="Arial MT"/>
              <a:cs typeface="Arial MT"/>
            </a:endParaRPr>
          </a:p>
          <a:p>
            <a:pPr marL="16933"/>
            <a:r>
              <a:rPr sz="1867" spc="-7" dirty="0">
                <a:latin typeface="Arial MT"/>
                <a:cs typeface="Arial MT"/>
              </a:rPr>
              <a:t>A:</a:t>
            </a:r>
            <a:r>
              <a:rPr sz="1867" spc="-6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The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answer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is </a:t>
            </a:r>
            <a:r>
              <a:rPr sz="1867" b="1" spc="-7" dirty="0">
                <a:solidFill>
                  <a:srgbClr val="A61B00"/>
                </a:solidFill>
                <a:latin typeface="Arial"/>
                <a:cs typeface="Arial"/>
              </a:rPr>
              <a:t>yes.</a:t>
            </a:r>
            <a:endParaRPr sz="1867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9183" y="1037249"/>
            <a:ext cx="11145520" cy="4505960"/>
            <a:chOff x="449387" y="777937"/>
            <a:chExt cx="8359140" cy="3379470"/>
          </a:xfrm>
        </p:grpSpPr>
        <p:sp>
          <p:nvSpPr>
            <p:cNvPr id="3" name="object 3"/>
            <p:cNvSpPr/>
            <p:nvPr/>
          </p:nvSpPr>
          <p:spPr>
            <a:xfrm>
              <a:off x="454149" y="782699"/>
              <a:ext cx="8349615" cy="3369945"/>
            </a:xfrm>
            <a:custGeom>
              <a:avLst/>
              <a:gdLst/>
              <a:ahLst/>
              <a:cxnLst/>
              <a:rect l="l" t="t" r="r" b="b"/>
              <a:pathLst>
                <a:path w="8349615" h="3369945">
                  <a:moveTo>
                    <a:pt x="7787338" y="3369899"/>
                  </a:moveTo>
                  <a:lnTo>
                    <a:pt x="561661" y="3369899"/>
                  </a:lnTo>
                  <a:lnTo>
                    <a:pt x="513198" y="3367838"/>
                  </a:lnTo>
                  <a:lnTo>
                    <a:pt x="465881" y="3361765"/>
                  </a:lnTo>
                  <a:lnTo>
                    <a:pt x="419877" y="3351851"/>
                  </a:lnTo>
                  <a:lnTo>
                    <a:pt x="375355" y="3338262"/>
                  </a:lnTo>
                  <a:lnTo>
                    <a:pt x="332483" y="3321169"/>
                  </a:lnTo>
                  <a:lnTo>
                    <a:pt x="291430" y="3300739"/>
                  </a:lnTo>
                  <a:lnTo>
                    <a:pt x="252366" y="3277141"/>
                  </a:lnTo>
                  <a:lnTo>
                    <a:pt x="215457" y="3250543"/>
                  </a:lnTo>
                  <a:lnTo>
                    <a:pt x="180874" y="3221115"/>
                  </a:lnTo>
                  <a:lnTo>
                    <a:pt x="148783" y="3189025"/>
                  </a:lnTo>
                  <a:lnTo>
                    <a:pt x="119356" y="3154442"/>
                  </a:lnTo>
                  <a:lnTo>
                    <a:pt x="92758" y="3117533"/>
                  </a:lnTo>
                  <a:lnTo>
                    <a:pt x="69160" y="3078469"/>
                  </a:lnTo>
                  <a:lnTo>
                    <a:pt x="48730" y="3037416"/>
                  </a:lnTo>
                  <a:lnTo>
                    <a:pt x="31637" y="2994544"/>
                  </a:lnTo>
                  <a:lnTo>
                    <a:pt x="18048" y="2950022"/>
                  </a:lnTo>
                  <a:lnTo>
                    <a:pt x="8134" y="2904018"/>
                  </a:lnTo>
                  <a:lnTo>
                    <a:pt x="2061" y="2856700"/>
                  </a:lnTo>
                  <a:lnTo>
                    <a:pt x="0" y="2808238"/>
                  </a:lnTo>
                  <a:lnTo>
                    <a:pt x="0" y="561661"/>
                  </a:lnTo>
                  <a:lnTo>
                    <a:pt x="2061" y="513198"/>
                  </a:lnTo>
                  <a:lnTo>
                    <a:pt x="8134" y="465881"/>
                  </a:lnTo>
                  <a:lnTo>
                    <a:pt x="18048" y="419877"/>
                  </a:lnTo>
                  <a:lnTo>
                    <a:pt x="31637" y="375355"/>
                  </a:lnTo>
                  <a:lnTo>
                    <a:pt x="48730" y="332483"/>
                  </a:lnTo>
                  <a:lnTo>
                    <a:pt x="69160" y="291430"/>
                  </a:lnTo>
                  <a:lnTo>
                    <a:pt x="92758" y="252366"/>
                  </a:lnTo>
                  <a:lnTo>
                    <a:pt x="119356" y="215457"/>
                  </a:lnTo>
                  <a:lnTo>
                    <a:pt x="148783" y="180873"/>
                  </a:lnTo>
                  <a:lnTo>
                    <a:pt x="180874" y="148783"/>
                  </a:lnTo>
                  <a:lnTo>
                    <a:pt x="215457" y="119356"/>
                  </a:lnTo>
                  <a:lnTo>
                    <a:pt x="252366" y="92758"/>
                  </a:lnTo>
                  <a:lnTo>
                    <a:pt x="291430" y="69160"/>
                  </a:lnTo>
                  <a:lnTo>
                    <a:pt x="332483" y="48730"/>
                  </a:lnTo>
                  <a:lnTo>
                    <a:pt x="375355" y="31637"/>
                  </a:lnTo>
                  <a:lnTo>
                    <a:pt x="419877" y="18048"/>
                  </a:lnTo>
                  <a:lnTo>
                    <a:pt x="465881" y="8134"/>
                  </a:lnTo>
                  <a:lnTo>
                    <a:pt x="513198" y="2061"/>
                  </a:lnTo>
                  <a:lnTo>
                    <a:pt x="561661" y="0"/>
                  </a:lnTo>
                  <a:lnTo>
                    <a:pt x="7787338" y="0"/>
                  </a:lnTo>
                  <a:lnTo>
                    <a:pt x="7836723" y="2173"/>
                  </a:lnTo>
                  <a:lnTo>
                    <a:pt x="7885397" y="8623"/>
                  </a:lnTo>
                  <a:lnTo>
                    <a:pt x="7933102" y="19242"/>
                  </a:lnTo>
                  <a:lnTo>
                    <a:pt x="7979579" y="33923"/>
                  </a:lnTo>
                  <a:lnTo>
                    <a:pt x="8024570" y="52559"/>
                  </a:lnTo>
                  <a:lnTo>
                    <a:pt x="8067815" y="75042"/>
                  </a:lnTo>
                  <a:lnTo>
                    <a:pt x="8109056" y="101266"/>
                  </a:lnTo>
                  <a:lnTo>
                    <a:pt x="8148035" y="131123"/>
                  </a:lnTo>
                  <a:lnTo>
                    <a:pt x="8184492" y="164506"/>
                  </a:lnTo>
                  <a:lnTo>
                    <a:pt x="8217876" y="200964"/>
                  </a:lnTo>
                  <a:lnTo>
                    <a:pt x="8247733" y="239942"/>
                  </a:lnTo>
                  <a:lnTo>
                    <a:pt x="8273957" y="281184"/>
                  </a:lnTo>
                  <a:lnTo>
                    <a:pt x="8296440" y="324429"/>
                  </a:lnTo>
                  <a:lnTo>
                    <a:pt x="8315076" y="369420"/>
                  </a:lnTo>
                  <a:lnTo>
                    <a:pt x="8329757" y="415897"/>
                  </a:lnTo>
                  <a:lnTo>
                    <a:pt x="8340376" y="463602"/>
                  </a:lnTo>
                  <a:lnTo>
                    <a:pt x="8346826" y="512276"/>
                  </a:lnTo>
                  <a:lnTo>
                    <a:pt x="8348999" y="561661"/>
                  </a:lnTo>
                  <a:lnTo>
                    <a:pt x="8348999" y="2808238"/>
                  </a:lnTo>
                  <a:lnTo>
                    <a:pt x="8346938" y="2856700"/>
                  </a:lnTo>
                  <a:lnTo>
                    <a:pt x="8340865" y="2904018"/>
                  </a:lnTo>
                  <a:lnTo>
                    <a:pt x="8330951" y="2950022"/>
                  </a:lnTo>
                  <a:lnTo>
                    <a:pt x="8317362" y="2994544"/>
                  </a:lnTo>
                  <a:lnTo>
                    <a:pt x="8300269" y="3037416"/>
                  </a:lnTo>
                  <a:lnTo>
                    <a:pt x="8279839" y="3078469"/>
                  </a:lnTo>
                  <a:lnTo>
                    <a:pt x="8256241" y="3117533"/>
                  </a:lnTo>
                  <a:lnTo>
                    <a:pt x="8229643" y="3154442"/>
                  </a:lnTo>
                  <a:lnTo>
                    <a:pt x="8200216" y="3189025"/>
                  </a:lnTo>
                  <a:lnTo>
                    <a:pt x="8168126" y="3221115"/>
                  </a:lnTo>
                  <a:lnTo>
                    <a:pt x="8133542" y="3250543"/>
                  </a:lnTo>
                  <a:lnTo>
                    <a:pt x="8096634" y="3277141"/>
                  </a:lnTo>
                  <a:lnTo>
                    <a:pt x="8057569" y="3300739"/>
                  </a:lnTo>
                  <a:lnTo>
                    <a:pt x="8016516" y="3321169"/>
                  </a:lnTo>
                  <a:lnTo>
                    <a:pt x="7973645" y="3338262"/>
                  </a:lnTo>
                  <a:lnTo>
                    <a:pt x="7929122" y="3351851"/>
                  </a:lnTo>
                  <a:lnTo>
                    <a:pt x="7883118" y="3361765"/>
                  </a:lnTo>
                  <a:lnTo>
                    <a:pt x="7835801" y="3367838"/>
                  </a:lnTo>
                  <a:lnTo>
                    <a:pt x="7787338" y="3369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54149" y="782699"/>
              <a:ext cx="8349615" cy="3369945"/>
            </a:xfrm>
            <a:custGeom>
              <a:avLst/>
              <a:gdLst/>
              <a:ahLst/>
              <a:cxnLst/>
              <a:rect l="l" t="t" r="r" b="b"/>
              <a:pathLst>
                <a:path w="8349615" h="3369945">
                  <a:moveTo>
                    <a:pt x="0" y="561661"/>
                  </a:moveTo>
                  <a:lnTo>
                    <a:pt x="2061" y="513198"/>
                  </a:lnTo>
                  <a:lnTo>
                    <a:pt x="8134" y="465881"/>
                  </a:lnTo>
                  <a:lnTo>
                    <a:pt x="18048" y="419877"/>
                  </a:lnTo>
                  <a:lnTo>
                    <a:pt x="31637" y="375355"/>
                  </a:lnTo>
                  <a:lnTo>
                    <a:pt x="48730" y="332483"/>
                  </a:lnTo>
                  <a:lnTo>
                    <a:pt x="69160" y="291430"/>
                  </a:lnTo>
                  <a:lnTo>
                    <a:pt x="92758" y="252366"/>
                  </a:lnTo>
                  <a:lnTo>
                    <a:pt x="119356" y="215457"/>
                  </a:lnTo>
                  <a:lnTo>
                    <a:pt x="148783" y="180873"/>
                  </a:lnTo>
                  <a:lnTo>
                    <a:pt x="180874" y="148783"/>
                  </a:lnTo>
                  <a:lnTo>
                    <a:pt x="215457" y="119356"/>
                  </a:lnTo>
                  <a:lnTo>
                    <a:pt x="252366" y="92758"/>
                  </a:lnTo>
                  <a:lnTo>
                    <a:pt x="291430" y="69160"/>
                  </a:lnTo>
                  <a:lnTo>
                    <a:pt x="332483" y="48730"/>
                  </a:lnTo>
                  <a:lnTo>
                    <a:pt x="375355" y="31637"/>
                  </a:lnTo>
                  <a:lnTo>
                    <a:pt x="419877" y="18048"/>
                  </a:lnTo>
                  <a:lnTo>
                    <a:pt x="465881" y="8134"/>
                  </a:lnTo>
                  <a:lnTo>
                    <a:pt x="513198" y="2061"/>
                  </a:lnTo>
                  <a:lnTo>
                    <a:pt x="561661" y="0"/>
                  </a:lnTo>
                  <a:lnTo>
                    <a:pt x="7787338" y="0"/>
                  </a:lnTo>
                  <a:lnTo>
                    <a:pt x="7836723" y="2173"/>
                  </a:lnTo>
                  <a:lnTo>
                    <a:pt x="7885398" y="8623"/>
                  </a:lnTo>
                  <a:lnTo>
                    <a:pt x="7933102" y="19242"/>
                  </a:lnTo>
                  <a:lnTo>
                    <a:pt x="7979579" y="33923"/>
                  </a:lnTo>
                  <a:lnTo>
                    <a:pt x="8024570" y="52559"/>
                  </a:lnTo>
                  <a:lnTo>
                    <a:pt x="8067815" y="75042"/>
                  </a:lnTo>
                  <a:lnTo>
                    <a:pt x="8109056" y="101266"/>
                  </a:lnTo>
                  <a:lnTo>
                    <a:pt x="8148035" y="131123"/>
                  </a:lnTo>
                  <a:lnTo>
                    <a:pt x="8184492" y="164506"/>
                  </a:lnTo>
                  <a:lnTo>
                    <a:pt x="8217876" y="200964"/>
                  </a:lnTo>
                  <a:lnTo>
                    <a:pt x="8247733" y="239942"/>
                  </a:lnTo>
                  <a:lnTo>
                    <a:pt x="8273957" y="281184"/>
                  </a:lnTo>
                  <a:lnTo>
                    <a:pt x="8296440" y="324429"/>
                  </a:lnTo>
                  <a:lnTo>
                    <a:pt x="8315076" y="369420"/>
                  </a:lnTo>
                  <a:lnTo>
                    <a:pt x="8329757" y="415897"/>
                  </a:lnTo>
                  <a:lnTo>
                    <a:pt x="8340376" y="463602"/>
                  </a:lnTo>
                  <a:lnTo>
                    <a:pt x="8346826" y="512276"/>
                  </a:lnTo>
                  <a:lnTo>
                    <a:pt x="8348999" y="561661"/>
                  </a:lnTo>
                  <a:lnTo>
                    <a:pt x="8348999" y="2808238"/>
                  </a:lnTo>
                  <a:lnTo>
                    <a:pt x="8346938" y="2856700"/>
                  </a:lnTo>
                  <a:lnTo>
                    <a:pt x="8340865" y="2904018"/>
                  </a:lnTo>
                  <a:lnTo>
                    <a:pt x="8330951" y="2950022"/>
                  </a:lnTo>
                  <a:lnTo>
                    <a:pt x="8317362" y="2994544"/>
                  </a:lnTo>
                  <a:lnTo>
                    <a:pt x="8300269" y="3037416"/>
                  </a:lnTo>
                  <a:lnTo>
                    <a:pt x="8279839" y="3078469"/>
                  </a:lnTo>
                  <a:lnTo>
                    <a:pt x="8256241" y="3117533"/>
                  </a:lnTo>
                  <a:lnTo>
                    <a:pt x="8229644" y="3154442"/>
                  </a:lnTo>
                  <a:lnTo>
                    <a:pt x="8200216" y="3189025"/>
                  </a:lnTo>
                  <a:lnTo>
                    <a:pt x="8168126" y="3221115"/>
                  </a:lnTo>
                  <a:lnTo>
                    <a:pt x="8133542" y="3250543"/>
                  </a:lnTo>
                  <a:lnTo>
                    <a:pt x="8096634" y="3277141"/>
                  </a:lnTo>
                  <a:lnTo>
                    <a:pt x="8057569" y="3300739"/>
                  </a:lnTo>
                  <a:lnTo>
                    <a:pt x="8016516" y="3321169"/>
                  </a:lnTo>
                  <a:lnTo>
                    <a:pt x="7973645" y="3338262"/>
                  </a:lnTo>
                  <a:lnTo>
                    <a:pt x="7929122" y="3351851"/>
                  </a:lnTo>
                  <a:lnTo>
                    <a:pt x="7883118" y="3361765"/>
                  </a:lnTo>
                  <a:lnTo>
                    <a:pt x="7835801" y="3367838"/>
                  </a:lnTo>
                  <a:lnTo>
                    <a:pt x="7787338" y="3369899"/>
                  </a:lnTo>
                  <a:lnTo>
                    <a:pt x="561661" y="3369899"/>
                  </a:lnTo>
                  <a:lnTo>
                    <a:pt x="513198" y="3367838"/>
                  </a:lnTo>
                  <a:lnTo>
                    <a:pt x="465881" y="3361765"/>
                  </a:lnTo>
                  <a:lnTo>
                    <a:pt x="419877" y="3351851"/>
                  </a:lnTo>
                  <a:lnTo>
                    <a:pt x="375355" y="3338262"/>
                  </a:lnTo>
                  <a:lnTo>
                    <a:pt x="332483" y="3321169"/>
                  </a:lnTo>
                  <a:lnTo>
                    <a:pt x="291430" y="3300739"/>
                  </a:lnTo>
                  <a:lnTo>
                    <a:pt x="252366" y="3277141"/>
                  </a:lnTo>
                  <a:lnTo>
                    <a:pt x="215457" y="3250543"/>
                  </a:lnTo>
                  <a:lnTo>
                    <a:pt x="180874" y="3221115"/>
                  </a:lnTo>
                  <a:lnTo>
                    <a:pt x="148783" y="3189025"/>
                  </a:lnTo>
                  <a:lnTo>
                    <a:pt x="119356" y="3154442"/>
                  </a:lnTo>
                  <a:lnTo>
                    <a:pt x="92758" y="3117533"/>
                  </a:lnTo>
                  <a:lnTo>
                    <a:pt x="69160" y="3078469"/>
                  </a:lnTo>
                  <a:lnTo>
                    <a:pt x="48730" y="3037416"/>
                  </a:lnTo>
                  <a:lnTo>
                    <a:pt x="31637" y="2994544"/>
                  </a:lnTo>
                  <a:lnTo>
                    <a:pt x="18048" y="2950022"/>
                  </a:lnTo>
                  <a:lnTo>
                    <a:pt x="8134" y="2904018"/>
                  </a:lnTo>
                  <a:lnTo>
                    <a:pt x="2061" y="2856700"/>
                  </a:lnTo>
                  <a:lnTo>
                    <a:pt x="0" y="2808238"/>
                  </a:lnTo>
                  <a:lnTo>
                    <a:pt x="0" y="561661"/>
                  </a:lnTo>
                  <a:close/>
                </a:path>
              </a:pathLst>
            </a:custGeom>
            <a:ln w="9524">
              <a:solidFill>
                <a:srgbClr val="2222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22239" y="1350824"/>
            <a:ext cx="10455487" cy="402627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9792" algn="ctr">
              <a:spcBef>
                <a:spcPts val="133"/>
              </a:spcBef>
            </a:pPr>
            <a:r>
              <a:rPr sz="1867" b="1" spc="-7" dirty="0">
                <a:latin typeface="Arial"/>
                <a:cs typeface="Arial"/>
              </a:rPr>
              <a:t>SayCan</a:t>
            </a:r>
            <a:r>
              <a:rPr sz="1867" b="1" spc="-47" dirty="0">
                <a:latin typeface="Arial"/>
                <a:cs typeface="Arial"/>
              </a:rPr>
              <a:t> </a:t>
            </a:r>
            <a:r>
              <a:rPr sz="1867" b="1" spc="-7" dirty="0">
                <a:latin typeface="Arial"/>
                <a:cs typeface="Arial"/>
              </a:rPr>
              <a:t>Robot</a:t>
            </a:r>
            <a:r>
              <a:rPr sz="1867" b="1" spc="-47" dirty="0">
                <a:latin typeface="Arial"/>
                <a:cs typeface="Arial"/>
              </a:rPr>
              <a:t> </a:t>
            </a:r>
            <a:r>
              <a:rPr sz="1867" b="1" spc="-7" dirty="0">
                <a:latin typeface="Arial"/>
                <a:cs typeface="Arial"/>
              </a:rPr>
              <a:t>Planning</a:t>
            </a:r>
            <a:endParaRPr sz="1867"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1867">
              <a:latin typeface="Arial"/>
              <a:cs typeface="Arial"/>
            </a:endParaRPr>
          </a:p>
          <a:p>
            <a:pPr marL="16933"/>
            <a:r>
              <a:rPr sz="1867" i="1" spc="-7" dirty="0">
                <a:latin typeface="Arial"/>
                <a:cs typeface="Arial"/>
              </a:rPr>
              <a:t>Locations</a:t>
            </a:r>
            <a:r>
              <a:rPr sz="1867" i="1" spc="-20" dirty="0">
                <a:latin typeface="Arial"/>
                <a:cs typeface="Arial"/>
              </a:rPr>
              <a:t> </a:t>
            </a:r>
            <a:r>
              <a:rPr sz="1867" dirty="0">
                <a:latin typeface="Arial MT"/>
                <a:cs typeface="Arial MT"/>
              </a:rPr>
              <a:t>=</a:t>
            </a:r>
            <a:r>
              <a:rPr sz="1867" spc="-20" dirty="0">
                <a:latin typeface="Arial MT"/>
                <a:cs typeface="Arial MT"/>
              </a:rPr>
              <a:t> [counter,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table,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27" dirty="0">
                <a:latin typeface="Arial MT"/>
                <a:cs typeface="Arial MT"/>
              </a:rPr>
              <a:t>user,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trash,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bowl].</a:t>
            </a:r>
            <a:endParaRPr sz="1867">
              <a:latin typeface="Arial MT"/>
              <a:cs typeface="Arial MT"/>
            </a:endParaRPr>
          </a:p>
          <a:p>
            <a:pPr>
              <a:spcBef>
                <a:spcPts val="40"/>
              </a:spcBef>
            </a:pPr>
            <a:endParaRPr sz="1933">
              <a:latin typeface="Arial MT"/>
              <a:cs typeface="Arial MT"/>
            </a:endParaRPr>
          </a:p>
          <a:p>
            <a:pPr marL="16933" marR="6773">
              <a:lnSpc>
                <a:spcPts val="2200"/>
              </a:lnSpc>
            </a:pPr>
            <a:r>
              <a:rPr sz="1867" i="1" spc="-7" dirty="0">
                <a:latin typeface="Arial"/>
                <a:cs typeface="Arial"/>
              </a:rPr>
              <a:t>Objects </a:t>
            </a:r>
            <a:r>
              <a:rPr sz="1867" dirty="0">
                <a:latin typeface="Arial MT"/>
                <a:cs typeface="Arial MT"/>
              </a:rPr>
              <a:t>= </a:t>
            </a:r>
            <a:r>
              <a:rPr sz="1867" spc="-7" dirty="0">
                <a:latin typeface="Arial MT"/>
                <a:cs typeface="Arial MT"/>
              </a:rPr>
              <a:t>[7up, apple, </a:t>
            </a:r>
            <a:r>
              <a:rPr sz="1867" dirty="0">
                <a:latin typeface="Arial MT"/>
                <a:cs typeface="Arial MT"/>
              </a:rPr>
              <a:t>kettle chips, </a:t>
            </a:r>
            <a:r>
              <a:rPr sz="1867" spc="-7" dirty="0">
                <a:latin typeface="Arial MT"/>
                <a:cs typeface="Arial MT"/>
              </a:rPr>
              <a:t>tea, </a:t>
            </a:r>
            <a:r>
              <a:rPr sz="1867" dirty="0">
                <a:latin typeface="Arial MT"/>
                <a:cs typeface="Arial MT"/>
              </a:rPr>
              <a:t>multigrain chips, coke, </a:t>
            </a:r>
            <a:r>
              <a:rPr sz="1867" spc="-7" dirty="0">
                <a:latin typeface="Arial MT"/>
                <a:cs typeface="Arial MT"/>
              </a:rPr>
              <a:t>lime </a:t>
            </a:r>
            <a:r>
              <a:rPr sz="1867" dirty="0">
                <a:latin typeface="Arial MT"/>
                <a:cs typeface="Arial MT"/>
              </a:rPr>
              <a:t>soda, </a:t>
            </a:r>
            <a:r>
              <a:rPr sz="1867" spc="-7" dirty="0">
                <a:latin typeface="Arial MT"/>
                <a:cs typeface="Arial MT"/>
              </a:rPr>
              <a:t>jalapeno </a:t>
            </a:r>
            <a:r>
              <a:rPr sz="1867" dirty="0">
                <a:latin typeface="Arial MT"/>
                <a:cs typeface="Arial MT"/>
              </a:rPr>
              <a:t>chips, rice chips, </a:t>
            </a:r>
            <a:r>
              <a:rPr sz="1867" spc="-50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orange,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grapefruit </a:t>
            </a:r>
            <a:r>
              <a:rPr sz="1867" dirty="0">
                <a:latin typeface="Arial MT"/>
                <a:cs typeface="Arial MT"/>
              </a:rPr>
              <a:t>soda,</a:t>
            </a:r>
            <a:r>
              <a:rPr sz="1867" spc="-7" dirty="0">
                <a:latin typeface="Arial MT"/>
                <a:cs typeface="Arial MT"/>
              </a:rPr>
              <a:t> pepsi, </a:t>
            </a:r>
            <a:r>
              <a:rPr sz="1867" dirty="0">
                <a:latin typeface="Arial MT"/>
                <a:cs typeface="Arial MT"/>
              </a:rPr>
              <a:t>redbull,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energy </a:t>
            </a:r>
            <a:r>
              <a:rPr sz="1867" spc="-33" dirty="0">
                <a:latin typeface="Arial MT"/>
                <a:cs typeface="Arial MT"/>
              </a:rPr>
              <a:t>bar,</a:t>
            </a:r>
            <a:r>
              <a:rPr sz="1867" spc="-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sponge,</a:t>
            </a:r>
            <a:r>
              <a:rPr sz="1867" spc="-7" dirty="0">
                <a:latin typeface="Arial MT"/>
                <a:cs typeface="Arial MT"/>
              </a:rPr>
              <a:t> water].</a:t>
            </a:r>
            <a:endParaRPr sz="1867">
              <a:latin typeface="Arial MT"/>
              <a:cs typeface="Arial MT"/>
            </a:endParaRPr>
          </a:p>
          <a:p>
            <a:pPr>
              <a:spcBef>
                <a:spcPts val="53"/>
              </a:spcBef>
            </a:pPr>
            <a:endParaRPr sz="1867">
              <a:latin typeface="Arial MT"/>
              <a:cs typeface="Arial MT"/>
            </a:endParaRPr>
          </a:p>
          <a:p>
            <a:pPr marL="16933" marR="184569">
              <a:lnSpc>
                <a:spcPts val="2200"/>
              </a:lnSpc>
            </a:pPr>
            <a:r>
              <a:rPr sz="1867" spc="-7" dirty="0">
                <a:latin typeface="Arial MT"/>
                <a:cs typeface="Arial MT"/>
              </a:rPr>
              <a:t>The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robot</a:t>
            </a:r>
            <a:r>
              <a:rPr sz="1867" spc="-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can</a:t>
            </a:r>
            <a:r>
              <a:rPr sz="1867" spc="-7" dirty="0">
                <a:latin typeface="Arial MT"/>
                <a:cs typeface="Arial MT"/>
              </a:rPr>
              <a:t> pick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up items with</a:t>
            </a:r>
            <a:r>
              <a:rPr sz="1867" spc="7" dirty="0">
                <a:latin typeface="Arial MT"/>
                <a:cs typeface="Arial MT"/>
              </a:rPr>
              <a:t> </a:t>
            </a:r>
            <a:r>
              <a:rPr sz="1867" b="1" spc="-7" dirty="0">
                <a:latin typeface="Arial"/>
                <a:cs typeface="Arial"/>
              </a:rPr>
              <a:t>pick(object)</a:t>
            </a:r>
            <a:r>
              <a:rPr sz="1867" b="1" dirty="0">
                <a:latin typeface="Arial"/>
                <a:cs typeface="Arial"/>
              </a:rPr>
              <a:t> </a:t>
            </a:r>
            <a:r>
              <a:rPr sz="1867" spc="-7" dirty="0">
                <a:latin typeface="Arial MT"/>
                <a:cs typeface="Arial MT"/>
              </a:rPr>
              <a:t>and put down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items with</a:t>
            </a:r>
            <a:r>
              <a:rPr sz="1867" spc="7" dirty="0">
                <a:latin typeface="Arial MT"/>
                <a:cs typeface="Arial MT"/>
              </a:rPr>
              <a:t> </a:t>
            </a:r>
            <a:r>
              <a:rPr sz="1867" b="1" spc="-7" dirty="0">
                <a:latin typeface="Arial"/>
                <a:cs typeface="Arial"/>
              </a:rPr>
              <a:t>put(object)</a:t>
            </a:r>
            <a:r>
              <a:rPr sz="1867" b="1" spc="7" dirty="0">
                <a:latin typeface="Arial"/>
                <a:cs typeface="Arial"/>
              </a:rPr>
              <a:t> </a:t>
            </a:r>
            <a:r>
              <a:rPr sz="1867" spc="-7" dirty="0">
                <a:latin typeface="Arial MT"/>
                <a:cs typeface="Arial MT"/>
              </a:rPr>
              <a:t>as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well as find </a:t>
            </a:r>
            <a:r>
              <a:rPr sz="1867" spc="-50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objects or locations with </a:t>
            </a:r>
            <a:r>
              <a:rPr sz="1867" b="1" spc="-7" dirty="0">
                <a:latin typeface="Arial"/>
                <a:cs typeface="Arial"/>
              </a:rPr>
              <a:t>find()</a:t>
            </a:r>
            <a:r>
              <a:rPr sz="1867" spc="-7" dirty="0">
                <a:latin typeface="Arial MT"/>
                <a:cs typeface="Arial MT"/>
              </a:rPr>
              <a:t>. The </a:t>
            </a:r>
            <a:r>
              <a:rPr sz="1867" dirty="0">
                <a:latin typeface="Arial MT"/>
                <a:cs typeface="Arial MT"/>
              </a:rPr>
              <a:t>robot can </a:t>
            </a:r>
            <a:r>
              <a:rPr sz="1867" spc="-7" dirty="0">
                <a:latin typeface="Arial MT"/>
                <a:cs typeface="Arial MT"/>
              </a:rPr>
              <a:t>only understand the explicit locations and objects </a:t>
            </a:r>
            <a:r>
              <a:rPr sz="186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listed.</a:t>
            </a:r>
            <a:endParaRPr sz="1867">
              <a:latin typeface="Arial MT"/>
              <a:cs typeface="Arial MT"/>
            </a:endParaRPr>
          </a:p>
          <a:p>
            <a:pPr>
              <a:spcBef>
                <a:spcPts val="27"/>
              </a:spcBef>
            </a:pPr>
            <a:endParaRPr>
              <a:latin typeface="Arial MT"/>
              <a:cs typeface="Arial MT"/>
            </a:endParaRPr>
          </a:p>
          <a:p>
            <a:pPr marL="16933"/>
            <a:r>
              <a:rPr sz="1867" b="1" spc="-7" dirty="0">
                <a:solidFill>
                  <a:srgbClr val="3C78D8"/>
                </a:solidFill>
                <a:latin typeface="Arial"/>
                <a:cs typeface="Arial"/>
              </a:rPr>
              <a:t>Human</a:t>
            </a:r>
            <a:r>
              <a:rPr sz="1867" spc="-7" dirty="0">
                <a:latin typeface="Arial MT"/>
                <a:cs typeface="Arial MT"/>
              </a:rPr>
              <a:t>: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How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would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you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throw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away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a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redbull?</a:t>
            </a:r>
            <a:endParaRPr sz="1867">
              <a:latin typeface="Arial MT"/>
              <a:cs typeface="Arial MT"/>
            </a:endParaRPr>
          </a:p>
          <a:p>
            <a:pPr>
              <a:spcBef>
                <a:spcPts val="13"/>
              </a:spcBef>
            </a:pPr>
            <a:endParaRPr sz="1867">
              <a:latin typeface="Arial MT"/>
              <a:cs typeface="Arial MT"/>
            </a:endParaRPr>
          </a:p>
          <a:p>
            <a:pPr marL="16933"/>
            <a:r>
              <a:rPr sz="1867" b="1" spc="-7" dirty="0">
                <a:latin typeface="Arial"/>
                <a:cs typeface="Arial"/>
              </a:rPr>
              <a:t>Plan</a:t>
            </a:r>
            <a:r>
              <a:rPr sz="1867" spc="-7" dirty="0">
                <a:latin typeface="Arial MT"/>
                <a:cs typeface="Arial MT"/>
              </a:rPr>
              <a:t>: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b="1" spc="-7" dirty="0">
                <a:solidFill>
                  <a:srgbClr val="990000"/>
                </a:solidFill>
                <a:latin typeface="Arial"/>
                <a:cs typeface="Arial"/>
              </a:rPr>
              <a:t>1.</a:t>
            </a:r>
            <a:r>
              <a:rPr sz="1867" b="1" spc="-13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990000"/>
                </a:solidFill>
                <a:latin typeface="Arial"/>
                <a:cs typeface="Arial"/>
              </a:rPr>
              <a:t>find(redbull),</a:t>
            </a:r>
            <a:r>
              <a:rPr sz="1867" b="1" spc="-13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990000"/>
                </a:solidFill>
                <a:latin typeface="Arial"/>
                <a:cs typeface="Arial"/>
              </a:rPr>
              <a:t>2.</a:t>
            </a:r>
            <a:r>
              <a:rPr sz="1867" b="1" spc="-13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990000"/>
                </a:solidFill>
                <a:latin typeface="Arial"/>
                <a:cs typeface="Arial"/>
              </a:rPr>
              <a:t>pick(redbull),</a:t>
            </a:r>
            <a:r>
              <a:rPr sz="1867" b="1" spc="-13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990000"/>
                </a:solidFill>
                <a:latin typeface="Arial"/>
                <a:cs typeface="Arial"/>
              </a:rPr>
              <a:t>3.</a:t>
            </a:r>
            <a:r>
              <a:rPr sz="1867" b="1" spc="-13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990000"/>
                </a:solidFill>
                <a:latin typeface="Arial"/>
                <a:cs typeface="Arial"/>
              </a:rPr>
              <a:t>find(trash),</a:t>
            </a:r>
            <a:r>
              <a:rPr sz="1867" b="1" spc="-13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990000"/>
                </a:solidFill>
                <a:latin typeface="Arial"/>
                <a:cs typeface="Arial"/>
              </a:rPr>
              <a:t>4.</a:t>
            </a:r>
            <a:r>
              <a:rPr sz="1867" b="1" spc="-13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990000"/>
                </a:solidFill>
                <a:latin typeface="Arial"/>
                <a:cs typeface="Arial"/>
              </a:rPr>
              <a:t>put(redbull),</a:t>
            </a:r>
            <a:r>
              <a:rPr sz="1867" b="1" spc="-13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990000"/>
                </a:solidFill>
                <a:latin typeface="Arial"/>
                <a:cs typeface="Arial"/>
              </a:rPr>
              <a:t>5.</a:t>
            </a:r>
            <a:r>
              <a:rPr sz="1867" b="1" spc="-13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990000"/>
                </a:solidFill>
                <a:latin typeface="Arial"/>
                <a:cs typeface="Arial"/>
              </a:rPr>
              <a:t>done().</a:t>
            </a:r>
            <a:endParaRPr sz="1867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13" dirty="0"/>
              <a:t>Commonsense</a:t>
            </a:r>
            <a:r>
              <a:rPr sz="4000" spc="-40" dirty="0"/>
              <a:t> </a:t>
            </a:r>
            <a:r>
              <a:rPr sz="4000" spc="-13" dirty="0"/>
              <a:t>Reasoning</a:t>
            </a:r>
            <a:r>
              <a:rPr sz="4000" spc="-40" dirty="0"/>
              <a:t> </a:t>
            </a:r>
            <a:r>
              <a:rPr sz="4000" dirty="0"/>
              <a:t>-</a:t>
            </a:r>
            <a:r>
              <a:rPr sz="4000" spc="-100" dirty="0"/>
              <a:t> </a:t>
            </a:r>
            <a:r>
              <a:rPr sz="4000" spc="-93" dirty="0"/>
              <a:t>Toy</a:t>
            </a:r>
            <a:r>
              <a:rPr sz="4000" spc="-20" dirty="0"/>
              <a:t> </a:t>
            </a:r>
            <a:r>
              <a:rPr sz="4000" spc="-7" dirty="0"/>
              <a:t>Problems</a:t>
            </a:r>
            <a:endParaRPr sz="40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43</a:t>
            </a:fld>
            <a:endParaRPr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13" dirty="0"/>
              <a:t>Commonsense</a:t>
            </a:r>
            <a:r>
              <a:rPr sz="4000" spc="-47" dirty="0"/>
              <a:t> </a:t>
            </a:r>
            <a:r>
              <a:rPr sz="4000" spc="-13" dirty="0"/>
              <a:t>Reasoning</a:t>
            </a:r>
            <a:r>
              <a:rPr sz="4000" spc="-47" dirty="0"/>
              <a:t> </a:t>
            </a:r>
            <a:r>
              <a:rPr sz="4000" dirty="0"/>
              <a:t>-</a:t>
            </a:r>
            <a:r>
              <a:rPr sz="4000" spc="-33" dirty="0"/>
              <a:t> </a:t>
            </a:r>
            <a:r>
              <a:rPr sz="4000" spc="-7" dirty="0"/>
              <a:t>Results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44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2466" y="1093719"/>
            <a:ext cx="9099169" cy="5250536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13" dirty="0"/>
              <a:t>Commonsense</a:t>
            </a:r>
            <a:r>
              <a:rPr sz="4000" spc="-47" dirty="0"/>
              <a:t> </a:t>
            </a:r>
            <a:r>
              <a:rPr sz="4000" spc="-13" dirty="0"/>
              <a:t>Reasoning</a:t>
            </a:r>
            <a:r>
              <a:rPr sz="4000" spc="-47" dirty="0"/>
              <a:t> </a:t>
            </a:r>
            <a:r>
              <a:rPr sz="4000" dirty="0"/>
              <a:t>-</a:t>
            </a:r>
            <a:r>
              <a:rPr sz="4000" spc="-33" dirty="0"/>
              <a:t> </a:t>
            </a:r>
            <a:r>
              <a:rPr sz="4000" spc="-7" dirty="0"/>
              <a:t>Results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45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2465" y="1093719"/>
            <a:ext cx="8976208" cy="5250536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13" dirty="0"/>
              <a:t>Commonsense</a:t>
            </a:r>
            <a:r>
              <a:rPr sz="4000" spc="-47" dirty="0"/>
              <a:t> </a:t>
            </a:r>
            <a:r>
              <a:rPr sz="4000" spc="-13" dirty="0"/>
              <a:t>Reasoning</a:t>
            </a:r>
            <a:r>
              <a:rPr sz="4000" spc="-47" dirty="0"/>
              <a:t> </a:t>
            </a:r>
            <a:r>
              <a:rPr sz="4000" dirty="0"/>
              <a:t>-</a:t>
            </a:r>
            <a:r>
              <a:rPr sz="4000" spc="-33" dirty="0"/>
              <a:t> </a:t>
            </a:r>
            <a:r>
              <a:rPr sz="4000" spc="-7" dirty="0"/>
              <a:t>Observations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46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12462" y="2032083"/>
            <a:ext cx="10370820" cy="333037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85128" indent="-469042">
              <a:spcBef>
                <a:spcPts val="133"/>
              </a:spcBef>
              <a:buFont typeface="Arial MT"/>
              <a:buChar char="●"/>
              <a:tabLst>
                <a:tab pos="485128" algn="l"/>
                <a:tab pos="485975" algn="l"/>
              </a:tabLst>
            </a:pPr>
            <a:r>
              <a:rPr sz="2133" spc="-7" dirty="0">
                <a:latin typeface="Times New Roman"/>
                <a:cs typeface="Times New Roman"/>
              </a:rPr>
              <a:t>For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all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tasks,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scaling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up</a:t>
            </a:r>
            <a:r>
              <a:rPr sz="2133" spc="27" dirty="0">
                <a:latin typeface="Times New Roman"/>
                <a:cs typeface="Times New Roman"/>
              </a:rPr>
              <a:t> </a:t>
            </a:r>
            <a:r>
              <a:rPr sz="2133" b="1" dirty="0">
                <a:latin typeface="Times New Roman"/>
                <a:cs typeface="Times New Roman"/>
              </a:rPr>
              <a:t>model</a:t>
            </a:r>
            <a:r>
              <a:rPr sz="2133" b="1" spc="-7" dirty="0">
                <a:latin typeface="Times New Roman"/>
                <a:cs typeface="Times New Roman"/>
              </a:rPr>
              <a:t> size</a:t>
            </a:r>
            <a:r>
              <a:rPr sz="2133" b="1" spc="-1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improved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the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performance of</a:t>
            </a:r>
            <a:r>
              <a:rPr sz="2133" spc="-7" dirty="0">
                <a:latin typeface="Times New Roman"/>
                <a:cs typeface="Times New Roman"/>
              </a:rPr>
              <a:t> standard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prompting.</a:t>
            </a:r>
            <a:endParaRPr sz="2133">
              <a:latin typeface="Times New Roman"/>
              <a:cs typeface="Times New Roman"/>
            </a:endParaRPr>
          </a:p>
          <a:p>
            <a:pPr>
              <a:spcBef>
                <a:spcPts val="27"/>
              </a:spcBef>
              <a:buFont typeface="Arial MT"/>
              <a:buChar char="●"/>
            </a:pPr>
            <a:endParaRPr sz="2200">
              <a:latin typeface="Times New Roman"/>
              <a:cs typeface="Times New Roman"/>
            </a:endParaRPr>
          </a:p>
          <a:p>
            <a:pPr marL="485128" marR="49105" indent="-469042">
              <a:buFont typeface="Arial MT"/>
              <a:buChar char="●"/>
              <a:tabLst>
                <a:tab pos="485128" algn="l"/>
                <a:tab pos="485975" algn="l"/>
              </a:tabLst>
            </a:pPr>
            <a:r>
              <a:rPr sz="2133" spc="-7" dirty="0">
                <a:latin typeface="Times New Roman"/>
                <a:cs typeface="Times New Roman"/>
              </a:rPr>
              <a:t>CoT </a:t>
            </a:r>
            <a:r>
              <a:rPr sz="2133" dirty="0">
                <a:latin typeface="Times New Roman"/>
                <a:cs typeface="Times New Roman"/>
              </a:rPr>
              <a:t>prompting </a:t>
            </a:r>
            <a:r>
              <a:rPr sz="2133" spc="-7" dirty="0">
                <a:latin typeface="Times New Roman"/>
                <a:cs typeface="Times New Roman"/>
              </a:rPr>
              <a:t>led to </a:t>
            </a:r>
            <a:r>
              <a:rPr sz="2133" dirty="0">
                <a:latin typeface="Times New Roman"/>
                <a:cs typeface="Times New Roman"/>
              </a:rPr>
              <a:t>further gains, </a:t>
            </a:r>
            <a:r>
              <a:rPr sz="2133" spc="-7" dirty="0">
                <a:latin typeface="Times New Roman"/>
                <a:cs typeface="Times New Roman"/>
              </a:rPr>
              <a:t>with improvements appearing to </a:t>
            </a:r>
            <a:r>
              <a:rPr sz="2133" dirty="0">
                <a:latin typeface="Times New Roman"/>
                <a:cs typeface="Times New Roman"/>
              </a:rPr>
              <a:t>be </a:t>
            </a:r>
            <a:r>
              <a:rPr sz="2133" b="1" spc="-7" dirty="0">
                <a:latin typeface="Times New Roman"/>
                <a:cs typeface="Times New Roman"/>
              </a:rPr>
              <a:t>largest </a:t>
            </a:r>
            <a:r>
              <a:rPr sz="2133" b="1" dirty="0">
                <a:latin typeface="Times New Roman"/>
                <a:cs typeface="Times New Roman"/>
              </a:rPr>
              <a:t>for </a:t>
            </a:r>
            <a:r>
              <a:rPr sz="2133" b="1" spc="-7" dirty="0">
                <a:latin typeface="Times New Roman"/>
                <a:cs typeface="Times New Roman"/>
              </a:rPr>
              <a:t>PaLM </a:t>
            </a:r>
            <a:r>
              <a:rPr sz="2133" b="1" spc="-513" dirty="0">
                <a:latin typeface="Times New Roman"/>
                <a:cs typeface="Times New Roman"/>
              </a:rPr>
              <a:t> </a:t>
            </a:r>
            <a:r>
              <a:rPr sz="2133" b="1" spc="-7" dirty="0">
                <a:latin typeface="Times New Roman"/>
                <a:cs typeface="Times New Roman"/>
              </a:rPr>
              <a:t>540B</a:t>
            </a:r>
            <a:r>
              <a:rPr sz="2133" spc="-7" dirty="0">
                <a:latin typeface="Times New Roman"/>
                <a:cs typeface="Times New Roman"/>
              </a:rPr>
              <a:t>.</a:t>
            </a:r>
            <a:endParaRPr sz="2133">
              <a:latin typeface="Times New Roman"/>
              <a:cs typeface="Times New Roman"/>
            </a:endParaRPr>
          </a:p>
          <a:p>
            <a:pPr>
              <a:spcBef>
                <a:spcPts val="33"/>
              </a:spcBef>
              <a:buFont typeface="Arial MT"/>
              <a:buChar char="●"/>
            </a:pPr>
            <a:endParaRPr sz="2200">
              <a:latin typeface="Times New Roman"/>
              <a:cs typeface="Times New Roman"/>
            </a:endParaRPr>
          </a:p>
          <a:p>
            <a:pPr marL="485128" indent="-469042">
              <a:buFont typeface="Arial MT"/>
              <a:buChar char="●"/>
              <a:tabLst>
                <a:tab pos="485128" algn="l"/>
                <a:tab pos="485975" algn="l"/>
              </a:tabLst>
            </a:pPr>
            <a:r>
              <a:rPr sz="2133" spc="-7" dirty="0">
                <a:latin typeface="Times New Roman"/>
                <a:cs typeface="Times New Roman"/>
              </a:rPr>
              <a:t>Co</a:t>
            </a:r>
            <a:r>
              <a:rPr sz="2133" dirty="0">
                <a:latin typeface="Times New Roman"/>
                <a:cs typeface="Times New Roman"/>
              </a:rPr>
              <a:t>T</a:t>
            </a:r>
            <a:r>
              <a:rPr sz="2133" spc="-47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has </a:t>
            </a:r>
            <a:r>
              <a:rPr sz="2133" b="1" dirty="0">
                <a:latin typeface="Times New Roman"/>
                <a:cs typeface="Times New Roman"/>
              </a:rPr>
              <a:t>minimal</a:t>
            </a:r>
            <a:r>
              <a:rPr sz="2133" b="1" spc="-7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benefits on </a:t>
            </a:r>
            <a:r>
              <a:rPr sz="2133" spc="-7" dirty="0">
                <a:latin typeface="Times New Roman"/>
                <a:cs typeface="Times New Roman"/>
              </a:rPr>
              <a:t>CSQ</a:t>
            </a:r>
            <a:r>
              <a:rPr sz="2133" dirty="0">
                <a:latin typeface="Times New Roman"/>
                <a:cs typeface="Times New Roman"/>
              </a:rPr>
              <a:t>A</a:t>
            </a:r>
            <a:r>
              <a:rPr sz="2133" spc="-120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an</a:t>
            </a:r>
            <a:r>
              <a:rPr sz="2133" dirty="0">
                <a:latin typeface="Times New Roman"/>
                <a:cs typeface="Times New Roman"/>
              </a:rPr>
              <a:t>d</a:t>
            </a:r>
            <a:r>
              <a:rPr sz="2133" spc="-7" dirty="0">
                <a:latin typeface="Times New Roman"/>
                <a:cs typeface="Times New Roman"/>
              </a:rPr>
              <a:t> StrategyQ</a:t>
            </a:r>
            <a:r>
              <a:rPr sz="2133" dirty="0">
                <a:latin typeface="Times New Roman"/>
                <a:cs typeface="Times New Roman"/>
              </a:rPr>
              <a:t>A</a:t>
            </a:r>
            <a:r>
              <a:rPr sz="2133" spc="-120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tasks.</a:t>
            </a:r>
            <a:endParaRPr sz="2133">
              <a:latin typeface="Times New Roman"/>
              <a:cs typeface="Times New Roman"/>
            </a:endParaRPr>
          </a:p>
          <a:p>
            <a:pPr>
              <a:spcBef>
                <a:spcPts val="27"/>
              </a:spcBef>
              <a:buFont typeface="Arial MT"/>
              <a:buChar char="●"/>
            </a:pPr>
            <a:endParaRPr sz="2200">
              <a:latin typeface="Times New Roman"/>
              <a:cs typeface="Times New Roman"/>
            </a:endParaRPr>
          </a:p>
          <a:p>
            <a:pPr marL="485128" marR="6773" indent="-469042">
              <a:buFont typeface="Arial MT"/>
              <a:buChar char="●"/>
              <a:tabLst>
                <a:tab pos="485128" algn="l"/>
                <a:tab pos="485975" algn="l"/>
              </a:tabLst>
            </a:pPr>
            <a:r>
              <a:rPr sz="2133" b="1" spc="-7" dirty="0">
                <a:latin typeface="Times New Roman"/>
                <a:cs typeface="Times New Roman"/>
              </a:rPr>
              <a:t>Few-shot</a:t>
            </a:r>
            <a:r>
              <a:rPr sz="2133" b="1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achieves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better performance</a:t>
            </a:r>
            <a:r>
              <a:rPr sz="2133" spc="-7" dirty="0">
                <a:latin typeface="Times New Roman"/>
                <a:cs typeface="Times New Roman"/>
              </a:rPr>
              <a:t> than</a:t>
            </a:r>
            <a:r>
              <a:rPr sz="2133" spc="20" dirty="0">
                <a:latin typeface="Times New Roman"/>
                <a:cs typeface="Times New Roman"/>
              </a:rPr>
              <a:t> </a:t>
            </a:r>
            <a:r>
              <a:rPr sz="2133" b="1" spc="-7" dirty="0">
                <a:latin typeface="Times New Roman"/>
                <a:cs typeface="Times New Roman"/>
              </a:rPr>
              <a:t>Zero-shot</a:t>
            </a:r>
            <a:r>
              <a:rPr sz="2133" b="1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CoT</a:t>
            </a:r>
            <a:r>
              <a:rPr sz="2133" spc="-53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on</a:t>
            </a:r>
            <a:r>
              <a:rPr sz="2133" spc="-7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175B </a:t>
            </a:r>
            <a:r>
              <a:rPr sz="2133" spc="-47" dirty="0">
                <a:latin typeface="Times New Roman"/>
                <a:cs typeface="Times New Roman"/>
              </a:rPr>
              <a:t>GPT-3</a:t>
            </a:r>
            <a:r>
              <a:rPr sz="2133" spc="-7" dirty="0">
                <a:latin typeface="Times New Roman"/>
                <a:cs typeface="Times New Roman"/>
              </a:rPr>
              <a:t> model </a:t>
            </a:r>
            <a:r>
              <a:rPr sz="2133" dirty="0">
                <a:latin typeface="Times New Roman"/>
                <a:cs typeface="Times New Roman"/>
              </a:rPr>
              <a:t>for </a:t>
            </a:r>
            <a:r>
              <a:rPr sz="2133" spc="7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CSQA and Strategy QA tasks, </a:t>
            </a:r>
            <a:r>
              <a:rPr sz="2133" dirty="0">
                <a:latin typeface="Times New Roman"/>
                <a:cs typeface="Times New Roman"/>
              </a:rPr>
              <a:t>but </a:t>
            </a:r>
            <a:r>
              <a:rPr sz="2133" b="1" spc="-7" dirty="0">
                <a:latin typeface="Times New Roman"/>
                <a:cs typeface="Times New Roman"/>
              </a:rPr>
              <a:t>Zero-shot </a:t>
            </a:r>
            <a:r>
              <a:rPr sz="2133" spc="-7" dirty="0">
                <a:latin typeface="Times New Roman"/>
                <a:cs typeface="Times New Roman"/>
              </a:rPr>
              <a:t>CoT shows significant improvement </a:t>
            </a:r>
            <a:r>
              <a:rPr sz="2133" dirty="0">
                <a:latin typeface="Times New Roman"/>
                <a:cs typeface="Times New Roman"/>
              </a:rPr>
              <a:t>for </a:t>
            </a:r>
            <a:r>
              <a:rPr sz="2133" b="1" spc="-7" dirty="0">
                <a:latin typeface="Times New Roman"/>
                <a:cs typeface="Times New Roman"/>
              </a:rPr>
              <a:t>Date </a:t>
            </a:r>
            <a:r>
              <a:rPr sz="2133" b="1" spc="-513" dirty="0">
                <a:latin typeface="Times New Roman"/>
                <a:cs typeface="Times New Roman"/>
              </a:rPr>
              <a:t> </a:t>
            </a:r>
            <a:r>
              <a:rPr sz="2133" b="1" spc="-7" dirty="0">
                <a:latin typeface="Times New Roman"/>
                <a:cs typeface="Times New Roman"/>
              </a:rPr>
              <a:t>understanding </a:t>
            </a:r>
            <a:r>
              <a:rPr sz="2133" spc="-7" dirty="0">
                <a:latin typeface="Times New Roman"/>
                <a:cs typeface="Times New Roman"/>
              </a:rPr>
              <a:t>task.</a:t>
            </a:r>
            <a:endParaRPr sz="2133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12967" y="1408796"/>
            <a:ext cx="9320107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7" dirty="0">
                <a:latin typeface="Times New Roman"/>
                <a:cs typeface="Times New Roman"/>
              </a:rPr>
              <a:t>Change</a:t>
            </a:r>
            <a:r>
              <a:rPr sz="2133" spc="-20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greedy</a:t>
            </a:r>
            <a:r>
              <a:rPr sz="2133" spc="-7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decode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(single-path)</a:t>
            </a:r>
            <a:r>
              <a:rPr sz="2133" spc="-7" dirty="0">
                <a:latin typeface="Times New Roman"/>
                <a:cs typeface="Times New Roman"/>
              </a:rPr>
              <a:t> to</a:t>
            </a:r>
            <a:r>
              <a:rPr sz="2133" spc="-20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self-consistency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(multi-path)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in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few-shot</a:t>
            </a:r>
            <a:r>
              <a:rPr sz="2133" spc="-13" dirty="0">
                <a:latin typeface="Times New Roman"/>
                <a:cs typeface="Times New Roman"/>
              </a:rPr>
              <a:t> </a:t>
            </a:r>
            <a:r>
              <a:rPr sz="2133" spc="-33" dirty="0">
                <a:latin typeface="Times New Roman"/>
                <a:cs typeface="Times New Roman"/>
              </a:rPr>
              <a:t>CoT:</a:t>
            </a:r>
            <a:endParaRPr sz="2133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033" y="2150680"/>
            <a:ext cx="10322083" cy="368349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70744" y="6003296"/>
            <a:ext cx="10982960" cy="22743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6933" marR="6773">
              <a:lnSpc>
                <a:spcPts val="1920"/>
              </a:lnSpc>
              <a:spcBef>
                <a:spcPts val="20"/>
              </a:spcBef>
            </a:pPr>
            <a:r>
              <a:rPr sz="1200" spc="-33" dirty="0">
                <a:solidFill>
                  <a:srgbClr val="222222"/>
                </a:solidFill>
                <a:latin typeface="Times New Roman"/>
                <a:cs typeface="Times New Roman"/>
              </a:rPr>
              <a:t>Wang,</a:t>
            </a:r>
            <a:r>
              <a:rPr sz="1200" spc="-7" dirty="0">
                <a:solidFill>
                  <a:srgbClr val="222222"/>
                </a:solidFill>
                <a:latin typeface="Times New Roman"/>
                <a:cs typeface="Times New Roman"/>
              </a:rPr>
              <a:t> Xuezhi, et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spc="-7" dirty="0">
                <a:solidFill>
                  <a:srgbClr val="222222"/>
                </a:solidFill>
                <a:latin typeface="Times New Roman"/>
                <a:cs typeface="Times New Roman"/>
              </a:rPr>
              <a:t>al. "</a:t>
            </a:r>
            <a:r>
              <a:rPr sz="1200" b="1" spc="-7" dirty="0">
                <a:solidFill>
                  <a:srgbClr val="222222"/>
                </a:solidFill>
                <a:latin typeface="Times New Roman"/>
                <a:cs typeface="Times New Roman"/>
              </a:rPr>
              <a:t>Self-consistency improves</a:t>
            </a:r>
            <a:r>
              <a:rPr sz="1200" b="1" spc="7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b="1" spc="-7" dirty="0">
                <a:solidFill>
                  <a:srgbClr val="222222"/>
                </a:solidFill>
                <a:latin typeface="Times New Roman"/>
                <a:cs typeface="Times New Roman"/>
              </a:rPr>
              <a:t>chain </a:t>
            </a:r>
            <a:r>
              <a:rPr sz="1200" b="1" dirty="0">
                <a:solidFill>
                  <a:srgbClr val="222222"/>
                </a:solidFill>
                <a:latin typeface="Times New Roman"/>
                <a:cs typeface="Times New Roman"/>
              </a:rPr>
              <a:t>of</a:t>
            </a:r>
            <a:r>
              <a:rPr sz="1200" b="1" spc="7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222222"/>
                </a:solidFill>
                <a:latin typeface="Times New Roman"/>
                <a:cs typeface="Times New Roman"/>
              </a:rPr>
              <a:t>thought </a:t>
            </a:r>
            <a:r>
              <a:rPr sz="1200" b="1" spc="-13" dirty="0">
                <a:solidFill>
                  <a:srgbClr val="222222"/>
                </a:solidFill>
                <a:latin typeface="Times New Roman"/>
                <a:cs typeface="Times New Roman"/>
              </a:rPr>
              <a:t>reasoning</a:t>
            </a:r>
            <a:r>
              <a:rPr sz="1200" b="1" spc="-7" dirty="0">
                <a:solidFill>
                  <a:srgbClr val="222222"/>
                </a:solidFill>
                <a:latin typeface="Times New Roman"/>
                <a:cs typeface="Times New Roman"/>
              </a:rPr>
              <a:t> in</a:t>
            </a:r>
            <a:r>
              <a:rPr sz="1200" b="1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b="1" spc="-7" dirty="0">
                <a:solidFill>
                  <a:srgbClr val="222222"/>
                </a:solidFill>
                <a:latin typeface="Times New Roman"/>
                <a:cs typeface="Times New Roman"/>
              </a:rPr>
              <a:t>language </a:t>
            </a:r>
            <a:r>
              <a:rPr sz="1200" b="1" spc="7" dirty="0">
                <a:solidFill>
                  <a:srgbClr val="222222"/>
                </a:solidFill>
                <a:latin typeface="Times New Roman"/>
                <a:cs typeface="Times New Roman"/>
              </a:rPr>
              <a:t>models</a:t>
            </a:r>
            <a:r>
              <a:rPr sz="1200" spc="7" dirty="0">
                <a:solidFill>
                  <a:srgbClr val="222222"/>
                </a:solidFill>
                <a:latin typeface="Times New Roman"/>
                <a:cs typeface="Times New Roman"/>
              </a:rPr>
              <a:t>."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spc="-7" dirty="0">
                <a:solidFill>
                  <a:srgbClr val="222222"/>
                </a:solidFill>
                <a:latin typeface="Times New Roman"/>
                <a:cs typeface="Times New Roman"/>
              </a:rPr>
              <a:t>arXiv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 preprint </a:t>
            </a:r>
            <a:r>
              <a:rPr sz="1200" spc="-13" dirty="0">
                <a:solidFill>
                  <a:srgbClr val="222222"/>
                </a:solidFill>
                <a:latin typeface="Times New Roman"/>
                <a:cs typeface="Times New Roman"/>
              </a:rPr>
              <a:t>arXiv:2203.11171 </a:t>
            </a:r>
            <a:r>
              <a:rPr sz="1200" spc="-7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(2022).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0BDE665-FE75-61B4-2CDB-71CB89EB4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7" dirty="0">
                <a:latin typeface="Times New Roman"/>
                <a:cs typeface="Times New Roman"/>
              </a:rPr>
              <a:t>More</a:t>
            </a:r>
            <a:r>
              <a:rPr lang="en-US" sz="4000" spc="-233" dirty="0">
                <a:latin typeface="Times New Roman"/>
                <a:cs typeface="Times New Roman"/>
              </a:rPr>
              <a:t> </a:t>
            </a:r>
            <a:r>
              <a:rPr lang="en-US" sz="4000" spc="7" dirty="0">
                <a:latin typeface="Times New Roman"/>
                <a:cs typeface="Times New Roman"/>
              </a:rPr>
              <a:t>Advances</a:t>
            </a:r>
            <a:r>
              <a:rPr lang="en-US" sz="4000" spc="-13" dirty="0">
                <a:latin typeface="Times New Roman"/>
                <a:cs typeface="Times New Roman"/>
              </a:rPr>
              <a:t> </a:t>
            </a:r>
            <a:r>
              <a:rPr lang="en-US" sz="4000" spc="7" dirty="0">
                <a:latin typeface="Times New Roman"/>
                <a:cs typeface="Times New Roman"/>
              </a:rPr>
              <a:t>-</a:t>
            </a:r>
            <a:r>
              <a:rPr lang="en-US" sz="4000" spc="-7" dirty="0">
                <a:latin typeface="Times New Roman"/>
                <a:cs typeface="Times New Roman"/>
              </a:rPr>
              <a:t> </a:t>
            </a:r>
            <a:r>
              <a:rPr lang="en-US" sz="4000" dirty="0">
                <a:latin typeface="Times New Roman"/>
                <a:cs typeface="Times New Roman"/>
              </a:rPr>
              <a:t>Self-Consistency</a:t>
            </a:r>
            <a:endParaRPr lang="en-US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 vert="horz" wrap="square" lIns="0" tIns="847" rIns="0" bIns="0" rtlCol="0" anchor="ctr">
            <a:spAutoFit/>
          </a:bodyPr>
          <a:lstStyle/>
          <a:p>
            <a:fld id="{81D60167-4931-47E6-BA6A-407CBD079E47}" type="slidenum">
              <a:rPr lang="en-US" dirty="0"/>
              <a:pPr/>
              <a:t>47</a:t>
            </a:fld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2967" y="457412"/>
            <a:ext cx="7174653" cy="636072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4000" spc="7" dirty="0">
                <a:latin typeface="Times New Roman"/>
                <a:cs typeface="Times New Roman"/>
              </a:rPr>
              <a:t>More</a:t>
            </a:r>
            <a:r>
              <a:rPr sz="4000" spc="-233" dirty="0">
                <a:latin typeface="Times New Roman"/>
                <a:cs typeface="Times New Roman"/>
              </a:rPr>
              <a:t> </a:t>
            </a:r>
            <a:r>
              <a:rPr sz="4000" spc="7" dirty="0">
                <a:latin typeface="Times New Roman"/>
                <a:cs typeface="Times New Roman"/>
              </a:rPr>
              <a:t>Advances</a:t>
            </a:r>
            <a:r>
              <a:rPr sz="4000" spc="-13" dirty="0">
                <a:latin typeface="Times New Roman"/>
                <a:cs typeface="Times New Roman"/>
              </a:rPr>
              <a:t> </a:t>
            </a:r>
            <a:r>
              <a:rPr sz="4000" spc="7" dirty="0">
                <a:latin typeface="Times New Roman"/>
                <a:cs typeface="Times New Roman"/>
              </a:rPr>
              <a:t>-</a:t>
            </a:r>
            <a:r>
              <a:rPr sz="4000" spc="-7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Self-Consistency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5600" y="1489662"/>
            <a:ext cx="385487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7" dirty="0">
                <a:latin typeface="Times New Roman"/>
                <a:cs typeface="Times New Roman"/>
              </a:rPr>
              <a:t>Showcase</a:t>
            </a:r>
            <a:r>
              <a:rPr sz="2133" spc="-33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results</a:t>
            </a:r>
            <a:r>
              <a:rPr sz="2133" spc="-20" dirty="0">
                <a:latin typeface="Times New Roman"/>
                <a:cs typeface="Times New Roman"/>
              </a:rPr>
              <a:t> </a:t>
            </a:r>
            <a:r>
              <a:rPr sz="2133" dirty="0">
                <a:latin typeface="Times New Roman"/>
                <a:cs typeface="Times New Roman"/>
              </a:rPr>
              <a:t>on</a:t>
            </a:r>
            <a:r>
              <a:rPr sz="2133" spc="-20" dirty="0">
                <a:latin typeface="Times New Roman"/>
                <a:cs typeface="Times New Roman"/>
              </a:rPr>
              <a:t> </a:t>
            </a:r>
            <a:r>
              <a:rPr sz="2133" spc="-7" dirty="0">
                <a:solidFill>
                  <a:srgbClr val="FF0000"/>
                </a:solidFill>
                <a:latin typeface="Times New Roman"/>
                <a:cs typeface="Times New Roman"/>
              </a:rPr>
              <a:t>AR</a:t>
            </a:r>
            <a:r>
              <a:rPr sz="2133" spc="-7" dirty="0">
                <a:latin typeface="Times New Roman"/>
                <a:cs typeface="Times New Roman"/>
              </a:rPr>
              <a:t>,</a:t>
            </a:r>
            <a:r>
              <a:rPr sz="2133" spc="-27" dirty="0">
                <a:latin typeface="Times New Roman"/>
                <a:cs typeface="Times New Roman"/>
              </a:rPr>
              <a:t> </a:t>
            </a:r>
            <a:r>
              <a:rPr sz="2133" spc="-7" dirty="0">
                <a:solidFill>
                  <a:srgbClr val="0000FF"/>
                </a:solidFill>
                <a:latin typeface="Times New Roman"/>
                <a:cs typeface="Times New Roman"/>
              </a:rPr>
              <a:t>CR</a:t>
            </a:r>
            <a:r>
              <a:rPr sz="2133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33" spc="-7" dirty="0">
                <a:latin typeface="Times New Roman"/>
                <a:cs typeface="Times New Roman"/>
              </a:rPr>
              <a:t>tasks:</a:t>
            </a:r>
            <a:endParaRPr sz="2133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75201" y="2721966"/>
            <a:ext cx="5641340" cy="2037927"/>
            <a:chOff x="1631400" y="2041474"/>
            <a:chExt cx="4231005" cy="15284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1400" y="2111231"/>
              <a:ext cx="2304249" cy="14006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35650" y="2086380"/>
              <a:ext cx="706839" cy="143698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81700" y="2041474"/>
              <a:ext cx="1280674" cy="152784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900324" y="2096550"/>
              <a:ext cx="719455" cy="1410970"/>
            </a:xfrm>
            <a:custGeom>
              <a:avLst/>
              <a:gdLst/>
              <a:ahLst/>
              <a:cxnLst/>
              <a:rect l="l" t="t" r="r" b="b"/>
              <a:pathLst>
                <a:path w="719454" h="1410970">
                  <a:moveTo>
                    <a:pt x="0" y="0"/>
                  </a:moveTo>
                  <a:lnTo>
                    <a:pt x="719399" y="0"/>
                  </a:lnTo>
                  <a:lnTo>
                    <a:pt x="719399" y="1410599"/>
                  </a:lnTo>
                  <a:lnTo>
                    <a:pt x="0" y="14105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46399" y="2093975"/>
              <a:ext cx="1191260" cy="1410970"/>
            </a:xfrm>
            <a:custGeom>
              <a:avLst/>
              <a:gdLst/>
              <a:ahLst/>
              <a:cxnLst/>
              <a:rect l="l" t="t" r="r" b="b"/>
              <a:pathLst>
                <a:path w="1191260" h="1410970">
                  <a:moveTo>
                    <a:pt x="0" y="0"/>
                  </a:moveTo>
                  <a:lnTo>
                    <a:pt x="1190699" y="0"/>
                  </a:lnTo>
                  <a:lnTo>
                    <a:pt x="1190699" y="1410599"/>
                  </a:lnTo>
                  <a:lnTo>
                    <a:pt x="0" y="14105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31900" y="6166997"/>
            <a:ext cx="10982960" cy="489878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6933" marR="6773">
              <a:lnSpc>
                <a:spcPts val="1920"/>
              </a:lnSpc>
              <a:spcBef>
                <a:spcPts val="20"/>
              </a:spcBef>
            </a:pPr>
            <a:r>
              <a:rPr sz="1600" spc="-33" dirty="0">
                <a:solidFill>
                  <a:srgbClr val="222222"/>
                </a:solidFill>
                <a:latin typeface="Times New Roman"/>
                <a:cs typeface="Times New Roman"/>
              </a:rPr>
              <a:t>Wang,</a:t>
            </a:r>
            <a:r>
              <a:rPr sz="1600" spc="-7" dirty="0">
                <a:solidFill>
                  <a:srgbClr val="222222"/>
                </a:solidFill>
                <a:latin typeface="Times New Roman"/>
                <a:cs typeface="Times New Roman"/>
              </a:rPr>
              <a:t> Xuezhi, et</a:t>
            </a:r>
            <a:r>
              <a:rPr sz="160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 spc="-7" dirty="0">
                <a:solidFill>
                  <a:srgbClr val="222222"/>
                </a:solidFill>
                <a:latin typeface="Times New Roman"/>
                <a:cs typeface="Times New Roman"/>
              </a:rPr>
              <a:t>al. "</a:t>
            </a:r>
            <a:r>
              <a:rPr sz="1600" b="1" spc="-7" dirty="0">
                <a:solidFill>
                  <a:srgbClr val="222222"/>
                </a:solidFill>
                <a:latin typeface="Times New Roman"/>
                <a:cs typeface="Times New Roman"/>
              </a:rPr>
              <a:t>Self-consistency improves</a:t>
            </a:r>
            <a:r>
              <a:rPr sz="1600" b="1" spc="7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 b="1" spc="-7" dirty="0">
                <a:solidFill>
                  <a:srgbClr val="222222"/>
                </a:solidFill>
                <a:latin typeface="Times New Roman"/>
                <a:cs typeface="Times New Roman"/>
              </a:rPr>
              <a:t>chain </a:t>
            </a:r>
            <a:r>
              <a:rPr sz="1600" b="1" dirty="0">
                <a:solidFill>
                  <a:srgbClr val="222222"/>
                </a:solidFill>
                <a:latin typeface="Times New Roman"/>
                <a:cs typeface="Times New Roman"/>
              </a:rPr>
              <a:t>of</a:t>
            </a:r>
            <a:r>
              <a:rPr sz="1600" b="1" spc="7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222222"/>
                </a:solidFill>
                <a:latin typeface="Times New Roman"/>
                <a:cs typeface="Times New Roman"/>
              </a:rPr>
              <a:t>thought </a:t>
            </a:r>
            <a:r>
              <a:rPr sz="1600" b="1" spc="-13" dirty="0">
                <a:solidFill>
                  <a:srgbClr val="222222"/>
                </a:solidFill>
                <a:latin typeface="Times New Roman"/>
                <a:cs typeface="Times New Roman"/>
              </a:rPr>
              <a:t>reasoning</a:t>
            </a:r>
            <a:r>
              <a:rPr sz="1600" b="1" spc="-7" dirty="0">
                <a:solidFill>
                  <a:srgbClr val="222222"/>
                </a:solidFill>
                <a:latin typeface="Times New Roman"/>
                <a:cs typeface="Times New Roman"/>
              </a:rPr>
              <a:t> in</a:t>
            </a:r>
            <a:r>
              <a:rPr sz="1600" b="1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 b="1" spc="-7" dirty="0">
                <a:solidFill>
                  <a:srgbClr val="222222"/>
                </a:solidFill>
                <a:latin typeface="Times New Roman"/>
                <a:cs typeface="Times New Roman"/>
              </a:rPr>
              <a:t>language </a:t>
            </a:r>
            <a:r>
              <a:rPr sz="1600" b="1" spc="7" dirty="0">
                <a:solidFill>
                  <a:srgbClr val="222222"/>
                </a:solidFill>
                <a:latin typeface="Times New Roman"/>
                <a:cs typeface="Times New Roman"/>
              </a:rPr>
              <a:t>models</a:t>
            </a:r>
            <a:r>
              <a:rPr sz="1600" spc="7" dirty="0">
                <a:solidFill>
                  <a:srgbClr val="222222"/>
                </a:solidFill>
                <a:latin typeface="Times New Roman"/>
                <a:cs typeface="Times New Roman"/>
              </a:rPr>
              <a:t>."</a:t>
            </a:r>
            <a:r>
              <a:rPr sz="160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 spc="-7" dirty="0">
                <a:solidFill>
                  <a:srgbClr val="222222"/>
                </a:solidFill>
                <a:latin typeface="Times New Roman"/>
                <a:cs typeface="Times New Roman"/>
              </a:rPr>
              <a:t>arXiv</a:t>
            </a:r>
            <a:r>
              <a:rPr sz="1600" dirty="0">
                <a:solidFill>
                  <a:srgbClr val="222222"/>
                </a:solidFill>
                <a:latin typeface="Times New Roman"/>
                <a:cs typeface="Times New Roman"/>
              </a:rPr>
              <a:t> preprint </a:t>
            </a:r>
            <a:r>
              <a:rPr sz="1600" spc="-13" dirty="0">
                <a:solidFill>
                  <a:srgbClr val="222222"/>
                </a:solidFill>
                <a:latin typeface="Times New Roman"/>
                <a:cs typeface="Times New Roman"/>
              </a:rPr>
              <a:t>arXiv:2203.11171 </a:t>
            </a:r>
            <a:r>
              <a:rPr sz="1600" spc="-7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22222"/>
                </a:solidFill>
                <a:latin typeface="Times New Roman"/>
                <a:cs typeface="Times New Roman"/>
              </a:rPr>
              <a:t>(2022).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1650133" y="8615562"/>
            <a:ext cx="3793067" cy="205976"/>
          </a:xfrm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48</a:t>
            </a:fld>
            <a:endParaRPr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5FC8B4-7D92-0FD2-F54B-0E2F744B71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b="12390"/>
          <a:stretch/>
        </p:blipFill>
        <p:spPr>
          <a:xfrm>
            <a:off x="3383752" y="1449202"/>
            <a:ext cx="4294939" cy="47399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4BC42A6-644E-077B-9B3A-6D2B867E8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of Thoughts (</a:t>
            </a:r>
            <a:r>
              <a:rPr lang="en-US" dirty="0" err="1"/>
              <a:t>ToT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49CA2-1105-4D61-EAC5-FEE23F8D6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8493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5DDA00-3C9C-7174-5BBA-7DFB058D5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ToT</a:t>
            </a:r>
            <a:r>
              <a:rPr lang="en-US" dirty="0"/>
              <a:t> vs IO, </a:t>
            </a:r>
            <a:r>
              <a:rPr lang="en-US" dirty="0" err="1"/>
              <a:t>CoT</a:t>
            </a:r>
            <a:r>
              <a:rPr lang="en-US" dirty="0"/>
              <a:t>, </a:t>
            </a:r>
            <a:r>
              <a:rPr lang="en-US" dirty="0" err="1"/>
              <a:t>CoT</a:t>
            </a:r>
            <a:r>
              <a:rPr lang="en-US" dirty="0"/>
              <a:t>-SC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A9B55-3087-0CB6-B7A9-CDCA2965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50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C49160-BEC5-B7BE-3CFC-7ADAD72B4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669" y="1563221"/>
            <a:ext cx="9333781" cy="4304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2370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BC425E0-5010-5EC1-F7F1-EC07E79944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8949" y="990600"/>
            <a:ext cx="8154101" cy="54102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0FB968B-43AB-1671-0FDD-30CB26D94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survey papers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7AE20-326D-428E-10A1-9FD4BAB2F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A247BC-4AD2-9E83-BDD4-4DFEB34CD955}"/>
              </a:ext>
            </a:extLst>
          </p:cNvPr>
          <p:cNvSpPr txBox="1"/>
          <p:nvPr/>
        </p:nvSpPr>
        <p:spPr>
          <a:xfrm>
            <a:off x="3140848" y="6457890"/>
            <a:ext cx="6097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i="0" u="none" strike="noStrike" baseline="0" dirty="0">
                <a:latin typeface="URWPalladioL-Bold"/>
              </a:rPr>
              <a:t>Beyond Accuracy: Evaluating the Reasoning Behavior of</a:t>
            </a:r>
          </a:p>
          <a:p>
            <a:pPr algn="l"/>
            <a:r>
              <a:rPr lang="en-US" sz="1000" i="0" u="none" strike="noStrike" baseline="0" dirty="0">
                <a:latin typeface="URWPalladioL-Bold"/>
              </a:rPr>
              <a:t>Large Language Models - A Survey, https://arxiv.org/abs/2404.01869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35403033"/>
      </p:ext>
    </p:extLst>
  </p:cSld>
  <p:clrMapOvr>
    <a:masterClrMapping/>
  </p:clrMapOvr>
</p:sld>
</file>

<file path=ppt/theme/theme1.xml><?xml version="1.0" encoding="utf-8"?>
<a:theme xmlns:a="http://schemas.openxmlformats.org/drawingml/2006/main" name="Mai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>
        <a:ln w="1905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ig data template.pptx" id="{20A2C686-B26B-470E-A460-CDE7F6DF3BDB}" vid="{FEDE971F-BDA7-4940-B809-146585AB44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B597DB40EB548A2BE0F2D7EA3D291" ma:contentTypeVersion="4" ma:contentTypeDescription="Create a new document." ma:contentTypeScope="" ma:versionID="67aa8a13b95130bbc34076cb2215820b">
  <xsd:schema xmlns:xsd="http://www.w3.org/2001/XMLSchema" xmlns:xs="http://www.w3.org/2001/XMLSchema" xmlns:p="http://schemas.microsoft.com/office/2006/metadata/properties" xmlns:ns2="2f15783b-9d66-4350-8efe-5d8255e1b625" targetNamespace="http://schemas.microsoft.com/office/2006/metadata/properties" ma:root="true" ma:fieldsID="05d6e0c51ef7f9e31959f5f4da9e6eb0" ns2:_="">
    <xsd:import namespace="2f15783b-9d66-4350-8efe-5d8255e1b6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15783b-9d66-4350-8efe-5d8255e1b6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94A35A3-1549-4A7F-8284-4540AA946194}"/>
</file>

<file path=customXml/itemProps2.xml><?xml version="1.0" encoding="utf-8"?>
<ds:datastoreItem xmlns:ds="http://schemas.openxmlformats.org/officeDocument/2006/customXml" ds:itemID="{A120AD2A-FBAD-409C-99B8-11A3F161E1B4}"/>
</file>

<file path=customXml/itemProps3.xml><?xml version="1.0" encoding="utf-8"?>
<ds:datastoreItem xmlns:ds="http://schemas.openxmlformats.org/officeDocument/2006/customXml" ds:itemID="{AA2CBD6E-A3E0-4536-8DF0-0663DF32C104}"/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Big data template</Template>
  <TotalTime>18417</TotalTime>
  <Words>3184</Words>
  <Application>Microsoft Office PowerPoint</Application>
  <PresentationFormat>Widescreen</PresentationFormat>
  <Paragraphs>385</Paragraphs>
  <Slides>51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4" baseType="lpstr">
      <vt:lpstr>MS UI Gothic</vt:lpstr>
      <vt:lpstr>-apple-system</vt:lpstr>
      <vt:lpstr>Arial</vt:lpstr>
      <vt:lpstr>Arial MT</vt:lpstr>
      <vt:lpstr>Calibri</vt:lpstr>
      <vt:lpstr>Courier New</vt:lpstr>
      <vt:lpstr>Roboto Lt</vt:lpstr>
      <vt:lpstr>Tahoma</vt:lpstr>
      <vt:lpstr>Times New Roman</vt:lpstr>
      <vt:lpstr>URWPalladioL-Bold</vt:lpstr>
      <vt:lpstr>URWPalladioL-Ital</vt:lpstr>
      <vt:lpstr>Wingdings</vt:lpstr>
      <vt:lpstr>Main</vt:lpstr>
      <vt:lpstr>Reasoning in LLMs</vt:lpstr>
      <vt:lpstr>Reasoning</vt:lpstr>
      <vt:lpstr>Types of Reasoning</vt:lpstr>
      <vt:lpstr>Types of Reasoning</vt:lpstr>
      <vt:lpstr>Types of Reasoning</vt:lpstr>
      <vt:lpstr>Types of Reasoning</vt:lpstr>
      <vt:lpstr>Reasoning Problems</vt:lpstr>
      <vt:lpstr>Reasoning Problems</vt:lpstr>
      <vt:lpstr>PowerPoint Presentation</vt:lpstr>
      <vt:lpstr>PowerPoint Presentation</vt:lpstr>
      <vt:lpstr>Chain of Thought Prompting</vt:lpstr>
      <vt:lpstr>Chain of Thought (CoT)</vt:lpstr>
      <vt:lpstr>Chain of Thought (CoT)</vt:lpstr>
      <vt:lpstr>Chain of Thought (CoT)</vt:lpstr>
      <vt:lpstr>Elements of a Prompt</vt:lpstr>
      <vt:lpstr>Chain of Thought (CoT)</vt:lpstr>
      <vt:lpstr>PowerPoint Presentation</vt:lpstr>
      <vt:lpstr>PowerPoint Presentation</vt:lpstr>
      <vt:lpstr>Chain of Thought (CoT)</vt:lpstr>
      <vt:lpstr>Zero-Shot Chain of Thought (CoT)</vt:lpstr>
      <vt:lpstr>Zero-Shot Chain of Thought (CoT)</vt:lpstr>
      <vt:lpstr>Experiments</vt:lpstr>
      <vt:lpstr>Models</vt:lpstr>
      <vt:lpstr>Experiments   Arithmetic Reasoning</vt:lpstr>
      <vt:lpstr>Free Response - Few-Shot CoT Prompt Exemplar</vt:lpstr>
      <vt:lpstr>Free Response - Few-Shot CoT Prompt Exemplar</vt:lpstr>
      <vt:lpstr>Free Response - Few-Shot CoT Prompt Exemplar</vt:lpstr>
      <vt:lpstr>Free Response - Few-Shot CoT Prompt Exemplar</vt:lpstr>
      <vt:lpstr>Multiple Choice - Few-Shot CoT Prompt Exemplar</vt:lpstr>
      <vt:lpstr>Multiple Choice - Few-Shot CoT Prompt Exemplar</vt:lpstr>
      <vt:lpstr>Arithmetic Reasoning - Results</vt:lpstr>
      <vt:lpstr>Arithmetic Reasoning - Results</vt:lpstr>
      <vt:lpstr>Arithmetic Reasoning - Results</vt:lpstr>
      <vt:lpstr>Arithmetic Reasoning - Observations</vt:lpstr>
      <vt:lpstr>Experiments   Symbolic Reasoning</vt:lpstr>
      <vt:lpstr>Symbolic Reasoning - Last Letter Concatenation</vt:lpstr>
      <vt:lpstr>Symbolic Reasoning - Coin Flip</vt:lpstr>
      <vt:lpstr>Symbolic Reasoning - In &amp; Out-of-domain Test</vt:lpstr>
      <vt:lpstr>Symbolic Reasoning - Last Letter Concatenation</vt:lpstr>
      <vt:lpstr>Symbolic Reasoning - Coin Flip</vt:lpstr>
      <vt:lpstr>Symbolic Reasoning - Observations</vt:lpstr>
      <vt:lpstr>Commonsense Reasoning - Toy Problems</vt:lpstr>
      <vt:lpstr>Commonsense Reasoning - Toy Problems</vt:lpstr>
      <vt:lpstr>Commonsense Reasoning - Results</vt:lpstr>
      <vt:lpstr>Commonsense Reasoning - Results</vt:lpstr>
      <vt:lpstr>Commonsense Reasoning - Observations</vt:lpstr>
      <vt:lpstr>More Advances - Self-Consistency</vt:lpstr>
      <vt:lpstr>PowerPoint Presentation</vt:lpstr>
      <vt:lpstr>Tree of Thoughts (ToT)</vt:lpstr>
      <vt:lpstr>ToT vs IO, CoT, CoT-SC</vt:lpstr>
      <vt:lpstr>Different survey papers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 Models in Natural Language Processing</dc:title>
  <dc:creator>Yadollah Yaghoobzadeh</dc:creator>
  <cp:lastModifiedBy>Yadollah Yaghoobzadeh</cp:lastModifiedBy>
  <cp:revision>342</cp:revision>
  <dcterms:created xsi:type="dcterms:W3CDTF">2021-09-22T08:38:12Z</dcterms:created>
  <dcterms:modified xsi:type="dcterms:W3CDTF">2024-04-13T14:06:02Z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0x010100008B597DB40EB548A2BE0F2D7EA3D291</vt:lpwstr>
  </property>
</Properties>
</file>