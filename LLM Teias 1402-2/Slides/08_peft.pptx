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diagrams/data2.xml" ContentType="application/vnd.openxmlformats-officedocument.drawingml.diagramData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Metadata/LabelInfo.xml" ContentType="application/vnd.ms-office.classificationlabel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367" r:id="rId2"/>
    <p:sldId id="369" r:id="rId3"/>
    <p:sldId id="370" r:id="rId4"/>
    <p:sldId id="371" r:id="rId5"/>
    <p:sldId id="261" r:id="rId6"/>
    <p:sldId id="262" r:id="rId7"/>
    <p:sldId id="263" r:id="rId8"/>
    <p:sldId id="264" r:id="rId9"/>
    <p:sldId id="284" r:id="rId10"/>
    <p:sldId id="372" r:id="rId11"/>
    <p:sldId id="373" r:id="rId12"/>
    <p:sldId id="374" r:id="rId13"/>
    <p:sldId id="265" r:id="rId14"/>
    <p:sldId id="377" r:id="rId15"/>
    <p:sldId id="378" r:id="rId16"/>
    <p:sldId id="379" r:id="rId17"/>
    <p:sldId id="380" r:id="rId18"/>
    <p:sldId id="381" r:id="rId19"/>
    <p:sldId id="391" r:id="rId20"/>
    <p:sldId id="383" r:id="rId21"/>
    <p:sldId id="384" r:id="rId22"/>
    <p:sldId id="385" r:id="rId23"/>
    <p:sldId id="388" r:id="rId24"/>
    <p:sldId id="389" r:id="rId25"/>
    <p:sldId id="390" r:id="rId26"/>
    <p:sldId id="285" r:id="rId27"/>
    <p:sldId id="277" r:id="rId28"/>
    <p:sldId id="290" r:id="rId29"/>
    <p:sldId id="292" r:id="rId3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98" autoAdjust="0"/>
    <p:restoredTop sz="85146" autoAdjust="0"/>
  </p:normalViewPr>
  <p:slideViewPr>
    <p:cSldViewPr snapToGrid="0">
      <p:cViewPr>
        <p:scale>
          <a:sx n="80" d="100"/>
          <a:sy n="80" d="100"/>
        </p:scale>
        <p:origin x="57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679A1D-C9ED-4FE7-AC4A-001EED5E8431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67C925-7BBD-4CDF-83F2-9F90623E39DE}">
      <dgm:prSet phldrT="[Text]"/>
      <dgm:spPr>
        <a:solidFill>
          <a:srgbClr val="008000"/>
        </a:solidFill>
      </dgm:spPr>
      <dgm:t>
        <a:bodyPr/>
        <a:lstStyle/>
        <a:p>
          <a:r>
            <a:rPr lang="en-US" dirty="0"/>
            <a:t>PEFT methods</a:t>
          </a:r>
        </a:p>
      </dgm:t>
    </dgm:pt>
    <dgm:pt modelId="{EFDB8E7D-82F9-48E3-A8CB-69120D098E12}" type="parTrans" cxnId="{DD397CCD-92E8-4138-9A59-DF2169419490}">
      <dgm:prSet/>
      <dgm:spPr/>
      <dgm:t>
        <a:bodyPr/>
        <a:lstStyle/>
        <a:p>
          <a:endParaRPr lang="en-US"/>
        </a:p>
      </dgm:t>
    </dgm:pt>
    <dgm:pt modelId="{755F21D7-3F5B-41EE-BB22-00EADE649D11}" type="sibTrans" cxnId="{DD397CCD-92E8-4138-9A59-DF2169419490}">
      <dgm:prSet/>
      <dgm:spPr/>
      <dgm:t>
        <a:bodyPr/>
        <a:lstStyle/>
        <a:p>
          <a:endParaRPr lang="en-US"/>
        </a:p>
      </dgm:t>
    </dgm:pt>
    <dgm:pt modelId="{4402FF50-558F-4BE5-9E49-121C101D90D4}">
      <dgm:prSet phldrT="[Text]"/>
      <dgm:spPr>
        <a:solidFill>
          <a:srgbClr val="008000"/>
        </a:solidFill>
      </dgm:spPr>
      <dgm:t>
        <a:bodyPr/>
        <a:lstStyle/>
        <a:p>
          <a:r>
            <a:rPr lang="en-US" dirty="0"/>
            <a:t>Additive methods</a:t>
          </a:r>
        </a:p>
      </dgm:t>
    </dgm:pt>
    <dgm:pt modelId="{CA5661AB-FCB7-48E8-906B-E774E2F0CE94}" type="parTrans" cxnId="{7204DC9A-0DE1-4E5E-9D63-B0D34F102666}">
      <dgm:prSet/>
      <dgm:spPr/>
      <dgm:t>
        <a:bodyPr/>
        <a:lstStyle/>
        <a:p>
          <a:endParaRPr lang="en-US"/>
        </a:p>
      </dgm:t>
    </dgm:pt>
    <dgm:pt modelId="{E71261D8-DD7A-4203-A5C1-F67040F8A08A}" type="sibTrans" cxnId="{7204DC9A-0DE1-4E5E-9D63-B0D34F102666}">
      <dgm:prSet/>
      <dgm:spPr/>
      <dgm:t>
        <a:bodyPr/>
        <a:lstStyle/>
        <a:p>
          <a:endParaRPr lang="en-US"/>
        </a:p>
      </dgm:t>
    </dgm:pt>
    <dgm:pt modelId="{79713508-1D6A-4A99-A41F-8B4AB7EF936C}">
      <dgm:prSet phldrT="[Text]"/>
      <dgm:spPr>
        <a:solidFill>
          <a:srgbClr val="008000"/>
        </a:solidFill>
      </dgm:spPr>
      <dgm:t>
        <a:bodyPr/>
        <a:lstStyle/>
        <a:p>
          <a:r>
            <a:rPr lang="en-US" dirty="0"/>
            <a:t>Adapters</a:t>
          </a:r>
        </a:p>
      </dgm:t>
    </dgm:pt>
    <dgm:pt modelId="{E65BBA60-408C-4776-9381-F52FBC03A066}" type="parTrans" cxnId="{0F02D6E2-9653-41AA-8FB9-0B5CF8380B81}">
      <dgm:prSet/>
      <dgm:spPr/>
      <dgm:t>
        <a:bodyPr/>
        <a:lstStyle/>
        <a:p>
          <a:endParaRPr lang="en-US"/>
        </a:p>
      </dgm:t>
    </dgm:pt>
    <dgm:pt modelId="{D4D8D03F-22CE-43E2-8015-663699BBD1C3}" type="sibTrans" cxnId="{0F02D6E2-9653-41AA-8FB9-0B5CF8380B81}">
      <dgm:prSet/>
      <dgm:spPr/>
      <dgm:t>
        <a:bodyPr/>
        <a:lstStyle/>
        <a:p>
          <a:endParaRPr lang="en-US"/>
        </a:p>
      </dgm:t>
    </dgm:pt>
    <dgm:pt modelId="{270C9E12-81FC-4D08-99B9-FC410FD1AA70}">
      <dgm:prSet phldrT="[Text]"/>
      <dgm:spPr>
        <a:solidFill>
          <a:srgbClr val="008000"/>
        </a:solidFill>
      </dgm:spPr>
      <dgm:t>
        <a:bodyPr/>
        <a:lstStyle/>
        <a:p>
          <a:r>
            <a:rPr lang="en-US" dirty="0"/>
            <a:t>Soft Prompts</a:t>
          </a:r>
        </a:p>
      </dgm:t>
    </dgm:pt>
    <dgm:pt modelId="{1440285C-277E-43CC-AA6D-146E580AA9EE}" type="parTrans" cxnId="{2499484A-D901-4F25-A447-E8D40A2E9402}">
      <dgm:prSet/>
      <dgm:spPr/>
      <dgm:t>
        <a:bodyPr/>
        <a:lstStyle/>
        <a:p>
          <a:endParaRPr lang="en-US"/>
        </a:p>
      </dgm:t>
    </dgm:pt>
    <dgm:pt modelId="{8260834F-70F6-4467-9EC1-3C5779FA998E}" type="sibTrans" cxnId="{2499484A-D901-4F25-A447-E8D40A2E9402}">
      <dgm:prSet/>
      <dgm:spPr/>
      <dgm:t>
        <a:bodyPr/>
        <a:lstStyle/>
        <a:p>
          <a:endParaRPr lang="en-US"/>
        </a:p>
      </dgm:t>
    </dgm:pt>
    <dgm:pt modelId="{860BCC51-F298-4416-9E1B-C63D860980AE}">
      <dgm:prSet phldrT="[Text]"/>
      <dgm:spPr>
        <a:solidFill>
          <a:srgbClr val="008000"/>
        </a:solidFill>
      </dgm:spPr>
      <dgm:t>
        <a:bodyPr/>
        <a:lstStyle/>
        <a:p>
          <a:r>
            <a:rPr lang="en-US" dirty="0"/>
            <a:t>Selective methods</a:t>
          </a:r>
        </a:p>
      </dgm:t>
    </dgm:pt>
    <dgm:pt modelId="{17258EEC-B5E4-4947-B190-F199E49BBCFF}" type="parTrans" cxnId="{8646027E-F2C7-43A4-8D60-824B798D546E}">
      <dgm:prSet/>
      <dgm:spPr/>
      <dgm:t>
        <a:bodyPr/>
        <a:lstStyle/>
        <a:p>
          <a:endParaRPr lang="en-US"/>
        </a:p>
      </dgm:t>
    </dgm:pt>
    <dgm:pt modelId="{6858AFFE-099F-4DFF-AD99-4F7EB3D42531}" type="sibTrans" cxnId="{8646027E-F2C7-43A4-8D60-824B798D546E}">
      <dgm:prSet/>
      <dgm:spPr/>
      <dgm:t>
        <a:bodyPr/>
        <a:lstStyle/>
        <a:p>
          <a:endParaRPr lang="en-US"/>
        </a:p>
      </dgm:t>
    </dgm:pt>
    <dgm:pt modelId="{2E279758-901F-4724-B63A-C9A6805B7EBD}">
      <dgm:prSet phldrT="[Text]"/>
      <dgm:spPr>
        <a:solidFill>
          <a:srgbClr val="008000"/>
        </a:solidFill>
      </dgm:spPr>
      <dgm:t>
        <a:bodyPr/>
        <a:lstStyle/>
        <a:p>
          <a:r>
            <a:rPr lang="en-US" dirty="0" err="1"/>
            <a:t>Reparametrization</a:t>
          </a:r>
          <a:r>
            <a:rPr lang="en-US" dirty="0"/>
            <a:t>-based methods</a:t>
          </a:r>
        </a:p>
      </dgm:t>
    </dgm:pt>
    <dgm:pt modelId="{3D94E438-11E9-4931-9292-E8816266C23A}" type="parTrans" cxnId="{A3FA9DE6-20F1-45BA-8519-A09F80B0468D}">
      <dgm:prSet/>
      <dgm:spPr/>
      <dgm:t>
        <a:bodyPr/>
        <a:lstStyle/>
        <a:p>
          <a:endParaRPr lang="en-US"/>
        </a:p>
      </dgm:t>
    </dgm:pt>
    <dgm:pt modelId="{AD0D0121-6DFB-49CD-A946-EB75263A9CB2}" type="sibTrans" cxnId="{A3FA9DE6-20F1-45BA-8519-A09F80B0468D}">
      <dgm:prSet/>
      <dgm:spPr/>
      <dgm:t>
        <a:bodyPr/>
        <a:lstStyle/>
        <a:p>
          <a:endParaRPr lang="en-US"/>
        </a:p>
      </dgm:t>
    </dgm:pt>
    <dgm:pt modelId="{E76F2D66-78E6-423A-9FBD-B4CB03AEE27C}">
      <dgm:prSet phldrT="[Text]"/>
      <dgm:spPr>
        <a:solidFill>
          <a:srgbClr val="008000"/>
        </a:solidFill>
      </dgm:spPr>
      <dgm:t>
        <a:bodyPr/>
        <a:lstStyle/>
        <a:p>
          <a:r>
            <a:rPr lang="en-US" dirty="0"/>
            <a:t>Hybrid methods</a:t>
          </a:r>
        </a:p>
      </dgm:t>
    </dgm:pt>
    <dgm:pt modelId="{55EA56C8-2E5E-4FF8-AAB2-20F560762B66}" type="parTrans" cxnId="{6F701CF1-F839-44E2-8CE3-875286B16AF1}">
      <dgm:prSet/>
      <dgm:spPr/>
      <dgm:t>
        <a:bodyPr/>
        <a:lstStyle/>
        <a:p>
          <a:endParaRPr lang="en-US"/>
        </a:p>
      </dgm:t>
    </dgm:pt>
    <dgm:pt modelId="{83B1A3ED-92D9-4716-B0BD-09D22A987FE8}" type="sibTrans" cxnId="{6F701CF1-F839-44E2-8CE3-875286B16AF1}">
      <dgm:prSet/>
      <dgm:spPr/>
      <dgm:t>
        <a:bodyPr/>
        <a:lstStyle/>
        <a:p>
          <a:endParaRPr lang="en-US"/>
        </a:p>
      </dgm:t>
    </dgm:pt>
    <dgm:pt modelId="{2182FFC3-4E88-4D46-A70A-EFCD15771BFA}" type="pres">
      <dgm:prSet presAssocID="{00679A1D-C9ED-4FE7-AC4A-001EED5E843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01E249B-6514-4315-8CEF-021D4811A663}" type="pres">
      <dgm:prSet presAssocID="{4A67C925-7BBD-4CDF-83F2-9F90623E39DE}" presName="root1" presStyleCnt="0"/>
      <dgm:spPr/>
    </dgm:pt>
    <dgm:pt modelId="{8CB3E0E6-4B0C-459E-8998-64B7525D0E00}" type="pres">
      <dgm:prSet presAssocID="{4A67C925-7BBD-4CDF-83F2-9F90623E39DE}" presName="LevelOneTextNode" presStyleLbl="node0" presStyleIdx="0" presStyleCnt="1">
        <dgm:presLayoutVars>
          <dgm:chPref val="3"/>
        </dgm:presLayoutVars>
      </dgm:prSet>
      <dgm:spPr/>
    </dgm:pt>
    <dgm:pt modelId="{32DF0001-A37C-43C7-9EB8-B39D5F81E072}" type="pres">
      <dgm:prSet presAssocID="{4A67C925-7BBD-4CDF-83F2-9F90623E39DE}" presName="level2hierChild" presStyleCnt="0"/>
      <dgm:spPr/>
    </dgm:pt>
    <dgm:pt modelId="{8EBAE483-8184-4EEA-97BB-B462B11EE33C}" type="pres">
      <dgm:prSet presAssocID="{CA5661AB-FCB7-48E8-906B-E774E2F0CE94}" presName="conn2-1" presStyleLbl="parChTrans1D2" presStyleIdx="0" presStyleCnt="4"/>
      <dgm:spPr/>
    </dgm:pt>
    <dgm:pt modelId="{BA0E5831-4312-4046-A33B-308B0A32B2A2}" type="pres">
      <dgm:prSet presAssocID="{CA5661AB-FCB7-48E8-906B-E774E2F0CE94}" presName="connTx" presStyleLbl="parChTrans1D2" presStyleIdx="0" presStyleCnt="4"/>
      <dgm:spPr/>
    </dgm:pt>
    <dgm:pt modelId="{CDBB4521-68E5-490A-B1FC-96D070A31152}" type="pres">
      <dgm:prSet presAssocID="{4402FF50-558F-4BE5-9E49-121C101D90D4}" presName="root2" presStyleCnt="0"/>
      <dgm:spPr/>
    </dgm:pt>
    <dgm:pt modelId="{B6E8AB34-E36F-4814-BF53-05A05AE90E5C}" type="pres">
      <dgm:prSet presAssocID="{4402FF50-558F-4BE5-9E49-121C101D90D4}" presName="LevelTwoTextNode" presStyleLbl="node2" presStyleIdx="0" presStyleCnt="4">
        <dgm:presLayoutVars>
          <dgm:chPref val="3"/>
        </dgm:presLayoutVars>
      </dgm:prSet>
      <dgm:spPr/>
    </dgm:pt>
    <dgm:pt modelId="{21B36A78-F430-4F56-BFA6-A8A9F5B9E168}" type="pres">
      <dgm:prSet presAssocID="{4402FF50-558F-4BE5-9E49-121C101D90D4}" presName="level3hierChild" presStyleCnt="0"/>
      <dgm:spPr/>
    </dgm:pt>
    <dgm:pt modelId="{F9F70987-86ED-4841-BF5D-EA720B394AFE}" type="pres">
      <dgm:prSet presAssocID="{E65BBA60-408C-4776-9381-F52FBC03A066}" presName="conn2-1" presStyleLbl="parChTrans1D3" presStyleIdx="0" presStyleCnt="2"/>
      <dgm:spPr/>
    </dgm:pt>
    <dgm:pt modelId="{2EEE1B99-2E8B-4E14-8CEF-7F1D8899666B}" type="pres">
      <dgm:prSet presAssocID="{E65BBA60-408C-4776-9381-F52FBC03A066}" presName="connTx" presStyleLbl="parChTrans1D3" presStyleIdx="0" presStyleCnt="2"/>
      <dgm:spPr/>
    </dgm:pt>
    <dgm:pt modelId="{23BFF6DE-DCFD-42C9-AC15-AD78D723F8BA}" type="pres">
      <dgm:prSet presAssocID="{79713508-1D6A-4A99-A41F-8B4AB7EF936C}" presName="root2" presStyleCnt="0"/>
      <dgm:spPr/>
    </dgm:pt>
    <dgm:pt modelId="{55FA1E1E-FA49-4ACA-985B-E0BF387400B5}" type="pres">
      <dgm:prSet presAssocID="{79713508-1D6A-4A99-A41F-8B4AB7EF936C}" presName="LevelTwoTextNode" presStyleLbl="node3" presStyleIdx="0" presStyleCnt="2">
        <dgm:presLayoutVars>
          <dgm:chPref val="3"/>
        </dgm:presLayoutVars>
      </dgm:prSet>
      <dgm:spPr/>
    </dgm:pt>
    <dgm:pt modelId="{8C71FEC9-5CA9-40BE-B65F-62EDFE7D892A}" type="pres">
      <dgm:prSet presAssocID="{79713508-1D6A-4A99-A41F-8B4AB7EF936C}" presName="level3hierChild" presStyleCnt="0"/>
      <dgm:spPr/>
    </dgm:pt>
    <dgm:pt modelId="{E2ECE464-E8BE-4E61-A208-C808CBFCF566}" type="pres">
      <dgm:prSet presAssocID="{1440285C-277E-43CC-AA6D-146E580AA9EE}" presName="conn2-1" presStyleLbl="parChTrans1D3" presStyleIdx="1" presStyleCnt="2"/>
      <dgm:spPr/>
    </dgm:pt>
    <dgm:pt modelId="{47E01EDF-B9EF-4DFF-8F54-E9C66C92C7D5}" type="pres">
      <dgm:prSet presAssocID="{1440285C-277E-43CC-AA6D-146E580AA9EE}" presName="connTx" presStyleLbl="parChTrans1D3" presStyleIdx="1" presStyleCnt="2"/>
      <dgm:spPr/>
    </dgm:pt>
    <dgm:pt modelId="{68E39306-E962-4540-9349-8C31BF4A7B41}" type="pres">
      <dgm:prSet presAssocID="{270C9E12-81FC-4D08-99B9-FC410FD1AA70}" presName="root2" presStyleCnt="0"/>
      <dgm:spPr/>
    </dgm:pt>
    <dgm:pt modelId="{F7558492-1A9C-4E05-B824-113D6B176369}" type="pres">
      <dgm:prSet presAssocID="{270C9E12-81FC-4D08-99B9-FC410FD1AA70}" presName="LevelTwoTextNode" presStyleLbl="node3" presStyleIdx="1" presStyleCnt="2">
        <dgm:presLayoutVars>
          <dgm:chPref val="3"/>
        </dgm:presLayoutVars>
      </dgm:prSet>
      <dgm:spPr/>
    </dgm:pt>
    <dgm:pt modelId="{F0EFCBE9-DC0D-4079-B530-4B736C1AA063}" type="pres">
      <dgm:prSet presAssocID="{270C9E12-81FC-4D08-99B9-FC410FD1AA70}" presName="level3hierChild" presStyleCnt="0"/>
      <dgm:spPr/>
    </dgm:pt>
    <dgm:pt modelId="{634BB365-A15D-4BCF-9166-EC73010DF7FC}" type="pres">
      <dgm:prSet presAssocID="{17258EEC-B5E4-4947-B190-F199E49BBCFF}" presName="conn2-1" presStyleLbl="parChTrans1D2" presStyleIdx="1" presStyleCnt="4"/>
      <dgm:spPr/>
    </dgm:pt>
    <dgm:pt modelId="{A02BF026-CF46-4950-AC92-8750353E51E5}" type="pres">
      <dgm:prSet presAssocID="{17258EEC-B5E4-4947-B190-F199E49BBCFF}" presName="connTx" presStyleLbl="parChTrans1D2" presStyleIdx="1" presStyleCnt="4"/>
      <dgm:spPr/>
    </dgm:pt>
    <dgm:pt modelId="{BFD586AD-C011-4FE2-A52A-F46D93E8DDCB}" type="pres">
      <dgm:prSet presAssocID="{860BCC51-F298-4416-9E1B-C63D860980AE}" presName="root2" presStyleCnt="0"/>
      <dgm:spPr/>
    </dgm:pt>
    <dgm:pt modelId="{366A61D0-0EA8-4EC9-81BF-7B2E038411BE}" type="pres">
      <dgm:prSet presAssocID="{860BCC51-F298-4416-9E1B-C63D860980AE}" presName="LevelTwoTextNode" presStyleLbl="node2" presStyleIdx="1" presStyleCnt="4">
        <dgm:presLayoutVars>
          <dgm:chPref val="3"/>
        </dgm:presLayoutVars>
      </dgm:prSet>
      <dgm:spPr/>
    </dgm:pt>
    <dgm:pt modelId="{A5E60D78-1D86-458D-AB82-03A9DE9F5284}" type="pres">
      <dgm:prSet presAssocID="{860BCC51-F298-4416-9E1B-C63D860980AE}" presName="level3hierChild" presStyleCnt="0"/>
      <dgm:spPr/>
    </dgm:pt>
    <dgm:pt modelId="{DAF12AD6-007A-42AF-A1AF-8664F73E1CF2}" type="pres">
      <dgm:prSet presAssocID="{3D94E438-11E9-4931-9292-E8816266C23A}" presName="conn2-1" presStyleLbl="parChTrans1D2" presStyleIdx="2" presStyleCnt="4"/>
      <dgm:spPr/>
    </dgm:pt>
    <dgm:pt modelId="{CDC8A49B-CF66-4A95-B0C3-548804B2723B}" type="pres">
      <dgm:prSet presAssocID="{3D94E438-11E9-4931-9292-E8816266C23A}" presName="connTx" presStyleLbl="parChTrans1D2" presStyleIdx="2" presStyleCnt="4"/>
      <dgm:spPr/>
    </dgm:pt>
    <dgm:pt modelId="{FC20850B-93F6-40B7-8A02-791F6ED14E80}" type="pres">
      <dgm:prSet presAssocID="{2E279758-901F-4724-B63A-C9A6805B7EBD}" presName="root2" presStyleCnt="0"/>
      <dgm:spPr/>
    </dgm:pt>
    <dgm:pt modelId="{805CBBF3-22CD-4FB2-B60E-AA752C804D78}" type="pres">
      <dgm:prSet presAssocID="{2E279758-901F-4724-B63A-C9A6805B7EBD}" presName="LevelTwoTextNode" presStyleLbl="node2" presStyleIdx="2" presStyleCnt="4">
        <dgm:presLayoutVars>
          <dgm:chPref val="3"/>
        </dgm:presLayoutVars>
      </dgm:prSet>
      <dgm:spPr/>
    </dgm:pt>
    <dgm:pt modelId="{1DA0624F-34E9-4BE7-A73B-3EB48667CD1C}" type="pres">
      <dgm:prSet presAssocID="{2E279758-901F-4724-B63A-C9A6805B7EBD}" presName="level3hierChild" presStyleCnt="0"/>
      <dgm:spPr/>
    </dgm:pt>
    <dgm:pt modelId="{380C216F-3578-4E89-9313-A596A7F4B46D}" type="pres">
      <dgm:prSet presAssocID="{55EA56C8-2E5E-4FF8-AAB2-20F560762B66}" presName="conn2-1" presStyleLbl="parChTrans1D2" presStyleIdx="3" presStyleCnt="4"/>
      <dgm:spPr/>
    </dgm:pt>
    <dgm:pt modelId="{5D998D52-CD5E-4437-A0CA-069A2C3D609F}" type="pres">
      <dgm:prSet presAssocID="{55EA56C8-2E5E-4FF8-AAB2-20F560762B66}" presName="connTx" presStyleLbl="parChTrans1D2" presStyleIdx="3" presStyleCnt="4"/>
      <dgm:spPr/>
    </dgm:pt>
    <dgm:pt modelId="{B98C8E60-B418-4DAF-B513-AA08733297E2}" type="pres">
      <dgm:prSet presAssocID="{E76F2D66-78E6-423A-9FBD-B4CB03AEE27C}" presName="root2" presStyleCnt="0"/>
      <dgm:spPr/>
    </dgm:pt>
    <dgm:pt modelId="{96ABDA7E-EC13-4F6D-A97D-025ACA12BDD5}" type="pres">
      <dgm:prSet presAssocID="{E76F2D66-78E6-423A-9FBD-B4CB03AEE27C}" presName="LevelTwoTextNode" presStyleLbl="node2" presStyleIdx="3" presStyleCnt="4">
        <dgm:presLayoutVars>
          <dgm:chPref val="3"/>
        </dgm:presLayoutVars>
      </dgm:prSet>
      <dgm:spPr/>
    </dgm:pt>
    <dgm:pt modelId="{C01457F2-6822-4ADF-82C4-A8D4A4C5F518}" type="pres">
      <dgm:prSet presAssocID="{E76F2D66-78E6-423A-9FBD-B4CB03AEE27C}" presName="level3hierChild" presStyleCnt="0"/>
      <dgm:spPr/>
    </dgm:pt>
  </dgm:ptLst>
  <dgm:cxnLst>
    <dgm:cxn modelId="{5400F300-EB53-4F03-B748-C91FEE98392F}" type="presOf" srcId="{4A67C925-7BBD-4CDF-83F2-9F90623E39DE}" destId="{8CB3E0E6-4B0C-459E-8998-64B7525D0E00}" srcOrd="0" destOrd="0" presId="urn:microsoft.com/office/officeart/2005/8/layout/hierarchy2"/>
    <dgm:cxn modelId="{CEDA2509-A89A-4B54-8601-19C10B4C7A17}" type="presOf" srcId="{4402FF50-558F-4BE5-9E49-121C101D90D4}" destId="{B6E8AB34-E36F-4814-BF53-05A05AE90E5C}" srcOrd="0" destOrd="0" presId="urn:microsoft.com/office/officeart/2005/8/layout/hierarchy2"/>
    <dgm:cxn modelId="{F833DD0E-FD1B-47A4-A41C-4C77472E3FA8}" type="presOf" srcId="{E65BBA60-408C-4776-9381-F52FBC03A066}" destId="{2EEE1B99-2E8B-4E14-8CEF-7F1D8899666B}" srcOrd="1" destOrd="0" presId="urn:microsoft.com/office/officeart/2005/8/layout/hierarchy2"/>
    <dgm:cxn modelId="{D831A614-A7F5-4A57-9254-957F7A943FED}" type="presOf" srcId="{CA5661AB-FCB7-48E8-906B-E774E2F0CE94}" destId="{BA0E5831-4312-4046-A33B-308B0A32B2A2}" srcOrd="1" destOrd="0" presId="urn:microsoft.com/office/officeart/2005/8/layout/hierarchy2"/>
    <dgm:cxn modelId="{4AF52421-9D37-4A04-85B1-33424FFF87F1}" type="presOf" srcId="{79713508-1D6A-4A99-A41F-8B4AB7EF936C}" destId="{55FA1E1E-FA49-4ACA-985B-E0BF387400B5}" srcOrd="0" destOrd="0" presId="urn:microsoft.com/office/officeart/2005/8/layout/hierarchy2"/>
    <dgm:cxn modelId="{B45F0F29-6C7F-4C6F-83C9-EAD1D6CF3166}" type="presOf" srcId="{55EA56C8-2E5E-4FF8-AAB2-20F560762B66}" destId="{5D998D52-CD5E-4437-A0CA-069A2C3D609F}" srcOrd="1" destOrd="0" presId="urn:microsoft.com/office/officeart/2005/8/layout/hierarchy2"/>
    <dgm:cxn modelId="{9548F939-116F-46F7-9B04-0CD3AFB16155}" type="presOf" srcId="{860BCC51-F298-4416-9E1B-C63D860980AE}" destId="{366A61D0-0EA8-4EC9-81BF-7B2E038411BE}" srcOrd="0" destOrd="0" presId="urn:microsoft.com/office/officeart/2005/8/layout/hierarchy2"/>
    <dgm:cxn modelId="{F923563B-7A0E-4CD2-A27F-66EDCDEAA581}" type="presOf" srcId="{CA5661AB-FCB7-48E8-906B-E774E2F0CE94}" destId="{8EBAE483-8184-4EEA-97BB-B462B11EE33C}" srcOrd="0" destOrd="0" presId="urn:microsoft.com/office/officeart/2005/8/layout/hierarchy2"/>
    <dgm:cxn modelId="{B4401F3F-DB25-4403-BAFA-9F475D8D6FC0}" type="presOf" srcId="{1440285C-277E-43CC-AA6D-146E580AA9EE}" destId="{47E01EDF-B9EF-4DFF-8F54-E9C66C92C7D5}" srcOrd="1" destOrd="0" presId="urn:microsoft.com/office/officeart/2005/8/layout/hierarchy2"/>
    <dgm:cxn modelId="{0BB7214A-7C2E-43A9-A4F5-EE484379F19A}" type="presOf" srcId="{E76F2D66-78E6-423A-9FBD-B4CB03AEE27C}" destId="{96ABDA7E-EC13-4F6D-A97D-025ACA12BDD5}" srcOrd="0" destOrd="0" presId="urn:microsoft.com/office/officeart/2005/8/layout/hierarchy2"/>
    <dgm:cxn modelId="{2499484A-D901-4F25-A447-E8D40A2E9402}" srcId="{4402FF50-558F-4BE5-9E49-121C101D90D4}" destId="{270C9E12-81FC-4D08-99B9-FC410FD1AA70}" srcOrd="1" destOrd="0" parTransId="{1440285C-277E-43CC-AA6D-146E580AA9EE}" sibTransId="{8260834F-70F6-4467-9EC1-3C5779FA998E}"/>
    <dgm:cxn modelId="{0596E96A-EE7E-42FC-9B30-71CC95E153A6}" type="presOf" srcId="{17258EEC-B5E4-4947-B190-F199E49BBCFF}" destId="{A02BF026-CF46-4950-AC92-8750353E51E5}" srcOrd="1" destOrd="0" presId="urn:microsoft.com/office/officeart/2005/8/layout/hierarchy2"/>
    <dgm:cxn modelId="{D887D350-B7AE-45E8-A53D-E1964F19E0C0}" type="presOf" srcId="{3D94E438-11E9-4931-9292-E8816266C23A}" destId="{DAF12AD6-007A-42AF-A1AF-8664F73E1CF2}" srcOrd="0" destOrd="0" presId="urn:microsoft.com/office/officeart/2005/8/layout/hierarchy2"/>
    <dgm:cxn modelId="{8646027E-F2C7-43A4-8D60-824B798D546E}" srcId="{4A67C925-7BBD-4CDF-83F2-9F90623E39DE}" destId="{860BCC51-F298-4416-9E1B-C63D860980AE}" srcOrd="1" destOrd="0" parTransId="{17258EEC-B5E4-4947-B190-F199E49BBCFF}" sibTransId="{6858AFFE-099F-4DFF-AD99-4F7EB3D42531}"/>
    <dgm:cxn modelId="{DDD10F7F-5E95-44C1-AFFB-0B5B5D3615B8}" type="presOf" srcId="{1440285C-277E-43CC-AA6D-146E580AA9EE}" destId="{E2ECE464-E8BE-4E61-A208-C808CBFCF566}" srcOrd="0" destOrd="0" presId="urn:microsoft.com/office/officeart/2005/8/layout/hierarchy2"/>
    <dgm:cxn modelId="{B86EB989-6AE2-4907-9920-DD5315429492}" type="presOf" srcId="{2E279758-901F-4724-B63A-C9A6805B7EBD}" destId="{805CBBF3-22CD-4FB2-B60E-AA752C804D78}" srcOrd="0" destOrd="0" presId="urn:microsoft.com/office/officeart/2005/8/layout/hierarchy2"/>
    <dgm:cxn modelId="{B7E7FD99-AFA0-418C-BECA-934D9F22787C}" type="presOf" srcId="{55EA56C8-2E5E-4FF8-AAB2-20F560762B66}" destId="{380C216F-3578-4E89-9313-A596A7F4B46D}" srcOrd="0" destOrd="0" presId="urn:microsoft.com/office/officeart/2005/8/layout/hierarchy2"/>
    <dgm:cxn modelId="{7204DC9A-0DE1-4E5E-9D63-B0D34F102666}" srcId="{4A67C925-7BBD-4CDF-83F2-9F90623E39DE}" destId="{4402FF50-558F-4BE5-9E49-121C101D90D4}" srcOrd="0" destOrd="0" parTransId="{CA5661AB-FCB7-48E8-906B-E774E2F0CE94}" sibTransId="{E71261D8-DD7A-4203-A5C1-F67040F8A08A}"/>
    <dgm:cxn modelId="{6D8BEAC0-FB71-43F2-9B4C-8065A9FE1E77}" type="presOf" srcId="{3D94E438-11E9-4931-9292-E8816266C23A}" destId="{CDC8A49B-CF66-4A95-B0C3-548804B2723B}" srcOrd="1" destOrd="0" presId="urn:microsoft.com/office/officeart/2005/8/layout/hierarchy2"/>
    <dgm:cxn modelId="{DD397CCD-92E8-4138-9A59-DF2169419490}" srcId="{00679A1D-C9ED-4FE7-AC4A-001EED5E8431}" destId="{4A67C925-7BBD-4CDF-83F2-9F90623E39DE}" srcOrd="0" destOrd="0" parTransId="{EFDB8E7D-82F9-48E3-A8CB-69120D098E12}" sibTransId="{755F21D7-3F5B-41EE-BB22-00EADE649D11}"/>
    <dgm:cxn modelId="{0F02D6E2-9653-41AA-8FB9-0B5CF8380B81}" srcId="{4402FF50-558F-4BE5-9E49-121C101D90D4}" destId="{79713508-1D6A-4A99-A41F-8B4AB7EF936C}" srcOrd="0" destOrd="0" parTransId="{E65BBA60-408C-4776-9381-F52FBC03A066}" sibTransId="{D4D8D03F-22CE-43E2-8015-663699BBD1C3}"/>
    <dgm:cxn modelId="{A3FA9DE6-20F1-45BA-8519-A09F80B0468D}" srcId="{4A67C925-7BBD-4CDF-83F2-9F90623E39DE}" destId="{2E279758-901F-4724-B63A-C9A6805B7EBD}" srcOrd="2" destOrd="0" parTransId="{3D94E438-11E9-4931-9292-E8816266C23A}" sibTransId="{AD0D0121-6DFB-49CD-A946-EB75263A9CB2}"/>
    <dgm:cxn modelId="{7CEA8AF0-356C-4C2A-A03F-D21E5BE6B4ED}" type="presOf" srcId="{270C9E12-81FC-4D08-99B9-FC410FD1AA70}" destId="{F7558492-1A9C-4E05-B824-113D6B176369}" srcOrd="0" destOrd="0" presId="urn:microsoft.com/office/officeart/2005/8/layout/hierarchy2"/>
    <dgm:cxn modelId="{6F701CF1-F839-44E2-8CE3-875286B16AF1}" srcId="{4A67C925-7BBD-4CDF-83F2-9F90623E39DE}" destId="{E76F2D66-78E6-423A-9FBD-B4CB03AEE27C}" srcOrd="3" destOrd="0" parTransId="{55EA56C8-2E5E-4FF8-AAB2-20F560762B66}" sibTransId="{83B1A3ED-92D9-4716-B0BD-09D22A987FE8}"/>
    <dgm:cxn modelId="{50E2D9F4-FDFD-4DED-A56C-81B311FE897A}" type="presOf" srcId="{E65BBA60-408C-4776-9381-F52FBC03A066}" destId="{F9F70987-86ED-4841-BF5D-EA720B394AFE}" srcOrd="0" destOrd="0" presId="urn:microsoft.com/office/officeart/2005/8/layout/hierarchy2"/>
    <dgm:cxn modelId="{E3DCEEF6-D33F-4D0F-AFB2-A72C07DF27AD}" type="presOf" srcId="{17258EEC-B5E4-4947-B190-F199E49BBCFF}" destId="{634BB365-A15D-4BCF-9166-EC73010DF7FC}" srcOrd="0" destOrd="0" presId="urn:microsoft.com/office/officeart/2005/8/layout/hierarchy2"/>
    <dgm:cxn modelId="{70CFB2FC-E360-4441-82C3-106E334BBDDE}" type="presOf" srcId="{00679A1D-C9ED-4FE7-AC4A-001EED5E8431}" destId="{2182FFC3-4E88-4D46-A70A-EFCD15771BFA}" srcOrd="0" destOrd="0" presId="urn:microsoft.com/office/officeart/2005/8/layout/hierarchy2"/>
    <dgm:cxn modelId="{06334F83-5330-42D4-A710-6ABDB9CC5254}" type="presParOf" srcId="{2182FFC3-4E88-4D46-A70A-EFCD15771BFA}" destId="{801E249B-6514-4315-8CEF-021D4811A663}" srcOrd="0" destOrd="0" presId="urn:microsoft.com/office/officeart/2005/8/layout/hierarchy2"/>
    <dgm:cxn modelId="{3152F6D8-DC09-41B3-B071-7C0CD2E6A008}" type="presParOf" srcId="{801E249B-6514-4315-8CEF-021D4811A663}" destId="{8CB3E0E6-4B0C-459E-8998-64B7525D0E00}" srcOrd="0" destOrd="0" presId="urn:microsoft.com/office/officeart/2005/8/layout/hierarchy2"/>
    <dgm:cxn modelId="{BE7A86A7-8813-4181-8B30-D6D2521023D1}" type="presParOf" srcId="{801E249B-6514-4315-8CEF-021D4811A663}" destId="{32DF0001-A37C-43C7-9EB8-B39D5F81E072}" srcOrd="1" destOrd="0" presId="urn:microsoft.com/office/officeart/2005/8/layout/hierarchy2"/>
    <dgm:cxn modelId="{1BECBC28-A122-404F-9A9F-2113469CDB93}" type="presParOf" srcId="{32DF0001-A37C-43C7-9EB8-B39D5F81E072}" destId="{8EBAE483-8184-4EEA-97BB-B462B11EE33C}" srcOrd="0" destOrd="0" presId="urn:microsoft.com/office/officeart/2005/8/layout/hierarchy2"/>
    <dgm:cxn modelId="{57E55D3C-7C03-44E0-88FE-093671606B32}" type="presParOf" srcId="{8EBAE483-8184-4EEA-97BB-B462B11EE33C}" destId="{BA0E5831-4312-4046-A33B-308B0A32B2A2}" srcOrd="0" destOrd="0" presId="urn:microsoft.com/office/officeart/2005/8/layout/hierarchy2"/>
    <dgm:cxn modelId="{7E8D06CC-7A95-4229-9610-96C834BD787C}" type="presParOf" srcId="{32DF0001-A37C-43C7-9EB8-B39D5F81E072}" destId="{CDBB4521-68E5-490A-B1FC-96D070A31152}" srcOrd="1" destOrd="0" presId="urn:microsoft.com/office/officeart/2005/8/layout/hierarchy2"/>
    <dgm:cxn modelId="{FE400A43-DA00-4153-881A-A5AA9FD2C844}" type="presParOf" srcId="{CDBB4521-68E5-490A-B1FC-96D070A31152}" destId="{B6E8AB34-E36F-4814-BF53-05A05AE90E5C}" srcOrd="0" destOrd="0" presId="urn:microsoft.com/office/officeart/2005/8/layout/hierarchy2"/>
    <dgm:cxn modelId="{540FB606-D121-4D15-A8D8-B50C23F14F40}" type="presParOf" srcId="{CDBB4521-68E5-490A-B1FC-96D070A31152}" destId="{21B36A78-F430-4F56-BFA6-A8A9F5B9E168}" srcOrd="1" destOrd="0" presId="urn:microsoft.com/office/officeart/2005/8/layout/hierarchy2"/>
    <dgm:cxn modelId="{1038EF54-880A-4880-A027-0F43AC29352A}" type="presParOf" srcId="{21B36A78-F430-4F56-BFA6-A8A9F5B9E168}" destId="{F9F70987-86ED-4841-BF5D-EA720B394AFE}" srcOrd="0" destOrd="0" presId="urn:microsoft.com/office/officeart/2005/8/layout/hierarchy2"/>
    <dgm:cxn modelId="{1C9DF91F-5AAD-468E-A1C5-8A3C939EA212}" type="presParOf" srcId="{F9F70987-86ED-4841-BF5D-EA720B394AFE}" destId="{2EEE1B99-2E8B-4E14-8CEF-7F1D8899666B}" srcOrd="0" destOrd="0" presId="urn:microsoft.com/office/officeart/2005/8/layout/hierarchy2"/>
    <dgm:cxn modelId="{9C19644F-A375-442C-97C2-E84393B1342D}" type="presParOf" srcId="{21B36A78-F430-4F56-BFA6-A8A9F5B9E168}" destId="{23BFF6DE-DCFD-42C9-AC15-AD78D723F8BA}" srcOrd="1" destOrd="0" presId="urn:microsoft.com/office/officeart/2005/8/layout/hierarchy2"/>
    <dgm:cxn modelId="{A9CCB819-F12C-42E9-AD7B-64DE4CFDEB44}" type="presParOf" srcId="{23BFF6DE-DCFD-42C9-AC15-AD78D723F8BA}" destId="{55FA1E1E-FA49-4ACA-985B-E0BF387400B5}" srcOrd="0" destOrd="0" presId="urn:microsoft.com/office/officeart/2005/8/layout/hierarchy2"/>
    <dgm:cxn modelId="{66EFAEF4-DF3F-4FBD-A256-5E256E02580F}" type="presParOf" srcId="{23BFF6DE-DCFD-42C9-AC15-AD78D723F8BA}" destId="{8C71FEC9-5CA9-40BE-B65F-62EDFE7D892A}" srcOrd="1" destOrd="0" presId="urn:microsoft.com/office/officeart/2005/8/layout/hierarchy2"/>
    <dgm:cxn modelId="{54F55A34-42B7-4567-872F-06A9482C1814}" type="presParOf" srcId="{21B36A78-F430-4F56-BFA6-A8A9F5B9E168}" destId="{E2ECE464-E8BE-4E61-A208-C808CBFCF566}" srcOrd="2" destOrd="0" presId="urn:microsoft.com/office/officeart/2005/8/layout/hierarchy2"/>
    <dgm:cxn modelId="{AD3C838E-2610-4C1B-8773-568CAC509E85}" type="presParOf" srcId="{E2ECE464-E8BE-4E61-A208-C808CBFCF566}" destId="{47E01EDF-B9EF-4DFF-8F54-E9C66C92C7D5}" srcOrd="0" destOrd="0" presId="urn:microsoft.com/office/officeart/2005/8/layout/hierarchy2"/>
    <dgm:cxn modelId="{B38FB172-6634-4CC0-8226-0FA211F5F834}" type="presParOf" srcId="{21B36A78-F430-4F56-BFA6-A8A9F5B9E168}" destId="{68E39306-E962-4540-9349-8C31BF4A7B41}" srcOrd="3" destOrd="0" presId="urn:microsoft.com/office/officeart/2005/8/layout/hierarchy2"/>
    <dgm:cxn modelId="{FBF50DCA-1E01-40C7-A3FD-E948F708E5F0}" type="presParOf" srcId="{68E39306-E962-4540-9349-8C31BF4A7B41}" destId="{F7558492-1A9C-4E05-B824-113D6B176369}" srcOrd="0" destOrd="0" presId="urn:microsoft.com/office/officeart/2005/8/layout/hierarchy2"/>
    <dgm:cxn modelId="{7C7CC9D5-7F71-4A61-9B30-ED1911495B94}" type="presParOf" srcId="{68E39306-E962-4540-9349-8C31BF4A7B41}" destId="{F0EFCBE9-DC0D-4079-B530-4B736C1AA063}" srcOrd="1" destOrd="0" presId="urn:microsoft.com/office/officeart/2005/8/layout/hierarchy2"/>
    <dgm:cxn modelId="{8D74C1AA-D694-48BA-9CCA-751C7C0BA4FF}" type="presParOf" srcId="{32DF0001-A37C-43C7-9EB8-B39D5F81E072}" destId="{634BB365-A15D-4BCF-9166-EC73010DF7FC}" srcOrd="2" destOrd="0" presId="urn:microsoft.com/office/officeart/2005/8/layout/hierarchy2"/>
    <dgm:cxn modelId="{2C9EAED6-AA13-437F-BE29-AF1EF1D9A7F1}" type="presParOf" srcId="{634BB365-A15D-4BCF-9166-EC73010DF7FC}" destId="{A02BF026-CF46-4950-AC92-8750353E51E5}" srcOrd="0" destOrd="0" presId="urn:microsoft.com/office/officeart/2005/8/layout/hierarchy2"/>
    <dgm:cxn modelId="{F1B5C031-521D-4499-9659-8179C0011F63}" type="presParOf" srcId="{32DF0001-A37C-43C7-9EB8-B39D5F81E072}" destId="{BFD586AD-C011-4FE2-A52A-F46D93E8DDCB}" srcOrd="3" destOrd="0" presId="urn:microsoft.com/office/officeart/2005/8/layout/hierarchy2"/>
    <dgm:cxn modelId="{AFA80C57-1876-41A4-A99D-1289AB2D340A}" type="presParOf" srcId="{BFD586AD-C011-4FE2-A52A-F46D93E8DDCB}" destId="{366A61D0-0EA8-4EC9-81BF-7B2E038411BE}" srcOrd="0" destOrd="0" presId="urn:microsoft.com/office/officeart/2005/8/layout/hierarchy2"/>
    <dgm:cxn modelId="{D2695543-7FEC-4D8D-ACCD-EAEC8C8BA0AB}" type="presParOf" srcId="{BFD586AD-C011-4FE2-A52A-F46D93E8DDCB}" destId="{A5E60D78-1D86-458D-AB82-03A9DE9F5284}" srcOrd="1" destOrd="0" presId="urn:microsoft.com/office/officeart/2005/8/layout/hierarchy2"/>
    <dgm:cxn modelId="{D9600178-AA86-4A4F-8C1A-ACD6674B3D12}" type="presParOf" srcId="{32DF0001-A37C-43C7-9EB8-B39D5F81E072}" destId="{DAF12AD6-007A-42AF-A1AF-8664F73E1CF2}" srcOrd="4" destOrd="0" presId="urn:microsoft.com/office/officeart/2005/8/layout/hierarchy2"/>
    <dgm:cxn modelId="{0A5018EC-F1C4-48EB-8A01-B746F92D8BF5}" type="presParOf" srcId="{DAF12AD6-007A-42AF-A1AF-8664F73E1CF2}" destId="{CDC8A49B-CF66-4A95-B0C3-548804B2723B}" srcOrd="0" destOrd="0" presId="urn:microsoft.com/office/officeart/2005/8/layout/hierarchy2"/>
    <dgm:cxn modelId="{7B2831F0-F2E3-486C-9DA2-5062ACA1E25D}" type="presParOf" srcId="{32DF0001-A37C-43C7-9EB8-B39D5F81E072}" destId="{FC20850B-93F6-40B7-8A02-791F6ED14E80}" srcOrd="5" destOrd="0" presId="urn:microsoft.com/office/officeart/2005/8/layout/hierarchy2"/>
    <dgm:cxn modelId="{1C11F8B9-3502-4AB1-A81E-15D15721839A}" type="presParOf" srcId="{FC20850B-93F6-40B7-8A02-791F6ED14E80}" destId="{805CBBF3-22CD-4FB2-B60E-AA752C804D78}" srcOrd="0" destOrd="0" presId="urn:microsoft.com/office/officeart/2005/8/layout/hierarchy2"/>
    <dgm:cxn modelId="{759C0A14-66A3-49DD-9F01-C78EF628FF1C}" type="presParOf" srcId="{FC20850B-93F6-40B7-8A02-791F6ED14E80}" destId="{1DA0624F-34E9-4BE7-A73B-3EB48667CD1C}" srcOrd="1" destOrd="0" presId="urn:microsoft.com/office/officeart/2005/8/layout/hierarchy2"/>
    <dgm:cxn modelId="{BE0C7C16-39F2-41A5-8D3B-5B82FEC17327}" type="presParOf" srcId="{32DF0001-A37C-43C7-9EB8-B39D5F81E072}" destId="{380C216F-3578-4E89-9313-A596A7F4B46D}" srcOrd="6" destOrd="0" presId="urn:microsoft.com/office/officeart/2005/8/layout/hierarchy2"/>
    <dgm:cxn modelId="{A5A5CCE2-8B9F-4767-9121-7D7975400E73}" type="presParOf" srcId="{380C216F-3578-4E89-9313-A596A7F4B46D}" destId="{5D998D52-CD5E-4437-A0CA-069A2C3D609F}" srcOrd="0" destOrd="0" presId="urn:microsoft.com/office/officeart/2005/8/layout/hierarchy2"/>
    <dgm:cxn modelId="{6DC896CF-AF2D-43E1-A316-4A9A5693B085}" type="presParOf" srcId="{32DF0001-A37C-43C7-9EB8-B39D5F81E072}" destId="{B98C8E60-B418-4DAF-B513-AA08733297E2}" srcOrd="7" destOrd="0" presId="urn:microsoft.com/office/officeart/2005/8/layout/hierarchy2"/>
    <dgm:cxn modelId="{8341E664-5CD8-4C7D-934C-0C2EC234E260}" type="presParOf" srcId="{B98C8E60-B418-4DAF-B513-AA08733297E2}" destId="{96ABDA7E-EC13-4F6D-A97D-025ACA12BDD5}" srcOrd="0" destOrd="0" presId="urn:microsoft.com/office/officeart/2005/8/layout/hierarchy2"/>
    <dgm:cxn modelId="{CAB473F2-DFB9-44E4-AE43-1687C56852AF}" type="presParOf" srcId="{B98C8E60-B418-4DAF-B513-AA08733297E2}" destId="{C01457F2-6822-4ADF-82C4-A8D4A4C5F51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17D6CB-4EBA-4BE3-86C3-BB57800F1B36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68B249-A8F7-4D21-A82F-027445F8C5BE}">
      <dgm:prSet phldrT="[Text]"/>
      <dgm:spPr>
        <a:solidFill>
          <a:srgbClr val="008000"/>
        </a:solidFill>
      </dgm:spPr>
      <dgm:t>
        <a:bodyPr/>
        <a:lstStyle/>
        <a:p>
          <a:r>
            <a:rPr lang="en-US" dirty="0"/>
            <a:t>5 Dimension of Comparison</a:t>
          </a:r>
        </a:p>
      </dgm:t>
    </dgm:pt>
    <dgm:pt modelId="{C36701B3-AEA0-4BD8-A095-F88EAAECC5CC}" type="parTrans" cxnId="{D14FEFF2-7647-441B-AB47-A22048963B0E}">
      <dgm:prSet/>
      <dgm:spPr/>
      <dgm:t>
        <a:bodyPr/>
        <a:lstStyle/>
        <a:p>
          <a:endParaRPr lang="en-US"/>
        </a:p>
      </dgm:t>
    </dgm:pt>
    <dgm:pt modelId="{BEB7F360-87F4-4C93-BD41-C921FF6287D6}" type="sibTrans" cxnId="{D14FEFF2-7647-441B-AB47-A22048963B0E}">
      <dgm:prSet/>
      <dgm:spPr/>
      <dgm:t>
        <a:bodyPr/>
        <a:lstStyle/>
        <a:p>
          <a:endParaRPr lang="en-US"/>
        </a:p>
      </dgm:t>
    </dgm:pt>
    <dgm:pt modelId="{00B4428B-C11E-4475-9B55-E954BC8BB491}">
      <dgm:prSet phldrT="[Text]"/>
      <dgm:spPr>
        <a:solidFill>
          <a:srgbClr val="008000"/>
        </a:solidFill>
      </dgm:spPr>
      <dgm:t>
        <a:bodyPr/>
        <a:lstStyle/>
        <a:p>
          <a:r>
            <a:rPr lang="en-US" dirty="0"/>
            <a:t>Storage efficiency</a:t>
          </a:r>
        </a:p>
      </dgm:t>
    </dgm:pt>
    <dgm:pt modelId="{5A1836C0-05A5-41F6-B485-3251AE8AC196}" type="parTrans" cxnId="{C9DF242C-6291-4A28-9159-EAF65E5FA21F}">
      <dgm:prSet/>
      <dgm:spPr/>
      <dgm:t>
        <a:bodyPr/>
        <a:lstStyle/>
        <a:p>
          <a:endParaRPr lang="en-US"/>
        </a:p>
      </dgm:t>
    </dgm:pt>
    <dgm:pt modelId="{90A44763-E316-4B49-AA47-EBEB8B16306F}" type="sibTrans" cxnId="{C9DF242C-6291-4A28-9159-EAF65E5FA21F}">
      <dgm:prSet/>
      <dgm:spPr/>
      <dgm:t>
        <a:bodyPr/>
        <a:lstStyle/>
        <a:p>
          <a:endParaRPr lang="en-US"/>
        </a:p>
      </dgm:t>
    </dgm:pt>
    <dgm:pt modelId="{1327570E-57EC-4E11-A85E-844F0B2C6550}">
      <dgm:prSet phldrT="[Text]"/>
      <dgm:spPr>
        <a:solidFill>
          <a:srgbClr val="008000"/>
        </a:solidFill>
      </dgm:spPr>
      <dgm:t>
        <a:bodyPr/>
        <a:lstStyle/>
        <a:p>
          <a:r>
            <a:rPr lang="en-US" dirty="0"/>
            <a:t>Memory efficiency</a:t>
          </a:r>
        </a:p>
      </dgm:t>
    </dgm:pt>
    <dgm:pt modelId="{AD1FDE9E-C7FC-4C16-A0F1-DB64216FBC99}" type="parTrans" cxnId="{D1DE0FD3-AEF8-4E0A-845F-CE8789CBBCC7}">
      <dgm:prSet/>
      <dgm:spPr/>
      <dgm:t>
        <a:bodyPr/>
        <a:lstStyle/>
        <a:p>
          <a:endParaRPr lang="en-US"/>
        </a:p>
      </dgm:t>
    </dgm:pt>
    <dgm:pt modelId="{8742C573-E37A-4171-BB0F-1960823D3C78}" type="sibTrans" cxnId="{D1DE0FD3-AEF8-4E0A-845F-CE8789CBBCC7}">
      <dgm:prSet/>
      <dgm:spPr/>
      <dgm:t>
        <a:bodyPr/>
        <a:lstStyle/>
        <a:p>
          <a:endParaRPr lang="en-US"/>
        </a:p>
      </dgm:t>
    </dgm:pt>
    <dgm:pt modelId="{F9CE0BDD-F618-4620-ADE8-EAE5B2161A51}">
      <dgm:prSet phldrT="[Text]"/>
      <dgm:spPr>
        <a:solidFill>
          <a:srgbClr val="008000"/>
        </a:solidFill>
      </dgm:spPr>
      <dgm:t>
        <a:bodyPr/>
        <a:lstStyle/>
        <a:p>
          <a:r>
            <a:rPr lang="en-US" dirty="0"/>
            <a:t>Computation efficiency</a:t>
          </a:r>
        </a:p>
      </dgm:t>
    </dgm:pt>
    <dgm:pt modelId="{25421E7A-CD3E-4E26-9C9F-D5493B7245CB}" type="parTrans" cxnId="{60F62C24-BB89-4D0E-8D43-E0E5CF9351AC}">
      <dgm:prSet/>
      <dgm:spPr/>
      <dgm:t>
        <a:bodyPr/>
        <a:lstStyle/>
        <a:p>
          <a:endParaRPr lang="en-US"/>
        </a:p>
      </dgm:t>
    </dgm:pt>
    <dgm:pt modelId="{993998C6-BDF5-4557-B194-03C384092585}" type="sibTrans" cxnId="{60F62C24-BB89-4D0E-8D43-E0E5CF9351AC}">
      <dgm:prSet/>
      <dgm:spPr/>
      <dgm:t>
        <a:bodyPr/>
        <a:lstStyle/>
        <a:p>
          <a:endParaRPr lang="en-US"/>
        </a:p>
      </dgm:t>
    </dgm:pt>
    <dgm:pt modelId="{5A5B771C-2EAF-428F-AB1C-2B7B747515EC}">
      <dgm:prSet phldrT="[Text]"/>
      <dgm:spPr>
        <a:solidFill>
          <a:srgbClr val="008000"/>
        </a:solidFill>
      </dgm:spPr>
      <dgm:t>
        <a:bodyPr/>
        <a:lstStyle/>
        <a:p>
          <a:r>
            <a:rPr lang="en-US" dirty="0"/>
            <a:t>Accuracy</a:t>
          </a:r>
        </a:p>
      </dgm:t>
    </dgm:pt>
    <dgm:pt modelId="{538E2D88-136A-4547-8956-E601A1D874C4}" type="parTrans" cxnId="{91340B1B-CDED-49D4-8EAE-32B5701DA185}">
      <dgm:prSet/>
      <dgm:spPr/>
      <dgm:t>
        <a:bodyPr/>
        <a:lstStyle/>
        <a:p>
          <a:endParaRPr lang="en-US"/>
        </a:p>
      </dgm:t>
    </dgm:pt>
    <dgm:pt modelId="{2C9EC30E-D54E-4C18-A1CA-3012DD5DF130}" type="sibTrans" cxnId="{91340B1B-CDED-49D4-8EAE-32B5701DA185}">
      <dgm:prSet/>
      <dgm:spPr/>
      <dgm:t>
        <a:bodyPr/>
        <a:lstStyle/>
        <a:p>
          <a:endParaRPr lang="en-US"/>
        </a:p>
      </dgm:t>
    </dgm:pt>
    <dgm:pt modelId="{3F61C67B-4689-4526-B197-A8E1EA6802CB}">
      <dgm:prSet phldrT="[Text]"/>
      <dgm:spPr>
        <a:solidFill>
          <a:srgbClr val="008000"/>
        </a:solidFill>
      </dgm:spPr>
      <dgm:t>
        <a:bodyPr/>
        <a:lstStyle/>
        <a:p>
          <a:r>
            <a:rPr lang="en-US" dirty="0"/>
            <a:t>Inference overhead</a:t>
          </a:r>
        </a:p>
      </dgm:t>
    </dgm:pt>
    <dgm:pt modelId="{5A3EDF14-9BB8-4E93-B8FE-9B1B86EF1BDE}" type="parTrans" cxnId="{91330EA5-BF0A-4809-A00E-10C705A148F7}">
      <dgm:prSet/>
      <dgm:spPr/>
      <dgm:t>
        <a:bodyPr/>
        <a:lstStyle/>
        <a:p>
          <a:endParaRPr lang="en-US"/>
        </a:p>
      </dgm:t>
    </dgm:pt>
    <dgm:pt modelId="{319CB599-FDE5-42F6-A190-F5CB7CF89B7D}" type="sibTrans" cxnId="{91330EA5-BF0A-4809-A00E-10C705A148F7}">
      <dgm:prSet/>
      <dgm:spPr/>
      <dgm:t>
        <a:bodyPr/>
        <a:lstStyle/>
        <a:p>
          <a:endParaRPr lang="en-US"/>
        </a:p>
      </dgm:t>
    </dgm:pt>
    <dgm:pt modelId="{889A418A-B349-4F17-9A55-9964FEB6D519}" type="pres">
      <dgm:prSet presAssocID="{7F17D6CB-4EBA-4BE3-86C3-BB57800F1B3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F0D3F60-D64D-49B7-A6B4-934FBC946184}" type="pres">
      <dgm:prSet presAssocID="{F268B249-A8F7-4D21-A82F-027445F8C5BE}" presName="hierRoot1" presStyleCnt="0">
        <dgm:presLayoutVars>
          <dgm:hierBranch val="init"/>
        </dgm:presLayoutVars>
      </dgm:prSet>
      <dgm:spPr/>
    </dgm:pt>
    <dgm:pt modelId="{7FDCE989-8744-4504-871E-39F5F2083EB9}" type="pres">
      <dgm:prSet presAssocID="{F268B249-A8F7-4D21-A82F-027445F8C5BE}" presName="rootComposite1" presStyleCnt="0"/>
      <dgm:spPr/>
    </dgm:pt>
    <dgm:pt modelId="{5E375EC2-8877-4482-9A2A-D54038D2E742}" type="pres">
      <dgm:prSet presAssocID="{F268B249-A8F7-4D21-A82F-027445F8C5BE}" presName="rootText1" presStyleLbl="node0" presStyleIdx="0" presStyleCnt="1">
        <dgm:presLayoutVars>
          <dgm:chPref val="3"/>
        </dgm:presLayoutVars>
      </dgm:prSet>
      <dgm:spPr/>
    </dgm:pt>
    <dgm:pt modelId="{08C330F0-8225-4F32-B3E3-BF17EAF64CC0}" type="pres">
      <dgm:prSet presAssocID="{F268B249-A8F7-4D21-A82F-027445F8C5BE}" presName="rootConnector1" presStyleLbl="node1" presStyleIdx="0" presStyleCnt="0"/>
      <dgm:spPr/>
    </dgm:pt>
    <dgm:pt modelId="{9513014F-C712-478B-A85D-A9BE1E21DC4B}" type="pres">
      <dgm:prSet presAssocID="{F268B249-A8F7-4D21-A82F-027445F8C5BE}" presName="hierChild2" presStyleCnt="0"/>
      <dgm:spPr/>
    </dgm:pt>
    <dgm:pt modelId="{EA1D5A40-E682-4157-B358-1CFE594B070F}" type="pres">
      <dgm:prSet presAssocID="{5A1836C0-05A5-41F6-B485-3251AE8AC196}" presName="Name37" presStyleLbl="parChTrans1D2" presStyleIdx="0" presStyleCnt="5"/>
      <dgm:spPr/>
    </dgm:pt>
    <dgm:pt modelId="{F0C2B192-88E2-4873-9C17-B029AE2D4930}" type="pres">
      <dgm:prSet presAssocID="{00B4428B-C11E-4475-9B55-E954BC8BB491}" presName="hierRoot2" presStyleCnt="0">
        <dgm:presLayoutVars>
          <dgm:hierBranch val="init"/>
        </dgm:presLayoutVars>
      </dgm:prSet>
      <dgm:spPr/>
    </dgm:pt>
    <dgm:pt modelId="{98F21537-2F3B-45E8-B301-3BFCBC0F5784}" type="pres">
      <dgm:prSet presAssocID="{00B4428B-C11E-4475-9B55-E954BC8BB491}" presName="rootComposite" presStyleCnt="0"/>
      <dgm:spPr/>
    </dgm:pt>
    <dgm:pt modelId="{2878617F-F693-4D23-A675-F9932ABB3F7F}" type="pres">
      <dgm:prSet presAssocID="{00B4428B-C11E-4475-9B55-E954BC8BB491}" presName="rootText" presStyleLbl="node2" presStyleIdx="0" presStyleCnt="5">
        <dgm:presLayoutVars>
          <dgm:chPref val="3"/>
        </dgm:presLayoutVars>
      </dgm:prSet>
      <dgm:spPr/>
    </dgm:pt>
    <dgm:pt modelId="{D0DEA1F5-0723-48F1-B3B9-02AD6E19EE96}" type="pres">
      <dgm:prSet presAssocID="{00B4428B-C11E-4475-9B55-E954BC8BB491}" presName="rootConnector" presStyleLbl="node2" presStyleIdx="0" presStyleCnt="5"/>
      <dgm:spPr/>
    </dgm:pt>
    <dgm:pt modelId="{1EA88225-7C18-4BFB-9843-162E8F4A6637}" type="pres">
      <dgm:prSet presAssocID="{00B4428B-C11E-4475-9B55-E954BC8BB491}" presName="hierChild4" presStyleCnt="0"/>
      <dgm:spPr/>
    </dgm:pt>
    <dgm:pt modelId="{8C4E9794-33F1-4901-B50D-942FA68BDE14}" type="pres">
      <dgm:prSet presAssocID="{00B4428B-C11E-4475-9B55-E954BC8BB491}" presName="hierChild5" presStyleCnt="0"/>
      <dgm:spPr/>
    </dgm:pt>
    <dgm:pt modelId="{9FDDEFBA-3142-4ED3-83BF-0C0812F1C95B}" type="pres">
      <dgm:prSet presAssocID="{AD1FDE9E-C7FC-4C16-A0F1-DB64216FBC99}" presName="Name37" presStyleLbl="parChTrans1D2" presStyleIdx="1" presStyleCnt="5"/>
      <dgm:spPr/>
    </dgm:pt>
    <dgm:pt modelId="{C48D75C7-A26A-4AD9-B5FE-1A54C8E97FC4}" type="pres">
      <dgm:prSet presAssocID="{1327570E-57EC-4E11-A85E-844F0B2C6550}" presName="hierRoot2" presStyleCnt="0">
        <dgm:presLayoutVars>
          <dgm:hierBranch val="init"/>
        </dgm:presLayoutVars>
      </dgm:prSet>
      <dgm:spPr/>
    </dgm:pt>
    <dgm:pt modelId="{E727888C-1AC0-4553-AB91-4FF20B993D7A}" type="pres">
      <dgm:prSet presAssocID="{1327570E-57EC-4E11-A85E-844F0B2C6550}" presName="rootComposite" presStyleCnt="0"/>
      <dgm:spPr/>
    </dgm:pt>
    <dgm:pt modelId="{1F2E9B8E-591F-4CF7-8CA9-D57004A3DD50}" type="pres">
      <dgm:prSet presAssocID="{1327570E-57EC-4E11-A85E-844F0B2C6550}" presName="rootText" presStyleLbl="node2" presStyleIdx="1" presStyleCnt="5">
        <dgm:presLayoutVars>
          <dgm:chPref val="3"/>
        </dgm:presLayoutVars>
      </dgm:prSet>
      <dgm:spPr/>
    </dgm:pt>
    <dgm:pt modelId="{EDDE5CB5-5AA8-457E-BFBA-FA5361EADDD1}" type="pres">
      <dgm:prSet presAssocID="{1327570E-57EC-4E11-A85E-844F0B2C6550}" presName="rootConnector" presStyleLbl="node2" presStyleIdx="1" presStyleCnt="5"/>
      <dgm:spPr/>
    </dgm:pt>
    <dgm:pt modelId="{49D5EF2E-15F8-458E-955C-4A979B06A89F}" type="pres">
      <dgm:prSet presAssocID="{1327570E-57EC-4E11-A85E-844F0B2C6550}" presName="hierChild4" presStyleCnt="0"/>
      <dgm:spPr/>
    </dgm:pt>
    <dgm:pt modelId="{E4F28A50-0F3F-40C8-8D79-857F93C0CDA9}" type="pres">
      <dgm:prSet presAssocID="{1327570E-57EC-4E11-A85E-844F0B2C6550}" presName="hierChild5" presStyleCnt="0"/>
      <dgm:spPr/>
    </dgm:pt>
    <dgm:pt modelId="{B1C8F71A-3456-44FF-BCC5-A195578C316D}" type="pres">
      <dgm:prSet presAssocID="{25421E7A-CD3E-4E26-9C9F-D5493B7245CB}" presName="Name37" presStyleLbl="parChTrans1D2" presStyleIdx="2" presStyleCnt="5"/>
      <dgm:spPr/>
    </dgm:pt>
    <dgm:pt modelId="{5074D341-B257-4DC6-9162-0C4AC0C5C601}" type="pres">
      <dgm:prSet presAssocID="{F9CE0BDD-F618-4620-ADE8-EAE5B2161A51}" presName="hierRoot2" presStyleCnt="0">
        <dgm:presLayoutVars>
          <dgm:hierBranch val="init"/>
        </dgm:presLayoutVars>
      </dgm:prSet>
      <dgm:spPr/>
    </dgm:pt>
    <dgm:pt modelId="{AF66FB27-30C4-4622-AA86-4ABC323C39FF}" type="pres">
      <dgm:prSet presAssocID="{F9CE0BDD-F618-4620-ADE8-EAE5B2161A51}" presName="rootComposite" presStyleCnt="0"/>
      <dgm:spPr/>
    </dgm:pt>
    <dgm:pt modelId="{E0E90AB1-F640-4652-BE39-F4AA58744D99}" type="pres">
      <dgm:prSet presAssocID="{F9CE0BDD-F618-4620-ADE8-EAE5B2161A51}" presName="rootText" presStyleLbl="node2" presStyleIdx="2" presStyleCnt="5">
        <dgm:presLayoutVars>
          <dgm:chPref val="3"/>
        </dgm:presLayoutVars>
      </dgm:prSet>
      <dgm:spPr/>
    </dgm:pt>
    <dgm:pt modelId="{2065BBBF-268E-4394-8FCB-9B2B45FC72E8}" type="pres">
      <dgm:prSet presAssocID="{F9CE0BDD-F618-4620-ADE8-EAE5B2161A51}" presName="rootConnector" presStyleLbl="node2" presStyleIdx="2" presStyleCnt="5"/>
      <dgm:spPr/>
    </dgm:pt>
    <dgm:pt modelId="{2684CAEE-2BB9-4086-BD75-AB9BFD8B69F3}" type="pres">
      <dgm:prSet presAssocID="{F9CE0BDD-F618-4620-ADE8-EAE5B2161A51}" presName="hierChild4" presStyleCnt="0"/>
      <dgm:spPr/>
    </dgm:pt>
    <dgm:pt modelId="{260BC6C8-621E-4C3D-BE00-CADE46BE7FBD}" type="pres">
      <dgm:prSet presAssocID="{F9CE0BDD-F618-4620-ADE8-EAE5B2161A51}" presName="hierChild5" presStyleCnt="0"/>
      <dgm:spPr/>
    </dgm:pt>
    <dgm:pt modelId="{A000204A-315A-4AE7-9357-A326332488F9}" type="pres">
      <dgm:prSet presAssocID="{538E2D88-136A-4547-8956-E601A1D874C4}" presName="Name37" presStyleLbl="parChTrans1D2" presStyleIdx="3" presStyleCnt="5"/>
      <dgm:spPr/>
    </dgm:pt>
    <dgm:pt modelId="{D33471C4-14EC-49FC-8DC9-6293E6E10750}" type="pres">
      <dgm:prSet presAssocID="{5A5B771C-2EAF-428F-AB1C-2B7B747515EC}" presName="hierRoot2" presStyleCnt="0">
        <dgm:presLayoutVars>
          <dgm:hierBranch val="init"/>
        </dgm:presLayoutVars>
      </dgm:prSet>
      <dgm:spPr/>
    </dgm:pt>
    <dgm:pt modelId="{9FBD7C6F-BD55-417F-A747-4C6A59090EB3}" type="pres">
      <dgm:prSet presAssocID="{5A5B771C-2EAF-428F-AB1C-2B7B747515EC}" presName="rootComposite" presStyleCnt="0"/>
      <dgm:spPr/>
    </dgm:pt>
    <dgm:pt modelId="{D7384081-E959-4259-920F-EB396F606271}" type="pres">
      <dgm:prSet presAssocID="{5A5B771C-2EAF-428F-AB1C-2B7B747515EC}" presName="rootText" presStyleLbl="node2" presStyleIdx="3" presStyleCnt="5">
        <dgm:presLayoutVars>
          <dgm:chPref val="3"/>
        </dgm:presLayoutVars>
      </dgm:prSet>
      <dgm:spPr/>
    </dgm:pt>
    <dgm:pt modelId="{EDD0F4BB-2348-49DD-B6F5-872442919B23}" type="pres">
      <dgm:prSet presAssocID="{5A5B771C-2EAF-428F-AB1C-2B7B747515EC}" presName="rootConnector" presStyleLbl="node2" presStyleIdx="3" presStyleCnt="5"/>
      <dgm:spPr/>
    </dgm:pt>
    <dgm:pt modelId="{B4433AFA-8E47-4848-BDA6-92F2090C1809}" type="pres">
      <dgm:prSet presAssocID="{5A5B771C-2EAF-428F-AB1C-2B7B747515EC}" presName="hierChild4" presStyleCnt="0"/>
      <dgm:spPr/>
    </dgm:pt>
    <dgm:pt modelId="{A7C14C83-C535-48C5-97FE-C163BE43CE78}" type="pres">
      <dgm:prSet presAssocID="{5A5B771C-2EAF-428F-AB1C-2B7B747515EC}" presName="hierChild5" presStyleCnt="0"/>
      <dgm:spPr/>
    </dgm:pt>
    <dgm:pt modelId="{DE86B4F6-8CC9-4263-89E8-ADA8D3A44677}" type="pres">
      <dgm:prSet presAssocID="{5A3EDF14-9BB8-4E93-B8FE-9B1B86EF1BDE}" presName="Name37" presStyleLbl="parChTrans1D2" presStyleIdx="4" presStyleCnt="5"/>
      <dgm:spPr/>
    </dgm:pt>
    <dgm:pt modelId="{5FB3114F-CA85-4995-BED4-499BC61BFD8B}" type="pres">
      <dgm:prSet presAssocID="{3F61C67B-4689-4526-B197-A8E1EA6802CB}" presName="hierRoot2" presStyleCnt="0">
        <dgm:presLayoutVars>
          <dgm:hierBranch val="init"/>
        </dgm:presLayoutVars>
      </dgm:prSet>
      <dgm:spPr/>
    </dgm:pt>
    <dgm:pt modelId="{B23C70D3-4F5E-4B50-8347-E31902B82EFF}" type="pres">
      <dgm:prSet presAssocID="{3F61C67B-4689-4526-B197-A8E1EA6802CB}" presName="rootComposite" presStyleCnt="0"/>
      <dgm:spPr/>
    </dgm:pt>
    <dgm:pt modelId="{B0D06EFE-13E4-45D8-BA33-9CF56AF7B875}" type="pres">
      <dgm:prSet presAssocID="{3F61C67B-4689-4526-B197-A8E1EA6802CB}" presName="rootText" presStyleLbl="node2" presStyleIdx="4" presStyleCnt="5">
        <dgm:presLayoutVars>
          <dgm:chPref val="3"/>
        </dgm:presLayoutVars>
      </dgm:prSet>
      <dgm:spPr/>
    </dgm:pt>
    <dgm:pt modelId="{154E78F5-53EB-48F0-BAB5-681235E46076}" type="pres">
      <dgm:prSet presAssocID="{3F61C67B-4689-4526-B197-A8E1EA6802CB}" presName="rootConnector" presStyleLbl="node2" presStyleIdx="4" presStyleCnt="5"/>
      <dgm:spPr/>
    </dgm:pt>
    <dgm:pt modelId="{5399001A-AA45-485B-B2D9-7CDFED6E1E22}" type="pres">
      <dgm:prSet presAssocID="{3F61C67B-4689-4526-B197-A8E1EA6802CB}" presName="hierChild4" presStyleCnt="0"/>
      <dgm:spPr/>
    </dgm:pt>
    <dgm:pt modelId="{5246D599-69BD-46F1-87F4-D6C7C09E1254}" type="pres">
      <dgm:prSet presAssocID="{3F61C67B-4689-4526-B197-A8E1EA6802CB}" presName="hierChild5" presStyleCnt="0"/>
      <dgm:spPr/>
    </dgm:pt>
    <dgm:pt modelId="{C099B390-D9D8-4850-B2C4-58C52721DA11}" type="pres">
      <dgm:prSet presAssocID="{F268B249-A8F7-4D21-A82F-027445F8C5BE}" presName="hierChild3" presStyleCnt="0"/>
      <dgm:spPr/>
    </dgm:pt>
  </dgm:ptLst>
  <dgm:cxnLst>
    <dgm:cxn modelId="{B2797109-F5BF-45CB-BB9E-5404F6303B8E}" type="presOf" srcId="{5A1836C0-05A5-41F6-B485-3251AE8AC196}" destId="{EA1D5A40-E682-4157-B358-1CFE594B070F}" srcOrd="0" destOrd="0" presId="urn:microsoft.com/office/officeart/2005/8/layout/orgChart1"/>
    <dgm:cxn modelId="{91340B1B-CDED-49D4-8EAE-32B5701DA185}" srcId="{F268B249-A8F7-4D21-A82F-027445F8C5BE}" destId="{5A5B771C-2EAF-428F-AB1C-2B7B747515EC}" srcOrd="3" destOrd="0" parTransId="{538E2D88-136A-4547-8956-E601A1D874C4}" sibTransId="{2C9EC30E-D54E-4C18-A1CA-3012DD5DF130}"/>
    <dgm:cxn modelId="{60F62C24-BB89-4D0E-8D43-E0E5CF9351AC}" srcId="{F268B249-A8F7-4D21-A82F-027445F8C5BE}" destId="{F9CE0BDD-F618-4620-ADE8-EAE5B2161A51}" srcOrd="2" destOrd="0" parTransId="{25421E7A-CD3E-4E26-9C9F-D5493B7245CB}" sibTransId="{993998C6-BDF5-4557-B194-03C384092585}"/>
    <dgm:cxn modelId="{55C7DD2A-C660-4C0F-A6F2-FBC6FAE24E0F}" type="presOf" srcId="{AD1FDE9E-C7FC-4C16-A0F1-DB64216FBC99}" destId="{9FDDEFBA-3142-4ED3-83BF-0C0812F1C95B}" srcOrd="0" destOrd="0" presId="urn:microsoft.com/office/officeart/2005/8/layout/orgChart1"/>
    <dgm:cxn modelId="{C9DF242C-6291-4A28-9159-EAF65E5FA21F}" srcId="{F268B249-A8F7-4D21-A82F-027445F8C5BE}" destId="{00B4428B-C11E-4475-9B55-E954BC8BB491}" srcOrd="0" destOrd="0" parTransId="{5A1836C0-05A5-41F6-B485-3251AE8AC196}" sibTransId="{90A44763-E316-4B49-AA47-EBEB8B16306F}"/>
    <dgm:cxn modelId="{A619C15C-80C5-446B-9158-536B6E295AA8}" type="presOf" srcId="{F9CE0BDD-F618-4620-ADE8-EAE5B2161A51}" destId="{2065BBBF-268E-4394-8FCB-9B2B45FC72E8}" srcOrd="1" destOrd="0" presId="urn:microsoft.com/office/officeart/2005/8/layout/orgChart1"/>
    <dgm:cxn modelId="{ADDFC960-B344-4CD1-9910-8F870B6F8B1E}" type="presOf" srcId="{5A3EDF14-9BB8-4E93-B8FE-9B1B86EF1BDE}" destId="{DE86B4F6-8CC9-4263-89E8-ADA8D3A44677}" srcOrd="0" destOrd="0" presId="urn:microsoft.com/office/officeart/2005/8/layout/orgChart1"/>
    <dgm:cxn modelId="{D982A666-FA89-4884-B935-9024F3022D67}" type="presOf" srcId="{00B4428B-C11E-4475-9B55-E954BC8BB491}" destId="{2878617F-F693-4D23-A675-F9932ABB3F7F}" srcOrd="0" destOrd="0" presId="urn:microsoft.com/office/officeart/2005/8/layout/orgChart1"/>
    <dgm:cxn modelId="{C44F536E-0DAC-4FBD-B43B-E1908D80C859}" type="presOf" srcId="{1327570E-57EC-4E11-A85E-844F0B2C6550}" destId="{EDDE5CB5-5AA8-457E-BFBA-FA5361EADDD1}" srcOrd="1" destOrd="0" presId="urn:microsoft.com/office/officeart/2005/8/layout/orgChart1"/>
    <dgm:cxn modelId="{E503A853-7905-4FEB-AB12-62F28B488204}" type="presOf" srcId="{538E2D88-136A-4547-8956-E601A1D874C4}" destId="{A000204A-315A-4AE7-9357-A326332488F9}" srcOrd="0" destOrd="0" presId="urn:microsoft.com/office/officeart/2005/8/layout/orgChart1"/>
    <dgm:cxn modelId="{334CB18E-701B-418D-83CD-3AFE647C9927}" type="presOf" srcId="{3F61C67B-4689-4526-B197-A8E1EA6802CB}" destId="{B0D06EFE-13E4-45D8-BA33-9CF56AF7B875}" srcOrd="0" destOrd="0" presId="urn:microsoft.com/office/officeart/2005/8/layout/orgChart1"/>
    <dgm:cxn modelId="{EC8FD796-C1CF-4422-9D34-9C368E313F09}" type="presOf" srcId="{00B4428B-C11E-4475-9B55-E954BC8BB491}" destId="{D0DEA1F5-0723-48F1-B3B9-02AD6E19EE96}" srcOrd="1" destOrd="0" presId="urn:microsoft.com/office/officeart/2005/8/layout/orgChart1"/>
    <dgm:cxn modelId="{C46EBC9E-B548-4D6A-848D-B4A97C896984}" type="presOf" srcId="{25421E7A-CD3E-4E26-9C9F-D5493B7245CB}" destId="{B1C8F71A-3456-44FF-BCC5-A195578C316D}" srcOrd="0" destOrd="0" presId="urn:microsoft.com/office/officeart/2005/8/layout/orgChart1"/>
    <dgm:cxn modelId="{91330EA5-BF0A-4809-A00E-10C705A148F7}" srcId="{F268B249-A8F7-4D21-A82F-027445F8C5BE}" destId="{3F61C67B-4689-4526-B197-A8E1EA6802CB}" srcOrd="4" destOrd="0" parTransId="{5A3EDF14-9BB8-4E93-B8FE-9B1B86EF1BDE}" sibTransId="{319CB599-FDE5-42F6-A190-F5CB7CF89B7D}"/>
    <dgm:cxn modelId="{2C298AA7-FF1F-4180-86CD-51EF3BEB749D}" type="presOf" srcId="{F9CE0BDD-F618-4620-ADE8-EAE5B2161A51}" destId="{E0E90AB1-F640-4652-BE39-F4AA58744D99}" srcOrd="0" destOrd="0" presId="urn:microsoft.com/office/officeart/2005/8/layout/orgChart1"/>
    <dgm:cxn modelId="{CD1F5BB6-213C-4390-85A7-1DD0CC3CF230}" type="presOf" srcId="{F268B249-A8F7-4D21-A82F-027445F8C5BE}" destId="{08C330F0-8225-4F32-B3E3-BF17EAF64CC0}" srcOrd="1" destOrd="0" presId="urn:microsoft.com/office/officeart/2005/8/layout/orgChart1"/>
    <dgm:cxn modelId="{39BC12B9-9796-46F3-8C33-3086D5DD2A63}" type="presOf" srcId="{5A5B771C-2EAF-428F-AB1C-2B7B747515EC}" destId="{EDD0F4BB-2348-49DD-B6F5-872442919B23}" srcOrd="1" destOrd="0" presId="urn:microsoft.com/office/officeart/2005/8/layout/orgChart1"/>
    <dgm:cxn modelId="{B84447BA-02D9-4042-B226-C11D27EAA6C7}" type="presOf" srcId="{5A5B771C-2EAF-428F-AB1C-2B7B747515EC}" destId="{D7384081-E959-4259-920F-EB396F606271}" srcOrd="0" destOrd="0" presId="urn:microsoft.com/office/officeart/2005/8/layout/orgChart1"/>
    <dgm:cxn modelId="{82829FBC-54AF-4DFA-A1CF-6A0555C5EDFC}" type="presOf" srcId="{7F17D6CB-4EBA-4BE3-86C3-BB57800F1B36}" destId="{889A418A-B349-4F17-9A55-9964FEB6D519}" srcOrd="0" destOrd="0" presId="urn:microsoft.com/office/officeart/2005/8/layout/orgChart1"/>
    <dgm:cxn modelId="{6AFBDEBF-4C7D-4DAB-92A8-9B8087B56B12}" type="presOf" srcId="{3F61C67B-4689-4526-B197-A8E1EA6802CB}" destId="{154E78F5-53EB-48F0-BAB5-681235E46076}" srcOrd="1" destOrd="0" presId="urn:microsoft.com/office/officeart/2005/8/layout/orgChart1"/>
    <dgm:cxn modelId="{D1DE0FD3-AEF8-4E0A-845F-CE8789CBBCC7}" srcId="{F268B249-A8F7-4D21-A82F-027445F8C5BE}" destId="{1327570E-57EC-4E11-A85E-844F0B2C6550}" srcOrd="1" destOrd="0" parTransId="{AD1FDE9E-C7FC-4C16-A0F1-DB64216FBC99}" sibTransId="{8742C573-E37A-4171-BB0F-1960823D3C78}"/>
    <dgm:cxn modelId="{26D172EC-1F36-433D-8EEB-25FBA64783D0}" type="presOf" srcId="{1327570E-57EC-4E11-A85E-844F0B2C6550}" destId="{1F2E9B8E-591F-4CF7-8CA9-D57004A3DD50}" srcOrd="0" destOrd="0" presId="urn:microsoft.com/office/officeart/2005/8/layout/orgChart1"/>
    <dgm:cxn modelId="{9ADB2EF0-45A3-4265-8152-AF70064CA225}" type="presOf" srcId="{F268B249-A8F7-4D21-A82F-027445F8C5BE}" destId="{5E375EC2-8877-4482-9A2A-D54038D2E742}" srcOrd="0" destOrd="0" presId="urn:microsoft.com/office/officeart/2005/8/layout/orgChart1"/>
    <dgm:cxn modelId="{D14FEFF2-7647-441B-AB47-A22048963B0E}" srcId="{7F17D6CB-4EBA-4BE3-86C3-BB57800F1B36}" destId="{F268B249-A8F7-4D21-A82F-027445F8C5BE}" srcOrd="0" destOrd="0" parTransId="{C36701B3-AEA0-4BD8-A095-F88EAAECC5CC}" sibTransId="{BEB7F360-87F4-4C93-BD41-C921FF6287D6}"/>
    <dgm:cxn modelId="{4E290AB2-4FED-43EC-8BF2-08C175BA0172}" type="presParOf" srcId="{889A418A-B349-4F17-9A55-9964FEB6D519}" destId="{EF0D3F60-D64D-49B7-A6B4-934FBC946184}" srcOrd="0" destOrd="0" presId="urn:microsoft.com/office/officeart/2005/8/layout/orgChart1"/>
    <dgm:cxn modelId="{517C1009-1226-4734-990B-3940DE48CBCF}" type="presParOf" srcId="{EF0D3F60-D64D-49B7-A6B4-934FBC946184}" destId="{7FDCE989-8744-4504-871E-39F5F2083EB9}" srcOrd="0" destOrd="0" presId="urn:microsoft.com/office/officeart/2005/8/layout/orgChart1"/>
    <dgm:cxn modelId="{5AC7B0DE-5DBA-4966-B8FC-98ADDDDDB9C3}" type="presParOf" srcId="{7FDCE989-8744-4504-871E-39F5F2083EB9}" destId="{5E375EC2-8877-4482-9A2A-D54038D2E742}" srcOrd="0" destOrd="0" presId="urn:microsoft.com/office/officeart/2005/8/layout/orgChart1"/>
    <dgm:cxn modelId="{AF429984-B723-43E2-8310-30FCB9A1B55C}" type="presParOf" srcId="{7FDCE989-8744-4504-871E-39F5F2083EB9}" destId="{08C330F0-8225-4F32-B3E3-BF17EAF64CC0}" srcOrd="1" destOrd="0" presId="urn:microsoft.com/office/officeart/2005/8/layout/orgChart1"/>
    <dgm:cxn modelId="{D8F611F1-C74A-48C2-AE87-48D1A2502FC5}" type="presParOf" srcId="{EF0D3F60-D64D-49B7-A6B4-934FBC946184}" destId="{9513014F-C712-478B-A85D-A9BE1E21DC4B}" srcOrd="1" destOrd="0" presId="urn:microsoft.com/office/officeart/2005/8/layout/orgChart1"/>
    <dgm:cxn modelId="{132B8253-3B0A-49A8-B3E2-BD51D4C1A130}" type="presParOf" srcId="{9513014F-C712-478B-A85D-A9BE1E21DC4B}" destId="{EA1D5A40-E682-4157-B358-1CFE594B070F}" srcOrd="0" destOrd="0" presId="urn:microsoft.com/office/officeart/2005/8/layout/orgChart1"/>
    <dgm:cxn modelId="{DDAC1926-3447-4195-A10C-67CFF47623C6}" type="presParOf" srcId="{9513014F-C712-478B-A85D-A9BE1E21DC4B}" destId="{F0C2B192-88E2-4873-9C17-B029AE2D4930}" srcOrd="1" destOrd="0" presId="urn:microsoft.com/office/officeart/2005/8/layout/orgChart1"/>
    <dgm:cxn modelId="{EB153026-322B-4669-BE92-7EBA79863A6E}" type="presParOf" srcId="{F0C2B192-88E2-4873-9C17-B029AE2D4930}" destId="{98F21537-2F3B-45E8-B301-3BFCBC0F5784}" srcOrd="0" destOrd="0" presId="urn:microsoft.com/office/officeart/2005/8/layout/orgChart1"/>
    <dgm:cxn modelId="{4A22C763-7FFB-4D29-8D83-C9BAB1374F8A}" type="presParOf" srcId="{98F21537-2F3B-45E8-B301-3BFCBC0F5784}" destId="{2878617F-F693-4D23-A675-F9932ABB3F7F}" srcOrd="0" destOrd="0" presId="urn:microsoft.com/office/officeart/2005/8/layout/orgChart1"/>
    <dgm:cxn modelId="{8854A29C-17E2-4580-9F1D-235E5C01D63F}" type="presParOf" srcId="{98F21537-2F3B-45E8-B301-3BFCBC0F5784}" destId="{D0DEA1F5-0723-48F1-B3B9-02AD6E19EE96}" srcOrd="1" destOrd="0" presId="urn:microsoft.com/office/officeart/2005/8/layout/orgChart1"/>
    <dgm:cxn modelId="{F50293FE-B490-48DF-8442-758D5393DA9E}" type="presParOf" srcId="{F0C2B192-88E2-4873-9C17-B029AE2D4930}" destId="{1EA88225-7C18-4BFB-9843-162E8F4A6637}" srcOrd="1" destOrd="0" presId="urn:microsoft.com/office/officeart/2005/8/layout/orgChart1"/>
    <dgm:cxn modelId="{60950CA6-0B5C-4344-A955-4ACD12D92F4A}" type="presParOf" srcId="{F0C2B192-88E2-4873-9C17-B029AE2D4930}" destId="{8C4E9794-33F1-4901-B50D-942FA68BDE14}" srcOrd="2" destOrd="0" presId="urn:microsoft.com/office/officeart/2005/8/layout/orgChart1"/>
    <dgm:cxn modelId="{B2A162A8-C0CF-484F-89BF-4076CE43A855}" type="presParOf" srcId="{9513014F-C712-478B-A85D-A9BE1E21DC4B}" destId="{9FDDEFBA-3142-4ED3-83BF-0C0812F1C95B}" srcOrd="2" destOrd="0" presId="urn:microsoft.com/office/officeart/2005/8/layout/orgChart1"/>
    <dgm:cxn modelId="{9833D6BA-27F4-47EC-AFBC-EF4734E53D5D}" type="presParOf" srcId="{9513014F-C712-478B-A85D-A9BE1E21DC4B}" destId="{C48D75C7-A26A-4AD9-B5FE-1A54C8E97FC4}" srcOrd="3" destOrd="0" presId="urn:microsoft.com/office/officeart/2005/8/layout/orgChart1"/>
    <dgm:cxn modelId="{1F1B5B7E-735D-492A-8313-350F0D8860BB}" type="presParOf" srcId="{C48D75C7-A26A-4AD9-B5FE-1A54C8E97FC4}" destId="{E727888C-1AC0-4553-AB91-4FF20B993D7A}" srcOrd="0" destOrd="0" presId="urn:microsoft.com/office/officeart/2005/8/layout/orgChart1"/>
    <dgm:cxn modelId="{982E8301-6FFC-4507-9A97-EBF3B0268255}" type="presParOf" srcId="{E727888C-1AC0-4553-AB91-4FF20B993D7A}" destId="{1F2E9B8E-591F-4CF7-8CA9-D57004A3DD50}" srcOrd="0" destOrd="0" presId="urn:microsoft.com/office/officeart/2005/8/layout/orgChart1"/>
    <dgm:cxn modelId="{3F8E7E7A-9FED-4721-84C7-7046947BAD95}" type="presParOf" srcId="{E727888C-1AC0-4553-AB91-4FF20B993D7A}" destId="{EDDE5CB5-5AA8-457E-BFBA-FA5361EADDD1}" srcOrd="1" destOrd="0" presId="urn:microsoft.com/office/officeart/2005/8/layout/orgChart1"/>
    <dgm:cxn modelId="{CB98CD04-616F-4513-ABE9-8EF07A1C28A6}" type="presParOf" srcId="{C48D75C7-A26A-4AD9-B5FE-1A54C8E97FC4}" destId="{49D5EF2E-15F8-458E-955C-4A979B06A89F}" srcOrd="1" destOrd="0" presId="urn:microsoft.com/office/officeart/2005/8/layout/orgChart1"/>
    <dgm:cxn modelId="{93A94BB4-98B0-40E5-909B-8CB95D208CA5}" type="presParOf" srcId="{C48D75C7-A26A-4AD9-B5FE-1A54C8E97FC4}" destId="{E4F28A50-0F3F-40C8-8D79-857F93C0CDA9}" srcOrd="2" destOrd="0" presId="urn:microsoft.com/office/officeart/2005/8/layout/orgChart1"/>
    <dgm:cxn modelId="{F72B8EAC-5302-4A26-9FF5-8C0EF01A4890}" type="presParOf" srcId="{9513014F-C712-478B-A85D-A9BE1E21DC4B}" destId="{B1C8F71A-3456-44FF-BCC5-A195578C316D}" srcOrd="4" destOrd="0" presId="urn:microsoft.com/office/officeart/2005/8/layout/orgChart1"/>
    <dgm:cxn modelId="{31C032DE-D153-48E1-AF03-BBF403D6A67F}" type="presParOf" srcId="{9513014F-C712-478B-A85D-A9BE1E21DC4B}" destId="{5074D341-B257-4DC6-9162-0C4AC0C5C601}" srcOrd="5" destOrd="0" presId="urn:microsoft.com/office/officeart/2005/8/layout/orgChart1"/>
    <dgm:cxn modelId="{A1FF71A8-BE48-4290-86A3-8C80808927B5}" type="presParOf" srcId="{5074D341-B257-4DC6-9162-0C4AC0C5C601}" destId="{AF66FB27-30C4-4622-AA86-4ABC323C39FF}" srcOrd="0" destOrd="0" presId="urn:microsoft.com/office/officeart/2005/8/layout/orgChart1"/>
    <dgm:cxn modelId="{E5553376-F7A7-4C3F-BC27-2566A9724545}" type="presParOf" srcId="{AF66FB27-30C4-4622-AA86-4ABC323C39FF}" destId="{E0E90AB1-F640-4652-BE39-F4AA58744D99}" srcOrd="0" destOrd="0" presId="urn:microsoft.com/office/officeart/2005/8/layout/orgChart1"/>
    <dgm:cxn modelId="{3B7B356B-2B13-4FD2-BD05-395CA7553DDA}" type="presParOf" srcId="{AF66FB27-30C4-4622-AA86-4ABC323C39FF}" destId="{2065BBBF-268E-4394-8FCB-9B2B45FC72E8}" srcOrd="1" destOrd="0" presId="urn:microsoft.com/office/officeart/2005/8/layout/orgChart1"/>
    <dgm:cxn modelId="{4B7FBAAA-F58A-4C50-82EC-0A8727B52D8D}" type="presParOf" srcId="{5074D341-B257-4DC6-9162-0C4AC0C5C601}" destId="{2684CAEE-2BB9-4086-BD75-AB9BFD8B69F3}" srcOrd="1" destOrd="0" presId="urn:microsoft.com/office/officeart/2005/8/layout/orgChart1"/>
    <dgm:cxn modelId="{2E096B10-BA03-4A08-8765-BD29B96CBB3D}" type="presParOf" srcId="{5074D341-B257-4DC6-9162-0C4AC0C5C601}" destId="{260BC6C8-621E-4C3D-BE00-CADE46BE7FBD}" srcOrd="2" destOrd="0" presId="urn:microsoft.com/office/officeart/2005/8/layout/orgChart1"/>
    <dgm:cxn modelId="{9B7C96E9-FF43-4461-B807-87F36B73D867}" type="presParOf" srcId="{9513014F-C712-478B-A85D-A9BE1E21DC4B}" destId="{A000204A-315A-4AE7-9357-A326332488F9}" srcOrd="6" destOrd="0" presId="urn:microsoft.com/office/officeart/2005/8/layout/orgChart1"/>
    <dgm:cxn modelId="{7F03BF30-BCFD-4B74-9B18-A4202FCB1C50}" type="presParOf" srcId="{9513014F-C712-478B-A85D-A9BE1E21DC4B}" destId="{D33471C4-14EC-49FC-8DC9-6293E6E10750}" srcOrd="7" destOrd="0" presId="urn:microsoft.com/office/officeart/2005/8/layout/orgChart1"/>
    <dgm:cxn modelId="{5B1CE75A-4BFA-47C0-8CC7-835DEF23513E}" type="presParOf" srcId="{D33471C4-14EC-49FC-8DC9-6293E6E10750}" destId="{9FBD7C6F-BD55-417F-A747-4C6A59090EB3}" srcOrd="0" destOrd="0" presId="urn:microsoft.com/office/officeart/2005/8/layout/orgChart1"/>
    <dgm:cxn modelId="{47628603-E936-4F54-92A4-E92EF77A01AB}" type="presParOf" srcId="{9FBD7C6F-BD55-417F-A747-4C6A59090EB3}" destId="{D7384081-E959-4259-920F-EB396F606271}" srcOrd="0" destOrd="0" presId="urn:microsoft.com/office/officeart/2005/8/layout/orgChart1"/>
    <dgm:cxn modelId="{0D4D9A5F-7A2E-4CF6-85DA-A6E83DE48BCA}" type="presParOf" srcId="{9FBD7C6F-BD55-417F-A747-4C6A59090EB3}" destId="{EDD0F4BB-2348-49DD-B6F5-872442919B23}" srcOrd="1" destOrd="0" presId="urn:microsoft.com/office/officeart/2005/8/layout/orgChart1"/>
    <dgm:cxn modelId="{A87E76D5-6062-448A-B58D-2318C27EC811}" type="presParOf" srcId="{D33471C4-14EC-49FC-8DC9-6293E6E10750}" destId="{B4433AFA-8E47-4848-BDA6-92F2090C1809}" srcOrd="1" destOrd="0" presId="urn:microsoft.com/office/officeart/2005/8/layout/orgChart1"/>
    <dgm:cxn modelId="{5BA5E36D-84AA-47C6-B14E-79264BE82D5A}" type="presParOf" srcId="{D33471C4-14EC-49FC-8DC9-6293E6E10750}" destId="{A7C14C83-C535-48C5-97FE-C163BE43CE78}" srcOrd="2" destOrd="0" presId="urn:microsoft.com/office/officeart/2005/8/layout/orgChart1"/>
    <dgm:cxn modelId="{3713DE62-E612-4F57-A545-17E5AE202278}" type="presParOf" srcId="{9513014F-C712-478B-A85D-A9BE1E21DC4B}" destId="{DE86B4F6-8CC9-4263-89E8-ADA8D3A44677}" srcOrd="8" destOrd="0" presId="urn:microsoft.com/office/officeart/2005/8/layout/orgChart1"/>
    <dgm:cxn modelId="{91C07D10-E7CA-494A-8355-E57CB1B6861A}" type="presParOf" srcId="{9513014F-C712-478B-A85D-A9BE1E21DC4B}" destId="{5FB3114F-CA85-4995-BED4-499BC61BFD8B}" srcOrd="9" destOrd="0" presId="urn:microsoft.com/office/officeart/2005/8/layout/orgChart1"/>
    <dgm:cxn modelId="{16BE6F61-AF55-406A-86A3-75A8FD34925B}" type="presParOf" srcId="{5FB3114F-CA85-4995-BED4-499BC61BFD8B}" destId="{B23C70D3-4F5E-4B50-8347-E31902B82EFF}" srcOrd="0" destOrd="0" presId="urn:microsoft.com/office/officeart/2005/8/layout/orgChart1"/>
    <dgm:cxn modelId="{C3A2F0A9-B8B4-4545-BEC9-2E3931AEC54C}" type="presParOf" srcId="{B23C70D3-4F5E-4B50-8347-E31902B82EFF}" destId="{B0D06EFE-13E4-45D8-BA33-9CF56AF7B875}" srcOrd="0" destOrd="0" presId="urn:microsoft.com/office/officeart/2005/8/layout/orgChart1"/>
    <dgm:cxn modelId="{90C11090-0A7A-4C08-829B-28C12F8A265E}" type="presParOf" srcId="{B23C70D3-4F5E-4B50-8347-E31902B82EFF}" destId="{154E78F5-53EB-48F0-BAB5-681235E46076}" srcOrd="1" destOrd="0" presId="urn:microsoft.com/office/officeart/2005/8/layout/orgChart1"/>
    <dgm:cxn modelId="{E34B7E08-8DFE-4C32-9DC5-0716FF0EFDB2}" type="presParOf" srcId="{5FB3114F-CA85-4995-BED4-499BC61BFD8B}" destId="{5399001A-AA45-485B-B2D9-7CDFED6E1E22}" srcOrd="1" destOrd="0" presId="urn:microsoft.com/office/officeart/2005/8/layout/orgChart1"/>
    <dgm:cxn modelId="{52635CDA-4B88-487A-9F9E-EBE6C64AC7D9}" type="presParOf" srcId="{5FB3114F-CA85-4995-BED4-499BC61BFD8B}" destId="{5246D599-69BD-46F1-87F4-D6C7C09E1254}" srcOrd="2" destOrd="0" presId="urn:microsoft.com/office/officeart/2005/8/layout/orgChart1"/>
    <dgm:cxn modelId="{4273A89B-0765-444A-A0D6-3046290A14AF}" type="presParOf" srcId="{EF0D3F60-D64D-49B7-A6B4-934FBC946184}" destId="{C099B390-D9D8-4850-B2C4-58C52721DA1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B3E0E6-4B0C-459E-8998-64B7525D0E00}">
      <dsp:nvSpPr>
        <dsp:cNvPr id="0" name=""/>
        <dsp:cNvSpPr/>
      </dsp:nvSpPr>
      <dsp:spPr>
        <a:xfrm>
          <a:off x="1967738" y="1991685"/>
          <a:ext cx="1731611" cy="865805"/>
        </a:xfrm>
        <a:prstGeom prst="roundRect">
          <a:avLst>
            <a:gd name="adj" fmla="val 10000"/>
          </a:avLst>
        </a:prstGeom>
        <a:solidFill>
          <a:srgbClr val="008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PEFT methods</a:t>
          </a:r>
        </a:p>
      </dsp:txBody>
      <dsp:txXfrm>
        <a:off x="1993097" y="2017044"/>
        <a:ext cx="1680893" cy="815087"/>
      </dsp:txXfrm>
    </dsp:sp>
    <dsp:sp modelId="{8EBAE483-8184-4EEA-97BB-B462B11EE33C}">
      <dsp:nvSpPr>
        <dsp:cNvPr id="0" name=""/>
        <dsp:cNvSpPr/>
      </dsp:nvSpPr>
      <dsp:spPr>
        <a:xfrm rot="17692822">
          <a:off x="3222515" y="1659922"/>
          <a:ext cx="1646312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646312" y="1790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004514" y="1636672"/>
        <a:ext cx="82315" cy="82315"/>
      </dsp:txXfrm>
    </dsp:sp>
    <dsp:sp modelId="{B6E8AB34-E36F-4814-BF53-05A05AE90E5C}">
      <dsp:nvSpPr>
        <dsp:cNvPr id="0" name=""/>
        <dsp:cNvSpPr/>
      </dsp:nvSpPr>
      <dsp:spPr>
        <a:xfrm>
          <a:off x="4391994" y="498170"/>
          <a:ext cx="1731611" cy="865805"/>
        </a:xfrm>
        <a:prstGeom prst="roundRect">
          <a:avLst>
            <a:gd name="adj" fmla="val 10000"/>
          </a:avLst>
        </a:prstGeom>
        <a:solidFill>
          <a:srgbClr val="008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Additive methods</a:t>
          </a:r>
        </a:p>
      </dsp:txBody>
      <dsp:txXfrm>
        <a:off x="4417353" y="523529"/>
        <a:ext cx="1680893" cy="815087"/>
      </dsp:txXfrm>
    </dsp:sp>
    <dsp:sp modelId="{F9F70987-86ED-4841-BF5D-EA720B394AFE}">
      <dsp:nvSpPr>
        <dsp:cNvPr id="0" name=""/>
        <dsp:cNvSpPr/>
      </dsp:nvSpPr>
      <dsp:spPr>
        <a:xfrm rot="19457599">
          <a:off x="6043430" y="664246"/>
          <a:ext cx="852994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852994" y="1790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48603" y="660829"/>
        <a:ext cx="42649" cy="42649"/>
      </dsp:txXfrm>
    </dsp:sp>
    <dsp:sp modelId="{55FA1E1E-FA49-4ACA-985B-E0BF387400B5}">
      <dsp:nvSpPr>
        <dsp:cNvPr id="0" name=""/>
        <dsp:cNvSpPr/>
      </dsp:nvSpPr>
      <dsp:spPr>
        <a:xfrm>
          <a:off x="6816250" y="331"/>
          <a:ext cx="1731611" cy="865805"/>
        </a:xfrm>
        <a:prstGeom prst="roundRect">
          <a:avLst>
            <a:gd name="adj" fmla="val 10000"/>
          </a:avLst>
        </a:prstGeom>
        <a:solidFill>
          <a:srgbClr val="008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Adapters</a:t>
          </a:r>
        </a:p>
      </dsp:txBody>
      <dsp:txXfrm>
        <a:off x="6841609" y="25690"/>
        <a:ext cx="1680893" cy="815087"/>
      </dsp:txXfrm>
    </dsp:sp>
    <dsp:sp modelId="{E2ECE464-E8BE-4E61-A208-C808CBFCF566}">
      <dsp:nvSpPr>
        <dsp:cNvPr id="0" name=""/>
        <dsp:cNvSpPr/>
      </dsp:nvSpPr>
      <dsp:spPr>
        <a:xfrm rot="2142401">
          <a:off x="6043430" y="1162084"/>
          <a:ext cx="852994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852994" y="1790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48603" y="1158667"/>
        <a:ext cx="42649" cy="42649"/>
      </dsp:txXfrm>
    </dsp:sp>
    <dsp:sp modelId="{F7558492-1A9C-4E05-B824-113D6B176369}">
      <dsp:nvSpPr>
        <dsp:cNvPr id="0" name=""/>
        <dsp:cNvSpPr/>
      </dsp:nvSpPr>
      <dsp:spPr>
        <a:xfrm>
          <a:off x="6816250" y="996008"/>
          <a:ext cx="1731611" cy="865805"/>
        </a:xfrm>
        <a:prstGeom prst="roundRect">
          <a:avLst>
            <a:gd name="adj" fmla="val 10000"/>
          </a:avLst>
        </a:prstGeom>
        <a:solidFill>
          <a:srgbClr val="008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Soft Prompts</a:t>
          </a:r>
        </a:p>
      </dsp:txBody>
      <dsp:txXfrm>
        <a:off x="6841609" y="1021367"/>
        <a:ext cx="1680893" cy="815087"/>
      </dsp:txXfrm>
    </dsp:sp>
    <dsp:sp modelId="{634BB365-A15D-4BCF-9166-EC73010DF7FC}">
      <dsp:nvSpPr>
        <dsp:cNvPr id="0" name=""/>
        <dsp:cNvSpPr/>
      </dsp:nvSpPr>
      <dsp:spPr>
        <a:xfrm rot="19457599">
          <a:off x="3619174" y="2157761"/>
          <a:ext cx="852994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852994" y="1790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24347" y="2154344"/>
        <a:ext cx="42649" cy="42649"/>
      </dsp:txXfrm>
    </dsp:sp>
    <dsp:sp modelId="{366A61D0-0EA8-4EC9-81BF-7B2E038411BE}">
      <dsp:nvSpPr>
        <dsp:cNvPr id="0" name=""/>
        <dsp:cNvSpPr/>
      </dsp:nvSpPr>
      <dsp:spPr>
        <a:xfrm>
          <a:off x="4391994" y="1493846"/>
          <a:ext cx="1731611" cy="865805"/>
        </a:xfrm>
        <a:prstGeom prst="roundRect">
          <a:avLst>
            <a:gd name="adj" fmla="val 10000"/>
          </a:avLst>
        </a:prstGeom>
        <a:solidFill>
          <a:srgbClr val="008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Selective methods</a:t>
          </a:r>
        </a:p>
      </dsp:txBody>
      <dsp:txXfrm>
        <a:off x="4417353" y="1519205"/>
        <a:ext cx="1680893" cy="815087"/>
      </dsp:txXfrm>
    </dsp:sp>
    <dsp:sp modelId="{DAF12AD6-007A-42AF-A1AF-8664F73E1CF2}">
      <dsp:nvSpPr>
        <dsp:cNvPr id="0" name=""/>
        <dsp:cNvSpPr/>
      </dsp:nvSpPr>
      <dsp:spPr>
        <a:xfrm rot="2142401">
          <a:off x="3619174" y="2655599"/>
          <a:ext cx="852994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852994" y="1790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24347" y="2652182"/>
        <a:ext cx="42649" cy="42649"/>
      </dsp:txXfrm>
    </dsp:sp>
    <dsp:sp modelId="{805CBBF3-22CD-4FB2-B60E-AA752C804D78}">
      <dsp:nvSpPr>
        <dsp:cNvPr id="0" name=""/>
        <dsp:cNvSpPr/>
      </dsp:nvSpPr>
      <dsp:spPr>
        <a:xfrm>
          <a:off x="4391994" y="2489523"/>
          <a:ext cx="1731611" cy="865805"/>
        </a:xfrm>
        <a:prstGeom prst="roundRect">
          <a:avLst>
            <a:gd name="adj" fmla="val 10000"/>
          </a:avLst>
        </a:prstGeom>
        <a:solidFill>
          <a:srgbClr val="008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Reparametrization</a:t>
          </a:r>
          <a:r>
            <a:rPr lang="en-US" sz="1600" kern="1200" dirty="0"/>
            <a:t>-based methods</a:t>
          </a:r>
        </a:p>
      </dsp:txBody>
      <dsp:txXfrm>
        <a:off x="4417353" y="2514882"/>
        <a:ext cx="1680893" cy="815087"/>
      </dsp:txXfrm>
    </dsp:sp>
    <dsp:sp modelId="{380C216F-3578-4E89-9313-A596A7F4B46D}">
      <dsp:nvSpPr>
        <dsp:cNvPr id="0" name=""/>
        <dsp:cNvSpPr/>
      </dsp:nvSpPr>
      <dsp:spPr>
        <a:xfrm rot="3907178">
          <a:off x="3222515" y="3153437"/>
          <a:ext cx="1646312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646312" y="1790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004514" y="3130187"/>
        <a:ext cx="82315" cy="82315"/>
      </dsp:txXfrm>
    </dsp:sp>
    <dsp:sp modelId="{96ABDA7E-EC13-4F6D-A97D-025ACA12BDD5}">
      <dsp:nvSpPr>
        <dsp:cNvPr id="0" name=""/>
        <dsp:cNvSpPr/>
      </dsp:nvSpPr>
      <dsp:spPr>
        <a:xfrm>
          <a:off x="4391994" y="3485200"/>
          <a:ext cx="1731611" cy="865805"/>
        </a:xfrm>
        <a:prstGeom prst="roundRect">
          <a:avLst>
            <a:gd name="adj" fmla="val 10000"/>
          </a:avLst>
        </a:prstGeom>
        <a:solidFill>
          <a:srgbClr val="008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Hybrid methods</a:t>
          </a:r>
        </a:p>
      </dsp:txBody>
      <dsp:txXfrm>
        <a:off x="4417353" y="3510559"/>
        <a:ext cx="1680893" cy="8150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6B4F6-8CC9-4263-89E8-ADA8D3A44677}">
      <dsp:nvSpPr>
        <dsp:cNvPr id="0" name=""/>
        <dsp:cNvSpPr/>
      </dsp:nvSpPr>
      <dsp:spPr>
        <a:xfrm>
          <a:off x="5829300" y="2495520"/>
          <a:ext cx="4830306" cy="4191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579"/>
              </a:lnTo>
              <a:lnTo>
                <a:pt x="4830306" y="209579"/>
              </a:lnTo>
              <a:lnTo>
                <a:pt x="4830306" y="4191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00204A-315A-4AE7-9357-A326332488F9}">
      <dsp:nvSpPr>
        <dsp:cNvPr id="0" name=""/>
        <dsp:cNvSpPr/>
      </dsp:nvSpPr>
      <dsp:spPr>
        <a:xfrm>
          <a:off x="5829300" y="2495520"/>
          <a:ext cx="2415153" cy="4191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579"/>
              </a:lnTo>
              <a:lnTo>
                <a:pt x="2415153" y="209579"/>
              </a:lnTo>
              <a:lnTo>
                <a:pt x="2415153" y="4191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C8F71A-3456-44FF-BCC5-A195578C316D}">
      <dsp:nvSpPr>
        <dsp:cNvPr id="0" name=""/>
        <dsp:cNvSpPr/>
      </dsp:nvSpPr>
      <dsp:spPr>
        <a:xfrm>
          <a:off x="5783580" y="2495520"/>
          <a:ext cx="91440" cy="4191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91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DDEFBA-3142-4ED3-83BF-0C0812F1C95B}">
      <dsp:nvSpPr>
        <dsp:cNvPr id="0" name=""/>
        <dsp:cNvSpPr/>
      </dsp:nvSpPr>
      <dsp:spPr>
        <a:xfrm>
          <a:off x="3414146" y="2495520"/>
          <a:ext cx="2415153" cy="419158"/>
        </a:xfrm>
        <a:custGeom>
          <a:avLst/>
          <a:gdLst/>
          <a:ahLst/>
          <a:cxnLst/>
          <a:rect l="0" t="0" r="0" b="0"/>
          <a:pathLst>
            <a:path>
              <a:moveTo>
                <a:pt x="2415153" y="0"/>
              </a:moveTo>
              <a:lnTo>
                <a:pt x="2415153" y="209579"/>
              </a:lnTo>
              <a:lnTo>
                <a:pt x="0" y="209579"/>
              </a:lnTo>
              <a:lnTo>
                <a:pt x="0" y="4191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1D5A40-E682-4157-B358-1CFE594B070F}">
      <dsp:nvSpPr>
        <dsp:cNvPr id="0" name=""/>
        <dsp:cNvSpPr/>
      </dsp:nvSpPr>
      <dsp:spPr>
        <a:xfrm>
          <a:off x="998993" y="2495520"/>
          <a:ext cx="4830306" cy="419158"/>
        </a:xfrm>
        <a:custGeom>
          <a:avLst/>
          <a:gdLst/>
          <a:ahLst/>
          <a:cxnLst/>
          <a:rect l="0" t="0" r="0" b="0"/>
          <a:pathLst>
            <a:path>
              <a:moveTo>
                <a:pt x="4830306" y="0"/>
              </a:moveTo>
              <a:lnTo>
                <a:pt x="4830306" y="209579"/>
              </a:lnTo>
              <a:lnTo>
                <a:pt x="0" y="209579"/>
              </a:lnTo>
              <a:lnTo>
                <a:pt x="0" y="4191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375EC2-8877-4482-9A2A-D54038D2E742}">
      <dsp:nvSpPr>
        <dsp:cNvPr id="0" name=""/>
        <dsp:cNvSpPr/>
      </dsp:nvSpPr>
      <dsp:spPr>
        <a:xfrm>
          <a:off x="4831302" y="1497523"/>
          <a:ext cx="1995994" cy="997997"/>
        </a:xfrm>
        <a:prstGeom prst="rect">
          <a:avLst/>
        </a:prstGeom>
        <a:solidFill>
          <a:srgbClr val="008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5 Dimension of Comparison</a:t>
          </a:r>
        </a:p>
      </dsp:txBody>
      <dsp:txXfrm>
        <a:off x="4831302" y="1497523"/>
        <a:ext cx="1995994" cy="997997"/>
      </dsp:txXfrm>
    </dsp:sp>
    <dsp:sp modelId="{2878617F-F693-4D23-A675-F9932ABB3F7F}">
      <dsp:nvSpPr>
        <dsp:cNvPr id="0" name=""/>
        <dsp:cNvSpPr/>
      </dsp:nvSpPr>
      <dsp:spPr>
        <a:xfrm>
          <a:off x="996" y="2914679"/>
          <a:ext cx="1995994" cy="997997"/>
        </a:xfrm>
        <a:prstGeom prst="rect">
          <a:avLst/>
        </a:prstGeom>
        <a:solidFill>
          <a:srgbClr val="008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Storage efficiency</a:t>
          </a:r>
        </a:p>
      </dsp:txBody>
      <dsp:txXfrm>
        <a:off x="996" y="2914679"/>
        <a:ext cx="1995994" cy="997997"/>
      </dsp:txXfrm>
    </dsp:sp>
    <dsp:sp modelId="{1F2E9B8E-591F-4CF7-8CA9-D57004A3DD50}">
      <dsp:nvSpPr>
        <dsp:cNvPr id="0" name=""/>
        <dsp:cNvSpPr/>
      </dsp:nvSpPr>
      <dsp:spPr>
        <a:xfrm>
          <a:off x="2416149" y="2914679"/>
          <a:ext cx="1995994" cy="997997"/>
        </a:xfrm>
        <a:prstGeom prst="rect">
          <a:avLst/>
        </a:prstGeom>
        <a:solidFill>
          <a:srgbClr val="008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Memory efficiency</a:t>
          </a:r>
        </a:p>
      </dsp:txBody>
      <dsp:txXfrm>
        <a:off x="2416149" y="2914679"/>
        <a:ext cx="1995994" cy="997997"/>
      </dsp:txXfrm>
    </dsp:sp>
    <dsp:sp modelId="{E0E90AB1-F640-4652-BE39-F4AA58744D99}">
      <dsp:nvSpPr>
        <dsp:cNvPr id="0" name=""/>
        <dsp:cNvSpPr/>
      </dsp:nvSpPr>
      <dsp:spPr>
        <a:xfrm>
          <a:off x="4831302" y="2914679"/>
          <a:ext cx="1995994" cy="997997"/>
        </a:xfrm>
        <a:prstGeom prst="rect">
          <a:avLst/>
        </a:prstGeom>
        <a:solidFill>
          <a:srgbClr val="008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Computation efficiency</a:t>
          </a:r>
        </a:p>
      </dsp:txBody>
      <dsp:txXfrm>
        <a:off x="4831302" y="2914679"/>
        <a:ext cx="1995994" cy="997997"/>
      </dsp:txXfrm>
    </dsp:sp>
    <dsp:sp modelId="{D7384081-E959-4259-920F-EB396F606271}">
      <dsp:nvSpPr>
        <dsp:cNvPr id="0" name=""/>
        <dsp:cNvSpPr/>
      </dsp:nvSpPr>
      <dsp:spPr>
        <a:xfrm>
          <a:off x="7246456" y="2914679"/>
          <a:ext cx="1995994" cy="997997"/>
        </a:xfrm>
        <a:prstGeom prst="rect">
          <a:avLst/>
        </a:prstGeom>
        <a:solidFill>
          <a:srgbClr val="008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Accuracy</a:t>
          </a:r>
        </a:p>
      </dsp:txBody>
      <dsp:txXfrm>
        <a:off x="7246456" y="2914679"/>
        <a:ext cx="1995994" cy="997997"/>
      </dsp:txXfrm>
    </dsp:sp>
    <dsp:sp modelId="{B0D06EFE-13E4-45D8-BA33-9CF56AF7B875}">
      <dsp:nvSpPr>
        <dsp:cNvPr id="0" name=""/>
        <dsp:cNvSpPr/>
      </dsp:nvSpPr>
      <dsp:spPr>
        <a:xfrm>
          <a:off x="9661609" y="2914679"/>
          <a:ext cx="1995994" cy="997997"/>
        </a:xfrm>
        <a:prstGeom prst="rect">
          <a:avLst/>
        </a:prstGeom>
        <a:solidFill>
          <a:srgbClr val="008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Inference overhead</a:t>
          </a:r>
        </a:p>
      </dsp:txBody>
      <dsp:txXfrm>
        <a:off x="9661609" y="2914679"/>
        <a:ext cx="1995994" cy="9979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129A6E-BADE-48A7-BEA0-052A0B1331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C1B00-3C9E-4969-8470-DA6ECF6112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057B9-7F8E-4A76-BB65-B0CDE389237C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0D77A-E581-480B-89FE-0DAC6EE8E1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C490E-B55E-4814-BF43-BEF793D435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02DEA-9E9C-4685-ADE8-1D7EAB487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088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Additive: Add additional parameters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Selective: Finetuning only a few layers</a:t>
            </a:r>
          </a:p>
          <a:p>
            <a:r>
              <a:rPr lang="en-US" dirty="0"/>
              <a:t>Reparameterization: Leverage low-rank representations to minimize the number of trainable parameters.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794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8B55E72-2775-45AE-8CCB-EB9B0EA39B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 userDrawn="1"/>
        </p:nvSpPr>
        <p:spPr>
          <a:xfrm>
            <a:off x="711200" y="2667000"/>
            <a:ext cx="10769600" cy="1828800"/>
          </a:xfrm>
          <a:prstGeom prst="round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2667000"/>
            <a:ext cx="10769600" cy="1828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803198" y="5076735"/>
            <a:ext cx="3677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Mohammad Javad Dousti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E67ADEF-48BE-4324-BFFD-E5AE3FAAF2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7725" y="104775"/>
            <a:ext cx="2876550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45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46A69-1A96-2A98-509C-62C07C91A106}"/>
              </a:ext>
            </a:extLst>
          </p:cNvPr>
          <p:cNvSpPr txBox="1"/>
          <p:nvPr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1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A9015F-2C1C-0901-4D5C-553042AB3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7868"/>
            <a:ext cx="11620501" cy="631293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CCC80-3337-49C5-9FD9-324BBCAE8FEA}"/>
              </a:ext>
            </a:extLst>
          </p:cNvPr>
          <p:cNvSpPr txBox="1"/>
          <p:nvPr userDrawn="1"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DA4841B-B80A-F6C9-93FC-0F8ABAAA8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45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1" y="152400"/>
            <a:ext cx="5600698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EFB003-44D6-451B-86D6-5FF16B9CEB5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31618"/>
            <a:ext cx="5600699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3E4485-A598-4052-9941-9E9BC9E10119}"/>
              </a:ext>
            </a:extLst>
          </p:cNvPr>
          <p:cNvSpPr txBox="1"/>
          <p:nvPr userDrawn="1"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F7D44E6-A90F-113B-3256-810C6209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0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33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3250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33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8732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33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9298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EAF2-6C9D-CD36-58BA-FF7BD8724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0C14B-1347-6B37-821C-672480041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2C097-92A9-A32A-FDBE-3C9FB3C3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A0FE4-78EA-1E8B-08A9-3D6B6CBA7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0744A-AD3D-0912-C5D1-4C1C05F1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F7C-39E9-4500-8C99-9F531900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7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3C75-5F21-B456-EB79-B3985BF1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AEF23-F473-C1A8-281B-AB1D19DF0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FEAC0-7649-6AA2-4F39-5E34CAFBD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05001-BD8D-F477-59BD-B8C0F1D4B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78C98-7A38-24BA-DD79-B838B2434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03721-DD40-4C8F-4CC7-57DA13FA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F7C-39E9-4500-8C99-9F531900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53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73" r:id="rId5"/>
    <p:sldLayoutId id="2147483675" r:id="rId6"/>
    <p:sldLayoutId id="2147483676" r:id="rId7"/>
    <p:sldLayoutId id="2147483677" r:id="rId8"/>
    <p:sldLayoutId id="2147483678" r:id="rId9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arxiv.org/abs/2106.09685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arxiv.org/abs/1804.08838" TargetMode="Externa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6.png"/><Relationship Id="rId7" Type="http://schemas.openxmlformats.org/officeDocument/2006/relationships/image" Target="../media/image3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33.png"/><Relationship Id="rId4" Type="http://schemas.openxmlformats.org/officeDocument/2006/relationships/image" Target="../media/image17.png"/><Relationship Id="rId9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D085-445B-4930-BF23-86F3FF17C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3100388"/>
            <a:ext cx="10678850" cy="821531"/>
          </a:xfrm>
        </p:spPr>
        <p:txBody>
          <a:bodyPr/>
          <a:lstStyle/>
          <a:p>
            <a:r>
              <a:rPr lang="en-US" sz="4400" dirty="0">
                <a:latin typeface="Calibri"/>
                <a:cs typeface="Calibri"/>
              </a:rPr>
              <a:t>Parameter Efficient Fine-Tuning (PEFT)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F2B7C8-73FC-E5E3-5282-E158EB33A64A}"/>
              </a:ext>
            </a:extLst>
          </p:cNvPr>
          <p:cNvSpPr txBox="1"/>
          <p:nvPr/>
        </p:nvSpPr>
        <p:spPr>
          <a:xfrm>
            <a:off x="105731" y="6088559"/>
            <a:ext cx="60972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Sources:</a:t>
            </a:r>
          </a:p>
          <a:p>
            <a:r>
              <a:rPr lang="en-US" sz="1000" dirty="0"/>
              <a:t>* Matt Gormley slides for CMU’s Generative AI course.</a:t>
            </a:r>
          </a:p>
          <a:p>
            <a:r>
              <a:rPr lang="en-US" sz="1000" dirty="0"/>
              <a:t>* V. </a:t>
            </a:r>
            <a:r>
              <a:rPr lang="en-US" sz="1000" dirty="0" err="1"/>
              <a:t>Lialin</a:t>
            </a:r>
            <a:r>
              <a:rPr lang="en-US" sz="1000" dirty="0"/>
              <a:t>, V. Deshpande, and A. </a:t>
            </a:r>
            <a:r>
              <a:rPr lang="en-US" sz="1000" dirty="0" err="1"/>
              <a:t>Rumshisky</a:t>
            </a:r>
            <a:r>
              <a:rPr lang="en-US" sz="1000" dirty="0"/>
              <a:t>, “Scaling Dow to Scale Up: A Guide to Parameter-Efficient Fine-Tuning”, </a:t>
            </a:r>
            <a:r>
              <a:rPr lang="en-US" sz="1000" dirty="0" err="1"/>
              <a:t>ArXiv</a:t>
            </a:r>
            <a:r>
              <a:rPr lang="en-US" sz="1000" dirty="0"/>
              <a:t> 2023.</a:t>
            </a:r>
            <a:endParaRPr lang="en-US" sz="1000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541D54-5F8F-35CD-A85C-DC9165F94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95" y="223520"/>
            <a:ext cx="2026398" cy="6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680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8963" y="2255956"/>
            <a:ext cx="10961370" cy="4319527"/>
            <a:chOff x="608963" y="2255956"/>
            <a:chExt cx="10961370" cy="4589780"/>
          </a:xfrm>
        </p:grpSpPr>
        <p:sp>
          <p:nvSpPr>
            <p:cNvPr id="3" name="object 3"/>
            <p:cNvSpPr/>
            <p:nvPr/>
          </p:nvSpPr>
          <p:spPr>
            <a:xfrm>
              <a:off x="608963" y="2255956"/>
              <a:ext cx="5480685" cy="4589780"/>
            </a:xfrm>
            <a:custGeom>
              <a:avLst/>
              <a:gdLst/>
              <a:ahLst/>
              <a:cxnLst/>
              <a:rect l="l" t="t" r="r" b="b"/>
              <a:pathLst>
                <a:path w="5480685" h="4589780">
                  <a:moveTo>
                    <a:pt x="5480686" y="0"/>
                  </a:moveTo>
                  <a:lnTo>
                    <a:pt x="0" y="0"/>
                  </a:lnTo>
                  <a:lnTo>
                    <a:pt x="0" y="4589342"/>
                  </a:lnTo>
                  <a:lnTo>
                    <a:pt x="5480686" y="4589342"/>
                  </a:lnTo>
                  <a:lnTo>
                    <a:pt x="5480686" y="0"/>
                  </a:lnTo>
                  <a:close/>
                </a:path>
              </a:pathLst>
            </a:custGeom>
            <a:solidFill>
              <a:srgbClr val="D599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089650" y="2255956"/>
              <a:ext cx="5480685" cy="4589780"/>
            </a:xfrm>
            <a:custGeom>
              <a:avLst/>
              <a:gdLst/>
              <a:ahLst/>
              <a:cxnLst/>
              <a:rect l="l" t="t" r="r" b="b"/>
              <a:pathLst>
                <a:path w="5480684" h="4589780">
                  <a:moveTo>
                    <a:pt x="5480684" y="0"/>
                  </a:moveTo>
                  <a:lnTo>
                    <a:pt x="0" y="0"/>
                  </a:lnTo>
                  <a:lnTo>
                    <a:pt x="0" y="4589341"/>
                  </a:lnTo>
                  <a:lnTo>
                    <a:pt x="5480684" y="4589341"/>
                  </a:lnTo>
                  <a:lnTo>
                    <a:pt x="548068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7D46C87-1235-4A63-A3BD-8F40D5BA6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0" cy="126535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Suppose you have…</a:t>
            </a:r>
          </a:p>
          <a:p>
            <a:pPr lvl="1"/>
            <a:r>
              <a:rPr lang="en-US" dirty="0"/>
              <a:t>a dataset D = {(x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y</a:t>
            </a:r>
            <a:r>
              <a:rPr lang="en-US" baseline="-25000" dirty="0" err="1"/>
              <a:t>i</a:t>
            </a:r>
            <a:r>
              <a:rPr lang="en-US" dirty="0"/>
              <a:t>)}</a:t>
            </a:r>
            <a:r>
              <a:rPr lang="en-US" baseline="-25000" dirty="0" err="1"/>
              <a:t>i</a:t>
            </a:r>
            <a:r>
              <a:rPr lang="en-US" baseline="-25000" dirty="0"/>
              <a:t>=1</a:t>
            </a:r>
            <a:r>
              <a:rPr lang="en-US" baseline="30000" dirty="0"/>
              <a:t>N</a:t>
            </a:r>
            <a:r>
              <a:rPr lang="en-US" dirty="0"/>
              <a:t> and N is rather small (i.e. few-shot setting)</a:t>
            </a:r>
          </a:p>
          <a:p>
            <a:pPr lvl="1"/>
            <a:r>
              <a:rPr lang="en-US" dirty="0"/>
              <a:t>a very large (billions of parameters) pre-trained language model There are two ways to “learn”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2065" rIns="0" bIns="0" rtlCol="0">
            <a:spAutoFit/>
          </a:bodyPr>
          <a:lstStyle/>
          <a:p>
            <a:r>
              <a:rPr lang="en-US"/>
              <a:t>Few-shot Learning with LLMs</a:t>
            </a:r>
            <a:endParaRPr lang="en-US" dirty="0"/>
          </a:p>
        </p:txBody>
      </p:sp>
      <p:sp>
        <p:nvSpPr>
          <p:cNvPr id="6" name="object 6"/>
          <p:cNvSpPr txBox="1"/>
          <p:nvPr/>
        </p:nvSpPr>
        <p:spPr>
          <a:xfrm>
            <a:off x="1144333" y="3254942"/>
            <a:ext cx="4091304" cy="845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5"/>
              </a:spcBef>
              <a:buFont typeface="Arial"/>
              <a:buChar char="–"/>
              <a:tabLst>
                <a:tab pos="297815" algn="l"/>
              </a:tabLst>
            </a:pPr>
            <a:r>
              <a:rPr sz="1800" dirty="0">
                <a:latin typeface="Candara"/>
                <a:cs typeface="Candara"/>
              </a:rPr>
              <a:t>a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standard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supervised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objective</a:t>
            </a:r>
            <a:endParaRPr sz="1800">
              <a:latin typeface="Candara"/>
              <a:cs typeface="Candara"/>
            </a:endParaRPr>
          </a:p>
          <a:p>
            <a:pPr marL="297815" indent="-285115">
              <a:lnSpc>
                <a:spcPts val="2135"/>
              </a:lnSpc>
              <a:spcBef>
                <a:spcPts val="25"/>
              </a:spcBef>
              <a:buFont typeface="Arial"/>
              <a:buChar char="–"/>
              <a:tabLst>
                <a:tab pos="297815" algn="l"/>
              </a:tabLst>
            </a:pPr>
            <a:r>
              <a:rPr sz="1800" dirty="0">
                <a:latin typeface="Candara"/>
                <a:cs typeface="Candara"/>
              </a:rPr>
              <a:t>backpropagation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to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compute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gradients</a:t>
            </a:r>
            <a:endParaRPr sz="1800">
              <a:latin typeface="Candara"/>
              <a:cs typeface="Candara"/>
            </a:endParaRPr>
          </a:p>
          <a:p>
            <a:pPr marL="297815" indent="-285115">
              <a:lnSpc>
                <a:spcPts val="2135"/>
              </a:lnSpc>
              <a:buFont typeface="Arial"/>
              <a:buChar char="–"/>
              <a:tabLst>
                <a:tab pos="297815" algn="l"/>
              </a:tabLst>
            </a:pPr>
            <a:r>
              <a:rPr sz="1800" dirty="0">
                <a:latin typeface="Candara"/>
                <a:cs typeface="Candara"/>
              </a:rPr>
              <a:t>your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favorite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optimizer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(e.g.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Adam)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7609" y="4077902"/>
            <a:ext cx="4956810" cy="2216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2135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sz="1800" b="1" dirty="0">
                <a:latin typeface="Candara"/>
                <a:cs typeface="Candara"/>
              </a:rPr>
              <a:t>Pro</a:t>
            </a:r>
            <a:r>
              <a:rPr sz="1800" dirty="0">
                <a:latin typeface="Candara"/>
                <a:cs typeface="Candara"/>
              </a:rPr>
              <a:t>: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fits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into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standard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ML</a:t>
            </a:r>
            <a:r>
              <a:rPr sz="1800" spc="-10" dirty="0">
                <a:latin typeface="Candara"/>
                <a:cs typeface="Candara"/>
              </a:rPr>
              <a:t> recipe</a:t>
            </a:r>
            <a:endParaRPr sz="1800" dirty="0">
              <a:latin typeface="Candara"/>
              <a:cs typeface="Candara"/>
            </a:endParaRPr>
          </a:p>
          <a:p>
            <a:pPr marL="354965" indent="-342265">
              <a:lnSpc>
                <a:spcPts val="2135"/>
              </a:lnSpc>
              <a:buFont typeface="Arial"/>
              <a:buChar char="•"/>
              <a:tabLst>
                <a:tab pos="354965" algn="l"/>
              </a:tabLst>
            </a:pPr>
            <a:r>
              <a:rPr sz="1800" b="1" dirty="0">
                <a:latin typeface="Candara"/>
                <a:cs typeface="Candara"/>
              </a:rPr>
              <a:t>Pro:</a:t>
            </a:r>
            <a:r>
              <a:rPr sz="1800" b="1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still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works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if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is</a:t>
            </a:r>
            <a:r>
              <a:rPr sz="1800" spc="-20" dirty="0">
                <a:latin typeface="Candara"/>
                <a:cs typeface="Candara"/>
              </a:rPr>
              <a:t> large</a:t>
            </a:r>
            <a:endParaRPr sz="1800" dirty="0">
              <a:latin typeface="Candara"/>
              <a:cs typeface="Candara"/>
            </a:endParaRPr>
          </a:p>
          <a:p>
            <a:pPr marL="354965" marR="5080" indent="-342900">
              <a:lnSpc>
                <a:spcPct val="99400"/>
              </a:lnSpc>
              <a:spcBef>
                <a:spcPts val="40"/>
              </a:spcBef>
              <a:buFont typeface="Arial"/>
              <a:buChar char="•"/>
              <a:tabLst>
                <a:tab pos="354965" algn="l"/>
              </a:tabLst>
            </a:pPr>
            <a:r>
              <a:rPr sz="1800" b="1" dirty="0">
                <a:latin typeface="Candara"/>
                <a:cs typeface="Candara"/>
              </a:rPr>
              <a:t>Con</a:t>
            </a:r>
            <a:r>
              <a:rPr sz="1800" dirty="0">
                <a:latin typeface="Candara"/>
                <a:cs typeface="Candara"/>
              </a:rPr>
              <a:t>:</a:t>
            </a:r>
            <a:r>
              <a:rPr sz="1800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backpropagation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requires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~3x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memory </a:t>
            </a:r>
            <a:r>
              <a:rPr sz="1800" dirty="0">
                <a:latin typeface="Candara"/>
                <a:cs typeface="Candara"/>
              </a:rPr>
              <a:t>and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computation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time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as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forward computation</a:t>
            </a:r>
            <a:endParaRPr sz="1800" dirty="0">
              <a:latin typeface="Candara"/>
              <a:cs typeface="Candara"/>
            </a:endParaRPr>
          </a:p>
          <a:p>
            <a:pPr marL="354965" marR="280035" indent="-342900">
              <a:lnSpc>
                <a:spcPct val="99400"/>
              </a:lnSpc>
              <a:spcBef>
                <a:spcPts val="60"/>
              </a:spcBef>
              <a:buFont typeface="Arial"/>
              <a:buChar char="•"/>
              <a:tabLst>
                <a:tab pos="354965" algn="l"/>
              </a:tabLst>
            </a:pPr>
            <a:r>
              <a:rPr sz="1800" b="1" dirty="0">
                <a:latin typeface="Candara"/>
                <a:cs typeface="Candara"/>
              </a:rPr>
              <a:t>Con</a:t>
            </a:r>
            <a:r>
              <a:rPr sz="1800" dirty="0">
                <a:latin typeface="Candara"/>
                <a:cs typeface="Candara"/>
              </a:rPr>
              <a:t>: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you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might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not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have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access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to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model </a:t>
            </a:r>
            <a:r>
              <a:rPr sz="1800" dirty="0">
                <a:latin typeface="Candara"/>
                <a:cs typeface="Candara"/>
              </a:rPr>
              <a:t>weights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at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all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(e.g.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because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model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spc="-25" dirty="0">
                <a:latin typeface="Candara"/>
                <a:cs typeface="Candara"/>
              </a:rPr>
              <a:t>is </a:t>
            </a:r>
            <a:r>
              <a:rPr sz="1800" spc="-10" dirty="0">
                <a:latin typeface="Candara"/>
                <a:cs typeface="Candara"/>
              </a:rPr>
              <a:t>proprietary)</a:t>
            </a:r>
            <a:endParaRPr sz="1800" dirty="0">
              <a:latin typeface="Candara"/>
              <a:cs typeface="Candar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7609" y="2709350"/>
            <a:ext cx="6982459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54965" marR="5080" indent="-342900">
              <a:lnSpc>
                <a:spcPts val="2090"/>
              </a:lnSpc>
              <a:spcBef>
                <a:spcPts val="225"/>
              </a:spcBef>
              <a:buFont typeface="Arial"/>
              <a:buChar char="•"/>
              <a:tabLst>
                <a:tab pos="354965" algn="l"/>
                <a:tab pos="5590540" algn="l"/>
                <a:tab pos="5932805" algn="l"/>
                <a:tab pos="6047105" algn="l"/>
              </a:tabLst>
            </a:pPr>
            <a:r>
              <a:rPr sz="1800" b="1" dirty="0">
                <a:latin typeface="Candara"/>
                <a:cs typeface="Candara"/>
              </a:rPr>
              <a:t>Definition</a:t>
            </a:r>
            <a:r>
              <a:rPr sz="1800" dirty="0">
                <a:latin typeface="Candara"/>
                <a:cs typeface="Candara"/>
              </a:rPr>
              <a:t>: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fine-</a:t>
            </a:r>
            <a:r>
              <a:rPr sz="1800" dirty="0">
                <a:latin typeface="Candara"/>
                <a:cs typeface="Candara"/>
              </a:rPr>
              <a:t>tune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-1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LLM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on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training</a:t>
            </a:r>
            <a:r>
              <a:rPr sz="1800" spc="-10" dirty="0">
                <a:latin typeface="Candara"/>
                <a:cs typeface="Candara"/>
              </a:rPr>
              <a:t> </a:t>
            </a:r>
            <a:r>
              <a:rPr sz="1800" spc="-20" dirty="0">
                <a:latin typeface="Candara"/>
                <a:cs typeface="Candara"/>
              </a:rPr>
              <a:t>data</a:t>
            </a:r>
            <a:r>
              <a:rPr sz="1800" dirty="0">
                <a:latin typeface="Candara"/>
                <a:cs typeface="Candara"/>
              </a:rPr>
              <a:t>	</a:t>
            </a:r>
            <a:r>
              <a:rPr sz="1800" spc="-50" dirty="0">
                <a:latin typeface="Arial"/>
                <a:cs typeface="Arial"/>
              </a:rPr>
              <a:t>•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b="1" spc="-10" dirty="0">
                <a:latin typeface="Candara"/>
                <a:cs typeface="Candara"/>
              </a:rPr>
              <a:t>Definition</a:t>
            </a:r>
            <a:r>
              <a:rPr sz="1800" spc="-10" dirty="0">
                <a:latin typeface="Candara"/>
                <a:cs typeface="Candara"/>
              </a:rPr>
              <a:t>: using…</a:t>
            </a:r>
            <a:r>
              <a:rPr sz="1800" dirty="0">
                <a:latin typeface="Candara"/>
                <a:cs typeface="Candara"/>
              </a:rPr>
              <a:t>			</a:t>
            </a:r>
            <a:r>
              <a:rPr sz="1800" spc="-25" dirty="0">
                <a:latin typeface="Candara"/>
                <a:cs typeface="Candara"/>
              </a:rPr>
              <a:t>1.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22285" y="2974526"/>
            <a:ext cx="4745355" cy="16713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54965" marR="657860">
              <a:lnSpc>
                <a:spcPct val="102200"/>
              </a:lnSpc>
              <a:spcBef>
                <a:spcPts val="50"/>
              </a:spcBef>
            </a:pPr>
            <a:r>
              <a:rPr sz="1800" dirty="0">
                <a:latin typeface="Candara"/>
                <a:cs typeface="Candara"/>
              </a:rPr>
              <a:t>feed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training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examples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to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-1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LLM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as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spc="-50" dirty="0">
                <a:latin typeface="Candara"/>
                <a:cs typeface="Candara"/>
              </a:rPr>
              <a:t>a </a:t>
            </a:r>
            <a:r>
              <a:rPr sz="1800" spc="-10" dirty="0">
                <a:latin typeface="Candara"/>
                <a:cs typeface="Candara"/>
              </a:rPr>
              <a:t>prompt</a:t>
            </a:r>
            <a:endParaRPr sz="1800">
              <a:latin typeface="Candara"/>
              <a:cs typeface="Candara"/>
            </a:endParaRPr>
          </a:p>
          <a:p>
            <a:pPr marL="354965" marR="5080" indent="-342900">
              <a:lnSpc>
                <a:spcPts val="2110"/>
              </a:lnSpc>
              <a:spcBef>
                <a:spcPts val="135"/>
              </a:spcBef>
              <a:buAutoNum type="arabicPeriod" startAt="2"/>
              <a:tabLst>
                <a:tab pos="354965" algn="l"/>
              </a:tabLst>
            </a:pPr>
            <a:r>
              <a:rPr sz="1800" dirty="0">
                <a:latin typeface="Candara"/>
                <a:cs typeface="Candara"/>
              </a:rPr>
              <a:t>allow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-1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LLM</a:t>
            </a:r>
            <a:r>
              <a:rPr sz="1800" spc="-1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to</a:t>
            </a:r>
            <a:r>
              <a:rPr sz="1800" spc="-1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infer</a:t>
            </a:r>
            <a:r>
              <a:rPr sz="1800" spc="-1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patterns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in</a:t>
            </a:r>
            <a:r>
              <a:rPr sz="1800" spc="-1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-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training </a:t>
            </a:r>
            <a:r>
              <a:rPr sz="1800" dirty="0">
                <a:latin typeface="Candara"/>
                <a:cs typeface="Candara"/>
              </a:rPr>
              <a:t>examples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during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inference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(i.e.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decoding)</a:t>
            </a:r>
            <a:endParaRPr sz="1800">
              <a:latin typeface="Candara"/>
              <a:cs typeface="Candara"/>
            </a:endParaRPr>
          </a:p>
          <a:p>
            <a:pPr marL="354965" marR="450850" indent="-342900">
              <a:lnSpc>
                <a:spcPts val="2110"/>
              </a:lnSpc>
              <a:spcBef>
                <a:spcPts val="75"/>
              </a:spcBef>
              <a:buAutoNum type="arabicPeriod" startAt="2"/>
              <a:tabLst>
                <a:tab pos="354965" algn="l"/>
              </a:tabLst>
            </a:pPr>
            <a:r>
              <a:rPr sz="1800" dirty="0">
                <a:latin typeface="Candara"/>
                <a:cs typeface="Candara"/>
              </a:rPr>
              <a:t>take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output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of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LLM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following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spc="-25" dirty="0">
                <a:latin typeface="Candara"/>
                <a:cs typeface="Candara"/>
              </a:rPr>
              <a:t>the </a:t>
            </a:r>
            <a:r>
              <a:rPr sz="1800" dirty="0">
                <a:latin typeface="Candara"/>
                <a:cs typeface="Candara"/>
              </a:rPr>
              <a:t>prompt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as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its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prediction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14761" y="4623494"/>
            <a:ext cx="5224780" cy="19519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05765" marR="68580" indent="-342900">
              <a:lnSpc>
                <a:spcPct val="99400"/>
              </a:lnSpc>
              <a:spcBef>
                <a:spcPts val="110"/>
              </a:spcBef>
              <a:buFont typeface="Arial"/>
              <a:buChar char="•"/>
              <a:tabLst>
                <a:tab pos="405765" algn="l"/>
              </a:tabLst>
            </a:pPr>
            <a:r>
              <a:rPr sz="1800" b="1" dirty="0">
                <a:latin typeface="Candara"/>
                <a:cs typeface="Candara"/>
              </a:rPr>
              <a:t>Con</a:t>
            </a:r>
            <a:r>
              <a:rPr sz="1800" dirty="0">
                <a:latin typeface="Candara"/>
                <a:cs typeface="Candara"/>
              </a:rPr>
              <a:t>: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prompt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may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be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very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long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spc="-25" dirty="0">
                <a:latin typeface="Candara"/>
                <a:cs typeface="Candara"/>
              </a:rPr>
              <a:t>and </a:t>
            </a:r>
            <a:r>
              <a:rPr sz="1800" spc="-10" dirty="0">
                <a:latin typeface="Candara"/>
                <a:cs typeface="Candara"/>
              </a:rPr>
              <a:t>Transformer</a:t>
            </a:r>
            <a:r>
              <a:rPr sz="1800" spc="-4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LMs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require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O(N</a:t>
            </a:r>
            <a:r>
              <a:rPr sz="1800" baseline="23148" dirty="0">
                <a:latin typeface="Candara"/>
                <a:cs typeface="Candara"/>
              </a:rPr>
              <a:t>2</a:t>
            </a:r>
            <a:r>
              <a:rPr sz="1800" dirty="0">
                <a:latin typeface="Candara"/>
                <a:cs typeface="Candara"/>
              </a:rPr>
              <a:t>)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time/space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where 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=</a:t>
            </a:r>
            <a:r>
              <a:rPr sz="1800" spc="-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length</a:t>
            </a:r>
            <a:r>
              <a:rPr sz="1800" spc="-1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of</a:t>
            </a:r>
            <a:r>
              <a:rPr sz="1800" spc="-10" dirty="0">
                <a:latin typeface="Candara"/>
                <a:cs typeface="Candara"/>
              </a:rPr>
              <a:t> context</a:t>
            </a:r>
            <a:endParaRPr sz="1800">
              <a:latin typeface="Candara"/>
              <a:cs typeface="Candara"/>
            </a:endParaRPr>
          </a:p>
          <a:p>
            <a:pPr marL="405765" marR="264160" indent="-342900">
              <a:lnSpc>
                <a:spcPts val="2090"/>
              </a:lnSpc>
              <a:spcBef>
                <a:spcPts val="175"/>
              </a:spcBef>
              <a:buFont typeface="Arial"/>
              <a:buChar char="•"/>
              <a:tabLst>
                <a:tab pos="405765" algn="l"/>
              </a:tabLst>
            </a:pPr>
            <a:r>
              <a:rPr sz="1800" b="1" dirty="0">
                <a:latin typeface="Candara"/>
                <a:cs typeface="Candara"/>
              </a:rPr>
              <a:t>Pro</a:t>
            </a:r>
            <a:r>
              <a:rPr sz="1800" dirty="0">
                <a:latin typeface="Candara"/>
                <a:cs typeface="Candara"/>
              </a:rPr>
              <a:t>:</a:t>
            </a:r>
            <a:r>
              <a:rPr sz="1800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no</a:t>
            </a:r>
            <a:r>
              <a:rPr sz="1800" spc="-4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backpropagation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required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and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only</a:t>
            </a:r>
            <a:r>
              <a:rPr sz="1800" spc="-25" dirty="0">
                <a:latin typeface="Candara"/>
                <a:cs typeface="Candara"/>
              </a:rPr>
              <a:t> one </a:t>
            </a:r>
            <a:r>
              <a:rPr sz="1800" dirty="0">
                <a:latin typeface="Candara"/>
                <a:cs typeface="Candara"/>
              </a:rPr>
              <a:t>pass</a:t>
            </a:r>
            <a:r>
              <a:rPr sz="1800" spc="-4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through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training</a:t>
            </a:r>
            <a:r>
              <a:rPr sz="1800" spc="-20" dirty="0">
                <a:latin typeface="Candara"/>
                <a:cs typeface="Candara"/>
              </a:rPr>
              <a:t> data</a:t>
            </a:r>
            <a:endParaRPr sz="1800">
              <a:latin typeface="Candara"/>
              <a:cs typeface="Candara"/>
            </a:endParaRPr>
          </a:p>
          <a:p>
            <a:pPr marL="405765" marR="405130" indent="-342900">
              <a:lnSpc>
                <a:spcPts val="2210"/>
              </a:lnSpc>
              <a:spcBef>
                <a:spcPts val="20"/>
              </a:spcBef>
              <a:buFont typeface="Arial"/>
              <a:buChar char="•"/>
              <a:tabLst>
                <a:tab pos="405765" algn="l"/>
              </a:tabLst>
            </a:pPr>
            <a:r>
              <a:rPr sz="1800" b="1" dirty="0">
                <a:latin typeface="Candara"/>
                <a:cs typeface="Candara"/>
              </a:rPr>
              <a:t>Pro</a:t>
            </a:r>
            <a:r>
              <a:rPr sz="1800" dirty="0">
                <a:latin typeface="Candara"/>
                <a:cs typeface="Candara"/>
              </a:rPr>
              <a:t>:</a:t>
            </a:r>
            <a:r>
              <a:rPr sz="1800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does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not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require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model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weights,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only</a:t>
            </a:r>
            <a:r>
              <a:rPr sz="1800" spc="-25" dirty="0">
                <a:latin typeface="Candara"/>
                <a:cs typeface="Candara"/>
              </a:rPr>
              <a:t> API </a:t>
            </a:r>
            <a:r>
              <a:rPr sz="1800" spc="-10" dirty="0">
                <a:latin typeface="Candara"/>
                <a:cs typeface="Candara"/>
              </a:rPr>
              <a:t>access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9252" y="2174298"/>
            <a:ext cx="8521065" cy="512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450" dirty="0">
              <a:latin typeface="Candara"/>
              <a:cs typeface="Candara"/>
            </a:endParaRPr>
          </a:p>
          <a:p>
            <a:pPr marL="76200">
              <a:lnSpc>
                <a:spcPct val="100000"/>
              </a:lnSpc>
              <a:tabLst>
                <a:tab pos="5654040" algn="l"/>
              </a:tabLst>
            </a:pPr>
            <a:r>
              <a:rPr sz="1800" b="1" dirty="0">
                <a:latin typeface="Candara"/>
                <a:cs typeface="Candara"/>
              </a:rPr>
              <a:t>Option</a:t>
            </a:r>
            <a:r>
              <a:rPr sz="1800" b="1" spc="-20" dirty="0">
                <a:latin typeface="Candara"/>
                <a:cs typeface="Candara"/>
              </a:rPr>
              <a:t> </a:t>
            </a:r>
            <a:r>
              <a:rPr sz="1800" b="1" dirty="0">
                <a:latin typeface="Candara"/>
                <a:cs typeface="Candara"/>
              </a:rPr>
              <a:t>A:</a:t>
            </a:r>
            <a:r>
              <a:rPr sz="1800" b="1" spc="-15" dirty="0">
                <a:latin typeface="Candara"/>
                <a:cs typeface="Candara"/>
              </a:rPr>
              <a:t> </a:t>
            </a:r>
            <a:r>
              <a:rPr sz="1800" b="1" dirty="0">
                <a:latin typeface="Candara"/>
                <a:cs typeface="Candara"/>
              </a:rPr>
              <a:t>Supervised</a:t>
            </a:r>
            <a:r>
              <a:rPr sz="1800" b="1" spc="-15" dirty="0">
                <a:latin typeface="Candara"/>
                <a:cs typeface="Candara"/>
              </a:rPr>
              <a:t> </a:t>
            </a:r>
            <a:r>
              <a:rPr sz="1800" b="1" spc="-10" dirty="0">
                <a:latin typeface="Candara"/>
                <a:cs typeface="Candara"/>
              </a:rPr>
              <a:t>fine-tuning</a:t>
            </a:r>
            <a:r>
              <a:rPr sz="1800" b="1" dirty="0">
                <a:latin typeface="Candara"/>
                <a:cs typeface="Candara"/>
              </a:rPr>
              <a:t>	Option</a:t>
            </a:r>
            <a:r>
              <a:rPr sz="1800" b="1" spc="-35" dirty="0">
                <a:latin typeface="Candara"/>
                <a:cs typeface="Candara"/>
              </a:rPr>
              <a:t> </a:t>
            </a:r>
            <a:r>
              <a:rPr sz="1800" b="1" dirty="0">
                <a:latin typeface="Candara"/>
                <a:cs typeface="Candara"/>
              </a:rPr>
              <a:t>B:</a:t>
            </a:r>
            <a:r>
              <a:rPr sz="1800" b="1" spc="-25" dirty="0">
                <a:latin typeface="Candara"/>
                <a:cs typeface="Candara"/>
              </a:rPr>
              <a:t> </a:t>
            </a:r>
            <a:r>
              <a:rPr sz="1800" b="1" spc="-10" dirty="0">
                <a:latin typeface="Candara"/>
                <a:cs typeface="Candara"/>
              </a:rPr>
              <a:t>In-</a:t>
            </a:r>
            <a:r>
              <a:rPr sz="1800" b="1" dirty="0">
                <a:latin typeface="Candara"/>
                <a:cs typeface="Candara"/>
              </a:rPr>
              <a:t>context</a:t>
            </a:r>
            <a:r>
              <a:rPr sz="1800" b="1" spc="-25" dirty="0">
                <a:latin typeface="Candara"/>
                <a:cs typeface="Candara"/>
              </a:rPr>
              <a:t> </a:t>
            </a:r>
            <a:r>
              <a:rPr sz="1800" b="1" spc="-10" dirty="0">
                <a:latin typeface="Candara"/>
                <a:cs typeface="Candara"/>
              </a:rPr>
              <a:t>learning</a:t>
            </a:r>
            <a:endParaRPr sz="1800" dirty="0">
              <a:latin typeface="Candara"/>
              <a:cs typeface="Candara"/>
            </a:endParaRPr>
          </a:p>
        </p:txBody>
      </p:sp>
      <p:sp>
        <p:nvSpPr>
          <p:cNvPr id="26" name="object 21">
            <a:extLst>
              <a:ext uri="{FF2B5EF4-FFF2-40B4-BE49-F238E27FC236}">
                <a16:creationId xmlns:a16="http://schemas.microsoft.com/office/drawing/2014/main" id="{38159488-7639-41C6-BC54-D4D1182D2047}"/>
              </a:ext>
            </a:extLst>
          </p:cNvPr>
          <p:cNvSpPr txBox="1"/>
          <p:nvPr/>
        </p:nvSpPr>
        <p:spPr>
          <a:xfrm>
            <a:off x="5931548" y="2343609"/>
            <a:ext cx="2916141" cy="1957524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lang="en-US" sz="1800" dirty="0">
                <a:latin typeface="Candara"/>
                <a:cs typeface="Candara"/>
              </a:rPr>
              <a:t>In</a:t>
            </a:r>
            <a:r>
              <a:rPr lang="en-US" sz="1800" spc="-20" dirty="0">
                <a:latin typeface="Candara"/>
                <a:cs typeface="Candara"/>
              </a:rPr>
              <a:t> </a:t>
            </a:r>
            <a:r>
              <a:rPr lang="en-US" sz="1800" dirty="0">
                <a:latin typeface="Candara"/>
                <a:cs typeface="Candara"/>
              </a:rPr>
              <a:t>this</a:t>
            </a:r>
            <a:r>
              <a:rPr lang="en-US" sz="1800" spc="-25" dirty="0">
                <a:latin typeface="Candara"/>
                <a:cs typeface="Candara"/>
              </a:rPr>
              <a:t> </a:t>
            </a:r>
            <a:r>
              <a:rPr lang="en-US" sz="1800" dirty="0">
                <a:latin typeface="Candara"/>
                <a:cs typeface="Candara"/>
              </a:rPr>
              <a:t>section,</a:t>
            </a:r>
            <a:r>
              <a:rPr lang="en-US" sz="1800" spc="-20" dirty="0">
                <a:latin typeface="Candara"/>
                <a:cs typeface="Candara"/>
              </a:rPr>
              <a:t> </a:t>
            </a:r>
            <a:r>
              <a:rPr lang="en-US" sz="1800" dirty="0">
                <a:latin typeface="Candara"/>
                <a:cs typeface="Candara"/>
              </a:rPr>
              <a:t>we</a:t>
            </a:r>
            <a:r>
              <a:rPr lang="en-US" sz="1800" spc="-20" dirty="0">
                <a:latin typeface="Candara"/>
                <a:cs typeface="Candara"/>
              </a:rPr>
              <a:t> </a:t>
            </a:r>
            <a:r>
              <a:rPr lang="en-US" sz="1800" dirty="0">
                <a:latin typeface="Candara"/>
                <a:cs typeface="Candara"/>
              </a:rPr>
              <a:t>consider</a:t>
            </a:r>
            <a:r>
              <a:rPr lang="en-US" sz="1800" spc="-15" dirty="0">
                <a:latin typeface="Candara"/>
                <a:cs typeface="Candara"/>
              </a:rPr>
              <a:t> </a:t>
            </a:r>
            <a:r>
              <a:rPr lang="en-US" sz="1800" spc="-25" dirty="0">
                <a:latin typeface="Candara"/>
                <a:cs typeface="Candara"/>
              </a:rPr>
              <a:t>the </a:t>
            </a:r>
            <a:r>
              <a:rPr lang="en-US" sz="1800" spc="-10" dirty="0">
                <a:latin typeface="Candara"/>
                <a:cs typeface="Candara"/>
              </a:rPr>
              <a:t>question:</a:t>
            </a:r>
            <a:endParaRPr lang="en-US" sz="1800" dirty="0">
              <a:latin typeface="Candara"/>
              <a:cs typeface="Candara"/>
            </a:endParaRPr>
          </a:p>
          <a:p>
            <a:pPr marL="12700" marR="5080">
              <a:lnSpc>
                <a:spcPct val="99400"/>
              </a:lnSpc>
              <a:spcBef>
                <a:spcPts val="110"/>
              </a:spcBef>
            </a:pPr>
            <a:endParaRPr lang="en-US" sz="1800" dirty="0">
              <a:latin typeface="Candara"/>
              <a:cs typeface="Candara"/>
            </a:endParaRPr>
          </a:p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lang="en-US" sz="1800" b="0" i="0" u="none" strike="noStrike" baseline="0" dirty="0">
                <a:latin typeface="Candara" panose="020E0502030303020204" pitchFamily="34" charset="0"/>
              </a:rPr>
              <a:t>How can we do supervised finetuning</a:t>
            </a:r>
            <a:r>
              <a:rPr lang="en-US" b="0" i="0" u="none" strike="noStrike" baseline="0" dirty="0">
                <a:latin typeface="Candara"/>
              </a:rPr>
              <a:t> </a:t>
            </a:r>
            <a:r>
              <a:rPr lang="en-US" sz="1800" dirty="0">
                <a:latin typeface="Candara"/>
                <a:cs typeface="Candara"/>
              </a:rPr>
              <a:t>of</a:t>
            </a:r>
            <a:r>
              <a:rPr lang="en-US" sz="1800" spc="-15" dirty="0">
                <a:latin typeface="Candara"/>
                <a:cs typeface="Candara"/>
              </a:rPr>
              <a:t> </a:t>
            </a:r>
            <a:r>
              <a:rPr lang="en-US" sz="1800" dirty="0">
                <a:latin typeface="Candara"/>
                <a:cs typeface="Candara"/>
              </a:rPr>
              <a:t>a</a:t>
            </a:r>
            <a:r>
              <a:rPr lang="en-US" sz="1800" spc="-15" dirty="0">
                <a:latin typeface="Candara"/>
                <a:cs typeface="Candara"/>
              </a:rPr>
              <a:t> </a:t>
            </a:r>
            <a:r>
              <a:rPr lang="en-US" sz="1800" dirty="0">
                <a:latin typeface="Candara"/>
                <a:cs typeface="Candara"/>
              </a:rPr>
              <a:t>very</a:t>
            </a:r>
            <a:r>
              <a:rPr lang="en-US" sz="1800" spc="-15" dirty="0">
                <a:latin typeface="Candara"/>
                <a:cs typeface="Candara"/>
              </a:rPr>
              <a:t> </a:t>
            </a:r>
            <a:r>
              <a:rPr lang="en-US" sz="1800" spc="-10" dirty="0">
                <a:latin typeface="Candara"/>
                <a:cs typeface="Candara"/>
              </a:rPr>
              <a:t>large </a:t>
            </a:r>
            <a:r>
              <a:rPr lang="en-US" sz="1800" dirty="0">
                <a:latin typeface="Candara"/>
                <a:cs typeface="Candara"/>
              </a:rPr>
              <a:t>foundation</a:t>
            </a:r>
            <a:r>
              <a:rPr lang="en-US" sz="1800" spc="-40" dirty="0">
                <a:latin typeface="Candara"/>
                <a:cs typeface="Candara"/>
              </a:rPr>
              <a:t> </a:t>
            </a:r>
            <a:r>
              <a:rPr lang="en-US" sz="1800" dirty="0">
                <a:latin typeface="Candara"/>
                <a:cs typeface="Candara"/>
              </a:rPr>
              <a:t>model</a:t>
            </a:r>
            <a:r>
              <a:rPr lang="en-US" sz="1800" spc="-35" dirty="0">
                <a:latin typeface="Candara"/>
                <a:cs typeface="Candara"/>
              </a:rPr>
              <a:t> </a:t>
            </a:r>
            <a:r>
              <a:rPr lang="en-US" sz="1800" spc="-20" dirty="0">
                <a:latin typeface="Candara"/>
                <a:cs typeface="Candara"/>
              </a:rPr>
              <a:t>more </a:t>
            </a:r>
            <a:r>
              <a:rPr lang="en-US" sz="1800" spc="-10" dirty="0">
                <a:latin typeface="Candara"/>
                <a:cs typeface="Candara"/>
              </a:rPr>
              <a:t>efficiently?</a:t>
            </a:r>
            <a:endParaRPr lang="en-US" sz="1800" dirty="0">
              <a:latin typeface="Candara"/>
              <a:cs typeface="Candara"/>
            </a:endParaRPr>
          </a:p>
        </p:txBody>
      </p:sp>
      <p:grpSp>
        <p:nvGrpSpPr>
          <p:cNvPr id="27" name="object 23">
            <a:extLst>
              <a:ext uri="{FF2B5EF4-FFF2-40B4-BE49-F238E27FC236}">
                <a16:creationId xmlns:a16="http://schemas.microsoft.com/office/drawing/2014/main" id="{79F0A4D6-C68B-4364-B676-F3B405BAAC9C}"/>
              </a:ext>
            </a:extLst>
          </p:cNvPr>
          <p:cNvGrpSpPr/>
          <p:nvPr/>
        </p:nvGrpSpPr>
        <p:grpSpPr>
          <a:xfrm>
            <a:off x="5148071" y="2221992"/>
            <a:ext cx="847725" cy="612775"/>
            <a:chOff x="5148071" y="2221992"/>
            <a:chExt cx="847725" cy="612775"/>
          </a:xfrm>
        </p:grpSpPr>
        <p:pic>
          <p:nvPicPr>
            <p:cNvPr id="28" name="object 24">
              <a:extLst>
                <a:ext uri="{FF2B5EF4-FFF2-40B4-BE49-F238E27FC236}">
                  <a16:creationId xmlns:a16="http://schemas.microsoft.com/office/drawing/2014/main" id="{5D65DA2E-A16D-4B96-A075-314E2574939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8071" y="2221992"/>
              <a:ext cx="847344" cy="612648"/>
            </a:xfrm>
            <a:prstGeom prst="rect">
              <a:avLst/>
            </a:prstGeom>
          </p:spPr>
        </p:pic>
        <p:sp>
          <p:nvSpPr>
            <p:cNvPr id="29" name="object 25">
              <a:extLst>
                <a:ext uri="{FF2B5EF4-FFF2-40B4-BE49-F238E27FC236}">
                  <a16:creationId xmlns:a16="http://schemas.microsoft.com/office/drawing/2014/main" id="{CBD66AB4-57C2-44F9-9446-82D6B3C610D0}"/>
                </a:ext>
              </a:extLst>
            </p:cNvPr>
            <p:cNvSpPr/>
            <p:nvPr/>
          </p:nvSpPr>
          <p:spPr>
            <a:xfrm>
              <a:off x="5193490" y="2264942"/>
              <a:ext cx="704850" cy="470534"/>
            </a:xfrm>
            <a:custGeom>
              <a:avLst/>
              <a:gdLst/>
              <a:ahLst/>
              <a:cxnLst/>
              <a:rect l="l" t="t" r="r" b="b"/>
              <a:pathLst>
                <a:path w="704850" h="470535">
                  <a:moveTo>
                    <a:pt x="287008" y="0"/>
                  </a:moveTo>
                  <a:lnTo>
                    <a:pt x="0" y="183766"/>
                  </a:lnTo>
                  <a:lnTo>
                    <a:pt x="183915" y="470541"/>
                  </a:lnTo>
                  <a:lnTo>
                    <a:pt x="209688" y="352906"/>
                  </a:lnTo>
                  <a:lnTo>
                    <a:pt x="653040" y="449884"/>
                  </a:lnTo>
                  <a:lnTo>
                    <a:pt x="704587" y="214614"/>
                  </a:lnTo>
                  <a:lnTo>
                    <a:pt x="261235" y="117636"/>
                  </a:lnTo>
                  <a:lnTo>
                    <a:pt x="287008" y="0"/>
                  </a:lnTo>
                  <a:close/>
                </a:path>
              </a:pathLst>
            </a:custGeom>
            <a:solidFill>
              <a:srgbClr val="FEB8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6">
              <a:extLst>
                <a:ext uri="{FF2B5EF4-FFF2-40B4-BE49-F238E27FC236}">
                  <a16:creationId xmlns:a16="http://schemas.microsoft.com/office/drawing/2014/main" id="{10092A7C-60C6-4C9D-B410-E242B4FCF052}"/>
                </a:ext>
              </a:extLst>
            </p:cNvPr>
            <p:cNvSpPr/>
            <p:nvPr/>
          </p:nvSpPr>
          <p:spPr>
            <a:xfrm>
              <a:off x="5193490" y="2264942"/>
              <a:ext cx="704850" cy="470534"/>
            </a:xfrm>
            <a:custGeom>
              <a:avLst/>
              <a:gdLst/>
              <a:ahLst/>
              <a:cxnLst/>
              <a:rect l="l" t="t" r="r" b="b"/>
              <a:pathLst>
                <a:path w="704850" h="470535">
                  <a:moveTo>
                    <a:pt x="0" y="183765"/>
                  </a:moveTo>
                  <a:lnTo>
                    <a:pt x="287008" y="0"/>
                  </a:lnTo>
                  <a:lnTo>
                    <a:pt x="261235" y="117635"/>
                  </a:lnTo>
                  <a:lnTo>
                    <a:pt x="704587" y="214614"/>
                  </a:lnTo>
                  <a:lnTo>
                    <a:pt x="653040" y="449884"/>
                  </a:lnTo>
                  <a:lnTo>
                    <a:pt x="209688" y="352905"/>
                  </a:lnTo>
                  <a:lnTo>
                    <a:pt x="183914" y="470540"/>
                  </a:lnTo>
                  <a:lnTo>
                    <a:pt x="0" y="183765"/>
                  </a:lnTo>
                  <a:close/>
                </a:path>
              </a:pathLst>
            </a:custGeom>
            <a:ln w="380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9DB98F5E-A24B-4CD7-A408-67C7E11B6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52FF965-F6E7-4D7C-842D-25FF0185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Why would we ever bother with fine-tuning if it’s so inefficient?</a:t>
            </a:r>
          </a:p>
          <a:p>
            <a:r>
              <a:rPr lang="en-US" dirty="0"/>
              <a:t>Because, even for very large LMs, fine-tuning often beats in-context learning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Fine-Tuning vs. In-Context Learning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4455" y="2469258"/>
            <a:ext cx="7572591" cy="124511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41273" y="6507603"/>
            <a:ext cx="328739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400" dirty="0">
                <a:latin typeface="Candara"/>
                <a:cs typeface="Candara"/>
              </a:rPr>
              <a:t>Source:</a:t>
            </a:r>
            <a:r>
              <a:rPr sz="1400" spc="-20" dirty="0">
                <a:latin typeface="Candara"/>
                <a:cs typeface="Candara"/>
              </a:rPr>
              <a:t> </a:t>
            </a:r>
            <a:r>
              <a:rPr sz="1400" spc="-10" dirty="0">
                <a:latin typeface="Candara"/>
                <a:cs typeface="Candar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http://arxiv.org/abs/2106.09685</a:t>
            </a:r>
            <a:endParaRPr sz="1400" dirty="0">
              <a:latin typeface="Candara"/>
              <a:cs typeface="Candar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44852" y="4408934"/>
            <a:ext cx="5471795" cy="1568185"/>
          </a:xfrm>
          <a:prstGeom prst="rect">
            <a:avLst/>
          </a:prstGeom>
          <a:solidFill>
            <a:srgbClr val="FFE39D"/>
          </a:solidFill>
        </p:spPr>
        <p:txBody>
          <a:bodyPr vert="horz" wrap="square" lIns="0" tIns="1460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14"/>
              </a:spcBef>
            </a:pPr>
            <a:r>
              <a:rPr sz="2400" b="1" spc="-10" dirty="0">
                <a:latin typeface="Candara"/>
                <a:cs typeface="Candara"/>
              </a:rPr>
              <a:t>Question:</a:t>
            </a:r>
            <a:endParaRPr sz="2400" dirty="0">
              <a:latin typeface="Candara"/>
              <a:cs typeface="Candara"/>
            </a:endParaRPr>
          </a:p>
          <a:p>
            <a:pPr marL="90805" marR="167005" algn="just">
              <a:lnSpc>
                <a:spcPct val="100800"/>
              </a:lnSpc>
              <a:spcBef>
                <a:spcPts val="600"/>
              </a:spcBef>
            </a:pPr>
            <a:r>
              <a:rPr sz="2400" dirty="0">
                <a:latin typeface="Candara"/>
                <a:cs typeface="Candara"/>
              </a:rPr>
              <a:t>Why</a:t>
            </a:r>
            <a:r>
              <a:rPr sz="2400" spc="-10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did</a:t>
            </a:r>
            <a:r>
              <a:rPr sz="2400" spc="10" dirty="0">
                <a:latin typeface="Candara"/>
                <a:cs typeface="Candara"/>
              </a:rPr>
              <a:t> </a:t>
            </a:r>
            <a:r>
              <a:rPr sz="2400" spc="-10" dirty="0">
                <a:latin typeface="Candara"/>
                <a:cs typeface="Candara"/>
              </a:rPr>
              <a:t>fine-</a:t>
            </a:r>
            <a:r>
              <a:rPr sz="2400" dirty="0">
                <a:latin typeface="Candara"/>
                <a:cs typeface="Candara"/>
              </a:rPr>
              <a:t>tuning</a:t>
            </a:r>
            <a:r>
              <a:rPr sz="2400" spc="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of</a:t>
            </a:r>
            <a:r>
              <a:rPr sz="2400" spc="5" dirty="0">
                <a:latin typeface="Candara"/>
                <a:cs typeface="Candara"/>
              </a:rPr>
              <a:t> </a:t>
            </a:r>
            <a:r>
              <a:rPr sz="2400" spc="-10" dirty="0">
                <a:latin typeface="Candara"/>
                <a:cs typeface="Candara"/>
              </a:rPr>
              <a:t>GPT-</a:t>
            </a:r>
            <a:r>
              <a:rPr sz="2400" dirty="0">
                <a:latin typeface="Candara"/>
                <a:cs typeface="Candara"/>
              </a:rPr>
              <a:t>3 do</a:t>
            </a:r>
            <a:r>
              <a:rPr sz="2400" spc="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so</a:t>
            </a:r>
            <a:r>
              <a:rPr sz="2400" spc="5" dirty="0">
                <a:latin typeface="Candara"/>
                <a:cs typeface="Candara"/>
              </a:rPr>
              <a:t> </a:t>
            </a:r>
            <a:r>
              <a:rPr sz="2400" spc="-20" dirty="0">
                <a:latin typeface="Candara"/>
                <a:cs typeface="Candara"/>
              </a:rPr>
              <a:t>much </a:t>
            </a:r>
            <a:r>
              <a:rPr sz="2400" dirty="0">
                <a:latin typeface="Candara"/>
                <a:cs typeface="Candara"/>
              </a:rPr>
              <a:t>better</a:t>
            </a:r>
            <a:r>
              <a:rPr sz="2400" spc="-20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on</a:t>
            </a:r>
            <a:r>
              <a:rPr sz="2400" spc="-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these</a:t>
            </a:r>
            <a:r>
              <a:rPr sz="2400" spc="-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two</a:t>
            </a:r>
            <a:r>
              <a:rPr sz="2400" spc="-10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tasks</a:t>
            </a:r>
            <a:r>
              <a:rPr sz="2400" spc="-1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than</a:t>
            </a:r>
            <a:r>
              <a:rPr sz="2400" spc="-5" dirty="0">
                <a:latin typeface="Candara"/>
                <a:cs typeface="Candara"/>
              </a:rPr>
              <a:t> </a:t>
            </a:r>
            <a:r>
              <a:rPr sz="2400" spc="-10" dirty="0">
                <a:latin typeface="Candara"/>
                <a:cs typeface="Candara"/>
              </a:rPr>
              <a:t>few-</a:t>
            </a:r>
            <a:r>
              <a:rPr sz="2400" spc="-20" dirty="0">
                <a:latin typeface="Candara"/>
                <a:cs typeface="Candara"/>
              </a:rPr>
              <a:t>shot </a:t>
            </a:r>
            <a:r>
              <a:rPr sz="2400" spc="-10" dirty="0">
                <a:latin typeface="Candara"/>
                <a:cs typeface="Candara"/>
              </a:rPr>
              <a:t>learning?</a:t>
            </a:r>
            <a:endParaRPr sz="2400" dirty="0">
              <a:latin typeface="Candara"/>
              <a:cs typeface="Candara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6BAACD5-D12E-4351-A2A9-5CADC0561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5942" y="3082737"/>
            <a:ext cx="8944598" cy="3295565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B361FB-BDF5-4B31-913F-8975AB9A3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>
            <a:normAutofit/>
          </a:bodyPr>
          <a:lstStyle/>
          <a:p>
            <a:r>
              <a:rPr lang="en-US" dirty="0"/>
              <a:t>Why would we ever bother with fine-tuning if it’s so inefficient?</a:t>
            </a:r>
          </a:p>
          <a:p>
            <a:r>
              <a:rPr lang="en-US" dirty="0"/>
              <a:t>Because, even for very large LMs, fine-tuning often beats in-context learning</a:t>
            </a:r>
          </a:p>
          <a:p>
            <a:r>
              <a:rPr lang="en-US" dirty="0"/>
              <a:t>In a fair comparison of fine-tuning (FT) and in-context learning (ICL), we find that FT outperforms ICL for most model sizes</a:t>
            </a:r>
          </a:p>
          <a:p>
            <a:endParaRPr lang="en-US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Fine-Tuning vs. In-Context Learning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12244" y="6491035"/>
            <a:ext cx="465391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400" dirty="0">
                <a:latin typeface="Candara"/>
                <a:cs typeface="Candara"/>
              </a:rPr>
              <a:t>Source:</a:t>
            </a:r>
            <a:r>
              <a:rPr sz="1400" spc="120" dirty="0">
                <a:latin typeface="Candara"/>
                <a:cs typeface="Candara"/>
              </a:rPr>
              <a:t> </a:t>
            </a:r>
            <a:r>
              <a:rPr sz="1400" spc="-10" dirty="0">
                <a:latin typeface="Candara"/>
                <a:cs typeface="Candara"/>
              </a:rPr>
              <a:t>https://aclanthology.org/2023.findings-acl.779.pdf</a:t>
            </a:r>
            <a:endParaRPr sz="1400" dirty="0">
              <a:latin typeface="Candara"/>
              <a:cs typeface="Candara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6A20245-DC08-4965-B6A9-00E04248B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78CE6E-A448-337E-3E9A-E64E2772B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Taxonomy of PEFT: A birds-eye view</a:t>
            </a:r>
          </a:p>
        </p:txBody>
      </p:sp>
      <p:graphicFrame>
        <p:nvGraphicFramePr>
          <p:cNvPr id="15" name="Content Placeholder 6">
            <a:extLst>
              <a:ext uri="{FF2B5EF4-FFF2-40B4-BE49-F238E27FC236}">
                <a16:creationId xmlns:a16="http://schemas.microsoft.com/office/drawing/2014/main" id="{083479C3-C5CE-4F6C-8219-FE2EC7D4DA68}"/>
              </a:ext>
            </a:extLst>
          </p:cNvPr>
          <p:cNvGraphicFramePr>
            <a:graphicFrameLocks/>
          </p:cNvGraphicFramePr>
          <p:nvPr/>
        </p:nvGraphicFramePr>
        <p:xfrm>
          <a:off x="555172" y="14192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30CCE-98CA-474D-82B2-240822C2C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93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2376C1-FEF9-ECCD-F528-D7D148E2C6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0180" y="838380"/>
            <a:ext cx="10071640" cy="51812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08B7BD-1027-3517-716F-2C688BC4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Taxonomy of PEFT: a birds-eye 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113A7-BBBA-4760-A6AC-B01EC67A2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193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760F79-4140-D225-4ABD-CE35E5F74D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66700" y="990600"/>
          <a:ext cx="116586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E2AC0F6-4A66-85A9-1FCD-088A0BE3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PEFT methods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6781B-AA42-4B5E-9095-B39DCFB0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97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F46DA2-0B04-F099-1E1D-9C8F766D7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2055359" y="371217"/>
            <a:ext cx="8081282" cy="611556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BE22A-ED84-4368-8057-38494CC2F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57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EF6FD1-878A-2AFE-CDA2-2B26D18854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0062" y="990600"/>
            <a:ext cx="7911876" cy="54102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308DEA6-59A2-4F26-B48A-C1B0BD03A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Overview of PEFT Approaches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9AD46-FF71-4980-9339-8611B2354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8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F73387-8CB0-43FD-BDB3-800E3F72D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b="1" dirty="0"/>
              <a:t>Goal:</a:t>
            </a:r>
            <a:r>
              <a:rPr lang="en-US" dirty="0"/>
              <a:t> perform fine-tuning of fewer parameters, but achieve performance on a downstream task that is comparable to fine- tuning of all parameters</a:t>
            </a:r>
          </a:p>
          <a:p>
            <a:r>
              <a:rPr lang="en-US" b="1" dirty="0"/>
              <a:t>Various approaches:</a:t>
            </a:r>
          </a:p>
          <a:p>
            <a:pPr lvl="1"/>
            <a:r>
              <a:rPr lang="en-US" b="1" dirty="0"/>
              <a:t>Prefix Tuning:</a:t>
            </a:r>
            <a:r>
              <a:rPr lang="en-US" dirty="0"/>
              <a:t> for a Transformer LM, pretend as if there exist many 	tokens that came before your sequence and tune the keys/values corresponding to those tokens</a:t>
            </a:r>
          </a:p>
          <a:p>
            <a:pPr lvl="1"/>
            <a:r>
              <a:rPr lang="en-US" b="1" dirty="0"/>
              <a:t>Subset:</a:t>
            </a:r>
            <a:r>
              <a:rPr lang="en-US" dirty="0"/>
              <a:t> Pick a subset of the parameters and fine-tune only those (e.g. only the top K layers of a K+L layer deep neural network)</a:t>
            </a:r>
          </a:p>
          <a:p>
            <a:pPr lvl="1"/>
            <a:r>
              <a:rPr lang="en-US" b="1" dirty="0"/>
              <a:t>Adapters:</a:t>
            </a:r>
            <a:r>
              <a:rPr lang="en-US" dirty="0"/>
              <a:t> add additional layers that have few parameters and tune only the parameters of those layers, keeping all others fixed</a:t>
            </a:r>
          </a:p>
          <a:p>
            <a:pPr lvl="1"/>
            <a:r>
              <a:rPr lang="en-US" b="1" dirty="0" err="1"/>
              <a:t>LoRA</a:t>
            </a:r>
            <a:r>
              <a:rPr lang="en-US" b="1" dirty="0"/>
              <a:t>:</a:t>
            </a:r>
            <a:r>
              <a:rPr lang="en-US" dirty="0"/>
              <a:t> learn a small delta for the each of the parameter matrices with the delta chosen to be low rank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Parameter Efficient Fine-Tuning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D966460-EA3E-48C4-A9EC-1F06E74A5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ontent Placeholder 180">
            <a:extLst>
              <a:ext uri="{FF2B5EF4-FFF2-40B4-BE49-F238E27FC236}">
                <a16:creationId xmlns:a16="http://schemas.microsoft.com/office/drawing/2014/main" id="{9127445F-AA6B-4F36-9FE1-86D577F11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5004191" cy="5410200"/>
          </a:xfrm>
        </p:spPr>
        <p:txBody>
          <a:bodyPr/>
          <a:lstStyle/>
          <a:p>
            <a:r>
              <a:rPr lang="en-US" dirty="0"/>
              <a:t>Simple baseline for PEFT:</a:t>
            </a:r>
          </a:p>
          <a:p>
            <a:pPr lvl="1"/>
            <a:r>
              <a:rPr lang="en-US" dirty="0"/>
              <a:t>keep all parameters fixed except for the top K layers</a:t>
            </a:r>
          </a:p>
          <a:p>
            <a:pPr lvl="1"/>
            <a:r>
              <a:rPr lang="en-US" dirty="0"/>
              <a:t>gradients only need to flow through K layers instead of K+L total layers</a:t>
            </a:r>
          </a:p>
          <a:p>
            <a:pPr lvl="1"/>
            <a:r>
              <a:rPr lang="en-US" dirty="0"/>
              <a:t>reduced memory usage b/c we don’t need to store the adjoints (gradient of the loss with respect to each parameter) for the full computation graph</a:t>
            </a:r>
          </a:p>
          <a:p>
            <a:r>
              <a:rPr lang="en-US" dirty="0"/>
              <a:t>Can easily be applied to most deep neural networks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Fine-Tuning the Top Layers Only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735590" y="3076930"/>
            <a:ext cx="3352165" cy="3499485"/>
            <a:chOff x="7735590" y="3076930"/>
            <a:chExt cx="3352165" cy="3499485"/>
          </a:xfrm>
        </p:grpSpPr>
        <p:sp>
          <p:nvSpPr>
            <p:cNvPr id="5" name="object 5"/>
            <p:cNvSpPr/>
            <p:nvPr/>
          </p:nvSpPr>
          <p:spPr>
            <a:xfrm>
              <a:off x="8181480" y="5060060"/>
              <a:ext cx="2614295" cy="819150"/>
            </a:xfrm>
            <a:custGeom>
              <a:avLst/>
              <a:gdLst/>
              <a:ahLst/>
              <a:cxnLst/>
              <a:rect l="l" t="t" r="r" b="b"/>
              <a:pathLst>
                <a:path w="2614295" h="819150">
                  <a:moveTo>
                    <a:pt x="2613799" y="113385"/>
                  </a:moveTo>
                  <a:lnTo>
                    <a:pt x="2571813" y="35598"/>
                  </a:lnTo>
                  <a:lnTo>
                    <a:pt x="2565146" y="23279"/>
                  </a:lnTo>
                  <a:lnTo>
                    <a:pt x="2555024" y="20891"/>
                  </a:lnTo>
                  <a:lnTo>
                    <a:pt x="2465336" y="0"/>
                  </a:lnTo>
                  <a:lnTo>
                    <a:pt x="2461933" y="2120"/>
                  </a:lnTo>
                  <a:lnTo>
                    <a:pt x="2460333" y="8928"/>
                  </a:lnTo>
                  <a:lnTo>
                    <a:pt x="2462453" y="12344"/>
                  </a:lnTo>
                  <a:lnTo>
                    <a:pt x="2466035" y="13182"/>
                  </a:lnTo>
                  <a:lnTo>
                    <a:pt x="2463190" y="12890"/>
                  </a:lnTo>
                  <a:lnTo>
                    <a:pt x="2460066" y="15430"/>
                  </a:lnTo>
                  <a:lnTo>
                    <a:pt x="2459367" y="22390"/>
                  </a:lnTo>
                  <a:lnTo>
                    <a:pt x="2461895" y="25501"/>
                  </a:lnTo>
                  <a:lnTo>
                    <a:pt x="2517851" y="31203"/>
                  </a:lnTo>
                  <a:lnTo>
                    <a:pt x="2501582" y="36220"/>
                  </a:lnTo>
                  <a:lnTo>
                    <a:pt x="2464727" y="43726"/>
                  </a:lnTo>
                  <a:lnTo>
                    <a:pt x="2462504" y="47078"/>
                  </a:lnTo>
                  <a:lnTo>
                    <a:pt x="2462720" y="48183"/>
                  </a:lnTo>
                  <a:lnTo>
                    <a:pt x="0" y="806513"/>
                  </a:lnTo>
                  <a:lnTo>
                    <a:pt x="3733" y="818629"/>
                  </a:lnTo>
                  <a:lnTo>
                    <a:pt x="2472220" y="58521"/>
                  </a:lnTo>
                  <a:lnTo>
                    <a:pt x="846086" y="797293"/>
                  </a:lnTo>
                  <a:lnTo>
                    <a:pt x="851331" y="808837"/>
                  </a:lnTo>
                  <a:lnTo>
                    <a:pt x="2524506" y="48704"/>
                  </a:lnTo>
                  <a:lnTo>
                    <a:pt x="2512314" y="61937"/>
                  </a:lnTo>
                  <a:lnTo>
                    <a:pt x="1691322" y="795172"/>
                  </a:lnTo>
                  <a:lnTo>
                    <a:pt x="1699780" y="804621"/>
                  </a:lnTo>
                  <a:lnTo>
                    <a:pt x="2490927" y="98044"/>
                  </a:lnTo>
                  <a:lnTo>
                    <a:pt x="2491752" y="98793"/>
                  </a:lnTo>
                  <a:lnTo>
                    <a:pt x="2495766" y="98628"/>
                  </a:lnTo>
                  <a:lnTo>
                    <a:pt x="2497759" y="96456"/>
                  </a:lnTo>
                  <a:lnTo>
                    <a:pt x="2495588" y="99529"/>
                  </a:lnTo>
                  <a:lnTo>
                    <a:pt x="2496261" y="103479"/>
                  </a:lnTo>
                  <a:lnTo>
                    <a:pt x="2501976" y="107530"/>
                  </a:lnTo>
                  <a:lnTo>
                    <a:pt x="2505938" y="106845"/>
                  </a:lnTo>
                  <a:lnTo>
                    <a:pt x="2540546" y="57988"/>
                  </a:lnTo>
                  <a:lnTo>
                    <a:pt x="2537663" y="66852"/>
                  </a:lnTo>
                  <a:lnTo>
                    <a:pt x="2510548" y="109931"/>
                  </a:lnTo>
                  <a:lnTo>
                    <a:pt x="2511450" y="113842"/>
                  </a:lnTo>
                  <a:lnTo>
                    <a:pt x="2517381" y="117576"/>
                  </a:lnTo>
                  <a:lnTo>
                    <a:pt x="2521293" y="116674"/>
                  </a:lnTo>
                  <a:lnTo>
                    <a:pt x="2521775" y="115912"/>
                  </a:lnTo>
                  <a:lnTo>
                    <a:pt x="2521496" y="116776"/>
                  </a:lnTo>
                  <a:lnTo>
                    <a:pt x="2523325" y="120345"/>
                  </a:lnTo>
                  <a:lnTo>
                    <a:pt x="2529992" y="122504"/>
                  </a:lnTo>
                  <a:lnTo>
                    <a:pt x="2533561" y="120675"/>
                  </a:lnTo>
                  <a:lnTo>
                    <a:pt x="2549258" y="72250"/>
                  </a:lnTo>
                  <a:lnTo>
                    <a:pt x="2557589" y="59029"/>
                  </a:lnTo>
                  <a:lnTo>
                    <a:pt x="2532888" y="796505"/>
                  </a:lnTo>
                  <a:lnTo>
                    <a:pt x="2545562" y="796937"/>
                  </a:lnTo>
                  <a:lnTo>
                    <a:pt x="2570264" y="59448"/>
                  </a:lnTo>
                  <a:lnTo>
                    <a:pt x="2602623" y="119405"/>
                  </a:lnTo>
                  <a:lnTo>
                    <a:pt x="2606471" y="120548"/>
                  </a:lnTo>
                  <a:lnTo>
                    <a:pt x="2612644" y="117233"/>
                  </a:lnTo>
                  <a:lnTo>
                    <a:pt x="2613799" y="1133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86830" y="5872624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86830" y="5872624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45440" y="5872624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45440" y="5872624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04048" y="5872624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04048" y="5872624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63195" y="5873188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63195" y="5873188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3672" y="5863116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33672" y="5863116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792281" y="5863116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92281" y="5863116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950890" y="5863116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950890" y="5863116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110037" y="586368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10037" y="586368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480514" y="585994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480514" y="585994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639123" y="585994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639123" y="585994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797732" y="585994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797732" y="585994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956879" y="5860512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956879" y="5860512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324184" y="5856778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324184" y="5856778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482793" y="5856778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482793" y="5856778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641402" y="5856778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641402" y="5856778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800550" y="5857342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800550" y="5857342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154683" y="5076367"/>
              <a:ext cx="1797050" cy="802640"/>
            </a:xfrm>
            <a:custGeom>
              <a:avLst/>
              <a:gdLst/>
              <a:ahLst/>
              <a:cxnLst/>
              <a:rect l="l" t="t" r="r" b="b"/>
              <a:pathLst>
                <a:path w="1797050" h="802639">
                  <a:moveTo>
                    <a:pt x="1796923" y="100241"/>
                  </a:moveTo>
                  <a:lnTo>
                    <a:pt x="1754936" y="22466"/>
                  </a:lnTo>
                  <a:lnTo>
                    <a:pt x="1748282" y="10134"/>
                  </a:lnTo>
                  <a:lnTo>
                    <a:pt x="1743113" y="9601"/>
                  </a:lnTo>
                  <a:lnTo>
                    <a:pt x="1712518" y="6578"/>
                  </a:lnTo>
                  <a:lnTo>
                    <a:pt x="1712518" y="33451"/>
                  </a:lnTo>
                  <a:lnTo>
                    <a:pt x="882332" y="772185"/>
                  </a:lnTo>
                  <a:lnTo>
                    <a:pt x="894562" y="407390"/>
                  </a:lnTo>
                  <a:lnTo>
                    <a:pt x="1712518" y="33451"/>
                  </a:lnTo>
                  <a:lnTo>
                    <a:pt x="1712518" y="6578"/>
                  </a:lnTo>
                  <a:lnTo>
                    <a:pt x="1646288" y="0"/>
                  </a:lnTo>
                  <a:lnTo>
                    <a:pt x="1643176" y="2540"/>
                  </a:lnTo>
                  <a:lnTo>
                    <a:pt x="1642491" y="9512"/>
                  </a:lnTo>
                  <a:lnTo>
                    <a:pt x="1645031" y="12611"/>
                  </a:lnTo>
                  <a:lnTo>
                    <a:pt x="1705952" y="18669"/>
                  </a:lnTo>
                  <a:lnTo>
                    <a:pt x="1647812" y="30403"/>
                  </a:lnTo>
                  <a:lnTo>
                    <a:pt x="1645589" y="33756"/>
                  </a:lnTo>
                  <a:lnTo>
                    <a:pt x="1646986" y="40614"/>
                  </a:lnTo>
                  <a:lnTo>
                    <a:pt x="1650326" y="42837"/>
                  </a:lnTo>
                  <a:lnTo>
                    <a:pt x="1670291" y="38811"/>
                  </a:lnTo>
                  <a:lnTo>
                    <a:pt x="895032" y="393230"/>
                  </a:lnTo>
                  <a:lnTo>
                    <a:pt x="906551" y="49479"/>
                  </a:lnTo>
                  <a:lnTo>
                    <a:pt x="938911" y="109435"/>
                  </a:lnTo>
                  <a:lnTo>
                    <a:pt x="942759" y="110578"/>
                  </a:lnTo>
                  <a:lnTo>
                    <a:pt x="948931" y="107264"/>
                  </a:lnTo>
                  <a:lnTo>
                    <a:pt x="950074" y="103416"/>
                  </a:lnTo>
                  <a:lnTo>
                    <a:pt x="908100" y="25628"/>
                  </a:lnTo>
                  <a:lnTo>
                    <a:pt x="901433" y="13309"/>
                  </a:lnTo>
                  <a:lnTo>
                    <a:pt x="893876" y="14859"/>
                  </a:lnTo>
                  <a:lnTo>
                    <a:pt x="893876" y="49060"/>
                  </a:lnTo>
                  <a:lnTo>
                    <a:pt x="882142" y="399122"/>
                  </a:lnTo>
                  <a:lnTo>
                    <a:pt x="63868" y="773201"/>
                  </a:lnTo>
                  <a:lnTo>
                    <a:pt x="878852" y="42062"/>
                  </a:lnTo>
                  <a:lnTo>
                    <a:pt x="874204" y="56489"/>
                  </a:lnTo>
                  <a:lnTo>
                    <a:pt x="846836" y="99961"/>
                  </a:lnTo>
                  <a:lnTo>
                    <a:pt x="847725" y="103873"/>
                  </a:lnTo>
                  <a:lnTo>
                    <a:pt x="853655" y="107607"/>
                  </a:lnTo>
                  <a:lnTo>
                    <a:pt x="857580" y="106705"/>
                  </a:lnTo>
                  <a:lnTo>
                    <a:pt x="858532" y="105181"/>
                  </a:lnTo>
                  <a:lnTo>
                    <a:pt x="857986" y="106908"/>
                  </a:lnTo>
                  <a:lnTo>
                    <a:pt x="859828" y="110477"/>
                  </a:lnTo>
                  <a:lnTo>
                    <a:pt x="866495" y="112610"/>
                  </a:lnTo>
                  <a:lnTo>
                    <a:pt x="870064" y="110782"/>
                  </a:lnTo>
                  <a:lnTo>
                    <a:pt x="885786" y="61899"/>
                  </a:lnTo>
                  <a:lnTo>
                    <a:pt x="893876" y="49060"/>
                  </a:lnTo>
                  <a:lnTo>
                    <a:pt x="893876" y="14859"/>
                  </a:lnTo>
                  <a:lnTo>
                    <a:pt x="801052" y="33985"/>
                  </a:lnTo>
                  <a:lnTo>
                    <a:pt x="798842" y="37338"/>
                  </a:lnTo>
                  <a:lnTo>
                    <a:pt x="800265" y="44196"/>
                  </a:lnTo>
                  <a:lnTo>
                    <a:pt x="803617" y="46393"/>
                  </a:lnTo>
                  <a:lnTo>
                    <a:pt x="870381" y="32626"/>
                  </a:lnTo>
                  <a:lnTo>
                    <a:pt x="35496" y="781621"/>
                  </a:lnTo>
                  <a:lnTo>
                    <a:pt x="59715" y="58991"/>
                  </a:lnTo>
                  <a:lnTo>
                    <a:pt x="92075" y="118935"/>
                  </a:lnTo>
                  <a:lnTo>
                    <a:pt x="95923" y="120091"/>
                  </a:lnTo>
                  <a:lnTo>
                    <a:pt x="102082" y="116763"/>
                  </a:lnTo>
                  <a:lnTo>
                    <a:pt x="103238" y="112928"/>
                  </a:lnTo>
                  <a:lnTo>
                    <a:pt x="61252" y="35140"/>
                  </a:lnTo>
                  <a:lnTo>
                    <a:pt x="54584" y="22771"/>
                  </a:lnTo>
                  <a:lnTo>
                    <a:pt x="0" y="109474"/>
                  </a:lnTo>
                  <a:lnTo>
                    <a:pt x="889" y="113385"/>
                  </a:lnTo>
                  <a:lnTo>
                    <a:pt x="6819" y="117106"/>
                  </a:lnTo>
                  <a:lnTo>
                    <a:pt x="10731" y="116217"/>
                  </a:lnTo>
                  <a:lnTo>
                    <a:pt x="47028" y="58572"/>
                  </a:lnTo>
                  <a:lnTo>
                    <a:pt x="22326" y="796048"/>
                  </a:lnTo>
                  <a:lnTo>
                    <a:pt x="28663" y="796264"/>
                  </a:lnTo>
                  <a:lnTo>
                    <a:pt x="31305" y="802030"/>
                  </a:lnTo>
                  <a:lnTo>
                    <a:pt x="881659" y="413283"/>
                  </a:lnTo>
                  <a:lnTo>
                    <a:pt x="869162" y="786549"/>
                  </a:lnTo>
                  <a:lnTo>
                    <a:pt x="875499" y="786765"/>
                  </a:lnTo>
                  <a:lnTo>
                    <a:pt x="879729" y="791489"/>
                  </a:lnTo>
                  <a:lnTo>
                    <a:pt x="1690636" y="69888"/>
                  </a:lnTo>
                  <a:lnTo>
                    <a:pt x="1678889" y="86550"/>
                  </a:lnTo>
                  <a:lnTo>
                    <a:pt x="1679575" y="90512"/>
                  </a:lnTo>
                  <a:lnTo>
                    <a:pt x="1685302" y="94538"/>
                  </a:lnTo>
                  <a:lnTo>
                    <a:pt x="1689265" y="93853"/>
                  </a:lnTo>
                  <a:lnTo>
                    <a:pt x="1723415" y="45415"/>
                  </a:lnTo>
                  <a:lnTo>
                    <a:pt x="1720596" y="54038"/>
                  </a:lnTo>
                  <a:lnTo>
                    <a:pt x="1693684" y="96786"/>
                  </a:lnTo>
                  <a:lnTo>
                    <a:pt x="1694573" y="100711"/>
                  </a:lnTo>
                  <a:lnTo>
                    <a:pt x="1700504" y="104432"/>
                  </a:lnTo>
                  <a:lnTo>
                    <a:pt x="1704416" y="103543"/>
                  </a:lnTo>
                  <a:lnTo>
                    <a:pt x="1704492" y="103416"/>
                  </a:lnTo>
                  <a:lnTo>
                    <a:pt x="1704454" y="103555"/>
                  </a:lnTo>
                  <a:lnTo>
                    <a:pt x="1706270" y="107137"/>
                  </a:lnTo>
                  <a:lnTo>
                    <a:pt x="1712937" y="109308"/>
                  </a:lnTo>
                  <a:lnTo>
                    <a:pt x="1716519" y="107480"/>
                  </a:lnTo>
                  <a:lnTo>
                    <a:pt x="1732191" y="59423"/>
                  </a:lnTo>
                  <a:lnTo>
                    <a:pt x="1740712" y="45897"/>
                  </a:lnTo>
                  <a:lnTo>
                    <a:pt x="1716011" y="783374"/>
                  </a:lnTo>
                  <a:lnTo>
                    <a:pt x="1728685" y="783793"/>
                  </a:lnTo>
                  <a:lnTo>
                    <a:pt x="1753400" y="46316"/>
                  </a:lnTo>
                  <a:lnTo>
                    <a:pt x="1785759" y="106260"/>
                  </a:lnTo>
                  <a:lnTo>
                    <a:pt x="1789607" y="107416"/>
                  </a:lnTo>
                  <a:lnTo>
                    <a:pt x="1795767" y="104089"/>
                  </a:lnTo>
                  <a:lnTo>
                    <a:pt x="1796923" y="1002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812743" y="494697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812743" y="494697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971353" y="494697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971353" y="494697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129962" y="494697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129962" y="494697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289108" y="494754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289108" y="494754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659585" y="4937470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659585" y="4937470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818195" y="4937470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818195" y="4937470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976803" y="4937470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976803" y="4937470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135951" y="4938034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135951" y="4938034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9506426" y="493430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506426" y="493430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9665036" y="493430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9665036" y="493430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823645" y="493430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823645" y="493430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982792" y="4934865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982792" y="4934865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350097" y="493113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0350097" y="493113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0508706" y="493113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0508706" y="493113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0667315" y="493113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667315" y="493113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826462" y="4931695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1"/>
                  </a:lnTo>
                  <a:lnTo>
                    <a:pt x="158610" y="152191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0826462" y="4931695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16038" y="6050411"/>
              <a:ext cx="103296" cy="232956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59819" y="6050411"/>
              <a:ext cx="103296" cy="232956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25060" y="6052385"/>
              <a:ext cx="103296" cy="232956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842" y="6052385"/>
              <a:ext cx="103295" cy="232956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7785313" y="6326237"/>
              <a:ext cx="679450" cy="243840"/>
            </a:xfrm>
            <a:custGeom>
              <a:avLst/>
              <a:gdLst/>
              <a:ahLst/>
              <a:cxnLst/>
              <a:rect l="l" t="t" r="r" b="b"/>
              <a:pathLst>
                <a:path w="679450" h="243840">
                  <a:moveTo>
                    <a:pt x="638594" y="0"/>
                  </a:moveTo>
                  <a:lnTo>
                    <a:pt x="40629" y="0"/>
                  </a:lnTo>
                  <a:lnTo>
                    <a:pt x="24815" y="3190"/>
                  </a:lnTo>
                  <a:lnTo>
                    <a:pt x="11900" y="11890"/>
                  </a:lnTo>
                  <a:lnTo>
                    <a:pt x="3193" y="24794"/>
                  </a:lnTo>
                  <a:lnTo>
                    <a:pt x="0" y="40597"/>
                  </a:lnTo>
                  <a:lnTo>
                    <a:pt x="0" y="202982"/>
                  </a:lnTo>
                  <a:lnTo>
                    <a:pt x="3193" y="218785"/>
                  </a:lnTo>
                  <a:lnTo>
                    <a:pt x="11900" y="231689"/>
                  </a:lnTo>
                  <a:lnTo>
                    <a:pt x="24815" y="240389"/>
                  </a:lnTo>
                  <a:lnTo>
                    <a:pt x="40629" y="243580"/>
                  </a:lnTo>
                  <a:lnTo>
                    <a:pt x="638594" y="243580"/>
                  </a:lnTo>
                  <a:lnTo>
                    <a:pt x="654409" y="240389"/>
                  </a:lnTo>
                  <a:lnTo>
                    <a:pt x="667323" y="231689"/>
                  </a:lnTo>
                  <a:lnTo>
                    <a:pt x="676031" y="218785"/>
                  </a:lnTo>
                  <a:lnTo>
                    <a:pt x="679223" y="202982"/>
                  </a:lnTo>
                  <a:lnTo>
                    <a:pt x="679223" y="40597"/>
                  </a:lnTo>
                  <a:lnTo>
                    <a:pt x="676031" y="24794"/>
                  </a:lnTo>
                  <a:lnTo>
                    <a:pt x="667323" y="11890"/>
                  </a:lnTo>
                  <a:lnTo>
                    <a:pt x="654409" y="3190"/>
                  </a:lnTo>
                  <a:lnTo>
                    <a:pt x="638594" y="0"/>
                  </a:lnTo>
                  <a:close/>
                </a:path>
              </a:pathLst>
            </a:custGeom>
            <a:solidFill>
              <a:srgbClr val="D7DD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785313" y="6326237"/>
              <a:ext cx="679450" cy="243840"/>
            </a:xfrm>
            <a:custGeom>
              <a:avLst/>
              <a:gdLst/>
              <a:ahLst/>
              <a:cxnLst/>
              <a:rect l="l" t="t" r="r" b="b"/>
              <a:pathLst>
                <a:path w="679450" h="243840">
                  <a:moveTo>
                    <a:pt x="0" y="40597"/>
                  </a:moveTo>
                  <a:lnTo>
                    <a:pt x="3192" y="24794"/>
                  </a:lnTo>
                  <a:lnTo>
                    <a:pt x="11900" y="11890"/>
                  </a:lnTo>
                  <a:lnTo>
                    <a:pt x="24815" y="3190"/>
                  </a:lnTo>
                  <a:lnTo>
                    <a:pt x="40630" y="0"/>
                  </a:lnTo>
                  <a:lnTo>
                    <a:pt x="638593" y="0"/>
                  </a:lnTo>
                  <a:lnTo>
                    <a:pt x="654408" y="3190"/>
                  </a:lnTo>
                  <a:lnTo>
                    <a:pt x="667323" y="11890"/>
                  </a:lnTo>
                  <a:lnTo>
                    <a:pt x="676030" y="24794"/>
                  </a:lnTo>
                  <a:lnTo>
                    <a:pt x="679223" y="40597"/>
                  </a:lnTo>
                  <a:lnTo>
                    <a:pt x="679223" y="202982"/>
                  </a:lnTo>
                  <a:lnTo>
                    <a:pt x="676030" y="218785"/>
                  </a:lnTo>
                  <a:lnTo>
                    <a:pt x="667323" y="231689"/>
                  </a:lnTo>
                  <a:lnTo>
                    <a:pt x="654408" y="240389"/>
                  </a:lnTo>
                  <a:lnTo>
                    <a:pt x="638593" y="243580"/>
                  </a:lnTo>
                  <a:lnTo>
                    <a:pt x="40630" y="243580"/>
                  </a:lnTo>
                  <a:lnTo>
                    <a:pt x="24815" y="240389"/>
                  </a:lnTo>
                  <a:lnTo>
                    <a:pt x="11900" y="231689"/>
                  </a:lnTo>
                  <a:lnTo>
                    <a:pt x="3192" y="218785"/>
                  </a:lnTo>
                  <a:lnTo>
                    <a:pt x="0" y="202982"/>
                  </a:lnTo>
                  <a:lnTo>
                    <a:pt x="0" y="40597"/>
                  </a:lnTo>
                  <a:close/>
                </a:path>
              </a:pathLst>
            </a:custGeom>
            <a:ln w="9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634792" y="6323529"/>
              <a:ext cx="679450" cy="243840"/>
            </a:xfrm>
            <a:custGeom>
              <a:avLst/>
              <a:gdLst/>
              <a:ahLst/>
              <a:cxnLst/>
              <a:rect l="l" t="t" r="r" b="b"/>
              <a:pathLst>
                <a:path w="679450" h="243840">
                  <a:moveTo>
                    <a:pt x="638594" y="0"/>
                  </a:moveTo>
                  <a:lnTo>
                    <a:pt x="40629" y="0"/>
                  </a:lnTo>
                  <a:lnTo>
                    <a:pt x="24815" y="3190"/>
                  </a:lnTo>
                  <a:lnTo>
                    <a:pt x="11900" y="11890"/>
                  </a:lnTo>
                  <a:lnTo>
                    <a:pt x="3193" y="24794"/>
                  </a:lnTo>
                  <a:lnTo>
                    <a:pt x="0" y="40597"/>
                  </a:lnTo>
                  <a:lnTo>
                    <a:pt x="0" y="202982"/>
                  </a:lnTo>
                  <a:lnTo>
                    <a:pt x="3193" y="218785"/>
                  </a:lnTo>
                  <a:lnTo>
                    <a:pt x="11900" y="231689"/>
                  </a:lnTo>
                  <a:lnTo>
                    <a:pt x="24815" y="240389"/>
                  </a:lnTo>
                  <a:lnTo>
                    <a:pt x="40629" y="243580"/>
                  </a:lnTo>
                  <a:lnTo>
                    <a:pt x="638594" y="243580"/>
                  </a:lnTo>
                  <a:lnTo>
                    <a:pt x="654409" y="240389"/>
                  </a:lnTo>
                  <a:lnTo>
                    <a:pt x="667323" y="231689"/>
                  </a:lnTo>
                  <a:lnTo>
                    <a:pt x="676031" y="218785"/>
                  </a:lnTo>
                  <a:lnTo>
                    <a:pt x="679223" y="202982"/>
                  </a:lnTo>
                  <a:lnTo>
                    <a:pt x="679223" y="40597"/>
                  </a:lnTo>
                  <a:lnTo>
                    <a:pt x="676031" y="24794"/>
                  </a:lnTo>
                  <a:lnTo>
                    <a:pt x="667323" y="11890"/>
                  </a:lnTo>
                  <a:lnTo>
                    <a:pt x="654409" y="3190"/>
                  </a:lnTo>
                  <a:lnTo>
                    <a:pt x="638594" y="0"/>
                  </a:lnTo>
                  <a:close/>
                </a:path>
              </a:pathLst>
            </a:custGeom>
            <a:solidFill>
              <a:srgbClr val="D7DD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634792" y="6323529"/>
              <a:ext cx="679450" cy="243840"/>
            </a:xfrm>
            <a:custGeom>
              <a:avLst/>
              <a:gdLst/>
              <a:ahLst/>
              <a:cxnLst/>
              <a:rect l="l" t="t" r="r" b="b"/>
              <a:pathLst>
                <a:path w="679450" h="243840">
                  <a:moveTo>
                    <a:pt x="0" y="40597"/>
                  </a:moveTo>
                  <a:lnTo>
                    <a:pt x="3192" y="24794"/>
                  </a:lnTo>
                  <a:lnTo>
                    <a:pt x="11900" y="11890"/>
                  </a:lnTo>
                  <a:lnTo>
                    <a:pt x="24815" y="3190"/>
                  </a:lnTo>
                  <a:lnTo>
                    <a:pt x="40630" y="0"/>
                  </a:lnTo>
                  <a:lnTo>
                    <a:pt x="638593" y="0"/>
                  </a:lnTo>
                  <a:lnTo>
                    <a:pt x="654408" y="3190"/>
                  </a:lnTo>
                  <a:lnTo>
                    <a:pt x="667323" y="11890"/>
                  </a:lnTo>
                  <a:lnTo>
                    <a:pt x="676030" y="24794"/>
                  </a:lnTo>
                  <a:lnTo>
                    <a:pt x="679223" y="40597"/>
                  </a:lnTo>
                  <a:lnTo>
                    <a:pt x="679223" y="202982"/>
                  </a:lnTo>
                  <a:lnTo>
                    <a:pt x="676030" y="218785"/>
                  </a:lnTo>
                  <a:lnTo>
                    <a:pt x="667323" y="231689"/>
                  </a:lnTo>
                  <a:lnTo>
                    <a:pt x="654408" y="240389"/>
                  </a:lnTo>
                  <a:lnTo>
                    <a:pt x="638593" y="243580"/>
                  </a:lnTo>
                  <a:lnTo>
                    <a:pt x="40630" y="243580"/>
                  </a:lnTo>
                  <a:lnTo>
                    <a:pt x="24815" y="240389"/>
                  </a:lnTo>
                  <a:lnTo>
                    <a:pt x="11900" y="231689"/>
                  </a:lnTo>
                  <a:lnTo>
                    <a:pt x="3192" y="218785"/>
                  </a:lnTo>
                  <a:lnTo>
                    <a:pt x="0" y="202982"/>
                  </a:lnTo>
                  <a:lnTo>
                    <a:pt x="0" y="40597"/>
                  </a:lnTo>
                  <a:close/>
                </a:path>
              </a:pathLst>
            </a:custGeom>
            <a:ln w="9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9449549" y="6327589"/>
              <a:ext cx="679450" cy="243840"/>
            </a:xfrm>
            <a:custGeom>
              <a:avLst/>
              <a:gdLst/>
              <a:ahLst/>
              <a:cxnLst/>
              <a:rect l="l" t="t" r="r" b="b"/>
              <a:pathLst>
                <a:path w="679450" h="243840">
                  <a:moveTo>
                    <a:pt x="638592" y="0"/>
                  </a:moveTo>
                  <a:lnTo>
                    <a:pt x="40629" y="0"/>
                  </a:lnTo>
                  <a:lnTo>
                    <a:pt x="24814" y="3190"/>
                  </a:lnTo>
                  <a:lnTo>
                    <a:pt x="11900" y="11890"/>
                  </a:lnTo>
                  <a:lnTo>
                    <a:pt x="3192" y="24794"/>
                  </a:lnTo>
                  <a:lnTo>
                    <a:pt x="0" y="40597"/>
                  </a:lnTo>
                  <a:lnTo>
                    <a:pt x="0" y="202982"/>
                  </a:lnTo>
                  <a:lnTo>
                    <a:pt x="3192" y="218785"/>
                  </a:lnTo>
                  <a:lnTo>
                    <a:pt x="11900" y="231689"/>
                  </a:lnTo>
                  <a:lnTo>
                    <a:pt x="24814" y="240389"/>
                  </a:lnTo>
                  <a:lnTo>
                    <a:pt x="40629" y="243580"/>
                  </a:lnTo>
                  <a:lnTo>
                    <a:pt x="638592" y="243580"/>
                  </a:lnTo>
                  <a:lnTo>
                    <a:pt x="654408" y="240389"/>
                  </a:lnTo>
                  <a:lnTo>
                    <a:pt x="667323" y="231689"/>
                  </a:lnTo>
                  <a:lnTo>
                    <a:pt x="676030" y="218785"/>
                  </a:lnTo>
                  <a:lnTo>
                    <a:pt x="679223" y="202982"/>
                  </a:lnTo>
                  <a:lnTo>
                    <a:pt x="679223" y="40597"/>
                  </a:lnTo>
                  <a:lnTo>
                    <a:pt x="676030" y="24794"/>
                  </a:lnTo>
                  <a:lnTo>
                    <a:pt x="667323" y="11890"/>
                  </a:lnTo>
                  <a:lnTo>
                    <a:pt x="654408" y="3190"/>
                  </a:lnTo>
                  <a:lnTo>
                    <a:pt x="638592" y="0"/>
                  </a:lnTo>
                  <a:close/>
                </a:path>
              </a:pathLst>
            </a:custGeom>
            <a:solidFill>
              <a:srgbClr val="D7DD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9449549" y="6327589"/>
              <a:ext cx="679450" cy="243840"/>
            </a:xfrm>
            <a:custGeom>
              <a:avLst/>
              <a:gdLst/>
              <a:ahLst/>
              <a:cxnLst/>
              <a:rect l="l" t="t" r="r" b="b"/>
              <a:pathLst>
                <a:path w="679450" h="243840">
                  <a:moveTo>
                    <a:pt x="0" y="40597"/>
                  </a:moveTo>
                  <a:lnTo>
                    <a:pt x="3192" y="24794"/>
                  </a:lnTo>
                  <a:lnTo>
                    <a:pt x="11900" y="11890"/>
                  </a:lnTo>
                  <a:lnTo>
                    <a:pt x="24815" y="3190"/>
                  </a:lnTo>
                  <a:lnTo>
                    <a:pt x="40630" y="0"/>
                  </a:lnTo>
                  <a:lnTo>
                    <a:pt x="638593" y="0"/>
                  </a:lnTo>
                  <a:lnTo>
                    <a:pt x="654408" y="3190"/>
                  </a:lnTo>
                  <a:lnTo>
                    <a:pt x="667323" y="11890"/>
                  </a:lnTo>
                  <a:lnTo>
                    <a:pt x="676030" y="24794"/>
                  </a:lnTo>
                  <a:lnTo>
                    <a:pt x="679223" y="40597"/>
                  </a:lnTo>
                  <a:lnTo>
                    <a:pt x="679223" y="202982"/>
                  </a:lnTo>
                  <a:lnTo>
                    <a:pt x="676030" y="218785"/>
                  </a:lnTo>
                  <a:lnTo>
                    <a:pt x="667323" y="231689"/>
                  </a:lnTo>
                  <a:lnTo>
                    <a:pt x="654408" y="240389"/>
                  </a:lnTo>
                  <a:lnTo>
                    <a:pt x="638593" y="243580"/>
                  </a:lnTo>
                  <a:lnTo>
                    <a:pt x="40630" y="243580"/>
                  </a:lnTo>
                  <a:lnTo>
                    <a:pt x="24815" y="240389"/>
                  </a:lnTo>
                  <a:lnTo>
                    <a:pt x="11900" y="231689"/>
                  </a:lnTo>
                  <a:lnTo>
                    <a:pt x="3192" y="218785"/>
                  </a:lnTo>
                  <a:lnTo>
                    <a:pt x="0" y="202982"/>
                  </a:lnTo>
                  <a:lnTo>
                    <a:pt x="0" y="40597"/>
                  </a:lnTo>
                  <a:close/>
                </a:path>
              </a:pathLst>
            </a:custGeom>
            <a:ln w="9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0279936" y="6323529"/>
              <a:ext cx="679450" cy="243840"/>
            </a:xfrm>
            <a:custGeom>
              <a:avLst/>
              <a:gdLst/>
              <a:ahLst/>
              <a:cxnLst/>
              <a:rect l="l" t="t" r="r" b="b"/>
              <a:pathLst>
                <a:path w="679450" h="243840">
                  <a:moveTo>
                    <a:pt x="638592" y="0"/>
                  </a:moveTo>
                  <a:lnTo>
                    <a:pt x="40629" y="0"/>
                  </a:lnTo>
                  <a:lnTo>
                    <a:pt x="24814" y="3190"/>
                  </a:lnTo>
                  <a:lnTo>
                    <a:pt x="11900" y="11890"/>
                  </a:lnTo>
                  <a:lnTo>
                    <a:pt x="3192" y="24794"/>
                  </a:lnTo>
                  <a:lnTo>
                    <a:pt x="0" y="40597"/>
                  </a:lnTo>
                  <a:lnTo>
                    <a:pt x="0" y="202982"/>
                  </a:lnTo>
                  <a:lnTo>
                    <a:pt x="3192" y="218785"/>
                  </a:lnTo>
                  <a:lnTo>
                    <a:pt x="11900" y="231689"/>
                  </a:lnTo>
                  <a:lnTo>
                    <a:pt x="24814" y="240389"/>
                  </a:lnTo>
                  <a:lnTo>
                    <a:pt x="40629" y="243580"/>
                  </a:lnTo>
                  <a:lnTo>
                    <a:pt x="638592" y="243580"/>
                  </a:lnTo>
                  <a:lnTo>
                    <a:pt x="654407" y="240389"/>
                  </a:lnTo>
                  <a:lnTo>
                    <a:pt x="667322" y="231689"/>
                  </a:lnTo>
                  <a:lnTo>
                    <a:pt x="676029" y="218785"/>
                  </a:lnTo>
                  <a:lnTo>
                    <a:pt x="679222" y="202982"/>
                  </a:lnTo>
                  <a:lnTo>
                    <a:pt x="679222" y="40597"/>
                  </a:lnTo>
                  <a:lnTo>
                    <a:pt x="676029" y="24794"/>
                  </a:lnTo>
                  <a:lnTo>
                    <a:pt x="667322" y="11890"/>
                  </a:lnTo>
                  <a:lnTo>
                    <a:pt x="654407" y="3190"/>
                  </a:lnTo>
                  <a:lnTo>
                    <a:pt x="638592" y="0"/>
                  </a:lnTo>
                  <a:close/>
                </a:path>
              </a:pathLst>
            </a:custGeom>
            <a:solidFill>
              <a:srgbClr val="D7DD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0279936" y="6323529"/>
              <a:ext cx="679450" cy="243840"/>
            </a:xfrm>
            <a:custGeom>
              <a:avLst/>
              <a:gdLst/>
              <a:ahLst/>
              <a:cxnLst/>
              <a:rect l="l" t="t" r="r" b="b"/>
              <a:pathLst>
                <a:path w="679450" h="243840">
                  <a:moveTo>
                    <a:pt x="0" y="40597"/>
                  </a:moveTo>
                  <a:lnTo>
                    <a:pt x="3192" y="24794"/>
                  </a:lnTo>
                  <a:lnTo>
                    <a:pt x="11900" y="11890"/>
                  </a:lnTo>
                  <a:lnTo>
                    <a:pt x="24815" y="3190"/>
                  </a:lnTo>
                  <a:lnTo>
                    <a:pt x="40630" y="0"/>
                  </a:lnTo>
                  <a:lnTo>
                    <a:pt x="638593" y="0"/>
                  </a:lnTo>
                  <a:lnTo>
                    <a:pt x="654408" y="3190"/>
                  </a:lnTo>
                  <a:lnTo>
                    <a:pt x="667323" y="11890"/>
                  </a:lnTo>
                  <a:lnTo>
                    <a:pt x="676030" y="24794"/>
                  </a:lnTo>
                  <a:lnTo>
                    <a:pt x="679223" y="40597"/>
                  </a:lnTo>
                  <a:lnTo>
                    <a:pt x="679223" y="202982"/>
                  </a:lnTo>
                  <a:lnTo>
                    <a:pt x="676030" y="218785"/>
                  </a:lnTo>
                  <a:lnTo>
                    <a:pt x="667323" y="231689"/>
                  </a:lnTo>
                  <a:lnTo>
                    <a:pt x="654408" y="240389"/>
                  </a:lnTo>
                  <a:lnTo>
                    <a:pt x="638593" y="243580"/>
                  </a:lnTo>
                  <a:lnTo>
                    <a:pt x="40630" y="243580"/>
                  </a:lnTo>
                  <a:lnTo>
                    <a:pt x="24815" y="240389"/>
                  </a:lnTo>
                  <a:lnTo>
                    <a:pt x="11900" y="231689"/>
                  </a:lnTo>
                  <a:lnTo>
                    <a:pt x="3192" y="218785"/>
                  </a:lnTo>
                  <a:lnTo>
                    <a:pt x="0" y="202982"/>
                  </a:lnTo>
                  <a:lnTo>
                    <a:pt x="0" y="40597"/>
                  </a:lnTo>
                  <a:close/>
                </a:path>
              </a:pathLst>
            </a:custGeom>
            <a:ln w="9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8193596" y="4147070"/>
              <a:ext cx="2640965" cy="1720850"/>
            </a:xfrm>
            <a:custGeom>
              <a:avLst/>
              <a:gdLst/>
              <a:ahLst/>
              <a:cxnLst/>
              <a:rect l="l" t="t" r="r" b="b"/>
              <a:pathLst>
                <a:path w="2640965" h="1720850">
                  <a:moveTo>
                    <a:pt x="2531453" y="1705102"/>
                  </a:moveTo>
                  <a:lnTo>
                    <a:pt x="1739912" y="959510"/>
                  </a:lnTo>
                  <a:lnTo>
                    <a:pt x="1806321" y="974890"/>
                  </a:lnTo>
                  <a:lnTo>
                    <a:pt x="1809724" y="972769"/>
                  </a:lnTo>
                  <a:lnTo>
                    <a:pt x="1811312" y="965949"/>
                  </a:lnTo>
                  <a:lnTo>
                    <a:pt x="1809178" y="962545"/>
                  </a:lnTo>
                  <a:lnTo>
                    <a:pt x="1726653" y="943419"/>
                  </a:lnTo>
                  <a:lnTo>
                    <a:pt x="1709331" y="939406"/>
                  </a:lnTo>
                  <a:lnTo>
                    <a:pt x="1738325" y="1037640"/>
                  </a:lnTo>
                  <a:lnTo>
                    <a:pt x="1741855" y="1039558"/>
                  </a:lnTo>
                  <a:lnTo>
                    <a:pt x="1748574" y="1037577"/>
                  </a:lnTo>
                  <a:lnTo>
                    <a:pt x="1750491" y="1034059"/>
                  </a:lnTo>
                  <a:lnTo>
                    <a:pt x="1731213" y="968730"/>
                  </a:lnTo>
                  <a:lnTo>
                    <a:pt x="2494496" y="1687715"/>
                  </a:lnTo>
                  <a:lnTo>
                    <a:pt x="2441676" y="1663382"/>
                  </a:lnTo>
                  <a:lnTo>
                    <a:pt x="2441676" y="1677327"/>
                  </a:lnTo>
                  <a:lnTo>
                    <a:pt x="1281938" y="1327480"/>
                  </a:lnTo>
                  <a:lnTo>
                    <a:pt x="895311" y="964692"/>
                  </a:lnTo>
                  <a:lnTo>
                    <a:pt x="2441676" y="1677327"/>
                  </a:lnTo>
                  <a:lnTo>
                    <a:pt x="2441676" y="1663382"/>
                  </a:lnTo>
                  <a:lnTo>
                    <a:pt x="948893" y="975436"/>
                  </a:lnTo>
                  <a:lnTo>
                    <a:pt x="959548" y="977874"/>
                  </a:lnTo>
                  <a:lnTo>
                    <a:pt x="962952" y="975741"/>
                  </a:lnTo>
                  <a:lnTo>
                    <a:pt x="964514" y="968921"/>
                  </a:lnTo>
                  <a:lnTo>
                    <a:pt x="962380" y="965517"/>
                  </a:lnTo>
                  <a:lnTo>
                    <a:pt x="901585" y="951560"/>
                  </a:lnTo>
                  <a:lnTo>
                    <a:pt x="965733" y="945388"/>
                  </a:lnTo>
                  <a:lnTo>
                    <a:pt x="968286" y="942289"/>
                  </a:lnTo>
                  <a:lnTo>
                    <a:pt x="968260" y="942111"/>
                  </a:lnTo>
                  <a:lnTo>
                    <a:pt x="967613" y="935329"/>
                  </a:lnTo>
                  <a:lnTo>
                    <a:pt x="964514" y="932776"/>
                  </a:lnTo>
                  <a:lnTo>
                    <a:pt x="862482" y="942581"/>
                  </a:lnTo>
                  <a:lnTo>
                    <a:pt x="891667" y="1040752"/>
                  </a:lnTo>
                  <a:lnTo>
                    <a:pt x="895197" y="1042670"/>
                  </a:lnTo>
                  <a:lnTo>
                    <a:pt x="901915" y="1040676"/>
                  </a:lnTo>
                  <a:lnTo>
                    <a:pt x="903833" y="1037145"/>
                  </a:lnTo>
                  <a:lnTo>
                    <a:pt x="885494" y="975448"/>
                  </a:lnTo>
                  <a:lnTo>
                    <a:pt x="921245" y="1026502"/>
                  </a:lnTo>
                  <a:lnTo>
                    <a:pt x="925207" y="1027201"/>
                  </a:lnTo>
                  <a:lnTo>
                    <a:pt x="930948" y="1023188"/>
                  </a:lnTo>
                  <a:lnTo>
                    <a:pt x="931646" y="1019225"/>
                  </a:lnTo>
                  <a:lnTo>
                    <a:pt x="925385" y="1010297"/>
                  </a:lnTo>
                  <a:lnTo>
                    <a:pt x="1254620" y="1319237"/>
                  </a:lnTo>
                  <a:lnTo>
                    <a:pt x="116433" y="975906"/>
                  </a:lnTo>
                  <a:lnTo>
                    <a:pt x="115633" y="974610"/>
                  </a:lnTo>
                  <a:lnTo>
                    <a:pt x="102031" y="971550"/>
                  </a:lnTo>
                  <a:lnTo>
                    <a:pt x="63817" y="960018"/>
                  </a:lnTo>
                  <a:lnTo>
                    <a:pt x="118897" y="954493"/>
                  </a:lnTo>
                  <a:lnTo>
                    <a:pt x="121297" y="951560"/>
                  </a:lnTo>
                  <a:lnTo>
                    <a:pt x="121437" y="951395"/>
                  </a:lnTo>
                  <a:lnTo>
                    <a:pt x="120738" y="944422"/>
                  </a:lnTo>
                  <a:lnTo>
                    <a:pt x="117627" y="941882"/>
                  </a:lnTo>
                  <a:lnTo>
                    <a:pt x="109423" y="942708"/>
                  </a:lnTo>
                  <a:lnTo>
                    <a:pt x="118275" y="940587"/>
                  </a:lnTo>
                  <a:lnTo>
                    <a:pt x="120383" y="937171"/>
                  </a:lnTo>
                  <a:lnTo>
                    <a:pt x="118745" y="930363"/>
                  </a:lnTo>
                  <a:lnTo>
                    <a:pt x="115328" y="928255"/>
                  </a:lnTo>
                  <a:lnTo>
                    <a:pt x="15659" y="952093"/>
                  </a:lnTo>
                  <a:lnTo>
                    <a:pt x="45237" y="1050137"/>
                  </a:lnTo>
                  <a:lnTo>
                    <a:pt x="48768" y="1052042"/>
                  </a:lnTo>
                  <a:lnTo>
                    <a:pt x="55486" y="1050023"/>
                  </a:lnTo>
                  <a:lnTo>
                    <a:pt x="57378" y="1046480"/>
                  </a:lnTo>
                  <a:lnTo>
                    <a:pt x="38785" y="984897"/>
                  </a:lnTo>
                  <a:lnTo>
                    <a:pt x="74726" y="1035773"/>
                  </a:lnTo>
                  <a:lnTo>
                    <a:pt x="78689" y="1036459"/>
                  </a:lnTo>
                  <a:lnTo>
                    <a:pt x="84416" y="1032421"/>
                  </a:lnTo>
                  <a:lnTo>
                    <a:pt x="85102" y="1028471"/>
                  </a:lnTo>
                  <a:lnTo>
                    <a:pt x="79857" y="1021067"/>
                  </a:lnTo>
                  <a:lnTo>
                    <a:pt x="85471" y="1027074"/>
                  </a:lnTo>
                  <a:lnTo>
                    <a:pt x="86969" y="1027137"/>
                  </a:lnTo>
                  <a:lnTo>
                    <a:pt x="832269" y="1720684"/>
                  </a:lnTo>
                  <a:lnTo>
                    <a:pt x="840917" y="1711413"/>
                  </a:lnTo>
                  <a:lnTo>
                    <a:pt x="84988" y="1007960"/>
                  </a:lnTo>
                  <a:lnTo>
                    <a:pt x="57048" y="977963"/>
                  </a:lnTo>
                  <a:lnTo>
                    <a:pt x="1680806" y="1718652"/>
                  </a:lnTo>
                  <a:lnTo>
                    <a:pt x="1683435" y="1712887"/>
                  </a:lnTo>
                  <a:lnTo>
                    <a:pt x="1687779" y="1708264"/>
                  </a:lnTo>
                  <a:lnTo>
                    <a:pt x="1650936" y="1673707"/>
                  </a:lnTo>
                  <a:lnTo>
                    <a:pt x="1650936" y="1691106"/>
                  </a:lnTo>
                  <a:lnTo>
                    <a:pt x="103606" y="985266"/>
                  </a:lnTo>
                  <a:lnTo>
                    <a:pt x="1275422" y="1338757"/>
                  </a:lnTo>
                  <a:lnTo>
                    <a:pt x="1650936" y="1691106"/>
                  </a:lnTo>
                  <a:lnTo>
                    <a:pt x="1650936" y="1673707"/>
                  </a:lnTo>
                  <a:lnTo>
                    <a:pt x="1302740" y="1347000"/>
                  </a:lnTo>
                  <a:lnTo>
                    <a:pt x="2525268" y="1715782"/>
                  </a:lnTo>
                  <a:lnTo>
                    <a:pt x="2527096" y="1709724"/>
                  </a:lnTo>
                  <a:lnTo>
                    <a:pt x="2531453" y="1705102"/>
                  </a:lnTo>
                  <a:close/>
                </a:path>
                <a:path w="2640965" h="1720850">
                  <a:moveTo>
                    <a:pt x="2640584" y="113385"/>
                  </a:moveTo>
                  <a:lnTo>
                    <a:pt x="2598610" y="35610"/>
                  </a:lnTo>
                  <a:lnTo>
                    <a:pt x="2591943" y="23279"/>
                  </a:lnTo>
                  <a:lnTo>
                    <a:pt x="2581821" y="20904"/>
                  </a:lnTo>
                  <a:lnTo>
                    <a:pt x="2551277" y="13792"/>
                  </a:lnTo>
                  <a:lnTo>
                    <a:pt x="2551277" y="48704"/>
                  </a:lnTo>
                  <a:lnTo>
                    <a:pt x="2539022" y="62026"/>
                  </a:lnTo>
                  <a:lnTo>
                    <a:pt x="1729181" y="785304"/>
                  </a:lnTo>
                  <a:lnTo>
                    <a:pt x="1741538" y="416585"/>
                  </a:lnTo>
                  <a:lnTo>
                    <a:pt x="2551277" y="48704"/>
                  </a:lnTo>
                  <a:lnTo>
                    <a:pt x="2551277" y="13792"/>
                  </a:lnTo>
                  <a:lnTo>
                    <a:pt x="2492133" y="0"/>
                  </a:lnTo>
                  <a:lnTo>
                    <a:pt x="2488730" y="2120"/>
                  </a:lnTo>
                  <a:lnTo>
                    <a:pt x="2487130" y="8940"/>
                  </a:lnTo>
                  <a:lnTo>
                    <a:pt x="2489250" y="12344"/>
                  </a:lnTo>
                  <a:lnTo>
                    <a:pt x="2492933" y="13208"/>
                  </a:lnTo>
                  <a:lnTo>
                    <a:pt x="2489974" y="12903"/>
                  </a:lnTo>
                  <a:lnTo>
                    <a:pt x="2486863" y="15443"/>
                  </a:lnTo>
                  <a:lnTo>
                    <a:pt x="2486164" y="22402"/>
                  </a:lnTo>
                  <a:lnTo>
                    <a:pt x="2488692" y="25514"/>
                  </a:lnTo>
                  <a:lnTo>
                    <a:pt x="2544673" y="31203"/>
                  </a:lnTo>
                  <a:lnTo>
                    <a:pt x="2528366" y="36233"/>
                  </a:lnTo>
                  <a:lnTo>
                    <a:pt x="2499042" y="42214"/>
                  </a:lnTo>
                  <a:lnTo>
                    <a:pt x="2499042" y="58508"/>
                  </a:lnTo>
                  <a:lnTo>
                    <a:pt x="1742008" y="402450"/>
                  </a:lnTo>
                  <a:lnTo>
                    <a:pt x="1745754" y="290474"/>
                  </a:lnTo>
                  <a:lnTo>
                    <a:pt x="2499042" y="58508"/>
                  </a:lnTo>
                  <a:lnTo>
                    <a:pt x="2499042" y="42214"/>
                  </a:lnTo>
                  <a:lnTo>
                    <a:pt x="2491524" y="43738"/>
                  </a:lnTo>
                  <a:lnTo>
                    <a:pt x="2489301" y="47078"/>
                  </a:lnTo>
                  <a:lnTo>
                    <a:pt x="2489517" y="48196"/>
                  </a:lnTo>
                  <a:lnTo>
                    <a:pt x="1746211" y="277075"/>
                  </a:lnTo>
                  <a:lnTo>
                    <a:pt x="1753400" y="62636"/>
                  </a:lnTo>
                  <a:lnTo>
                    <a:pt x="1785747" y="122580"/>
                  </a:lnTo>
                  <a:lnTo>
                    <a:pt x="1789595" y="123723"/>
                  </a:lnTo>
                  <a:lnTo>
                    <a:pt x="1795767" y="120408"/>
                  </a:lnTo>
                  <a:lnTo>
                    <a:pt x="1796923" y="116560"/>
                  </a:lnTo>
                  <a:lnTo>
                    <a:pt x="1754936" y="38773"/>
                  </a:lnTo>
                  <a:lnTo>
                    <a:pt x="1748269" y="26454"/>
                  </a:lnTo>
                  <a:lnTo>
                    <a:pt x="1743113" y="25920"/>
                  </a:lnTo>
                  <a:lnTo>
                    <a:pt x="1740712" y="25692"/>
                  </a:lnTo>
                  <a:lnTo>
                    <a:pt x="1740712" y="62204"/>
                  </a:lnTo>
                  <a:lnTo>
                    <a:pt x="1733372" y="281038"/>
                  </a:lnTo>
                  <a:lnTo>
                    <a:pt x="1732927" y="281178"/>
                  </a:lnTo>
                  <a:lnTo>
                    <a:pt x="1732927" y="294424"/>
                  </a:lnTo>
                  <a:lnTo>
                    <a:pt x="1729117" y="408305"/>
                  </a:lnTo>
                  <a:lnTo>
                    <a:pt x="910983" y="779995"/>
                  </a:lnTo>
                  <a:lnTo>
                    <a:pt x="1310462" y="424510"/>
                  </a:lnTo>
                  <a:lnTo>
                    <a:pt x="1732927" y="294424"/>
                  </a:lnTo>
                  <a:lnTo>
                    <a:pt x="1732927" y="281178"/>
                  </a:lnTo>
                  <a:lnTo>
                    <a:pt x="1333233" y="404241"/>
                  </a:lnTo>
                  <a:lnTo>
                    <a:pt x="1690624" y="86220"/>
                  </a:lnTo>
                  <a:lnTo>
                    <a:pt x="1678889" y="102870"/>
                  </a:lnTo>
                  <a:lnTo>
                    <a:pt x="1679575" y="106819"/>
                  </a:lnTo>
                  <a:lnTo>
                    <a:pt x="1685302" y="110858"/>
                  </a:lnTo>
                  <a:lnTo>
                    <a:pt x="1689265" y="110172"/>
                  </a:lnTo>
                  <a:lnTo>
                    <a:pt x="1723428" y="61696"/>
                  </a:lnTo>
                  <a:lnTo>
                    <a:pt x="1720608" y="70332"/>
                  </a:lnTo>
                  <a:lnTo>
                    <a:pt x="1693684" y="113106"/>
                  </a:lnTo>
                  <a:lnTo>
                    <a:pt x="1694573" y="117017"/>
                  </a:lnTo>
                  <a:lnTo>
                    <a:pt x="1700504" y="120751"/>
                  </a:lnTo>
                  <a:lnTo>
                    <a:pt x="1704416" y="119862"/>
                  </a:lnTo>
                  <a:lnTo>
                    <a:pt x="1704492" y="119735"/>
                  </a:lnTo>
                  <a:lnTo>
                    <a:pt x="1704454" y="119875"/>
                  </a:lnTo>
                  <a:lnTo>
                    <a:pt x="1706270" y="123444"/>
                  </a:lnTo>
                  <a:lnTo>
                    <a:pt x="1712937" y="125615"/>
                  </a:lnTo>
                  <a:lnTo>
                    <a:pt x="1716506" y="123799"/>
                  </a:lnTo>
                  <a:lnTo>
                    <a:pt x="1732178" y="75768"/>
                  </a:lnTo>
                  <a:lnTo>
                    <a:pt x="1740712" y="62204"/>
                  </a:lnTo>
                  <a:lnTo>
                    <a:pt x="1740712" y="25692"/>
                  </a:lnTo>
                  <a:lnTo>
                    <a:pt x="1712518" y="22885"/>
                  </a:lnTo>
                  <a:lnTo>
                    <a:pt x="1712518" y="49758"/>
                  </a:lnTo>
                  <a:lnTo>
                    <a:pt x="1304061" y="413232"/>
                  </a:lnTo>
                  <a:lnTo>
                    <a:pt x="1281290" y="420255"/>
                  </a:lnTo>
                  <a:lnTo>
                    <a:pt x="1281290" y="433489"/>
                  </a:lnTo>
                  <a:lnTo>
                    <a:pt x="882332" y="788492"/>
                  </a:lnTo>
                  <a:lnTo>
                    <a:pt x="890193" y="553923"/>
                  </a:lnTo>
                  <a:lnTo>
                    <a:pt x="1281290" y="433489"/>
                  </a:lnTo>
                  <a:lnTo>
                    <a:pt x="1281290" y="420255"/>
                  </a:lnTo>
                  <a:lnTo>
                    <a:pt x="890638" y="540537"/>
                  </a:lnTo>
                  <a:lnTo>
                    <a:pt x="894562" y="423697"/>
                  </a:lnTo>
                  <a:lnTo>
                    <a:pt x="1712518" y="49758"/>
                  </a:lnTo>
                  <a:lnTo>
                    <a:pt x="1712518" y="22885"/>
                  </a:lnTo>
                  <a:lnTo>
                    <a:pt x="1646288" y="16306"/>
                  </a:lnTo>
                  <a:lnTo>
                    <a:pt x="1643176" y="18859"/>
                  </a:lnTo>
                  <a:lnTo>
                    <a:pt x="1642491" y="25819"/>
                  </a:lnTo>
                  <a:lnTo>
                    <a:pt x="1645031" y="28930"/>
                  </a:lnTo>
                  <a:lnTo>
                    <a:pt x="1705952" y="34988"/>
                  </a:lnTo>
                  <a:lnTo>
                    <a:pt x="1647812" y="46723"/>
                  </a:lnTo>
                  <a:lnTo>
                    <a:pt x="1645589" y="50063"/>
                  </a:lnTo>
                  <a:lnTo>
                    <a:pt x="1646986" y="56934"/>
                  </a:lnTo>
                  <a:lnTo>
                    <a:pt x="1650326" y="59143"/>
                  </a:lnTo>
                  <a:lnTo>
                    <a:pt x="1670342" y="55105"/>
                  </a:lnTo>
                  <a:lnTo>
                    <a:pt x="895032" y="409549"/>
                  </a:lnTo>
                  <a:lnTo>
                    <a:pt x="906551" y="65798"/>
                  </a:lnTo>
                  <a:lnTo>
                    <a:pt x="938911" y="125742"/>
                  </a:lnTo>
                  <a:lnTo>
                    <a:pt x="942759" y="126898"/>
                  </a:lnTo>
                  <a:lnTo>
                    <a:pt x="948931" y="123571"/>
                  </a:lnTo>
                  <a:lnTo>
                    <a:pt x="950074" y="119722"/>
                  </a:lnTo>
                  <a:lnTo>
                    <a:pt x="908088" y="41948"/>
                  </a:lnTo>
                  <a:lnTo>
                    <a:pt x="901433" y="29616"/>
                  </a:lnTo>
                  <a:lnTo>
                    <a:pt x="893876" y="31165"/>
                  </a:lnTo>
                  <a:lnTo>
                    <a:pt x="893876" y="65379"/>
                  </a:lnTo>
                  <a:lnTo>
                    <a:pt x="882142" y="415442"/>
                  </a:lnTo>
                  <a:lnTo>
                    <a:pt x="881659" y="415671"/>
                  </a:lnTo>
                  <a:lnTo>
                    <a:pt x="881659" y="429590"/>
                  </a:lnTo>
                  <a:lnTo>
                    <a:pt x="877811" y="544487"/>
                  </a:lnTo>
                  <a:lnTo>
                    <a:pt x="119824" y="777875"/>
                  </a:lnTo>
                  <a:lnTo>
                    <a:pt x="881659" y="429590"/>
                  </a:lnTo>
                  <a:lnTo>
                    <a:pt x="881659" y="415671"/>
                  </a:lnTo>
                  <a:lnTo>
                    <a:pt x="63868" y="789520"/>
                  </a:lnTo>
                  <a:lnTo>
                    <a:pt x="878852" y="58381"/>
                  </a:lnTo>
                  <a:lnTo>
                    <a:pt x="874204" y="72796"/>
                  </a:lnTo>
                  <a:lnTo>
                    <a:pt x="846836" y="116281"/>
                  </a:lnTo>
                  <a:lnTo>
                    <a:pt x="847725" y="120192"/>
                  </a:lnTo>
                  <a:lnTo>
                    <a:pt x="853655" y="123913"/>
                  </a:lnTo>
                  <a:lnTo>
                    <a:pt x="857580" y="123024"/>
                  </a:lnTo>
                  <a:lnTo>
                    <a:pt x="858532" y="121513"/>
                  </a:lnTo>
                  <a:lnTo>
                    <a:pt x="857986" y="123215"/>
                  </a:lnTo>
                  <a:lnTo>
                    <a:pt x="859815" y="126784"/>
                  </a:lnTo>
                  <a:lnTo>
                    <a:pt x="866495" y="128930"/>
                  </a:lnTo>
                  <a:lnTo>
                    <a:pt x="870064" y="127101"/>
                  </a:lnTo>
                  <a:lnTo>
                    <a:pt x="885786" y="78232"/>
                  </a:lnTo>
                  <a:lnTo>
                    <a:pt x="893876" y="65379"/>
                  </a:lnTo>
                  <a:lnTo>
                    <a:pt x="893876" y="31165"/>
                  </a:lnTo>
                  <a:lnTo>
                    <a:pt x="801052" y="50292"/>
                  </a:lnTo>
                  <a:lnTo>
                    <a:pt x="798842" y="53644"/>
                  </a:lnTo>
                  <a:lnTo>
                    <a:pt x="800265" y="60502"/>
                  </a:lnTo>
                  <a:lnTo>
                    <a:pt x="803617" y="62712"/>
                  </a:lnTo>
                  <a:lnTo>
                    <a:pt x="870369" y="48945"/>
                  </a:lnTo>
                  <a:lnTo>
                    <a:pt x="35496" y="797928"/>
                  </a:lnTo>
                  <a:lnTo>
                    <a:pt x="59715" y="75311"/>
                  </a:lnTo>
                  <a:lnTo>
                    <a:pt x="92062" y="135255"/>
                  </a:lnTo>
                  <a:lnTo>
                    <a:pt x="95910" y="136398"/>
                  </a:lnTo>
                  <a:lnTo>
                    <a:pt x="102082" y="133083"/>
                  </a:lnTo>
                  <a:lnTo>
                    <a:pt x="103238" y="129235"/>
                  </a:lnTo>
                  <a:lnTo>
                    <a:pt x="61252" y="51460"/>
                  </a:lnTo>
                  <a:lnTo>
                    <a:pt x="54571" y="39090"/>
                  </a:lnTo>
                  <a:lnTo>
                    <a:pt x="0" y="125780"/>
                  </a:lnTo>
                  <a:lnTo>
                    <a:pt x="889" y="129692"/>
                  </a:lnTo>
                  <a:lnTo>
                    <a:pt x="6819" y="133426"/>
                  </a:lnTo>
                  <a:lnTo>
                    <a:pt x="10731" y="132537"/>
                  </a:lnTo>
                  <a:lnTo>
                    <a:pt x="47028" y="74879"/>
                  </a:lnTo>
                  <a:lnTo>
                    <a:pt x="22326" y="812368"/>
                  </a:lnTo>
                  <a:lnTo>
                    <a:pt x="28638" y="812584"/>
                  </a:lnTo>
                  <a:lnTo>
                    <a:pt x="30530" y="818629"/>
                  </a:lnTo>
                  <a:lnTo>
                    <a:pt x="877366" y="557872"/>
                  </a:lnTo>
                  <a:lnTo>
                    <a:pt x="869162" y="802855"/>
                  </a:lnTo>
                  <a:lnTo>
                    <a:pt x="875487" y="803071"/>
                  </a:lnTo>
                  <a:lnTo>
                    <a:pt x="878128" y="808837"/>
                  </a:lnTo>
                  <a:lnTo>
                    <a:pt x="1728635" y="422440"/>
                  </a:lnTo>
                  <a:lnTo>
                    <a:pt x="1716011" y="799693"/>
                  </a:lnTo>
                  <a:lnTo>
                    <a:pt x="1722348" y="799909"/>
                  </a:lnTo>
                  <a:lnTo>
                    <a:pt x="1726577" y="804621"/>
                  </a:lnTo>
                  <a:lnTo>
                    <a:pt x="2517724" y="98056"/>
                  </a:lnTo>
                  <a:lnTo>
                    <a:pt x="2518549" y="98806"/>
                  </a:lnTo>
                  <a:lnTo>
                    <a:pt x="2522563" y="98640"/>
                  </a:lnTo>
                  <a:lnTo>
                    <a:pt x="2524518" y="96520"/>
                  </a:lnTo>
                  <a:lnTo>
                    <a:pt x="2522385" y="99529"/>
                  </a:lnTo>
                  <a:lnTo>
                    <a:pt x="2523058" y="103492"/>
                  </a:lnTo>
                  <a:lnTo>
                    <a:pt x="2528773" y="107530"/>
                  </a:lnTo>
                  <a:lnTo>
                    <a:pt x="2532735" y="106857"/>
                  </a:lnTo>
                  <a:lnTo>
                    <a:pt x="2567343" y="58000"/>
                  </a:lnTo>
                  <a:lnTo>
                    <a:pt x="2564473" y="66840"/>
                  </a:lnTo>
                  <a:lnTo>
                    <a:pt x="2537345" y="109931"/>
                  </a:lnTo>
                  <a:lnTo>
                    <a:pt x="2538247" y="113855"/>
                  </a:lnTo>
                  <a:lnTo>
                    <a:pt x="2544178" y="117576"/>
                  </a:lnTo>
                  <a:lnTo>
                    <a:pt x="2548090" y="116687"/>
                  </a:lnTo>
                  <a:lnTo>
                    <a:pt x="2548559" y="115938"/>
                  </a:lnTo>
                  <a:lnTo>
                    <a:pt x="2548293" y="116776"/>
                  </a:lnTo>
                  <a:lnTo>
                    <a:pt x="2550122" y="120357"/>
                  </a:lnTo>
                  <a:lnTo>
                    <a:pt x="2556776" y="122516"/>
                  </a:lnTo>
                  <a:lnTo>
                    <a:pt x="2560358" y="120688"/>
                  </a:lnTo>
                  <a:lnTo>
                    <a:pt x="2576042" y="72275"/>
                  </a:lnTo>
                  <a:lnTo>
                    <a:pt x="2584386" y="59042"/>
                  </a:lnTo>
                  <a:lnTo>
                    <a:pt x="2559672" y="796518"/>
                  </a:lnTo>
                  <a:lnTo>
                    <a:pt x="2572359" y="796937"/>
                  </a:lnTo>
                  <a:lnTo>
                    <a:pt x="2597061" y="59461"/>
                  </a:lnTo>
                  <a:lnTo>
                    <a:pt x="2629420" y="119405"/>
                  </a:lnTo>
                  <a:lnTo>
                    <a:pt x="2633268" y="120561"/>
                  </a:lnTo>
                  <a:lnTo>
                    <a:pt x="2639441" y="117233"/>
                  </a:lnTo>
                  <a:lnTo>
                    <a:pt x="2640584" y="1133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851654" y="4033994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851654" y="4033994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8010264" y="4033994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010264" y="4033994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68872" y="4033994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168872" y="4033994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8328020" y="4034558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8328020" y="4034558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8698496" y="402448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8698496" y="402448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8857105" y="402448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8857105" y="402448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9015715" y="402448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9015715" y="402448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9174861" y="402505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9174861" y="402505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9545339" y="402131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1"/>
                  </a:lnTo>
                  <a:lnTo>
                    <a:pt x="158609" y="152191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9545339" y="402131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9703948" y="402131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1"/>
                  </a:lnTo>
                  <a:lnTo>
                    <a:pt x="158609" y="152191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9703948" y="402131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9862557" y="402131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1"/>
                  </a:lnTo>
                  <a:lnTo>
                    <a:pt x="158609" y="152191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9862557" y="4021317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0021703" y="402188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0021703" y="4021881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0389009" y="4018149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0389009" y="4018149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0547618" y="4018149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0547618" y="4018149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0706227" y="4018149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0706227" y="4018149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0865374" y="4018713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0865374" y="4018713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248142" y="4162348"/>
              <a:ext cx="2515870" cy="792480"/>
            </a:xfrm>
            <a:custGeom>
              <a:avLst/>
              <a:gdLst/>
              <a:ahLst/>
              <a:cxnLst/>
              <a:rect l="l" t="t" r="r" b="b"/>
              <a:pathLst>
                <a:path w="2515870" h="792479">
                  <a:moveTo>
                    <a:pt x="2515819" y="776846"/>
                  </a:moveTo>
                  <a:lnTo>
                    <a:pt x="1724279" y="31242"/>
                  </a:lnTo>
                  <a:lnTo>
                    <a:pt x="1790674" y="46634"/>
                  </a:lnTo>
                  <a:lnTo>
                    <a:pt x="1794090" y="44500"/>
                  </a:lnTo>
                  <a:lnTo>
                    <a:pt x="1795665" y="37680"/>
                  </a:lnTo>
                  <a:lnTo>
                    <a:pt x="1793544" y="34277"/>
                  </a:lnTo>
                  <a:lnTo>
                    <a:pt x="1711007" y="15163"/>
                  </a:lnTo>
                  <a:lnTo>
                    <a:pt x="1693697" y="11150"/>
                  </a:lnTo>
                  <a:lnTo>
                    <a:pt x="1722691" y="109385"/>
                  </a:lnTo>
                  <a:lnTo>
                    <a:pt x="1726222" y="111302"/>
                  </a:lnTo>
                  <a:lnTo>
                    <a:pt x="1732940" y="109321"/>
                  </a:lnTo>
                  <a:lnTo>
                    <a:pt x="1734858" y="105791"/>
                  </a:lnTo>
                  <a:lnTo>
                    <a:pt x="1715579" y="40462"/>
                  </a:lnTo>
                  <a:lnTo>
                    <a:pt x="2478862" y="759460"/>
                  </a:lnTo>
                  <a:lnTo>
                    <a:pt x="2426004" y="735101"/>
                  </a:lnTo>
                  <a:lnTo>
                    <a:pt x="2426004" y="749058"/>
                  </a:lnTo>
                  <a:lnTo>
                    <a:pt x="1266317" y="399224"/>
                  </a:lnTo>
                  <a:lnTo>
                    <a:pt x="879690" y="36449"/>
                  </a:lnTo>
                  <a:lnTo>
                    <a:pt x="2426004" y="749058"/>
                  </a:lnTo>
                  <a:lnTo>
                    <a:pt x="2426004" y="735101"/>
                  </a:lnTo>
                  <a:lnTo>
                    <a:pt x="933221" y="47167"/>
                  </a:lnTo>
                  <a:lnTo>
                    <a:pt x="943902" y="49606"/>
                  </a:lnTo>
                  <a:lnTo>
                    <a:pt x="947305" y="47485"/>
                  </a:lnTo>
                  <a:lnTo>
                    <a:pt x="948880" y="40652"/>
                  </a:lnTo>
                  <a:lnTo>
                    <a:pt x="946746" y="37261"/>
                  </a:lnTo>
                  <a:lnTo>
                    <a:pt x="885977" y="23304"/>
                  </a:lnTo>
                  <a:lnTo>
                    <a:pt x="950087" y="17132"/>
                  </a:lnTo>
                  <a:lnTo>
                    <a:pt x="952652" y="14033"/>
                  </a:lnTo>
                  <a:lnTo>
                    <a:pt x="952627" y="13843"/>
                  </a:lnTo>
                  <a:lnTo>
                    <a:pt x="951979" y="7061"/>
                  </a:lnTo>
                  <a:lnTo>
                    <a:pt x="948880" y="4508"/>
                  </a:lnTo>
                  <a:lnTo>
                    <a:pt x="846886" y="14325"/>
                  </a:lnTo>
                  <a:lnTo>
                    <a:pt x="876033" y="112496"/>
                  </a:lnTo>
                  <a:lnTo>
                    <a:pt x="879563" y="114401"/>
                  </a:lnTo>
                  <a:lnTo>
                    <a:pt x="886282" y="112407"/>
                  </a:lnTo>
                  <a:lnTo>
                    <a:pt x="888199" y="108889"/>
                  </a:lnTo>
                  <a:lnTo>
                    <a:pt x="869848" y="47193"/>
                  </a:lnTo>
                  <a:lnTo>
                    <a:pt x="905611" y="98234"/>
                  </a:lnTo>
                  <a:lnTo>
                    <a:pt x="909574" y="98933"/>
                  </a:lnTo>
                  <a:lnTo>
                    <a:pt x="915314" y="94919"/>
                  </a:lnTo>
                  <a:lnTo>
                    <a:pt x="916012" y="90970"/>
                  </a:lnTo>
                  <a:lnTo>
                    <a:pt x="909739" y="82029"/>
                  </a:lnTo>
                  <a:lnTo>
                    <a:pt x="1238999" y="390982"/>
                  </a:lnTo>
                  <a:lnTo>
                    <a:pt x="100799" y="47637"/>
                  </a:lnTo>
                  <a:lnTo>
                    <a:pt x="99999" y="46355"/>
                  </a:lnTo>
                  <a:lnTo>
                    <a:pt x="86436" y="43307"/>
                  </a:lnTo>
                  <a:lnTo>
                    <a:pt x="48158" y="31750"/>
                  </a:lnTo>
                  <a:lnTo>
                    <a:pt x="103263" y="26238"/>
                  </a:lnTo>
                  <a:lnTo>
                    <a:pt x="105664" y="23291"/>
                  </a:lnTo>
                  <a:lnTo>
                    <a:pt x="105803" y="23126"/>
                  </a:lnTo>
                  <a:lnTo>
                    <a:pt x="105105" y="16167"/>
                  </a:lnTo>
                  <a:lnTo>
                    <a:pt x="101993" y="13627"/>
                  </a:lnTo>
                  <a:lnTo>
                    <a:pt x="93776" y="14452"/>
                  </a:lnTo>
                  <a:lnTo>
                    <a:pt x="102641" y="12331"/>
                  </a:lnTo>
                  <a:lnTo>
                    <a:pt x="104749" y="8902"/>
                  </a:lnTo>
                  <a:lnTo>
                    <a:pt x="103111" y="2095"/>
                  </a:lnTo>
                  <a:lnTo>
                    <a:pt x="99695" y="0"/>
                  </a:lnTo>
                  <a:lnTo>
                    <a:pt x="88" y="23825"/>
                  </a:lnTo>
                  <a:lnTo>
                    <a:pt x="29603" y="121881"/>
                  </a:lnTo>
                  <a:lnTo>
                    <a:pt x="33134" y="123774"/>
                  </a:lnTo>
                  <a:lnTo>
                    <a:pt x="39852" y="121754"/>
                  </a:lnTo>
                  <a:lnTo>
                    <a:pt x="41744" y="118224"/>
                  </a:lnTo>
                  <a:lnTo>
                    <a:pt x="23164" y="56667"/>
                  </a:lnTo>
                  <a:lnTo>
                    <a:pt x="59093" y="107518"/>
                  </a:lnTo>
                  <a:lnTo>
                    <a:pt x="63055" y="108204"/>
                  </a:lnTo>
                  <a:lnTo>
                    <a:pt x="68783" y="104165"/>
                  </a:lnTo>
                  <a:lnTo>
                    <a:pt x="69469" y="100203"/>
                  </a:lnTo>
                  <a:lnTo>
                    <a:pt x="64223" y="92798"/>
                  </a:lnTo>
                  <a:lnTo>
                    <a:pt x="69837" y="98806"/>
                  </a:lnTo>
                  <a:lnTo>
                    <a:pt x="71335" y="98869"/>
                  </a:lnTo>
                  <a:lnTo>
                    <a:pt x="816635" y="792429"/>
                  </a:lnTo>
                  <a:lnTo>
                    <a:pt x="825284" y="783158"/>
                  </a:lnTo>
                  <a:lnTo>
                    <a:pt x="69456" y="79806"/>
                  </a:lnTo>
                  <a:lnTo>
                    <a:pt x="41402" y="49682"/>
                  </a:lnTo>
                  <a:lnTo>
                    <a:pt x="1665160" y="790384"/>
                  </a:lnTo>
                  <a:lnTo>
                    <a:pt x="1667789" y="784644"/>
                  </a:lnTo>
                  <a:lnTo>
                    <a:pt x="1672145" y="779995"/>
                  </a:lnTo>
                  <a:lnTo>
                    <a:pt x="1635302" y="745439"/>
                  </a:lnTo>
                  <a:lnTo>
                    <a:pt x="1635302" y="762838"/>
                  </a:lnTo>
                  <a:lnTo>
                    <a:pt x="87985" y="57010"/>
                  </a:lnTo>
                  <a:lnTo>
                    <a:pt x="1259789" y="410489"/>
                  </a:lnTo>
                  <a:lnTo>
                    <a:pt x="1635302" y="762838"/>
                  </a:lnTo>
                  <a:lnTo>
                    <a:pt x="1635302" y="745439"/>
                  </a:lnTo>
                  <a:lnTo>
                    <a:pt x="1287106" y="418731"/>
                  </a:lnTo>
                  <a:lnTo>
                    <a:pt x="2509634" y="787514"/>
                  </a:lnTo>
                  <a:lnTo>
                    <a:pt x="2511463" y="781456"/>
                  </a:lnTo>
                  <a:lnTo>
                    <a:pt x="2515819" y="7768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740353" y="4373547"/>
              <a:ext cx="3328670" cy="327025"/>
            </a:xfrm>
            <a:custGeom>
              <a:avLst/>
              <a:gdLst/>
              <a:ahLst/>
              <a:cxnLst/>
              <a:rect l="l" t="t" r="r" b="b"/>
              <a:pathLst>
                <a:path w="3328670" h="327025">
                  <a:moveTo>
                    <a:pt x="3273733" y="0"/>
                  </a:moveTo>
                  <a:lnTo>
                    <a:pt x="54476" y="0"/>
                  </a:lnTo>
                  <a:lnTo>
                    <a:pt x="33272" y="4277"/>
                  </a:lnTo>
                  <a:lnTo>
                    <a:pt x="15955" y="15943"/>
                  </a:lnTo>
                  <a:lnTo>
                    <a:pt x="4281" y="33245"/>
                  </a:lnTo>
                  <a:lnTo>
                    <a:pt x="0" y="54433"/>
                  </a:lnTo>
                  <a:lnTo>
                    <a:pt x="0" y="272157"/>
                  </a:lnTo>
                  <a:lnTo>
                    <a:pt x="4281" y="293344"/>
                  </a:lnTo>
                  <a:lnTo>
                    <a:pt x="15955" y="310646"/>
                  </a:lnTo>
                  <a:lnTo>
                    <a:pt x="33272" y="322311"/>
                  </a:lnTo>
                  <a:lnTo>
                    <a:pt x="54476" y="326589"/>
                  </a:lnTo>
                  <a:lnTo>
                    <a:pt x="3273733" y="326589"/>
                  </a:lnTo>
                  <a:lnTo>
                    <a:pt x="3294938" y="322311"/>
                  </a:lnTo>
                  <a:lnTo>
                    <a:pt x="3312254" y="310646"/>
                  </a:lnTo>
                  <a:lnTo>
                    <a:pt x="3323929" y="293344"/>
                  </a:lnTo>
                  <a:lnTo>
                    <a:pt x="3328210" y="272157"/>
                  </a:lnTo>
                  <a:lnTo>
                    <a:pt x="3328210" y="54433"/>
                  </a:lnTo>
                  <a:lnTo>
                    <a:pt x="3323929" y="33245"/>
                  </a:lnTo>
                  <a:lnTo>
                    <a:pt x="3312254" y="15943"/>
                  </a:lnTo>
                  <a:lnTo>
                    <a:pt x="3294938" y="4277"/>
                  </a:lnTo>
                  <a:lnTo>
                    <a:pt x="327373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7740353" y="4373547"/>
              <a:ext cx="3328670" cy="327025"/>
            </a:xfrm>
            <a:custGeom>
              <a:avLst/>
              <a:gdLst/>
              <a:ahLst/>
              <a:cxnLst/>
              <a:rect l="l" t="t" r="r" b="b"/>
              <a:pathLst>
                <a:path w="3328670" h="327025">
                  <a:moveTo>
                    <a:pt x="0" y="54432"/>
                  </a:moveTo>
                  <a:lnTo>
                    <a:pt x="4281" y="33245"/>
                  </a:lnTo>
                  <a:lnTo>
                    <a:pt x="15955" y="15942"/>
                  </a:lnTo>
                  <a:lnTo>
                    <a:pt x="33271" y="4277"/>
                  </a:lnTo>
                  <a:lnTo>
                    <a:pt x="54476" y="0"/>
                  </a:lnTo>
                  <a:lnTo>
                    <a:pt x="3273733" y="0"/>
                  </a:lnTo>
                  <a:lnTo>
                    <a:pt x="3294937" y="4277"/>
                  </a:lnTo>
                  <a:lnTo>
                    <a:pt x="3312253" y="15942"/>
                  </a:lnTo>
                  <a:lnTo>
                    <a:pt x="3323928" y="33245"/>
                  </a:lnTo>
                  <a:lnTo>
                    <a:pt x="3328209" y="54432"/>
                  </a:lnTo>
                  <a:lnTo>
                    <a:pt x="3328209" y="272156"/>
                  </a:lnTo>
                  <a:lnTo>
                    <a:pt x="3323928" y="293344"/>
                  </a:lnTo>
                  <a:lnTo>
                    <a:pt x="3312253" y="310646"/>
                  </a:lnTo>
                  <a:lnTo>
                    <a:pt x="3294937" y="322311"/>
                  </a:lnTo>
                  <a:lnTo>
                    <a:pt x="3273733" y="326589"/>
                  </a:lnTo>
                  <a:lnTo>
                    <a:pt x="54476" y="326589"/>
                  </a:lnTo>
                  <a:lnTo>
                    <a:pt x="33271" y="322311"/>
                  </a:lnTo>
                  <a:lnTo>
                    <a:pt x="15955" y="310646"/>
                  </a:lnTo>
                  <a:lnTo>
                    <a:pt x="4281" y="293344"/>
                  </a:lnTo>
                  <a:lnTo>
                    <a:pt x="0" y="272156"/>
                  </a:lnTo>
                  <a:lnTo>
                    <a:pt x="0" y="54432"/>
                  </a:lnTo>
                  <a:close/>
                </a:path>
              </a:pathLst>
            </a:custGeom>
            <a:ln w="9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8207858" y="3209035"/>
              <a:ext cx="2640965" cy="819150"/>
            </a:xfrm>
            <a:custGeom>
              <a:avLst/>
              <a:gdLst/>
              <a:ahLst/>
              <a:cxnLst/>
              <a:rect l="l" t="t" r="r" b="b"/>
              <a:pathLst>
                <a:path w="2640965" h="819150">
                  <a:moveTo>
                    <a:pt x="2640584" y="113385"/>
                  </a:moveTo>
                  <a:lnTo>
                    <a:pt x="2598610" y="35610"/>
                  </a:lnTo>
                  <a:lnTo>
                    <a:pt x="2591943" y="23279"/>
                  </a:lnTo>
                  <a:lnTo>
                    <a:pt x="2581821" y="20904"/>
                  </a:lnTo>
                  <a:lnTo>
                    <a:pt x="2551277" y="13792"/>
                  </a:lnTo>
                  <a:lnTo>
                    <a:pt x="2551277" y="48704"/>
                  </a:lnTo>
                  <a:lnTo>
                    <a:pt x="2539022" y="62026"/>
                  </a:lnTo>
                  <a:lnTo>
                    <a:pt x="1729181" y="785304"/>
                  </a:lnTo>
                  <a:lnTo>
                    <a:pt x="1741538" y="416585"/>
                  </a:lnTo>
                  <a:lnTo>
                    <a:pt x="2551277" y="48704"/>
                  </a:lnTo>
                  <a:lnTo>
                    <a:pt x="2551277" y="13792"/>
                  </a:lnTo>
                  <a:lnTo>
                    <a:pt x="2492133" y="0"/>
                  </a:lnTo>
                  <a:lnTo>
                    <a:pt x="2488730" y="2120"/>
                  </a:lnTo>
                  <a:lnTo>
                    <a:pt x="2487130" y="8940"/>
                  </a:lnTo>
                  <a:lnTo>
                    <a:pt x="2489250" y="12344"/>
                  </a:lnTo>
                  <a:lnTo>
                    <a:pt x="2492933" y="13208"/>
                  </a:lnTo>
                  <a:lnTo>
                    <a:pt x="2489974" y="12903"/>
                  </a:lnTo>
                  <a:lnTo>
                    <a:pt x="2486863" y="15430"/>
                  </a:lnTo>
                  <a:lnTo>
                    <a:pt x="2486164" y="22402"/>
                  </a:lnTo>
                  <a:lnTo>
                    <a:pt x="2488692" y="25514"/>
                  </a:lnTo>
                  <a:lnTo>
                    <a:pt x="2544648" y="31203"/>
                  </a:lnTo>
                  <a:lnTo>
                    <a:pt x="2528379" y="36220"/>
                  </a:lnTo>
                  <a:lnTo>
                    <a:pt x="2499042" y="42202"/>
                  </a:lnTo>
                  <a:lnTo>
                    <a:pt x="2499042" y="58508"/>
                  </a:lnTo>
                  <a:lnTo>
                    <a:pt x="1742008" y="402450"/>
                  </a:lnTo>
                  <a:lnTo>
                    <a:pt x="1745754" y="290474"/>
                  </a:lnTo>
                  <a:lnTo>
                    <a:pt x="2499042" y="58508"/>
                  </a:lnTo>
                  <a:lnTo>
                    <a:pt x="2499042" y="42202"/>
                  </a:lnTo>
                  <a:lnTo>
                    <a:pt x="2491524" y="43726"/>
                  </a:lnTo>
                  <a:lnTo>
                    <a:pt x="2489301" y="47078"/>
                  </a:lnTo>
                  <a:lnTo>
                    <a:pt x="2489517" y="48183"/>
                  </a:lnTo>
                  <a:lnTo>
                    <a:pt x="1746211" y="277075"/>
                  </a:lnTo>
                  <a:lnTo>
                    <a:pt x="1753400" y="62623"/>
                  </a:lnTo>
                  <a:lnTo>
                    <a:pt x="1785747" y="122580"/>
                  </a:lnTo>
                  <a:lnTo>
                    <a:pt x="1789595" y="123723"/>
                  </a:lnTo>
                  <a:lnTo>
                    <a:pt x="1795767" y="120396"/>
                  </a:lnTo>
                  <a:lnTo>
                    <a:pt x="1796923" y="116560"/>
                  </a:lnTo>
                  <a:lnTo>
                    <a:pt x="1754936" y="38773"/>
                  </a:lnTo>
                  <a:lnTo>
                    <a:pt x="1748269" y="26441"/>
                  </a:lnTo>
                  <a:lnTo>
                    <a:pt x="1743113" y="25920"/>
                  </a:lnTo>
                  <a:lnTo>
                    <a:pt x="1740712" y="25692"/>
                  </a:lnTo>
                  <a:lnTo>
                    <a:pt x="1740712" y="62204"/>
                  </a:lnTo>
                  <a:lnTo>
                    <a:pt x="1733372" y="281025"/>
                  </a:lnTo>
                  <a:lnTo>
                    <a:pt x="1732927" y="281165"/>
                  </a:lnTo>
                  <a:lnTo>
                    <a:pt x="1732927" y="294424"/>
                  </a:lnTo>
                  <a:lnTo>
                    <a:pt x="1729117" y="408305"/>
                  </a:lnTo>
                  <a:lnTo>
                    <a:pt x="910983" y="779995"/>
                  </a:lnTo>
                  <a:lnTo>
                    <a:pt x="1310462" y="424510"/>
                  </a:lnTo>
                  <a:lnTo>
                    <a:pt x="1732927" y="294424"/>
                  </a:lnTo>
                  <a:lnTo>
                    <a:pt x="1732927" y="281165"/>
                  </a:lnTo>
                  <a:lnTo>
                    <a:pt x="1333246" y="404241"/>
                  </a:lnTo>
                  <a:lnTo>
                    <a:pt x="1690624" y="86220"/>
                  </a:lnTo>
                  <a:lnTo>
                    <a:pt x="1678889" y="102870"/>
                  </a:lnTo>
                  <a:lnTo>
                    <a:pt x="1679575" y="106819"/>
                  </a:lnTo>
                  <a:lnTo>
                    <a:pt x="1685302" y="110845"/>
                  </a:lnTo>
                  <a:lnTo>
                    <a:pt x="1689265" y="110159"/>
                  </a:lnTo>
                  <a:lnTo>
                    <a:pt x="1723428" y="61696"/>
                  </a:lnTo>
                  <a:lnTo>
                    <a:pt x="1720608" y="70332"/>
                  </a:lnTo>
                  <a:lnTo>
                    <a:pt x="1693684" y="113106"/>
                  </a:lnTo>
                  <a:lnTo>
                    <a:pt x="1694573" y="117017"/>
                  </a:lnTo>
                  <a:lnTo>
                    <a:pt x="1700504" y="120738"/>
                  </a:lnTo>
                  <a:lnTo>
                    <a:pt x="1704416" y="119849"/>
                  </a:lnTo>
                  <a:lnTo>
                    <a:pt x="1704492" y="119722"/>
                  </a:lnTo>
                  <a:lnTo>
                    <a:pt x="1704454" y="119862"/>
                  </a:lnTo>
                  <a:lnTo>
                    <a:pt x="1706270" y="123444"/>
                  </a:lnTo>
                  <a:lnTo>
                    <a:pt x="1712937" y="125615"/>
                  </a:lnTo>
                  <a:lnTo>
                    <a:pt x="1716506" y="123799"/>
                  </a:lnTo>
                  <a:lnTo>
                    <a:pt x="1732191" y="75742"/>
                  </a:lnTo>
                  <a:lnTo>
                    <a:pt x="1740712" y="62204"/>
                  </a:lnTo>
                  <a:lnTo>
                    <a:pt x="1740712" y="25692"/>
                  </a:lnTo>
                  <a:lnTo>
                    <a:pt x="1712518" y="22885"/>
                  </a:lnTo>
                  <a:lnTo>
                    <a:pt x="1712518" y="49758"/>
                  </a:lnTo>
                  <a:lnTo>
                    <a:pt x="1304074" y="413219"/>
                  </a:lnTo>
                  <a:lnTo>
                    <a:pt x="1281290" y="420243"/>
                  </a:lnTo>
                  <a:lnTo>
                    <a:pt x="1281290" y="433489"/>
                  </a:lnTo>
                  <a:lnTo>
                    <a:pt x="882332" y="788492"/>
                  </a:lnTo>
                  <a:lnTo>
                    <a:pt x="890193" y="553923"/>
                  </a:lnTo>
                  <a:lnTo>
                    <a:pt x="1281290" y="433489"/>
                  </a:lnTo>
                  <a:lnTo>
                    <a:pt x="1281290" y="420243"/>
                  </a:lnTo>
                  <a:lnTo>
                    <a:pt x="890638" y="540524"/>
                  </a:lnTo>
                  <a:lnTo>
                    <a:pt x="894562" y="423697"/>
                  </a:lnTo>
                  <a:lnTo>
                    <a:pt x="1712518" y="49758"/>
                  </a:lnTo>
                  <a:lnTo>
                    <a:pt x="1712518" y="22885"/>
                  </a:lnTo>
                  <a:lnTo>
                    <a:pt x="1646288" y="16306"/>
                  </a:lnTo>
                  <a:lnTo>
                    <a:pt x="1643176" y="18846"/>
                  </a:lnTo>
                  <a:lnTo>
                    <a:pt x="1642491" y="25819"/>
                  </a:lnTo>
                  <a:lnTo>
                    <a:pt x="1645031" y="28917"/>
                  </a:lnTo>
                  <a:lnTo>
                    <a:pt x="1705978" y="34975"/>
                  </a:lnTo>
                  <a:lnTo>
                    <a:pt x="1647812" y="46723"/>
                  </a:lnTo>
                  <a:lnTo>
                    <a:pt x="1645589" y="50063"/>
                  </a:lnTo>
                  <a:lnTo>
                    <a:pt x="1646986" y="56921"/>
                  </a:lnTo>
                  <a:lnTo>
                    <a:pt x="1650326" y="59143"/>
                  </a:lnTo>
                  <a:lnTo>
                    <a:pt x="1670291" y="55118"/>
                  </a:lnTo>
                  <a:lnTo>
                    <a:pt x="895032" y="409536"/>
                  </a:lnTo>
                  <a:lnTo>
                    <a:pt x="906551" y="65798"/>
                  </a:lnTo>
                  <a:lnTo>
                    <a:pt x="938911" y="125742"/>
                  </a:lnTo>
                  <a:lnTo>
                    <a:pt x="942759" y="126898"/>
                  </a:lnTo>
                  <a:lnTo>
                    <a:pt x="948931" y="123571"/>
                  </a:lnTo>
                  <a:lnTo>
                    <a:pt x="950074" y="119722"/>
                  </a:lnTo>
                  <a:lnTo>
                    <a:pt x="908088" y="41948"/>
                  </a:lnTo>
                  <a:lnTo>
                    <a:pt x="901433" y="29616"/>
                  </a:lnTo>
                  <a:lnTo>
                    <a:pt x="893876" y="31165"/>
                  </a:lnTo>
                  <a:lnTo>
                    <a:pt x="893876" y="65366"/>
                  </a:lnTo>
                  <a:lnTo>
                    <a:pt x="882142" y="415429"/>
                  </a:lnTo>
                  <a:lnTo>
                    <a:pt x="881659" y="415658"/>
                  </a:lnTo>
                  <a:lnTo>
                    <a:pt x="881659" y="429590"/>
                  </a:lnTo>
                  <a:lnTo>
                    <a:pt x="877811" y="544474"/>
                  </a:lnTo>
                  <a:lnTo>
                    <a:pt x="119824" y="777875"/>
                  </a:lnTo>
                  <a:lnTo>
                    <a:pt x="881659" y="429590"/>
                  </a:lnTo>
                  <a:lnTo>
                    <a:pt x="881659" y="415658"/>
                  </a:lnTo>
                  <a:lnTo>
                    <a:pt x="63893" y="789495"/>
                  </a:lnTo>
                  <a:lnTo>
                    <a:pt x="878852" y="58369"/>
                  </a:lnTo>
                  <a:lnTo>
                    <a:pt x="874204" y="72796"/>
                  </a:lnTo>
                  <a:lnTo>
                    <a:pt x="846836" y="116268"/>
                  </a:lnTo>
                  <a:lnTo>
                    <a:pt x="847725" y="120180"/>
                  </a:lnTo>
                  <a:lnTo>
                    <a:pt x="853655" y="123913"/>
                  </a:lnTo>
                  <a:lnTo>
                    <a:pt x="857580" y="123024"/>
                  </a:lnTo>
                  <a:lnTo>
                    <a:pt x="858532" y="121513"/>
                  </a:lnTo>
                  <a:lnTo>
                    <a:pt x="857986" y="123215"/>
                  </a:lnTo>
                  <a:lnTo>
                    <a:pt x="859815" y="126784"/>
                  </a:lnTo>
                  <a:lnTo>
                    <a:pt x="866495" y="128930"/>
                  </a:lnTo>
                  <a:lnTo>
                    <a:pt x="870064" y="127088"/>
                  </a:lnTo>
                  <a:lnTo>
                    <a:pt x="885786" y="78219"/>
                  </a:lnTo>
                  <a:lnTo>
                    <a:pt x="893876" y="65366"/>
                  </a:lnTo>
                  <a:lnTo>
                    <a:pt x="893876" y="31165"/>
                  </a:lnTo>
                  <a:lnTo>
                    <a:pt x="801052" y="50292"/>
                  </a:lnTo>
                  <a:lnTo>
                    <a:pt x="798842" y="53644"/>
                  </a:lnTo>
                  <a:lnTo>
                    <a:pt x="800265" y="60502"/>
                  </a:lnTo>
                  <a:lnTo>
                    <a:pt x="803617" y="62712"/>
                  </a:lnTo>
                  <a:lnTo>
                    <a:pt x="870369" y="48945"/>
                  </a:lnTo>
                  <a:lnTo>
                    <a:pt x="35496" y="797928"/>
                  </a:lnTo>
                  <a:lnTo>
                    <a:pt x="59715" y="75298"/>
                  </a:lnTo>
                  <a:lnTo>
                    <a:pt x="92062" y="135255"/>
                  </a:lnTo>
                  <a:lnTo>
                    <a:pt x="95910" y="136398"/>
                  </a:lnTo>
                  <a:lnTo>
                    <a:pt x="102082" y="133083"/>
                  </a:lnTo>
                  <a:lnTo>
                    <a:pt x="103238" y="129235"/>
                  </a:lnTo>
                  <a:lnTo>
                    <a:pt x="61252" y="51447"/>
                  </a:lnTo>
                  <a:lnTo>
                    <a:pt x="54571" y="39090"/>
                  </a:lnTo>
                  <a:lnTo>
                    <a:pt x="0" y="125780"/>
                  </a:lnTo>
                  <a:lnTo>
                    <a:pt x="889" y="129692"/>
                  </a:lnTo>
                  <a:lnTo>
                    <a:pt x="6819" y="133426"/>
                  </a:lnTo>
                  <a:lnTo>
                    <a:pt x="10731" y="132524"/>
                  </a:lnTo>
                  <a:lnTo>
                    <a:pt x="47028" y="74879"/>
                  </a:lnTo>
                  <a:lnTo>
                    <a:pt x="22326" y="812355"/>
                  </a:lnTo>
                  <a:lnTo>
                    <a:pt x="28651" y="812571"/>
                  </a:lnTo>
                  <a:lnTo>
                    <a:pt x="30530" y="818629"/>
                  </a:lnTo>
                  <a:lnTo>
                    <a:pt x="877366" y="557872"/>
                  </a:lnTo>
                  <a:lnTo>
                    <a:pt x="869162" y="802855"/>
                  </a:lnTo>
                  <a:lnTo>
                    <a:pt x="875487" y="803071"/>
                  </a:lnTo>
                  <a:lnTo>
                    <a:pt x="878128" y="808837"/>
                  </a:lnTo>
                  <a:lnTo>
                    <a:pt x="1728635" y="422440"/>
                  </a:lnTo>
                  <a:lnTo>
                    <a:pt x="1716011" y="799680"/>
                  </a:lnTo>
                  <a:lnTo>
                    <a:pt x="1722348" y="799896"/>
                  </a:lnTo>
                  <a:lnTo>
                    <a:pt x="1726577" y="804621"/>
                  </a:lnTo>
                  <a:lnTo>
                    <a:pt x="2517711" y="98056"/>
                  </a:lnTo>
                  <a:lnTo>
                    <a:pt x="2518549" y="98806"/>
                  </a:lnTo>
                  <a:lnTo>
                    <a:pt x="2522563" y="98640"/>
                  </a:lnTo>
                  <a:lnTo>
                    <a:pt x="2524518" y="96520"/>
                  </a:lnTo>
                  <a:lnTo>
                    <a:pt x="2522385" y="99529"/>
                  </a:lnTo>
                  <a:lnTo>
                    <a:pt x="2523058" y="103492"/>
                  </a:lnTo>
                  <a:lnTo>
                    <a:pt x="2528773" y="107530"/>
                  </a:lnTo>
                  <a:lnTo>
                    <a:pt x="2532735" y="106857"/>
                  </a:lnTo>
                  <a:lnTo>
                    <a:pt x="2567343" y="57988"/>
                  </a:lnTo>
                  <a:lnTo>
                    <a:pt x="2564460" y="66852"/>
                  </a:lnTo>
                  <a:lnTo>
                    <a:pt x="2537345" y="109931"/>
                  </a:lnTo>
                  <a:lnTo>
                    <a:pt x="2538247" y="113842"/>
                  </a:lnTo>
                  <a:lnTo>
                    <a:pt x="2544178" y="117576"/>
                  </a:lnTo>
                  <a:lnTo>
                    <a:pt x="2548090" y="116687"/>
                  </a:lnTo>
                  <a:lnTo>
                    <a:pt x="2548559" y="115938"/>
                  </a:lnTo>
                  <a:lnTo>
                    <a:pt x="2548293" y="116776"/>
                  </a:lnTo>
                  <a:lnTo>
                    <a:pt x="2550122" y="120357"/>
                  </a:lnTo>
                  <a:lnTo>
                    <a:pt x="2556776" y="122504"/>
                  </a:lnTo>
                  <a:lnTo>
                    <a:pt x="2560358" y="120688"/>
                  </a:lnTo>
                  <a:lnTo>
                    <a:pt x="2576055" y="72263"/>
                  </a:lnTo>
                  <a:lnTo>
                    <a:pt x="2584386" y="59029"/>
                  </a:lnTo>
                  <a:lnTo>
                    <a:pt x="2559672" y="796518"/>
                  </a:lnTo>
                  <a:lnTo>
                    <a:pt x="2572359" y="796937"/>
                  </a:lnTo>
                  <a:lnTo>
                    <a:pt x="2597061" y="59461"/>
                  </a:lnTo>
                  <a:lnTo>
                    <a:pt x="2629420" y="119405"/>
                  </a:lnTo>
                  <a:lnTo>
                    <a:pt x="2633268" y="120561"/>
                  </a:lnTo>
                  <a:lnTo>
                    <a:pt x="2639441" y="117233"/>
                  </a:lnTo>
                  <a:lnTo>
                    <a:pt x="2640584" y="1133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8712759" y="3086449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8712759" y="3086449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8871368" y="3086449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10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10" y="152190"/>
                  </a:lnTo>
                  <a:lnTo>
                    <a:pt x="158610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871368" y="3086449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9029977" y="3086449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9029977" y="3086449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9189124" y="3087013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9189124" y="3087013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9559601" y="3083280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9559601" y="3083280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9718210" y="3083280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9718210" y="3083280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876819" y="3083280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876819" y="3083280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10035965" y="3083844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158609" y="0"/>
                  </a:moveTo>
                  <a:lnTo>
                    <a:pt x="0" y="0"/>
                  </a:lnTo>
                  <a:lnTo>
                    <a:pt x="0" y="152190"/>
                  </a:lnTo>
                  <a:lnTo>
                    <a:pt x="158609" y="152190"/>
                  </a:lnTo>
                  <a:lnTo>
                    <a:pt x="158609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10035965" y="3083844"/>
              <a:ext cx="158750" cy="152400"/>
            </a:xfrm>
            <a:custGeom>
              <a:avLst/>
              <a:gdLst/>
              <a:ahLst/>
              <a:cxnLst/>
              <a:rect l="l" t="t" r="r" b="b"/>
              <a:pathLst>
                <a:path w="158750" h="152400">
                  <a:moveTo>
                    <a:pt x="0" y="0"/>
                  </a:moveTo>
                  <a:lnTo>
                    <a:pt x="158609" y="0"/>
                  </a:lnTo>
                  <a:lnTo>
                    <a:pt x="158609" y="152190"/>
                  </a:lnTo>
                  <a:lnTo>
                    <a:pt x="0" y="152190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8262404" y="3224313"/>
              <a:ext cx="2515870" cy="792480"/>
            </a:xfrm>
            <a:custGeom>
              <a:avLst/>
              <a:gdLst/>
              <a:ahLst/>
              <a:cxnLst/>
              <a:rect l="l" t="t" r="r" b="b"/>
              <a:pathLst>
                <a:path w="2515870" h="792479">
                  <a:moveTo>
                    <a:pt x="2515819" y="776833"/>
                  </a:moveTo>
                  <a:lnTo>
                    <a:pt x="1724279" y="31242"/>
                  </a:lnTo>
                  <a:lnTo>
                    <a:pt x="1790674" y="46621"/>
                  </a:lnTo>
                  <a:lnTo>
                    <a:pt x="1794090" y="44500"/>
                  </a:lnTo>
                  <a:lnTo>
                    <a:pt x="1795665" y="37680"/>
                  </a:lnTo>
                  <a:lnTo>
                    <a:pt x="1793544" y="34277"/>
                  </a:lnTo>
                  <a:lnTo>
                    <a:pt x="1711020" y="15151"/>
                  </a:lnTo>
                  <a:lnTo>
                    <a:pt x="1693697" y="11137"/>
                  </a:lnTo>
                  <a:lnTo>
                    <a:pt x="1722691" y="109385"/>
                  </a:lnTo>
                  <a:lnTo>
                    <a:pt x="1726222" y="111302"/>
                  </a:lnTo>
                  <a:lnTo>
                    <a:pt x="1732940" y="109321"/>
                  </a:lnTo>
                  <a:lnTo>
                    <a:pt x="1734858" y="105791"/>
                  </a:lnTo>
                  <a:lnTo>
                    <a:pt x="1715579" y="40462"/>
                  </a:lnTo>
                  <a:lnTo>
                    <a:pt x="2478836" y="759434"/>
                  </a:lnTo>
                  <a:lnTo>
                    <a:pt x="2426004" y="735088"/>
                  </a:lnTo>
                  <a:lnTo>
                    <a:pt x="2426004" y="749058"/>
                  </a:lnTo>
                  <a:lnTo>
                    <a:pt x="1266317" y="399224"/>
                  </a:lnTo>
                  <a:lnTo>
                    <a:pt x="879690" y="36449"/>
                  </a:lnTo>
                  <a:lnTo>
                    <a:pt x="2426004" y="749058"/>
                  </a:lnTo>
                  <a:lnTo>
                    <a:pt x="2426004" y="735088"/>
                  </a:lnTo>
                  <a:lnTo>
                    <a:pt x="933272" y="47167"/>
                  </a:lnTo>
                  <a:lnTo>
                    <a:pt x="943902" y="49606"/>
                  </a:lnTo>
                  <a:lnTo>
                    <a:pt x="947305" y="47472"/>
                  </a:lnTo>
                  <a:lnTo>
                    <a:pt x="948880" y="40652"/>
                  </a:lnTo>
                  <a:lnTo>
                    <a:pt x="946746" y="37249"/>
                  </a:lnTo>
                  <a:lnTo>
                    <a:pt x="885939" y="23291"/>
                  </a:lnTo>
                  <a:lnTo>
                    <a:pt x="950087" y="17132"/>
                  </a:lnTo>
                  <a:lnTo>
                    <a:pt x="952652" y="14033"/>
                  </a:lnTo>
                  <a:lnTo>
                    <a:pt x="952627" y="13843"/>
                  </a:lnTo>
                  <a:lnTo>
                    <a:pt x="951979" y="7061"/>
                  </a:lnTo>
                  <a:lnTo>
                    <a:pt x="948880" y="4508"/>
                  </a:lnTo>
                  <a:lnTo>
                    <a:pt x="846886" y="14325"/>
                  </a:lnTo>
                  <a:lnTo>
                    <a:pt x="876033" y="112496"/>
                  </a:lnTo>
                  <a:lnTo>
                    <a:pt x="879563" y="114401"/>
                  </a:lnTo>
                  <a:lnTo>
                    <a:pt x="886282" y="112407"/>
                  </a:lnTo>
                  <a:lnTo>
                    <a:pt x="888199" y="108877"/>
                  </a:lnTo>
                  <a:lnTo>
                    <a:pt x="869848" y="47193"/>
                  </a:lnTo>
                  <a:lnTo>
                    <a:pt x="905611" y="98234"/>
                  </a:lnTo>
                  <a:lnTo>
                    <a:pt x="909574" y="98933"/>
                  </a:lnTo>
                  <a:lnTo>
                    <a:pt x="915314" y="94919"/>
                  </a:lnTo>
                  <a:lnTo>
                    <a:pt x="916012" y="90970"/>
                  </a:lnTo>
                  <a:lnTo>
                    <a:pt x="909739" y="82029"/>
                  </a:lnTo>
                  <a:lnTo>
                    <a:pt x="1238999" y="390982"/>
                  </a:lnTo>
                  <a:lnTo>
                    <a:pt x="100799" y="47637"/>
                  </a:lnTo>
                  <a:lnTo>
                    <a:pt x="99999" y="46355"/>
                  </a:lnTo>
                  <a:lnTo>
                    <a:pt x="86448" y="43307"/>
                  </a:lnTo>
                  <a:lnTo>
                    <a:pt x="48158" y="31750"/>
                  </a:lnTo>
                  <a:lnTo>
                    <a:pt x="103263" y="26238"/>
                  </a:lnTo>
                  <a:lnTo>
                    <a:pt x="105664" y="23291"/>
                  </a:lnTo>
                  <a:lnTo>
                    <a:pt x="105803" y="23126"/>
                  </a:lnTo>
                  <a:lnTo>
                    <a:pt x="105105" y="16167"/>
                  </a:lnTo>
                  <a:lnTo>
                    <a:pt x="101993" y="13627"/>
                  </a:lnTo>
                  <a:lnTo>
                    <a:pt x="93700" y="14465"/>
                  </a:lnTo>
                  <a:lnTo>
                    <a:pt x="102641" y="12319"/>
                  </a:lnTo>
                  <a:lnTo>
                    <a:pt x="104749" y="8902"/>
                  </a:lnTo>
                  <a:lnTo>
                    <a:pt x="103111" y="2095"/>
                  </a:lnTo>
                  <a:lnTo>
                    <a:pt x="99695" y="0"/>
                  </a:lnTo>
                  <a:lnTo>
                    <a:pt x="12" y="23825"/>
                  </a:lnTo>
                  <a:lnTo>
                    <a:pt x="29603" y="121881"/>
                  </a:lnTo>
                  <a:lnTo>
                    <a:pt x="33134" y="123774"/>
                  </a:lnTo>
                  <a:lnTo>
                    <a:pt x="39852" y="121754"/>
                  </a:lnTo>
                  <a:lnTo>
                    <a:pt x="41744" y="118224"/>
                  </a:lnTo>
                  <a:lnTo>
                    <a:pt x="23164" y="56642"/>
                  </a:lnTo>
                  <a:lnTo>
                    <a:pt x="59093" y="107518"/>
                  </a:lnTo>
                  <a:lnTo>
                    <a:pt x="63055" y="108191"/>
                  </a:lnTo>
                  <a:lnTo>
                    <a:pt x="68783" y="104165"/>
                  </a:lnTo>
                  <a:lnTo>
                    <a:pt x="69469" y="100203"/>
                  </a:lnTo>
                  <a:lnTo>
                    <a:pt x="64223" y="92798"/>
                  </a:lnTo>
                  <a:lnTo>
                    <a:pt x="69837" y="98806"/>
                  </a:lnTo>
                  <a:lnTo>
                    <a:pt x="71335" y="98869"/>
                  </a:lnTo>
                  <a:lnTo>
                    <a:pt x="816635" y="792429"/>
                  </a:lnTo>
                  <a:lnTo>
                    <a:pt x="825284" y="783145"/>
                  </a:lnTo>
                  <a:lnTo>
                    <a:pt x="69367" y="79717"/>
                  </a:lnTo>
                  <a:lnTo>
                    <a:pt x="41402" y="49682"/>
                  </a:lnTo>
                  <a:lnTo>
                    <a:pt x="1665173" y="790384"/>
                  </a:lnTo>
                  <a:lnTo>
                    <a:pt x="1667802" y="784618"/>
                  </a:lnTo>
                  <a:lnTo>
                    <a:pt x="1672145" y="779995"/>
                  </a:lnTo>
                  <a:lnTo>
                    <a:pt x="1635302" y="745439"/>
                  </a:lnTo>
                  <a:lnTo>
                    <a:pt x="1635302" y="762838"/>
                  </a:lnTo>
                  <a:lnTo>
                    <a:pt x="87985" y="57010"/>
                  </a:lnTo>
                  <a:lnTo>
                    <a:pt x="1259789" y="410489"/>
                  </a:lnTo>
                  <a:lnTo>
                    <a:pt x="1635302" y="762838"/>
                  </a:lnTo>
                  <a:lnTo>
                    <a:pt x="1635302" y="745439"/>
                  </a:lnTo>
                  <a:lnTo>
                    <a:pt x="1287106" y="418731"/>
                  </a:lnTo>
                  <a:lnTo>
                    <a:pt x="2509634" y="787514"/>
                  </a:lnTo>
                  <a:lnTo>
                    <a:pt x="2511463" y="781456"/>
                  </a:lnTo>
                  <a:lnTo>
                    <a:pt x="2515819" y="7768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754616" y="3435510"/>
              <a:ext cx="3328670" cy="327025"/>
            </a:xfrm>
            <a:custGeom>
              <a:avLst/>
              <a:gdLst/>
              <a:ahLst/>
              <a:cxnLst/>
              <a:rect l="l" t="t" r="r" b="b"/>
              <a:pathLst>
                <a:path w="3328670" h="327025">
                  <a:moveTo>
                    <a:pt x="3273732" y="0"/>
                  </a:moveTo>
                  <a:lnTo>
                    <a:pt x="54475" y="0"/>
                  </a:lnTo>
                  <a:lnTo>
                    <a:pt x="33270" y="4277"/>
                  </a:lnTo>
                  <a:lnTo>
                    <a:pt x="15955" y="15942"/>
                  </a:lnTo>
                  <a:lnTo>
                    <a:pt x="4280" y="33244"/>
                  </a:lnTo>
                  <a:lnTo>
                    <a:pt x="0" y="54432"/>
                  </a:lnTo>
                  <a:lnTo>
                    <a:pt x="0" y="272155"/>
                  </a:lnTo>
                  <a:lnTo>
                    <a:pt x="4280" y="293344"/>
                  </a:lnTo>
                  <a:lnTo>
                    <a:pt x="15955" y="310646"/>
                  </a:lnTo>
                  <a:lnTo>
                    <a:pt x="33270" y="322311"/>
                  </a:lnTo>
                  <a:lnTo>
                    <a:pt x="54475" y="326589"/>
                  </a:lnTo>
                  <a:lnTo>
                    <a:pt x="3273732" y="326589"/>
                  </a:lnTo>
                  <a:lnTo>
                    <a:pt x="3294936" y="322311"/>
                  </a:lnTo>
                  <a:lnTo>
                    <a:pt x="3312253" y="310646"/>
                  </a:lnTo>
                  <a:lnTo>
                    <a:pt x="3323927" y="293344"/>
                  </a:lnTo>
                  <a:lnTo>
                    <a:pt x="3328208" y="272155"/>
                  </a:lnTo>
                  <a:lnTo>
                    <a:pt x="3328208" y="54432"/>
                  </a:lnTo>
                  <a:lnTo>
                    <a:pt x="3323927" y="33244"/>
                  </a:lnTo>
                  <a:lnTo>
                    <a:pt x="3312253" y="15942"/>
                  </a:lnTo>
                  <a:lnTo>
                    <a:pt x="3294936" y="4277"/>
                  </a:lnTo>
                  <a:lnTo>
                    <a:pt x="327373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754616" y="3435510"/>
              <a:ext cx="3328670" cy="327025"/>
            </a:xfrm>
            <a:custGeom>
              <a:avLst/>
              <a:gdLst/>
              <a:ahLst/>
              <a:cxnLst/>
              <a:rect l="l" t="t" r="r" b="b"/>
              <a:pathLst>
                <a:path w="3328670" h="327025">
                  <a:moveTo>
                    <a:pt x="0" y="54432"/>
                  </a:moveTo>
                  <a:lnTo>
                    <a:pt x="4281" y="33245"/>
                  </a:lnTo>
                  <a:lnTo>
                    <a:pt x="15955" y="15942"/>
                  </a:lnTo>
                  <a:lnTo>
                    <a:pt x="33271" y="4277"/>
                  </a:lnTo>
                  <a:lnTo>
                    <a:pt x="54476" y="0"/>
                  </a:lnTo>
                  <a:lnTo>
                    <a:pt x="3273733" y="0"/>
                  </a:lnTo>
                  <a:lnTo>
                    <a:pt x="3294937" y="4277"/>
                  </a:lnTo>
                  <a:lnTo>
                    <a:pt x="3312253" y="15942"/>
                  </a:lnTo>
                  <a:lnTo>
                    <a:pt x="3323928" y="33245"/>
                  </a:lnTo>
                  <a:lnTo>
                    <a:pt x="3328209" y="54432"/>
                  </a:lnTo>
                  <a:lnTo>
                    <a:pt x="3328209" y="272156"/>
                  </a:lnTo>
                  <a:lnTo>
                    <a:pt x="3323928" y="293344"/>
                  </a:lnTo>
                  <a:lnTo>
                    <a:pt x="3312253" y="310646"/>
                  </a:lnTo>
                  <a:lnTo>
                    <a:pt x="3294937" y="322311"/>
                  </a:lnTo>
                  <a:lnTo>
                    <a:pt x="3273733" y="326589"/>
                  </a:lnTo>
                  <a:lnTo>
                    <a:pt x="54476" y="326589"/>
                  </a:lnTo>
                  <a:lnTo>
                    <a:pt x="33271" y="322311"/>
                  </a:lnTo>
                  <a:lnTo>
                    <a:pt x="15955" y="310646"/>
                  </a:lnTo>
                  <a:lnTo>
                    <a:pt x="4281" y="293344"/>
                  </a:lnTo>
                  <a:lnTo>
                    <a:pt x="0" y="272156"/>
                  </a:lnTo>
                  <a:lnTo>
                    <a:pt x="0" y="54432"/>
                  </a:lnTo>
                  <a:close/>
                </a:path>
              </a:pathLst>
            </a:custGeom>
            <a:ln w="9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 txBox="1"/>
          <p:nvPr/>
        </p:nvSpPr>
        <p:spPr>
          <a:xfrm>
            <a:off x="7767480" y="2781444"/>
            <a:ext cx="2133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Candara"/>
                <a:cs typeface="Candara"/>
              </a:rPr>
              <a:t>h</a:t>
            </a:r>
            <a:r>
              <a:rPr sz="1350" spc="-37" baseline="-12345" dirty="0">
                <a:latin typeface="Candara"/>
                <a:cs typeface="Candara"/>
              </a:rPr>
              <a:t>1</a:t>
            </a:r>
            <a:endParaRPr sz="1350" baseline="-12345">
              <a:latin typeface="Candara"/>
              <a:cs typeface="Candara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9476502" y="2784493"/>
            <a:ext cx="2286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Candara"/>
                <a:cs typeface="Candara"/>
              </a:rPr>
              <a:t>h</a:t>
            </a:r>
            <a:r>
              <a:rPr sz="1350" spc="-37" baseline="-12345" dirty="0">
                <a:latin typeface="Candara"/>
                <a:cs typeface="Candara"/>
              </a:rPr>
              <a:t>3</a:t>
            </a:r>
            <a:endParaRPr sz="1350" baseline="-12345">
              <a:latin typeface="Candara"/>
              <a:cs typeface="Candara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10320284" y="2784493"/>
            <a:ext cx="2343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Candara"/>
                <a:cs typeface="Candara"/>
              </a:rPr>
              <a:t>h</a:t>
            </a:r>
            <a:r>
              <a:rPr sz="1350" spc="-37" baseline="-12345" dirty="0">
                <a:latin typeface="Candara"/>
                <a:cs typeface="Candara"/>
              </a:rPr>
              <a:t>4</a:t>
            </a:r>
            <a:endParaRPr sz="1350" baseline="-12345">
              <a:latin typeface="Candara"/>
              <a:cs typeface="Candara"/>
            </a:endParaRPr>
          </a:p>
        </p:txBody>
      </p:sp>
      <p:graphicFrame>
        <p:nvGraphicFramePr>
          <p:cNvPr id="142" name="object 142"/>
          <p:cNvGraphicFramePr>
            <a:graphicFrameLocks noGrp="1"/>
          </p:cNvGraphicFramePr>
          <p:nvPr/>
        </p:nvGraphicFramePr>
        <p:xfrm>
          <a:off x="7859576" y="3089615"/>
          <a:ext cx="635000" cy="151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3" name="object 143"/>
          <p:cNvGraphicFramePr>
            <a:graphicFrameLocks noGrp="1"/>
          </p:cNvGraphicFramePr>
          <p:nvPr/>
        </p:nvGraphicFramePr>
        <p:xfrm>
          <a:off x="10396930" y="3073771"/>
          <a:ext cx="635000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4" name="object 144"/>
          <p:cNvSpPr txBox="1"/>
          <p:nvPr/>
        </p:nvSpPr>
        <p:spPr>
          <a:xfrm>
            <a:off x="8740250" y="3464197"/>
            <a:ext cx="13563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Candara"/>
                <a:cs typeface="Candara"/>
              </a:rPr>
              <a:t>Transformer</a:t>
            </a:r>
            <a:r>
              <a:rPr sz="1400" spc="15" dirty="0">
                <a:latin typeface="Candara"/>
                <a:cs typeface="Candara"/>
              </a:rPr>
              <a:t> </a:t>
            </a:r>
            <a:r>
              <a:rPr sz="1400" spc="-20" dirty="0">
                <a:latin typeface="Candara"/>
                <a:cs typeface="Candara"/>
              </a:rPr>
              <a:t>layer</a:t>
            </a:r>
            <a:endParaRPr sz="1400">
              <a:latin typeface="Candara"/>
              <a:cs typeface="Candara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7733711" y="4461557"/>
            <a:ext cx="2999105" cy="2089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4569">
              <a:lnSpc>
                <a:spcPts val="1295"/>
              </a:lnSpc>
            </a:pPr>
            <a:r>
              <a:rPr sz="1400" spc="-10" dirty="0">
                <a:latin typeface="Candara"/>
                <a:cs typeface="Candara"/>
              </a:rPr>
              <a:t>Transformer</a:t>
            </a:r>
            <a:r>
              <a:rPr sz="1400" spc="15" dirty="0">
                <a:latin typeface="Candara"/>
                <a:cs typeface="Candara"/>
              </a:rPr>
              <a:t> </a:t>
            </a:r>
            <a:r>
              <a:rPr sz="1400" spc="-20" dirty="0">
                <a:latin typeface="Candara"/>
                <a:cs typeface="Candara"/>
              </a:rPr>
              <a:t>layer</a:t>
            </a:r>
            <a:endParaRPr sz="1400">
              <a:latin typeface="Candara"/>
              <a:cs typeface="Candara"/>
            </a:endParaRPr>
          </a:p>
          <a:p>
            <a:pPr>
              <a:lnSpc>
                <a:spcPct val="100000"/>
              </a:lnSpc>
            </a:pPr>
            <a:endParaRPr sz="1400">
              <a:latin typeface="Candara"/>
              <a:cs typeface="Candara"/>
            </a:endParaRPr>
          </a:p>
          <a:p>
            <a:pPr>
              <a:lnSpc>
                <a:spcPct val="100000"/>
              </a:lnSpc>
            </a:pPr>
            <a:endParaRPr sz="14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Candara"/>
              <a:cs typeface="Candara"/>
            </a:endParaRPr>
          </a:p>
          <a:p>
            <a:pPr marL="1017269">
              <a:lnSpc>
                <a:spcPct val="100000"/>
              </a:lnSpc>
            </a:pPr>
            <a:r>
              <a:rPr sz="1400" spc="-10" dirty="0">
                <a:latin typeface="Candara"/>
                <a:cs typeface="Candara"/>
              </a:rPr>
              <a:t>Transformer</a:t>
            </a:r>
            <a:r>
              <a:rPr sz="1400" spc="15" dirty="0">
                <a:latin typeface="Candara"/>
                <a:cs typeface="Candara"/>
              </a:rPr>
              <a:t> </a:t>
            </a:r>
            <a:r>
              <a:rPr sz="1400" spc="-20" dirty="0">
                <a:latin typeface="Candara"/>
                <a:cs typeface="Candara"/>
              </a:rPr>
              <a:t>layer</a:t>
            </a:r>
            <a:endParaRPr sz="1400">
              <a:latin typeface="Candara"/>
              <a:cs typeface="Candara"/>
            </a:endParaRPr>
          </a:p>
          <a:p>
            <a:pPr>
              <a:lnSpc>
                <a:spcPct val="100000"/>
              </a:lnSpc>
            </a:pPr>
            <a:endParaRPr sz="14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Candara"/>
              <a:cs typeface="Candara"/>
            </a:endParaRPr>
          </a:p>
          <a:p>
            <a:pPr marL="188595" indent="-189230">
              <a:lnSpc>
                <a:spcPct val="145700"/>
              </a:lnSpc>
              <a:spcBef>
                <a:spcPts val="5"/>
              </a:spcBef>
              <a:tabLst>
                <a:tab pos="843280" algn="l"/>
                <a:tab pos="944244" algn="l"/>
                <a:tab pos="1708785" algn="l"/>
                <a:tab pos="1939289" algn="l"/>
                <a:tab pos="2552700" algn="l"/>
                <a:tab pos="2773045" algn="l"/>
              </a:tabLst>
            </a:pPr>
            <a:r>
              <a:rPr sz="1400" b="1" spc="-25" dirty="0">
                <a:latin typeface="Candara"/>
                <a:cs typeface="Candara"/>
              </a:rPr>
              <a:t>x</a:t>
            </a:r>
            <a:r>
              <a:rPr sz="1350" spc="-37" baseline="-12345" dirty="0">
                <a:latin typeface="Candara"/>
                <a:cs typeface="Candara"/>
              </a:rPr>
              <a:t>1</a:t>
            </a:r>
            <a:r>
              <a:rPr sz="1350" baseline="-12345" dirty="0">
                <a:latin typeface="Candara"/>
                <a:cs typeface="Candara"/>
              </a:rPr>
              <a:t>		</a:t>
            </a:r>
            <a:r>
              <a:rPr sz="1400" b="1" spc="-25" dirty="0">
                <a:latin typeface="Candara"/>
                <a:cs typeface="Candara"/>
              </a:rPr>
              <a:t>x</a:t>
            </a:r>
            <a:r>
              <a:rPr sz="1350" spc="-37" baseline="-12345" dirty="0">
                <a:latin typeface="Candara"/>
                <a:cs typeface="Candara"/>
              </a:rPr>
              <a:t>2</a:t>
            </a:r>
            <a:r>
              <a:rPr sz="1350" baseline="-12345" dirty="0">
                <a:latin typeface="Candara"/>
                <a:cs typeface="Candara"/>
              </a:rPr>
              <a:t>	</a:t>
            </a:r>
            <a:r>
              <a:rPr sz="1400" b="1" spc="-25" dirty="0">
                <a:latin typeface="Candara"/>
                <a:cs typeface="Candara"/>
              </a:rPr>
              <a:t>x</a:t>
            </a:r>
            <a:r>
              <a:rPr sz="1350" spc="-37" baseline="-12345" dirty="0">
                <a:latin typeface="Candara"/>
                <a:cs typeface="Candara"/>
              </a:rPr>
              <a:t>3</a:t>
            </a:r>
            <a:r>
              <a:rPr sz="1350" baseline="-12345" dirty="0">
                <a:latin typeface="Candara"/>
                <a:cs typeface="Candara"/>
              </a:rPr>
              <a:t>		</a:t>
            </a:r>
            <a:r>
              <a:rPr sz="1400" b="1" spc="-25" dirty="0">
                <a:latin typeface="Candara"/>
                <a:cs typeface="Candara"/>
              </a:rPr>
              <a:t>x</a:t>
            </a:r>
            <a:r>
              <a:rPr sz="1350" spc="-37" baseline="-12345" dirty="0">
                <a:latin typeface="Candara"/>
                <a:cs typeface="Candara"/>
              </a:rPr>
              <a:t>4</a:t>
            </a:r>
            <a:r>
              <a:rPr sz="1350" spc="750" baseline="-12345" dirty="0">
                <a:latin typeface="Candara"/>
                <a:cs typeface="Candara"/>
              </a:rPr>
              <a:t> </a:t>
            </a:r>
            <a:r>
              <a:rPr sz="1400" b="1" spc="-20" dirty="0">
                <a:latin typeface="Candara"/>
                <a:cs typeface="Candara"/>
              </a:rPr>
              <a:t>[CLS]</a:t>
            </a:r>
            <a:r>
              <a:rPr sz="1400" b="1" dirty="0">
                <a:latin typeface="Candara"/>
                <a:cs typeface="Candara"/>
              </a:rPr>
              <a:t>		</a:t>
            </a:r>
            <a:r>
              <a:rPr sz="1400" b="1" spc="-10" dirty="0">
                <a:latin typeface="Candara"/>
                <a:cs typeface="Candara"/>
              </a:rPr>
              <a:t>[MASK]</a:t>
            </a:r>
            <a:r>
              <a:rPr sz="1400" b="1" dirty="0">
                <a:latin typeface="Candara"/>
                <a:cs typeface="Candara"/>
              </a:rPr>
              <a:t>		</a:t>
            </a:r>
            <a:r>
              <a:rPr sz="1400" spc="-25" dirty="0">
                <a:latin typeface="Candara"/>
                <a:cs typeface="Candara"/>
              </a:rPr>
              <a:t>cat</a:t>
            </a:r>
            <a:r>
              <a:rPr sz="1400" dirty="0">
                <a:latin typeface="Candara"/>
                <a:cs typeface="Candara"/>
              </a:rPr>
              <a:t>		</a:t>
            </a:r>
            <a:r>
              <a:rPr sz="1400" spc="-25" dirty="0">
                <a:latin typeface="Candara"/>
                <a:cs typeface="Candara"/>
              </a:rPr>
              <a:t>sat</a:t>
            </a:r>
            <a:endParaRPr sz="1400">
              <a:latin typeface="Candara"/>
              <a:cs typeface="Candara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7748461" y="5268069"/>
            <a:ext cx="3338195" cy="336550"/>
            <a:chOff x="7748461" y="5268069"/>
            <a:chExt cx="3338195" cy="336550"/>
          </a:xfrm>
        </p:grpSpPr>
        <p:sp>
          <p:nvSpPr>
            <p:cNvPr id="147" name="object 147"/>
            <p:cNvSpPr/>
            <p:nvPr/>
          </p:nvSpPr>
          <p:spPr>
            <a:xfrm>
              <a:off x="7753224" y="5272831"/>
              <a:ext cx="3328670" cy="327025"/>
            </a:xfrm>
            <a:custGeom>
              <a:avLst/>
              <a:gdLst/>
              <a:ahLst/>
              <a:cxnLst/>
              <a:rect l="l" t="t" r="r" b="b"/>
              <a:pathLst>
                <a:path w="3328670" h="327025">
                  <a:moveTo>
                    <a:pt x="3273733" y="0"/>
                  </a:moveTo>
                  <a:lnTo>
                    <a:pt x="54476" y="0"/>
                  </a:lnTo>
                  <a:lnTo>
                    <a:pt x="33272" y="4277"/>
                  </a:lnTo>
                  <a:lnTo>
                    <a:pt x="15955" y="15943"/>
                  </a:lnTo>
                  <a:lnTo>
                    <a:pt x="4281" y="33245"/>
                  </a:lnTo>
                  <a:lnTo>
                    <a:pt x="0" y="54433"/>
                  </a:lnTo>
                  <a:lnTo>
                    <a:pt x="0" y="272157"/>
                  </a:lnTo>
                  <a:lnTo>
                    <a:pt x="4281" y="293344"/>
                  </a:lnTo>
                  <a:lnTo>
                    <a:pt x="15955" y="310646"/>
                  </a:lnTo>
                  <a:lnTo>
                    <a:pt x="33272" y="322312"/>
                  </a:lnTo>
                  <a:lnTo>
                    <a:pt x="54476" y="326589"/>
                  </a:lnTo>
                  <a:lnTo>
                    <a:pt x="3273733" y="326589"/>
                  </a:lnTo>
                  <a:lnTo>
                    <a:pt x="3294938" y="322312"/>
                  </a:lnTo>
                  <a:lnTo>
                    <a:pt x="3312254" y="310646"/>
                  </a:lnTo>
                  <a:lnTo>
                    <a:pt x="3323929" y="293344"/>
                  </a:lnTo>
                  <a:lnTo>
                    <a:pt x="3328210" y="272157"/>
                  </a:lnTo>
                  <a:lnTo>
                    <a:pt x="3328210" y="54433"/>
                  </a:lnTo>
                  <a:lnTo>
                    <a:pt x="3323929" y="33245"/>
                  </a:lnTo>
                  <a:lnTo>
                    <a:pt x="3312254" y="15943"/>
                  </a:lnTo>
                  <a:lnTo>
                    <a:pt x="3294938" y="4277"/>
                  </a:lnTo>
                  <a:lnTo>
                    <a:pt x="327373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753224" y="5272831"/>
              <a:ext cx="3328670" cy="327025"/>
            </a:xfrm>
            <a:custGeom>
              <a:avLst/>
              <a:gdLst/>
              <a:ahLst/>
              <a:cxnLst/>
              <a:rect l="l" t="t" r="r" b="b"/>
              <a:pathLst>
                <a:path w="3328670" h="327025">
                  <a:moveTo>
                    <a:pt x="0" y="54432"/>
                  </a:moveTo>
                  <a:lnTo>
                    <a:pt x="4281" y="33245"/>
                  </a:lnTo>
                  <a:lnTo>
                    <a:pt x="15955" y="15942"/>
                  </a:lnTo>
                  <a:lnTo>
                    <a:pt x="33271" y="4277"/>
                  </a:lnTo>
                  <a:lnTo>
                    <a:pt x="54476" y="0"/>
                  </a:lnTo>
                  <a:lnTo>
                    <a:pt x="3273733" y="0"/>
                  </a:lnTo>
                  <a:lnTo>
                    <a:pt x="3294937" y="4277"/>
                  </a:lnTo>
                  <a:lnTo>
                    <a:pt x="3312253" y="15942"/>
                  </a:lnTo>
                  <a:lnTo>
                    <a:pt x="3323928" y="33245"/>
                  </a:lnTo>
                  <a:lnTo>
                    <a:pt x="3328209" y="54432"/>
                  </a:lnTo>
                  <a:lnTo>
                    <a:pt x="3328209" y="272156"/>
                  </a:lnTo>
                  <a:lnTo>
                    <a:pt x="3323928" y="293344"/>
                  </a:lnTo>
                  <a:lnTo>
                    <a:pt x="3312253" y="310646"/>
                  </a:lnTo>
                  <a:lnTo>
                    <a:pt x="3294937" y="322311"/>
                  </a:lnTo>
                  <a:lnTo>
                    <a:pt x="3273733" y="326589"/>
                  </a:lnTo>
                  <a:lnTo>
                    <a:pt x="54476" y="326589"/>
                  </a:lnTo>
                  <a:lnTo>
                    <a:pt x="33271" y="322311"/>
                  </a:lnTo>
                  <a:lnTo>
                    <a:pt x="15955" y="310646"/>
                  </a:lnTo>
                  <a:lnTo>
                    <a:pt x="4281" y="293344"/>
                  </a:lnTo>
                  <a:lnTo>
                    <a:pt x="0" y="272156"/>
                  </a:lnTo>
                  <a:lnTo>
                    <a:pt x="0" y="54432"/>
                  </a:lnTo>
                  <a:close/>
                </a:path>
              </a:pathLst>
            </a:custGeom>
            <a:ln w="9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9" name="object 149"/>
          <p:cNvSpPr txBox="1"/>
          <p:nvPr/>
        </p:nvSpPr>
        <p:spPr>
          <a:xfrm>
            <a:off x="8611261" y="2781444"/>
            <a:ext cx="2260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Candara"/>
                <a:cs typeface="Candara"/>
              </a:rPr>
              <a:t>h</a:t>
            </a:r>
            <a:r>
              <a:rPr sz="1350" spc="-37" baseline="-12345" dirty="0">
                <a:latin typeface="Candara"/>
                <a:cs typeface="Candara"/>
              </a:rPr>
              <a:t>2</a:t>
            </a:r>
            <a:endParaRPr sz="1350" baseline="-12345">
              <a:latin typeface="Candara"/>
              <a:cs typeface="Candara"/>
            </a:endParaRPr>
          </a:p>
        </p:txBody>
      </p:sp>
      <p:grpSp>
        <p:nvGrpSpPr>
          <p:cNvPr id="150" name="object 150"/>
          <p:cNvGrpSpPr/>
          <p:nvPr/>
        </p:nvGrpSpPr>
        <p:grpSpPr>
          <a:xfrm>
            <a:off x="8449056" y="1868423"/>
            <a:ext cx="1061085" cy="1156335"/>
            <a:chOff x="8449056" y="1868423"/>
            <a:chExt cx="1061085" cy="1156335"/>
          </a:xfrm>
        </p:grpSpPr>
        <p:sp>
          <p:nvSpPr>
            <p:cNvPr id="151" name="object 151"/>
            <p:cNvSpPr/>
            <p:nvPr/>
          </p:nvSpPr>
          <p:spPr>
            <a:xfrm>
              <a:off x="8884790" y="2612270"/>
              <a:ext cx="103505" cy="412115"/>
            </a:xfrm>
            <a:custGeom>
              <a:avLst/>
              <a:gdLst/>
              <a:ahLst/>
              <a:cxnLst/>
              <a:rect l="l" t="t" r="r" b="b"/>
              <a:pathLst>
                <a:path w="103504" h="412114">
                  <a:moveTo>
                    <a:pt x="51648" y="25157"/>
                  </a:moveTo>
                  <a:lnTo>
                    <a:pt x="45305" y="36022"/>
                  </a:lnTo>
                  <a:lnTo>
                    <a:pt x="45304" y="412012"/>
                  </a:lnTo>
                  <a:lnTo>
                    <a:pt x="57990" y="412012"/>
                  </a:lnTo>
                  <a:lnTo>
                    <a:pt x="57991" y="36022"/>
                  </a:lnTo>
                  <a:lnTo>
                    <a:pt x="51648" y="25157"/>
                  </a:lnTo>
                  <a:close/>
                </a:path>
                <a:path w="103504" h="412114">
                  <a:moveTo>
                    <a:pt x="51648" y="0"/>
                  </a:moveTo>
                  <a:lnTo>
                    <a:pt x="0" y="88466"/>
                  </a:lnTo>
                  <a:lnTo>
                    <a:pt x="1022" y="92348"/>
                  </a:lnTo>
                  <a:lnTo>
                    <a:pt x="7075" y="95876"/>
                  </a:lnTo>
                  <a:lnTo>
                    <a:pt x="10958" y="94855"/>
                  </a:lnTo>
                  <a:lnTo>
                    <a:pt x="45304" y="36024"/>
                  </a:lnTo>
                  <a:lnTo>
                    <a:pt x="45304" y="12578"/>
                  </a:lnTo>
                  <a:lnTo>
                    <a:pt x="58991" y="12578"/>
                  </a:lnTo>
                  <a:lnTo>
                    <a:pt x="51648" y="0"/>
                  </a:lnTo>
                  <a:close/>
                </a:path>
                <a:path w="103504" h="412114">
                  <a:moveTo>
                    <a:pt x="58991" y="12578"/>
                  </a:moveTo>
                  <a:lnTo>
                    <a:pt x="57992" y="12578"/>
                  </a:lnTo>
                  <a:lnTo>
                    <a:pt x="57992" y="36024"/>
                  </a:lnTo>
                  <a:lnTo>
                    <a:pt x="92337" y="94855"/>
                  </a:lnTo>
                  <a:lnTo>
                    <a:pt x="96222" y="95876"/>
                  </a:lnTo>
                  <a:lnTo>
                    <a:pt x="102274" y="92348"/>
                  </a:lnTo>
                  <a:lnTo>
                    <a:pt x="103296" y="88466"/>
                  </a:lnTo>
                  <a:lnTo>
                    <a:pt x="58991" y="12578"/>
                  </a:lnTo>
                  <a:close/>
                </a:path>
                <a:path w="103504" h="412114">
                  <a:moveTo>
                    <a:pt x="57992" y="12578"/>
                  </a:moveTo>
                  <a:lnTo>
                    <a:pt x="45304" y="12578"/>
                  </a:lnTo>
                  <a:lnTo>
                    <a:pt x="45304" y="36024"/>
                  </a:lnTo>
                  <a:lnTo>
                    <a:pt x="51648" y="25157"/>
                  </a:lnTo>
                  <a:lnTo>
                    <a:pt x="46169" y="15772"/>
                  </a:lnTo>
                  <a:lnTo>
                    <a:pt x="57991" y="15772"/>
                  </a:lnTo>
                  <a:lnTo>
                    <a:pt x="57992" y="12578"/>
                  </a:lnTo>
                  <a:close/>
                </a:path>
                <a:path w="103504" h="412114">
                  <a:moveTo>
                    <a:pt x="57991" y="15772"/>
                  </a:moveTo>
                  <a:lnTo>
                    <a:pt x="57128" y="15772"/>
                  </a:lnTo>
                  <a:lnTo>
                    <a:pt x="51648" y="25157"/>
                  </a:lnTo>
                  <a:lnTo>
                    <a:pt x="57991" y="36022"/>
                  </a:lnTo>
                  <a:lnTo>
                    <a:pt x="57991" y="15772"/>
                  </a:lnTo>
                  <a:close/>
                </a:path>
                <a:path w="103504" h="412114">
                  <a:moveTo>
                    <a:pt x="57128" y="15772"/>
                  </a:moveTo>
                  <a:lnTo>
                    <a:pt x="46169" y="15772"/>
                  </a:lnTo>
                  <a:lnTo>
                    <a:pt x="51648" y="25157"/>
                  </a:lnTo>
                  <a:lnTo>
                    <a:pt x="57128" y="157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2" name="object 1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9056" y="1868423"/>
              <a:ext cx="310896" cy="731520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8544971" y="2001305"/>
              <a:ext cx="118110" cy="537845"/>
            </a:xfrm>
            <a:custGeom>
              <a:avLst/>
              <a:gdLst/>
              <a:ahLst/>
              <a:cxnLst/>
              <a:rect l="l" t="t" r="r" b="b"/>
              <a:pathLst>
                <a:path w="118109" h="537844">
                  <a:moveTo>
                    <a:pt x="58996" y="50315"/>
                  </a:moveTo>
                  <a:lnTo>
                    <a:pt x="46265" y="72021"/>
                  </a:lnTo>
                  <a:lnTo>
                    <a:pt x="45311" y="537340"/>
                  </a:lnTo>
                  <a:lnTo>
                    <a:pt x="70684" y="537392"/>
                  </a:lnTo>
                  <a:lnTo>
                    <a:pt x="71548" y="115785"/>
                  </a:lnTo>
                  <a:lnTo>
                    <a:pt x="71608" y="72021"/>
                  </a:lnTo>
                  <a:lnTo>
                    <a:pt x="58996" y="50315"/>
                  </a:lnTo>
                  <a:close/>
                </a:path>
                <a:path w="118109" h="537844">
                  <a:moveTo>
                    <a:pt x="73703" y="25132"/>
                  </a:moveTo>
                  <a:lnTo>
                    <a:pt x="46361" y="25132"/>
                  </a:lnTo>
                  <a:lnTo>
                    <a:pt x="71734" y="25184"/>
                  </a:lnTo>
                  <a:lnTo>
                    <a:pt x="71638" y="72072"/>
                  </a:lnTo>
                  <a:lnTo>
                    <a:pt x="95841" y="113727"/>
                  </a:lnTo>
                  <a:lnTo>
                    <a:pt x="103606" y="115785"/>
                  </a:lnTo>
                  <a:lnTo>
                    <a:pt x="115724" y="108755"/>
                  </a:lnTo>
                  <a:lnTo>
                    <a:pt x="117786" y="100996"/>
                  </a:lnTo>
                  <a:lnTo>
                    <a:pt x="73703" y="25132"/>
                  </a:lnTo>
                  <a:close/>
                </a:path>
                <a:path w="118109" h="537844">
                  <a:moveTo>
                    <a:pt x="59099" y="0"/>
                  </a:moveTo>
                  <a:lnTo>
                    <a:pt x="0" y="100755"/>
                  </a:lnTo>
                  <a:lnTo>
                    <a:pt x="2028" y="108522"/>
                  </a:lnTo>
                  <a:lnTo>
                    <a:pt x="14118" y="115601"/>
                  </a:lnTo>
                  <a:lnTo>
                    <a:pt x="21890" y="113576"/>
                  </a:lnTo>
                  <a:lnTo>
                    <a:pt x="46234" y="72072"/>
                  </a:lnTo>
                  <a:lnTo>
                    <a:pt x="46361" y="25132"/>
                  </a:lnTo>
                  <a:lnTo>
                    <a:pt x="73703" y="25132"/>
                  </a:lnTo>
                  <a:lnTo>
                    <a:pt x="59099" y="0"/>
                  </a:lnTo>
                  <a:close/>
                </a:path>
                <a:path w="118109" h="537844">
                  <a:moveTo>
                    <a:pt x="71721" y="31522"/>
                  </a:moveTo>
                  <a:lnTo>
                    <a:pt x="48077" y="31522"/>
                  </a:lnTo>
                  <a:lnTo>
                    <a:pt x="69993" y="31567"/>
                  </a:lnTo>
                  <a:lnTo>
                    <a:pt x="58996" y="50315"/>
                  </a:lnTo>
                  <a:lnTo>
                    <a:pt x="71638" y="72072"/>
                  </a:lnTo>
                  <a:lnTo>
                    <a:pt x="71721" y="31522"/>
                  </a:lnTo>
                  <a:close/>
                </a:path>
                <a:path w="118109" h="537844">
                  <a:moveTo>
                    <a:pt x="46361" y="25132"/>
                  </a:moveTo>
                  <a:lnTo>
                    <a:pt x="46265" y="72021"/>
                  </a:lnTo>
                  <a:lnTo>
                    <a:pt x="58996" y="50315"/>
                  </a:lnTo>
                  <a:lnTo>
                    <a:pt x="48077" y="31522"/>
                  </a:lnTo>
                  <a:lnTo>
                    <a:pt x="71721" y="31522"/>
                  </a:lnTo>
                  <a:lnTo>
                    <a:pt x="71734" y="25184"/>
                  </a:lnTo>
                  <a:lnTo>
                    <a:pt x="46361" y="25132"/>
                  </a:lnTo>
                  <a:close/>
                </a:path>
                <a:path w="118109" h="537844">
                  <a:moveTo>
                    <a:pt x="48077" y="31522"/>
                  </a:moveTo>
                  <a:lnTo>
                    <a:pt x="58996" y="50315"/>
                  </a:lnTo>
                  <a:lnTo>
                    <a:pt x="69993" y="31567"/>
                  </a:lnTo>
                  <a:lnTo>
                    <a:pt x="48077" y="315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4" name="object 1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61832" y="2404871"/>
              <a:ext cx="947927" cy="307848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8603518" y="2479158"/>
              <a:ext cx="753745" cy="118110"/>
            </a:xfrm>
            <a:custGeom>
              <a:avLst/>
              <a:gdLst/>
              <a:ahLst/>
              <a:cxnLst/>
              <a:rect l="l" t="t" r="r" b="b"/>
              <a:pathLst>
                <a:path w="753745" h="118110">
                  <a:moveTo>
                    <a:pt x="731521" y="46155"/>
                  </a:moveTo>
                  <a:lnTo>
                    <a:pt x="728090" y="46155"/>
                  </a:lnTo>
                  <a:lnTo>
                    <a:pt x="728094" y="71508"/>
                  </a:lnTo>
                  <a:lnTo>
                    <a:pt x="681166" y="71517"/>
                  </a:lnTo>
                  <a:lnTo>
                    <a:pt x="639533" y="95793"/>
                  </a:lnTo>
                  <a:lnTo>
                    <a:pt x="637490" y="103555"/>
                  </a:lnTo>
                  <a:lnTo>
                    <a:pt x="644554" y="115648"/>
                  </a:lnTo>
                  <a:lnTo>
                    <a:pt x="652322" y="117689"/>
                  </a:lnTo>
                  <a:lnTo>
                    <a:pt x="753271" y="58827"/>
                  </a:lnTo>
                  <a:lnTo>
                    <a:pt x="731521" y="46155"/>
                  </a:lnTo>
                  <a:close/>
                </a:path>
                <a:path w="753745" h="118110">
                  <a:moveTo>
                    <a:pt x="681162" y="46164"/>
                  </a:moveTo>
                  <a:lnTo>
                    <a:pt x="0" y="46286"/>
                  </a:lnTo>
                  <a:lnTo>
                    <a:pt x="5" y="71639"/>
                  </a:lnTo>
                  <a:lnTo>
                    <a:pt x="681181" y="71508"/>
                  </a:lnTo>
                  <a:lnTo>
                    <a:pt x="702913" y="58836"/>
                  </a:lnTo>
                  <a:lnTo>
                    <a:pt x="681162" y="46164"/>
                  </a:lnTo>
                  <a:close/>
                </a:path>
                <a:path w="753745" h="118110">
                  <a:moveTo>
                    <a:pt x="702913" y="58836"/>
                  </a:moveTo>
                  <a:lnTo>
                    <a:pt x="681166" y="71517"/>
                  </a:lnTo>
                  <a:lnTo>
                    <a:pt x="728094" y="71508"/>
                  </a:lnTo>
                  <a:lnTo>
                    <a:pt x="728094" y="69782"/>
                  </a:lnTo>
                  <a:lnTo>
                    <a:pt x="721701" y="69782"/>
                  </a:lnTo>
                  <a:lnTo>
                    <a:pt x="702913" y="58836"/>
                  </a:lnTo>
                  <a:close/>
                </a:path>
                <a:path w="753745" h="118110">
                  <a:moveTo>
                    <a:pt x="721697" y="47882"/>
                  </a:moveTo>
                  <a:lnTo>
                    <a:pt x="702913" y="58836"/>
                  </a:lnTo>
                  <a:lnTo>
                    <a:pt x="721701" y="69782"/>
                  </a:lnTo>
                  <a:lnTo>
                    <a:pt x="721697" y="47882"/>
                  </a:lnTo>
                  <a:close/>
                </a:path>
                <a:path w="753745" h="118110">
                  <a:moveTo>
                    <a:pt x="728091" y="47882"/>
                  </a:moveTo>
                  <a:lnTo>
                    <a:pt x="721697" y="47882"/>
                  </a:lnTo>
                  <a:lnTo>
                    <a:pt x="721701" y="69782"/>
                  </a:lnTo>
                  <a:lnTo>
                    <a:pt x="728094" y="69782"/>
                  </a:lnTo>
                  <a:lnTo>
                    <a:pt x="728091" y="47882"/>
                  </a:lnTo>
                  <a:close/>
                </a:path>
                <a:path w="753745" h="118110">
                  <a:moveTo>
                    <a:pt x="728090" y="46155"/>
                  </a:moveTo>
                  <a:lnTo>
                    <a:pt x="681162" y="46164"/>
                  </a:lnTo>
                  <a:lnTo>
                    <a:pt x="702913" y="58836"/>
                  </a:lnTo>
                  <a:lnTo>
                    <a:pt x="721697" y="47882"/>
                  </a:lnTo>
                  <a:lnTo>
                    <a:pt x="728091" y="47882"/>
                  </a:lnTo>
                  <a:lnTo>
                    <a:pt x="728090" y="46155"/>
                  </a:lnTo>
                  <a:close/>
                </a:path>
                <a:path w="753745" h="118110">
                  <a:moveTo>
                    <a:pt x="652301" y="0"/>
                  </a:moveTo>
                  <a:lnTo>
                    <a:pt x="644532" y="2044"/>
                  </a:lnTo>
                  <a:lnTo>
                    <a:pt x="637473" y="14140"/>
                  </a:lnTo>
                  <a:lnTo>
                    <a:pt x="639519" y="21902"/>
                  </a:lnTo>
                  <a:lnTo>
                    <a:pt x="681162" y="46164"/>
                  </a:lnTo>
                  <a:lnTo>
                    <a:pt x="731521" y="46155"/>
                  </a:lnTo>
                  <a:lnTo>
                    <a:pt x="6523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8635842" y="2365015"/>
              <a:ext cx="107950" cy="164465"/>
            </a:xfrm>
            <a:custGeom>
              <a:avLst/>
              <a:gdLst/>
              <a:ahLst/>
              <a:cxnLst/>
              <a:rect l="l" t="t" r="r" b="b"/>
              <a:pathLst>
                <a:path w="107950" h="164464">
                  <a:moveTo>
                    <a:pt x="107901" y="0"/>
                  </a:moveTo>
                  <a:lnTo>
                    <a:pt x="0" y="0"/>
                  </a:lnTo>
                  <a:lnTo>
                    <a:pt x="0" y="164297"/>
                  </a:lnTo>
                  <a:lnTo>
                    <a:pt x="107901" y="164297"/>
                  </a:lnTo>
                  <a:lnTo>
                    <a:pt x="107901" y="0"/>
                  </a:lnTo>
                  <a:close/>
                </a:path>
              </a:pathLst>
            </a:custGeom>
            <a:solidFill>
              <a:srgbClr val="660066">
                <a:alpha val="470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9061924" y="2365015"/>
              <a:ext cx="107950" cy="173990"/>
            </a:xfrm>
            <a:custGeom>
              <a:avLst/>
              <a:gdLst/>
              <a:ahLst/>
              <a:cxnLst/>
              <a:rect l="l" t="t" r="r" b="b"/>
              <a:pathLst>
                <a:path w="107950" h="173989">
                  <a:moveTo>
                    <a:pt x="107900" y="0"/>
                  </a:moveTo>
                  <a:lnTo>
                    <a:pt x="0" y="0"/>
                  </a:lnTo>
                  <a:lnTo>
                    <a:pt x="0" y="173871"/>
                  </a:lnTo>
                  <a:lnTo>
                    <a:pt x="107900" y="173871"/>
                  </a:lnTo>
                  <a:lnTo>
                    <a:pt x="107900" y="0"/>
                  </a:lnTo>
                  <a:close/>
                </a:path>
              </a:pathLst>
            </a:custGeom>
            <a:solidFill>
              <a:srgbClr val="008000">
                <a:alpha val="470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8773950" y="2245888"/>
              <a:ext cx="107950" cy="280670"/>
            </a:xfrm>
            <a:custGeom>
              <a:avLst/>
              <a:gdLst/>
              <a:ahLst/>
              <a:cxnLst/>
              <a:rect l="l" t="t" r="r" b="b"/>
              <a:pathLst>
                <a:path w="107950" h="280669">
                  <a:moveTo>
                    <a:pt x="107901" y="0"/>
                  </a:moveTo>
                  <a:lnTo>
                    <a:pt x="0" y="0"/>
                  </a:lnTo>
                  <a:lnTo>
                    <a:pt x="0" y="280488"/>
                  </a:lnTo>
                  <a:lnTo>
                    <a:pt x="107901" y="280488"/>
                  </a:lnTo>
                  <a:lnTo>
                    <a:pt x="107901" y="0"/>
                  </a:lnTo>
                  <a:close/>
                </a:path>
              </a:pathLst>
            </a:custGeom>
            <a:solidFill>
              <a:srgbClr val="3891A7">
                <a:alpha val="470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8912056" y="2186519"/>
              <a:ext cx="107950" cy="357505"/>
            </a:xfrm>
            <a:custGeom>
              <a:avLst/>
              <a:gdLst/>
              <a:ahLst/>
              <a:cxnLst/>
              <a:rect l="l" t="t" r="r" b="b"/>
              <a:pathLst>
                <a:path w="107950" h="357505">
                  <a:moveTo>
                    <a:pt x="107900" y="0"/>
                  </a:moveTo>
                  <a:lnTo>
                    <a:pt x="0" y="0"/>
                  </a:lnTo>
                  <a:lnTo>
                    <a:pt x="0" y="357136"/>
                  </a:lnTo>
                  <a:lnTo>
                    <a:pt x="107900" y="357136"/>
                  </a:lnTo>
                  <a:lnTo>
                    <a:pt x="107900" y="0"/>
                  </a:lnTo>
                  <a:close/>
                </a:path>
              </a:pathLst>
            </a:custGeom>
            <a:solidFill>
              <a:srgbClr val="FF0000">
                <a:alpha val="470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0" name="object 160"/>
          <p:cNvSpPr txBox="1"/>
          <p:nvPr/>
        </p:nvSpPr>
        <p:spPr>
          <a:xfrm>
            <a:off x="8656214" y="1918861"/>
            <a:ext cx="67373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Candara"/>
                <a:cs typeface="Candara"/>
              </a:rPr>
              <a:t>p(w</a:t>
            </a:r>
            <a:r>
              <a:rPr sz="1350" spc="-15" baseline="-12345" dirty="0">
                <a:latin typeface="Candara"/>
                <a:cs typeface="Candara"/>
              </a:rPr>
              <a:t>1</a:t>
            </a:r>
            <a:r>
              <a:rPr sz="1400" spc="-10" dirty="0">
                <a:latin typeface="Candara"/>
                <a:cs typeface="Candara"/>
              </a:rPr>
              <a:t>|h</a:t>
            </a:r>
            <a:r>
              <a:rPr sz="1350" spc="-15" baseline="-12345" dirty="0">
                <a:latin typeface="Candara"/>
                <a:cs typeface="Candara"/>
              </a:rPr>
              <a:t>2</a:t>
            </a:r>
            <a:r>
              <a:rPr sz="1400" spc="-10" dirty="0">
                <a:latin typeface="Candara"/>
                <a:cs typeface="Candara"/>
              </a:rPr>
              <a:t>)</a:t>
            </a:r>
            <a:endParaRPr sz="1400">
              <a:latin typeface="Candara"/>
              <a:cs typeface="Candara"/>
            </a:endParaRPr>
          </a:p>
        </p:txBody>
      </p:sp>
      <p:grpSp>
        <p:nvGrpSpPr>
          <p:cNvPr id="161" name="object 161"/>
          <p:cNvGrpSpPr/>
          <p:nvPr/>
        </p:nvGrpSpPr>
        <p:grpSpPr>
          <a:xfrm>
            <a:off x="8642327" y="1106976"/>
            <a:ext cx="688975" cy="763905"/>
            <a:chOff x="8642327" y="1106976"/>
            <a:chExt cx="688975" cy="763905"/>
          </a:xfrm>
        </p:grpSpPr>
        <p:sp>
          <p:nvSpPr>
            <p:cNvPr id="162" name="object 162"/>
            <p:cNvSpPr/>
            <p:nvPr/>
          </p:nvSpPr>
          <p:spPr>
            <a:xfrm>
              <a:off x="8884790" y="1458313"/>
              <a:ext cx="103505" cy="412115"/>
            </a:xfrm>
            <a:custGeom>
              <a:avLst/>
              <a:gdLst/>
              <a:ahLst/>
              <a:cxnLst/>
              <a:rect l="l" t="t" r="r" b="b"/>
              <a:pathLst>
                <a:path w="103504" h="412114">
                  <a:moveTo>
                    <a:pt x="51648" y="25157"/>
                  </a:moveTo>
                  <a:lnTo>
                    <a:pt x="45305" y="36022"/>
                  </a:lnTo>
                  <a:lnTo>
                    <a:pt x="45304" y="412013"/>
                  </a:lnTo>
                  <a:lnTo>
                    <a:pt x="57990" y="412013"/>
                  </a:lnTo>
                  <a:lnTo>
                    <a:pt x="57991" y="36022"/>
                  </a:lnTo>
                  <a:lnTo>
                    <a:pt x="51648" y="25157"/>
                  </a:lnTo>
                  <a:close/>
                </a:path>
                <a:path w="103504" h="412114">
                  <a:moveTo>
                    <a:pt x="51648" y="0"/>
                  </a:moveTo>
                  <a:lnTo>
                    <a:pt x="0" y="88468"/>
                  </a:lnTo>
                  <a:lnTo>
                    <a:pt x="1022" y="92349"/>
                  </a:lnTo>
                  <a:lnTo>
                    <a:pt x="7075" y="95876"/>
                  </a:lnTo>
                  <a:lnTo>
                    <a:pt x="10958" y="94855"/>
                  </a:lnTo>
                  <a:lnTo>
                    <a:pt x="45304" y="36024"/>
                  </a:lnTo>
                  <a:lnTo>
                    <a:pt x="45304" y="12578"/>
                  </a:lnTo>
                  <a:lnTo>
                    <a:pt x="58991" y="12578"/>
                  </a:lnTo>
                  <a:lnTo>
                    <a:pt x="51648" y="0"/>
                  </a:lnTo>
                  <a:close/>
                </a:path>
                <a:path w="103504" h="412114">
                  <a:moveTo>
                    <a:pt x="58991" y="12578"/>
                  </a:moveTo>
                  <a:lnTo>
                    <a:pt x="57992" y="12578"/>
                  </a:lnTo>
                  <a:lnTo>
                    <a:pt x="57992" y="36024"/>
                  </a:lnTo>
                  <a:lnTo>
                    <a:pt x="92337" y="94855"/>
                  </a:lnTo>
                  <a:lnTo>
                    <a:pt x="96222" y="95876"/>
                  </a:lnTo>
                  <a:lnTo>
                    <a:pt x="102274" y="92349"/>
                  </a:lnTo>
                  <a:lnTo>
                    <a:pt x="103296" y="88468"/>
                  </a:lnTo>
                  <a:lnTo>
                    <a:pt x="58991" y="12578"/>
                  </a:lnTo>
                  <a:close/>
                </a:path>
                <a:path w="103504" h="412114">
                  <a:moveTo>
                    <a:pt x="57992" y="12578"/>
                  </a:moveTo>
                  <a:lnTo>
                    <a:pt x="45304" y="12578"/>
                  </a:lnTo>
                  <a:lnTo>
                    <a:pt x="45304" y="36024"/>
                  </a:lnTo>
                  <a:lnTo>
                    <a:pt x="51648" y="25157"/>
                  </a:lnTo>
                  <a:lnTo>
                    <a:pt x="46169" y="15772"/>
                  </a:lnTo>
                  <a:lnTo>
                    <a:pt x="57991" y="15772"/>
                  </a:lnTo>
                  <a:lnTo>
                    <a:pt x="57992" y="12578"/>
                  </a:lnTo>
                  <a:close/>
                </a:path>
                <a:path w="103504" h="412114">
                  <a:moveTo>
                    <a:pt x="57991" y="15772"/>
                  </a:moveTo>
                  <a:lnTo>
                    <a:pt x="57128" y="15772"/>
                  </a:lnTo>
                  <a:lnTo>
                    <a:pt x="51648" y="25157"/>
                  </a:lnTo>
                  <a:lnTo>
                    <a:pt x="57991" y="36022"/>
                  </a:lnTo>
                  <a:lnTo>
                    <a:pt x="57991" y="15772"/>
                  </a:lnTo>
                  <a:close/>
                </a:path>
                <a:path w="103504" h="412114">
                  <a:moveTo>
                    <a:pt x="57128" y="15772"/>
                  </a:moveTo>
                  <a:lnTo>
                    <a:pt x="46169" y="15772"/>
                  </a:lnTo>
                  <a:lnTo>
                    <a:pt x="51648" y="25157"/>
                  </a:lnTo>
                  <a:lnTo>
                    <a:pt x="57128" y="157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8647090" y="1111738"/>
              <a:ext cx="679450" cy="243840"/>
            </a:xfrm>
            <a:custGeom>
              <a:avLst/>
              <a:gdLst/>
              <a:ahLst/>
              <a:cxnLst/>
              <a:rect l="l" t="t" r="r" b="b"/>
              <a:pathLst>
                <a:path w="679450" h="243840">
                  <a:moveTo>
                    <a:pt x="638594" y="0"/>
                  </a:moveTo>
                  <a:lnTo>
                    <a:pt x="40631" y="0"/>
                  </a:lnTo>
                  <a:lnTo>
                    <a:pt x="24815" y="3190"/>
                  </a:lnTo>
                  <a:lnTo>
                    <a:pt x="11900" y="11890"/>
                  </a:lnTo>
                  <a:lnTo>
                    <a:pt x="3193" y="24794"/>
                  </a:lnTo>
                  <a:lnTo>
                    <a:pt x="0" y="40596"/>
                  </a:lnTo>
                  <a:lnTo>
                    <a:pt x="0" y="202982"/>
                  </a:lnTo>
                  <a:lnTo>
                    <a:pt x="3193" y="218784"/>
                  </a:lnTo>
                  <a:lnTo>
                    <a:pt x="11900" y="231688"/>
                  </a:lnTo>
                  <a:lnTo>
                    <a:pt x="24815" y="240389"/>
                  </a:lnTo>
                  <a:lnTo>
                    <a:pt x="40631" y="243579"/>
                  </a:lnTo>
                  <a:lnTo>
                    <a:pt x="638594" y="243579"/>
                  </a:lnTo>
                  <a:lnTo>
                    <a:pt x="654409" y="240389"/>
                  </a:lnTo>
                  <a:lnTo>
                    <a:pt x="667323" y="231688"/>
                  </a:lnTo>
                  <a:lnTo>
                    <a:pt x="676031" y="218784"/>
                  </a:lnTo>
                  <a:lnTo>
                    <a:pt x="679223" y="202982"/>
                  </a:lnTo>
                  <a:lnTo>
                    <a:pt x="679223" y="40596"/>
                  </a:lnTo>
                  <a:lnTo>
                    <a:pt x="676031" y="24794"/>
                  </a:lnTo>
                  <a:lnTo>
                    <a:pt x="667323" y="11890"/>
                  </a:lnTo>
                  <a:lnTo>
                    <a:pt x="654409" y="3190"/>
                  </a:lnTo>
                  <a:lnTo>
                    <a:pt x="638594" y="0"/>
                  </a:lnTo>
                  <a:close/>
                </a:path>
              </a:pathLst>
            </a:custGeom>
            <a:solidFill>
              <a:srgbClr val="D7DD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8647090" y="1111738"/>
              <a:ext cx="679450" cy="243840"/>
            </a:xfrm>
            <a:custGeom>
              <a:avLst/>
              <a:gdLst/>
              <a:ahLst/>
              <a:cxnLst/>
              <a:rect l="l" t="t" r="r" b="b"/>
              <a:pathLst>
                <a:path w="679450" h="243840">
                  <a:moveTo>
                    <a:pt x="0" y="40597"/>
                  </a:moveTo>
                  <a:lnTo>
                    <a:pt x="3192" y="24794"/>
                  </a:lnTo>
                  <a:lnTo>
                    <a:pt x="11900" y="11890"/>
                  </a:lnTo>
                  <a:lnTo>
                    <a:pt x="24815" y="3190"/>
                  </a:lnTo>
                  <a:lnTo>
                    <a:pt x="40630" y="0"/>
                  </a:lnTo>
                  <a:lnTo>
                    <a:pt x="638593" y="0"/>
                  </a:lnTo>
                  <a:lnTo>
                    <a:pt x="654408" y="3190"/>
                  </a:lnTo>
                  <a:lnTo>
                    <a:pt x="667323" y="11890"/>
                  </a:lnTo>
                  <a:lnTo>
                    <a:pt x="676030" y="24794"/>
                  </a:lnTo>
                  <a:lnTo>
                    <a:pt x="679223" y="40597"/>
                  </a:lnTo>
                  <a:lnTo>
                    <a:pt x="679223" y="202982"/>
                  </a:lnTo>
                  <a:lnTo>
                    <a:pt x="676030" y="218785"/>
                  </a:lnTo>
                  <a:lnTo>
                    <a:pt x="667323" y="231689"/>
                  </a:lnTo>
                  <a:lnTo>
                    <a:pt x="654408" y="240389"/>
                  </a:lnTo>
                  <a:lnTo>
                    <a:pt x="638593" y="243580"/>
                  </a:lnTo>
                  <a:lnTo>
                    <a:pt x="40630" y="243580"/>
                  </a:lnTo>
                  <a:lnTo>
                    <a:pt x="24815" y="240389"/>
                  </a:lnTo>
                  <a:lnTo>
                    <a:pt x="11900" y="231689"/>
                  </a:lnTo>
                  <a:lnTo>
                    <a:pt x="3192" y="218785"/>
                  </a:lnTo>
                  <a:lnTo>
                    <a:pt x="0" y="202982"/>
                  </a:lnTo>
                  <a:lnTo>
                    <a:pt x="0" y="40597"/>
                  </a:lnTo>
                  <a:close/>
                </a:path>
              </a:pathLst>
            </a:custGeom>
            <a:ln w="9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5" name="object 165"/>
          <p:cNvSpPr txBox="1"/>
          <p:nvPr/>
        </p:nvSpPr>
        <p:spPr>
          <a:xfrm>
            <a:off x="8751957" y="1098949"/>
            <a:ext cx="46926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Cambria Math"/>
                <a:cs typeface="Cambria Math"/>
              </a:rPr>
              <a:t>ℓ</a:t>
            </a:r>
            <a:r>
              <a:rPr sz="1350" spc="-15" baseline="-12345" dirty="0">
                <a:latin typeface="Candara"/>
                <a:cs typeface="Candara"/>
              </a:rPr>
              <a:t>1</a:t>
            </a:r>
            <a:r>
              <a:rPr sz="1400" spc="-10" dirty="0">
                <a:latin typeface="Candara"/>
                <a:cs typeface="Candara"/>
              </a:rPr>
              <a:t>(·,·)</a:t>
            </a:r>
            <a:endParaRPr sz="1400">
              <a:latin typeface="Candara"/>
              <a:cs typeface="Candara"/>
            </a:endParaRPr>
          </a:p>
        </p:txBody>
      </p:sp>
      <p:grpSp>
        <p:nvGrpSpPr>
          <p:cNvPr id="166" name="object 166"/>
          <p:cNvGrpSpPr/>
          <p:nvPr/>
        </p:nvGrpSpPr>
        <p:grpSpPr>
          <a:xfrm>
            <a:off x="9552737" y="674146"/>
            <a:ext cx="492759" cy="271780"/>
            <a:chOff x="9552737" y="674146"/>
            <a:chExt cx="492759" cy="271780"/>
          </a:xfrm>
        </p:grpSpPr>
        <p:sp>
          <p:nvSpPr>
            <p:cNvPr id="167" name="object 167"/>
            <p:cNvSpPr/>
            <p:nvPr/>
          </p:nvSpPr>
          <p:spPr>
            <a:xfrm>
              <a:off x="9557500" y="678908"/>
              <a:ext cx="483234" cy="262255"/>
            </a:xfrm>
            <a:custGeom>
              <a:avLst/>
              <a:gdLst/>
              <a:ahLst/>
              <a:cxnLst/>
              <a:rect l="l" t="t" r="r" b="b"/>
              <a:pathLst>
                <a:path w="483234" h="262255">
                  <a:moveTo>
                    <a:pt x="439392" y="0"/>
                  </a:moveTo>
                  <a:lnTo>
                    <a:pt x="43696" y="0"/>
                  </a:lnTo>
                  <a:lnTo>
                    <a:pt x="26687" y="3431"/>
                  </a:lnTo>
                  <a:lnTo>
                    <a:pt x="12798" y="12788"/>
                  </a:lnTo>
                  <a:lnTo>
                    <a:pt x="3433" y="26666"/>
                  </a:lnTo>
                  <a:lnTo>
                    <a:pt x="0" y="43661"/>
                  </a:lnTo>
                  <a:lnTo>
                    <a:pt x="0" y="218297"/>
                  </a:lnTo>
                  <a:lnTo>
                    <a:pt x="3433" y="235292"/>
                  </a:lnTo>
                  <a:lnTo>
                    <a:pt x="12798" y="249170"/>
                  </a:lnTo>
                  <a:lnTo>
                    <a:pt x="26687" y="258526"/>
                  </a:lnTo>
                  <a:lnTo>
                    <a:pt x="43696" y="261957"/>
                  </a:lnTo>
                  <a:lnTo>
                    <a:pt x="439392" y="261957"/>
                  </a:lnTo>
                  <a:lnTo>
                    <a:pt x="456400" y="258526"/>
                  </a:lnTo>
                  <a:lnTo>
                    <a:pt x="470289" y="249170"/>
                  </a:lnTo>
                  <a:lnTo>
                    <a:pt x="479653" y="235292"/>
                  </a:lnTo>
                  <a:lnTo>
                    <a:pt x="483087" y="218297"/>
                  </a:lnTo>
                  <a:lnTo>
                    <a:pt x="483087" y="43661"/>
                  </a:lnTo>
                  <a:lnTo>
                    <a:pt x="479653" y="26666"/>
                  </a:lnTo>
                  <a:lnTo>
                    <a:pt x="470289" y="12788"/>
                  </a:lnTo>
                  <a:lnTo>
                    <a:pt x="456400" y="3431"/>
                  </a:lnTo>
                  <a:lnTo>
                    <a:pt x="439392" y="0"/>
                  </a:lnTo>
                  <a:close/>
                </a:path>
              </a:pathLst>
            </a:custGeom>
            <a:solidFill>
              <a:srgbClr val="D7DD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9557500" y="678908"/>
              <a:ext cx="483234" cy="262255"/>
            </a:xfrm>
            <a:custGeom>
              <a:avLst/>
              <a:gdLst/>
              <a:ahLst/>
              <a:cxnLst/>
              <a:rect l="l" t="t" r="r" b="b"/>
              <a:pathLst>
                <a:path w="483234" h="262255">
                  <a:moveTo>
                    <a:pt x="0" y="43660"/>
                  </a:moveTo>
                  <a:lnTo>
                    <a:pt x="3433" y="26665"/>
                  </a:lnTo>
                  <a:lnTo>
                    <a:pt x="12798" y="12787"/>
                  </a:lnTo>
                  <a:lnTo>
                    <a:pt x="26687" y="3431"/>
                  </a:lnTo>
                  <a:lnTo>
                    <a:pt x="43696" y="0"/>
                  </a:lnTo>
                  <a:lnTo>
                    <a:pt x="439391" y="0"/>
                  </a:lnTo>
                  <a:lnTo>
                    <a:pt x="456399" y="3431"/>
                  </a:lnTo>
                  <a:lnTo>
                    <a:pt x="470288" y="12787"/>
                  </a:lnTo>
                  <a:lnTo>
                    <a:pt x="479653" y="26665"/>
                  </a:lnTo>
                  <a:lnTo>
                    <a:pt x="483087" y="43660"/>
                  </a:lnTo>
                  <a:lnTo>
                    <a:pt x="483087" y="218297"/>
                  </a:lnTo>
                  <a:lnTo>
                    <a:pt x="479653" y="235292"/>
                  </a:lnTo>
                  <a:lnTo>
                    <a:pt x="470288" y="249170"/>
                  </a:lnTo>
                  <a:lnTo>
                    <a:pt x="456399" y="258526"/>
                  </a:lnTo>
                  <a:lnTo>
                    <a:pt x="439391" y="261957"/>
                  </a:lnTo>
                  <a:lnTo>
                    <a:pt x="43696" y="261957"/>
                  </a:lnTo>
                  <a:lnTo>
                    <a:pt x="26687" y="258526"/>
                  </a:lnTo>
                  <a:lnTo>
                    <a:pt x="12798" y="249170"/>
                  </a:lnTo>
                  <a:lnTo>
                    <a:pt x="3433" y="235292"/>
                  </a:lnTo>
                  <a:lnTo>
                    <a:pt x="0" y="218297"/>
                  </a:lnTo>
                  <a:lnTo>
                    <a:pt x="0" y="43660"/>
                  </a:lnTo>
                  <a:close/>
                </a:path>
              </a:pathLst>
            </a:custGeom>
            <a:ln w="95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9" name="object 169"/>
          <p:cNvSpPr txBox="1"/>
          <p:nvPr/>
        </p:nvSpPr>
        <p:spPr>
          <a:xfrm>
            <a:off x="9741941" y="678325"/>
            <a:ext cx="1155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Candara"/>
                <a:cs typeface="Candara"/>
              </a:rPr>
              <a:t>+</a:t>
            </a:r>
            <a:endParaRPr sz="1400">
              <a:latin typeface="Candara"/>
              <a:cs typeface="Candara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7863856" y="660037"/>
            <a:ext cx="16173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Candara"/>
                <a:cs typeface="Candara"/>
              </a:rPr>
              <a:t>J =</a:t>
            </a:r>
            <a:r>
              <a:rPr sz="1400" spc="-15" dirty="0">
                <a:latin typeface="Candara"/>
                <a:cs typeface="Candara"/>
              </a:rPr>
              <a:t> </a:t>
            </a:r>
            <a:r>
              <a:rPr sz="1400" dirty="0">
                <a:latin typeface="Candara"/>
                <a:cs typeface="Candara"/>
              </a:rPr>
              <a:t>log</a:t>
            </a:r>
            <a:r>
              <a:rPr sz="1400" spc="-10" dirty="0">
                <a:latin typeface="Candara"/>
                <a:cs typeface="Candara"/>
              </a:rPr>
              <a:t> </a:t>
            </a:r>
            <a:r>
              <a:rPr sz="1400" dirty="0">
                <a:latin typeface="Candara"/>
                <a:cs typeface="Candara"/>
              </a:rPr>
              <a:t>p(w</a:t>
            </a:r>
            <a:r>
              <a:rPr sz="1350" baseline="-12345" dirty="0">
                <a:latin typeface="Candara"/>
                <a:cs typeface="Candara"/>
              </a:rPr>
              <a:t>1</a:t>
            </a:r>
            <a:r>
              <a:rPr sz="1350" spc="165" baseline="-12345" dirty="0">
                <a:latin typeface="Candara"/>
                <a:cs typeface="Candara"/>
              </a:rPr>
              <a:t> </a:t>
            </a:r>
            <a:r>
              <a:rPr sz="1400" dirty="0">
                <a:latin typeface="Candara"/>
                <a:cs typeface="Candara"/>
              </a:rPr>
              <a:t>|</a:t>
            </a:r>
            <a:r>
              <a:rPr sz="1400" spc="-10" dirty="0">
                <a:latin typeface="Candara"/>
                <a:cs typeface="Candara"/>
              </a:rPr>
              <a:t> </a:t>
            </a:r>
            <a:r>
              <a:rPr sz="1400" dirty="0">
                <a:latin typeface="Candara"/>
                <a:cs typeface="Candara"/>
              </a:rPr>
              <a:t>w</a:t>
            </a:r>
            <a:r>
              <a:rPr sz="1350" baseline="-12345" dirty="0">
                <a:latin typeface="Candara"/>
                <a:cs typeface="Candara"/>
              </a:rPr>
              <a:t>2</a:t>
            </a:r>
            <a:r>
              <a:rPr sz="1350" spc="165" baseline="-12345" dirty="0">
                <a:latin typeface="Candara"/>
                <a:cs typeface="Candara"/>
              </a:rPr>
              <a:t> </a:t>
            </a:r>
            <a:r>
              <a:rPr sz="1400" dirty="0">
                <a:latin typeface="Candara"/>
                <a:cs typeface="Candara"/>
              </a:rPr>
              <a:t>,</a:t>
            </a:r>
            <a:r>
              <a:rPr sz="1400" spc="-5" dirty="0">
                <a:latin typeface="Candara"/>
                <a:cs typeface="Candara"/>
              </a:rPr>
              <a:t> </a:t>
            </a:r>
            <a:r>
              <a:rPr sz="1400" spc="-25" dirty="0">
                <a:latin typeface="Candara"/>
                <a:cs typeface="Candara"/>
              </a:rPr>
              <a:t>w</a:t>
            </a:r>
            <a:r>
              <a:rPr sz="1350" spc="-37" baseline="-12345" dirty="0">
                <a:latin typeface="Candara"/>
                <a:cs typeface="Candara"/>
              </a:rPr>
              <a:t>3</a:t>
            </a:r>
            <a:r>
              <a:rPr sz="1400" spc="-25" dirty="0">
                <a:latin typeface="Candara"/>
                <a:cs typeface="Candara"/>
              </a:rPr>
              <a:t>)</a:t>
            </a:r>
            <a:endParaRPr sz="1400">
              <a:latin typeface="Candara"/>
              <a:cs typeface="Candara"/>
            </a:endParaRPr>
          </a:p>
        </p:txBody>
      </p:sp>
      <p:grpSp>
        <p:nvGrpSpPr>
          <p:cNvPr id="171" name="object 171"/>
          <p:cNvGrpSpPr/>
          <p:nvPr/>
        </p:nvGrpSpPr>
        <p:grpSpPr>
          <a:xfrm>
            <a:off x="9195282" y="1728725"/>
            <a:ext cx="688975" cy="253365"/>
            <a:chOff x="9195282" y="1728725"/>
            <a:chExt cx="688975" cy="253365"/>
          </a:xfrm>
        </p:grpSpPr>
        <p:sp>
          <p:nvSpPr>
            <p:cNvPr id="172" name="object 172"/>
            <p:cNvSpPr/>
            <p:nvPr/>
          </p:nvSpPr>
          <p:spPr>
            <a:xfrm>
              <a:off x="9200045" y="1733487"/>
              <a:ext cx="679450" cy="243840"/>
            </a:xfrm>
            <a:custGeom>
              <a:avLst/>
              <a:gdLst/>
              <a:ahLst/>
              <a:cxnLst/>
              <a:rect l="l" t="t" r="r" b="b"/>
              <a:pathLst>
                <a:path w="679450" h="243839">
                  <a:moveTo>
                    <a:pt x="638592" y="0"/>
                  </a:moveTo>
                  <a:lnTo>
                    <a:pt x="40629" y="0"/>
                  </a:lnTo>
                  <a:lnTo>
                    <a:pt x="24814" y="3190"/>
                  </a:lnTo>
                  <a:lnTo>
                    <a:pt x="11900" y="11890"/>
                  </a:lnTo>
                  <a:lnTo>
                    <a:pt x="3192" y="24794"/>
                  </a:lnTo>
                  <a:lnTo>
                    <a:pt x="0" y="40596"/>
                  </a:lnTo>
                  <a:lnTo>
                    <a:pt x="0" y="202982"/>
                  </a:lnTo>
                  <a:lnTo>
                    <a:pt x="3192" y="218785"/>
                  </a:lnTo>
                  <a:lnTo>
                    <a:pt x="11900" y="231689"/>
                  </a:lnTo>
                  <a:lnTo>
                    <a:pt x="24814" y="240389"/>
                  </a:lnTo>
                  <a:lnTo>
                    <a:pt x="40629" y="243579"/>
                  </a:lnTo>
                  <a:lnTo>
                    <a:pt x="638592" y="243579"/>
                  </a:lnTo>
                  <a:lnTo>
                    <a:pt x="654408" y="240389"/>
                  </a:lnTo>
                  <a:lnTo>
                    <a:pt x="667323" y="231689"/>
                  </a:lnTo>
                  <a:lnTo>
                    <a:pt x="676030" y="218785"/>
                  </a:lnTo>
                  <a:lnTo>
                    <a:pt x="679223" y="202982"/>
                  </a:lnTo>
                  <a:lnTo>
                    <a:pt x="679223" y="40596"/>
                  </a:lnTo>
                  <a:lnTo>
                    <a:pt x="676030" y="24794"/>
                  </a:lnTo>
                  <a:lnTo>
                    <a:pt x="667323" y="11890"/>
                  </a:lnTo>
                  <a:lnTo>
                    <a:pt x="654408" y="3190"/>
                  </a:lnTo>
                  <a:lnTo>
                    <a:pt x="638592" y="0"/>
                  </a:lnTo>
                  <a:close/>
                </a:path>
              </a:pathLst>
            </a:custGeom>
            <a:solidFill>
              <a:srgbClr val="D7DD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9200045" y="1733487"/>
              <a:ext cx="679450" cy="243840"/>
            </a:xfrm>
            <a:custGeom>
              <a:avLst/>
              <a:gdLst/>
              <a:ahLst/>
              <a:cxnLst/>
              <a:rect l="l" t="t" r="r" b="b"/>
              <a:pathLst>
                <a:path w="679450" h="243839">
                  <a:moveTo>
                    <a:pt x="0" y="40597"/>
                  </a:moveTo>
                  <a:lnTo>
                    <a:pt x="3192" y="24794"/>
                  </a:lnTo>
                  <a:lnTo>
                    <a:pt x="11900" y="11890"/>
                  </a:lnTo>
                  <a:lnTo>
                    <a:pt x="24815" y="3190"/>
                  </a:lnTo>
                  <a:lnTo>
                    <a:pt x="40630" y="0"/>
                  </a:lnTo>
                  <a:lnTo>
                    <a:pt x="638593" y="0"/>
                  </a:lnTo>
                  <a:lnTo>
                    <a:pt x="654408" y="3190"/>
                  </a:lnTo>
                  <a:lnTo>
                    <a:pt x="667323" y="11890"/>
                  </a:lnTo>
                  <a:lnTo>
                    <a:pt x="676030" y="24794"/>
                  </a:lnTo>
                  <a:lnTo>
                    <a:pt x="679223" y="40597"/>
                  </a:lnTo>
                  <a:lnTo>
                    <a:pt x="679223" y="202982"/>
                  </a:lnTo>
                  <a:lnTo>
                    <a:pt x="676030" y="218785"/>
                  </a:lnTo>
                  <a:lnTo>
                    <a:pt x="667323" y="231689"/>
                  </a:lnTo>
                  <a:lnTo>
                    <a:pt x="654408" y="240389"/>
                  </a:lnTo>
                  <a:lnTo>
                    <a:pt x="638593" y="243580"/>
                  </a:lnTo>
                  <a:lnTo>
                    <a:pt x="40630" y="243580"/>
                  </a:lnTo>
                  <a:lnTo>
                    <a:pt x="24815" y="240389"/>
                  </a:lnTo>
                  <a:lnTo>
                    <a:pt x="11900" y="231689"/>
                  </a:lnTo>
                  <a:lnTo>
                    <a:pt x="3192" y="218785"/>
                  </a:lnTo>
                  <a:lnTo>
                    <a:pt x="0" y="202982"/>
                  </a:lnTo>
                  <a:lnTo>
                    <a:pt x="0" y="40597"/>
                  </a:lnTo>
                  <a:close/>
                </a:path>
              </a:pathLst>
            </a:custGeom>
            <a:ln w="9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4" name="object 174"/>
          <p:cNvSpPr txBox="1"/>
          <p:nvPr/>
        </p:nvSpPr>
        <p:spPr>
          <a:xfrm>
            <a:off x="9388195" y="1720741"/>
            <a:ext cx="30416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Candara"/>
                <a:cs typeface="Candara"/>
              </a:rPr>
              <a:t>The</a:t>
            </a:r>
            <a:endParaRPr sz="1400">
              <a:latin typeface="Candara"/>
              <a:cs typeface="Candara"/>
            </a:endParaRPr>
          </a:p>
        </p:txBody>
      </p:sp>
      <p:sp>
        <p:nvSpPr>
          <p:cNvPr id="175" name="object 175"/>
          <p:cNvSpPr/>
          <p:nvPr/>
        </p:nvSpPr>
        <p:spPr>
          <a:xfrm>
            <a:off x="8985390" y="908595"/>
            <a:ext cx="814069" cy="830580"/>
          </a:xfrm>
          <a:custGeom>
            <a:avLst/>
            <a:gdLst/>
            <a:ahLst/>
            <a:cxnLst/>
            <a:rect l="l" t="t" r="r" b="b"/>
            <a:pathLst>
              <a:path w="814070" h="830580">
                <a:moveTo>
                  <a:pt x="557745" y="819607"/>
                </a:moveTo>
                <a:lnTo>
                  <a:pt x="61582" y="492988"/>
                </a:lnTo>
                <a:lnTo>
                  <a:pt x="129654" y="496697"/>
                </a:lnTo>
                <a:lnTo>
                  <a:pt x="132638" y="494017"/>
                </a:lnTo>
                <a:lnTo>
                  <a:pt x="133019" y="487032"/>
                </a:lnTo>
                <a:lnTo>
                  <a:pt x="130340" y="484047"/>
                </a:lnTo>
                <a:lnTo>
                  <a:pt x="57848" y="480098"/>
                </a:lnTo>
                <a:lnTo>
                  <a:pt x="27990" y="478459"/>
                </a:lnTo>
                <a:lnTo>
                  <a:pt x="73507" y="570230"/>
                </a:lnTo>
                <a:lnTo>
                  <a:pt x="77317" y="571512"/>
                </a:lnTo>
                <a:lnTo>
                  <a:pt x="83591" y="568401"/>
                </a:lnTo>
                <a:lnTo>
                  <a:pt x="84874" y="564603"/>
                </a:lnTo>
                <a:lnTo>
                  <a:pt x="54610" y="503580"/>
                </a:lnTo>
                <a:lnTo>
                  <a:pt x="550773" y="830186"/>
                </a:lnTo>
                <a:lnTo>
                  <a:pt x="557745" y="819607"/>
                </a:lnTo>
                <a:close/>
              </a:path>
              <a:path w="814070" h="830580">
                <a:moveTo>
                  <a:pt x="813676" y="32270"/>
                </a:moveTo>
                <a:lnTo>
                  <a:pt x="802792" y="28663"/>
                </a:lnTo>
                <a:lnTo>
                  <a:pt x="716394" y="0"/>
                </a:lnTo>
                <a:lnTo>
                  <a:pt x="712812" y="1790"/>
                </a:lnTo>
                <a:lnTo>
                  <a:pt x="710603" y="8432"/>
                </a:lnTo>
                <a:lnTo>
                  <a:pt x="712393" y="12026"/>
                </a:lnTo>
                <a:lnTo>
                  <a:pt x="777087" y="33489"/>
                </a:lnTo>
                <a:lnTo>
                  <a:pt x="0" y="196951"/>
                </a:lnTo>
                <a:lnTo>
                  <a:pt x="2616" y="209346"/>
                </a:lnTo>
                <a:lnTo>
                  <a:pt x="779703" y="45897"/>
                </a:lnTo>
                <a:lnTo>
                  <a:pt x="729157" y="91592"/>
                </a:lnTo>
                <a:lnTo>
                  <a:pt x="728967" y="95605"/>
                </a:lnTo>
                <a:lnTo>
                  <a:pt x="733666" y="100799"/>
                </a:lnTo>
                <a:lnTo>
                  <a:pt x="737679" y="100990"/>
                </a:lnTo>
                <a:lnTo>
                  <a:pt x="813676" y="32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7427773" y="4010301"/>
            <a:ext cx="3811904" cy="2773680"/>
          </a:xfrm>
          <a:custGeom>
            <a:avLst/>
            <a:gdLst/>
            <a:ahLst/>
            <a:cxnLst/>
            <a:rect l="l" t="t" r="r" b="b"/>
            <a:pathLst>
              <a:path w="3811904" h="2773679">
                <a:moveTo>
                  <a:pt x="3811391" y="0"/>
                </a:moveTo>
                <a:lnTo>
                  <a:pt x="0" y="0"/>
                </a:lnTo>
                <a:lnTo>
                  <a:pt x="0" y="2773129"/>
                </a:lnTo>
                <a:lnTo>
                  <a:pt x="3811391" y="2773129"/>
                </a:lnTo>
                <a:lnTo>
                  <a:pt x="381139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 txBox="1"/>
          <p:nvPr/>
        </p:nvSpPr>
        <p:spPr>
          <a:xfrm>
            <a:off x="5508710" y="3373814"/>
            <a:ext cx="181038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solidFill>
                  <a:srgbClr val="FF0000"/>
                </a:solidFill>
                <a:latin typeface="Candara"/>
                <a:cs typeface="Candara"/>
              </a:rPr>
              <a:t>stop</a:t>
            </a:r>
            <a:r>
              <a:rPr sz="1800" spc="-25" dirty="0">
                <a:solidFill>
                  <a:srgbClr val="FF0000"/>
                </a:solidFill>
                <a:latin typeface="Candara"/>
                <a:cs typeface="Candara"/>
              </a:rPr>
              <a:t> </a:t>
            </a:r>
            <a:r>
              <a:rPr sz="1800" dirty="0">
                <a:solidFill>
                  <a:srgbClr val="FF0000"/>
                </a:solidFill>
                <a:latin typeface="Candara"/>
                <a:cs typeface="Candara"/>
              </a:rPr>
              <a:t>gradient</a:t>
            </a:r>
            <a:r>
              <a:rPr sz="1800" spc="-20" dirty="0">
                <a:solidFill>
                  <a:srgbClr val="FF0000"/>
                </a:solidFill>
                <a:latin typeface="Candara"/>
                <a:cs typeface="Candara"/>
              </a:rPr>
              <a:t> here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5568971" y="3638990"/>
            <a:ext cx="582866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15330" algn="l"/>
              </a:tabLst>
            </a:pPr>
            <a:r>
              <a:rPr sz="1800" dirty="0">
                <a:solidFill>
                  <a:srgbClr val="FF0000"/>
                </a:solidFill>
                <a:latin typeface="Candara"/>
                <a:cs typeface="Candara"/>
              </a:rPr>
              <a:t>s.t. error does not</a:t>
            </a:r>
            <a:r>
              <a:rPr sz="1800" spc="335" dirty="0">
                <a:solidFill>
                  <a:srgbClr val="FF0000"/>
                </a:solidFill>
                <a:latin typeface="Candara"/>
                <a:cs typeface="Candara"/>
              </a:rPr>
              <a:t> </a:t>
            </a:r>
            <a:r>
              <a:rPr sz="18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5518224" y="3919406"/>
            <a:ext cx="1801495" cy="577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solidFill>
                  <a:srgbClr val="FF0000"/>
                </a:solidFill>
                <a:latin typeface="Candara"/>
                <a:cs typeface="Candara"/>
              </a:rPr>
              <a:t>backprop</a:t>
            </a:r>
            <a:r>
              <a:rPr sz="1800" spc="-25" dirty="0">
                <a:solidFill>
                  <a:srgbClr val="FF0000"/>
                </a:solidFill>
                <a:latin typeface="Candara"/>
                <a:cs typeface="Candara"/>
              </a:rPr>
              <a:t> </a:t>
            </a:r>
            <a:r>
              <a:rPr sz="1800" dirty="0">
                <a:solidFill>
                  <a:srgbClr val="FF0000"/>
                </a:solidFill>
                <a:latin typeface="Candara"/>
                <a:cs typeface="Candara"/>
              </a:rPr>
              <a:t>to</a:t>
            </a:r>
            <a:r>
              <a:rPr sz="1800" spc="-25" dirty="0">
                <a:solidFill>
                  <a:srgbClr val="FF0000"/>
                </a:solidFill>
                <a:latin typeface="Candara"/>
                <a:cs typeface="Candar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ndara"/>
                <a:cs typeface="Candara"/>
              </a:rPr>
              <a:t>lower</a:t>
            </a:r>
            <a:endParaRPr sz="1800">
              <a:latin typeface="Candara"/>
              <a:cs typeface="Candara"/>
            </a:endParaRPr>
          </a:p>
          <a:p>
            <a:pPr marR="5080" algn="r">
              <a:lnSpc>
                <a:spcPct val="100000"/>
              </a:lnSpc>
              <a:spcBef>
                <a:spcPts val="25"/>
              </a:spcBef>
            </a:pPr>
            <a:r>
              <a:rPr sz="1800" spc="-10" dirty="0">
                <a:solidFill>
                  <a:srgbClr val="FF0000"/>
                </a:solidFill>
                <a:latin typeface="Candara"/>
                <a:cs typeface="Candara"/>
              </a:rPr>
              <a:t>layers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86" name="Slide Number Placeholder 185">
            <a:extLst>
              <a:ext uri="{FF2B5EF4-FFF2-40B4-BE49-F238E27FC236}">
                <a16:creationId xmlns:a16="http://schemas.microsoft.com/office/drawing/2014/main" id="{4CD6C5DF-2408-40FA-B642-6349EDC71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2554039"/>
            <a:ext cx="10972800" cy="12432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0" b="1" spc="-10" dirty="0">
                <a:latin typeface="Candara"/>
                <a:cs typeface="Candara"/>
              </a:rPr>
              <a:t>Adapters</a:t>
            </a:r>
            <a:endParaRPr sz="8000" b="1" spc="-10" dirty="0">
              <a:latin typeface="Candara"/>
              <a:cs typeface="Candara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4A78E-67AE-4B2D-8A4E-ED8F76A177C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DE582-723B-4C48-0741-20FEF3AFC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Add fully-connected networks after attention and FFN layers in Transformer.</a:t>
            </a:r>
          </a:p>
          <a:p>
            <a:r>
              <a:rPr lang="en-US" dirty="0"/>
              <a:t>Possible to achieve performance competitive to full fine-tuning by tuning less than 4% of the total model parameters.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05545A-949C-ACFD-0C06-E0F245C20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Overview of PEFT Approaches (Adapters)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CB029B-1F4C-0B1C-7C84-7EED8C2E9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701644"/>
              </p:ext>
            </p:extLst>
          </p:nvPr>
        </p:nvGraphicFramePr>
        <p:xfrm>
          <a:off x="823686" y="3781652"/>
          <a:ext cx="4124325" cy="15970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45097959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321494888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47071871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962044191"/>
                    </a:ext>
                  </a:extLst>
                </a:gridCol>
              </a:tblGrid>
              <a:tr h="319405"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% Train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0.1-6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01220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r>
                        <a:rPr lang="en-US" sz="1400" dirty="0"/>
                        <a:t>Storage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% Change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0.1-6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943619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r>
                        <a:rPr lang="en-US" sz="1400" dirty="0"/>
                        <a:t>Memory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&lt;1B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71331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r>
                        <a:rPr lang="en-US" sz="1400" dirty="0"/>
                        <a:t>Backprop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&lt;20B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34008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r>
                        <a:rPr lang="en-US" sz="1400" dirty="0"/>
                        <a:t>Inf. Overhead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Extra FFN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&gt;20B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314660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BA119B-070B-4161-A161-BA9097086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85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3E010DB-39A1-420C-89A8-7022A0BAA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7084786" cy="5410200"/>
          </a:xfrm>
        </p:spPr>
        <p:txBody>
          <a:bodyPr/>
          <a:lstStyle/>
          <a:p>
            <a:r>
              <a:rPr lang="en-US" dirty="0"/>
              <a:t>An adapter layer is simply a feed- forward neural network with one hidden layer, and a residual connection</a:t>
            </a:r>
          </a:p>
          <a:p>
            <a:r>
              <a:rPr lang="en-US" dirty="0"/>
              <a:t>For input dimension, d, the adapter layer also has output dimension d, but bottlenecks to a lower dimension m in the middle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Adapters Module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644" y="6536580"/>
            <a:ext cx="90233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Figure</a:t>
            </a:r>
            <a:r>
              <a:rPr sz="1400" spc="-5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spc="-20" dirty="0">
                <a:solidFill>
                  <a:srgbClr val="7F7F7F"/>
                </a:solidFill>
                <a:latin typeface="Candara"/>
                <a:cs typeface="Candara"/>
              </a:rPr>
              <a:t>from</a:t>
            </a:r>
            <a:endParaRPr sz="1400">
              <a:latin typeface="Candara"/>
              <a:cs typeface="Candar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5584" y="1346075"/>
            <a:ext cx="2851150" cy="4578350"/>
            <a:chOff x="6383013" y="1290766"/>
            <a:chExt cx="2851150" cy="45783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3013" y="1290766"/>
              <a:ext cx="2745047" cy="455392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33673" y="5492207"/>
              <a:ext cx="1376045" cy="364490"/>
            </a:xfrm>
            <a:custGeom>
              <a:avLst/>
              <a:gdLst/>
              <a:ahLst/>
              <a:cxnLst/>
              <a:rect l="l" t="t" r="r" b="b"/>
              <a:pathLst>
                <a:path w="1376045" h="364489">
                  <a:moveTo>
                    <a:pt x="0" y="0"/>
                  </a:moveTo>
                  <a:lnTo>
                    <a:pt x="1375541" y="364215"/>
                  </a:lnTo>
                </a:path>
              </a:pathLst>
            </a:custGeom>
            <a:ln w="25354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77054" y="5378761"/>
              <a:ext cx="1713864" cy="113664"/>
            </a:xfrm>
            <a:custGeom>
              <a:avLst/>
              <a:gdLst/>
              <a:ahLst/>
              <a:cxnLst/>
              <a:rect l="l" t="t" r="r" b="b"/>
              <a:pathLst>
                <a:path w="1713865" h="113664">
                  <a:moveTo>
                    <a:pt x="0" y="0"/>
                  </a:moveTo>
                  <a:lnTo>
                    <a:pt x="743" y="44158"/>
                  </a:lnTo>
                  <a:lnTo>
                    <a:pt x="2771" y="80218"/>
                  </a:lnTo>
                  <a:lnTo>
                    <a:pt x="5779" y="104531"/>
                  </a:lnTo>
                  <a:lnTo>
                    <a:pt x="9462" y="113446"/>
                  </a:lnTo>
                  <a:lnTo>
                    <a:pt x="1703775" y="113446"/>
                  </a:lnTo>
                  <a:lnTo>
                    <a:pt x="1707458" y="104531"/>
                  </a:lnTo>
                  <a:lnTo>
                    <a:pt x="1710466" y="80218"/>
                  </a:lnTo>
                  <a:lnTo>
                    <a:pt x="1712493" y="44158"/>
                  </a:lnTo>
                  <a:lnTo>
                    <a:pt x="1713237" y="0"/>
                  </a:lnTo>
                </a:path>
              </a:pathLst>
            </a:custGeom>
            <a:ln w="25373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18505" y="1503186"/>
              <a:ext cx="1391285" cy="455295"/>
            </a:xfrm>
            <a:custGeom>
              <a:avLst/>
              <a:gdLst/>
              <a:ahLst/>
              <a:cxnLst/>
              <a:rect l="l" t="t" r="r" b="b"/>
              <a:pathLst>
                <a:path w="1391284" h="455294">
                  <a:moveTo>
                    <a:pt x="0" y="455262"/>
                  </a:moveTo>
                  <a:lnTo>
                    <a:pt x="1390709" y="0"/>
                  </a:lnTo>
                </a:path>
              </a:pathLst>
            </a:custGeom>
            <a:ln w="25354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46720" y="1958449"/>
              <a:ext cx="1743710" cy="83820"/>
            </a:xfrm>
            <a:custGeom>
              <a:avLst/>
              <a:gdLst/>
              <a:ahLst/>
              <a:cxnLst/>
              <a:rect l="l" t="t" r="r" b="b"/>
              <a:pathLst>
                <a:path w="1743709" h="83819">
                  <a:moveTo>
                    <a:pt x="0" y="83536"/>
                  </a:moveTo>
                  <a:lnTo>
                    <a:pt x="547" y="51020"/>
                  </a:lnTo>
                  <a:lnTo>
                    <a:pt x="2040" y="24467"/>
                  </a:lnTo>
                  <a:lnTo>
                    <a:pt x="4255" y="6564"/>
                  </a:lnTo>
                  <a:lnTo>
                    <a:pt x="6967" y="0"/>
                  </a:lnTo>
                  <a:lnTo>
                    <a:pt x="1736603" y="0"/>
                  </a:lnTo>
                  <a:lnTo>
                    <a:pt x="1739315" y="6564"/>
                  </a:lnTo>
                  <a:lnTo>
                    <a:pt x="1741530" y="24467"/>
                  </a:lnTo>
                  <a:lnTo>
                    <a:pt x="1743023" y="51020"/>
                  </a:lnTo>
                  <a:lnTo>
                    <a:pt x="1743570" y="83536"/>
                  </a:lnTo>
                </a:path>
              </a:pathLst>
            </a:custGeom>
            <a:ln w="25373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31517" y="3609359"/>
              <a:ext cx="1489710" cy="219710"/>
            </a:xfrm>
            <a:custGeom>
              <a:avLst/>
              <a:gdLst/>
              <a:ahLst/>
              <a:cxnLst/>
              <a:rect l="l" t="t" r="r" b="b"/>
              <a:pathLst>
                <a:path w="1489709" h="219710">
                  <a:moveTo>
                    <a:pt x="0" y="219353"/>
                  </a:moveTo>
                  <a:lnTo>
                    <a:pt x="1489499" y="0"/>
                  </a:lnTo>
                </a:path>
              </a:pathLst>
            </a:custGeom>
            <a:ln w="25353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56171" y="3828712"/>
              <a:ext cx="551180" cy="83820"/>
            </a:xfrm>
            <a:custGeom>
              <a:avLst/>
              <a:gdLst/>
              <a:ahLst/>
              <a:cxnLst/>
              <a:rect l="l" t="t" r="r" b="b"/>
              <a:pathLst>
                <a:path w="551179" h="83820">
                  <a:moveTo>
                    <a:pt x="0" y="83535"/>
                  </a:moveTo>
                  <a:lnTo>
                    <a:pt x="547" y="51019"/>
                  </a:lnTo>
                  <a:lnTo>
                    <a:pt x="2040" y="24466"/>
                  </a:lnTo>
                  <a:lnTo>
                    <a:pt x="4254" y="6564"/>
                  </a:lnTo>
                  <a:lnTo>
                    <a:pt x="6966" y="0"/>
                  </a:lnTo>
                  <a:lnTo>
                    <a:pt x="543726" y="0"/>
                  </a:lnTo>
                  <a:lnTo>
                    <a:pt x="546438" y="6564"/>
                  </a:lnTo>
                  <a:lnTo>
                    <a:pt x="548653" y="24466"/>
                  </a:lnTo>
                  <a:lnTo>
                    <a:pt x="550146" y="51019"/>
                  </a:lnTo>
                  <a:lnTo>
                    <a:pt x="550693" y="83535"/>
                  </a:lnTo>
                </a:path>
              </a:pathLst>
            </a:custGeom>
            <a:ln w="25373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530430" y="5745603"/>
            <a:ext cx="15176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solidFill>
                  <a:srgbClr val="0432FF"/>
                </a:solidFill>
                <a:latin typeface="Candara"/>
                <a:cs typeface="Candara"/>
              </a:rPr>
              <a:t>d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530430" y="1396107"/>
            <a:ext cx="15176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solidFill>
                  <a:srgbClr val="0432FF"/>
                </a:solidFill>
                <a:latin typeface="Candara"/>
                <a:cs typeface="Candara"/>
              </a:rPr>
              <a:t>d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42233" y="3499227"/>
            <a:ext cx="10668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solidFill>
                  <a:srgbClr val="0432FF"/>
                </a:solidFill>
                <a:latin typeface="Candara"/>
                <a:cs typeface="Candara"/>
              </a:rPr>
              <a:t>r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E984ADE-1835-43D9-94BD-945DF00A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6905">
              <a:lnSpc>
                <a:spcPct val="100000"/>
              </a:lnSpc>
              <a:spcBef>
                <a:spcPts val="95"/>
              </a:spcBef>
            </a:pPr>
            <a:r>
              <a:rPr dirty="0"/>
              <a:t>Adapters</a:t>
            </a:r>
            <a:r>
              <a:rPr spc="-35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spc="-20" dirty="0"/>
              <a:t>Transformer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61688" y="1226031"/>
            <a:ext cx="4451870" cy="3432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24130" indent="-342900">
              <a:lnSpc>
                <a:spcPct val="997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</a:tabLst>
            </a:pPr>
            <a:r>
              <a:rPr sz="2200" dirty="0">
                <a:latin typeface="Candara"/>
                <a:cs typeface="Candara"/>
              </a:rPr>
              <a:t>In</a:t>
            </a:r>
            <a:r>
              <a:rPr sz="2200" spc="-25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practice,</a:t>
            </a:r>
            <a:r>
              <a:rPr sz="2200" spc="-25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m</a:t>
            </a:r>
            <a:r>
              <a:rPr sz="2200" spc="-25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is</a:t>
            </a:r>
            <a:r>
              <a:rPr sz="2200" spc="-15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chosen</a:t>
            </a:r>
            <a:r>
              <a:rPr sz="2200" spc="-30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s.t.</a:t>
            </a:r>
            <a:r>
              <a:rPr sz="2200" spc="-25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m</a:t>
            </a:r>
            <a:r>
              <a:rPr sz="2200" spc="-20" dirty="0">
                <a:latin typeface="Candara"/>
                <a:cs typeface="Candara"/>
              </a:rPr>
              <a:t> </a:t>
            </a:r>
            <a:r>
              <a:rPr sz="2200" spc="-25" dirty="0">
                <a:latin typeface="Candara"/>
                <a:cs typeface="Candara"/>
              </a:rPr>
              <a:t>&lt;&lt; </a:t>
            </a:r>
            <a:r>
              <a:rPr sz="2200" dirty="0">
                <a:latin typeface="Candara"/>
                <a:cs typeface="Candara"/>
              </a:rPr>
              <a:t>d</a:t>
            </a:r>
            <a:r>
              <a:rPr sz="2200" spc="-30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and</a:t>
            </a:r>
            <a:r>
              <a:rPr sz="2200" spc="-25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the</a:t>
            </a:r>
            <a:r>
              <a:rPr sz="2200" spc="-25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adapter</a:t>
            </a:r>
            <a:r>
              <a:rPr sz="2200" spc="-30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layers</a:t>
            </a:r>
            <a:r>
              <a:rPr sz="2200" spc="-25" dirty="0">
                <a:latin typeface="Candara"/>
                <a:cs typeface="Candara"/>
              </a:rPr>
              <a:t> </a:t>
            </a:r>
            <a:r>
              <a:rPr sz="2200" spc="-10" dirty="0">
                <a:latin typeface="Candara"/>
                <a:cs typeface="Candara"/>
              </a:rPr>
              <a:t>contain </a:t>
            </a:r>
            <a:r>
              <a:rPr sz="2200" dirty="0">
                <a:latin typeface="Candara"/>
                <a:cs typeface="Candara"/>
              </a:rPr>
              <a:t>only</a:t>
            </a:r>
            <a:r>
              <a:rPr sz="2200" spc="-15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0.5%</a:t>
            </a:r>
            <a:r>
              <a:rPr sz="2200" spc="-10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–</a:t>
            </a:r>
            <a:r>
              <a:rPr sz="2200" spc="-15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8%</a:t>
            </a:r>
            <a:r>
              <a:rPr sz="2200" spc="-10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of</a:t>
            </a:r>
            <a:r>
              <a:rPr sz="2200" spc="-10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the</a:t>
            </a:r>
            <a:r>
              <a:rPr sz="2200" spc="-15" dirty="0">
                <a:latin typeface="Candara"/>
                <a:cs typeface="Candara"/>
              </a:rPr>
              <a:t> </a:t>
            </a:r>
            <a:r>
              <a:rPr sz="2200" spc="-10" dirty="0">
                <a:latin typeface="Candara"/>
                <a:cs typeface="Candara"/>
              </a:rPr>
              <a:t>total parameters</a:t>
            </a:r>
            <a:endParaRPr sz="2200" dirty="0">
              <a:latin typeface="Candara"/>
              <a:cs typeface="Candara"/>
            </a:endParaRPr>
          </a:p>
          <a:p>
            <a:pPr marL="354965" marR="5080" indent="-342900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354965" algn="l"/>
              </a:tabLst>
            </a:pPr>
            <a:r>
              <a:rPr sz="2200" dirty="0">
                <a:latin typeface="Candara"/>
                <a:cs typeface="Candara"/>
              </a:rPr>
              <a:t>When</a:t>
            </a:r>
            <a:r>
              <a:rPr sz="2200" spc="-25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added</a:t>
            </a:r>
            <a:r>
              <a:rPr sz="2200" spc="-20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to</a:t>
            </a:r>
            <a:r>
              <a:rPr sz="2200" spc="-20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a</a:t>
            </a:r>
            <a:r>
              <a:rPr sz="2200" spc="-25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deep</a:t>
            </a:r>
            <a:r>
              <a:rPr sz="2200" spc="-15" dirty="0">
                <a:latin typeface="Candara"/>
                <a:cs typeface="Candara"/>
              </a:rPr>
              <a:t> </a:t>
            </a:r>
            <a:r>
              <a:rPr sz="2200" spc="-10" dirty="0">
                <a:latin typeface="Candara"/>
                <a:cs typeface="Candara"/>
              </a:rPr>
              <a:t>neural </a:t>
            </a:r>
            <a:r>
              <a:rPr sz="2200" dirty="0">
                <a:latin typeface="Candara"/>
                <a:cs typeface="Candara"/>
              </a:rPr>
              <a:t>network</a:t>
            </a:r>
            <a:r>
              <a:rPr sz="2200" spc="-50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(e.g.</a:t>
            </a:r>
            <a:r>
              <a:rPr sz="2200" spc="-35" dirty="0">
                <a:latin typeface="Candara"/>
                <a:cs typeface="Candara"/>
              </a:rPr>
              <a:t> </a:t>
            </a:r>
            <a:r>
              <a:rPr sz="2200" spc="-10" dirty="0">
                <a:latin typeface="Candara"/>
                <a:cs typeface="Candara"/>
              </a:rPr>
              <a:t>Transformer)</a:t>
            </a:r>
            <a:r>
              <a:rPr sz="2200" spc="-35" dirty="0">
                <a:latin typeface="Candara"/>
                <a:cs typeface="Candara"/>
              </a:rPr>
              <a:t> </a:t>
            </a:r>
            <a:r>
              <a:rPr sz="2200" spc="-25" dirty="0">
                <a:latin typeface="Candara"/>
                <a:cs typeface="Candara"/>
              </a:rPr>
              <a:t>all </a:t>
            </a:r>
            <a:r>
              <a:rPr sz="2200" dirty="0">
                <a:latin typeface="Candara"/>
                <a:cs typeface="Candara"/>
              </a:rPr>
              <a:t>the</a:t>
            </a:r>
            <a:r>
              <a:rPr sz="2200" spc="-40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other</a:t>
            </a:r>
            <a:r>
              <a:rPr sz="2200" spc="-35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parameters</a:t>
            </a:r>
            <a:r>
              <a:rPr sz="2200" spc="-35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of</a:t>
            </a:r>
            <a:r>
              <a:rPr sz="2200" spc="-25" dirty="0">
                <a:latin typeface="Candara"/>
                <a:cs typeface="Candara"/>
              </a:rPr>
              <a:t> the </a:t>
            </a:r>
            <a:r>
              <a:rPr sz="2200" dirty="0">
                <a:latin typeface="Candara"/>
                <a:cs typeface="Candara"/>
              </a:rPr>
              <a:t>pretrained</a:t>
            </a:r>
            <a:r>
              <a:rPr sz="2200" spc="-45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model</a:t>
            </a:r>
            <a:r>
              <a:rPr sz="2200" spc="-35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are</a:t>
            </a:r>
            <a:r>
              <a:rPr sz="2200" spc="-35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kept</a:t>
            </a:r>
            <a:r>
              <a:rPr sz="2200" spc="-30" dirty="0">
                <a:latin typeface="Candara"/>
                <a:cs typeface="Candara"/>
              </a:rPr>
              <a:t> </a:t>
            </a:r>
            <a:r>
              <a:rPr sz="2200" spc="-10" dirty="0">
                <a:latin typeface="Candara"/>
                <a:cs typeface="Candara"/>
              </a:rPr>
              <a:t>fixed, </a:t>
            </a:r>
            <a:r>
              <a:rPr sz="2200" dirty="0">
                <a:latin typeface="Candara"/>
                <a:cs typeface="Candara"/>
              </a:rPr>
              <a:t>and</a:t>
            </a:r>
            <a:r>
              <a:rPr sz="2200" spc="-25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only</a:t>
            </a:r>
            <a:r>
              <a:rPr sz="2200" spc="-30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the</a:t>
            </a:r>
            <a:r>
              <a:rPr sz="2200" spc="-30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adapter</a:t>
            </a:r>
            <a:r>
              <a:rPr sz="2200" spc="-30" dirty="0">
                <a:latin typeface="Candara"/>
                <a:cs typeface="Candara"/>
              </a:rPr>
              <a:t> </a:t>
            </a:r>
            <a:r>
              <a:rPr sz="2200" spc="-20" dirty="0">
                <a:latin typeface="Candara"/>
                <a:cs typeface="Candara"/>
              </a:rPr>
              <a:t>layer </a:t>
            </a:r>
            <a:r>
              <a:rPr sz="2200" dirty="0">
                <a:latin typeface="Candara"/>
                <a:cs typeface="Candara"/>
              </a:rPr>
              <a:t>parameters</a:t>
            </a:r>
            <a:r>
              <a:rPr sz="2200" spc="-35" dirty="0">
                <a:latin typeface="Candara"/>
                <a:cs typeface="Candara"/>
              </a:rPr>
              <a:t> </a:t>
            </a:r>
            <a:r>
              <a:rPr sz="2200" dirty="0">
                <a:latin typeface="Candara"/>
                <a:cs typeface="Candara"/>
              </a:rPr>
              <a:t>are</a:t>
            </a:r>
            <a:r>
              <a:rPr sz="2200" spc="-30" dirty="0">
                <a:latin typeface="Candara"/>
                <a:cs typeface="Candara"/>
              </a:rPr>
              <a:t> </a:t>
            </a:r>
            <a:r>
              <a:rPr sz="2200" spc="-10" dirty="0">
                <a:latin typeface="Candara"/>
                <a:cs typeface="Candara"/>
              </a:rPr>
              <a:t>fine-tuned</a:t>
            </a:r>
            <a:endParaRPr sz="2200" dirty="0">
              <a:latin typeface="Candara"/>
              <a:cs typeface="Candar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89844" y="3220044"/>
            <a:ext cx="3105150" cy="2707005"/>
            <a:chOff x="789844" y="3220044"/>
            <a:chExt cx="3105150" cy="2707005"/>
          </a:xfrm>
        </p:grpSpPr>
        <p:sp>
          <p:nvSpPr>
            <p:cNvPr id="6" name="object 6"/>
            <p:cNvSpPr/>
            <p:nvPr/>
          </p:nvSpPr>
          <p:spPr>
            <a:xfrm>
              <a:off x="1610436" y="4492878"/>
              <a:ext cx="887730" cy="1434465"/>
            </a:xfrm>
            <a:custGeom>
              <a:avLst/>
              <a:gdLst/>
              <a:ahLst/>
              <a:cxnLst/>
              <a:rect l="l" t="t" r="r" b="b"/>
              <a:pathLst>
                <a:path w="887730" h="1434464">
                  <a:moveTo>
                    <a:pt x="887107" y="1431188"/>
                  </a:moveTo>
                  <a:lnTo>
                    <a:pt x="824026" y="50431"/>
                  </a:lnTo>
                  <a:lnTo>
                    <a:pt x="857300" y="48907"/>
                  </a:lnTo>
                  <a:lnTo>
                    <a:pt x="848106" y="37769"/>
                  </a:lnTo>
                  <a:lnTo>
                    <a:pt x="816965" y="0"/>
                  </a:lnTo>
                  <a:lnTo>
                    <a:pt x="781253" y="52387"/>
                  </a:lnTo>
                  <a:lnTo>
                    <a:pt x="814527" y="50863"/>
                  </a:lnTo>
                  <a:lnTo>
                    <a:pt x="876757" y="1413230"/>
                  </a:lnTo>
                  <a:lnTo>
                    <a:pt x="36487" y="45631"/>
                  </a:lnTo>
                  <a:lnTo>
                    <a:pt x="54102" y="34836"/>
                  </a:lnTo>
                  <a:lnTo>
                    <a:pt x="64871" y="28219"/>
                  </a:lnTo>
                  <a:lnTo>
                    <a:pt x="5892" y="4914"/>
                  </a:lnTo>
                  <a:lnTo>
                    <a:pt x="0" y="68021"/>
                  </a:lnTo>
                  <a:lnTo>
                    <a:pt x="28384" y="50609"/>
                  </a:lnTo>
                  <a:lnTo>
                    <a:pt x="878306" y="1433880"/>
                  </a:lnTo>
                  <a:lnTo>
                    <a:pt x="882345" y="1431417"/>
                  </a:lnTo>
                  <a:lnTo>
                    <a:pt x="887107" y="14311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94607" y="3224806"/>
              <a:ext cx="3095625" cy="2326005"/>
            </a:xfrm>
            <a:custGeom>
              <a:avLst/>
              <a:gdLst/>
              <a:ahLst/>
              <a:cxnLst/>
              <a:rect l="l" t="t" r="r" b="b"/>
              <a:pathLst>
                <a:path w="3095625" h="2326004">
                  <a:moveTo>
                    <a:pt x="0" y="139982"/>
                  </a:moveTo>
                  <a:lnTo>
                    <a:pt x="7142" y="95737"/>
                  </a:lnTo>
                  <a:lnTo>
                    <a:pt x="27030" y="57310"/>
                  </a:lnTo>
                  <a:lnTo>
                    <a:pt x="57357" y="27008"/>
                  </a:lnTo>
                  <a:lnTo>
                    <a:pt x="95814" y="7136"/>
                  </a:lnTo>
                  <a:lnTo>
                    <a:pt x="140096" y="0"/>
                  </a:lnTo>
                  <a:lnTo>
                    <a:pt x="2955100" y="0"/>
                  </a:lnTo>
                  <a:lnTo>
                    <a:pt x="2999381" y="7136"/>
                  </a:lnTo>
                  <a:lnTo>
                    <a:pt x="3037838" y="27008"/>
                  </a:lnTo>
                  <a:lnTo>
                    <a:pt x="3068165" y="57310"/>
                  </a:lnTo>
                  <a:lnTo>
                    <a:pt x="3088053" y="95737"/>
                  </a:lnTo>
                  <a:lnTo>
                    <a:pt x="3095196" y="139982"/>
                  </a:lnTo>
                  <a:lnTo>
                    <a:pt x="3095196" y="2185702"/>
                  </a:lnTo>
                  <a:lnTo>
                    <a:pt x="3088053" y="2229948"/>
                  </a:lnTo>
                  <a:lnTo>
                    <a:pt x="3068165" y="2268375"/>
                  </a:lnTo>
                  <a:lnTo>
                    <a:pt x="3037838" y="2298677"/>
                  </a:lnTo>
                  <a:lnTo>
                    <a:pt x="2999381" y="2318549"/>
                  </a:lnTo>
                  <a:lnTo>
                    <a:pt x="2955100" y="2325686"/>
                  </a:lnTo>
                  <a:lnTo>
                    <a:pt x="140096" y="2325686"/>
                  </a:lnTo>
                  <a:lnTo>
                    <a:pt x="95814" y="2318549"/>
                  </a:lnTo>
                  <a:lnTo>
                    <a:pt x="57357" y="2298677"/>
                  </a:lnTo>
                  <a:lnTo>
                    <a:pt x="27030" y="2268375"/>
                  </a:lnTo>
                  <a:lnTo>
                    <a:pt x="7142" y="2229948"/>
                  </a:lnTo>
                  <a:lnTo>
                    <a:pt x="0" y="2185702"/>
                  </a:lnTo>
                  <a:lnTo>
                    <a:pt x="0" y="139982"/>
                  </a:lnTo>
                  <a:close/>
                </a:path>
              </a:pathLst>
            </a:custGeom>
            <a:ln w="95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644" y="6536580"/>
            <a:ext cx="25069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Figure</a:t>
            </a:r>
            <a:r>
              <a:rPr sz="1400" spc="-3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inspired</a:t>
            </a:r>
            <a:r>
              <a:rPr sz="1400" spc="-2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by</a:t>
            </a:r>
            <a:r>
              <a:rPr sz="1400" spc="-2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He</a:t>
            </a:r>
            <a:r>
              <a:rPr sz="1400" spc="-3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et</a:t>
            </a:r>
            <a:r>
              <a:rPr sz="1400" spc="-25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al.</a:t>
            </a:r>
            <a:r>
              <a:rPr sz="1400" spc="-2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spc="-10" dirty="0">
                <a:solidFill>
                  <a:srgbClr val="7F7F7F"/>
                </a:solidFill>
                <a:latin typeface="Candara"/>
                <a:cs typeface="Candara"/>
              </a:rPr>
              <a:t>(2022)</a:t>
            </a:r>
            <a:endParaRPr sz="1400">
              <a:latin typeface="Candara"/>
              <a:cs typeface="Candar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9843" y="3982922"/>
            <a:ext cx="165735" cy="8001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20"/>
              </a:lnSpc>
            </a:pPr>
            <a:r>
              <a:rPr sz="1100" spc="-10" dirty="0">
                <a:latin typeface="Candara"/>
                <a:cs typeface="Candara"/>
              </a:rPr>
              <a:t>multi-headed</a:t>
            </a:r>
            <a:endParaRPr sz="1100">
              <a:latin typeface="Candara"/>
              <a:cs typeface="Candar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18516" y="2483926"/>
            <a:ext cx="1886585" cy="228600"/>
            <a:chOff x="1418516" y="2483926"/>
            <a:chExt cx="1886585" cy="228600"/>
          </a:xfrm>
        </p:grpSpPr>
        <p:sp>
          <p:nvSpPr>
            <p:cNvPr id="11" name="object 11"/>
            <p:cNvSpPr/>
            <p:nvPr/>
          </p:nvSpPr>
          <p:spPr>
            <a:xfrm>
              <a:off x="1423278" y="2488689"/>
              <a:ext cx="1877060" cy="219075"/>
            </a:xfrm>
            <a:custGeom>
              <a:avLst/>
              <a:gdLst/>
              <a:ahLst/>
              <a:cxnLst/>
              <a:rect l="l" t="t" r="r" b="b"/>
              <a:pathLst>
                <a:path w="1877060" h="219075">
                  <a:moveTo>
                    <a:pt x="1839922" y="0"/>
                  </a:moveTo>
                  <a:lnTo>
                    <a:pt x="36537" y="0"/>
                  </a:lnTo>
                  <a:lnTo>
                    <a:pt x="22315" y="2869"/>
                  </a:lnTo>
                  <a:lnTo>
                    <a:pt x="10701" y="10693"/>
                  </a:lnTo>
                  <a:lnTo>
                    <a:pt x="2871" y="22298"/>
                  </a:lnTo>
                  <a:lnTo>
                    <a:pt x="0" y="36508"/>
                  </a:lnTo>
                  <a:lnTo>
                    <a:pt x="0" y="182540"/>
                  </a:lnTo>
                  <a:lnTo>
                    <a:pt x="2871" y="196751"/>
                  </a:lnTo>
                  <a:lnTo>
                    <a:pt x="10701" y="208356"/>
                  </a:lnTo>
                  <a:lnTo>
                    <a:pt x="22315" y="216180"/>
                  </a:lnTo>
                  <a:lnTo>
                    <a:pt x="36537" y="219049"/>
                  </a:lnTo>
                  <a:lnTo>
                    <a:pt x="1839922" y="219049"/>
                  </a:lnTo>
                  <a:lnTo>
                    <a:pt x="1854145" y="216180"/>
                  </a:lnTo>
                  <a:lnTo>
                    <a:pt x="1865759" y="208356"/>
                  </a:lnTo>
                  <a:lnTo>
                    <a:pt x="1873589" y="196751"/>
                  </a:lnTo>
                  <a:lnTo>
                    <a:pt x="1876460" y="182540"/>
                  </a:lnTo>
                  <a:lnTo>
                    <a:pt x="1876460" y="36508"/>
                  </a:lnTo>
                  <a:lnTo>
                    <a:pt x="1873589" y="22298"/>
                  </a:lnTo>
                  <a:lnTo>
                    <a:pt x="1865759" y="10693"/>
                  </a:lnTo>
                  <a:lnTo>
                    <a:pt x="1854145" y="2869"/>
                  </a:lnTo>
                  <a:lnTo>
                    <a:pt x="183992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23278" y="2488689"/>
              <a:ext cx="1877060" cy="219075"/>
            </a:xfrm>
            <a:custGeom>
              <a:avLst/>
              <a:gdLst/>
              <a:ahLst/>
              <a:cxnLst/>
              <a:rect l="l" t="t" r="r" b="b"/>
              <a:pathLst>
                <a:path w="1877060" h="219075">
                  <a:moveTo>
                    <a:pt x="0" y="36508"/>
                  </a:moveTo>
                  <a:lnTo>
                    <a:pt x="2871" y="22297"/>
                  </a:lnTo>
                  <a:lnTo>
                    <a:pt x="10701" y="10693"/>
                  </a:lnTo>
                  <a:lnTo>
                    <a:pt x="22315" y="2869"/>
                  </a:lnTo>
                  <a:lnTo>
                    <a:pt x="36538" y="0"/>
                  </a:lnTo>
                  <a:lnTo>
                    <a:pt x="1839923" y="0"/>
                  </a:lnTo>
                  <a:lnTo>
                    <a:pt x="1854145" y="2869"/>
                  </a:lnTo>
                  <a:lnTo>
                    <a:pt x="1865759" y="10693"/>
                  </a:lnTo>
                  <a:lnTo>
                    <a:pt x="1873589" y="22297"/>
                  </a:lnTo>
                  <a:lnTo>
                    <a:pt x="1876461" y="36508"/>
                  </a:lnTo>
                  <a:lnTo>
                    <a:pt x="1876461" y="182541"/>
                  </a:lnTo>
                  <a:lnTo>
                    <a:pt x="1873589" y="196751"/>
                  </a:lnTo>
                  <a:lnTo>
                    <a:pt x="1865759" y="208356"/>
                  </a:lnTo>
                  <a:lnTo>
                    <a:pt x="1854145" y="216180"/>
                  </a:lnTo>
                  <a:lnTo>
                    <a:pt x="1839923" y="219049"/>
                  </a:lnTo>
                  <a:lnTo>
                    <a:pt x="36538" y="219049"/>
                  </a:lnTo>
                  <a:lnTo>
                    <a:pt x="22315" y="216180"/>
                  </a:lnTo>
                  <a:lnTo>
                    <a:pt x="10701" y="208356"/>
                  </a:lnTo>
                  <a:lnTo>
                    <a:pt x="2871" y="196751"/>
                  </a:lnTo>
                  <a:lnTo>
                    <a:pt x="0" y="182541"/>
                  </a:lnTo>
                  <a:lnTo>
                    <a:pt x="0" y="36508"/>
                  </a:lnTo>
                  <a:close/>
                </a:path>
              </a:pathLst>
            </a:custGeom>
            <a:ln w="9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844509" y="2487282"/>
            <a:ext cx="10344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ndara"/>
                <a:cs typeface="Candara"/>
              </a:rPr>
              <a:t>add</a:t>
            </a:r>
            <a:r>
              <a:rPr sz="1100" spc="-30" dirty="0">
                <a:latin typeface="Candara"/>
                <a:cs typeface="Candara"/>
              </a:rPr>
              <a:t> </a:t>
            </a:r>
            <a:r>
              <a:rPr sz="1100" dirty="0">
                <a:latin typeface="Candara"/>
                <a:cs typeface="Candara"/>
              </a:rPr>
              <a:t>&amp;</a:t>
            </a:r>
            <a:r>
              <a:rPr sz="1100" spc="-15" dirty="0">
                <a:latin typeface="Candara"/>
                <a:cs typeface="Candara"/>
              </a:rPr>
              <a:t> </a:t>
            </a:r>
            <a:r>
              <a:rPr sz="1100" dirty="0">
                <a:latin typeface="Candara"/>
                <a:cs typeface="Candara"/>
              </a:rPr>
              <a:t>layer</a:t>
            </a:r>
            <a:r>
              <a:rPr sz="1100" spc="-15" dirty="0">
                <a:latin typeface="Candara"/>
                <a:cs typeface="Candara"/>
              </a:rPr>
              <a:t> </a:t>
            </a:r>
            <a:r>
              <a:rPr sz="1100" spc="-20" dirty="0">
                <a:latin typeface="Candara"/>
                <a:cs typeface="Candara"/>
              </a:rPr>
              <a:t>norm</a:t>
            </a:r>
            <a:endParaRPr sz="1100">
              <a:latin typeface="Candara"/>
              <a:cs typeface="Candar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45964" y="2560185"/>
            <a:ext cx="1456690" cy="3548379"/>
            <a:chOff x="2245964" y="2560185"/>
            <a:chExt cx="1456690" cy="3548379"/>
          </a:xfrm>
        </p:grpSpPr>
        <p:sp>
          <p:nvSpPr>
            <p:cNvPr id="15" name="object 15"/>
            <p:cNvSpPr/>
            <p:nvPr/>
          </p:nvSpPr>
          <p:spPr>
            <a:xfrm>
              <a:off x="2680954" y="2560185"/>
              <a:ext cx="1021715" cy="3548379"/>
            </a:xfrm>
            <a:custGeom>
              <a:avLst/>
              <a:gdLst/>
              <a:ahLst/>
              <a:cxnLst/>
              <a:rect l="l" t="t" r="r" b="b"/>
              <a:pathLst>
                <a:path w="1021714" h="3548379">
                  <a:moveTo>
                    <a:pt x="1011894" y="3538802"/>
                  </a:moveTo>
                  <a:lnTo>
                    <a:pt x="0" y="3538802"/>
                  </a:lnTo>
                  <a:lnTo>
                    <a:pt x="0" y="3548309"/>
                  </a:lnTo>
                  <a:lnTo>
                    <a:pt x="1019279" y="3548309"/>
                  </a:lnTo>
                  <a:lnTo>
                    <a:pt x="1021408" y="3546181"/>
                  </a:lnTo>
                  <a:lnTo>
                    <a:pt x="1021408" y="3543556"/>
                  </a:lnTo>
                  <a:lnTo>
                    <a:pt x="1011894" y="3543556"/>
                  </a:lnTo>
                  <a:lnTo>
                    <a:pt x="1011894" y="3538802"/>
                  </a:lnTo>
                  <a:close/>
                </a:path>
                <a:path w="1021714" h="3548379">
                  <a:moveTo>
                    <a:pt x="1011894" y="38028"/>
                  </a:moveTo>
                  <a:lnTo>
                    <a:pt x="1011894" y="3543556"/>
                  </a:lnTo>
                  <a:lnTo>
                    <a:pt x="1016651" y="3538802"/>
                  </a:lnTo>
                  <a:lnTo>
                    <a:pt x="1021408" y="3538802"/>
                  </a:lnTo>
                  <a:lnTo>
                    <a:pt x="1021408" y="42782"/>
                  </a:lnTo>
                  <a:lnTo>
                    <a:pt x="1016651" y="42782"/>
                  </a:lnTo>
                  <a:lnTo>
                    <a:pt x="1011894" y="38028"/>
                  </a:lnTo>
                  <a:close/>
                </a:path>
                <a:path w="1021714" h="3548379">
                  <a:moveTo>
                    <a:pt x="1021408" y="3538802"/>
                  </a:moveTo>
                  <a:lnTo>
                    <a:pt x="1016651" y="3538802"/>
                  </a:lnTo>
                  <a:lnTo>
                    <a:pt x="1011894" y="3543556"/>
                  </a:lnTo>
                  <a:lnTo>
                    <a:pt x="1021408" y="3543556"/>
                  </a:lnTo>
                  <a:lnTo>
                    <a:pt x="1021408" y="3538802"/>
                  </a:lnTo>
                  <a:close/>
                </a:path>
                <a:path w="1021714" h="3548379">
                  <a:moveTo>
                    <a:pt x="694905" y="0"/>
                  </a:moveTo>
                  <a:lnTo>
                    <a:pt x="618785" y="38028"/>
                  </a:lnTo>
                  <a:lnTo>
                    <a:pt x="694905" y="76059"/>
                  </a:lnTo>
                  <a:lnTo>
                    <a:pt x="694905" y="42782"/>
                  </a:lnTo>
                  <a:lnTo>
                    <a:pt x="682219" y="42782"/>
                  </a:lnTo>
                  <a:lnTo>
                    <a:pt x="682219" y="33275"/>
                  </a:lnTo>
                  <a:lnTo>
                    <a:pt x="694905" y="33275"/>
                  </a:lnTo>
                  <a:lnTo>
                    <a:pt x="694905" y="0"/>
                  </a:lnTo>
                  <a:close/>
                </a:path>
                <a:path w="1021714" h="3548379">
                  <a:moveTo>
                    <a:pt x="694905" y="33275"/>
                  </a:moveTo>
                  <a:lnTo>
                    <a:pt x="682219" y="33275"/>
                  </a:lnTo>
                  <a:lnTo>
                    <a:pt x="682219" y="42782"/>
                  </a:lnTo>
                  <a:lnTo>
                    <a:pt x="694905" y="42782"/>
                  </a:lnTo>
                  <a:lnTo>
                    <a:pt x="694905" y="33275"/>
                  </a:lnTo>
                  <a:close/>
                </a:path>
                <a:path w="1021714" h="3548379">
                  <a:moveTo>
                    <a:pt x="1019279" y="33275"/>
                  </a:moveTo>
                  <a:lnTo>
                    <a:pt x="694905" y="33275"/>
                  </a:lnTo>
                  <a:lnTo>
                    <a:pt x="694905" y="42782"/>
                  </a:lnTo>
                  <a:lnTo>
                    <a:pt x="1011894" y="42782"/>
                  </a:lnTo>
                  <a:lnTo>
                    <a:pt x="1011894" y="38028"/>
                  </a:lnTo>
                  <a:lnTo>
                    <a:pt x="1021408" y="38028"/>
                  </a:lnTo>
                  <a:lnTo>
                    <a:pt x="1021408" y="35403"/>
                  </a:lnTo>
                  <a:lnTo>
                    <a:pt x="1019279" y="33275"/>
                  </a:lnTo>
                  <a:close/>
                </a:path>
                <a:path w="1021714" h="3548379">
                  <a:moveTo>
                    <a:pt x="1021408" y="38028"/>
                  </a:moveTo>
                  <a:lnTo>
                    <a:pt x="1011894" y="38028"/>
                  </a:lnTo>
                  <a:lnTo>
                    <a:pt x="1016651" y="42782"/>
                  </a:lnTo>
                  <a:lnTo>
                    <a:pt x="1021408" y="42782"/>
                  </a:lnTo>
                  <a:lnTo>
                    <a:pt x="1021408" y="380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5964" y="4944162"/>
              <a:ext cx="243090" cy="45323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162091" y="4727562"/>
            <a:ext cx="2482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latin typeface="Candara"/>
                <a:cs typeface="Candara"/>
              </a:rPr>
              <a:t>W</a:t>
            </a:r>
            <a:r>
              <a:rPr sz="1050" spc="-37" baseline="-15873" dirty="0">
                <a:latin typeface="Candara"/>
                <a:cs typeface="Candara"/>
              </a:rPr>
              <a:t>k</a:t>
            </a:r>
            <a:endParaRPr sz="1050" baseline="-15873">
              <a:latin typeface="Candara"/>
              <a:cs typeface="Candar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6079" y="4951252"/>
            <a:ext cx="243090" cy="453237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352205" y="4733658"/>
            <a:ext cx="2546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latin typeface="Candara"/>
                <a:cs typeface="Candara"/>
              </a:rPr>
              <a:t>W</a:t>
            </a:r>
            <a:r>
              <a:rPr sz="1050" spc="-37" baseline="-15873" dirty="0">
                <a:latin typeface="Candara"/>
                <a:cs typeface="Candara"/>
              </a:rPr>
              <a:t>q</a:t>
            </a:r>
            <a:endParaRPr sz="1050" baseline="-15873">
              <a:latin typeface="Candara"/>
              <a:cs typeface="Candar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7078" y="4946363"/>
            <a:ext cx="244071" cy="453237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922110" y="4730610"/>
            <a:ext cx="2476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latin typeface="Candara"/>
                <a:cs typeface="Candara"/>
              </a:rPr>
              <a:t>W</a:t>
            </a:r>
            <a:r>
              <a:rPr sz="1050" spc="-37" baseline="-15873" dirty="0">
                <a:latin typeface="Candara"/>
                <a:cs typeface="Candara"/>
              </a:rPr>
              <a:t>v</a:t>
            </a:r>
            <a:endParaRPr sz="1050" baseline="-15873">
              <a:latin typeface="Candara"/>
              <a:cs typeface="Candar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578056" y="4497783"/>
            <a:ext cx="76200" cy="460375"/>
          </a:xfrm>
          <a:custGeom>
            <a:avLst/>
            <a:gdLst/>
            <a:ahLst/>
            <a:cxnLst/>
            <a:rect l="l" t="t" r="r" b="b"/>
            <a:pathLst>
              <a:path w="76200" h="460375">
                <a:moveTo>
                  <a:pt x="33303" y="50684"/>
                </a:moveTo>
                <a:lnTo>
                  <a:pt x="31595" y="459790"/>
                </a:lnTo>
                <a:lnTo>
                  <a:pt x="41109" y="459830"/>
                </a:lnTo>
                <a:lnTo>
                  <a:pt x="42818" y="50724"/>
                </a:lnTo>
                <a:lnTo>
                  <a:pt x="33303" y="50684"/>
                </a:lnTo>
                <a:close/>
              </a:path>
              <a:path w="76200" h="460375">
                <a:moveTo>
                  <a:pt x="66555" y="38009"/>
                </a:moveTo>
                <a:lnTo>
                  <a:pt x="33356" y="38009"/>
                </a:lnTo>
                <a:lnTo>
                  <a:pt x="42871" y="38049"/>
                </a:lnTo>
                <a:lnTo>
                  <a:pt x="42818" y="50724"/>
                </a:lnTo>
                <a:lnTo>
                  <a:pt x="76119" y="50863"/>
                </a:lnTo>
                <a:lnTo>
                  <a:pt x="66555" y="38009"/>
                </a:lnTo>
                <a:close/>
              </a:path>
              <a:path w="76200" h="460375">
                <a:moveTo>
                  <a:pt x="33356" y="38009"/>
                </a:moveTo>
                <a:lnTo>
                  <a:pt x="33303" y="50684"/>
                </a:lnTo>
                <a:lnTo>
                  <a:pt x="42818" y="50724"/>
                </a:lnTo>
                <a:lnTo>
                  <a:pt x="42871" y="38049"/>
                </a:lnTo>
                <a:lnTo>
                  <a:pt x="33356" y="38009"/>
                </a:lnTo>
                <a:close/>
              </a:path>
              <a:path w="76200" h="460375">
                <a:moveTo>
                  <a:pt x="38272" y="0"/>
                </a:moveTo>
                <a:lnTo>
                  <a:pt x="0" y="50545"/>
                </a:lnTo>
                <a:lnTo>
                  <a:pt x="33303" y="50684"/>
                </a:lnTo>
                <a:lnTo>
                  <a:pt x="33356" y="38009"/>
                </a:lnTo>
                <a:lnTo>
                  <a:pt x="66555" y="38009"/>
                </a:lnTo>
                <a:lnTo>
                  <a:pt x="38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156560" y="5702922"/>
            <a:ext cx="1079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ndara"/>
                <a:cs typeface="Candara"/>
              </a:rPr>
              <a:t>X</a:t>
            </a:r>
            <a:endParaRPr sz="1100">
              <a:latin typeface="Candara"/>
              <a:cs typeface="Candara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2173115" y="5917931"/>
          <a:ext cx="500379" cy="359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9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1405149" y="3633330"/>
            <a:ext cx="1231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ndara"/>
                <a:cs typeface="Candara"/>
              </a:rPr>
              <a:t>Q</a:t>
            </a:r>
            <a:endParaRPr sz="1100">
              <a:latin typeface="Candara"/>
              <a:cs typeface="Candara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1421705" y="3847361"/>
          <a:ext cx="250190" cy="359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9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2222578" y="3633330"/>
            <a:ext cx="1079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ndara"/>
                <a:cs typeface="Candara"/>
              </a:rPr>
              <a:t>K</a:t>
            </a:r>
            <a:endParaRPr sz="1100">
              <a:latin typeface="Candara"/>
              <a:cs typeface="Candar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39028" y="3846652"/>
            <a:ext cx="263485" cy="37291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2976219" y="3636378"/>
            <a:ext cx="1060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ndara"/>
                <a:cs typeface="Candara"/>
              </a:rPr>
              <a:t>V</a:t>
            </a:r>
            <a:endParaRPr sz="1100">
              <a:latin typeface="Candara"/>
              <a:cs typeface="Candar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500886" y="3851435"/>
            <a:ext cx="1755775" cy="651510"/>
            <a:chOff x="1500886" y="3851435"/>
            <a:chExt cx="1755775" cy="651510"/>
          </a:xfrm>
        </p:grpSpPr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92667" y="3851435"/>
              <a:ext cx="263485" cy="37291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505648" y="4360644"/>
              <a:ext cx="221615" cy="137160"/>
            </a:xfrm>
            <a:custGeom>
              <a:avLst/>
              <a:gdLst/>
              <a:ahLst/>
              <a:cxnLst/>
              <a:rect l="l" t="t" r="r" b="b"/>
              <a:pathLst>
                <a:path w="221614" h="137160">
                  <a:moveTo>
                    <a:pt x="198484" y="0"/>
                  </a:moveTo>
                  <a:lnTo>
                    <a:pt x="22875" y="0"/>
                  </a:lnTo>
                  <a:lnTo>
                    <a:pt x="13971" y="1796"/>
                  </a:lnTo>
                  <a:lnTo>
                    <a:pt x="6699" y="6694"/>
                  </a:lnTo>
                  <a:lnTo>
                    <a:pt x="1797" y="13959"/>
                  </a:lnTo>
                  <a:lnTo>
                    <a:pt x="0" y="22856"/>
                  </a:lnTo>
                  <a:lnTo>
                    <a:pt x="0" y="114282"/>
                  </a:lnTo>
                  <a:lnTo>
                    <a:pt x="1797" y="123179"/>
                  </a:lnTo>
                  <a:lnTo>
                    <a:pt x="6699" y="130444"/>
                  </a:lnTo>
                  <a:lnTo>
                    <a:pt x="13971" y="135342"/>
                  </a:lnTo>
                  <a:lnTo>
                    <a:pt x="22875" y="137138"/>
                  </a:lnTo>
                  <a:lnTo>
                    <a:pt x="198484" y="137138"/>
                  </a:lnTo>
                  <a:lnTo>
                    <a:pt x="207388" y="135342"/>
                  </a:lnTo>
                  <a:lnTo>
                    <a:pt x="214659" y="130444"/>
                  </a:lnTo>
                  <a:lnTo>
                    <a:pt x="219562" y="123179"/>
                  </a:lnTo>
                  <a:lnTo>
                    <a:pt x="221359" y="114282"/>
                  </a:lnTo>
                  <a:lnTo>
                    <a:pt x="221359" y="22856"/>
                  </a:lnTo>
                  <a:lnTo>
                    <a:pt x="219562" y="13959"/>
                  </a:lnTo>
                  <a:lnTo>
                    <a:pt x="214659" y="6694"/>
                  </a:lnTo>
                  <a:lnTo>
                    <a:pt x="207388" y="1796"/>
                  </a:lnTo>
                  <a:lnTo>
                    <a:pt x="1984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05648" y="4360644"/>
              <a:ext cx="221615" cy="137160"/>
            </a:xfrm>
            <a:custGeom>
              <a:avLst/>
              <a:gdLst/>
              <a:ahLst/>
              <a:cxnLst/>
              <a:rect l="l" t="t" r="r" b="b"/>
              <a:pathLst>
                <a:path w="221614" h="137160">
                  <a:moveTo>
                    <a:pt x="0" y="22857"/>
                  </a:moveTo>
                  <a:lnTo>
                    <a:pt x="1797" y="13960"/>
                  </a:lnTo>
                  <a:lnTo>
                    <a:pt x="6700" y="6694"/>
                  </a:lnTo>
                  <a:lnTo>
                    <a:pt x="13971" y="1796"/>
                  </a:lnTo>
                  <a:lnTo>
                    <a:pt x="22875" y="0"/>
                  </a:lnTo>
                  <a:lnTo>
                    <a:pt x="198484" y="0"/>
                  </a:lnTo>
                  <a:lnTo>
                    <a:pt x="207388" y="1796"/>
                  </a:lnTo>
                  <a:lnTo>
                    <a:pt x="214660" y="6694"/>
                  </a:lnTo>
                  <a:lnTo>
                    <a:pt x="219562" y="13960"/>
                  </a:lnTo>
                  <a:lnTo>
                    <a:pt x="221360" y="22857"/>
                  </a:lnTo>
                  <a:lnTo>
                    <a:pt x="221360" y="114282"/>
                  </a:lnTo>
                  <a:lnTo>
                    <a:pt x="219562" y="123179"/>
                  </a:lnTo>
                  <a:lnTo>
                    <a:pt x="214660" y="130444"/>
                  </a:lnTo>
                  <a:lnTo>
                    <a:pt x="207388" y="135343"/>
                  </a:lnTo>
                  <a:lnTo>
                    <a:pt x="198484" y="137139"/>
                  </a:lnTo>
                  <a:lnTo>
                    <a:pt x="22875" y="137139"/>
                  </a:lnTo>
                  <a:lnTo>
                    <a:pt x="13971" y="135343"/>
                  </a:lnTo>
                  <a:lnTo>
                    <a:pt x="6700" y="130444"/>
                  </a:lnTo>
                  <a:lnTo>
                    <a:pt x="1797" y="123179"/>
                  </a:lnTo>
                  <a:lnTo>
                    <a:pt x="0" y="114282"/>
                  </a:lnTo>
                  <a:lnTo>
                    <a:pt x="0" y="22857"/>
                  </a:lnTo>
                  <a:close/>
                </a:path>
              </a:pathLst>
            </a:custGeom>
            <a:ln w="95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548916" y="4316082"/>
            <a:ext cx="1352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mbria Math"/>
                <a:cs typeface="Cambria Math"/>
              </a:rPr>
              <a:t>⨉</a:t>
            </a:r>
            <a:endParaRPr sz="1100">
              <a:latin typeface="Cambria Math"/>
              <a:cs typeface="Cambria Math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577976" y="4213931"/>
            <a:ext cx="965200" cy="736600"/>
            <a:chOff x="1577976" y="4213931"/>
            <a:chExt cx="965200" cy="736600"/>
          </a:xfrm>
        </p:grpSpPr>
        <p:sp>
          <p:nvSpPr>
            <p:cNvPr id="36" name="object 36"/>
            <p:cNvSpPr/>
            <p:nvPr/>
          </p:nvSpPr>
          <p:spPr>
            <a:xfrm>
              <a:off x="1577975" y="4213936"/>
              <a:ext cx="887730" cy="736600"/>
            </a:xfrm>
            <a:custGeom>
              <a:avLst/>
              <a:gdLst/>
              <a:ahLst/>
              <a:cxnLst/>
              <a:rect l="l" t="t" r="r" b="b"/>
              <a:pathLst>
                <a:path w="887730" h="736600">
                  <a:moveTo>
                    <a:pt x="76111" y="50584"/>
                  </a:moveTo>
                  <a:lnTo>
                    <a:pt x="66611" y="38011"/>
                  </a:lnTo>
                  <a:lnTo>
                    <a:pt x="37896" y="0"/>
                  </a:lnTo>
                  <a:lnTo>
                    <a:pt x="0" y="50825"/>
                  </a:lnTo>
                  <a:lnTo>
                    <a:pt x="33299" y="50723"/>
                  </a:lnTo>
                  <a:lnTo>
                    <a:pt x="33591" y="146723"/>
                  </a:lnTo>
                  <a:lnTo>
                    <a:pt x="43103" y="146697"/>
                  </a:lnTo>
                  <a:lnTo>
                    <a:pt x="42811" y="50685"/>
                  </a:lnTo>
                  <a:lnTo>
                    <a:pt x="76111" y="50584"/>
                  </a:lnTo>
                  <a:close/>
                </a:path>
                <a:path w="887730" h="736600">
                  <a:moveTo>
                    <a:pt x="887145" y="329895"/>
                  </a:moveTo>
                  <a:lnTo>
                    <a:pt x="877544" y="316928"/>
                  </a:lnTo>
                  <a:lnTo>
                    <a:pt x="849426" y="278942"/>
                  </a:lnTo>
                  <a:lnTo>
                    <a:pt x="811022" y="329387"/>
                  </a:lnTo>
                  <a:lnTo>
                    <a:pt x="844321" y="329615"/>
                  </a:lnTo>
                  <a:lnTo>
                    <a:pt x="841552" y="736536"/>
                  </a:lnTo>
                  <a:lnTo>
                    <a:pt x="851065" y="736600"/>
                  </a:lnTo>
                  <a:lnTo>
                    <a:pt x="853833" y="329679"/>
                  </a:lnTo>
                  <a:lnTo>
                    <a:pt x="887145" y="3298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6726" y="4355729"/>
              <a:ext cx="221615" cy="137160"/>
            </a:xfrm>
            <a:custGeom>
              <a:avLst/>
              <a:gdLst/>
              <a:ahLst/>
              <a:cxnLst/>
              <a:rect l="l" t="t" r="r" b="b"/>
              <a:pathLst>
                <a:path w="221614" h="137160">
                  <a:moveTo>
                    <a:pt x="198484" y="0"/>
                  </a:moveTo>
                  <a:lnTo>
                    <a:pt x="22875" y="0"/>
                  </a:lnTo>
                  <a:lnTo>
                    <a:pt x="13971" y="1796"/>
                  </a:lnTo>
                  <a:lnTo>
                    <a:pt x="6699" y="6694"/>
                  </a:lnTo>
                  <a:lnTo>
                    <a:pt x="1797" y="13959"/>
                  </a:lnTo>
                  <a:lnTo>
                    <a:pt x="0" y="22856"/>
                  </a:lnTo>
                  <a:lnTo>
                    <a:pt x="0" y="114282"/>
                  </a:lnTo>
                  <a:lnTo>
                    <a:pt x="1797" y="123179"/>
                  </a:lnTo>
                  <a:lnTo>
                    <a:pt x="6699" y="130444"/>
                  </a:lnTo>
                  <a:lnTo>
                    <a:pt x="13971" y="135343"/>
                  </a:lnTo>
                  <a:lnTo>
                    <a:pt x="22875" y="137139"/>
                  </a:lnTo>
                  <a:lnTo>
                    <a:pt x="198484" y="137139"/>
                  </a:lnTo>
                  <a:lnTo>
                    <a:pt x="207388" y="135343"/>
                  </a:lnTo>
                  <a:lnTo>
                    <a:pt x="214659" y="130444"/>
                  </a:lnTo>
                  <a:lnTo>
                    <a:pt x="219562" y="123179"/>
                  </a:lnTo>
                  <a:lnTo>
                    <a:pt x="221359" y="114282"/>
                  </a:lnTo>
                  <a:lnTo>
                    <a:pt x="221359" y="22856"/>
                  </a:lnTo>
                  <a:lnTo>
                    <a:pt x="219562" y="13959"/>
                  </a:lnTo>
                  <a:lnTo>
                    <a:pt x="214659" y="6694"/>
                  </a:lnTo>
                  <a:lnTo>
                    <a:pt x="207388" y="1796"/>
                  </a:lnTo>
                  <a:lnTo>
                    <a:pt x="1984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16726" y="4355729"/>
              <a:ext cx="221615" cy="137160"/>
            </a:xfrm>
            <a:custGeom>
              <a:avLst/>
              <a:gdLst/>
              <a:ahLst/>
              <a:cxnLst/>
              <a:rect l="l" t="t" r="r" b="b"/>
              <a:pathLst>
                <a:path w="221614" h="137160">
                  <a:moveTo>
                    <a:pt x="0" y="22857"/>
                  </a:moveTo>
                  <a:lnTo>
                    <a:pt x="1797" y="13960"/>
                  </a:lnTo>
                  <a:lnTo>
                    <a:pt x="6700" y="6694"/>
                  </a:lnTo>
                  <a:lnTo>
                    <a:pt x="13971" y="1796"/>
                  </a:lnTo>
                  <a:lnTo>
                    <a:pt x="22875" y="0"/>
                  </a:lnTo>
                  <a:lnTo>
                    <a:pt x="198484" y="0"/>
                  </a:lnTo>
                  <a:lnTo>
                    <a:pt x="207388" y="1796"/>
                  </a:lnTo>
                  <a:lnTo>
                    <a:pt x="214660" y="6694"/>
                  </a:lnTo>
                  <a:lnTo>
                    <a:pt x="219562" y="13960"/>
                  </a:lnTo>
                  <a:lnTo>
                    <a:pt x="221360" y="22857"/>
                  </a:lnTo>
                  <a:lnTo>
                    <a:pt x="221360" y="114282"/>
                  </a:lnTo>
                  <a:lnTo>
                    <a:pt x="219562" y="123179"/>
                  </a:lnTo>
                  <a:lnTo>
                    <a:pt x="214660" y="130444"/>
                  </a:lnTo>
                  <a:lnTo>
                    <a:pt x="207388" y="135343"/>
                  </a:lnTo>
                  <a:lnTo>
                    <a:pt x="198484" y="137139"/>
                  </a:lnTo>
                  <a:lnTo>
                    <a:pt x="22875" y="137139"/>
                  </a:lnTo>
                  <a:lnTo>
                    <a:pt x="13971" y="135343"/>
                  </a:lnTo>
                  <a:lnTo>
                    <a:pt x="6700" y="130444"/>
                  </a:lnTo>
                  <a:lnTo>
                    <a:pt x="1797" y="123179"/>
                  </a:lnTo>
                  <a:lnTo>
                    <a:pt x="0" y="114282"/>
                  </a:lnTo>
                  <a:lnTo>
                    <a:pt x="0" y="22857"/>
                  </a:lnTo>
                  <a:close/>
                </a:path>
              </a:pathLst>
            </a:custGeom>
            <a:ln w="95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359993" y="4309986"/>
            <a:ext cx="1352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mbria Math"/>
                <a:cs typeface="Cambria Math"/>
              </a:rPr>
              <a:t>⨉</a:t>
            </a:r>
            <a:endParaRPr sz="1100">
              <a:latin typeface="Cambria Math"/>
              <a:cs typeface="Cambria Math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393184" y="4213222"/>
            <a:ext cx="906780" cy="739775"/>
            <a:chOff x="2393184" y="4213222"/>
            <a:chExt cx="906780" cy="739775"/>
          </a:xfrm>
        </p:grpSpPr>
        <p:sp>
          <p:nvSpPr>
            <p:cNvPr id="41" name="object 41"/>
            <p:cNvSpPr/>
            <p:nvPr/>
          </p:nvSpPr>
          <p:spPr>
            <a:xfrm>
              <a:off x="2393175" y="4213224"/>
              <a:ext cx="829944" cy="739775"/>
            </a:xfrm>
            <a:custGeom>
              <a:avLst/>
              <a:gdLst/>
              <a:ahLst/>
              <a:cxnLst/>
              <a:rect l="l" t="t" r="r" b="b"/>
              <a:pathLst>
                <a:path w="829944" h="739775">
                  <a:moveTo>
                    <a:pt x="76060" y="52235"/>
                  </a:moveTo>
                  <a:lnTo>
                    <a:pt x="66128" y="37807"/>
                  </a:lnTo>
                  <a:lnTo>
                    <a:pt x="40132" y="0"/>
                  </a:lnTo>
                  <a:lnTo>
                    <a:pt x="0" y="49098"/>
                  </a:lnTo>
                  <a:lnTo>
                    <a:pt x="33274" y="50469"/>
                  </a:lnTo>
                  <a:lnTo>
                    <a:pt x="29476" y="142316"/>
                  </a:lnTo>
                  <a:lnTo>
                    <a:pt x="38976" y="142709"/>
                  </a:lnTo>
                  <a:lnTo>
                    <a:pt x="42786" y="50863"/>
                  </a:lnTo>
                  <a:lnTo>
                    <a:pt x="76060" y="52235"/>
                  </a:lnTo>
                  <a:close/>
                </a:path>
                <a:path w="829944" h="739775">
                  <a:moveTo>
                    <a:pt x="829525" y="331533"/>
                  </a:moveTo>
                  <a:lnTo>
                    <a:pt x="820051" y="319087"/>
                  </a:lnTo>
                  <a:lnTo>
                    <a:pt x="791121" y="281089"/>
                  </a:lnTo>
                  <a:lnTo>
                    <a:pt x="753414" y="332054"/>
                  </a:lnTo>
                  <a:lnTo>
                    <a:pt x="786714" y="331825"/>
                  </a:lnTo>
                  <a:lnTo>
                    <a:pt x="789546" y="739521"/>
                  </a:lnTo>
                  <a:lnTo>
                    <a:pt x="799058" y="739457"/>
                  </a:lnTo>
                  <a:lnTo>
                    <a:pt x="796226" y="331762"/>
                  </a:lnTo>
                  <a:lnTo>
                    <a:pt x="829525" y="3315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73619" y="4357170"/>
              <a:ext cx="221615" cy="137160"/>
            </a:xfrm>
            <a:custGeom>
              <a:avLst/>
              <a:gdLst/>
              <a:ahLst/>
              <a:cxnLst/>
              <a:rect l="l" t="t" r="r" b="b"/>
              <a:pathLst>
                <a:path w="221614" h="137160">
                  <a:moveTo>
                    <a:pt x="198484" y="0"/>
                  </a:moveTo>
                  <a:lnTo>
                    <a:pt x="22875" y="0"/>
                  </a:lnTo>
                  <a:lnTo>
                    <a:pt x="13971" y="1796"/>
                  </a:lnTo>
                  <a:lnTo>
                    <a:pt x="6700" y="6694"/>
                  </a:lnTo>
                  <a:lnTo>
                    <a:pt x="1797" y="13959"/>
                  </a:lnTo>
                  <a:lnTo>
                    <a:pt x="0" y="22856"/>
                  </a:lnTo>
                  <a:lnTo>
                    <a:pt x="0" y="114282"/>
                  </a:lnTo>
                  <a:lnTo>
                    <a:pt x="1797" y="123179"/>
                  </a:lnTo>
                  <a:lnTo>
                    <a:pt x="6700" y="130444"/>
                  </a:lnTo>
                  <a:lnTo>
                    <a:pt x="13971" y="135343"/>
                  </a:lnTo>
                  <a:lnTo>
                    <a:pt x="22875" y="137139"/>
                  </a:lnTo>
                  <a:lnTo>
                    <a:pt x="198484" y="137139"/>
                  </a:lnTo>
                  <a:lnTo>
                    <a:pt x="207388" y="135343"/>
                  </a:lnTo>
                  <a:lnTo>
                    <a:pt x="214660" y="130444"/>
                  </a:lnTo>
                  <a:lnTo>
                    <a:pt x="219563" y="123179"/>
                  </a:lnTo>
                  <a:lnTo>
                    <a:pt x="221360" y="114282"/>
                  </a:lnTo>
                  <a:lnTo>
                    <a:pt x="221360" y="22856"/>
                  </a:lnTo>
                  <a:lnTo>
                    <a:pt x="219563" y="13959"/>
                  </a:lnTo>
                  <a:lnTo>
                    <a:pt x="214660" y="6694"/>
                  </a:lnTo>
                  <a:lnTo>
                    <a:pt x="207388" y="1796"/>
                  </a:lnTo>
                  <a:lnTo>
                    <a:pt x="1984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73619" y="4357170"/>
              <a:ext cx="221615" cy="137160"/>
            </a:xfrm>
            <a:custGeom>
              <a:avLst/>
              <a:gdLst/>
              <a:ahLst/>
              <a:cxnLst/>
              <a:rect l="l" t="t" r="r" b="b"/>
              <a:pathLst>
                <a:path w="221614" h="137160">
                  <a:moveTo>
                    <a:pt x="0" y="22857"/>
                  </a:moveTo>
                  <a:lnTo>
                    <a:pt x="1797" y="13960"/>
                  </a:lnTo>
                  <a:lnTo>
                    <a:pt x="6700" y="6694"/>
                  </a:lnTo>
                  <a:lnTo>
                    <a:pt x="13971" y="1796"/>
                  </a:lnTo>
                  <a:lnTo>
                    <a:pt x="22875" y="0"/>
                  </a:lnTo>
                  <a:lnTo>
                    <a:pt x="198484" y="0"/>
                  </a:lnTo>
                  <a:lnTo>
                    <a:pt x="207388" y="1796"/>
                  </a:lnTo>
                  <a:lnTo>
                    <a:pt x="214660" y="6694"/>
                  </a:lnTo>
                  <a:lnTo>
                    <a:pt x="219562" y="13960"/>
                  </a:lnTo>
                  <a:lnTo>
                    <a:pt x="221360" y="22857"/>
                  </a:lnTo>
                  <a:lnTo>
                    <a:pt x="221360" y="114282"/>
                  </a:lnTo>
                  <a:lnTo>
                    <a:pt x="219562" y="123179"/>
                  </a:lnTo>
                  <a:lnTo>
                    <a:pt x="214660" y="130444"/>
                  </a:lnTo>
                  <a:lnTo>
                    <a:pt x="207388" y="135343"/>
                  </a:lnTo>
                  <a:lnTo>
                    <a:pt x="198484" y="137139"/>
                  </a:lnTo>
                  <a:lnTo>
                    <a:pt x="22875" y="137139"/>
                  </a:lnTo>
                  <a:lnTo>
                    <a:pt x="13971" y="135343"/>
                  </a:lnTo>
                  <a:lnTo>
                    <a:pt x="6700" y="130444"/>
                  </a:lnTo>
                  <a:lnTo>
                    <a:pt x="1797" y="123179"/>
                  </a:lnTo>
                  <a:lnTo>
                    <a:pt x="0" y="114282"/>
                  </a:lnTo>
                  <a:lnTo>
                    <a:pt x="0" y="22857"/>
                  </a:lnTo>
                  <a:close/>
                </a:path>
              </a:pathLst>
            </a:custGeom>
            <a:ln w="95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116888" y="4313034"/>
            <a:ext cx="1352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mbria Math"/>
                <a:cs typeface="Cambria Math"/>
              </a:rPr>
              <a:t>⨉</a:t>
            </a:r>
            <a:endParaRPr sz="1100">
              <a:latin typeface="Cambria Math"/>
              <a:cs typeface="Cambria Math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418516" y="3335484"/>
            <a:ext cx="1884045" cy="2591435"/>
            <a:chOff x="1418516" y="3335484"/>
            <a:chExt cx="1884045" cy="2591435"/>
          </a:xfrm>
        </p:grpSpPr>
        <p:sp>
          <p:nvSpPr>
            <p:cNvPr id="46" name="object 46"/>
            <p:cNvSpPr/>
            <p:nvPr/>
          </p:nvSpPr>
          <p:spPr>
            <a:xfrm>
              <a:off x="2488514" y="4218012"/>
              <a:ext cx="735965" cy="1708785"/>
            </a:xfrm>
            <a:custGeom>
              <a:avLst/>
              <a:gdLst/>
              <a:ahLst/>
              <a:cxnLst/>
              <a:rect l="l" t="t" r="r" b="b"/>
              <a:pathLst>
                <a:path w="735964" h="1708785">
                  <a:moveTo>
                    <a:pt x="707974" y="338505"/>
                  </a:moveTo>
                  <a:lnTo>
                    <a:pt x="702081" y="308470"/>
                  </a:lnTo>
                  <a:lnTo>
                    <a:pt x="695782" y="276301"/>
                  </a:lnTo>
                  <a:lnTo>
                    <a:pt x="639432" y="305409"/>
                  </a:lnTo>
                  <a:lnTo>
                    <a:pt x="669417" y="319887"/>
                  </a:lnTo>
                  <a:lnTo>
                    <a:pt x="0" y="1704200"/>
                  </a:lnTo>
                  <a:lnTo>
                    <a:pt x="8559" y="1708327"/>
                  </a:lnTo>
                  <a:lnTo>
                    <a:pt x="677989" y="324027"/>
                  </a:lnTo>
                  <a:lnTo>
                    <a:pt x="707974" y="338505"/>
                  </a:lnTo>
                  <a:close/>
                </a:path>
                <a:path w="735964" h="1708785">
                  <a:moveTo>
                    <a:pt x="735520" y="51422"/>
                  </a:moveTo>
                  <a:lnTo>
                    <a:pt x="725792" y="37934"/>
                  </a:lnTo>
                  <a:lnTo>
                    <a:pt x="698436" y="0"/>
                  </a:lnTo>
                  <a:lnTo>
                    <a:pt x="659409" y="49974"/>
                  </a:lnTo>
                  <a:lnTo>
                    <a:pt x="692708" y="50609"/>
                  </a:lnTo>
                  <a:lnTo>
                    <a:pt x="691019" y="139077"/>
                  </a:lnTo>
                  <a:lnTo>
                    <a:pt x="700532" y="139255"/>
                  </a:lnTo>
                  <a:lnTo>
                    <a:pt x="702221" y="50787"/>
                  </a:lnTo>
                  <a:lnTo>
                    <a:pt x="735520" y="514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423278" y="3340247"/>
              <a:ext cx="1874520" cy="215265"/>
            </a:xfrm>
            <a:custGeom>
              <a:avLst/>
              <a:gdLst/>
              <a:ahLst/>
              <a:cxnLst/>
              <a:rect l="l" t="t" r="r" b="b"/>
              <a:pathLst>
                <a:path w="1874520" h="215264">
                  <a:moveTo>
                    <a:pt x="1838454" y="0"/>
                  </a:moveTo>
                  <a:lnTo>
                    <a:pt x="35873" y="0"/>
                  </a:lnTo>
                  <a:lnTo>
                    <a:pt x="21910" y="2816"/>
                  </a:lnTo>
                  <a:lnTo>
                    <a:pt x="10507" y="10498"/>
                  </a:lnTo>
                  <a:lnTo>
                    <a:pt x="2819" y="21892"/>
                  </a:lnTo>
                  <a:lnTo>
                    <a:pt x="0" y="35844"/>
                  </a:lnTo>
                  <a:lnTo>
                    <a:pt x="0" y="179218"/>
                  </a:lnTo>
                  <a:lnTo>
                    <a:pt x="2819" y="193171"/>
                  </a:lnTo>
                  <a:lnTo>
                    <a:pt x="10507" y="204564"/>
                  </a:lnTo>
                  <a:lnTo>
                    <a:pt x="21910" y="212246"/>
                  </a:lnTo>
                  <a:lnTo>
                    <a:pt x="35873" y="215063"/>
                  </a:lnTo>
                  <a:lnTo>
                    <a:pt x="1838454" y="215063"/>
                  </a:lnTo>
                  <a:lnTo>
                    <a:pt x="1852417" y="212246"/>
                  </a:lnTo>
                  <a:lnTo>
                    <a:pt x="1863820" y="204564"/>
                  </a:lnTo>
                  <a:lnTo>
                    <a:pt x="1871507" y="193171"/>
                  </a:lnTo>
                  <a:lnTo>
                    <a:pt x="1874326" y="179218"/>
                  </a:lnTo>
                  <a:lnTo>
                    <a:pt x="1874326" y="35844"/>
                  </a:lnTo>
                  <a:lnTo>
                    <a:pt x="1871507" y="21892"/>
                  </a:lnTo>
                  <a:lnTo>
                    <a:pt x="1863820" y="10498"/>
                  </a:lnTo>
                  <a:lnTo>
                    <a:pt x="1852417" y="2816"/>
                  </a:lnTo>
                  <a:lnTo>
                    <a:pt x="183845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423278" y="3340247"/>
              <a:ext cx="1874520" cy="215265"/>
            </a:xfrm>
            <a:custGeom>
              <a:avLst/>
              <a:gdLst/>
              <a:ahLst/>
              <a:cxnLst/>
              <a:rect l="l" t="t" r="r" b="b"/>
              <a:pathLst>
                <a:path w="1874520" h="215264">
                  <a:moveTo>
                    <a:pt x="0" y="35844"/>
                  </a:moveTo>
                  <a:lnTo>
                    <a:pt x="2819" y="21892"/>
                  </a:lnTo>
                  <a:lnTo>
                    <a:pt x="10507" y="10498"/>
                  </a:lnTo>
                  <a:lnTo>
                    <a:pt x="21909" y="2816"/>
                  </a:lnTo>
                  <a:lnTo>
                    <a:pt x="35873" y="0"/>
                  </a:lnTo>
                  <a:lnTo>
                    <a:pt x="1838453" y="0"/>
                  </a:lnTo>
                  <a:lnTo>
                    <a:pt x="1852417" y="2816"/>
                  </a:lnTo>
                  <a:lnTo>
                    <a:pt x="1863820" y="10498"/>
                  </a:lnTo>
                  <a:lnTo>
                    <a:pt x="1871508" y="21892"/>
                  </a:lnTo>
                  <a:lnTo>
                    <a:pt x="1874327" y="35844"/>
                  </a:lnTo>
                  <a:lnTo>
                    <a:pt x="1874327" y="179218"/>
                  </a:lnTo>
                  <a:lnTo>
                    <a:pt x="1871508" y="193170"/>
                  </a:lnTo>
                  <a:lnTo>
                    <a:pt x="1863820" y="204564"/>
                  </a:lnTo>
                  <a:lnTo>
                    <a:pt x="1852417" y="212246"/>
                  </a:lnTo>
                  <a:lnTo>
                    <a:pt x="1838453" y="215062"/>
                  </a:lnTo>
                  <a:lnTo>
                    <a:pt x="35873" y="215062"/>
                  </a:lnTo>
                  <a:lnTo>
                    <a:pt x="21909" y="212246"/>
                  </a:lnTo>
                  <a:lnTo>
                    <a:pt x="10507" y="204564"/>
                  </a:lnTo>
                  <a:lnTo>
                    <a:pt x="2819" y="193170"/>
                  </a:lnTo>
                  <a:lnTo>
                    <a:pt x="0" y="179218"/>
                  </a:lnTo>
                  <a:lnTo>
                    <a:pt x="0" y="35844"/>
                  </a:lnTo>
                  <a:close/>
                </a:path>
              </a:pathLst>
            </a:custGeom>
            <a:ln w="9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2071805" y="3334626"/>
            <a:ext cx="5765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ndara"/>
                <a:cs typeface="Candara"/>
              </a:rPr>
              <a:t>attention</a:t>
            </a:r>
            <a:endParaRPr sz="1100">
              <a:latin typeface="Candara"/>
              <a:cs typeface="Candar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576275" y="2707738"/>
            <a:ext cx="1648460" cy="1150620"/>
            <a:chOff x="1576275" y="2707738"/>
            <a:chExt cx="1648460" cy="1150620"/>
          </a:xfrm>
        </p:grpSpPr>
        <p:sp>
          <p:nvSpPr>
            <p:cNvPr id="51" name="object 51"/>
            <p:cNvSpPr/>
            <p:nvPr/>
          </p:nvSpPr>
          <p:spPr>
            <a:xfrm>
              <a:off x="1576273" y="2707741"/>
              <a:ext cx="1648460" cy="1150620"/>
            </a:xfrm>
            <a:custGeom>
              <a:avLst/>
              <a:gdLst/>
              <a:ahLst/>
              <a:cxnLst/>
              <a:rect l="l" t="t" r="r" b="b"/>
              <a:pathLst>
                <a:path w="1648460" h="1150620">
                  <a:moveTo>
                    <a:pt x="76111" y="906259"/>
                  </a:moveTo>
                  <a:lnTo>
                    <a:pt x="66636" y="893826"/>
                  </a:lnTo>
                  <a:lnTo>
                    <a:pt x="37680" y="855827"/>
                  </a:lnTo>
                  <a:lnTo>
                    <a:pt x="0" y="906818"/>
                  </a:lnTo>
                  <a:lnTo>
                    <a:pt x="33299" y="906576"/>
                  </a:lnTo>
                  <a:lnTo>
                    <a:pt x="35064" y="1145997"/>
                  </a:lnTo>
                  <a:lnTo>
                    <a:pt x="44577" y="1145933"/>
                  </a:lnTo>
                  <a:lnTo>
                    <a:pt x="42811" y="906500"/>
                  </a:lnTo>
                  <a:lnTo>
                    <a:pt x="76111" y="906259"/>
                  </a:lnTo>
                  <a:close/>
                </a:path>
                <a:path w="1648460" h="1150620">
                  <a:moveTo>
                    <a:pt x="823201" y="50774"/>
                  </a:moveTo>
                  <a:lnTo>
                    <a:pt x="813676" y="38023"/>
                  </a:lnTo>
                  <a:lnTo>
                    <a:pt x="785228" y="0"/>
                  </a:lnTo>
                  <a:lnTo>
                    <a:pt x="747090" y="50647"/>
                  </a:lnTo>
                  <a:lnTo>
                    <a:pt x="780389" y="50698"/>
                  </a:lnTo>
                  <a:lnTo>
                    <a:pt x="779411" y="632498"/>
                  </a:lnTo>
                  <a:lnTo>
                    <a:pt x="788924" y="632523"/>
                  </a:lnTo>
                  <a:lnTo>
                    <a:pt x="789901" y="50723"/>
                  </a:lnTo>
                  <a:lnTo>
                    <a:pt x="823201" y="50774"/>
                  </a:lnTo>
                  <a:close/>
                </a:path>
                <a:path w="1648460" h="1150620">
                  <a:moveTo>
                    <a:pt x="880186" y="898283"/>
                  </a:moveTo>
                  <a:lnTo>
                    <a:pt x="870673" y="885609"/>
                  </a:lnTo>
                  <a:lnTo>
                    <a:pt x="842124" y="847572"/>
                  </a:lnTo>
                  <a:lnTo>
                    <a:pt x="804062" y="898283"/>
                  </a:lnTo>
                  <a:lnTo>
                    <a:pt x="837374" y="898283"/>
                  </a:lnTo>
                  <a:lnTo>
                    <a:pt x="837374" y="1145260"/>
                  </a:lnTo>
                  <a:lnTo>
                    <a:pt x="846886" y="1145260"/>
                  </a:lnTo>
                  <a:lnTo>
                    <a:pt x="846886" y="898283"/>
                  </a:lnTo>
                  <a:lnTo>
                    <a:pt x="880186" y="898283"/>
                  </a:lnTo>
                  <a:close/>
                </a:path>
                <a:path w="1648460" h="1150620">
                  <a:moveTo>
                    <a:pt x="1648129" y="898156"/>
                  </a:moveTo>
                  <a:lnTo>
                    <a:pt x="1638630" y="885596"/>
                  </a:lnTo>
                  <a:lnTo>
                    <a:pt x="1609915" y="847572"/>
                  </a:lnTo>
                  <a:lnTo>
                    <a:pt x="1572018" y="898398"/>
                  </a:lnTo>
                  <a:lnTo>
                    <a:pt x="1605318" y="898296"/>
                  </a:lnTo>
                  <a:lnTo>
                    <a:pt x="1606130" y="1150061"/>
                  </a:lnTo>
                  <a:lnTo>
                    <a:pt x="1615643" y="1150023"/>
                  </a:lnTo>
                  <a:lnTo>
                    <a:pt x="1614830" y="898271"/>
                  </a:lnTo>
                  <a:lnTo>
                    <a:pt x="1648129" y="8981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624236" y="2882558"/>
              <a:ext cx="1495425" cy="219075"/>
            </a:xfrm>
            <a:custGeom>
              <a:avLst/>
              <a:gdLst/>
              <a:ahLst/>
              <a:cxnLst/>
              <a:rect l="l" t="t" r="r" b="b"/>
              <a:pathLst>
                <a:path w="1495425" h="219075">
                  <a:moveTo>
                    <a:pt x="1458567" y="0"/>
                  </a:moveTo>
                  <a:lnTo>
                    <a:pt x="36539" y="0"/>
                  </a:lnTo>
                  <a:lnTo>
                    <a:pt x="22316" y="2869"/>
                  </a:lnTo>
                  <a:lnTo>
                    <a:pt x="10701" y="10693"/>
                  </a:lnTo>
                  <a:lnTo>
                    <a:pt x="2871" y="22298"/>
                  </a:lnTo>
                  <a:lnTo>
                    <a:pt x="0" y="36509"/>
                  </a:lnTo>
                  <a:lnTo>
                    <a:pt x="0" y="182540"/>
                  </a:lnTo>
                  <a:lnTo>
                    <a:pt x="2871" y="196751"/>
                  </a:lnTo>
                  <a:lnTo>
                    <a:pt x="10701" y="208356"/>
                  </a:lnTo>
                  <a:lnTo>
                    <a:pt x="22316" y="216180"/>
                  </a:lnTo>
                  <a:lnTo>
                    <a:pt x="36539" y="219049"/>
                  </a:lnTo>
                  <a:lnTo>
                    <a:pt x="1458567" y="219049"/>
                  </a:lnTo>
                  <a:lnTo>
                    <a:pt x="1472789" y="216180"/>
                  </a:lnTo>
                  <a:lnTo>
                    <a:pt x="1484404" y="208356"/>
                  </a:lnTo>
                  <a:lnTo>
                    <a:pt x="1492234" y="196751"/>
                  </a:lnTo>
                  <a:lnTo>
                    <a:pt x="1495106" y="182540"/>
                  </a:lnTo>
                  <a:lnTo>
                    <a:pt x="1495106" y="36509"/>
                  </a:lnTo>
                  <a:lnTo>
                    <a:pt x="1492234" y="22298"/>
                  </a:lnTo>
                  <a:lnTo>
                    <a:pt x="1484404" y="10693"/>
                  </a:lnTo>
                  <a:lnTo>
                    <a:pt x="1472789" y="2869"/>
                  </a:lnTo>
                  <a:lnTo>
                    <a:pt x="1458567" y="0"/>
                  </a:lnTo>
                  <a:close/>
                </a:path>
              </a:pathLst>
            </a:custGeom>
            <a:solidFill>
              <a:srgbClr val="D0E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624236" y="2882558"/>
              <a:ext cx="1495425" cy="219075"/>
            </a:xfrm>
            <a:custGeom>
              <a:avLst/>
              <a:gdLst/>
              <a:ahLst/>
              <a:cxnLst/>
              <a:rect l="l" t="t" r="r" b="b"/>
              <a:pathLst>
                <a:path w="1495425" h="219075">
                  <a:moveTo>
                    <a:pt x="0" y="36509"/>
                  </a:moveTo>
                  <a:lnTo>
                    <a:pt x="2871" y="22298"/>
                  </a:lnTo>
                  <a:lnTo>
                    <a:pt x="10701" y="10693"/>
                  </a:lnTo>
                  <a:lnTo>
                    <a:pt x="22316" y="2869"/>
                  </a:lnTo>
                  <a:lnTo>
                    <a:pt x="36538" y="0"/>
                  </a:lnTo>
                  <a:lnTo>
                    <a:pt x="1458566" y="0"/>
                  </a:lnTo>
                  <a:lnTo>
                    <a:pt x="1472789" y="2869"/>
                  </a:lnTo>
                  <a:lnTo>
                    <a:pt x="1484403" y="10693"/>
                  </a:lnTo>
                  <a:lnTo>
                    <a:pt x="1492234" y="22298"/>
                  </a:lnTo>
                  <a:lnTo>
                    <a:pt x="1495105" y="36509"/>
                  </a:lnTo>
                  <a:lnTo>
                    <a:pt x="1495105" y="182540"/>
                  </a:lnTo>
                  <a:lnTo>
                    <a:pt x="1492234" y="196751"/>
                  </a:lnTo>
                  <a:lnTo>
                    <a:pt x="1484403" y="208356"/>
                  </a:lnTo>
                  <a:lnTo>
                    <a:pt x="1472789" y="216180"/>
                  </a:lnTo>
                  <a:lnTo>
                    <a:pt x="1458566" y="219049"/>
                  </a:lnTo>
                  <a:lnTo>
                    <a:pt x="36538" y="219049"/>
                  </a:lnTo>
                  <a:lnTo>
                    <a:pt x="22316" y="216180"/>
                  </a:lnTo>
                  <a:lnTo>
                    <a:pt x="10701" y="208356"/>
                  </a:lnTo>
                  <a:lnTo>
                    <a:pt x="2871" y="196751"/>
                  </a:lnTo>
                  <a:lnTo>
                    <a:pt x="0" y="182540"/>
                  </a:lnTo>
                  <a:lnTo>
                    <a:pt x="0" y="36509"/>
                  </a:lnTo>
                  <a:close/>
                </a:path>
              </a:pathLst>
            </a:custGeom>
            <a:ln w="9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2128348" y="2880474"/>
            <a:ext cx="4876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ndara"/>
                <a:cs typeface="Candara"/>
              </a:rPr>
              <a:t>adapter</a:t>
            </a:r>
            <a:endParaRPr sz="1100">
              <a:latin typeface="Candara"/>
              <a:cs typeface="Candar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1099912" y="2064713"/>
            <a:ext cx="2513965" cy="228600"/>
            <a:chOff x="1099912" y="2064713"/>
            <a:chExt cx="2513965" cy="228600"/>
          </a:xfrm>
        </p:grpSpPr>
        <p:sp>
          <p:nvSpPr>
            <p:cNvPr id="56" name="object 56"/>
            <p:cNvSpPr/>
            <p:nvPr/>
          </p:nvSpPr>
          <p:spPr>
            <a:xfrm>
              <a:off x="1104675" y="2069476"/>
              <a:ext cx="2504440" cy="219075"/>
            </a:xfrm>
            <a:custGeom>
              <a:avLst/>
              <a:gdLst/>
              <a:ahLst/>
              <a:cxnLst/>
              <a:rect l="l" t="t" r="r" b="b"/>
              <a:pathLst>
                <a:path w="2504440" h="219075">
                  <a:moveTo>
                    <a:pt x="2467545" y="0"/>
                  </a:moveTo>
                  <a:lnTo>
                    <a:pt x="36537" y="0"/>
                  </a:lnTo>
                  <a:lnTo>
                    <a:pt x="22315" y="2868"/>
                  </a:lnTo>
                  <a:lnTo>
                    <a:pt x="10701" y="10692"/>
                  </a:lnTo>
                  <a:lnTo>
                    <a:pt x="2871" y="22297"/>
                  </a:lnTo>
                  <a:lnTo>
                    <a:pt x="0" y="36507"/>
                  </a:lnTo>
                  <a:lnTo>
                    <a:pt x="0" y="182542"/>
                  </a:lnTo>
                  <a:lnTo>
                    <a:pt x="2871" y="196752"/>
                  </a:lnTo>
                  <a:lnTo>
                    <a:pt x="10701" y="208356"/>
                  </a:lnTo>
                  <a:lnTo>
                    <a:pt x="22315" y="216180"/>
                  </a:lnTo>
                  <a:lnTo>
                    <a:pt x="36537" y="219049"/>
                  </a:lnTo>
                  <a:lnTo>
                    <a:pt x="2467545" y="219049"/>
                  </a:lnTo>
                  <a:lnTo>
                    <a:pt x="2481767" y="216180"/>
                  </a:lnTo>
                  <a:lnTo>
                    <a:pt x="2493381" y="208356"/>
                  </a:lnTo>
                  <a:lnTo>
                    <a:pt x="2501211" y="196752"/>
                  </a:lnTo>
                  <a:lnTo>
                    <a:pt x="2504083" y="182542"/>
                  </a:lnTo>
                  <a:lnTo>
                    <a:pt x="2504083" y="36507"/>
                  </a:lnTo>
                  <a:lnTo>
                    <a:pt x="2501211" y="22297"/>
                  </a:lnTo>
                  <a:lnTo>
                    <a:pt x="2493381" y="10692"/>
                  </a:lnTo>
                  <a:lnTo>
                    <a:pt x="2481767" y="2868"/>
                  </a:lnTo>
                  <a:lnTo>
                    <a:pt x="246754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104675" y="2069476"/>
              <a:ext cx="2504440" cy="219075"/>
            </a:xfrm>
            <a:custGeom>
              <a:avLst/>
              <a:gdLst/>
              <a:ahLst/>
              <a:cxnLst/>
              <a:rect l="l" t="t" r="r" b="b"/>
              <a:pathLst>
                <a:path w="2504440" h="219075">
                  <a:moveTo>
                    <a:pt x="0" y="36507"/>
                  </a:moveTo>
                  <a:lnTo>
                    <a:pt x="2871" y="22297"/>
                  </a:lnTo>
                  <a:lnTo>
                    <a:pt x="10701" y="10692"/>
                  </a:lnTo>
                  <a:lnTo>
                    <a:pt x="22315" y="2868"/>
                  </a:lnTo>
                  <a:lnTo>
                    <a:pt x="36537" y="0"/>
                  </a:lnTo>
                  <a:lnTo>
                    <a:pt x="2467545" y="0"/>
                  </a:lnTo>
                  <a:lnTo>
                    <a:pt x="2481767" y="2868"/>
                  </a:lnTo>
                  <a:lnTo>
                    <a:pt x="2493381" y="10692"/>
                  </a:lnTo>
                  <a:lnTo>
                    <a:pt x="2501211" y="22297"/>
                  </a:lnTo>
                  <a:lnTo>
                    <a:pt x="2504082" y="36507"/>
                  </a:lnTo>
                  <a:lnTo>
                    <a:pt x="2504082" y="182541"/>
                  </a:lnTo>
                  <a:lnTo>
                    <a:pt x="2501211" y="196752"/>
                  </a:lnTo>
                  <a:lnTo>
                    <a:pt x="2493381" y="208356"/>
                  </a:lnTo>
                  <a:lnTo>
                    <a:pt x="2481767" y="216180"/>
                  </a:lnTo>
                  <a:lnTo>
                    <a:pt x="2467545" y="219049"/>
                  </a:lnTo>
                  <a:lnTo>
                    <a:pt x="36537" y="219049"/>
                  </a:lnTo>
                  <a:lnTo>
                    <a:pt x="22315" y="216180"/>
                  </a:lnTo>
                  <a:lnTo>
                    <a:pt x="10701" y="208356"/>
                  </a:lnTo>
                  <a:lnTo>
                    <a:pt x="2871" y="196752"/>
                  </a:lnTo>
                  <a:lnTo>
                    <a:pt x="0" y="182541"/>
                  </a:lnTo>
                  <a:lnTo>
                    <a:pt x="0" y="36507"/>
                  </a:lnTo>
                  <a:close/>
                </a:path>
              </a:pathLst>
            </a:custGeom>
            <a:ln w="9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1641486" y="2066658"/>
            <a:ext cx="14300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ndara"/>
                <a:cs typeface="Candara"/>
              </a:rPr>
              <a:t>feed-</a:t>
            </a:r>
            <a:r>
              <a:rPr sz="1100" dirty="0">
                <a:latin typeface="Candara"/>
                <a:cs typeface="Candara"/>
              </a:rPr>
              <a:t>forward</a:t>
            </a:r>
            <a:r>
              <a:rPr sz="1100" spc="-25" dirty="0">
                <a:latin typeface="Candara"/>
                <a:cs typeface="Candara"/>
              </a:rPr>
              <a:t> </a:t>
            </a:r>
            <a:r>
              <a:rPr sz="1100" dirty="0">
                <a:latin typeface="Candara"/>
                <a:cs typeface="Candara"/>
              </a:rPr>
              <a:t>neural</a:t>
            </a:r>
            <a:r>
              <a:rPr sz="1100" spc="-15" dirty="0">
                <a:latin typeface="Candara"/>
                <a:cs typeface="Candara"/>
              </a:rPr>
              <a:t> </a:t>
            </a:r>
            <a:r>
              <a:rPr sz="1100" spc="-25" dirty="0">
                <a:latin typeface="Candara"/>
                <a:cs typeface="Candara"/>
              </a:rPr>
              <a:t>net</a:t>
            </a:r>
            <a:endParaRPr sz="1100">
              <a:latin typeface="Candara"/>
              <a:cs typeface="Candar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421335" y="1276976"/>
            <a:ext cx="2272665" cy="1212215"/>
            <a:chOff x="1421335" y="1276976"/>
            <a:chExt cx="2272665" cy="1212215"/>
          </a:xfrm>
        </p:grpSpPr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19881" y="2288526"/>
              <a:ext cx="76098" cy="200277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2356751" y="1353234"/>
              <a:ext cx="1336675" cy="1136015"/>
            </a:xfrm>
            <a:custGeom>
              <a:avLst/>
              <a:gdLst/>
              <a:ahLst/>
              <a:cxnLst/>
              <a:rect l="l" t="t" r="r" b="b"/>
              <a:pathLst>
                <a:path w="1336675" h="1136014">
                  <a:moveTo>
                    <a:pt x="1327134" y="1061267"/>
                  </a:moveTo>
                  <a:lnTo>
                    <a:pt x="2129" y="1061267"/>
                  </a:lnTo>
                  <a:lnTo>
                    <a:pt x="0" y="1063396"/>
                  </a:lnTo>
                  <a:lnTo>
                    <a:pt x="0" y="1135456"/>
                  </a:lnTo>
                  <a:lnTo>
                    <a:pt x="9514" y="1135456"/>
                  </a:lnTo>
                  <a:lnTo>
                    <a:pt x="9514" y="1070775"/>
                  </a:lnTo>
                  <a:lnTo>
                    <a:pt x="4757" y="1070775"/>
                  </a:lnTo>
                  <a:lnTo>
                    <a:pt x="9514" y="1066021"/>
                  </a:lnTo>
                  <a:lnTo>
                    <a:pt x="1327134" y="1066021"/>
                  </a:lnTo>
                  <a:lnTo>
                    <a:pt x="1327134" y="1061267"/>
                  </a:lnTo>
                  <a:close/>
                </a:path>
                <a:path w="1336675" h="1136014">
                  <a:moveTo>
                    <a:pt x="9514" y="1066021"/>
                  </a:moveTo>
                  <a:lnTo>
                    <a:pt x="4757" y="1070775"/>
                  </a:lnTo>
                  <a:lnTo>
                    <a:pt x="9514" y="1070775"/>
                  </a:lnTo>
                  <a:lnTo>
                    <a:pt x="9514" y="1066021"/>
                  </a:lnTo>
                  <a:close/>
                </a:path>
                <a:path w="1336675" h="1136014">
                  <a:moveTo>
                    <a:pt x="1336649" y="1061267"/>
                  </a:moveTo>
                  <a:lnTo>
                    <a:pt x="1331892" y="1061267"/>
                  </a:lnTo>
                  <a:lnTo>
                    <a:pt x="1327134" y="1066021"/>
                  </a:lnTo>
                  <a:lnTo>
                    <a:pt x="9514" y="1066021"/>
                  </a:lnTo>
                  <a:lnTo>
                    <a:pt x="9514" y="1070775"/>
                  </a:lnTo>
                  <a:lnTo>
                    <a:pt x="1334519" y="1070775"/>
                  </a:lnTo>
                  <a:lnTo>
                    <a:pt x="1336649" y="1068647"/>
                  </a:lnTo>
                  <a:lnTo>
                    <a:pt x="1336649" y="1061267"/>
                  </a:lnTo>
                  <a:close/>
                </a:path>
                <a:path w="1336675" h="1136014">
                  <a:moveTo>
                    <a:pt x="1327134" y="38028"/>
                  </a:moveTo>
                  <a:lnTo>
                    <a:pt x="1327134" y="1066021"/>
                  </a:lnTo>
                  <a:lnTo>
                    <a:pt x="1331892" y="1061267"/>
                  </a:lnTo>
                  <a:lnTo>
                    <a:pt x="1336649" y="1061267"/>
                  </a:lnTo>
                  <a:lnTo>
                    <a:pt x="1336649" y="42782"/>
                  </a:lnTo>
                  <a:lnTo>
                    <a:pt x="1331892" y="42782"/>
                  </a:lnTo>
                  <a:lnTo>
                    <a:pt x="1327134" y="38028"/>
                  </a:lnTo>
                  <a:close/>
                </a:path>
                <a:path w="1336675" h="1136014">
                  <a:moveTo>
                    <a:pt x="1021928" y="0"/>
                  </a:moveTo>
                  <a:lnTo>
                    <a:pt x="945807" y="38028"/>
                  </a:lnTo>
                  <a:lnTo>
                    <a:pt x="1021928" y="76059"/>
                  </a:lnTo>
                  <a:lnTo>
                    <a:pt x="1021928" y="42782"/>
                  </a:lnTo>
                  <a:lnTo>
                    <a:pt x="1009241" y="42782"/>
                  </a:lnTo>
                  <a:lnTo>
                    <a:pt x="1009241" y="33275"/>
                  </a:lnTo>
                  <a:lnTo>
                    <a:pt x="1021928" y="33275"/>
                  </a:lnTo>
                  <a:lnTo>
                    <a:pt x="1021928" y="0"/>
                  </a:lnTo>
                  <a:close/>
                </a:path>
                <a:path w="1336675" h="1136014">
                  <a:moveTo>
                    <a:pt x="1021928" y="33275"/>
                  </a:moveTo>
                  <a:lnTo>
                    <a:pt x="1009241" y="33275"/>
                  </a:lnTo>
                  <a:lnTo>
                    <a:pt x="1009241" y="42782"/>
                  </a:lnTo>
                  <a:lnTo>
                    <a:pt x="1021928" y="42782"/>
                  </a:lnTo>
                  <a:lnTo>
                    <a:pt x="1021928" y="33275"/>
                  </a:lnTo>
                  <a:close/>
                </a:path>
                <a:path w="1336675" h="1136014">
                  <a:moveTo>
                    <a:pt x="1334519" y="33275"/>
                  </a:moveTo>
                  <a:lnTo>
                    <a:pt x="1021928" y="33275"/>
                  </a:lnTo>
                  <a:lnTo>
                    <a:pt x="1021928" y="42782"/>
                  </a:lnTo>
                  <a:lnTo>
                    <a:pt x="1327134" y="42782"/>
                  </a:lnTo>
                  <a:lnTo>
                    <a:pt x="1327134" y="38028"/>
                  </a:lnTo>
                  <a:lnTo>
                    <a:pt x="1336649" y="38028"/>
                  </a:lnTo>
                  <a:lnTo>
                    <a:pt x="1336649" y="35403"/>
                  </a:lnTo>
                  <a:lnTo>
                    <a:pt x="1334519" y="33275"/>
                  </a:lnTo>
                  <a:close/>
                </a:path>
                <a:path w="1336675" h="1136014">
                  <a:moveTo>
                    <a:pt x="1336649" y="38028"/>
                  </a:moveTo>
                  <a:lnTo>
                    <a:pt x="1327134" y="38028"/>
                  </a:lnTo>
                  <a:lnTo>
                    <a:pt x="1331892" y="42782"/>
                  </a:lnTo>
                  <a:lnTo>
                    <a:pt x="1336649" y="42782"/>
                  </a:lnTo>
                  <a:lnTo>
                    <a:pt x="1336649" y="380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426098" y="1281738"/>
              <a:ext cx="1877060" cy="219075"/>
            </a:xfrm>
            <a:custGeom>
              <a:avLst/>
              <a:gdLst/>
              <a:ahLst/>
              <a:cxnLst/>
              <a:rect l="l" t="t" r="r" b="b"/>
              <a:pathLst>
                <a:path w="1877060" h="219075">
                  <a:moveTo>
                    <a:pt x="1839922" y="0"/>
                  </a:moveTo>
                  <a:lnTo>
                    <a:pt x="36537" y="0"/>
                  </a:lnTo>
                  <a:lnTo>
                    <a:pt x="22315" y="2868"/>
                  </a:lnTo>
                  <a:lnTo>
                    <a:pt x="10701" y="10692"/>
                  </a:lnTo>
                  <a:lnTo>
                    <a:pt x="2871" y="22297"/>
                  </a:lnTo>
                  <a:lnTo>
                    <a:pt x="0" y="36507"/>
                  </a:lnTo>
                  <a:lnTo>
                    <a:pt x="0" y="182540"/>
                  </a:lnTo>
                  <a:lnTo>
                    <a:pt x="2871" y="196751"/>
                  </a:lnTo>
                  <a:lnTo>
                    <a:pt x="10701" y="208356"/>
                  </a:lnTo>
                  <a:lnTo>
                    <a:pt x="22315" y="216180"/>
                  </a:lnTo>
                  <a:lnTo>
                    <a:pt x="36537" y="219049"/>
                  </a:lnTo>
                  <a:lnTo>
                    <a:pt x="1839922" y="219049"/>
                  </a:lnTo>
                  <a:lnTo>
                    <a:pt x="1854144" y="216180"/>
                  </a:lnTo>
                  <a:lnTo>
                    <a:pt x="1865758" y="208356"/>
                  </a:lnTo>
                  <a:lnTo>
                    <a:pt x="1873589" y="196751"/>
                  </a:lnTo>
                  <a:lnTo>
                    <a:pt x="1876460" y="182540"/>
                  </a:lnTo>
                  <a:lnTo>
                    <a:pt x="1876460" y="36507"/>
                  </a:lnTo>
                  <a:lnTo>
                    <a:pt x="1873589" y="22297"/>
                  </a:lnTo>
                  <a:lnTo>
                    <a:pt x="1865758" y="10692"/>
                  </a:lnTo>
                  <a:lnTo>
                    <a:pt x="1854144" y="2868"/>
                  </a:lnTo>
                  <a:lnTo>
                    <a:pt x="183992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426098" y="1281738"/>
              <a:ext cx="1877060" cy="219075"/>
            </a:xfrm>
            <a:custGeom>
              <a:avLst/>
              <a:gdLst/>
              <a:ahLst/>
              <a:cxnLst/>
              <a:rect l="l" t="t" r="r" b="b"/>
              <a:pathLst>
                <a:path w="1877060" h="219075">
                  <a:moveTo>
                    <a:pt x="0" y="36508"/>
                  </a:moveTo>
                  <a:lnTo>
                    <a:pt x="2871" y="22297"/>
                  </a:lnTo>
                  <a:lnTo>
                    <a:pt x="10701" y="10693"/>
                  </a:lnTo>
                  <a:lnTo>
                    <a:pt x="22315" y="2869"/>
                  </a:lnTo>
                  <a:lnTo>
                    <a:pt x="36538" y="0"/>
                  </a:lnTo>
                  <a:lnTo>
                    <a:pt x="1839923" y="0"/>
                  </a:lnTo>
                  <a:lnTo>
                    <a:pt x="1854145" y="2869"/>
                  </a:lnTo>
                  <a:lnTo>
                    <a:pt x="1865759" y="10693"/>
                  </a:lnTo>
                  <a:lnTo>
                    <a:pt x="1873589" y="22297"/>
                  </a:lnTo>
                  <a:lnTo>
                    <a:pt x="1876461" y="36508"/>
                  </a:lnTo>
                  <a:lnTo>
                    <a:pt x="1876461" y="182541"/>
                  </a:lnTo>
                  <a:lnTo>
                    <a:pt x="1873589" y="196751"/>
                  </a:lnTo>
                  <a:lnTo>
                    <a:pt x="1865759" y="208356"/>
                  </a:lnTo>
                  <a:lnTo>
                    <a:pt x="1854145" y="216180"/>
                  </a:lnTo>
                  <a:lnTo>
                    <a:pt x="1839923" y="219049"/>
                  </a:lnTo>
                  <a:lnTo>
                    <a:pt x="36538" y="219049"/>
                  </a:lnTo>
                  <a:lnTo>
                    <a:pt x="22315" y="216180"/>
                  </a:lnTo>
                  <a:lnTo>
                    <a:pt x="10701" y="208356"/>
                  </a:lnTo>
                  <a:lnTo>
                    <a:pt x="2871" y="196751"/>
                  </a:lnTo>
                  <a:lnTo>
                    <a:pt x="0" y="182541"/>
                  </a:lnTo>
                  <a:lnTo>
                    <a:pt x="0" y="36508"/>
                  </a:lnTo>
                  <a:close/>
                </a:path>
              </a:pathLst>
            </a:custGeom>
            <a:ln w="9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1847329" y="1280274"/>
            <a:ext cx="10344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ndara"/>
                <a:cs typeface="Candara"/>
              </a:rPr>
              <a:t>add</a:t>
            </a:r>
            <a:r>
              <a:rPr sz="1100" spc="-30" dirty="0">
                <a:latin typeface="Candara"/>
                <a:cs typeface="Candara"/>
              </a:rPr>
              <a:t> </a:t>
            </a:r>
            <a:r>
              <a:rPr sz="1100" dirty="0">
                <a:latin typeface="Candara"/>
                <a:cs typeface="Candara"/>
              </a:rPr>
              <a:t>&amp;</a:t>
            </a:r>
            <a:r>
              <a:rPr sz="1100" spc="-15" dirty="0">
                <a:latin typeface="Candara"/>
                <a:cs typeface="Candara"/>
              </a:rPr>
              <a:t> </a:t>
            </a:r>
            <a:r>
              <a:rPr sz="1100" dirty="0">
                <a:latin typeface="Candara"/>
                <a:cs typeface="Candara"/>
              </a:rPr>
              <a:t>layer</a:t>
            </a:r>
            <a:r>
              <a:rPr sz="1100" spc="-15" dirty="0">
                <a:latin typeface="Candara"/>
                <a:cs typeface="Candara"/>
              </a:rPr>
              <a:t> </a:t>
            </a:r>
            <a:r>
              <a:rPr sz="1100" spc="-20" dirty="0">
                <a:latin typeface="Candara"/>
                <a:cs typeface="Candara"/>
              </a:rPr>
              <a:t>norm</a:t>
            </a:r>
            <a:endParaRPr sz="1100">
              <a:latin typeface="Candara"/>
              <a:cs typeface="Candar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1614679" y="1500786"/>
            <a:ext cx="1504950" cy="568960"/>
            <a:chOff x="1614679" y="1500786"/>
            <a:chExt cx="1504950" cy="568960"/>
          </a:xfrm>
        </p:grpSpPr>
        <p:sp>
          <p:nvSpPr>
            <p:cNvPr id="66" name="object 66"/>
            <p:cNvSpPr/>
            <p:nvPr/>
          </p:nvSpPr>
          <p:spPr>
            <a:xfrm>
              <a:off x="2325593" y="1500786"/>
              <a:ext cx="76200" cy="568960"/>
            </a:xfrm>
            <a:custGeom>
              <a:avLst/>
              <a:gdLst/>
              <a:ahLst/>
              <a:cxnLst/>
              <a:rect l="l" t="t" r="r" b="b"/>
              <a:pathLst>
                <a:path w="76200" h="568960">
                  <a:moveTo>
                    <a:pt x="33299" y="50637"/>
                  </a:moveTo>
                  <a:lnTo>
                    <a:pt x="26366" y="568625"/>
                  </a:lnTo>
                  <a:lnTo>
                    <a:pt x="35880" y="568752"/>
                  </a:lnTo>
                  <a:lnTo>
                    <a:pt x="42813" y="50765"/>
                  </a:lnTo>
                  <a:lnTo>
                    <a:pt x="33299" y="50637"/>
                  </a:lnTo>
                  <a:close/>
                </a:path>
                <a:path w="76200" h="568960">
                  <a:moveTo>
                    <a:pt x="66444" y="37962"/>
                  </a:moveTo>
                  <a:lnTo>
                    <a:pt x="33469" y="37962"/>
                  </a:lnTo>
                  <a:lnTo>
                    <a:pt x="42983" y="38089"/>
                  </a:lnTo>
                  <a:lnTo>
                    <a:pt x="42813" y="50765"/>
                  </a:lnTo>
                  <a:lnTo>
                    <a:pt x="76113" y="51210"/>
                  </a:lnTo>
                  <a:lnTo>
                    <a:pt x="66444" y="37962"/>
                  </a:lnTo>
                  <a:close/>
                </a:path>
                <a:path w="76200" h="568960">
                  <a:moveTo>
                    <a:pt x="33469" y="37962"/>
                  </a:moveTo>
                  <a:lnTo>
                    <a:pt x="33299" y="50637"/>
                  </a:lnTo>
                  <a:lnTo>
                    <a:pt x="42813" y="50765"/>
                  </a:lnTo>
                  <a:lnTo>
                    <a:pt x="42983" y="38089"/>
                  </a:lnTo>
                  <a:lnTo>
                    <a:pt x="33469" y="37962"/>
                  </a:lnTo>
                  <a:close/>
                </a:path>
                <a:path w="76200" h="568960">
                  <a:moveTo>
                    <a:pt x="38734" y="0"/>
                  </a:moveTo>
                  <a:lnTo>
                    <a:pt x="0" y="50192"/>
                  </a:lnTo>
                  <a:lnTo>
                    <a:pt x="33299" y="50637"/>
                  </a:lnTo>
                  <a:lnTo>
                    <a:pt x="33469" y="37962"/>
                  </a:lnTo>
                  <a:lnTo>
                    <a:pt x="66444" y="37962"/>
                  </a:lnTo>
                  <a:lnTo>
                    <a:pt x="387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619441" y="1675607"/>
              <a:ext cx="1495425" cy="219075"/>
            </a:xfrm>
            <a:custGeom>
              <a:avLst/>
              <a:gdLst/>
              <a:ahLst/>
              <a:cxnLst/>
              <a:rect l="l" t="t" r="r" b="b"/>
              <a:pathLst>
                <a:path w="1495425" h="219075">
                  <a:moveTo>
                    <a:pt x="1458567" y="0"/>
                  </a:moveTo>
                  <a:lnTo>
                    <a:pt x="36537" y="0"/>
                  </a:lnTo>
                  <a:lnTo>
                    <a:pt x="22315" y="2869"/>
                  </a:lnTo>
                  <a:lnTo>
                    <a:pt x="10701" y="10693"/>
                  </a:lnTo>
                  <a:lnTo>
                    <a:pt x="2871" y="22298"/>
                  </a:lnTo>
                  <a:lnTo>
                    <a:pt x="0" y="36508"/>
                  </a:lnTo>
                  <a:lnTo>
                    <a:pt x="0" y="182539"/>
                  </a:lnTo>
                  <a:lnTo>
                    <a:pt x="2871" y="196750"/>
                  </a:lnTo>
                  <a:lnTo>
                    <a:pt x="10701" y="208356"/>
                  </a:lnTo>
                  <a:lnTo>
                    <a:pt x="22315" y="216180"/>
                  </a:lnTo>
                  <a:lnTo>
                    <a:pt x="36537" y="219049"/>
                  </a:lnTo>
                  <a:lnTo>
                    <a:pt x="1458567" y="219049"/>
                  </a:lnTo>
                  <a:lnTo>
                    <a:pt x="1472789" y="216180"/>
                  </a:lnTo>
                  <a:lnTo>
                    <a:pt x="1484403" y="208356"/>
                  </a:lnTo>
                  <a:lnTo>
                    <a:pt x="1492233" y="196750"/>
                  </a:lnTo>
                  <a:lnTo>
                    <a:pt x="1495104" y="182539"/>
                  </a:lnTo>
                  <a:lnTo>
                    <a:pt x="1495104" y="36508"/>
                  </a:lnTo>
                  <a:lnTo>
                    <a:pt x="1492233" y="22298"/>
                  </a:lnTo>
                  <a:lnTo>
                    <a:pt x="1484403" y="10693"/>
                  </a:lnTo>
                  <a:lnTo>
                    <a:pt x="1472789" y="2869"/>
                  </a:lnTo>
                  <a:lnTo>
                    <a:pt x="1458567" y="0"/>
                  </a:lnTo>
                  <a:close/>
                </a:path>
              </a:pathLst>
            </a:custGeom>
            <a:solidFill>
              <a:srgbClr val="D0E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619441" y="1675607"/>
              <a:ext cx="1495425" cy="219075"/>
            </a:xfrm>
            <a:custGeom>
              <a:avLst/>
              <a:gdLst/>
              <a:ahLst/>
              <a:cxnLst/>
              <a:rect l="l" t="t" r="r" b="b"/>
              <a:pathLst>
                <a:path w="1495425" h="219075">
                  <a:moveTo>
                    <a:pt x="0" y="36509"/>
                  </a:moveTo>
                  <a:lnTo>
                    <a:pt x="2871" y="22298"/>
                  </a:lnTo>
                  <a:lnTo>
                    <a:pt x="10701" y="10693"/>
                  </a:lnTo>
                  <a:lnTo>
                    <a:pt x="22316" y="2869"/>
                  </a:lnTo>
                  <a:lnTo>
                    <a:pt x="36538" y="0"/>
                  </a:lnTo>
                  <a:lnTo>
                    <a:pt x="1458566" y="0"/>
                  </a:lnTo>
                  <a:lnTo>
                    <a:pt x="1472789" y="2869"/>
                  </a:lnTo>
                  <a:lnTo>
                    <a:pt x="1484403" y="10693"/>
                  </a:lnTo>
                  <a:lnTo>
                    <a:pt x="1492234" y="22298"/>
                  </a:lnTo>
                  <a:lnTo>
                    <a:pt x="1495105" y="36509"/>
                  </a:lnTo>
                  <a:lnTo>
                    <a:pt x="1495105" y="182540"/>
                  </a:lnTo>
                  <a:lnTo>
                    <a:pt x="1492234" y="196751"/>
                  </a:lnTo>
                  <a:lnTo>
                    <a:pt x="1484403" y="208356"/>
                  </a:lnTo>
                  <a:lnTo>
                    <a:pt x="1472789" y="216180"/>
                  </a:lnTo>
                  <a:lnTo>
                    <a:pt x="1458566" y="219049"/>
                  </a:lnTo>
                  <a:lnTo>
                    <a:pt x="36538" y="219049"/>
                  </a:lnTo>
                  <a:lnTo>
                    <a:pt x="22316" y="216180"/>
                  </a:lnTo>
                  <a:lnTo>
                    <a:pt x="10701" y="208356"/>
                  </a:lnTo>
                  <a:lnTo>
                    <a:pt x="2871" y="196751"/>
                  </a:lnTo>
                  <a:lnTo>
                    <a:pt x="0" y="182540"/>
                  </a:lnTo>
                  <a:lnTo>
                    <a:pt x="0" y="36509"/>
                  </a:lnTo>
                  <a:close/>
                </a:path>
              </a:pathLst>
            </a:custGeom>
            <a:ln w="9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2123552" y="1673466"/>
            <a:ext cx="4876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ndara"/>
                <a:cs typeface="Candara"/>
              </a:rPr>
              <a:t>adapter</a:t>
            </a:r>
            <a:endParaRPr sz="1100">
              <a:latin typeface="Candara"/>
              <a:cs typeface="Candara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408829" y="1143899"/>
            <a:ext cx="3687445" cy="4565015"/>
          </a:xfrm>
          <a:custGeom>
            <a:avLst/>
            <a:gdLst/>
            <a:ahLst/>
            <a:cxnLst/>
            <a:rect l="l" t="t" r="r" b="b"/>
            <a:pathLst>
              <a:path w="3687445" h="4565015">
                <a:moveTo>
                  <a:pt x="0" y="221735"/>
                </a:moveTo>
                <a:lnTo>
                  <a:pt x="4508" y="177048"/>
                </a:lnTo>
                <a:lnTo>
                  <a:pt x="17439" y="135426"/>
                </a:lnTo>
                <a:lnTo>
                  <a:pt x="37899" y="97761"/>
                </a:lnTo>
                <a:lnTo>
                  <a:pt x="64997" y="64944"/>
                </a:lnTo>
                <a:lnTo>
                  <a:pt x="97840" y="37868"/>
                </a:lnTo>
                <a:lnTo>
                  <a:pt x="135536" y="17425"/>
                </a:lnTo>
                <a:lnTo>
                  <a:pt x="177192" y="4504"/>
                </a:lnTo>
                <a:lnTo>
                  <a:pt x="221915" y="0"/>
                </a:lnTo>
                <a:lnTo>
                  <a:pt x="3465034" y="0"/>
                </a:lnTo>
                <a:lnTo>
                  <a:pt x="3509758" y="4504"/>
                </a:lnTo>
                <a:lnTo>
                  <a:pt x="3551413" y="17425"/>
                </a:lnTo>
                <a:lnTo>
                  <a:pt x="3589109" y="37868"/>
                </a:lnTo>
                <a:lnTo>
                  <a:pt x="3621952" y="64944"/>
                </a:lnTo>
                <a:lnTo>
                  <a:pt x="3649050" y="97761"/>
                </a:lnTo>
                <a:lnTo>
                  <a:pt x="3669510" y="135426"/>
                </a:lnTo>
                <a:lnTo>
                  <a:pt x="3682441" y="177048"/>
                </a:lnTo>
                <a:lnTo>
                  <a:pt x="3686950" y="221735"/>
                </a:lnTo>
                <a:lnTo>
                  <a:pt x="3686950" y="4343177"/>
                </a:lnTo>
                <a:lnTo>
                  <a:pt x="3682441" y="4387864"/>
                </a:lnTo>
                <a:lnTo>
                  <a:pt x="3669510" y="4429486"/>
                </a:lnTo>
                <a:lnTo>
                  <a:pt x="3649050" y="4467151"/>
                </a:lnTo>
                <a:lnTo>
                  <a:pt x="3621952" y="4499967"/>
                </a:lnTo>
                <a:lnTo>
                  <a:pt x="3589109" y="4527043"/>
                </a:lnTo>
                <a:lnTo>
                  <a:pt x="3551413" y="4547487"/>
                </a:lnTo>
                <a:lnTo>
                  <a:pt x="3509758" y="4560407"/>
                </a:lnTo>
                <a:lnTo>
                  <a:pt x="3465034" y="4564912"/>
                </a:lnTo>
                <a:lnTo>
                  <a:pt x="221915" y="4564912"/>
                </a:lnTo>
                <a:lnTo>
                  <a:pt x="177192" y="4560407"/>
                </a:lnTo>
                <a:lnTo>
                  <a:pt x="135536" y="4547487"/>
                </a:lnTo>
                <a:lnTo>
                  <a:pt x="97840" y="4527043"/>
                </a:lnTo>
                <a:lnTo>
                  <a:pt x="64997" y="4499967"/>
                </a:lnTo>
                <a:lnTo>
                  <a:pt x="37899" y="4467151"/>
                </a:lnTo>
                <a:lnTo>
                  <a:pt x="17439" y="4429486"/>
                </a:lnTo>
                <a:lnTo>
                  <a:pt x="4508" y="4387864"/>
                </a:lnTo>
                <a:lnTo>
                  <a:pt x="0" y="4343177"/>
                </a:lnTo>
                <a:lnTo>
                  <a:pt x="0" y="221735"/>
                </a:lnTo>
                <a:close/>
              </a:path>
            </a:pathLst>
          </a:custGeom>
          <a:ln w="95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578029" y="3055520"/>
            <a:ext cx="165735" cy="7372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20"/>
              </a:lnSpc>
            </a:pPr>
            <a:r>
              <a:rPr sz="1100" spc="-10" dirty="0">
                <a:latin typeface="Candara"/>
                <a:cs typeface="Candara"/>
              </a:rPr>
              <a:t>transformer</a:t>
            </a:r>
            <a:endParaRPr sz="1100">
              <a:latin typeface="Candara"/>
              <a:cs typeface="Candar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156560" y="375018"/>
            <a:ext cx="1441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latin typeface="Candara"/>
                <a:cs typeface="Candara"/>
              </a:rPr>
              <a:t>X’</a:t>
            </a:r>
            <a:endParaRPr sz="1100">
              <a:latin typeface="Candara"/>
              <a:cs typeface="Candara"/>
            </a:endParaRPr>
          </a:p>
        </p:txBody>
      </p:sp>
      <p:graphicFrame>
        <p:nvGraphicFramePr>
          <p:cNvPr id="73" name="object 73"/>
          <p:cNvGraphicFramePr>
            <a:graphicFrameLocks noGrp="1"/>
          </p:cNvGraphicFramePr>
          <p:nvPr/>
        </p:nvGraphicFramePr>
        <p:xfrm>
          <a:off x="2173115" y="584798"/>
          <a:ext cx="500379" cy="359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9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4" name="object 74"/>
          <p:cNvGrpSpPr/>
          <p:nvPr/>
        </p:nvGrpSpPr>
        <p:grpSpPr>
          <a:xfrm>
            <a:off x="2328777" y="951368"/>
            <a:ext cx="4383405" cy="3343910"/>
            <a:chOff x="2328777" y="951368"/>
            <a:chExt cx="4383405" cy="3343910"/>
          </a:xfrm>
        </p:grpSpPr>
        <p:sp>
          <p:nvSpPr>
            <p:cNvPr id="75" name="object 75"/>
            <p:cNvSpPr/>
            <p:nvPr/>
          </p:nvSpPr>
          <p:spPr>
            <a:xfrm>
              <a:off x="2328777" y="951368"/>
              <a:ext cx="76200" cy="330835"/>
            </a:xfrm>
            <a:custGeom>
              <a:avLst/>
              <a:gdLst/>
              <a:ahLst/>
              <a:cxnLst/>
              <a:rect l="l" t="t" r="r" b="b"/>
              <a:pathLst>
                <a:path w="76200" h="330834">
                  <a:moveTo>
                    <a:pt x="33302" y="50660"/>
                  </a:moveTo>
                  <a:lnTo>
                    <a:pt x="30793" y="330326"/>
                  </a:lnTo>
                  <a:lnTo>
                    <a:pt x="40308" y="330412"/>
                  </a:lnTo>
                  <a:lnTo>
                    <a:pt x="42816" y="50746"/>
                  </a:lnTo>
                  <a:lnTo>
                    <a:pt x="33302" y="50660"/>
                  </a:lnTo>
                  <a:close/>
                </a:path>
                <a:path w="76200" h="330834">
                  <a:moveTo>
                    <a:pt x="66497" y="37984"/>
                  </a:moveTo>
                  <a:lnTo>
                    <a:pt x="33416" y="37984"/>
                  </a:lnTo>
                  <a:lnTo>
                    <a:pt x="42929" y="38069"/>
                  </a:lnTo>
                  <a:lnTo>
                    <a:pt x="42816" y="50746"/>
                  </a:lnTo>
                  <a:lnTo>
                    <a:pt x="76118" y="51043"/>
                  </a:lnTo>
                  <a:lnTo>
                    <a:pt x="66497" y="37984"/>
                  </a:lnTo>
                  <a:close/>
                </a:path>
                <a:path w="76200" h="330834">
                  <a:moveTo>
                    <a:pt x="33416" y="37984"/>
                  </a:moveTo>
                  <a:lnTo>
                    <a:pt x="33302" y="50660"/>
                  </a:lnTo>
                  <a:lnTo>
                    <a:pt x="42816" y="50746"/>
                  </a:lnTo>
                  <a:lnTo>
                    <a:pt x="42929" y="38069"/>
                  </a:lnTo>
                  <a:lnTo>
                    <a:pt x="33416" y="37984"/>
                  </a:lnTo>
                  <a:close/>
                </a:path>
                <a:path w="76200" h="330834">
                  <a:moveTo>
                    <a:pt x="38514" y="0"/>
                  </a:moveTo>
                  <a:lnTo>
                    <a:pt x="0" y="50363"/>
                  </a:lnTo>
                  <a:lnTo>
                    <a:pt x="33302" y="50660"/>
                  </a:lnTo>
                  <a:lnTo>
                    <a:pt x="33416" y="37984"/>
                  </a:lnTo>
                  <a:lnTo>
                    <a:pt x="66497" y="37984"/>
                  </a:lnTo>
                  <a:lnTo>
                    <a:pt x="385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44975" y="1198213"/>
              <a:ext cx="1866766" cy="3096886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3151103" y="1471349"/>
              <a:ext cx="1764030" cy="1411605"/>
            </a:xfrm>
            <a:custGeom>
              <a:avLst/>
              <a:gdLst/>
              <a:ahLst/>
              <a:cxnLst/>
              <a:rect l="l" t="t" r="r" b="b"/>
              <a:pathLst>
                <a:path w="1764029" h="1411605">
                  <a:moveTo>
                    <a:pt x="0" y="1411208"/>
                  </a:moveTo>
                  <a:lnTo>
                    <a:pt x="1764030" y="0"/>
                  </a:lnTo>
                </a:path>
              </a:pathLst>
            </a:custGeom>
            <a:ln w="12680">
              <a:solidFill>
                <a:srgbClr val="C065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086585" y="3113186"/>
              <a:ext cx="1828800" cy="954405"/>
            </a:xfrm>
            <a:custGeom>
              <a:avLst/>
              <a:gdLst/>
              <a:ahLst/>
              <a:cxnLst/>
              <a:rect l="l" t="t" r="r" b="b"/>
              <a:pathLst>
                <a:path w="1828800" h="954404">
                  <a:moveTo>
                    <a:pt x="0" y="0"/>
                  </a:moveTo>
                  <a:lnTo>
                    <a:pt x="1828549" y="953788"/>
                  </a:lnTo>
                </a:path>
              </a:pathLst>
            </a:custGeom>
            <a:ln w="12678">
              <a:solidFill>
                <a:srgbClr val="C065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Slide Number Placeholder 80">
            <a:extLst>
              <a:ext uri="{FF2B5EF4-FFF2-40B4-BE49-F238E27FC236}">
                <a16:creationId xmlns:a16="http://schemas.microsoft.com/office/drawing/2014/main" id="{F95891B3-EFCA-4267-A222-9A8D1D7E0A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607D236-F058-4ACB-801C-AC7246C58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5328557" cy="5410200"/>
          </a:xfrm>
        </p:spPr>
        <p:txBody>
          <a:bodyPr/>
          <a:lstStyle/>
          <a:p>
            <a:r>
              <a:rPr lang="en-US" b="1" dirty="0"/>
              <a:t>Pretrained Model:</a:t>
            </a:r>
            <a:r>
              <a:rPr lang="en-US" dirty="0"/>
              <a:t> BERT- Large</a:t>
            </a:r>
          </a:p>
          <a:p>
            <a:r>
              <a:rPr lang="en-US" b="1" dirty="0"/>
              <a:t>Baseline Method:</a:t>
            </a:r>
            <a:r>
              <a:rPr lang="en-US" dirty="0"/>
              <a:t> fine- tune only the top K layers of BERT-Large</a:t>
            </a:r>
          </a:p>
          <a:p>
            <a:r>
              <a:rPr lang="en-US" dirty="0"/>
              <a:t>Adapters achieve nearly the performance (i.e. 0% delta) of full fine-tuning but with substantially fewer parameters</a:t>
            </a:r>
          </a:p>
          <a:p>
            <a:r>
              <a:rPr lang="en-US" dirty="0"/>
              <a:t>Sometimes adapters even outperform full fine-tuning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2065" rIns="0" bIns="0" rtlCol="0">
            <a:spAutoFit/>
          </a:bodyPr>
          <a:lstStyle/>
          <a:p>
            <a:r>
              <a:rPr lang="en-US"/>
              <a:t>Adapter Results</a:t>
            </a:r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1021" y="1464970"/>
            <a:ext cx="5886660" cy="4664944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DD78DC6-8100-4C8D-9BFD-AF64E2B4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03E4EC4-A0C8-4736-872E-1B41C050A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5662386" cy="5410200"/>
          </a:xfrm>
        </p:spPr>
        <p:txBody>
          <a:bodyPr/>
          <a:lstStyle/>
          <a:p>
            <a:r>
              <a:rPr lang="en-US" b="1" dirty="0"/>
              <a:t>Pretrained Model:</a:t>
            </a:r>
            <a:r>
              <a:rPr lang="en-US" dirty="0"/>
              <a:t> BERT- Large</a:t>
            </a:r>
          </a:p>
          <a:p>
            <a:r>
              <a:rPr lang="en-US" b="1" dirty="0"/>
              <a:t>Baseline Method:</a:t>
            </a:r>
            <a:r>
              <a:rPr lang="en-US" dirty="0"/>
              <a:t> fine- tune only the top K layers of BERT-Large</a:t>
            </a:r>
          </a:p>
          <a:p>
            <a:r>
              <a:rPr lang="en-US" dirty="0"/>
              <a:t>Adapters achieve nearly the performance (i.e. 0% delta) of full fine-tuning but with substantially fewer parameters</a:t>
            </a:r>
          </a:p>
          <a:p>
            <a:r>
              <a:rPr lang="en-US" dirty="0"/>
              <a:t>Sometimes adapters even outperform full fine-tuning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Adapter Results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7704" y="1781724"/>
            <a:ext cx="5045880" cy="3867525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45B32A4-30B0-4FE0-A95C-ADDF9B7D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0F500B-C26F-4671-B925-CE1E995C9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0600"/>
            <a:ext cx="5894614" cy="5410199"/>
          </a:xfrm>
        </p:spPr>
        <p:txBody>
          <a:bodyPr/>
          <a:lstStyle/>
          <a:p>
            <a:r>
              <a:rPr lang="en-US" b="1"/>
              <a:t>Pretrained Model:</a:t>
            </a:r>
            <a:r>
              <a:rPr lang="en-US"/>
              <a:t> BERT- Large</a:t>
            </a:r>
          </a:p>
          <a:p>
            <a:r>
              <a:rPr lang="en-US" b="1"/>
              <a:t>Baseline Method:</a:t>
            </a:r>
            <a:r>
              <a:rPr lang="en-US"/>
              <a:t> fine- tune only the top K layers of BERT-Large</a:t>
            </a:r>
          </a:p>
          <a:p>
            <a:r>
              <a:rPr lang="en-US"/>
              <a:t>Adapters achieve nearly the performance (i.e. 0% delta) of full fine-tuning but with substantially fewer parameters</a:t>
            </a:r>
          </a:p>
          <a:p>
            <a:r>
              <a:rPr lang="en-US"/>
              <a:t>Sometimes adapters even outperform full fine-tuning</a:t>
            </a:r>
          </a:p>
          <a:p>
            <a:endParaRPr lang="en-US"/>
          </a:p>
          <a:p>
            <a:endParaRPr lang="en-US"/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91841"/>
            <a:ext cx="11658601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Adapter</a:t>
            </a:r>
            <a:r>
              <a:rPr lang="en-US" spc="-40" dirty="0"/>
              <a:t> </a:t>
            </a:r>
            <a:r>
              <a:rPr lang="en-US" spc="-10" dirty="0"/>
              <a:t>Results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7107" y="1807505"/>
            <a:ext cx="5149554" cy="395544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31AFBF-71E1-4657-A809-4635DAEC1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938486"/>
            <a:ext cx="10972800" cy="24743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0" b="1" spc="-35" dirty="0">
                <a:latin typeface="Candara"/>
                <a:cs typeface="Candara"/>
              </a:rPr>
              <a:t>Low-Rank Adaptation</a:t>
            </a:r>
            <a:r>
              <a:rPr lang="en-US" sz="8000" b="1" spc="-55" dirty="0">
                <a:latin typeface="Candara"/>
                <a:cs typeface="Candara"/>
              </a:rPr>
              <a:t> </a:t>
            </a:r>
            <a:r>
              <a:rPr lang="en-US" sz="8000" b="1" spc="-10" dirty="0">
                <a:latin typeface="Candara"/>
                <a:cs typeface="Candara"/>
              </a:rPr>
              <a:t>(</a:t>
            </a:r>
            <a:r>
              <a:rPr lang="en-US" sz="8000" b="1" spc="-10" dirty="0" err="1">
                <a:latin typeface="Candara"/>
                <a:cs typeface="Candara"/>
              </a:rPr>
              <a:t>LoRA</a:t>
            </a:r>
            <a:r>
              <a:rPr lang="en-US" sz="8000" b="1" spc="-10" dirty="0">
                <a:latin typeface="Candara"/>
                <a:cs typeface="Candara"/>
              </a:rPr>
              <a:t>)</a:t>
            </a:r>
            <a:endParaRPr sz="8000" b="1" spc="-10" dirty="0">
              <a:latin typeface="Candara"/>
              <a:cs typeface="Candara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62E58-E9FB-4A06-BA27-6B758BDDCC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51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850194-B00F-4883-98BB-BDD523FAD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Comparison of some recent </a:t>
            </a:r>
            <a:r>
              <a:rPr lang="en-US" b="1" dirty="0"/>
              <a:t>large language models</a:t>
            </a:r>
            <a:r>
              <a:rPr lang="en-US" dirty="0"/>
              <a:t> (LLMs)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How large are LLMs?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99381" y="1961428"/>
          <a:ext cx="8461375" cy="4133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3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2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881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ndara"/>
                          <a:cs typeface="Candara"/>
                        </a:rPr>
                        <a:t>Model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ndara"/>
                          <a:cs typeface="Candara"/>
                        </a:rPr>
                        <a:t>Creators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316865">
                        <a:lnSpc>
                          <a:spcPts val="2090"/>
                        </a:lnSpc>
                        <a:spcBef>
                          <a:spcPts val="37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ndara"/>
                          <a:cs typeface="Candara"/>
                        </a:rPr>
                        <a:t>Year</a:t>
                      </a:r>
                      <a:r>
                        <a:rPr sz="1800" b="1" spc="-75" dirty="0">
                          <a:solidFill>
                            <a:srgbClr val="FFFFFF"/>
                          </a:solidFill>
                          <a:latin typeface="Candara"/>
                          <a:cs typeface="Candara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ndara"/>
                          <a:cs typeface="Candara"/>
                        </a:rPr>
                        <a:t>of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ndara"/>
                          <a:cs typeface="Candara"/>
                        </a:rPr>
                        <a:t>release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612775">
                        <a:lnSpc>
                          <a:spcPts val="209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ndara"/>
                          <a:cs typeface="Candara"/>
                        </a:rPr>
                        <a:t>Training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ndara"/>
                          <a:cs typeface="Candara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ndara"/>
                          <a:cs typeface="Candara"/>
                        </a:rPr>
                        <a:t>Data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ndara"/>
                          <a:cs typeface="Candara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ndara"/>
                          <a:cs typeface="Candara"/>
                        </a:rPr>
                        <a:t>(#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ndara"/>
                          <a:cs typeface="Candara"/>
                        </a:rPr>
                        <a:t>tokens)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80035">
                        <a:lnSpc>
                          <a:spcPts val="2090"/>
                        </a:lnSpc>
                        <a:spcBef>
                          <a:spcPts val="37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ndara"/>
                          <a:cs typeface="Candara"/>
                        </a:rPr>
                        <a:t>Model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ndara"/>
                          <a:cs typeface="Candara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ndara"/>
                          <a:cs typeface="Candara"/>
                        </a:rPr>
                        <a:t>Size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ndara"/>
                          <a:cs typeface="Candara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ndara"/>
                          <a:cs typeface="Candara"/>
                        </a:rPr>
                        <a:t>(#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ndara"/>
                          <a:cs typeface="Candara"/>
                        </a:rPr>
                        <a:t>parameters)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ndara"/>
                          <a:cs typeface="Candara"/>
                        </a:rPr>
                        <a:t>GPT-</a:t>
                      </a:r>
                      <a:r>
                        <a:rPr sz="1800" spc="-50" dirty="0">
                          <a:latin typeface="Candara"/>
                          <a:cs typeface="Candara"/>
                        </a:rPr>
                        <a:t>2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ndara"/>
                          <a:cs typeface="Candara"/>
                        </a:rPr>
                        <a:t>OpenAI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0" dirty="0">
                          <a:latin typeface="Candara"/>
                          <a:cs typeface="Candara"/>
                        </a:rPr>
                        <a:t>2019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dirty="0">
                          <a:latin typeface="Candara"/>
                          <a:cs typeface="Candara"/>
                        </a:rPr>
                        <a:t>~10</a:t>
                      </a:r>
                      <a:r>
                        <a:rPr sz="1800" spc="-25" dirty="0">
                          <a:latin typeface="Candara"/>
                          <a:cs typeface="Candara"/>
                        </a:rPr>
                        <a:t> </a:t>
                      </a:r>
                      <a:r>
                        <a:rPr sz="1800" dirty="0">
                          <a:latin typeface="Candara"/>
                          <a:cs typeface="Candara"/>
                        </a:rPr>
                        <a:t>billion</a:t>
                      </a:r>
                      <a:r>
                        <a:rPr sz="1800" spc="-25" dirty="0">
                          <a:latin typeface="Candara"/>
                          <a:cs typeface="Candara"/>
                        </a:rPr>
                        <a:t> </a:t>
                      </a:r>
                      <a:r>
                        <a:rPr sz="1800" spc="-10" dirty="0">
                          <a:latin typeface="Candara"/>
                          <a:cs typeface="Candara"/>
                        </a:rPr>
                        <a:t>(40Gb)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dirty="0">
                          <a:latin typeface="Candara"/>
                          <a:cs typeface="Candara"/>
                        </a:rPr>
                        <a:t>1.5</a:t>
                      </a:r>
                      <a:r>
                        <a:rPr sz="1800" spc="-30" dirty="0">
                          <a:latin typeface="Candara"/>
                          <a:cs typeface="Candara"/>
                        </a:rPr>
                        <a:t> </a:t>
                      </a:r>
                      <a:r>
                        <a:rPr sz="1800" spc="-10" dirty="0">
                          <a:latin typeface="Candara"/>
                          <a:cs typeface="Candara"/>
                        </a:rPr>
                        <a:t>billion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810">
                <a:tc>
                  <a:txBody>
                    <a:bodyPr/>
                    <a:lstStyle/>
                    <a:p>
                      <a:pPr marL="90805">
                        <a:lnSpc>
                          <a:spcPts val="2135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Candara"/>
                          <a:cs typeface="Candara"/>
                        </a:rPr>
                        <a:t>GPT-</a:t>
                      </a:r>
                      <a:r>
                        <a:rPr sz="1800" spc="-50" dirty="0">
                          <a:latin typeface="Candara"/>
                          <a:cs typeface="Candara"/>
                        </a:rPr>
                        <a:t>3</a:t>
                      </a:r>
                      <a:endParaRPr sz="1800">
                        <a:latin typeface="Candara"/>
                        <a:cs typeface="Candara"/>
                      </a:endParaRPr>
                    </a:p>
                    <a:p>
                      <a:pPr marL="90805">
                        <a:lnSpc>
                          <a:spcPts val="2135"/>
                        </a:lnSpc>
                      </a:pPr>
                      <a:r>
                        <a:rPr sz="1800" dirty="0">
                          <a:latin typeface="Candara"/>
                          <a:cs typeface="Candara"/>
                        </a:rPr>
                        <a:t>(cf.</a:t>
                      </a:r>
                      <a:r>
                        <a:rPr sz="1800" spc="-15" dirty="0">
                          <a:latin typeface="Candara"/>
                          <a:cs typeface="Candara"/>
                        </a:rPr>
                        <a:t> </a:t>
                      </a:r>
                      <a:r>
                        <a:rPr sz="1800" spc="-10" dirty="0">
                          <a:latin typeface="Candara"/>
                          <a:cs typeface="Candara"/>
                        </a:rPr>
                        <a:t>ChatGPT)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Candara"/>
                          <a:cs typeface="Candara"/>
                        </a:rPr>
                        <a:t>OpenAI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Candara"/>
                          <a:cs typeface="Candara"/>
                        </a:rPr>
                        <a:t>2020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ndara"/>
                          <a:cs typeface="Candara"/>
                        </a:rPr>
                        <a:t>300</a:t>
                      </a:r>
                      <a:r>
                        <a:rPr sz="1800" spc="-20" dirty="0">
                          <a:latin typeface="Candara"/>
                          <a:cs typeface="Candara"/>
                        </a:rPr>
                        <a:t> </a:t>
                      </a:r>
                      <a:r>
                        <a:rPr sz="1800" spc="-10" dirty="0">
                          <a:latin typeface="Candara"/>
                          <a:cs typeface="Candara"/>
                        </a:rPr>
                        <a:t>billion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ndara"/>
                          <a:cs typeface="Candara"/>
                        </a:rPr>
                        <a:t>175</a:t>
                      </a:r>
                      <a:r>
                        <a:rPr sz="1800" spc="-25" dirty="0">
                          <a:latin typeface="Candara"/>
                          <a:cs typeface="Candara"/>
                        </a:rPr>
                        <a:t> </a:t>
                      </a:r>
                      <a:r>
                        <a:rPr sz="1800" spc="-10" dirty="0">
                          <a:latin typeface="Candara"/>
                          <a:cs typeface="Candara"/>
                        </a:rPr>
                        <a:t>billion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0" dirty="0">
                          <a:latin typeface="Candara"/>
                          <a:cs typeface="Candara"/>
                        </a:rPr>
                        <a:t>PaLM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Candara"/>
                          <a:cs typeface="Candara"/>
                        </a:rPr>
                        <a:t>Google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0" dirty="0">
                          <a:latin typeface="Candara"/>
                          <a:cs typeface="Candara"/>
                        </a:rPr>
                        <a:t>2022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Candara"/>
                          <a:cs typeface="Candara"/>
                        </a:rPr>
                        <a:t>780</a:t>
                      </a:r>
                      <a:r>
                        <a:rPr sz="1800" spc="-20" dirty="0">
                          <a:latin typeface="Candara"/>
                          <a:cs typeface="Candara"/>
                        </a:rPr>
                        <a:t> </a:t>
                      </a:r>
                      <a:r>
                        <a:rPr sz="1800" spc="-10" dirty="0">
                          <a:latin typeface="Candara"/>
                          <a:cs typeface="Candara"/>
                        </a:rPr>
                        <a:t>billion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Candara"/>
                          <a:cs typeface="Candara"/>
                        </a:rPr>
                        <a:t>540</a:t>
                      </a:r>
                      <a:r>
                        <a:rPr sz="1800" spc="-10" dirty="0">
                          <a:latin typeface="Candara"/>
                          <a:cs typeface="Candara"/>
                        </a:rPr>
                        <a:t> billion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10" dirty="0">
                          <a:latin typeface="Candara"/>
                          <a:cs typeface="Candara"/>
                        </a:rPr>
                        <a:t>Chinchilla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10" dirty="0">
                          <a:latin typeface="Candara"/>
                          <a:cs typeface="Candara"/>
                        </a:rPr>
                        <a:t>DeepMind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Candara"/>
                          <a:cs typeface="Candara"/>
                        </a:rPr>
                        <a:t>2022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ndara"/>
                          <a:cs typeface="Candara"/>
                        </a:rPr>
                        <a:t>1.4</a:t>
                      </a:r>
                      <a:r>
                        <a:rPr sz="1800" spc="-30" dirty="0">
                          <a:latin typeface="Candara"/>
                          <a:cs typeface="Candara"/>
                        </a:rPr>
                        <a:t> </a:t>
                      </a:r>
                      <a:r>
                        <a:rPr sz="1800" spc="-10" dirty="0">
                          <a:latin typeface="Candara"/>
                          <a:cs typeface="Candara"/>
                        </a:rPr>
                        <a:t>trillion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ndara"/>
                          <a:cs typeface="Candara"/>
                        </a:rPr>
                        <a:t>70</a:t>
                      </a:r>
                      <a:r>
                        <a:rPr sz="1800" spc="-25" dirty="0">
                          <a:latin typeface="Candara"/>
                          <a:cs typeface="Candara"/>
                        </a:rPr>
                        <a:t> </a:t>
                      </a:r>
                      <a:r>
                        <a:rPr sz="1800" spc="-10" dirty="0">
                          <a:latin typeface="Candara"/>
                          <a:cs typeface="Candara"/>
                        </a:rPr>
                        <a:t>billion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810">
                <a:tc>
                  <a:txBody>
                    <a:bodyPr/>
                    <a:lstStyle/>
                    <a:p>
                      <a:pPr marL="90805">
                        <a:lnSpc>
                          <a:spcPts val="2125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ndara"/>
                          <a:cs typeface="Candara"/>
                        </a:rPr>
                        <a:t>LaMDA</a:t>
                      </a:r>
                      <a:endParaRPr sz="1800">
                        <a:latin typeface="Candara"/>
                        <a:cs typeface="Candara"/>
                      </a:endParaRPr>
                    </a:p>
                    <a:p>
                      <a:pPr marL="90805">
                        <a:lnSpc>
                          <a:spcPts val="2125"/>
                        </a:lnSpc>
                      </a:pPr>
                      <a:r>
                        <a:rPr sz="1800" dirty="0">
                          <a:latin typeface="Candara"/>
                          <a:cs typeface="Candara"/>
                        </a:rPr>
                        <a:t>(cf.</a:t>
                      </a:r>
                      <a:r>
                        <a:rPr sz="1800" spc="-15" dirty="0">
                          <a:latin typeface="Candara"/>
                          <a:cs typeface="Candara"/>
                        </a:rPr>
                        <a:t> </a:t>
                      </a:r>
                      <a:r>
                        <a:rPr sz="1800" spc="-10" dirty="0">
                          <a:latin typeface="Candara"/>
                          <a:cs typeface="Candara"/>
                        </a:rPr>
                        <a:t>Bard)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ndara"/>
                          <a:cs typeface="Candara"/>
                        </a:rPr>
                        <a:t>Google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0" dirty="0">
                          <a:latin typeface="Candara"/>
                          <a:cs typeface="Candara"/>
                        </a:rPr>
                        <a:t>2022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dirty="0">
                          <a:latin typeface="Candara"/>
                          <a:cs typeface="Candara"/>
                        </a:rPr>
                        <a:t>1.56</a:t>
                      </a:r>
                      <a:r>
                        <a:rPr sz="1800" spc="-30" dirty="0">
                          <a:latin typeface="Candara"/>
                          <a:cs typeface="Candara"/>
                        </a:rPr>
                        <a:t> </a:t>
                      </a:r>
                      <a:r>
                        <a:rPr sz="1800" spc="-10" dirty="0">
                          <a:latin typeface="Candara"/>
                          <a:cs typeface="Candara"/>
                        </a:rPr>
                        <a:t>trillion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dirty="0">
                          <a:latin typeface="Candara"/>
                          <a:cs typeface="Candara"/>
                        </a:rPr>
                        <a:t>137</a:t>
                      </a:r>
                      <a:r>
                        <a:rPr sz="1800" spc="-25" dirty="0">
                          <a:latin typeface="Candara"/>
                          <a:cs typeface="Candara"/>
                        </a:rPr>
                        <a:t> </a:t>
                      </a:r>
                      <a:r>
                        <a:rPr sz="1800" spc="-10" dirty="0">
                          <a:latin typeface="Candara"/>
                          <a:cs typeface="Candara"/>
                        </a:rPr>
                        <a:t>billion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10" dirty="0">
                          <a:latin typeface="Candara"/>
                          <a:cs typeface="Candara"/>
                        </a:rPr>
                        <a:t>LLaMA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Candara"/>
                          <a:cs typeface="Candara"/>
                        </a:rPr>
                        <a:t>Meta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Candara"/>
                          <a:cs typeface="Candara"/>
                        </a:rPr>
                        <a:t>2023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ndara"/>
                          <a:cs typeface="Candara"/>
                        </a:rPr>
                        <a:t>1.4</a:t>
                      </a:r>
                      <a:r>
                        <a:rPr sz="1800" spc="-30" dirty="0">
                          <a:latin typeface="Candara"/>
                          <a:cs typeface="Candara"/>
                        </a:rPr>
                        <a:t> </a:t>
                      </a:r>
                      <a:r>
                        <a:rPr sz="1800" spc="-10" dirty="0">
                          <a:latin typeface="Candara"/>
                          <a:cs typeface="Candara"/>
                        </a:rPr>
                        <a:t>trillion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ndara"/>
                          <a:cs typeface="Candara"/>
                        </a:rPr>
                        <a:t>65</a:t>
                      </a:r>
                      <a:r>
                        <a:rPr sz="1800" spc="-10" dirty="0">
                          <a:latin typeface="Candara"/>
                          <a:cs typeface="Candara"/>
                        </a:rPr>
                        <a:t> billion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dirty="0">
                          <a:latin typeface="Candara"/>
                          <a:cs typeface="Candara"/>
                        </a:rPr>
                        <a:t>LLaMA-</a:t>
                      </a:r>
                      <a:r>
                        <a:rPr sz="1800" spc="-50" dirty="0">
                          <a:latin typeface="Candara"/>
                          <a:cs typeface="Candara"/>
                        </a:rPr>
                        <a:t>2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20" dirty="0">
                          <a:latin typeface="Candara"/>
                          <a:cs typeface="Candara"/>
                        </a:rPr>
                        <a:t>Meta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20" dirty="0">
                          <a:latin typeface="Candara"/>
                          <a:cs typeface="Candara"/>
                        </a:rPr>
                        <a:t>2023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dirty="0">
                          <a:latin typeface="Candara"/>
                          <a:cs typeface="Candara"/>
                        </a:rPr>
                        <a:t>2</a:t>
                      </a:r>
                      <a:r>
                        <a:rPr sz="1800" spc="-10" dirty="0">
                          <a:latin typeface="Candara"/>
                          <a:cs typeface="Candara"/>
                        </a:rPr>
                        <a:t> trillion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dirty="0">
                          <a:latin typeface="Candara"/>
                          <a:cs typeface="Candara"/>
                        </a:rPr>
                        <a:t>70</a:t>
                      </a:r>
                      <a:r>
                        <a:rPr sz="1800" spc="-25" dirty="0">
                          <a:latin typeface="Candara"/>
                          <a:cs typeface="Candara"/>
                        </a:rPr>
                        <a:t> </a:t>
                      </a:r>
                      <a:r>
                        <a:rPr sz="1800" spc="-10" dirty="0">
                          <a:latin typeface="Candara"/>
                          <a:cs typeface="Candara"/>
                        </a:rPr>
                        <a:t>billion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Candara"/>
                          <a:cs typeface="Candara"/>
                        </a:rPr>
                        <a:t>GPT-</a:t>
                      </a:r>
                      <a:r>
                        <a:rPr sz="1800" spc="-50" dirty="0">
                          <a:latin typeface="Candara"/>
                          <a:cs typeface="Candara"/>
                        </a:rPr>
                        <a:t>4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Candara"/>
                          <a:cs typeface="Candara"/>
                        </a:rPr>
                        <a:t>OpenAI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Candara"/>
                          <a:cs typeface="Candara"/>
                        </a:rPr>
                        <a:t>2023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ndara"/>
                          <a:cs typeface="Candara"/>
                        </a:rPr>
                        <a:t>?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ndara"/>
                          <a:cs typeface="Candara"/>
                        </a:rPr>
                        <a:t>?</a:t>
                      </a:r>
                      <a:endParaRPr sz="1800">
                        <a:latin typeface="Candara"/>
                        <a:cs typeface="Candar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9954710" y="0"/>
            <a:ext cx="2225040" cy="1576070"/>
          </a:xfrm>
          <a:custGeom>
            <a:avLst/>
            <a:gdLst/>
            <a:ahLst/>
            <a:cxnLst/>
            <a:rect l="l" t="t" r="r" b="b"/>
            <a:pathLst>
              <a:path w="2225040" h="1576070">
                <a:moveTo>
                  <a:pt x="919116" y="0"/>
                </a:moveTo>
                <a:lnTo>
                  <a:pt x="0" y="0"/>
                </a:lnTo>
                <a:lnTo>
                  <a:pt x="2224589" y="1575932"/>
                </a:lnTo>
                <a:lnTo>
                  <a:pt x="2224589" y="924818"/>
                </a:lnTo>
                <a:lnTo>
                  <a:pt x="919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 rot="2100000">
            <a:off x="10560151" y="484363"/>
            <a:ext cx="1488479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55"/>
              </a:lnSpc>
            </a:pPr>
            <a:r>
              <a:rPr sz="3200" spc="-10" dirty="0">
                <a:solidFill>
                  <a:srgbClr val="FFFFFF"/>
                </a:solidFill>
                <a:latin typeface="Candara"/>
                <a:cs typeface="Candara"/>
              </a:rPr>
              <a:t>Recall…</a:t>
            </a:r>
            <a:endParaRPr sz="3200">
              <a:latin typeface="Candara"/>
              <a:cs typeface="Candara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AC46B2C-EFB7-45FA-B530-9A37B838C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D3BE959-5405-4AB6-8146-5F575E72B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4616619" cy="5410200"/>
          </a:xfrm>
        </p:spPr>
        <p:txBody>
          <a:bodyPr/>
          <a:lstStyle/>
          <a:p>
            <a:r>
              <a:rPr lang="en-US" dirty="0"/>
              <a:t>Case Study: GPT-3</a:t>
            </a:r>
          </a:p>
          <a:p>
            <a:pPr lvl="1"/>
            <a:r>
              <a:rPr lang="en-US" dirty="0"/>
              <a:t># of training tokens = 500 billion</a:t>
            </a:r>
          </a:p>
          <a:p>
            <a:pPr lvl="1"/>
            <a:r>
              <a:rPr lang="en-US" dirty="0"/>
              <a:t># of parameters = 175 billion</a:t>
            </a:r>
          </a:p>
          <a:p>
            <a:pPr lvl="1"/>
            <a:r>
              <a:rPr lang="en-US" dirty="0"/>
              <a:t># of cycles = 50 petaflop/s-days (each of which are 8.64e+19 flops)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Why does efficiency matter?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975576" y="1049695"/>
            <a:ext cx="5459730" cy="3194685"/>
            <a:chOff x="4988606" y="1049695"/>
            <a:chExt cx="5459730" cy="31946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11007" y="2574963"/>
              <a:ext cx="5437094" cy="166892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8606" y="1049695"/>
              <a:ext cx="4298072" cy="136111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513278" y="2451465"/>
              <a:ext cx="2313940" cy="1495425"/>
            </a:xfrm>
            <a:custGeom>
              <a:avLst/>
              <a:gdLst/>
              <a:ahLst/>
              <a:cxnLst/>
              <a:rect l="l" t="t" r="r" b="b"/>
              <a:pathLst>
                <a:path w="2313940" h="1495425">
                  <a:moveTo>
                    <a:pt x="0" y="0"/>
                  </a:moveTo>
                  <a:lnTo>
                    <a:pt x="2313404" y="0"/>
                  </a:lnTo>
                  <a:lnTo>
                    <a:pt x="2313404" y="1495254"/>
                  </a:lnTo>
                  <a:lnTo>
                    <a:pt x="0" y="1495254"/>
                  </a:lnTo>
                  <a:lnTo>
                    <a:pt x="0" y="0"/>
                  </a:lnTo>
                  <a:close/>
                </a:path>
              </a:pathLst>
            </a:custGeom>
            <a:ln w="38038">
              <a:solidFill>
                <a:srgbClr val="C32D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02283" y="4347208"/>
            <a:ext cx="4440826" cy="2490834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9954710" y="0"/>
            <a:ext cx="2225040" cy="1576070"/>
          </a:xfrm>
          <a:custGeom>
            <a:avLst/>
            <a:gdLst/>
            <a:ahLst/>
            <a:cxnLst/>
            <a:rect l="l" t="t" r="r" b="b"/>
            <a:pathLst>
              <a:path w="2225040" h="1576070">
                <a:moveTo>
                  <a:pt x="919116" y="0"/>
                </a:moveTo>
                <a:lnTo>
                  <a:pt x="0" y="0"/>
                </a:lnTo>
                <a:lnTo>
                  <a:pt x="2224589" y="1575932"/>
                </a:lnTo>
                <a:lnTo>
                  <a:pt x="2224589" y="924818"/>
                </a:lnTo>
                <a:lnTo>
                  <a:pt x="919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 rot="2100000">
            <a:off x="10560151" y="484363"/>
            <a:ext cx="1488479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55"/>
              </a:lnSpc>
            </a:pPr>
            <a:r>
              <a:rPr sz="3200" spc="-10" dirty="0">
                <a:solidFill>
                  <a:srgbClr val="FFFFFF"/>
                </a:solidFill>
                <a:latin typeface="Candara"/>
                <a:cs typeface="Candara"/>
              </a:rPr>
              <a:t>Recall…</a:t>
            </a:r>
            <a:endParaRPr sz="3200">
              <a:latin typeface="Candara"/>
              <a:cs typeface="Candara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61455BA-958F-44F8-84DE-2E4377B55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Fine-</a:t>
            </a:r>
            <a:r>
              <a:rPr dirty="0"/>
              <a:t>Tuning</a:t>
            </a:r>
            <a:r>
              <a:rPr spc="-80" dirty="0"/>
              <a:t> </a:t>
            </a:r>
            <a:r>
              <a:rPr dirty="0"/>
              <a:t>LLMs</a:t>
            </a:r>
            <a:r>
              <a:rPr spc="-70" dirty="0"/>
              <a:t> </a:t>
            </a:r>
            <a:r>
              <a:rPr dirty="0"/>
              <a:t>without</a:t>
            </a:r>
            <a:r>
              <a:rPr spc="-70" dirty="0"/>
              <a:t> </a:t>
            </a:r>
            <a:r>
              <a:rPr spc="-10" dirty="0"/>
              <a:t>Regularization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83AAD6-4BDA-4A25-9B73-E6A4AFB12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3354" y="1091028"/>
            <a:ext cx="7572591" cy="124511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652016" y="2791967"/>
            <a:ext cx="4364990" cy="3225165"/>
            <a:chOff x="1652016" y="2791967"/>
            <a:chExt cx="4364990" cy="322516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1368" y="2871215"/>
              <a:ext cx="4215383" cy="31455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2016" y="2791967"/>
              <a:ext cx="4236720" cy="299313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800418" y="2869330"/>
            <a:ext cx="4110990" cy="3040380"/>
          </a:xfrm>
          <a:prstGeom prst="rect">
            <a:avLst/>
          </a:prstGeom>
          <a:solidFill>
            <a:srgbClr val="FFE39D"/>
          </a:solidFill>
        </p:spPr>
        <p:txBody>
          <a:bodyPr vert="horz" wrap="square" lIns="0" tIns="158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25"/>
              </a:spcBef>
            </a:pPr>
            <a:r>
              <a:rPr sz="3200" b="1" spc="-10" dirty="0">
                <a:latin typeface="Candara"/>
                <a:cs typeface="Candara"/>
              </a:rPr>
              <a:t>Question:</a:t>
            </a:r>
            <a:endParaRPr sz="3200" dirty="0">
              <a:latin typeface="Candara"/>
              <a:cs typeface="Candara"/>
            </a:endParaRPr>
          </a:p>
          <a:p>
            <a:pPr marL="90805" marR="362585">
              <a:lnSpc>
                <a:spcPct val="99800"/>
              </a:lnSpc>
              <a:spcBef>
                <a:spcPts val="775"/>
              </a:spcBef>
            </a:pPr>
            <a:r>
              <a:rPr sz="3200" dirty="0">
                <a:latin typeface="Candara"/>
                <a:cs typeface="Candara"/>
              </a:rPr>
              <a:t>Why</a:t>
            </a:r>
            <a:r>
              <a:rPr sz="3200" spc="-5" dirty="0">
                <a:latin typeface="Candara"/>
                <a:cs typeface="Candara"/>
              </a:rPr>
              <a:t> </a:t>
            </a:r>
            <a:r>
              <a:rPr sz="3200" dirty="0">
                <a:latin typeface="Candara"/>
                <a:cs typeface="Candara"/>
              </a:rPr>
              <a:t>don’t </a:t>
            </a:r>
            <a:r>
              <a:rPr sz="3200" spc="-20" dirty="0">
                <a:latin typeface="Candara"/>
                <a:cs typeface="Candara"/>
              </a:rPr>
              <a:t>LLMs </a:t>
            </a:r>
            <a:r>
              <a:rPr sz="3200" dirty="0">
                <a:latin typeface="Candara"/>
                <a:cs typeface="Candara"/>
              </a:rPr>
              <a:t>overfit</a:t>
            </a:r>
            <a:r>
              <a:rPr sz="3200" spc="-10" dirty="0">
                <a:latin typeface="Candara"/>
                <a:cs typeface="Candara"/>
              </a:rPr>
              <a:t> </a:t>
            </a:r>
            <a:r>
              <a:rPr sz="3200" dirty="0">
                <a:latin typeface="Candara"/>
                <a:cs typeface="Candara"/>
              </a:rPr>
              <a:t>when</a:t>
            </a:r>
            <a:r>
              <a:rPr sz="3200" spc="-10" dirty="0">
                <a:latin typeface="Candara"/>
                <a:cs typeface="Candara"/>
              </a:rPr>
              <a:t> </a:t>
            </a:r>
            <a:r>
              <a:rPr sz="3200" dirty="0">
                <a:latin typeface="Candara"/>
                <a:cs typeface="Candara"/>
              </a:rPr>
              <a:t>we</a:t>
            </a:r>
            <a:r>
              <a:rPr sz="3200" spc="-15" dirty="0">
                <a:latin typeface="Candara"/>
                <a:cs typeface="Candara"/>
              </a:rPr>
              <a:t> </a:t>
            </a:r>
            <a:r>
              <a:rPr sz="3200" spc="-10" dirty="0">
                <a:latin typeface="Candara"/>
                <a:cs typeface="Candara"/>
              </a:rPr>
              <a:t>fine- </a:t>
            </a:r>
            <a:r>
              <a:rPr sz="3200" dirty="0">
                <a:latin typeface="Candara"/>
                <a:cs typeface="Candara"/>
              </a:rPr>
              <a:t>tune</a:t>
            </a:r>
            <a:r>
              <a:rPr sz="3200" spc="-15" dirty="0">
                <a:latin typeface="Candara"/>
                <a:cs typeface="Candara"/>
              </a:rPr>
              <a:t> </a:t>
            </a:r>
            <a:r>
              <a:rPr sz="3200" dirty="0">
                <a:latin typeface="Candara"/>
                <a:cs typeface="Candara"/>
              </a:rPr>
              <a:t>them </a:t>
            </a:r>
            <a:r>
              <a:rPr sz="3200" spc="-10" dirty="0">
                <a:latin typeface="Candara"/>
                <a:cs typeface="Candara"/>
              </a:rPr>
              <a:t>without regularization?</a:t>
            </a:r>
            <a:endParaRPr sz="3200" dirty="0">
              <a:latin typeface="Candara"/>
              <a:cs typeface="Candar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26935" y="2869330"/>
            <a:ext cx="4110990" cy="3040380"/>
          </a:xfrm>
          <a:prstGeom prst="rect">
            <a:avLst/>
          </a:prstGeom>
          <a:solidFill>
            <a:srgbClr val="EBA7A8"/>
          </a:solidFill>
        </p:spPr>
        <p:txBody>
          <a:bodyPr vert="horz" wrap="square" lIns="0" tIns="158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25"/>
              </a:spcBef>
            </a:pPr>
            <a:r>
              <a:rPr sz="3200" b="1" spc="-10" dirty="0">
                <a:latin typeface="Candara"/>
                <a:cs typeface="Candara"/>
              </a:rPr>
              <a:t>Hypothesis:</a:t>
            </a:r>
            <a:endParaRPr sz="3200" dirty="0">
              <a:latin typeface="Candara"/>
              <a:cs typeface="Candara"/>
            </a:endParaRPr>
          </a:p>
          <a:p>
            <a:pPr marL="90805" marR="532130">
              <a:lnSpc>
                <a:spcPts val="3790"/>
              </a:lnSpc>
              <a:spcBef>
                <a:spcPts val="935"/>
              </a:spcBef>
            </a:pPr>
            <a:r>
              <a:rPr sz="3200" dirty="0">
                <a:latin typeface="Candara"/>
                <a:cs typeface="Candara"/>
              </a:rPr>
              <a:t>They</a:t>
            </a:r>
            <a:r>
              <a:rPr sz="3200" spc="-20" dirty="0">
                <a:latin typeface="Candara"/>
                <a:cs typeface="Candara"/>
              </a:rPr>
              <a:t> </a:t>
            </a:r>
            <a:r>
              <a:rPr sz="3200" dirty="0">
                <a:latin typeface="Candara"/>
                <a:cs typeface="Candara"/>
              </a:rPr>
              <a:t>are</a:t>
            </a:r>
            <a:r>
              <a:rPr sz="3200" spc="-15" dirty="0">
                <a:latin typeface="Candara"/>
                <a:cs typeface="Candara"/>
              </a:rPr>
              <a:t> </a:t>
            </a:r>
            <a:r>
              <a:rPr sz="3200" spc="-10" dirty="0">
                <a:latin typeface="Candara"/>
                <a:cs typeface="Candara"/>
              </a:rPr>
              <a:t>intrinsically </a:t>
            </a:r>
            <a:r>
              <a:rPr sz="3200" dirty="0">
                <a:latin typeface="Candara"/>
                <a:cs typeface="Candara"/>
              </a:rPr>
              <a:t>low </a:t>
            </a:r>
            <a:r>
              <a:rPr sz="3200" spc="-10" dirty="0">
                <a:latin typeface="Candara"/>
                <a:cs typeface="Candara"/>
              </a:rPr>
              <a:t>dimensional</a:t>
            </a:r>
            <a:endParaRPr sz="3200" dirty="0">
              <a:latin typeface="Candara"/>
              <a:cs typeface="Candar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EBC2C81-F9DB-45B7-907F-D85798DCB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5031014" cy="5410200"/>
          </a:xfrm>
        </p:spPr>
        <p:txBody>
          <a:bodyPr/>
          <a:lstStyle/>
          <a:p>
            <a:r>
              <a:rPr lang="en-US" dirty="0"/>
              <a:t>Using similar techniques, </a:t>
            </a:r>
            <a:r>
              <a:rPr lang="en-US" dirty="0" err="1"/>
              <a:t>Aghajanyan</a:t>
            </a:r>
            <a:r>
              <a:rPr lang="en-US" dirty="0"/>
              <a:t> et al. (2020) measure the intrinsic dimension of LLMs</a:t>
            </a:r>
          </a:p>
          <a:p>
            <a:r>
              <a:rPr lang="en-US" dirty="0"/>
              <a:t>Empirical results suggest that pre- training finds parameters that have low intrinsic dimensionality</a:t>
            </a:r>
          </a:p>
          <a:p>
            <a:r>
              <a:rPr lang="en-US" dirty="0"/>
              <a:t>Number of parameters:</a:t>
            </a:r>
          </a:p>
          <a:p>
            <a:pPr lvl="1"/>
            <a:r>
              <a:rPr lang="en-US" dirty="0"/>
              <a:t>BERT-Base: 110 million</a:t>
            </a:r>
          </a:p>
          <a:p>
            <a:pPr lvl="1"/>
            <a:r>
              <a:rPr lang="en-US" dirty="0"/>
              <a:t>BERT-Large: 345 million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Intrinsic Dimensionality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8745" y="1717387"/>
            <a:ext cx="5988155" cy="354941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8644" y="6585505"/>
            <a:ext cx="330009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95"/>
              </a:lnSpc>
            </a:pP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Figure</a:t>
            </a:r>
            <a:r>
              <a:rPr sz="1400" spc="-3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from</a:t>
            </a:r>
            <a:r>
              <a:rPr sz="1400" spc="-2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spc="-10" dirty="0">
                <a:solidFill>
                  <a:srgbClr val="7F7F7F"/>
                </a:solidFill>
                <a:latin typeface="Candara"/>
                <a:cs typeface="Candara"/>
                <a:hlinkClick r:id="rId3"/>
              </a:rPr>
              <a:t>http://arxiv.org/abs/1804.08838</a:t>
            </a:r>
            <a:endParaRPr sz="1400">
              <a:latin typeface="Candara"/>
              <a:cs typeface="Candara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860F433-E7C3-443F-AA33-CC23E5236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7FC2ECF-6273-4710-987E-6261952E8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0" cy="32258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Motivation #1:</a:t>
            </a:r>
          </a:p>
          <a:p>
            <a:pPr lvl="1"/>
            <a:r>
              <a:rPr lang="en-US" dirty="0"/>
              <a:t>“We take inspiration from Li et al. (2018a); </a:t>
            </a:r>
            <a:r>
              <a:rPr lang="en-US" dirty="0" err="1"/>
              <a:t>Aghajanyan</a:t>
            </a:r>
            <a:r>
              <a:rPr lang="en-US" dirty="0"/>
              <a:t> et al. (2020) which show that the learned over-parametrized models in fact reside on a low intrinsic dimension.”</a:t>
            </a:r>
          </a:p>
          <a:p>
            <a:r>
              <a:rPr lang="en-US" b="1" dirty="0"/>
              <a:t>Motivation #2:</a:t>
            </a:r>
          </a:p>
          <a:p>
            <a:pPr lvl="1"/>
            <a:r>
              <a:rPr lang="en-US" dirty="0"/>
              <a:t>Directly optimizing the prompt, as in prefix tuning, leads to non-monotonic changes in performance as the number of parameters increases (we want more parameters to mean better performance!)</a:t>
            </a:r>
          </a:p>
          <a:p>
            <a:r>
              <a:rPr lang="en-US" b="1" dirty="0"/>
              <a:t>Motivation #3:</a:t>
            </a:r>
          </a:p>
          <a:p>
            <a:pPr lvl="1"/>
            <a:r>
              <a:rPr lang="en-US" dirty="0"/>
              <a:t>Adapters and related methods introduce inference latency at test time that is non-trivial!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LoRA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3827" y="4278818"/>
            <a:ext cx="6743220" cy="2558544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64EE69F-734A-4D5F-B27B-CEBCD73C5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ontent Placeholder 133">
            <a:extLst>
              <a:ext uri="{FF2B5EF4-FFF2-40B4-BE49-F238E27FC236}">
                <a16:creationId xmlns:a16="http://schemas.microsoft.com/office/drawing/2014/main" id="{A917E1A0-41F5-4318-98D7-4C96015C2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4086316" cy="5410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Keep the original pretrained  parameters </a:t>
            </a:r>
            <a:r>
              <a:rPr lang="en-US" b="1" dirty="0"/>
              <a:t>W</a:t>
            </a:r>
            <a:r>
              <a:rPr lang="en-US" b="1" baseline="-25000" dirty="0"/>
              <a:t>0</a:t>
            </a:r>
            <a:r>
              <a:rPr lang="en-US" dirty="0"/>
              <a:t> fixed during 	fine-tuning</a:t>
            </a:r>
          </a:p>
          <a:p>
            <a:r>
              <a:rPr lang="en-US" dirty="0"/>
              <a:t>Learn an additive modification to those parameters </a:t>
            </a:r>
            <a:r>
              <a:rPr lang="en-US" b="1" dirty="0"/>
              <a:t>ΔW</a:t>
            </a:r>
          </a:p>
          <a:p>
            <a:r>
              <a:rPr lang="en-US" dirty="0"/>
              <a:t>Define </a:t>
            </a:r>
            <a:r>
              <a:rPr lang="en-US" b="1" dirty="0"/>
              <a:t>ΔW</a:t>
            </a:r>
            <a:r>
              <a:rPr lang="en-US" dirty="0"/>
              <a:t> via a low rank decomposition:</a:t>
            </a:r>
            <a:br>
              <a:rPr lang="en-US" dirty="0"/>
            </a:br>
            <a:r>
              <a:rPr lang="en-US" dirty="0"/>
              <a:t>∆W = BA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b="1" dirty="0"/>
              <a:t>BA</a:t>
            </a:r>
            <a:r>
              <a:rPr lang="en-US" dirty="0"/>
              <a:t> has rank </a:t>
            </a:r>
            <a:r>
              <a:rPr lang="en-US" b="1" dirty="0"/>
              <a:t>r</a:t>
            </a:r>
            <a:r>
              <a:rPr lang="en-US" dirty="0"/>
              <a:t>, which is much less than the input dimension </a:t>
            </a:r>
            <a:r>
              <a:rPr lang="en-US" b="1" dirty="0"/>
              <a:t>k</a:t>
            </a:r>
            <a:r>
              <a:rPr lang="en-US" dirty="0"/>
              <a:t> or the output dimension </a:t>
            </a:r>
            <a:r>
              <a:rPr lang="en-US" b="1" dirty="0"/>
              <a:t>d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LoRA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79973" y="3359083"/>
            <a:ext cx="2091055" cy="87249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R="99695" algn="r">
              <a:lnSpc>
                <a:spcPct val="100000"/>
              </a:lnSpc>
              <a:spcBef>
                <a:spcPts val="790"/>
              </a:spcBef>
            </a:pPr>
            <a:r>
              <a:rPr sz="2200" dirty="0">
                <a:latin typeface="Euclid"/>
                <a:cs typeface="Euclid"/>
              </a:rPr>
              <a:t>z</a:t>
            </a:r>
            <a:r>
              <a:rPr sz="2200" spc="-114" dirty="0">
                <a:latin typeface="Euclid"/>
                <a:cs typeface="Euclid"/>
              </a:rPr>
              <a:t> </a:t>
            </a:r>
            <a:r>
              <a:rPr sz="2200" spc="95" dirty="0">
                <a:latin typeface="Tahoma"/>
                <a:cs typeface="Tahoma"/>
              </a:rPr>
              <a:t>=</a:t>
            </a:r>
            <a:r>
              <a:rPr sz="2200" spc="-65" dirty="0">
                <a:latin typeface="Tahoma"/>
                <a:cs typeface="Tahoma"/>
              </a:rPr>
              <a:t> </a:t>
            </a:r>
            <a:r>
              <a:rPr sz="2200" dirty="0">
                <a:latin typeface="Euclid"/>
                <a:cs typeface="Euclid"/>
              </a:rPr>
              <a:t>W</a:t>
            </a:r>
            <a:r>
              <a:rPr sz="2325" baseline="-12544" dirty="0">
                <a:latin typeface="Candara Light"/>
                <a:cs typeface="Candara Light"/>
              </a:rPr>
              <a:t>0</a:t>
            </a:r>
            <a:r>
              <a:rPr sz="2200" dirty="0">
                <a:latin typeface="Euclid"/>
                <a:cs typeface="Euclid"/>
              </a:rPr>
              <a:t>x</a:t>
            </a:r>
            <a:r>
              <a:rPr sz="2200" spc="-240" dirty="0">
                <a:latin typeface="Euclid"/>
                <a:cs typeface="Euclid"/>
              </a:rPr>
              <a:t> </a:t>
            </a:r>
            <a:r>
              <a:rPr sz="2200" spc="95" dirty="0">
                <a:latin typeface="Tahoma"/>
                <a:cs typeface="Tahoma"/>
              </a:rPr>
              <a:t>+</a:t>
            </a:r>
            <a:r>
              <a:rPr sz="2200" spc="-190" dirty="0">
                <a:latin typeface="Tahoma"/>
                <a:cs typeface="Tahoma"/>
              </a:rPr>
              <a:t> </a:t>
            </a:r>
            <a:r>
              <a:rPr sz="2200" spc="-25" dirty="0">
                <a:latin typeface="Euclid"/>
                <a:cs typeface="Euclid"/>
              </a:rPr>
              <a:t>BAx</a:t>
            </a:r>
            <a:endParaRPr sz="2200" dirty="0">
              <a:latin typeface="Euclid"/>
              <a:cs typeface="Euclid"/>
            </a:endParaRPr>
          </a:p>
          <a:p>
            <a:pPr marR="30480" algn="r">
              <a:lnSpc>
                <a:spcPct val="100000"/>
              </a:lnSpc>
              <a:spcBef>
                <a:spcPts val="695"/>
              </a:spcBef>
            </a:pPr>
            <a:r>
              <a:rPr sz="2200" spc="95" dirty="0">
                <a:latin typeface="Tahoma"/>
                <a:cs typeface="Tahoma"/>
              </a:rPr>
              <a:t>=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(</a:t>
            </a:r>
            <a:r>
              <a:rPr sz="2200" dirty="0">
                <a:latin typeface="Euclid"/>
                <a:cs typeface="Euclid"/>
              </a:rPr>
              <a:t>W</a:t>
            </a:r>
            <a:r>
              <a:rPr sz="2325" baseline="-12544" dirty="0">
                <a:latin typeface="Candara Light"/>
                <a:cs typeface="Candara Light"/>
              </a:rPr>
              <a:t>0</a:t>
            </a:r>
            <a:r>
              <a:rPr sz="2325" spc="375" baseline="-12544" dirty="0">
                <a:latin typeface="Candara Light"/>
                <a:cs typeface="Candara Light"/>
              </a:rPr>
              <a:t> </a:t>
            </a:r>
            <a:r>
              <a:rPr sz="2200" spc="95" dirty="0">
                <a:latin typeface="Tahoma"/>
                <a:cs typeface="Tahoma"/>
              </a:rPr>
              <a:t>+</a:t>
            </a:r>
            <a:r>
              <a:rPr sz="2200" spc="-200" dirty="0">
                <a:latin typeface="Tahoma"/>
                <a:cs typeface="Tahoma"/>
              </a:rPr>
              <a:t> </a:t>
            </a:r>
            <a:r>
              <a:rPr sz="2200" spc="-20" dirty="0">
                <a:latin typeface="Euclid"/>
                <a:cs typeface="Euclid"/>
              </a:rPr>
              <a:t>BA</a:t>
            </a:r>
            <a:r>
              <a:rPr sz="2200" spc="-20" dirty="0">
                <a:latin typeface="Tahoma"/>
                <a:cs typeface="Tahoma"/>
              </a:rPr>
              <a:t>)</a:t>
            </a:r>
            <a:r>
              <a:rPr sz="2200" spc="-20" dirty="0">
                <a:latin typeface="Euclid"/>
                <a:cs typeface="Euclid"/>
              </a:rPr>
              <a:t>x</a:t>
            </a:r>
            <a:endParaRPr sz="2200" dirty="0">
              <a:latin typeface="Euclid"/>
              <a:cs typeface="Euclid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05629" y="3017766"/>
            <a:ext cx="7646034" cy="3549650"/>
          </a:xfrm>
          <a:custGeom>
            <a:avLst/>
            <a:gdLst/>
            <a:ahLst/>
            <a:cxnLst/>
            <a:rect l="l" t="t" r="r" b="b"/>
            <a:pathLst>
              <a:path w="7646034" h="3549650">
                <a:moveTo>
                  <a:pt x="0" y="213620"/>
                </a:moveTo>
                <a:lnTo>
                  <a:pt x="5646" y="164638"/>
                </a:lnTo>
                <a:lnTo>
                  <a:pt x="21730" y="119675"/>
                </a:lnTo>
                <a:lnTo>
                  <a:pt x="46967" y="80011"/>
                </a:lnTo>
                <a:lnTo>
                  <a:pt x="80076" y="46929"/>
                </a:lnTo>
                <a:lnTo>
                  <a:pt x="119772" y="21712"/>
                </a:lnTo>
                <a:lnTo>
                  <a:pt x="164772" y="5641"/>
                </a:lnTo>
                <a:lnTo>
                  <a:pt x="213793" y="0"/>
                </a:lnTo>
                <a:lnTo>
                  <a:pt x="7432190" y="0"/>
                </a:lnTo>
                <a:lnTo>
                  <a:pt x="7481211" y="5641"/>
                </a:lnTo>
                <a:lnTo>
                  <a:pt x="7526211" y="21712"/>
                </a:lnTo>
                <a:lnTo>
                  <a:pt x="7565907" y="46929"/>
                </a:lnTo>
                <a:lnTo>
                  <a:pt x="7599015" y="80011"/>
                </a:lnTo>
                <a:lnTo>
                  <a:pt x="7624253" y="119675"/>
                </a:lnTo>
                <a:lnTo>
                  <a:pt x="7640337" y="164638"/>
                </a:lnTo>
                <a:lnTo>
                  <a:pt x="7645983" y="213620"/>
                </a:lnTo>
                <a:lnTo>
                  <a:pt x="7645983" y="3335524"/>
                </a:lnTo>
                <a:lnTo>
                  <a:pt x="7640337" y="3384505"/>
                </a:lnTo>
                <a:lnTo>
                  <a:pt x="7624253" y="3429469"/>
                </a:lnTo>
                <a:lnTo>
                  <a:pt x="7599015" y="3469133"/>
                </a:lnTo>
                <a:lnTo>
                  <a:pt x="7565907" y="3502215"/>
                </a:lnTo>
                <a:lnTo>
                  <a:pt x="7526211" y="3527432"/>
                </a:lnTo>
                <a:lnTo>
                  <a:pt x="7481211" y="3543503"/>
                </a:lnTo>
                <a:lnTo>
                  <a:pt x="7432190" y="3549145"/>
                </a:lnTo>
                <a:lnTo>
                  <a:pt x="213793" y="3549145"/>
                </a:lnTo>
                <a:lnTo>
                  <a:pt x="164772" y="3543503"/>
                </a:lnTo>
                <a:lnTo>
                  <a:pt x="119772" y="3527432"/>
                </a:lnTo>
                <a:lnTo>
                  <a:pt x="80076" y="3502215"/>
                </a:lnTo>
                <a:lnTo>
                  <a:pt x="46967" y="3469133"/>
                </a:lnTo>
                <a:lnTo>
                  <a:pt x="21730" y="3429469"/>
                </a:lnTo>
                <a:lnTo>
                  <a:pt x="5646" y="3384505"/>
                </a:lnTo>
                <a:lnTo>
                  <a:pt x="0" y="3335524"/>
                </a:lnTo>
                <a:lnTo>
                  <a:pt x="0" y="213620"/>
                </a:lnTo>
                <a:close/>
              </a:path>
            </a:pathLst>
          </a:custGeom>
          <a:ln w="95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439649" y="3097441"/>
            <a:ext cx="15792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ndara"/>
                <a:cs typeface="Candara"/>
              </a:rPr>
              <a:t>LoRA Linear </a:t>
            </a:r>
            <a:r>
              <a:rPr sz="1600" spc="-10" dirty="0">
                <a:latin typeface="Candara"/>
                <a:cs typeface="Candara"/>
              </a:rPr>
              <a:t>Layer</a:t>
            </a:r>
            <a:endParaRPr sz="1600">
              <a:latin typeface="Candara"/>
              <a:cs typeface="Candar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90338" y="1678864"/>
            <a:ext cx="1143635" cy="3708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250" dirty="0">
                <a:latin typeface="Bell MT"/>
                <a:cs typeface="Bell MT"/>
              </a:rPr>
              <a:t>z</a:t>
            </a:r>
            <a:r>
              <a:rPr sz="2250" spc="-5" dirty="0">
                <a:latin typeface="Bell MT"/>
                <a:cs typeface="Bell MT"/>
              </a:rPr>
              <a:t> </a:t>
            </a:r>
            <a:r>
              <a:rPr sz="2250" dirty="0">
                <a:latin typeface="Lucida Sans Unicode"/>
                <a:cs typeface="Lucida Sans Unicode"/>
              </a:rPr>
              <a:t>=</a:t>
            </a:r>
            <a:r>
              <a:rPr sz="2250" spc="-145" dirty="0">
                <a:latin typeface="Lucida Sans Unicode"/>
                <a:cs typeface="Lucida Sans Unicode"/>
              </a:rPr>
              <a:t> </a:t>
            </a:r>
            <a:r>
              <a:rPr sz="2250" spc="-25" dirty="0">
                <a:latin typeface="Bell MT"/>
                <a:cs typeface="Bell MT"/>
              </a:rPr>
              <a:t>W</a:t>
            </a:r>
            <a:r>
              <a:rPr sz="2325" spc="-37" baseline="-12544" dirty="0">
                <a:latin typeface="Candara Light"/>
                <a:cs typeface="Candara Light"/>
              </a:rPr>
              <a:t>0</a:t>
            </a:r>
            <a:r>
              <a:rPr sz="2250" spc="-25" dirty="0">
                <a:latin typeface="Bell MT"/>
                <a:cs typeface="Bell MT"/>
              </a:rPr>
              <a:t>x</a:t>
            </a:r>
            <a:endParaRPr sz="2250">
              <a:latin typeface="Bell MT"/>
              <a:cs typeface="Bel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45773" y="1325523"/>
            <a:ext cx="6170930" cy="1559560"/>
          </a:xfrm>
          <a:custGeom>
            <a:avLst/>
            <a:gdLst/>
            <a:ahLst/>
            <a:cxnLst/>
            <a:rect l="l" t="t" r="r" b="b"/>
            <a:pathLst>
              <a:path w="6170930" h="1559560">
                <a:moveTo>
                  <a:pt x="0" y="93843"/>
                </a:moveTo>
                <a:lnTo>
                  <a:pt x="7380" y="57315"/>
                </a:lnTo>
                <a:lnTo>
                  <a:pt x="27508" y="27486"/>
                </a:lnTo>
                <a:lnTo>
                  <a:pt x="57361" y="7374"/>
                </a:lnTo>
                <a:lnTo>
                  <a:pt x="93919" y="0"/>
                </a:lnTo>
                <a:lnTo>
                  <a:pt x="6076948" y="0"/>
                </a:lnTo>
                <a:lnTo>
                  <a:pt x="6113506" y="7374"/>
                </a:lnTo>
                <a:lnTo>
                  <a:pt x="6143359" y="27486"/>
                </a:lnTo>
                <a:lnTo>
                  <a:pt x="6163487" y="57315"/>
                </a:lnTo>
                <a:lnTo>
                  <a:pt x="6170867" y="93843"/>
                </a:lnTo>
                <a:lnTo>
                  <a:pt x="6170867" y="1465325"/>
                </a:lnTo>
                <a:lnTo>
                  <a:pt x="6163487" y="1501853"/>
                </a:lnTo>
                <a:lnTo>
                  <a:pt x="6143359" y="1531683"/>
                </a:lnTo>
                <a:lnTo>
                  <a:pt x="6113506" y="1551794"/>
                </a:lnTo>
                <a:lnTo>
                  <a:pt x="6076948" y="1559169"/>
                </a:lnTo>
                <a:lnTo>
                  <a:pt x="93919" y="1559169"/>
                </a:lnTo>
                <a:lnTo>
                  <a:pt x="57361" y="1551794"/>
                </a:lnTo>
                <a:lnTo>
                  <a:pt x="27508" y="1531683"/>
                </a:lnTo>
                <a:lnTo>
                  <a:pt x="7380" y="1501853"/>
                </a:lnTo>
                <a:lnTo>
                  <a:pt x="0" y="1465325"/>
                </a:lnTo>
                <a:lnTo>
                  <a:pt x="0" y="93843"/>
                </a:lnTo>
                <a:close/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84444" y="1372273"/>
            <a:ext cx="18948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ndara"/>
                <a:cs typeface="Candara"/>
              </a:rPr>
              <a:t>Standard</a:t>
            </a:r>
            <a:r>
              <a:rPr sz="1600" spc="-2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Linear</a:t>
            </a:r>
            <a:r>
              <a:rPr sz="1600" spc="-25" dirty="0">
                <a:latin typeface="Candara"/>
                <a:cs typeface="Candara"/>
              </a:rPr>
              <a:t> </a:t>
            </a:r>
            <a:r>
              <a:rPr sz="1600" spc="-10" dirty="0">
                <a:latin typeface="Candara"/>
                <a:cs typeface="Candara"/>
              </a:rPr>
              <a:t>Layer</a:t>
            </a:r>
            <a:endParaRPr sz="1600">
              <a:latin typeface="Candara"/>
              <a:cs typeface="Candar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76524" y="5625291"/>
            <a:ext cx="1568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Candara"/>
                <a:cs typeface="Candara"/>
              </a:rPr>
              <a:t>x</a:t>
            </a:r>
            <a:endParaRPr sz="2000">
              <a:latin typeface="Candara"/>
              <a:cs typeface="Candar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526733" y="5751424"/>
            <a:ext cx="1534795" cy="136525"/>
            <a:chOff x="9526733" y="5751424"/>
            <a:chExt cx="1534795" cy="136525"/>
          </a:xfrm>
        </p:grpSpPr>
        <p:sp>
          <p:nvSpPr>
            <p:cNvPr id="13" name="object 13"/>
            <p:cNvSpPr/>
            <p:nvPr/>
          </p:nvSpPr>
          <p:spPr>
            <a:xfrm>
              <a:off x="9533083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533083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58378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658378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83673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83673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909393" y="576122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09393" y="576122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034900" y="57577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4" y="120224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034900" y="57577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160195" y="57577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160195" y="57577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85490" y="57577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4" y="120224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85490" y="57577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411209" y="5758219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5" y="120225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411209" y="5758219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553054" y="576033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553054" y="576033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678350" y="576033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4" y="120224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678350" y="576033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803643" y="576033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803643" y="576033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929364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4" y="120224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929364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482381" y="3607515"/>
            <a:ext cx="1358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Candara"/>
                <a:cs typeface="Candara"/>
              </a:rPr>
              <a:t>z</a:t>
            </a:r>
            <a:endParaRPr sz="2000">
              <a:latin typeface="Candara"/>
              <a:cs typeface="Candar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326407" y="3730556"/>
            <a:ext cx="2422525" cy="1576705"/>
            <a:chOff x="8326407" y="3730556"/>
            <a:chExt cx="2422525" cy="1576705"/>
          </a:xfrm>
        </p:grpSpPr>
        <p:sp>
          <p:nvSpPr>
            <p:cNvPr id="39" name="object 39"/>
            <p:cNvSpPr/>
            <p:nvPr/>
          </p:nvSpPr>
          <p:spPr>
            <a:xfrm>
              <a:off x="9738940" y="3739908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738940" y="3739908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864236" y="3739908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4" y="120224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864236" y="3739908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989530" y="3739908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989530" y="3739908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0115250" y="3740353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4" y="120225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0115250" y="3740353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240757" y="3736906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5" y="120225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240757" y="3736906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366052" y="3736906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5" y="120225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0366052" y="3736906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491347" y="3736906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5" y="120225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0491347" y="3736906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0617066" y="3737352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617066" y="3737352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331169" y="4170083"/>
              <a:ext cx="1528445" cy="1132840"/>
            </a:xfrm>
            <a:custGeom>
              <a:avLst/>
              <a:gdLst/>
              <a:ahLst/>
              <a:cxnLst/>
              <a:rect l="l" t="t" r="r" b="b"/>
              <a:pathLst>
                <a:path w="1528445" h="1132839">
                  <a:moveTo>
                    <a:pt x="1274579" y="0"/>
                  </a:moveTo>
                  <a:lnTo>
                    <a:pt x="253837" y="0"/>
                  </a:lnTo>
                  <a:lnTo>
                    <a:pt x="0" y="1132283"/>
                  </a:lnTo>
                  <a:lnTo>
                    <a:pt x="1528415" y="1132283"/>
                  </a:lnTo>
                  <a:lnTo>
                    <a:pt x="1274579" y="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331169" y="4170083"/>
              <a:ext cx="1528445" cy="1132840"/>
            </a:xfrm>
            <a:custGeom>
              <a:avLst/>
              <a:gdLst/>
              <a:ahLst/>
              <a:cxnLst/>
              <a:rect l="l" t="t" r="r" b="b"/>
              <a:pathLst>
                <a:path w="1528445" h="1132839">
                  <a:moveTo>
                    <a:pt x="0" y="1132283"/>
                  </a:moveTo>
                  <a:lnTo>
                    <a:pt x="253836" y="0"/>
                  </a:lnTo>
                  <a:lnTo>
                    <a:pt x="1274578" y="0"/>
                  </a:lnTo>
                  <a:lnTo>
                    <a:pt x="1528416" y="1132283"/>
                  </a:lnTo>
                  <a:lnTo>
                    <a:pt x="0" y="1132283"/>
                  </a:lnTo>
                  <a:close/>
                </a:path>
              </a:pathLst>
            </a:custGeom>
            <a:ln w="95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8910586" y="4632638"/>
            <a:ext cx="36957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b="1" spc="-25" dirty="0">
                <a:latin typeface="Candara"/>
                <a:cs typeface="Candara"/>
              </a:rPr>
              <a:t>W</a:t>
            </a:r>
            <a:r>
              <a:rPr sz="1800" spc="-37" baseline="-13888" dirty="0">
                <a:latin typeface="Candara"/>
                <a:cs typeface="Candara"/>
              </a:rPr>
              <a:t>0</a:t>
            </a:r>
            <a:endParaRPr sz="1800" baseline="-13888">
              <a:latin typeface="Candara"/>
              <a:cs typeface="Candar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9094184" y="3833045"/>
            <a:ext cx="2903855" cy="1929130"/>
            <a:chOff x="9094184" y="3833045"/>
            <a:chExt cx="2903855" cy="1929130"/>
          </a:xfrm>
        </p:grpSpPr>
        <p:sp>
          <p:nvSpPr>
            <p:cNvPr id="59" name="object 59"/>
            <p:cNvSpPr/>
            <p:nvPr/>
          </p:nvSpPr>
          <p:spPr>
            <a:xfrm>
              <a:off x="10659925" y="4867313"/>
              <a:ext cx="1333500" cy="430530"/>
            </a:xfrm>
            <a:custGeom>
              <a:avLst/>
              <a:gdLst/>
              <a:ahLst/>
              <a:cxnLst/>
              <a:rect l="l" t="t" r="r" b="b"/>
              <a:pathLst>
                <a:path w="1333500" h="430529">
                  <a:moveTo>
                    <a:pt x="842584" y="0"/>
                  </a:moveTo>
                  <a:lnTo>
                    <a:pt x="490625" y="0"/>
                  </a:lnTo>
                  <a:lnTo>
                    <a:pt x="0" y="429919"/>
                  </a:lnTo>
                  <a:lnTo>
                    <a:pt x="1333207" y="429919"/>
                  </a:lnTo>
                  <a:lnTo>
                    <a:pt x="84258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0659925" y="4867313"/>
              <a:ext cx="1333500" cy="430530"/>
            </a:xfrm>
            <a:custGeom>
              <a:avLst/>
              <a:gdLst/>
              <a:ahLst/>
              <a:cxnLst/>
              <a:rect l="l" t="t" r="r" b="b"/>
              <a:pathLst>
                <a:path w="1333500" h="430529">
                  <a:moveTo>
                    <a:pt x="0" y="429919"/>
                  </a:moveTo>
                  <a:lnTo>
                    <a:pt x="490624" y="0"/>
                  </a:lnTo>
                  <a:lnTo>
                    <a:pt x="842583" y="0"/>
                  </a:lnTo>
                  <a:lnTo>
                    <a:pt x="1333207" y="429919"/>
                  </a:lnTo>
                  <a:lnTo>
                    <a:pt x="0" y="429919"/>
                  </a:lnTo>
                  <a:close/>
                </a:path>
              </a:pathLst>
            </a:custGeom>
            <a:ln w="9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646492" y="4163720"/>
              <a:ext cx="1333500" cy="430530"/>
            </a:xfrm>
            <a:custGeom>
              <a:avLst/>
              <a:gdLst/>
              <a:ahLst/>
              <a:cxnLst/>
              <a:rect l="l" t="t" r="r" b="b"/>
              <a:pathLst>
                <a:path w="1333500" h="430529">
                  <a:moveTo>
                    <a:pt x="1333207" y="0"/>
                  </a:moveTo>
                  <a:lnTo>
                    <a:pt x="0" y="0"/>
                  </a:lnTo>
                  <a:lnTo>
                    <a:pt x="490623" y="429920"/>
                  </a:lnTo>
                  <a:lnTo>
                    <a:pt x="842582" y="429920"/>
                  </a:lnTo>
                  <a:lnTo>
                    <a:pt x="133320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646492" y="4163721"/>
              <a:ext cx="1333500" cy="430530"/>
            </a:xfrm>
            <a:custGeom>
              <a:avLst/>
              <a:gdLst/>
              <a:ahLst/>
              <a:cxnLst/>
              <a:rect l="l" t="t" r="r" b="b"/>
              <a:pathLst>
                <a:path w="1333500" h="430529">
                  <a:moveTo>
                    <a:pt x="1333207" y="0"/>
                  </a:moveTo>
                  <a:lnTo>
                    <a:pt x="842583" y="429919"/>
                  </a:lnTo>
                  <a:lnTo>
                    <a:pt x="490624" y="429919"/>
                  </a:lnTo>
                  <a:lnTo>
                    <a:pt x="0" y="0"/>
                  </a:lnTo>
                  <a:lnTo>
                    <a:pt x="1333207" y="0"/>
                  </a:lnTo>
                  <a:close/>
                </a:path>
              </a:pathLst>
            </a:custGeom>
            <a:ln w="9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094178" y="3833050"/>
              <a:ext cx="2259965" cy="1929764"/>
            </a:xfrm>
            <a:custGeom>
              <a:avLst/>
              <a:gdLst/>
              <a:ahLst/>
              <a:cxnLst/>
              <a:rect l="l" t="t" r="r" b="b"/>
              <a:pathLst>
                <a:path w="2259965" h="1929764">
                  <a:moveTo>
                    <a:pt x="1130439" y="1920328"/>
                  </a:moveTo>
                  <a:lnTo>
                    <a:pt x="50025" y="1483918"/>
                  </a:lnTo>
                  <a:lnTo>
                    <a:pt x="51943" y="1479169"/>
                  </a:lnTo>
                  <a:lnTo>
                    <a:pt x="62509" y="1453070"/>
                  </a:lnTo>
                  <a:lnTo>
                    <a:pt x="1193" y="1469326"/>
                  </a:lnTo>
                  <a:lnTo>
                    <a:pt x="33972" y="1523580"/>
                  </a:lnTo>
                  <a:lnTo>
                    <a:pt x="46456" y="1492732"/>
                  </a:lnTo>
                  <a:lnTo>
                    <a:pt x="1126871" y="1929142"/>
                  </a:lnTo>
                  <a:lnTo>
                    <a:pt x="1130439" y="1920328"/>
                  </a:lnTo>
                  <a:close/>
                </a:path>
                <a:path w="2259965" h="1929764">
                  <a:moveTo>
                    <a:pt x="1209217" y="24091"/>
                  </a:moveTo>
                  <a:lnTo>
                    <a:pt x="1150543" y="0"/>
                  </a:lnTo>
                  <a:lnTo>
                    <a:pt x="1158900" y="32207"/>
                  </a:lnTo>
                  <a:lnTo>
                    <a:pt x="0" y="332435"/>
                  </a:lnTo>
                  <a:lnTo>
                    <a:pt x="2387" y="341642"/>
                  </a:lnTo>
                  <a:lnTo>
                    <a:pt x="1161288" y="41414"/>
                  </a:lnTo>
                  <a:lnTo>
                    <a:pt x="1169644" y="73621"/>
                  </a:lnTo>
                  <a:lnTo>
                    <a:pt x="1205268" y="29032"/>
                  </a:lnTo>
                  <a:lnTo>
                    <a:pt x="1209217" y="24091"/>
                  </a:lnTo>
                  <a:close/>
                </a:path>
                <a:path w="2259965" h="1929764">
                  <a:moveTo>
                    <a:pt x="2220353" y="339229"/>
                  </a:moveTo>
                  <a:lnTo>
                    <a:pt x="1259039" y="34874"/>
                  </a:lnTo>
                  <a:lnTo>
                    <a:pt x="1260246" y="31038"/>
                  </a:lnTo>
                  <a:lnTo>
                    <a:pt x="1269098" y="3149"/>
                  </a:lnTo>
                  <a:lnTo>
                    <a:pt x="1209217" y="24091"/>
                  </a:lnTo>
                  <a:lnTo>
                    <a:pt x="1246098" y="75653"/>
                  </a:lnTo>
                  <a:lnTo>
                    <a:pt x="1256157" y="43942"/>
                  </a:lnTo>
                  <a:lnTo>
                    <a:pt x="2217470" y="348297"/>
                  </a:lnTo>
                  <a:lnTo>
                    <a:pt x="2220353" y="339229"/>
                  </a:lnTo>
                  <a:close/>
                </a:path>
                <a:path w="2259965" h="1929764">
                  <a:moveTo>
                    <a:pt x="2232342" y="1464183"/>
                  </a:moveTo>
                  <a:lnTo>
                    <a:pt x="2170214" y="1451394"/>
                  </a:lnTo>
                  <a:lnTo>
                    <a:pt x="2184412" y="1481493"/>
                  </a:lnTo>
                  <a:lnTo>
                    <a:pt x="1251927" y="1920430"/>
                  </a:lnTo>
                  <a:lnTo>
                    <a:pt x="1255979" y="1929028"/>
                  </a:lnTo>
                  <a:lnTo>
                    <a:pt x="2188464" y="1490103"/>
                  </a:lnTo>
                  <a:lnTo>
                    <a:pt x="2202662" y="1520202"/>
                  </a:lnTo>
                  <a:lnTo>
                    <a:pt x="2226030" y="1476095"/>
                  </a:lnTo>
                  <a:lnTo>
                    <a:pt x="2232342" y="1464183"/>
                  </a:lnTo>
                  <a:close/>
                </a:path>
                <a:path w="2259965" h="1929764">
                  <a:moveTo>
                    <a:pt x="2259419" y="809383"/>
                  </a:moveTo>
                  <a:lnTo>
                    <a:pt x="2250249" y="798347"/>
                  </a:lnTo>
                  <a:lnTo>
                    <a:pt x="2218918" y="760590"/>
                  </a:lnTo>
                  <a:lnTo>
                    <a:pt x="2183384" y="813104"/>
                  </a:lnTo>
                  <a:lnTo>
                    <a:pt x="2216645" y="811479"/>
                  </a:lnTo>
                  <a:lnTo>
                    <a:pt x="2227592" y="1034503"/>
                  </a:lnTo>
                  <a:lnTo>
                    <a:pt x="2237092" y="1034034"/>
                  </a:lnTo>
                  <a:lnTo>
                    <a:pt x="2226145" y="811009"/>
                  </a:lnTo>
                  <a:lnTo>
                    <a:pt x="2259419" y="8093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8875330" y="4224144"/>
            <a:ext cx="4222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ndara"/>
                <a:cs typeface="Candara"/>
              </a:rPr>
              <a:t>Linear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0834595" y="4203637"/>
            <a:ext cx="560705" cy="370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94"/>
              </a:lnSpc>
              <a:spcBef>
                <a:spcPts val="100"/>
              </a:spcBef>
            </a:pPr>
            <a:r>
              <a:rPr sz="1200" spc="-10" dirty="0">
                <a:latin typeface="Candara"/>
                <a:cs typeface="Candara"/>
              </a:rPr>
              <a:t>Linear</a:t>
            </a:r>
            <a:endParaRPr sz="1200" dirty="0">
              <a:latin typeface="Candara"/>
              <a:cs typeface="Candara"/>
            </a:endParaRPr>
          </a:p>
          <a:p>
            <a:pPr marR="5080" algn="r">
              <a:lnSpc>
                <a:spcPts val="1714"/>
              </a:lnSpc>
            </a:pPr>
            <a:r>
              <a:rPr sz="1800" b="1" dirty="0">
                <a:latin typeface="Candara"/>
                <a:cs typeface="Candara"/>
              </a:rPr>
              <a:t>B</a:t>
            </a:r>
            <a:endParaRPr sz="1800" dirty="0">
              <a:latin typeface="Candara"/>
              <a:cs typeface="Candar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0786853" y="5010590"/>
            <a:ext cx="64960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Candara"/>
                <a:cs typeface="Candara"/>
              </a:rPr>
              <a:t>Linear</a:t>
            </a:r>
            <a:r>
              <a:rPr sz="1200" spc="-25" dirty="0">
                <a:latin typeface="Candara"/>
                <a:cs typeface="Candara"/>
              </a:rPr>
              <a:t> </a:t>
            </a:r>
            <a:r>
              <a:rPr sz="2700" b="1" spc="-75" baseline="10802" dirty="0">
                <a:latin typeface="Candara"/>
                <a:cs typeface="Candara"/>
              </a:rPr>
              <a:t>A</a:t>
            </a:r>
            <a:endParaRPr sz="2700" baseline="10802">
              <a:latin typeface="Candara"/>
              <a:cs typeface="Candar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9526981" y="3422719"/>
            <a:ext cx="2188210" cy="2809875"/>
            <a:chOff x="9526981" y="3422719"/>
            <a:chExt cx="2188210" cy="2809875"/>
          </a:xfrm>
        </p:grpSpPr>
        <p:sp>
          <p:nvSpPr>
            <p:cNvPr id="68" name="object 68"/>
            <p:cNvSpPr/>
            <p:nvPr/>
          </p:nvSpPr>
          <p:spPr>
            <a:xfrm>
              <a:off x="10301096" y="6062144"/>
              <a:ext cx="127000" cy="157480"/>
            </a:xfrm>
            <a:custGeom>
              <a:avLst/>
              <a:gdLst/>
              <a:ahLst/>
              <a:cxnLst/>
              <a:rect l="l" t="t" r="r" b="b"/>
              <a:pathLst>
                <a:path w="127000" h="157479">
                  <a:moveTo>
                    <a:pt x="0" y="0"/>
                  </a:moveTo>
                  <a:lnTo>
                    <a:pt x="126656" y="157194"/>
                  </a:lnTo>
                </a:path>
              </a:pathLst>
            </a:custGeom>
            <a:ln w="25365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539657" y="5941920"/>
              <a:ext cx="1523365" cy="120650"/>
            </a:xfrm>
            <a:custGeom>
              <a:avLst/>
              <a:gdLst/>
              <a:ahLst/>
              <a:cxnLst/>
              <a:rect l="l" t="t" r="r" b="b"/>
              <a:pathLst>
                <a:path w="1523365" h="120650">
                  <a:moveTo>
                    <a:pt x="0" y="0"/>
                  </a:moveTo>
                  <a:lnTo>
                    <a:pt x="787" y="46796"/>
                  </a:lnTo>
                  <a:lnTo>
                    <a:pt x="2936" y="85011"/>
                  </a:lnTo>
                  <a:lnTo>
                    <a:pt x="6123" y="110776"/>
                  </a:lnTo>
                  <a:lnTo>
                    <a:pt x="10025" y="120223"/>
                  </a:lnTo>
                  <a:lnTo>
                    <a:pt x="1512850" y="120223"/>
                  </a:lnTo>
                  <a:lnTo>
                    <a:pt x="1516753" y="110776"/>
                  </a:lnTo>
                  <a:lnTo>
                    <a:pt x="1519940" y="85011"/>
                  </a:lnTo>
                  <a:lnTo>
                    <a:pt x="1522088" y="46796"/>
                  </a:lnTo>
                  <a:lnTo>
                    <a:pt x="1522876" y="0"/>
                  </a:lnTo>
                </a:path>
              </a:pathLst>
            </a:custGeom>
            <a:ln w="25373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0243827" y="3435405"/>
              <a:ext cx="46355" cy="201930"/>
            </a:xfrm>
            <a:custGeom>
              <a:avLst/>
              <a:gdLst/>
              <a:ahLst/>
              <a:cxnLst/>
              <a:rect l="l" t="t" r="r" b="b"/>
              <a:pathLst>
                <a:path w="46354" h="201929">
                  <a:moveTo>
                    <a:pt x="0" y="201875"/>
                  </a:moveTo>
                  <a:lnTo>
                    <a:pt x="45806" y="0"/>
                  </a:lnTo>
                </a:path>
              </a:pathLst>
            </a:custGeom>
            <a:ln w="25372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9738940" y="3637281"/>
              <a:ext cx="1010285" cy="45720"/>
            </a:xfrm>
            <a:custGeom>
              <a:avLst/>
              <a:gdLst/>
              <a:ahLst/>
              <a:cxnLst/>
              <a:rect l="l" t="t" r="r" b="b"/>
              <a:pathLst>
                <a:path w="1010284" h="45720">
                  <a:moveTo>
                    <a:pt x="0" y="45634"/>
                  </a:moveTo>
                  <a:lnTo>
                    <a:pt x="299" y="27871"/>
                  </a:lnTo>
                  <a:lnTo>
                    <a:pt x="1114" y="13365"/>
                  </a:lnTo>
                  <a:lnTo>
                    <a:pt x="2324" y="3586"/>
                  </a:lnTo>
                  <a:lnTo>
                    <a:pt x="3805" y="0"/>
                  </a:lnTo>
                  <a:lnTo>
                    <a:pt x="1005969" y="0"/>
                  </a:lnTo>
                  <a:lnTo>
                    <a:pt x="1007450" y="3586"/>
                  </a:lnTo>
                  <a:lnTo>
                    <a:pt x="1008660" y="13365"/>
                  </a:lnTo>
                  <a:lnTo>
                    <a:pt x="1009475" y="27871"/>
                  </a:lnTo>
                  <a:lnTo>
                    <a:pt x="1009774" y="45634"/>
                  </a:lnTo>
                </a:path>
              </a:pathLst>
            </a:custGeom>
            <a:ln w="25373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1341654" y="4588817"/>
              <a:ext cx="360680" cy="201930"/>
            </a:xfrm>
            <a:custGeom>
              <a:avLst/>
              <a:gdLst/>
              <a:ahLst/>
              <a:cxnLst/>
              <a:rect l="l" t="t" r="r" b="b"/>
              <a:pathLst>
                <a:path w="360679" h="201929">
                  <a:moveTo>
                    <a:pt x="0" y="201875"/>
                  </a:moveTo>
                  <a:lnTo>
                    <a:pt x="360257" y="0"/>
                  </a:lnTo>
                </a:path>
              </a:pathLst>
            </a:custGeom>
            <a:ln w="25357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1151216" y="4790692"/>
              <a:ext cx="381000" cy="45720"/>
            </a:xfrm>
            <a:custGeom>
              <a:avLst/>
              <a:gdLst/>
              <a:ahLst/>
              <a:cxnLst/>
              <a:rect l="l" t="t" r="r" b="b"/>
              <a:pathLst>
                <a:path w="381000" h="45720">
                  <a:moveTo>
                    <a:pt x="0" y="45634"/>
                  </a:moveTo>
                  <a:lnTo>
                    <a:pt x="299" y="27871"/>
                  </a:lnTo>
                  <a:lnTo>
                    <a:pt x="1114" y="13365"/>
                  </a:lnTo>
                  <a:lnTo>
                    <a:pt x="2324" y="3586"/>
                  </a:lnTo>
                  <a:lnTo>
                    <a:pt x="3805" y="0"/>
                  </a:lnTo>
                  <a:lnTo>
                    <a:pt x="377067" y="0"/>
                  </a:lnTo>
                  <a:lnTo>
                    <a:pt x="378549" y="3586"/>
                  </a:lnTo>
                  <a:lnTo>
                    <a:pt x="379759" y="13365"/>
                  </a:lnTo>
                  <a:lnTo>
                    <a:pt x="380574" y="27871"/>
                  </a:lnTo>
                  <a:lnTo>
                    <a:pt x="380873" y="45634"/>
                  </a:lnTo>
                </a:path>
              </a:pathLst>
            </a:custGeom>
            <a:ln w="25373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10368278" y="3270182"/>
            <a:ext cx="15176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solidFill>
                  <a:srgbClr val="0432FF"/>
                </a:solidFill>
                <a:latin typeface="Candara"/>
                <a:cs typeface="Candara"/>
              </a:rPr>
              <a:t>d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1780555" y="4422326"/>
            <a:ext cx="10668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solidFill>
                  <a:srgbClr val="0432FF"/>
                </a:solidFill>
                <a:latin typeface="Candara"/>
                <a:cs typeface="Candara"/>
              </a:rPr>
              <a:t>r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640526" y="2470611"/>
            <a:ext cx="1568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Candara"/>
                <a:cs typeface="Candara"/>
              </a:rPr>
              <a:t>x</a:t>
            </a:r>
            <a:endParaRPr sz="2000">
              <a:latin typeface="Candara"/>
              <a:cs typeface="Candar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8890735" y="2593324"/>
            <a:ext cx="1534795" cy="136525"/>
            <a:chOff x="8890735" y="2593324"/>
            <a:chExt cx="1534795" cy="136525"/>
          </a:xfrm>
        </p:grpSpPr>
        <p:sp>
          <p:nvSpPr>
            <p:cNvPr id="78" name="object 78"/>
            <p:cNvSpPr/>
            <p:nvPr/>
          </p:nvSpPr>
          <p:spPr>
            <a:xfrm>
              <a:off x="8897085" y="26026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4" y="120225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897085" y="26026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9022381" y="26026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4" y="120225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9022381" y="26026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9147675" y="26026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5" y="120225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9147675" y="26026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9273395" y="260312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4" y="120224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9273395" y="260312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9398901" y="25996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9398901" y="25996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9524197" y="25996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9524197" y="25996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9649492" y="25996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9649492" y="25996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9775211" y="260012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9775211" y="260012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9917055" y="260223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9917055" y="260223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0042351" y="260223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0042351" y="260223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0167645" y="260223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0167645" y="260223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0293365" y="26026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5" y="120225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0293365" y="26026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8893388" y="1351994"/>
            <a:ext cx="1358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Candara"/>
                <a:cs typeface="Candara"/>
              </a:rPr>
              <a:t>z</a:t>
            </a:r>
            <a:endParaRPr sz="2000">
              <a:latin typeface="Candara"/>
              <a:cs typeface="Candara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8887337" y="1474419"/>
            <a:ext cx="1536700" cy="988694"/>
            <a:chOff x="8887337" y="1474419"/>
            <a:chExt cx="1536700" cy="988694"/>
          </a:xfrm>
        </p:grpSpPr>
        <p:sp>
          <p:nvSpPr>
            <p:cNvPr id="104" name="object 104"/>
            <p:cNvSpPr/>
            <p:nvPr/>
          </p:nvSpPr>
          <p:spPr>
            <a:xfrm>
              <a:off x="9149947" y="148376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9149947" y="148376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9275243" y="148376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9275243" y="148376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9400537" y="148376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4" y="120224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9400537" y="148376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9526257" y="148420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5" y="120225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9526257" y="148420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9651763" y="148076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9651763" y="148076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9777059" y="148076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9777059" y="148076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9902354" y="148076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9902354" y="148076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0028073" y="148120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0028073" y="148120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8892091" y="1699797"/>
              <a:ext cx="1527175" cy="758190"/>
            </a:xfrm>
            <a:custGeom>
              <a:avLst/>
              <a:gdLst/>
              <a:ahLst/>
              <a:cxnLst/>
              <a:rect l="l" t="t" r="r" b="b"/>
              <a:pathLst>
                <a:path w="1527175" h="758189">
                  <a:moveTo>
                    <a:pt x="1248470" y="0"/>
                  </a:moveTo>
                  <a:lnTo>
                    <a:pt x="278098" y="0"/>
                  </a:lnTo>
                  <a:lnTo>
                    <a:pt x="0" y="758179"/>
                  </a:lnTo>
                  <a:lnTo>
                    <a:pt x="1526569" y="758179"/>
                  </a:lnTo>
                  <a:lnTo>
                    <a:pt x="1248470" y="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8892091" y="1699797"/>
              <a:ext cx="1527175" cy="758190"/>
            </a:xfrm>
            <a:custGeom>
              <a:avLst/>
              <a:gdLst/>
              <a:ahLst/>
              <a:cxnLst/>
              <a:rect l="l" t="t" r="r" b="b"/>
              <a:pathLst>
                <a:path w="1527175" h="758189">
                  <a:moveTo>
                    <a:pt x="0" y="758179"/>
                  </a:moveTo>
                  <a:lnTo>
                    <a:pt x="278097" y="0"/>
                  </a:lnTo>
                  <a:lnTo>
                    <a:pt x="1248471" y="0"/>
                  </a:lnTo>
                  <a:lnTo>
                    <a:pt x="1526569" y="758179"/>
                  </a:lnTo>
                  <a:lnTo>
                    <a:pt x="0" y="758179"/>
                  </a:lnTo>
                  <a:close/>
                </a:path>
              </a:pathLst>
            </a:custGeom>
            <a:ln w="9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9470585" y="1959542"/>
            <a:ext cx="36957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b="1" spc="-25" dirty="0">
                <a:latin typeface="Candara"/>
                <a:cs typeface="Candara"/>
              </a:rPr>
              <a:t>W</a:t>
            </a:r>
            <a:r>
              <a:rPr sz="1800" spc="-37" baseline="-13888" dirty="0">
                <a:latin typeface="Candara"/>
                <a:cs typeface="Candara"/>
              </a:rPr>
              <a:t>0</a:t>
            </a:r>
            <a:endParaRPr sz="1800" baseline="-13888">
              <a:latin typeface="Candara"/>
              <a:cs typeface="Candara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4708781" y="5955241"/>
            <a:ext cx="2646680" cy="3771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50" dirty="0">
                <a:latin typeface="Calibri"/>
                <a:cs typeface="Calibri"/>
              </a:rPr>
              <a:t>where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i="1" spc="140" dirty="0">
                <a:latin typeface="Times New Roman"/>
                <a:cs typeface="Times New Roman"/>
              </a:rPr>
              <a:t>r</a:t>
            </a:r>
            <a:r>
              <a:rPr sz="2150" i="1" spc="180" dirty="0">
                <a:latin typeface="Times New Roman"/>
                <a:cs typeface="Times New Roman"/>
              </a:rPr>
              <a:t> </a:t>
            </a:r>
            <a:r>
              <a:rPr sz="2150" i="1" spc="229" dirty="0">
                <a:latin typeface="Times New Roman"/>
                <a:cs typeface="Times New Roman"/>
              </a:rPr>
              <a:t>&lt;&lt;</a:t>
            </a:r>
            <a:r>
              <a:rPr sz="2150" i="1" spc="12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Cambria"/>
                <a:cs typeface="Cambria"/>
              </a:rPr>
              <a:t>min</a:t>
            </a:r>
            <a:r>
              <a:rPr sz="2150" dirty="0">
                <a:latin typeface="Tahoma"/>
                <a:cs typeface="Tahoma"/>
              </a:rPr>
              <a:t>(</a:t>
            </a:r>
            <a:r>
              <a:rPr sz="2150" i="1" dirty="0">
                <a:latin typeface="Times New Roman"/>
                <a:cs typeface="Times New Roman"/>
              </a:rPr>
              <a:t>d,</a:t>
            </a:r>
            <a:r>
              <a:rPr sz="2150" i="1" spc="-150" dirty="0">
                <a:latin typeface="Times New Roman"/>
                <a:cs typeface="Times New Roman"/>
              </a:rPr>
              <a:t> </a:t>
            </a:r>
            <a:r>
              <a:rPr sz="2150" i="1" spc="100" dirty="0">
                <a:latin typeface="Times New Roman"/>
                <a:cs typeface="Times New Roman"/>
              </a:rPr>
              <a:t>k</a:t>
            </a:r>
            <a:r>
              <a:rPr sz="2150" spc="100" dirty="0">
                <a:latin typeface="Tahoma"/>
                <a:cs typeface="Tahoma"/>
              </a:rPr>
              <a:t>)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10506397" y="6115909"/>
            <a:ext cx="1371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4"/>
              </a:lnSpc>
            </a:pPr>
            <a:r>
              <a:rPr sz="1800" dirty="0">
                <a:solidFill>
                  <a:srgbClr val="0432FF"/>
                </a:solidFill>
                <a:latin typeface="Candara"/>
                <a:cs typeface="Candara"/>
              </a:rPr>
              <a:t>k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173628" y="6573837"/>
            <a:ext cx="250634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95"/>
              </a:lnSpc>
            </a:pP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Figure</a:t>
            </a:r>
            <a:r>
              <a:rPr sz="1400" spc="-3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inspired</a:t>
            </a:r>
            <a:r>
              <a:rPr sz="1400" spc="-2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by</a:t>
            </a:r>
            <a:r>
              <a:rPr sz="1400" spc="-25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He</a:t>
            </a:r>
            <a:r>
              <a:rPr sz="1400" spc="-3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et</a:t>
            </a:r>
            <a:r>
              <a:rPr sz="1400" spc="-25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al.</a:t>
            </a:r>
            <a:r>
              <a:rPr sz="1400" spc="-2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spc="-10" dirty="0">
                <a:solidFill>
                  <a:srgbClr val="7F7F7F"/>
                </a:solidFill>
                <a:latin typeface="Candara"/>
                <a:cs typeface="Candara"/>
              </a:rPr>
              <a:t>(2022)</a:t>
            </a:r>
            <a:endParaRPr sz="1400" dirty="0">
              <a:latin typeface="Candara"/>
              <a:cs typeface="Candara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9417873" y="1718688"/>
            <a:ext cx="4222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ndara"/>
                <a:cs typeface="Candara"/>
              </a:rPr>
              <a:t>Linear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4791982" y="2189258"/>
            <a:ext cx="1032510" cy="3562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150" dirty="0">
                <a:latin typeface="Bell MT"/>
                <a:cs typeface="Bell MT"/>
              </a:rPr>
              <a:t>W</a:t>
            </a:r>
            <a:r>
              <a:rPr sz="2250" baseline="-12962" dirty="0">
                <a:latin typeface="Candara Light"/>
                <a:cs typeface="Candara Light"/>
              </a:rPr>
              <a:t>0</a:t>
            </a:r>
            <a:r>
              <a:rPr sz="2250" spc="630" baseline="-12962" dirty="0">
                <a:latin typeface="Candara Light"/>
                <a:cs typeface="Candara Light"/>
              </a:rPr>
              <a:t> </a:t>
            </a:r>
            <a:r>
              <a:rPr sz="2150" spc="-260" dirty="0">
                <a:latin typeface="Lucida Sans Unicode"/>
                <a:cs typeface="Lucida Sans Unicode"/>
              </a:rPr>
              <a:t>∈</a:t>
            </a:r>
            <a:r>
              <a:rPr sz="2150" spc="-30" dirty="0">
                <a:latin typeface="Lucida Sans Unicode"/>
                <a:cs typeface="Lucida Sans Unicode"/>
              </a:rPr>
              <a:t> </a:t>
            </a:r>
            <a:r>
              <a:rPr sz="2150" spc="-50" dirty="0">
                <a:latin typeface="Century"/>
                <a:cs typeface="Century"/>
              </a:rPr>
              <a:t>R</a:t>
            </a:r>
            <a:endParaRPr sz="2150">
              <a:latin typeface="Century"/>
              <a:cs typeface="Century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5773356" y="2158192"/>
            <a:ext cx="434975" cy="2571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i="1" spc="105" dirty="0">
                <a:latin typeface="Courier New"/>
                <a:cs typeface="Courier New"/>
              </a:rPr>
              <a:t>d</a:t>
            </a:r>
            <a:r>
              <a:rPr sz="1500" i="1" spc="105" dirty="0">
                <a:latin typeface="Times New Roman"/>
                <a:cs typeface="Times New Roman"/>
              </a:rPr>
              <a:t>×</a:t>
            </a:r>
            <a:r>
              <a:rPr sz="1500" i="1" spc="105" dirty="0">
                <a:latin typeface="Courier New"/>
                <a:cs typeface="Courier New"/>
              </a:rPr>
              <a:t>k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015071" y="2158192"/>
            <a:ext cx="144145" cy="2571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i="1" spc="30" dirty="0">
                <a:latin typeface="Courier New"/>
                <a:cs typeface="Courier New"/>
              </a:rPr>
              <a:t>k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6201170" y="2189258"/>
            <a:ext cx="1767205" cy="3562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963294" algn="l"/>
              </a:tabLst>
            </a:pPr>
            <a:r>
              <a:rPr sz="2150" dirty="0">
                <a:latin typeface="Arial"/>
                <a:cs typeface="Arial"/>
              </a:rPr>
              <a:t>,</a:t>
            </a:r>
            <a:r>
              <a:rPr sz="2150" spc="-229" dirty="0">
                <a:latin typeface="Arial"/>
                <a:cs typeface="Arial"/>
              </a:rPr>
              <a:t> </a:t>
            </a:r>
            <a:r>
              <a:rPr sz="2150" dirty="0">
                <a:latin typeface="Bell MT"/>
                <a:cs typeface="Bell MT"/>
              </a:rPr>
              <a:t>x</a:t>
            </a:r>
            <a:r>
              <a:rPr sz="2150" spc="85" dirty="0">
                <a:latin typeface="Bell MT"/>
                <a:cs typeface="Bell MT"/>
              </a:rPr>
              <a:t> </a:t>
            </a:r>
            <a:r>
              <a:rPr sz="2150" spc="-260" dirty="0">
                <a:latin typeface="Lucida Sans Unicode"/>
                <a:cs typeface="Lucida Sans Unicode"/>
              </a:rPr>
              <a:t>∈</a:t>
            </a:r>
            <a:r>
              <a:rPr sz="2150" spc="-65" dirty="0">
                <a:latin typeface="Lucida Sans Unicode"/>
                <a:cs typeface="Lucida Sans Unicode"/>
              </a:rPr>
              <a:t> </a:t>
            </a:r>
            <a:r>
              <a:rPr sz="2150" spc="-50" dirty="0">
                <a:latin typeface="Century"/>
                <a:cs typeface="Century"/>
              </a:rPr>
              <a:t>R</a:t>
            </a:r>
            <a:r>
              <a:rPr sz="2150" dirty="0">
                <a:latin typeface="Century"/>
                <a:cs typeface="Century"/>
              </a:rPr>
              <a:t>	</a:t>
            </a:r>
            <a:r>
              <a:rPr sz="2150" dirty="0">
                <a:latin typeface="Arial"/>
                <a:cs typeface="Arial"/>
              </a:rPr>
              <a:t>,</a:t>
            </a:r>
            <a:r>
              <a:rPr sz="2150" spc="-229" dirty="0">
                <a:latin typeface="Arial"/>
                <a:cs typeface="Arial"/>
              </a:rPr>
              <a:t> </a:t>
            </a:r>
            <a:r>
              <a:rPr sz="2150" dirty="0">
                <a:latin typeface="Bell MT"/>
                <a:cs typeface="Bell MT"/>
              </a:rPr>
              <a:t>z</a:t>
            </a:r>
            <a:r>
              <a:rPr sz="2150" spc="80" dirty="0">
                <a:latin typeface="Bell MT"/>
                <a:cs typeface="Bell MT"/>
              </a:rPr>
              <a:t> </a:t>
            </a:r>
            <a:r>
              <a:rPr sz="2150" spc="-260" dirty="0">
                <a:latin typeface="Lucida Sans Unicode"/>
                <a:cs typeface="Lucida Sans Unicode"/>
              </a:rPr>
              <a:t>∈</a:t>
            </a:r>
            <a:r>
              <a:rPr sz="2150" spc="-65" dirty="0">
                <a:latin typeface="Lucida Sans Unicode"/>
                <a:cs typeface="Lucida Sans Unicode"/>
              </a:rPr>
              <a:t> </a:t>
            </a:r>
            <a:r>
              <a:rPr sz="2150" spc="-50" dirty="0">
                <a:latin typeface="Century"/>
                <a:cs typeface="Century"/>
              </a:rPr>
              <a:t>R</a:t>
            </a:r>
            <a:endParaRPr sz="2150">
              <a:latin typeface="Century"/>
              <a:cs typeface="Century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7942817" y="2158192"/>
            <a:ext cx="141605" cy="2571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i="1" spc="10" dirty="0">
                <a:latin typeface="Courier New"/>
                <a:cs typeface="Courier New"/>
              </a:rPr>
              <a:t>d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4683381" y="4952301"/>
            <a:ext cx="2494280" cy="945515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35"/>
              </a:spcBef>
            </a:pPr>
            <a:r>
              <a:rPr sz="2150" dirty="0">
                <a:latin typeface="Euclid"/>
                <a:cs typeface="Euclid"/>
              </a:rPr>
              <a:t>W</a:t>
            </a:r>
            <a:r>
              <a:rPr sz="2250" baseline="-12962" dirty="0">
                <a:latin typeface="Candara Light"/>
                <a:cs typeface="Candara Light"/>
              </a:rPr>
              <a:t>0</a:t>
            </a:r>
            <a:r>
              <a:rPr sz="2250" spc="637" baseline="-12962" dirty="0">
                <a:latin typeface="Candara Light"/>
                <a:cs typeface="Candara Light"/>
              </a:rPr>
              <a:t> </a:t>
            </a:r>
            <a:r>
              <a:rPr sz="2150" spc="-260" dirty="0">
                <a:latin typeface="Lucida Sans Unicode"/>
                <a:cs typeface="Lucida Sans Unicode"/>
              </a:rPr>
              <a:t>∈</a:t>
            </a:r>
            <a:r>
              <a:rPr sz="2150" spc="-50" dirty="0">
                <a:latin typeface="Lucida Sans Unicode"/>
                <a:cs typeface="Lucida Sans Unicode"/>
              </a:rPr>
              <a:t> </a:t>
            </a:r>
            <a:r>
              <a:rPr sz="2150" spc="135" dirty="0">
                <a:latin typeface="Century"/>
                <a:cs typeface="Century"/>
              </a:rPr>
              <a:t>R</a:t>
            </a:r>
            <a:r>
              <a:rPr sz="2250" i="1" spc="202" baseline="33333" dirty="0">
                <a:latin typeface="Georgia"/>
                <a:cs typeface="Georgia"/>
              </a:rPr>
              <a:t>d</a:t>
            </a:r>
            <a:r>
              <a:rPr sz="2250" i="1" spc="202" baseline="33333" dirty="0">
                <a:latin typeface="Times New Roman"/>
                <a:cs typeface="Times New Roman"/>
              </a:rPr>
              <a:t>×</a:t>
            </a:r>
            <a:r>
              <a:rPr sz="2250" i="1" spc="202" baseline="33333" dirty="0">
                <a:latin typeface="Georgia"/>
                <a:cs typeface="Georgia"/>
              </a:rPr>
              <a:t>k</a:t>
            </a:r>
            <a:r>
              <a:rPr sz="2150" i="1" spc="135" dirty="0">
                <a:latin typeface="Times New Roman"/>
                <a:cs typeface="Times New Roman"/>
              </a:rPr>
              <a:t>,</a:t>
            </a:r>
            <a:endParaRPr sz="21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40"/>
              </a:spcBef>
            </a:pPr>
            <a:r>
              <a:rPr sz="2150" dirty="0">
                <a:latin typeface="Euclid"/>
                <a:cs typeface="Euclid"/>
              </a:rPr>
              <a:t>A</a:t>
            </a:r>
            <a:r>
              <a:rPr sz="2150" spc="-100" dirty="0">
                <a:latin typeface="Euclid"/>
                <a:cs typeface="Euclid"/>
              </a:rPr>
              <a:t> </a:t>
            </a:r>
            <a:r>
              <a:rPr sz="2150" spc="-260" dirty="0">
                <a:latin typeface="Lucida Sans Unicode"/>
                <a:cs typeface="Lucida Sans Unicode"/>
              </a:rPr>
              <a:t>∈</a:t>
            </a:r>
            <a:r>
              <a:rPr sz="2150" spc="-60" dirty="0">
                <a:latin typeface="Lucida Sans Unicode"/>
                <a:cs typeface="Lucida Sans Unicode"/>
              </a:rPr>
              <a:t> </a:t>
            </a:r>
            <a:r>
              <a:rPr sz="2150" spc="170" dirty="0">
                <a:latin typeface="Century"/>
                <a:cs typeface="Century"/>
              </a:rPr>
              <a:t>R</a:t>
            </a:r>
            <a:r>
              <a:rPr sz="2250" i="1" spc="254" baseline="33333" dirty="0">
                <a:latin typeface="Georgia"/>
                <a:cs typeface="Georgia"/>
              </a:rPr>
              <a:t>r</a:t>
            </a:r>
            <a:r>
              <a:rPr sz="2250" i="1" spc="254" baseline="33333" dirty="0">
                <a:latin typeface="Times New Roman"/>
                <a:cs typeface="Times New Roman"/>
              </a:rPr>
              <a:t>×</a:t>
            </a:r>
            <a:r>
              <a:rPr sz="2250" i="1" spc="254" baseline="33333" dirty="0">
                <a:latin typeface="Georgia"/>
                <a:cs typeface="Georgia"/>
              </a:rPr>
              <a:t>k</a:t>
            </a:r>
            <a:r>
              <a:rPr sz="2150" i="1" spc="170" dirty="0">
                <a:latin typeface="Times New Roman"/>
                <a:cs typeface="Times New Roman"/>
              </a:rPr>
              <a:t>,</a:t>
            </a:r>
            <a:r>
              <a:rPr sz="2150" i="1" spc="-16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Euclid"/>
                <a:cs typeface="Euclid"/>
              </a:rPr>
              <a:t>B</a:t>
            </a:r>
            <a:r>
              <a:rPr sz="2150" spc="-95" dirty="0">
                <a:latin typeface="Euclid"/>
                <a:cs typeface="Euclid"/>
              </a:rPr>
              <a:t> </a:t>
            </a:r>
            <a:r>
              <a:rPr sz="2150" spc="-260" dirty="0">
                <a:latin typeface="Lucida Sans Unicode"/>
                <a:cs typeface="Lucida Sans Unicode"/>
              </a:rPr>
              <a:t>∈</a:t>
            </a:r>
            <a:r>
              <a:rPr sz="2150" spc="-65" dirty="0">
                <a:latin typeface="Lucida Sans Unicode"/>
                <a:cs typeface="Lucida Sans Unicode"/>
              </a:rPr>
              <a:t> </a:t>
            </a:r>
            <a:r>
              <a:rPr sz="2150" spc="105" dirty="0">
                <a:latin typeface="Century"/>
                <a:cs typeface="Century"/>
              </a:rPr>
              <a:t>R</a:t>
            </a:r>
            <a:r>
              <a:rPr sz="2250" i="1" spc="157" baseline="33333" dirty="0">
                <a:latin typeface="Georgia"/>
                <a:cs typeface="Georgia"/>
              </a:rPr>
              <a:t>d</a:t>
            </a:r>
            <a:r>
              <a:rPr sz="2250" i="1" spc="157" baseline="33333" dirty="0">
                <a:latin typeface="Times New Roman"/>
                <a:cs typeface="Times New Roman"/>
              </a:rPr>
              <a:t>×</a:t>
            </a:r>
            <a:r>
              <a:rPr sz="2250" i="1" spc="157" baseline="33333" dirty="0">
                <a:latin typeface="Georgia"/>
                <a:cs typeface="Georgia"/>
              </a:rPr>
              <a:t>r</a:t>
            </a:r>
            <a:endParaRPr sz="2250" baseline="33333">
              <a:latin typeface="Georgia"/>
              <a:cs typeface="Georgia"/>
            </a:endParaRPr>
          </a:p>
        </p:txBody>
      </p:sp>
      <p:sp>
        <p:nvSpPr>
          <p:cNvPr id="139" name="Slide Number Placeholder 138">
            <a:extLst>
              <a:ext uri="{FF2B5EF4-FFF2-40B4-BE49-F238E27FC236}">
                <a16:creationId xmlns:a16="http://schemas.microsoft.com/office/drawing/2014/main" id="{0F0F643D-68CB-40F8-92FD-B604F3C3F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ontent Placeholder 138">
            <a:extLst>
              <a:ext uri="{FF2B5EF4-FFF2-40B4-BE49-F238E27FC236}">
                <a16:creationId xmlns:a16="http://schemas.microsoft.com/office/drawing/2014/main" id="{5FF1EFD9-27AE-40B5-810E-A5F2A0E1B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4072785" cy="5410200"/>
          </a:xfrm>
        </p:spPr>
        <p:txBody>
          <a:bodyPr/>
          <a:lstStyle/>
          <a:p>
            <a:r>
              <a:rPr lang="en-US" dirty="0"/>
              <a:t>Initialization</a:t>
            </a:r>
          </a:p>
          <a:p>
            <a:r>
              <a:rPr lang="en-US" dirty="0"/>
              <a:t>We initialize the trainable parameters: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A</a:t>
            </a:r>
            <a:r>
              <a:rPr lang="en-US" baseline="-25000" dirty="0" err="1"/>
              <a:t>ij</a:t>
            </a:r>
            <a:r>
              <a:rPr lang="en-US" dirty="0"/>
              <a:t> ∼ N (0, σ</a:t>
            </a:r>
            <a:r>
              <a:rPr lang="en-US" baseline="30000" dirty="0"/>
              <a:t>2</a:t>
            </a:r>
            <a:r>
              <a:rPr lang="en-US" dirty="0"/>
              <a:t>), ∀</a:t>
            </a:r>
            <a:r>
              <a:rPr lang="en-US" dirty="0" err="1"/>
              <a:t>i</a:t>
            </a:r>
            <a:r>
              <a:rPr lang="en-US" dirty="0"/>
              <a:t>, j</a:t>
            </a:r>
          </a:p>
          <a:p>
            <a:pPr marL="0" indent="0">
              <a:buNone/>
            </a:pPr>
            <a:r>
              <a:rPr lang="en-US" dirty="0"/>
              <a:t>	B = 0</a:t>
            </a:r>
          </a:p>
          <a:p>
            <a:r>
              <a:rPr lang="en-US" dirty="0"/>
              <a:t>This ensures that, at the start of fine tuning, the parameters have their pretrained values:</a:t>
            </a:r>
          </a:p>
          <a:p>
            <a:pPr marL="0" indent="0">
              <a:buNone/>
            </a:pPr>
            <a:r>
              <a:rPr lang="en-US" dirty="0"/>
              <a:t>	∆W = BA = 0</a:t>
            </a:r>
          </a:p>
          <a:p>
            <a:pPr lvl="1"/>
            <a:r>
              <a:rPr lang="en-US" dirty="0"/>
              <a:t>W0 + BA = W0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LoRA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5739" y="3570872"/>
            <a:ext cx="136525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spc="-5" dirty="0">
                <a:latin typeface="Candara Light"/>
                <a:cs typeface="Candara Light"/>
              </a:rPr>
              <a:t>0</a:t>
            </a:r>
            <a:endParaRPr sz="1550">
              <a:latin typeface="Candara Light"/>
              <a:cs typeface="Candara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05373" y="3443796"/>
            <a:ext cx="1970405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dirty="0">
                <a:latin typeface="Euclid"/>
                <a:cs typeface="Euclid"/>
              </a:rPr>
              <a:t>z</a:t>
            </a:r>
            <a:r>
              <a:rPr sz="2200" spc="-145" dirty="0">
                <a:latin typeface="Euclid"/>
                <a:cs typeface="Euclid"/>
              </a:rPr>
              <a:t> </a:t>
            </a:r>
            <a:r>
              <a:rPr sz="2200" spc="95" dirty="0">
                <a:latin typeface="Tahoma"/>
                <a:cs typeface="Tahoma"/>
              </a:rPr>
              <a:t>=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dirty="0">
                <a:latin typeface="Euclid"/>
                <a:cs typeface="Euclid"/>
              </a:rPr>
              <a:t>W</a:t>
            </a:r>
            <a:r>
              <a:rPr sz="2200" spc="240" dirty="0">
                <a:latin typeface="Euclid"/>
                <a:cs typeface="Euclid"/>
              </a:rPr>
              <a:t> </a:t>
            </a:r>
            <a:r>
              <a:rPr sz="2200" spc="-20" dirty="0">
                <a:latin typeface="Euclid"/>
                <a:cs typeface="Euclid"/>
              </a:rPr>
              <a:t>x</a:t>
            </a:r>
            <a:r>
              <a:rPr sz="2200" spc="-250" dirty="0">
                <a:latin typeface="Euclid"/>
                <a:cs typeface="Euclid"/>
              </a:rPr>
              <a:t> </a:t>
            </a:r>
            <a:r>
              <a:rPr sz="2200" spc="95" dirty="0">
                <a:latin typeface="Tahoma"/>
                <a:cs typeface="Tahoma"/>
              </a:rPr>
              <a:t>+</a:t>
            </a:r>
            <a:r>
              <a:rPr sz="2200" spc="-200" dirty="0">
                <a:latin typeface="Tahoma"/>
                <a:cs typeface="Tahoma"/>
              </a:rPr>
              <a:t> </a:t>
            </a:r>
            <a:r>
              <a:rPr sz="2200" spc="-25" dirty="0">
                <a:latin typeface="Euclid"/>
                <a:cs typeface="Euclid"/>
              </a:rPr>
              <a:t>BAx</a:t>
            </a:r>
            <a:endParaRPr sz="2200">
              <a:latin typeface="Euclid"/>
              <a:cs typeface="Eucli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80401" y="3867337"/>
            <a:ext cx="1890395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200" spc="95" dirty="0">
                <a:latin typeface="Tahoma"/>
                <a:cs typeface="Tahoma"/>
              </a:rPr>
              <a:t>=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(</a:t>
            </a:r>
            <a:r>
              <a:rPr sz="2200" dirty="0">
                <a:latin typeface="Euclid"/>
                <a:cs typeface="Euclid"/>
              </a:rPr>
              <a:t>W</a:t>
            </a:r>
            <a:r>
              <a:rPr sz="2325" baseline="-12544" dirty="0">
                <a:latin typeface="Candara Light"/>
                <a:cs typeface="Candara Light"/>
              </a:rPr>
              <a:t>0</a:t>
            </a:r>
            <a:r>
              <a:rPr sz="2325" spc="375" baseline="-12544" dirty="0">
                <a:latin typeface="Candara Light"/>
                <a:cs typeface="Candara Light"/>
              </a:rPr>
              <a:t> </a:t>
            </a:r>
            <a:r>
              <a:rPr sz="2200" spc="95" dirty="0">
                <a:latin typeface="Tahoma"/>
                <a:cs typeface="Tahoma"/>
              </a:rPr>
              <a:t>+</a:t>
            </a:r>
            <a:r>
              <a:rPr sz="2200" spc="-200" dirty="0">
                <a:latin typeface="Tahoma"/>
                <a:cs typeface="Tahoma"/>
              </a:rPr>
              <a:t> </a:t>
            </a:r>
            <a:r>
              <a:rPr sz="2200" spc="-20" dirty="0">
                <a:latin typeface="Euclid"/>
                <a:cs typeface="Euclid"/>
              </a:rPr>
              <a:t>BA</a:t>
            </a:r>
            <a:r>
              <a:rPr sz="2200" spc="-20" dirty="0">
                <a:latin typeface="Tahoma"/>
                <a:cs typeface="Tahoma"/>
              </a:rPr>
              <a:t>)</a:t>
            </a:r>
            <a:r>
              <a:rPr sz="2200" spc="-20" dirty="0">
                <a:latin typeface="Euclid"/>
                <a:cs typeface="Euclid"/>
              </a:rPr>
              <a:t>x</a:t>
            </a:r>
            <a:endParaRPr sz="2200">
              <a:latin typeface="Euclid"/>
              <a:cs typeface="Euclid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05629" y="3017766"/>
            <a:ext cx="7646034" cy="3549650"/>
          </a:xfrm>
          <a:custGeom>
            <a:avLst/>
            <a:gdLst/>
            <a:ahLst/>
            <a:cxnLst/>
            <a:rect l="l" t="t" r="r" b="b"/>
            <a:pathLst>
              <a:path w="7646034" h="3549650">
                <a:moveTo>
                  <a:pt x="0" y="213620"/>
                </a:moveTo>
                <a:lnTo>
                  <a:pt x="5646" y="164638"/>
                </a:lnTo>
                <a:lnTo>
                  <a:pt x="21730" y="119675"/>
                </a:lnTo>
                <a:lnTo>
                  <a:pt x="46967" y="80011"/>
                </a:lnTo>
                <a:lnTo>
                  <a:pt x="80076" y="46929"/>
                </a:lnTo>
                <a:lnTo>
                  <a:pt x="119772" y="21712"/>
                </a:lnTo>
                <a:lnTo>
                  <a:pt x="164772" y="5641"/>
                </a:lnTo>
                <a:lnTo>
                  <a:pt x="213793" y="0"/>
                </a:lnTo>
                <a:lnTo>
                  <a:pt x="7432190" y="0"/>
                </a:lnTo>
                <a:lnTo>
                  <a:pt x="7481211" y="5641"/>
                </a:lnTo>
                <a:lnTo>
                  <a:pt x="7526211" y="21712"/>
                </a:lnTo>
                <a:lnTo>
                  <a:pt x="7565907" y="46929"/>
                </a:lnTo>
                <a:lnTo>
                  <a:pt x="7599015" y="80011"/>
                </a:lnTo>
                <a:lnTo>
                  <a:pt x="7624253" y="119675"/>
                </a:lnTo>
                <a:lnTo>
                  <a:pt x="7640337" y="164638"/>
                </a:lnTo>
                <a:lnTo>
                  <a:pt x="7645983" y="213620"/>
                </a:lnTo>
                <a:lnTo>
                  <a:pt x="7645983" y="3335524"/>
                </a:lnTo>
                <a:lnTo>
                  <a:pt x="7640337" y="3384505"/>
                </a:lnTo>
                <a:lnTo>
                  <a:pt x="7624253" y="3429469"/>
                </a:lnTo>
                <a:lnTo>
                  <a:pt x="7599015" y="3469133"/>
                </a:lnTo>
                <a:lnTo>
                  <a:pt x="7565907" y="3502215"/>
                </a:lnTo>
                <a:lnTo>
                  <a:pt x="7526211" y="3527432"/>
                </a:lnTo>
                <a:lnTo>
                  <a:pt x="7481211" y="3543503"/>
                </a:lnTo>
                <a:lnTo>
                  <a:pt x="7432190" y="3549145"/>
                </a:lnTo>
                <a:lnTo>
                  <a:pt x="213793" y="3549145"/>
                </a:lnTo>
                <a:lnTo>
                  <a:pt x="164772" y="3543503"/>
                </a:lnTo>
                <a:lnTo>
                  <a:pt x="119772" y="3527432"/>
                </a:lnTo>
                <a:lnTo>
                  <a:pt x="80076" y="3502215"/>
                </a:lnTo>
                <a:lnTo>
                  <a:pt x="46967" y="3469133"/>
                </a:lnTo>
                <a:lnTo>
                  <a:pt x="21730" y="3429469"/>
                </a:lnTo>
                <a:lnTo>
                  <a:pt x="5646" y="3384505"/>
                </a:lnTo>
                <a:lnTo>
                  <a:pt x="0" y="3335524"/>
                </a:lnTo>
                <a:lnTo>
                  <a:pt x="0" y="213620"/>
                </a:lnTo>
                <a:close/>
              </a:path>
            </a:pathLst>
          </a:custGeom>
          <a:ln w="95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39649" y="3097441"/>
            <a:ext cx="15792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ndara"/>
                <a:cs typeface="Candara"/>
              </a:rPr>
              <a:t>LoRA Linear </a:t>
            </a:r>
            <a:r>
              <a:rPr sz="1600" spc="-10" dirty="0">
                <a:latin typeface="Candara"/>
                <a:cs typeface="Candara"/>
              </a:rPr>
              <a:t>Layer</a:t>
            </a:r>
            <a:endParaRPr sz="1600">
              <a:latin typeface="Candara"/>
              <a:cs typeface="Candar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90338" y="1678864"/>
            <a:ext cx="1143635" cy="3708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250" dirty="0">
                <a:latin typeface="Bell MT"/>
                <a:cs typeface="Bell MT"/>
              </a:rPr>
              <a:t>z</a:t>
            </a:r>
            <a:r>
              <a:rPr sz="2250" spc="-5" dirty="0">
                <a:latin typeface="Bell MT"/>
                <a:cs typeface="Bell MT"/>
              </a:rPr>
              <a:t> </a:t>
            </a:r>
            <a:r>
              <a:rPr sz="2250" dirty="0">
                <a:latin typeface="Lucida Sans Unicode"/>
                <a:cs typeface="Lucida Sans Unicode"/>
              </a:rPr>
              <a:t>=</a:t>
            </a:r>
            <a:r>
              <a:rPr sz="2250" spc="-145" dirty="0">
                <a:latin typeface="Lucida Sans Unicode"/>
                <a:cs typeface="Lucida Sans Unicode"/>
              </a:rPr>
              <a:t> </a:t>
            </a:r>
            <a:r>
              <a:rPr sz="2250" spc="-25" dirty="0">
                <a:latin typeface="Bell MT"/>
                <a:cs typeface="Bell MT"/>
              </a:rPr>
              <a:t>W</a:t>
            </a:r>
            <a:r>
              <a:rPr sz="2325" spc="-37" baseline="-12544" dirty="0">
                <a:latin typeface="Candara Light"/>
                <a:cs typeface="Candara Light"/>
              </a:rPr>
              <a:t>0</a:t>
            </a:r>
            <a:r>
              <a:rPr sz="2250" spc="-25" dirty="0">
                <a:latin typeface="Bell MT"/>
                <a:cs typeface="Bell MT"/>
              </a:rPr>
              <a:t>x</a:t>
            </a:r>
            <a:endParaRPr sz="2250">
              <a:latin typeface="Bell MT"/>
              <a:cs typeface="Bel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45773" y="1325523"/>
            <a:ext cx="6170930" cy="1559560"/>
          </a:xfrm>
          <a:custGeom>
            <a:avLst/>
            <a:gdLst/>
            <a:ahLst/>
            <a:cxnLst/>
            <a:rect l="l" t="t" r="r" b="b"/>
            <a:pathLst>
              <a:path w="6170930" h="1559560">
                <a:moveTo>
                  <a:pt x="0" y="93843"/>
                </a:moveTo>
                <a:lnTo>
                  <a:pt x="7380" y="57315"/>
                </a:lnTo>
                <a:lnTo>
                  <a:pt x="27508" y="27486"/>
                </a:lnTo>
                <a:lnTo>
                  <a:pt x="57361" y="7374"/>
                </a:lnTo>
                <a:lnTo>
                  <a:pt x="93919" y="0"/>
                </a:lnTo>
                <a:lnTo>
                  <a:pt x="6076948" y="0"/>
                </a:lnTo>
                <a:lnTo>
                  <a:pt x="6113506" y="7374"/>
                </a:lnTo>
                <a:lnTo>
                  <a:pt x="6143359" y="27486"/>
                </a:lnTo>
                <a:lnTo>
                  <a:pt x="6163487" y="57315"/>
                </a:lnTo>
                <a:lnTo>
                  <a:pt x="6170867" y="93843"/>
                </a:lnTo>
                <a:lnTo>
                  <a:pt x="6170867" y="1465325"/>
                </a:lnTo>
                <a:lnTo>
                  <a:pt x="6163487" y="1501853"/>
                </a:lnTo>
                <a:lnTo>
                  <a:pt x="6143359" y="1531683"/>
                </a:lnTo>
                <a:lnTo>
                  <a:pt x="6113506" y="1551794"/>
                </a:lnTo>
                <a:lnTo>
                  <a:pt x="6076948" y="1559169"/>
                </a:lnTo>
                <a:lnTo>
                  <a:pt x="93919" y="1559169"/>
                </a:lnTo>
                <a:lnTo>
                  <a:pt x="57361" y="1551794"/>
                </a:lnTo>
                <a:lnTo>
                  <a:pt x="27508" y="1531683"/>
                </a:lnTo>
                <a:lnTo>
                  <a:pt x="7380" y="1501853"/>
                </a:lnTo>
                <a:lnTo>
                  <a:pt x="0" y="1465325"/>
                </a:lnTo>
                <a:lnTo>
                  <a:pt x="0" y="93843"/>
                </a:lnTo>
                <a:close/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84444" y="1372273"/>
            <a:ext cx="18948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ndara"/>
                <a:cs typeface="Candara"/>
              </a:rPr>
              <a:t>Standard</a:t>
            </a:r>
            <a:r>
              <a:rPr sz="1600" spc="-2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Linear</a:t>
            </a:r>
            <a:r>
              <a:rPr sz="1600" spc="-25" dirty="0">
                <a:latin typeface="Candara"/>
                <a:cs typeface="Candara"/>
              </a:rPr>
              <a:t> </a:t>
            </a:r>
            <a:r>
              <a:rPr sz="1600" spc="-10" dirty="0">
                <a:latin typeface="Candara"/>
                <a:cs typeface="Candara"/>
              </a:rPr>
              <a:t>Layer</a:t>
            </a:r>
            <a:endParaRPr sz="1600">
              <a:latin typeface="Candara"/>
              <a:cs typeface="Candar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76524" y="5625291"/>
            <a:ext cx="1568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Candara"/>
                <a:cs typeface="Candara"/>
              </a:rPr>
              <a:t>x</a:t>
            </a:r>
            <a:endParaRPr sz="2000">
              <a:latin typeface="Candara"/>
              <a:cs typeface="Candar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526733" y="5751424"/>
            <a:ext cx="1534795" cy="136525"/>
            <a:chOff x="9526733" y="5751424"/>
            <a:chExt cx="1534795" cy="136525"/>
          </a:xfrm>
        </p:grpSpPr>
        <p:sp>
          <p:nvSpPr>
            <p:cNvPr id="14" name="object 14"/>
            <p:cNvSpPr/>
            <p:nvPr/>
          </p:nvSpPr>
          <p:spPr>
            <a:xfrm>
              <a:off x="9533083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533083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658378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658378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83673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783673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09393" y="576122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909393" y="576122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034900" y="57577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4" y="120224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34900" y="57577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160195" y="57577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160195" y="57577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85490" y="57577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4" y="120224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285490" y="57577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411209" y="5758219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5" y="120225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411209" y="5758219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553054" y="576033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553054" y="576033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678350" y="576033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4" y="120224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678350" y="576033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803643" y="576033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803643" y="576033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929364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4" y="120224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929364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482381" y="3607515"/>
            <a:ext cx="1358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Candara"/>
                <a:cs typeface="Candara"/>
              </a:rPr>
              <a:t>z</a:t>
            </a:r>
            <a:endParaRPr sz="2000">
              <a:latin typeface="Candara"/>
              <a:cs typeface="Candar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326407" y="3730556"/>
            <a:ext cx="2422525" cy="1576705"/>
            <a:chOff x="8326407" y="3730556"/>
            <a:chExt cx="2422525" cy="1576705"/>
          </a:xfrm>
        </p:grpSpPr>
        <p:sp>
          <p:nvSpPr>
            <p:cNvPr id="40" name="object 40"/>
            <p:cNvSpPr/>
            <p:nvPr/>
          </p:nvSpPr>
          <p:spPr>
            <a:xfrm>
              <a:off x="9738940" y="3739908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738940" y="3739908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864236" y="3739908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4" y="120224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864236" y="3739908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989530" y="3739908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989530" y="3739908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0115250" y="3740353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4" y="120225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115250" y="3740353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240757" y="3736906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5" y="120225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240757" y="3736906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0366052" y="3736906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5" y="120225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366052" y="3736906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0491347" y="3736906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5" y="120225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0491347" y="3736906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617066" y="3737352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0617066" y="3737352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331169" y="4170083"/>
              <a:ext cx="1528445" cy="1132840"/>
            </a:xfrm>
            <a:custGeom>
              <a:avLst/>
              <a:gdLst/>
              <a:ahLst/>
              <a:cxnLst/>
              <a:rect l="l" t="t" r="r" b="b"/>
              <a:pathLst>
                <a:path w="1528445" h="1132839">
                  <a:moveTo>
                    <a:pt x="1274579" y="0"/>
                  </a:moveTo>
                  <a:lnTo>
                    <a:pt x="253837" y="0"/>
                  </a:lnTo>
                  <a:lnTo>
                    <a:pt x="0" y="1132283"/>
                  </a:lnTo>
                  <a:lnTo>
                    <a:pt x="1528415" y="1132283"/>
                  </a:lnTo>
                  <a:lnTo>
                    <a:pt x="1274579" y="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331169" y="4170083"/>
              <a:ext cx="1528445" cy="1132840"/>
            </a:xfrm>
            <a:custGeom>
              <a:avLst/>
              <a:gdLst/>
              <a:ahLst/>
              <a:cxnLst/>
              <a:rect l="l" t="t" r="r" b="b"/>
              <a:pathLst>
                <a:path w="1528445" h="1132839">
                  <a:moveTo>
                    <a:pt x="0" y="1132283"/>
                  </a:moveTo>
                  <a:lnTo>
                    <a:pt x="253836" y="0"/>
                  </a:lnTo>
                  <a:lnTo>
                    <a:pt x="1274578" y="0"/>
                  </a:lnTo>
                  <a:lnTo>
                    <a:pt x="1528416" y="1132283"/>
                  </a:lnTo>
                  <a:lnTo>
                    <a:pt x="0" y="1132283"/>
                  </a:lnTo>
                  <a:close/>
                </a:path>
              </a:pathLst>
            </a:custGeom>
            <a:ln w="95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8910586" y="4632638"/>
            <a:ext cx="36957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b="1" spc="-25" dirty="0">
                <a:latin typeface="Candara"/>
                <a:cs typeface="Candara"/>
              </a:rPr>
              <a:t>W</a:t>
            </a:r>
            <a:r>
              <a:rPr sz="1800" spc="-37" baseline="-13888" dirty="0">
                <a:latin typeface="Candara"/>
                <a:cs typeface="Candara"/>
              </a:rPr>
              <a:t>0</a:t>
            </a:r>
            <a:endParaRPr sz="1800" baseline="-13888">
              <a:latin typeface="Candara"/>
              <a:cs typeface="Candar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9094184" y="3833045"/>
            <a:ext cx="2903855" cy="1929130"/>
            <a:chOff x="9094184" y="3833045"/>
            <a:chExt cx="2903855" cy="1929130"/>
          </a:xfrm>
        </p:grpSpPr>
        <p:sp>
          <p:nvSpPr>
            <p:cNvPr id="60" name="object 60"/>
            <p:cNvSpPr/>
            <p:nvPr/>
          </p:nvSpPr>
          <p:spPr>
            <a:xfrm>
              <a:off x="10659925" y="4867313"/>
              <a:ext cx="1333500" cy="430530"/>
            </a:xfrm>
            <a:custGeom>
              <a:avLst/>
              <a:gdLst/>
              <a:ahLst/>
              <a:cxnLst/>
              <a:rect l="l" t="t" r="r" b="b"/>
              <a:pathLst>
                <a:path w="1333500" h="430529">
                  <a:moveTo>
                    <a:pt x="842584" y="0"/>
                  </a:moveTo>
                  <a:lnTo>
                    <a:pt x="490625" y="0"/>
                  </a:lnTo>
                  <a:lnTo>
                    <a:pt x="0" y="429919"/>
                  </a:lnTo>
                  <a:lnTo>
                    <a:pt x="1333207" y="429919"/>
                  </a:lnTo>
                  <a:lnTo>
                    <a:pt x="84258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659925" y="4867313"/>
              <a:ext cx="1333500" cy="430530"/>
            </a:xfrm>
            <a:custGeom>
              <a:avLst/>
              <a:gdLst/>
              <a:ahLst/>
              <a:cxnLst/>
              <a:rect l="l" t="t" r="r" b="b"/>
              <a:pathLst>
                <a:path w="1333500" h="430529">
                  <a:moveTo>
                    <a:pt x="0" y="429919"/>
                  </a:moveTo>
                  <a:lnTo>
                    <a:pt x="490624" y="0"/>
                  </a:lnTo>
                  <a:lnTo>
                    <a:pt x="842583" y="0"/>
                  </a:lnTo>
                  <a:lnTo>
                    <a:pt x="1333207" y="429919"/>
                  </a:lnTo>
                  <a:lnTo>
                    <a:pt x="0" y="429919"/>
                  </a:lnTo>
                  <a:close/>
                </a:path>
              </a:pathLst>
            </a:custGeom>
            <a:ln w="9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646492" y="4163720"/>
              <a:ext cx="1333500" cy="430530"/>
            </a:xfrm>
            <a:custGeom>
              <a:avLst/>
              <a:gdLst/>
              <a:ahLst/>
              <a:cxnLst/>
              <a:rect l="l" t="t" r="r" b="b"/>
              <a:pathLst>
                <a:path w="1333500" h="430529">
                  <a:moveTo>
                    <a:pt x="1333207" y="0"/>
                  </a:moveTo>
                  <a:lnTo>
                    <a:pt x="0" y="0"/>
                  </a:lnTo>
                  <a:lnTo>
                    <a:pt x="490623" y="429920"/>
                  </a:lnTo>
                  <a:lnTo>
                    <a:pt x="842582" y="429920"/>
                  </a:lnTo>
                  <a:lnTo>
                    <a:pt x="133320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646492" y="4163721"/>
              <a:ext cx="1333500" cy="430530"/>
            </a:xfrm>
            <a:custGeom>
              <a:avLst/>
              <a:gdLst/>
              <a:ahLst/>
              <a:cxnLst/>
              <a:rect l="l" t="t" r="r" b="b"/>
              <a:pathLst>
                <a:path w="1333500" h="430529">
                  <a:moveTo>
                    <a:pt x="1333207" y="0"/>
                  </a:moveTo>
                  <a:lnTo>
                    <a:pt x="842583" y="429919"/>
                  </a:lnTo>
                  <a:lnTo>
                    <a:pt x="490624" y="429919"/>
                  </a:lnTo>
                  <a:lnTo>
                    <a:pt x="0" y="0"/>
                  </a:lnTo>
                  <a:lnTo>
                    <a:pt x="1333207" y="0"/>
                  </a:lnTo>
                  <a:close/>
                </a:path>
              </a:pathLst>
            </a:custGeom>
            <a:ln w="9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094178" y="3833050"/>
              <a:ext cx="2259965" cy="1929764"/>
            </a:xfrm>
            <a:custGeom>
              <a:avLst/>
              <a:gdLst/>
              <a:ahLst/>
              <a:cxnLst/>
              <a:rect l="l" t="t" r="r" b="b"/>
              <a:pathLst>
                <a:path w="2259965" h="1929764">
                  <a:moveTo>
                    <a:pt x="1130439" y="1920328"/>
                  </a:moveTo>
                  <a:lnTo>
                    <a:pt x="50025" y="1483918"/>
                  </a:lnTo>
                  <a:lnTo>
                    <a:pt x="51943" y="1479169"/>
                  </a:lnTo>
                  <a:lnTo>
                    <a:pt x="62509" y="1453070"/>
                  </a:lnTo>
                  <a:lnTo>
                    <a:pt x="1193" y="1469326"/>
                  </a:lnTo>
                  <a:lnTo>
                    <a:pt x="33972" y="1523580"/>
                  </a:lnTo>
                  <a:lnTo>
                    <a:pt x="46456" y="1492732"/>
                  </a:lnTo>
                  <a:lnTo>
                    <a:pt x="1126871" y="1929142"/>
                  </a:lnTo>
                  <a:lnTo>
                    <a:pt x="1130439" y="1920328"/>
                  </a:lnTo>
                  <a:close/>
                </a:path>
                <a:path w="2259965" h="1929764">
                  <a:moveTo>
                    <a:pt x="1209217" y="24091"/>
                  </a:moveTo>
                  <a:lnTo>
                    <a:pt x="1150543" y="0"/>
                  </a:lnTo>
                  <a:lnTo>
                    <a:pt x="1158900" y="32207"/>
                  </a:lnTo>
                  <a:lnTo>
                    <a:pt x="0" y="332435"/>
                  </a:lnTo>
                  <a:lnTo>
                    <a:pt x="2387" y="341642"/>
                  </a:lnTo>
                  <a:lnTo>
                    <a:pt x="1161288" y="41414"/>
                  </a:lnTo>
                  <a:lnTo>
                    <a:pt x="1169644" y="73621"/>
                  </a:lnTo>
                  <a:lnTo>
                    <a:pt x="1205268" y="29032"/>
                  </a:lnTo>
                  <a:lnTo>
                    <a:pt x="1209217" y="24091"/>
                  </a:lnTo>
                  <a:close/>
                </a:path>
                <a:path w="2259965" h="1929764">
                  <a:moveTo>
                    <a:pt x="2220353" y="339229"/>
                  </a:moveTo>
                  <a:lnTo>
                    <a:pt x="1259039" y="34874"/>
                  </a:lnTo>
                  <a:lnTo>
                    <a:pt x="1260246" y="31038"/>
                  </a:lnTo>
                  <a:lnTo>
                    <a:pt x="1269098" y="3149"/>
                  </a:lnTo>
                  <a:lnTo>
                    <a:pt x="1209217" y="24091"/>
                  </a:lnTo>
                  <a:lnTo>
                    <a:pt x="1246098" y="75653"/>
                  </a:lnTo>
                  <a:lnTo>
                    <a:pt x="1256157" y="43942"/>
                  </a:lnTo>
                  <a:lnTo>
                    <a:pt x="2217470" y="348297"/>
                  </a:lnTo>
                  <a:lnTo>
                    <a:pt x="2220353" y="339229"/>
                  </a:lnTo>
                  <a:close/>
                </a:path>
                <a:path w="2259965" h="1929764">
                  <a:moveTo>
                    <a:pt x="2232342" y="1464183"/>
                  </a:moveTo>
                  <a:lnTo>
                    <a:pt x="2170214" y="1451394"/>
                  </a:lnTo>
                  <a:lnTo>
                    <a:pt x="2184412" y="1481493"/>
                  </a:lnTo>
                  <a:lnTo>
                    <a:pt x="1251927" y="1920430"/>
                  </a:lnTo>
                  <a:lnTo>
                    <a:pt x="1255979" y="1929028"/>
                  </a:lnTo>
                  <a:lnTo>
                    <a:pt x="2188464" y="1490103"/>
                  </a:lnTo>
                  <a:lnTo>
                    <a:pt x="2202662" y="1520202"/>
                  </a:lnTo>
                  <a:lnTo>
                    <a:pt x="2226030" y="1476095"/>
                  </a:lnTo>
                  <a:lnTo>
                    <a:pt x="2232342" y="1464183"/>
                  </a:lnTo>
                  <a:close/>
                </a:path>
                <a:path w="2259965" h="1929764">
                  <a:moveTo>
                    <a:pt x="2259419" y="809383"/>
                  </a:moveTo>
                  <a:lnTo>
                    <a:pt x="2250249" y="798347"/>
                  </a:lnTo>
                  <a:lnTo>
                    <a:pt x="2218918" y="760590"/>
                  </a:lnTo>
                  <a:lnTo>
                    <a:pt x="2183384" y="813104"/>
                  </a:lnTo>
                  <a:lnTo>
                    <a:pt x="2216645" y="811479"/>
                  </a:lnTo>
                  <a:lnTo>
                    <a:pt x="2227592" y="1034503"/>
                  </a:lnTo>
                  <a:lnTo>
                    <a:pt x="2237092" y="1034034"/>
                  </a:lnTo>
                  <a:lnTo>
                    <a:pt x="2226145" y="811009"/>
                  </a:lnTo>
                  <a:lnTo>
                    <a:pt x="2259419" y="8093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8875330" y="4224144"/>
            <a:ext cx="4222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ndara"/>
                <a:cs typeface="Candara"/>
              </a:rPr>
              <a:t>Linear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0833931" y="4123560"/>
            <a:ext cx="560705" cy="370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94"/>
              </a:lnSpc>
              <a:spcBef>
                <a:spcPts val="100"/>
              </a:spcBef>
            </a:pPr>
            <a:r>
              <a:rPr sz="1200" spc="-10" dirty="0">
                <a:latin typeface="Candara"/>
                <a:cs typeface="Candara"/>
              </a:rPr>
              <a:t>Linear</a:t>
            </a:r>
            <a:endParaRPr sz="1200">
              <a:latin typeface="Candara"/>
              <a:cs typeface="Candara"/>
            </a:endParaRPr>
          </a:p>
          <a:p>
            <a:pPr marR="5080" algn="r">
              <a:lnSpc>
                <a:spcPts val="1714"/>
              </a:lnSpc>
            </a:pPr>
            <a:r>
              <a:rPr sz="1800" b="1" dirty="0">
                <a:latin typeface="Candara"/>
                <a:cs typeface="Candara"/>
              </a:rPr>
              <a:t>B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0786853" y="5010590"/>
            <a:ext cx="64960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Candara"/>
                <a:cs typeface="Candara"/>
              </a:rPr>
              <a:t>Linear</a:t>
            </a:r>
            <a:r>
              <a:rPr sz="1200" spc="-25" dirty="0">
                <a:latin typeface="Candara"/>
                <a:cs typeface="Candara"/>
              </a:rPr>
              <a:t> </a:t>
            </a:r>
            <a:r>
              <a:rPr sz="2700" b="1" spc="-75" baseline="10802" dirty="0">
                <a:latin typeface="Candara"/>
                <a:cs typeface="Candara"/>
              </a:rPr>
              <a:t>A</a:t>
            </a:r>
            <a:endParaRPr sz="2700" baseline="10802">
              <a:latin typeface="Candara"/>
              <a:cs typeface="Candara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9526981" y="3422719"/>
            <a:ext cx="2188210" cy="2809875"/>
            <a:chOff x="9526981" y="3422719"/>
            <a:chExt cx="2188210" cy="2809875"/>
          </a:xfrm>
        </p:grpSpPr>
        <p:sp>
          <p:nvSpPr>
            <p:cNvPr id="69" name="object 69"/>
            <p:cNvSpPr/>
            <p:nvPr/>
          </p:nvSpPr>
          <p:spPr>
            <a:xfrm>
              <a:off x="10301096" y="6062144"/>
              <a:ext cx="127000" cy="157480"/>
            </a:xfrm>
            <a:custGeom>
              <a:avLst/>
              <a:gdLst/>
              <a:ahLst/>
              <a:cxnLst/>
              <a:rect l="l" t="t" r="r" b="b"/>
              <a:pathLst>
                <a:path w="127000" h="157479">
                  <a:moveTo>
                    <a:pt x="0" y="0"/>
                  </a:moveTo>
                  <a:lnTo>
                    <a:pt x="126656" y="157194"/>
                  </a:lnTo>
                </a:path>
              </a:pathLst>
            </a:custGeom>
            <a:ln w="25365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9539657" y="5941920"/>
              <a:ext cx="1523365" cy="120650"/>
            </a:xfrm>
            <a:custGeom>
              <a:avLst/>
              <a:gdLst/>
              <a:ahLst/>
              <a:cxnLst/>
              <a:rect l="l" t="t" r="r" b="b"/>
              <a:pathLst>
                <a:path w="1523365" h="120650">
                  <a:moveTo>
                    <a:pt x="0" y="0"/>
                  </a:moveTo>
                  <a:lnTo>
                    <a:pt x="787" y="46796"/>
                  </a:lnTo>
                  <a:lnTo>
                    <a:pt x="2936" y="85011"/>
                  </a:lnTo>
                  <a:lnTo>
                    <a:pt x="6123" y="110776"/>
                  </a:lnTo>
                  <a:lnTo>
                    <a:pt x="10025" y="120223"/>
                  </a:lnTo>
                  <a:lnTo>
                    <a:pt x="1512850" y="120223"/>
                  </a:lnTo>
                  <a:lnTo>
                    <a:pt x="1516753" y="110776"/>
                  </a:lnTo>
                  <a:lnTo>
                    <a:pt x="1519940" y="85011"/>
                  </a:lnTo>
                  <a:lnTo>
                    <a:pt x="1522088" y="46796"/>
                  </a:lnTo>
                  <a:lnTo>
                    <a:pt x="1522876" y="0"/>
                  </a:lnTo>
                </a:path>
              </a:pathLst>
            </a:custGeom>
            <a:ln w="25373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0243827" y="3435405"/>
              <a:ext cx="46355" cy="201930"/>
            </a:xfrm>
            <a:custGeom>
              <a:avLst/>
              <a:gdLst/>
              <a:ahLst/>
              <a:cxnLst/>
              <a:rect l="l" t="t" r="r" b="b"/>
              <a:pathLst>
                <a:path w="46354" h="201929">
                  <a:moveTo>
                    <a:pt x="0" y="201875"/>
                  </a:moveTo>
                  <a:lnTo>
                    <a:pt x="45806" y="0"/>
                  </a:lnTo>
                </a:path>
              </a:pathLst>
            </a:custGeom>
            <a:ln w="25372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9738940" y="3637281"/>
              <a:ext cx="1010285" cy="45720"/>
            </a:xfrm>
            <a:custGeom>
              <a:avLst/>
              <a:gdLst/>
              <a:ahLst/>
              <a:cxnLst/>
              <a:rect l="l" t="t" r="r" b="b"/>
              <a:pathLst>
                <a:path w="1010284" h="45720">
                  <a:moveTo>
                    <a:pt x="0" y="45634"/>
                  </a:moveTo>
                  <a:lnTo>
                    <a:pt x="299" y="27871"/>
                  </a:lnTo>
                  <a:lnTo>
                    <a:pt x="1114" y="13365"/>
                  </a:lnTo>
                  <a:lnTo>
                    <a:pt x="2324" y="3586"/>
                  </a:lnTo>
                  <a:lnTo>
                    <a:pt x="3805" y="0"/>
                  </a:lnTo>
                  <a:lnTo>
                    <a:pt x="1005969" y="0"/>
                  </a:lnTo>
                  <a:lnTo>
                    <a:pt x="1007450" y="3586"/>
                  </a:lnTo>
                  <a:lnTo>
                    <a:pt x="1008660" y="13365"/>
                  </a:lnTo>
                  <a:lnTo>
                    <a:pt x="1009475" y="27871"/>
                  </a:lnTo>
                  <a:lnTo>
                    <a:pt x="1009774" y="45634"/>
                  </a:lnTo>
                </a:path>
              </a:pathLst>
            </a:custGeom>
            <a:ln w="25373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1341654" y="4588817"/>
              <a:ext cx="360680" cy="201930"/>
            </a:xfrm>
            <a:custGeom>
              <a:avLst/>
              <a:gdLst/>
              <a:ahLst/>
              <a:cxnLst/>
              <a:rect l="l" t="t" r="r" b="b"/>
              <a:pathLst>
                <a:path w="360679" h="201929">
                  <a:moveTo>
                    <a:pt x="0" y="201875"/>
                  </a:moveTo>
                  <a:lnTo>
                    <a:pt x="360257" y="0"/>
                  </a:lnTo>
                </a:path>
              </a:pathLst>
            </a:custGeom>
            <a:ln w="25357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1151216" y="4790692"/>
              <a:ext cx="381000" cy="45720"/>
            </a:xfrm>
            <a:custGeom>
              <a:avLst/>
              <a:gdLst/>
              <a:ahLst/>
              <a:cxnLst/>
              <a:rect l="l" t="t" r="r" b="b"/>
              <a:pathLst>
                <a:path w="381000" h="45720">
                  <a:moveTo>
                    <a:pt x="0" y="45634"/>
                  </a:moveTo>
                  <a:lnTo>
                    <a:pt x="299" y="27871"/>
                  </a:lnTo>
                  <a:lnTo>
                    <a:pt x="1114" y="13365"/>
                  </a:lnTo>
                  <a:lnTo>
                    <a:pt x="2324" y="3586"/>
                  </a:lnTo>
                  <a:lnTo>
                    <a:pt x="3805" y="0"/>
                  </a:lnTo>
                  <a:lnTo>
                    <a:pt x="377067" y="0"/>
                  </a:lnTo>
                  <a:lnTo>
                    <a:pt x="378549" y="3586"/>
                  </a:lnTo>
                  <a:lnTo>
                    <a:pt x="379759" y="13365"/>
                  </a:lnTo>
                  <a:lnTo>
                    <a:pt x="380574" y="27871"/>
                  </a:lnTo>
                  <a:lnTo>
                    <a:pt x="380873" y="45634"/>
                  </a:lnTo>
                </a:path>
              </a:pathLst>
            </a:custGeom>
            <a:ln w="25373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10368278" y="3270182"/>
            <a:ext cx="15176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solidFill>
                  <a:srgbClr val="0432FF"/>
                </a:solidFill>
                <a:latin typeface="Candara"/>
                <a:cs typeface="Candara"/>
              </a:rPr>
              <a:t>d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1780555" y="4422326"/>
            <a:ext cx="10668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solidFill>
                  <a:srgbClr val="0432FF"/>
                </a:solidFill>
                <a:latin typeface="Candara"/>
                <a:cs typeface="Candara"/>
              </a:rPr>
              <a:t>r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640526" y="2470611"/>
            <a:ext cx="1568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Candara"/>
                <a:cs typeface="Candara"/>
              </a:rPr>
              <a:t>x</a:t>
            </a:r>
            <a:endParaRPr sz="2000">
              <a:latin typeface="Candara"/>
              <a:cs typeface="Candar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8890735" y="2593324"/>
            <a:ext cx="1534795" cy="136525"/>
            <a:chOff x="8890735" y="2593324"/>
            <a:chExt cx="1534795" cy="136525"/>
          </a:xfrm>
        </p:grpSpPr>
        <p:sp>
          <p:nvSpPr>
            <p:cNvPr id="79" name="object 79"/>
            <p:cNvSpPr/>
            <p:nvPr/>
          </p:nvSpPr>
          <p:spPr>
            <a:xfrm>
              <a:off x="8897085" y="26026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4" y="120225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897085" y="26026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9022381" y="26026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4" y="120225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9022381" y="26026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9147675" y="26026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5" y="120225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9147675" y="26026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9273395" y="260312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4" y="120224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9273395" y="260312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9398901" y="25996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9398901" y="25996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9524197" y="25996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9524197" y="25996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9649492" y="25996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9649492" y="25996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9775211" y="260012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9775211" y="260012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9917055" y="260223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9917055" y="260223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0042351" y="260223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0042351" y="260223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0167645" y="260223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0167645" y="260223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0293365" y="26026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5" y="120225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0293365" y="26026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8893388" y="1351994"/>
            <a:ext cx="1358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Candara"/>
                <a:cs typeface="Candara"/>
              </a:rPr>
              <a:t>z</a:t>
            </a:r>
            <a:endParaRPr sz="2000">
              <a:latin typeface="Candara"/>
              <a:cs typeface="Candara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8887337" y="1474419"/>
            <a:ext cx="1536700" cy="988694"/>
            <a:chOff x="8887337" y="1474419"/>
            <a:chExt cx="1536700" cy="988694"/>
          </a:xfrm>
        </p:grpSpPr>
        <p:sp>
          <p:nvSpPr>
            <p:cNvPr id="105" name="object 105"/>
            <p:cNvSpPr/>
            <p:nvPr/>
          </p:nvSpPr>
          <p:spPr>
            <a:xfrm>
              <a:off x="9149947" y="148376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9149947" y="148376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9275243" y="148376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9275243" y="148376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9400537" y="148376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4" y="120224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9400537" y="1483761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9526257" y="148420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5" y="120225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9526257" y="148420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9651763" y="148076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9651763" y="148076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9777059" y="148076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9777059" y="148076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9902354" y="148076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9902354" y="148076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0028073" y="148120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0028073" y="148120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8892091" y="1699797"/>
              <a:ext cx="1527175" cy="758190"/>
            </a:xfrm>
            <a:custGeom>
              <a:avLst/>
              <a:gdLst/>
              <a:ahLst/>
              <a:cxnLst/>
              <a:rect l="l" t="t" r="r" b="b"/>
              <a:pathLst>
                <a:path w="1527175" h="758189">
                  <a:moveTo>
                    <a:pt x="1248470" y="0"/>
                  </a:moveTo>
                  <a:lnTo>
                    <a:pt x="278098" y="0"/>
                  </a:lnTo>
                  <a:lnTo>
                    <a:pt x="0" y="758179"/>
                  </a:lnTo>
                  <a:lnTo>
                    <a:pt x="1526569" y="758179"/>
                  </a:lnTo>
                  <a:lnTo>
                    <a:pt x="1248470" y="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8892091" y="1699797"/>
              <a:ext cx="1527175" cy="758190"/>
            </a:xfrm>
            <a:custGeom>
              <a:avLst/>
              <a:gdLst/>
              <a:ahLst/>
              <a:cxnLst/>
              <a:rect l="l" t="t" r="r" b="b"/>
              <a:pathLst>
                <a:path w="1527175" h="758189">
                  <a:moveTo>
                    <a:pt x="0" y="758179"/>
                  </a:moveTo>
                  <a:lnTo>
                    <a:pt x="278097" y="0"/>
                  </a:lnTo>
                  <a:lnTo>
                    <a:pt x="1248471" y="0"/>
                  </a:lnTo>
                  <a:lnTo>
                    <a:pt x="1526569" y="758179"/>
                  </a:lnTo>
                  <a:lnTo>
                    <a:pt x="0" y="758179"/>
                  </a:lnTo>
                  <a:close/>
                </a:path>
              </a:pathLst>
            </a:custGeom>
            <a:ln w="9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9470585" y="1959542"/>
            <a:ext cx="36957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b="1" spc="-25" dirty="0">
                <a:latin typeface="Candara"/>
                <a:cs typeface="Candara"/>
              </a:rPr>
              <a:t>W</a:t>
            </a:r>
            <a:r>
              <a:rPr sz="1800" spc="-37" baseline="-13888" dirty="0">
                <a:latin typeface="Candara"/>
                <a:cs typeface="Candara"/>
              </a:rPr>
              <a:t>0</a:t>
            </a:r>
            <a:endParaRPr sz="1800" baseline="-13888">
              <a:latin typeface="Candara"/>
              <a:cs typeface="Candara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4708781" y="5955241"/>
            <a:ext cx="2646680" cy="3771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50" dirty="0">
                <a:latin typeface="Calibri"/>
                <a:cs typeface="Calibri"/>
              </a:rPr>
              <a:t>where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i="1" spc="140" dirty="0">
                <a:latin typeface="Times New Roman"/>
                <a:cs typeface="Times New Roman"/>
              </a:rPr>
              <a:t>r</a:t>
            </a:r>
            <a:r>
              <a:rPr sz="2150" i="1" spc="180" dirty="0">
                <a:latin typeface="Times New Roman"/>
                <a:cs typeface="Times New Roman"/>
              </a:rPr>
              <a:t> </a:t>
            </a:r>
            <a:r>
              <a:rPr sz="2150" i="1" spc="229" dirty="0">
                <a:latin typeface="Times New Roman"/>
                <a:cs typeface="Times New Roman"/>
              </a:rPr>
              <a:t>&lt;&lt;</a:t>
            </a:r>
            <a:r>
              <a:rPr sz="2150" i="1" spc="12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Cambria"/>
                <a:cs typeface="Cambria"/>
              </a:rPr>
              <a:t>min</a:t>
            </a:r>
            <a:r>
              <a:rPr sz="2150" dirty="0">
                <a:latin typeface="Tahoma"/>
                <a:cs typeface="Tahoma"/>
              </a:rPr>
              <a:t>(</a:t>
            </a:r>
            <a:r>
              <a:rPr sz="2150" i="1" dirty="0">
                <a:latin typeface="Times New Roman"/>
                <a:cs typeface="Times New Roman"/>
              </a:rPr>
              <a:t>d,</a:t>
            </a:r>
            <a:r>
              <a:rPr sz="2150" i="1" spc="-150" dirty="0">
                <a:latin typeface="Times New Roman"/>
                <a:cs typeface="Times New Roman"/>
              </a:rPr>
              <a:t> </a:t>
            </a:r>
            <a:r>
              <a:rPr sz="2150" i="1" spc="100" dirty="0">
                <a:latin typeface="Times New Roman"/>
                <a:cs typeface="Times New Roman"/>
              </a:rPr>
              <a:t>k</a:t>
            </a:r>
            <a:r>
              <a:rPr sz="2150" spc="100" dirty="0">
                <a:latin typeface="Tahoma"/>
                <a:cs typeface="Tahoma"/>
              </a:rPr>
              <a:t>)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10506397" y="6115909"/>
            <a:ext cx="1371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4"/>
              </a:lnSpc>
            </a:pPr>
            <a:r>
              <a:rPr sz="1800" dirty="0">
                <a:solidFill>
                  <a:srgbClr val="0432FF"/>
                </a:solidFill>
                <a:latin typeface="Candara"/>
                <a:cs typeface="Candara"/>
              </a:rPr>
              <a:t>k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2177036" y="6559861"/>
            <a:ext cx="250634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95"/>
              </a:lnSpc>
            </a:pP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Figure</a:t>
            </a:r>
            <a:r>
              <a:rPr sz="1400" spc="-3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inspired</a:t>
            </a:r>
            <a:r>
              <a:rPr sz="1400" spc="-2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by</a:t>
            </a:r>
            <a:r>
              <a:rPr sz="1400" spc="-25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He</a:t>
            </a:r>
            <a:r>
              <a:rPr sz="1400" spc="-3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et</a:t>
            </a:r>
            <a:r>
              <a:rPr sz="1400" spc="-25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al.</a:t>
            </a:r>
            <a:r>
              <a:rPr sz="1400" spc="-2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spc="-10" dirty="0">
                <a:solidFill>
                  <a:srgbClr val="7F7F7F"/>
                </a:solidFill>
                <a:latin typeface="Candara"/>
                <a:cs typeface="Candara"/>
              </a:rPr>
              <a:t>(2022)</a:t>
            </a:r>
            <a:endParaRPr sz="1400" dirty="0">
              <a:latin typeface="Candara"/>
              <a:cs typeface="Candara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9417873" y="1718688"/>
            <a:ext cx="4222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ndara"/>
                <a:cs typeface="Candara"/>
              </a:rPr>
              <a:t>Linear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4817382" y="2189258"/>
            <a:ext cx="313690" cy="3562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spc="50" dirty="0">
                <a:latin typeface="Bell MT"/>
                <a:cs typeface="Bell MT"/>
              </a:rPr>
              <a:t>W</a:t>
            </a:r>
            <a:endParaRPr sz="2150">
              <a:latin typeface="Bell MT"/>
              <a:cs typeface="Bell MT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5105629" y="2313175"/>
            <a:ext cx="137160" cy="2571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25" dirty="0">
                <a:latin typeface="Candara Light"/>
                <a:cs typeface="Candara Light"/>
              </a:rPr>
              <a:t>0</a:t>
            </a:r>
            <a:endParaRPr sz="1500">
              <a:latin typeface="Candara Light"/>
              <a:cs typeface="Candara Light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5282889" y="2075590"/>
            <a:ext cx="950594" cy="3562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225" spc="-390" baseline="-23255" dirty="0">
                <a:latin typeface="Lucida Sans Unicode"/>
                <a:cs typeface="Lucida Sans Unicode"/>
              </a:rPr>
              <a:t>∈</a:t>
            </a:r>
            <a:r>
              <a:rPr sz="3225" spc="-104" baseline="-23255" dirty="0">
                <a:latin typeface="Lucida Sans Unicode"/>
                <a:cs typeface="Lucida Sans Unicode"/>
              </a:rPr>
              <a:t> </a:t>
            </a:r>
            <a:r>
              <a:rPr sz="3225" spc="127" baseline="-23255" dirty="0">
                <a:latin typeface="Century"/>
                <a:cs typeface="Century"/>
              </a:rPr>
              <a:t>R</a:t>
            </a:r>
            <a:r>
              <a:rPr sz="1500" i="1" spc="85" dirty="0">
                <a:latin typeface="Courier New"/>
                <a:cs typeface="Courier New"/>
              </a:rPr>
              <a:t>d</a:t>
            </a:r>
            <a:r>
              <a:rPr sz="1500" i="1" spc="85" dirty="0">
                <a:latin typeface="Times New Roman"/>
                <a:cs typeface="Times New Roman"/>
              </a:rPr>
              <a:t>×</a:t>
            </a:r>
            <a:r>
              <a:rPr sz="1500" i="1" spc="85" dirty="0">
                <a:latin typeface="Courier New"/>
                <a:cs typeface="Courier New"/>
              </a:rPr>
              <a:t>k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6201170" y="2158192"/>
            <a:ext cx="1883410" cy="3873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826135">
              <a:lnSpc>
                <a:spcPts val="1025"/>
              </a:lnSpc>
              <a:spcBef>
                <a:spcPts val="114"/>
              </a:spcBef>
              <a:tabLst>
                <a:tab pos="1753870" algn="l"/>
              </a:tabLst>
            </a:pPr>
            <a:r>
              <a:rPr sz="1500" i="1" spc="-50" dirty="0">
                <a:latin typeface="Courier New"/>
                <a:cs typeface="Courier New"/>
              </a:rPr>
              <a:t>k</a:t>
            </a:r>
            <a:r>
              <a:rPr sz="1500" i="1" dirty="0">
                <a:latin typeface="Courier New"/>
                <a:cs typeface="Courier New"/>
              </a:rPr>
              <a:t>	</a:t>
            </a:r>
            <a:r>
              <a:rPr sz="1500" i="1" spc="-50" dirty="0">
                <a:latin typeface="Courier New"/>
                <a:cs typeface="Courier New"/>
              </a:rPr>
              <a:t>d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ts val="1805"/>
              </a:lnSpc>
              <a:tabLst>
                <a:tab pos="963294" algn="l"/>
              </a:tabLst>
            </a:pPr>
            <a:r>
              <a:rPr sz="2150" dirty="0">
                <a:latin typeface="Arial"/>
                <a:cs typeface="Arial"/>
              </a:rPr>
              <a:t>,</a:t>
            </a:r>
            <a:r>
              <a:rPr sz="2150" spc="-229" dirty="0">
                <a:latin typeface="Arial"/>
                <a:cs typeface="Arial"/>
              </a:rPr>
              <a:t> </a:t>
            </a:r>
            <a:r>
              <a:rPr sz="2150" dirty="0">
                <a:latin typeface="Bell MT"/>
                <a:cs typeface="Bell MT"/>
              </a:rPr>
              <a:t>x</a:t>
            </a:r>
            <a:r>
              <a:rPr sz="2150" spc="85" dirty="0">
                <a:latin typeface="Bell MT"/>
                <a:cs typeface="Bell MT"/>
              </a:rPr>
              <a:t> </a:t>
            </a:r>
            <a:r>
              <a:rPr sz="2150" spc="-260" dirty="0">
                <a:latin typeface="Lucida Sans Unicode"/>
                <a:cs typeface="Lucida Sans Unicode"/>
              </a:rPr>
              <a:t>∈</a:t>
            </a:r>
            <a:r>
              <a:rPr sz="2150" spc="-65" dirty="0">
                <a:latin typeface="Lucida Sans Unicode"/>
                <a:cs typeface="Lucida Sans Unicode"/>
              </a:rPr>
              <a:t> </a:t>
            </a:r>
            <a:r>
              <a:rPr sz="2150" spc="-50" dirty="0">
                <a:latin typeface="Century"/>
                <a:cs typeface="Century"/>
              </a:rPr>
              <a:t>R</a:t>
            </a:r>
            <a:r>
              <a:rPr sz="2150" dirty="0">
                <a:latin typeface="Century"/>
                <a:cs typeface="Century"/>
              </a:rPr>
              <a:t>	</a:t>
            </a:r>
            <a:r>
              <a:rPr sz="2150" dirty="0">
                <a:latin typeface="Arial"/>
                <a:cs typeface="Arial"/>
              </a:rPr>
              <a:t>,</a:t>
            </a:r>
            <a:r>
              <a:rPr sz="2150" spc="-229" dirty="0">
                <a:latin typeface="Arial"/>
                <a:cs typeface="Arial"/>
              </a:rPr>
              <a:t> </a:t>
            </a:r>
            <a:r>
              <a:rPr sz="2150" dirty="0">
                <a:latin typeface="Bell MT"/>
                <a:cs typeface="Bell MT"/>
              </a:rPr>
              <a:t>z</a:t>
            </a:r>
            <a:r>
              <a:rPr sz="2150" spc="80" dirty="0">
                <a:latin typeface="Bell MT"/>
                <a:cs typeface="Bell MT"/>
              </a:rPr>
              <a:t> </a:t>
            </a:r>
            <a:r>
              <a:rPr sz="2150" spc="-260" dirty="0">
                <a:latin typeface="Lucida Sans Unicode"/>
                <a:cs typeface="Lucida Sans Unicode"/>
              </a:rPr>
              <a:t>∈</a:t>
            </a:r>
            <a:r>
              <a:rPr sz="2150" spc="-65" dirty="0">
                <a:latin typeface="Lucida Sans Unicode"/>
                <a:cs typeface="Lucida Sans Unicode"/>
              </a:rPr>
              <a:t> </a:t>
            </a:r>
            <a:r>
              <a:rPr sz="2150" spc="-50" dirty="0">
                <a:latin typeface="Century"/>
                <a:cs typeface="Century"/>
              </a:rPr>
              <a:t>R</a:t>
            </a:r>
            <a:endParaRPr sz="2150">
              <a:latin typeface="Century"/>
              <a:cs typeface="Century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4683381" y="4952301"/>
            <a:ext cx="2494280" cy="945515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35"/>
              </a:spcBef>
            </a:pPr>
            <a:r>
              <a:rPr sz="2150" dirty="0">
                <a:latin typeface="Euclid"/>
                <a:cs typeface="Euclid"/>
              </a:rPr>
              <a:t>W</a:t>
            </a:r>
            <a:r>
              <a:rPr sz="2250" baseline="-12962" dirty="0">
                <a:latin typeface="Candara Light"/>
                <a:cs typeface="Candara Light"/>
              </a:rPr>
              <a:t>0</a:t>
            </a:r>
            <a:r>
              <a:rPr sz="2250" spc="637" baseline="-12962" dirty="0">
                <a:latin typeface="Candara Light"/>
                <a:cs typeface="Candara Light"/>
              </a:rPr>
              <a:t> </a:t>
            </a:r>
            <a:r>
              <a:rPr sz="2150" spc="-260" dirty="0">
                <a:latin typeface="Lucida Sans Unicode"/>
                <a:cs typeface="Lucida Sans Unicode"/>
              </a:rPr>
              <a:t>∈</a:t>
            </a:r>
            <a:r>
              <a:rPr sz="2150" spc="-50" dirty="0">
                <a:latin typeface="Lucida Sans Unicode"/>
                <a:cs typeface="Lucida Sans Unicode"/>
              </a:rPr>
              <a:t> </a:t>
            </a:r>
            <a:r>
              <a:rPr sz="2150" spc="135" dirty="0">
                <a:latin typeface="Century"/>
                <a:cs typeface="Century"/>
              </a:rPr>
              <a:t>R</a:t>
            </a:r>
            <a:r>
              <a:rPr sz="2250" i="1" spc="202" baseline="33333" dirty="0">
                <a:latin typeface="Georgia"/>
                <a:cs typeface="Georgia"/>
              </a:rPr>
              <a:t>d</a:t>
            </a:r>
            <a:r>
              <a:rPr sz="2250" i="1" spc="202" baseline="33333" dirty="0">
                <a:latin typeface="Times New Roman"/>
                <a:cs typeface="Times New Roman"/>
              </a:rPr>
              <a:t>×</a:t>
            </a:r>
            <a:r>
              <a:rPr sz="2250" i="1" spc="202" baseline="33333" dirty="0">
                <a:latin typeface="Georgia"/>
                <a:cs typeface="Georgia"/>
              </a:rPr>
              <a:t>k</a:t>
            </a:r>
            <a:r>
              <a:rPr sz="2150" i="1" spc="135" dirty="0">
                <a:latin typeface="Times New Roman"/>
                <a:cs typeface="Times New Roman"/>
              </a:rPr>
              <a:t>,</a:t>
            </a:r>
            <a:endParaRPr sz="21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40"/>
              </a:spcBef>
            </a:pPr>
            <a:r>
              <a:rPr sz="2150" dirty="0">
                <a:latin typeface="Euclid"/>
                <a:cs typeface="Euclid"/>
              </a:rPr>
              <a:t>A</a:t>
            </a:r>
            <a:r>
              <a:rPr sz="2150" spc="-100" dirty="0">
                <a:latin typeface="Euclid"/>
                <a:cs typeface="Euclid"/>
              </a:rPr>
              <a:t> </a:t>
            </a:r>
            <a:r>
              <a:rPr sz="2150" spc="-260" dirty="0">
                <a:latin typeface="Lucida Sans Unicode"/>
                <a:cs typeface="Lucida Sans Unicode"/>
              </a:rPr>
              <a:t>∈</a:t>
            </a:r>
            <a:r>
              <a:rPr sz="2150" spc="-60" dirty="0">
                <a:latin typeface="Lucida Sans Unicode"/>
                <a:cs typeface="Lucida Sans Unicode"/>
              </a:rPr>
              <a:t> </a:t>
            </a:r>
            <a:r>
              <a:rPr sz="2150" spc="170" dirty="0">
                <a:latin typeface="Century"/>
                <a:cs typeface="Century"/>
              </a:rPr>
              <a:t>R</a:t>
            </a:r>
            <a:r>
              <a:rPr sz="2250" i="1" spc="254" baseline="33333" dirty="0">
                <a:latin typeface="Georgia"/>
                <a:cs typeface="Georgia"/>
              </a:rPr>
              <a:t>r</a:t>
            </a:r>
            <a:r>
              <a:rPr sz="2250" i="1" spc="254" baseline="33333" dirty="0">
                <a:latin typeface="Times New Roman"/>
                <a:cs typeface="Times New Roman"/>
              </a:rPr>
              <a:t>×</a:t>
            </a:r>
            <a:r>
              <a:rPr sz="2250" i="1" spc="254" baseline="33333" dirty="0">
                <a:latin typeface="Georgia"/>
                <a:cs typeface="Georgia"/>
              </a:rPr>
              <a:t>k</a:t>
            </a:r>
            <a:r>
              <a:rPr sz="2150" i="1" spc="170" dirty="0">
                <a:latin typeface="Times New Roman"/>
                <a:cs typeface="Times New Roman"/>
              </a:rPr>
              <a:t>,</a:t>
            </a:r>
            <a:r>
              <a:rPr sz="2150" i="1" spc="-16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Euclid"/>
                <a:cs typeface="Euclid"/>
              </a:rPr>
              <a:t>B</a:t>
            </a:r>
            <a:r>
              <a:rPr sz="2150" spc="-95" dirty="0">
                <a:latin typeface="Euclid"/>
                <a:cs typeface="Euclid"/>
              </a:rPr>
              <a:t> </a:t>
            </a:r>
            <a:r>
              <a:rPr sz="2150" spc="-260" dirty="0">
                <a:latin typeface="Lucida Sans Unicode"/>
                <a:cs typeface="Lucida Sans Unicode"/>
              </a:rPr>
              <a:t>∈</a:t>
            </a:r>
            <a:r>
              <a:rPr sz="2150" spc="-65" dirty="0">
                <a:latin typeface="Lucida Sans Unicode"/>
                <a:cs typeface="Lucida Sans Unicode"/>
              </a:rPr>
              <a:t> </a:t>
            </a:r>
            <a:r>
              <a:rPr sz="2150" spc="105" dirty="0">
                <a:latin typeface="Century"/>
                <a:cs typeface="Century"/>
              </a:rPr>
              <a:t>R</a:t>
            </a:r>
            <a:r>
              <a:rPr sz="2250" i="1" spc="157" baseline="33333" dirty="0">
                <a:latin typeface="Georgia"/>
                <a:cs typeface="Georgia"/>
              </a:rPr>
              <a:t>d</a:t>
            </a:r>
            <a:r>
              <a:rPr sz="2250" i="1" spc="157" baseline="33333" dirty="0">
                <a:latin typeface="Times New Roman"/>
                <a:cs typeface="Times New Roman"/>
              </a:rPr>
              <a:t>×</a:t>
            </a:r>
            <a:r>
              <a:rPr sz="2250" i="1" spc="157" baseline="33333" dirty="0">
                <a:latin typeface="Georgia"/>
                <a:cs typeface="Georgia"/>
              </a:rPr>
              <a:t>r</a:t>
            </a:r>
            <a:endParaRPr sz="2250" baseline="33333">
              <a:latin typeface="Georgia"/>
              <a:cs typeface="Georgia"/>
            </a:endParaRPr>
          </a:p>
        </p:txBody>
      </p:sp>
      <p:sp>
        <p:nvSpPr>
          <p:cNvPr id="144" name="Slide Number Placeholder 143">
            <a:extLst>
              <a:ext uri="{FF2B5EF4-FFF2-40B4-BE49-F238E27FC236}">
                <a16:creationId xmlns:a16="http://schemas.microsoft.com/office/drawing/2014/main" id="{D4466E8E-5810-47E3-B62A-A6EB3BF0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E0D55-0057-A82F-E933-25F8244E0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 anchor="t">
            <a:norm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34AD39-3B72-F112-EE95-4EFCAE8C3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anchor="ctr">
            <a:normAutofit/>
          </a:bodyPr>
          <a:lstStyle/>
          <a:p>
            <a:r>
              <a:rPr lang="en-US" dirty="0"/>
              <a:t>Overview of PEFT Approaches (</a:t>
            </a:r>
            <a:r>
              <a:rPr lang="en-US" dirty="0" err="1"/>
              <a:t>LoRA</a:t>
            </a:r>
            <a:r>
              <a:rPr lang="en-US" dirty="0"/>
              <a:t>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7BC74F-0C8A-3FCA-03BF-0712AF064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037352"/>
              </p:ext>
            </p:extLst>
          </p:nvPr>
        </p:nvGraphicFramePr>
        <p:xfrm>
          <a:off x="4033837" y="2718707"/>
          <a:ext cx="4124325" cy="15970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45097959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321494888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47071871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962044191"/>
                    </a:ext>
                  </a:extLst>
                </a:gridCol>
              </a:tblGrid>
              <a:tr h="319405"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% Train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0.01-0.5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01220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r>
                        <a:rPr lang="en-US" sz="1400" dirty="0"/>
                        <a:t>Storage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% Change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0.5-30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943619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r>
                        <a:rPr lang="en-US" sz="1400" dirty="0"/>
                        <a:t>Memory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&lt;1B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71331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r>
                        <a:rPr lang="en-US" sz="1400" dirty="0"/>
                        <a:t>Backprop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&lt;20B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34008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r>
                        <a:rPr lang="en-US" sz="1400" dirty="0"/>
                        <a:t>Inf. Overhead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&gt;20B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314660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3082F-BA43-4A8B-AB59-93DF27D02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6559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9844" y="3220044"/>
            <a:ext cx="3105150" cy="2707005"/>
            <a:chOff x="789844" y="3220044"/>
            <a:chExt cx="3105150" cy="2707005"/>
          </a:xfrm>
        </p:grpSpPr>
        <p:sp>
          <p:nvSpPr>
            <p:cNvPr id="3" name="object 3"/>
            <p:cNvSpPr/>
            <p:nvPr/>
          </p:nvSpPr>
          <p:spPr>
            <a:xfrm>
              <a:off x="1610436" y="4492878"/>
              <a:ext cx="887730" cy="1434465"/>
            </a:xfrm>
            <a:custGeom>
              <a:avLst/>
              <a:gdLst/>
              <a:ahLst/>
              <a:cxnLst/>
              <a:rect l="l" t="t" r="r" b="b"/>
              <a:pathLst>
                <a:path w="887730" h="1434464">
                  <a:moveTo>
                    <a:pt x="887107" y="1431188"/>
                  </a:moveTo>
                  <a:lnTo>
                    <a:pt x="824026" y="50431"/>
                  </a:lnTo>
                  <a:lnTo>
                    <a:pt x="857300" y="48907"/>
                  </a:lnTo>
                  <a:lnTo>
                    <a:pt x="848106" y="37769"/>
                  </a:lnTo>
                  <a:lnTo>
                    <a:pt x="816965" y="0"/>
                  </a:lnTo>
                  <a:lnTo>
                    <a:pt x="781253" y="52387"/>
                  </a:lnTo>
                  <a:lnTo>
                    <a:pt x="814527" y="50863"/>
                  </a:lnTo>
                  <a:lnTo>
                    <a:pt x="876757" y="1413230"/>
                  </a:lnTo>
                  <a:lnTo>
                    <a:pt x="36487" y="45631"/>
                  </a:lnTo>
                  <a:lnTo>
                    <a:pt x="54102" y="34836"/>
                  </a:lnTo>
                  <a:lnTo>
                    <a:pt x="64871" y="28219"/>
                  </a:lnTo>
                  <a:lnTo>
                    <a:pt x="5892" y="4914"/>
                  </a:lnTo>
                  <a:lnTo>
                    <a:pt x="0" y="68021"/>
                  </a:lnTo>
                  <a:lnTo>
                    <a:pt x="28384" y="50609"/>
                  </a:lnTo>
                  <a:lnTo>
                    <a:pt x="878306" y="1433880"/>
                  </a:lnTo>
                  <a:lnTo>
                    <a:pt x="882345" y="1431417"/>
                  </a:lnTo>
                  <a:lnTo>
                    <a:pt x="887107" y="14311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4607" y="3224806"/>
              <a:ext cx="3095625" cy="2326005"/>
            </a:xfrm>
            <a:custGeom>
              <a:avLst/>
              <a:gdLst/>
              <a:ahLst/>
              <a:cxnLst/>
              <a:rect l="l" t="t" r="r" b="b"/>
              <a:pathLst>
                <a:path w="3095625" h="2326004">
                  <a:moveTo>
                    <a:pt x="0" y="139982"/>
                  </a:moveTo>
                  <a:lnTo>
                    <a:pt x="7142" y="95737"/>
                  </a:lnTo>
                  <a:lnTo>
                    <a:pt x="27030" y="57310"/>
                  </a:lnTo>
                  <a:lnTo>
                    <a:pt x="57357" y="27008"/>
                  </a:lnTo>
                  <a:lnTo>
                    <a:pt x="95814" y="7136"/>
                  </a:lnTo>
                  <a:lnTo>
                    <a:pt x="140096" y="0"/>
                  </a:lnTo>
                  <a:lnTo>
                    <a:pt x="2955100" y="0"/>
                  </a:lnTo>
                  <a:lnTo>
                    <a:pt x="2999381" y="7136"/>
                  </a:lnTo>
                  <a:lnTo>
                    <a:pt x="3037838" y="27008"/>
                  </a:lnTo>
                  <a:lnTo>
                    <a:pt x="3068165" y="57310"/>
                  </a:lnTo>
                  <a:lnTo>
                    <a:pt x="3088053" y="95737"/>
                  </a:lnTo>
                  <a:lnTo>
                    <a:pt x="3095196" y="139982"/>
                  </a:lnTo>
                  <a:lnTo>
                    <a:pt x="3095196" y="2185702"/>
                  </a:lnTo>
                  <a:lnTo>
                    <a:pt x="3088053" y="2229948"/>
                  </a:lnTo>
                  <a:lnTo>
                    <a:pt x="3068165" y="2268375"/>
                  </a:lnTo>
                  <a:lnTo>
                    <a:pt x="3037838" y="2298677"/>
                  </a:lnTo>
                  <a:lnTo>
                    <a:pt x="2999381" y="2318549"/>
                  </a:lnTo>
                  <a:lnTo>
                    <a:pt x="2955100" y="2325686"/>
                  </a:lnTo>
                  <a:lnTo>
                    <a:pt x="140096" y="2325686"/>
                  </a:lnTo>
                  <a:lnTo>
                    <a:pt x="95814" y="2318549"/>
                  </a:lnTo>
                  <a:lnTo>
                    <a:pt x="57357" y="2298677"/>
                  </a:lnTo>
                  <a:lnTo>
                    <a:pt x="27030" y="2268375"/>
                  </a:lnTo>
                  <a:lnTo>
                    <a:pt x="7142" y="2229948"/>
                  </a:lnTo>
                  <a:lnTo>
                    <a:pt x="0" y="2185702"/>
                  </a:lnTo>
                  <a:lnTo>
                    <a:pt x="0" y="139982"/>
                  </a:lnTo>
                  <a:close/>
                </a:path>
              </a:pathLst>
            </a:custGeom>
            <a:ln w="9510">
              <a:solidFill>
                <a:srgbClr val="C065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1" name="Content Placeholder 160">
            <a:extLst>
              <a:ext uri="{FF2B5EF4-FFF2-40B4-BE49-F238E27FC236}">
                <a16:creationId xmlns:a16="http://schemas.microsoft.com/office/drawing/2014/main" id="{B21F3F0C-84A1-4C91-B1B9-33C371E64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6700" y="191751"/>
            <a:ext cx="11658600" cy="627736"/>
          </a:xfrm>
        </p:spPr>
        <p:txBody>
          <a:bodyPr vert="horz" wrap="square" lIns="0" tIns="12065" rIns="0" bIns="0" rtlCol="0">
            <a:spAutoFit/>
          </a:bodyPr>
          <a:lstStyle/>
          <a:p>
            <a:pPr algn="ctr"/>
            <a:r>
              <a:rPr lang="en-US" dirty="0" err="1"/>
              <a:t>LoRA</a:t>
            </a:r>
            <a:r>
              <a:rPr lang="en-US" dirty="0"/>
              <a:t> for Transformer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06103" y="1227026"/>
            <a:ext cx="6407785" cy="1308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125095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ndara"/>
                <a:cs typeface="Candara"/>
              </a:rPr>
              <a:t>LoRA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linear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layers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could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replace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every</a:t>
            </a:r>
            <a:r>
              <a:rPr sz="2000" i="1" spc="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linear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layer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the </a:t>
            </a:r>
            <a:r>
              <a:rPr sz="2000" spc="-10" dirty="0">
                <a:latin typeface="Candara"/>
                <a:cs typeface="Candara"/>
              </a:rPr>
              <a:t>Transformer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layer</a:t>
            </a:r>
            <a:endParaRPr sz="2000" dirty="0">
              <a:latin typeface="Candara"/>
              <a:cs typeface="Candara"/>
            </a:endParaRPr>
          </a:p>
          <a:p>
            <a:pPr marL="354965" marR="5080" indent="-3429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ndara"/>
                <a:cs typeface="Candara"/>
              </a:rPr>
              <a:t>But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original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paper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only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applies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LoRA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10" dirty="0">
                <a:latin typeface="Candara"/>
                <a:cs typeface="Candara"/>
              </a:rPr>
              <a:t> attention weights</a:t>
            </a:r>
            <a:endParaRPr sz="2000" dirty="0">
              <a:latin typeface="Candara"/>
              <a:cs typeface="Candar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9843" y="3982922"/>
            <a:ext cx="165735" cy="8001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20"/>
              </a:lnSpc>
            </a:pPr>
            <a:r>
              <a:rPr sz="1100" spc="-10" dirty="0">
                <a:latin typeface="Candara"/>
                <a:cs typeface="Candara"/>
              </a:rPr>
              <a:t>multi-headed</a:t>
            </a:r>
            <a:endParaRPr sz="1100">
              <a:latin typeface="Candara"/>
              <a:cs typeface="Candar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18516" y="2483926"/>
            <a:ext cx="1886585" cy="228600"/>
            <a:chOff x="1418516" y="2483926"/>
            <a:chExt cx="1886585" cy="228600"/>
          </a:xfrm>
        </p:grpSpPr>
        <p:sp>
          <p:nvSpPr>
            <p:cNvPr id="9" name="object 9"/>
            <p:cNvSpPr/>
            <p:nvPr/>
          </p:nvSpPr>
          <p:spPr>
            <a:xfrm>
              <a:off x="1423278" y="2488689"/>
              <a:ext cx="1877060" cy="219075"/>
            </a:xfrm>
            <a:custGeom>
              <a:avLst/>
              <a:gdLst/>
              <a:ahLst/>
              <a:cxnLst/>
              <a:rect l="l" t="t" r="r" b="b"/>
              <a:pathLst>
                <a:path w="1877060" h="219075">
                  <a:moveTo>
                    <a:pt x="1839922" y="0"/>
                  </a:moveTo>
                  <a:lnTo>
                    <a:pt x="36537" y="0"/>
                  </a:lnTo>
                  <a:lnTo>
                    <a:pt x="22315" y="2869"/>
                  </a:lnTo>
                  <a:lnTo>
                    <a:pt x="10701" y="10693"/>
                  </a:lnTo>
                  <a:lnTo>
                    <a:pt x="2871" y="22298"/>
                  </a:lnTo>
                  <a:lnTo>
                    <a:pt x="0" y="36508"/>
                  </a:lnTo>
                  <a:lnTo>
                    <a:pt x="0" y="182540"/>
                  </a:lnTo>
                  <a:lnTo>
                    <a:pt x="2871" y="196751"/>
                  </a:lnTo>
                  <a:lnTo>
                    <a:pt x="10701" y="208356"/>
                  </a:lnTo>
                  <a:lnTo>
                    <a:pt x="22315" y="216180"/>
                  </a:lnTo>
                  <a:lnTo>
                    <a:pt x="36537" y="219049"/>
                  </a:lnTo>
                  <a:lnTo>
                    <a:pt x="1839922" y="219049"/>
                  </a:lnTo>
                  <a:lnTo>
                    <a:pt x="1854145" y="216180"/>
                  </a:lnTo>
                  <a:lnTo>
                    <a:pt x="1865759" y="208356"/>
                  </a:lnTo>
                  <a:lnTo>
                    <a:pt x="1873589" y="196751"/>
                  </a:lnTo>
                  <a:lnTo>
                    <a:pt x="1876460" y="182540"/>
                  </a:lnTo>
                  <a:lnTo>
                    <a:pt x="1876460" y="36508"/>
                  </a:lnTo>
                  <a:lnTo>
                    <a:pt x="1873589" y="22298"/>
                  </a:lnTo>
                  <a:lnTo>
                    <a:pt x="1865759" y="10693"/>
                  </a:lnTo>
                  <a:lnTo>
                    <a:pt x="1854145" y="2869"/>
                  </a:lnTo>
                  <a:lnTo>
                    <a:pt x="183992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23278" y="2488689"/>
              <a:ext cx="1877060" cy="219075"/>
            </a:xfrm>
            <a:custGeom>
              <a:avLst/>
              <a:gdLst/>
              <a:ahLst/>
              <a:cxnLst/>
              <a:rect l="l" t="t" r="r" b="b"/>
              <a:pathLst>
                <a:path w="1877060" h="219075">
                  <a:moveTo>
                    <a:pt x="0" y="36508"/>
                  </a:moveTo>
                  <a:lnTo>
                    <a:pt x="2871" y="22297"/>
                  </a:lnTo>
                  <a:lnTo>
                    <a:pt x="10701" y="10693"/>
                  </a:lnTo>
                  <a:lnTo>
                    <a:pt x="22315" y="2869"/>
                  </a:lnTo>
                  <a:lnTo>
                    <a:pt x="36538" y="0"/>
                  </a:lnTo>
                  <a:lnTo>
                    <a:pt x="1839923" y="0"/>
                  </a:lnTo>
                  <a:lnTo>
                    <a:pt x="1854145" y="2869"/>
                  </a:lnTo>
                  <a:lnTo>
                    <a:pt x="1865759" y="10693"/>
                  </a:lnTo>
                  <a:lnTo>
                    <a:pt x="1873589" y="22297"/>
                  </a:lnTo>
                  <a:lnTo>
                    <a:pt x="1876461" y="36508"/>
                  </a:lnTo>
                  <a:lnTo>
                    <a:pt x="1876461" y="182541"/>
                  </a:lnTo>
                  <a:lnTo>
                    <a:pt x="1873589" y="196751"/>
                  </a:lnTo>
                  <a:lnTo>
                    <a:pt x="1865759" y="208356"/>
                  </a:lnTo>
                  <a:lnTo>
                    <a:pt x="1854145" y="216180"/>
                  </a:lnTo>
                  <a:lnTo>
                    <a:pt x="1839923" y="219049"/>
                  </a:lnTo>
                  <a:lnTo>
                    <a:pt x="36538" y="219049"/>
                  </a:lnTo>
                  <a:lnTo>
                    <a:pt x="22315" y="216180"/>
                  </a:lnTo>
                  <a:lnTo>
                    <a:pt x="10701" y="208356"/>
                  </a:lnTo>
                  <a:lnTo>
                    <a:pt x="2871" y="196751"/>
                  </a:lnTo>
                  <a:lnTo>
                    <a:pt x="0" y="182541"/>
                  </a:lnTo>
                  <a:lnTo>
                    <a:pt x="0" y="36508"/>
                  </a:lnTo>
                  <a:close/>
                </a:path>
              </a:pathLst>
            </a:custGeom>
            <a:ln w="9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44509" y="2487282"/>
            <a:ext cx="10344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ndara"/>
                <a:cs typeface="Candara"/>
              </a:rPr>
              <a:t>add</a:t>
            </a:r>
            <a:r>
              <a:rPr sz="1100" spc="-30" dirty="0">
                <a:latin typeface="Candara"/>
                <a:cs typeface="Candara"/>
              </a:rPr>
              <a:t> </a:t>
            </a:r>
            <a:r>
              <a:rPr sz="1100" dirty="0">
                <a:latin typeface="Candara"/>
                <a:cs typeface="Candara"/>
              </a:rPr>
              <a:t>&amp;</a:t>
            </a:r>
            <a:r>
              <a:rPr sz="1100" spc="-15" dirty="0">
                <a:latin typeface="Candara"/>
                <a:cs typeface="Candara"/>
              </a:rPr>
              <a:t> </a:t>
            </a:r>
            <a:r>
              <a:rPr sz="1100" dirty="0">
                <a:latin typeface="Candara"/>
                <a:cs typeface="Candara"/>
              </a:rPr>
              <a:t>layer</a:t>
            </a:r>
            <a:r>
              <a:rPr sz="1100" spc="-15" dirty="0">
                <a:latin typeface="Candara"/>
                <a:cs typeface="Candara"/>
              </a:rPr>
              <a:t> </a:t>
            </a:r>
            <a:r>
              <a:rPr sz="1100" spc="-20" dirty="0">
                <a:latin typeface="Candara"/>
                <a:cs typeface="Candara"/>
              </a:rPr>
              <a:t>norm</a:t>
            </a:r>
            <a:endParaRPr sz="1100">
              <a:latin typeface="Candara"/>
              <a:cs typeface="Candar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36079" y="2560185"/>
            <a:ext cx="2235835" cy="3548379"/>
            <a:chOff x="1436079" y="2560185"/>
            <a:chExt cx="2235835" cy="3548379"/>
          </a:xfrm>
        </p:grpSpPr>
        <p:sp>
          <p:nvSpPr>
            <p:cNvPr id="13" name="object 13"/>
            <p:cNvSpPr/>
            <p:nvPr/>
          </p:nvSpPr>
          <p:spPr>
            <a:xfrm>
              <a:off x="2680954" y="2560185"/>
              <a:ext cx="991235" cy="3548379"/>
            </a:xfrm>
            <a:custGeom>
              <a:avLst/>
              <a:gdLst/>
              <a:ahLst/>
              <a:cxnLst/>
              <a:rect l="l" t="t" r="r" b="b"/>
              <a:pathLst>
                <a:path w="991235" h="3548379">
                  <a:moveTo>
                    <a:pt x="981195" y="3538802"/>
                  </a:moveTo>
                  <a:lnTo>
                    <a:pt x="0" y="3538802"/>
                  </a:lnTo>
                  <a:lnTo>
                    <a:pt x="0" y="3548309"/>
                  </a:lnTo>
                  <a:lnTo>
                    <a:pt x="988580" y="3548309"/>
                  </a:lnTo>
                  <a:lnTo>
                    <a:pt x="990710" y="3546181"/>
                  </a:lnTo>
                  <a:lnTo>
                    <a:pt x="990710" y="3543556"/>
                  </a:lnTo>
                  <a:lnTo>
                    <a:pt x="981195" y="3543556"/>
                  </a:lnTo>
                  <a:lnTo>
                    <a:pt x="981195" y="3538802"/>
                  </a:lnTo>
                  <a:close/>
                </a:path>
                <a:path w="991235" h="3548379">
                  <a:moveTo>
                    <a:pt x="981195" y="38028"/>
                  </a:moveTo>
                  <a:lnTo>
                    <a:pt x="981195" y="3543556"/>
                  </a:lnTo>
                  <a:lnTo>
                    <a:pt x="985953" y="3538802"/>
                  </a:lnTo>
                  <a:lnTo>
                    <a:pt x="990710" y="3538802"/>
                  </a:lnTo>
                  <a:lnTo>
                    <a:pt x="990710" y="42782"/>
                  </a:lnTo>
                  <a:lnTo>
                    <a:pt x="985953" y="42782"/>
                  </a:lnTo>
                  <a:lnTo>
                    <a:pt x="981195" y="38028"/>
                  </a:lnTo>
                  <a:close/>
                </a:path>
                <a:path w="991235" h="3548379">
                  <a:moveTo>
                    <a:pt x="990710" y="3538802"/>
                  </a:moveTo>
                  <a:lnTo>
                    <a:pt x="985953" y="3538802"/>
                  </a:lnTo>
                  <a:lnTo>
                    <a:pt x="981195" y="3543556"/>
                  </a:lnTo>
                  <a:lnTo>
                    <a:pt x="990710" y="3543556"/>
                  </a:lnTo>
                  <a:lnTo>
                    <a:pt x="990710" y="3538802"/>
                  </a:lnTo>
                  <a:close/>
                </a:path>
                <a:path w="991235" h="3548379">
                  <a:moveTo>
                    <a:pt x="694905" y="0"/>
                  </a:moveTo>
                  <a:lnTo>
                    <a:pt x="618785" y="38028"/>
                  </a:lnTo>
                  <a:lnTo>
                    <a:pt x="694905" y="76059"/>
                  </a:lnTo>
                  <a:lnTo>
                    <a:pt x="694905" y="42782"/>
                  </a:lnTo>
                  <a:lnTo>
                    <a:pt x="682219" y="42782"/>
                  </a:lnTo>
                  <a:lnTo>
                    <a:pt x="682219" y="33275"/>
                  </a:lnTo>
                  <a:lnTo>
                    <a:pt x="694905" y="33275"/>
                  </a:lnTo>
                  <a:lnTo>
                    <a:pt x="694905" y="0"/>
                  </a:lnTo>
                  <a:close/>
                </a:path>
                <a:path w="991235" h="3548379">
                  <a:moveTo>
                    <a:pt x="694905" y="33275"/>
                  </a:moveTo>
                  <a:lnTo>
                    <a:pt x="682219" y="33275"/>
                  </a:lnTo>
                  <a:lnTo>
                    <a:pt x="682219" y="42782"/>
                  </a:lnTo>
                  <a:lnTo>
                    <a:pt x="694905" y="42782"/>
                  </a:lnTo>
                  <a:lnTo>
                    <a:pt x="694905" y="33275"/>
                  </a:lnTo>
                  <a:close/>
                </a:path>
                <a:path w="991235" h="3548379">
                  <a:moveTo>
                    <a:pt x="988580" y="33275"/>
                  </a:moveTo>
                  <a:lnTo>
                    <a:pt x="694905" y="33275"/>
                  </a:lnTo>
                  <a:lnTo>
                    <a:pt x="694905" y="42782"/>
                  </a:lnTo>
                  <a:lnTo>
                    <a:pt x="981195" y="42782"/>
                  </a:lnTo>
                  <a:lnTo>
                    <a:pt x="981195" y="38028"/>
                  </a:lnTo>
                  <a:lnTo>
                    <a:pt x="990710" y="38028"/>
                  </a:lnTo>
                  <a:lnTo>
                    <a:pt x="990710" y="35403"/>
                  </a:lnTo>
                  <a:lnTo>
                    <a:pt x="988580" y="33275"/>
                  </a:lnTo>
                  <a:close/>
                </a:path>
                <a:path w="991235" h="3548379">
                  <a:moveTo>
                    <a:pt x="990710" y="38028"/>
                  </a:moveTo>
                  <a:lnTo>
                    <a:pt x="981195" y="38028"/>
                  </a:lnTo>
                  <a:lnTo>
                    <a:pt x="985953" y="42782"/>
                  </a:lnTo>
                  <a:lnTo>
                    <a:pt x="990710" y="42782"/>
                  </a:lnTo>
                  <a:lnTo>
                    <a:pt x="990710" y="380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5964" y="4944162"/>
              <a:ext cx="243090" cy="45323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079" y="4951252"/>
              <a:ext cx="243090" cy="45323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7078" y="4946363"/>
              <a:ext cx="244071" cy="45323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578056" y="4497783"/>
              <a:ext cx="76200" cy="460375"/>
            </a:xfrm>
            <a:custGeom>
              <a:avLst/>
              <a:gdLst/>
              <a:ahLst/>
              <a:cxnLst/>
              <a:rect l="l" t="t" r="r" b="b"/>
              <a:pathLst>
                <a:path w="76200" h="460375">
                  <a:moveTo>
                    <a:pt x="33303" y="50684"/>
                  </a:moveTo>
                  <a:lnTo>
                    <a:pt x="31595" y="459790"/>
                  </a:lnTo>
                  <a:lnTo>
                    <a:pt x="41109" y="459830"/>
                  </a:lnTo>
                  <a:lnTo>
                    <a:pt x="42818" y="50724"/>
                  </a:lnTo>
                  <a:lnTo>
                    <a:pt x="33303" y="50684"/>
                  </a:lnTo>
                  <a:close/>
                </a:path>
                <a:path w="76200" h="460375">
                  <a:moveTo>
                    <a:pt x="66555" y="38009"/>
                  </a:moveTo>
                  <a:lnTo>
                    <a:pt x="33356" y="38009"/>
                  </a:lnTo>
                  <a:lnTo>
                    <a:pt x="42871" y="38049"/>
                  </a:lnTo>
                  <a:lnTo>
                    <a:pt x="42818" y="50724"/>
                  </a:lnTo>
                  <a:lnTo>
                    <a:pt x="76119" y="50863"/>
                  </a:lnTo>
                  <a:lnTo>
                    <a:pt x="66555" y="38009"/>
                  </a:lnTo>
                  <a:close/>
                </a:path>
                <a:path w="76200" h="460375">
                  <a:moveTo>
                    <a:pt x="33356" y="38009"/>
                  </a:moveTo>
                  <a:lnTo>
                    <a:pt x="33303" y="50684"/>
                  </a:lnTo>
                  <a:lnTo>
                    <a:pt x="42818" y="50724"/>
                  </a:lnTo>
                  <a:lnTo>
                    <a:pt x="42871" y="38049"/>
                  </a:lnTo>
                  <a:lnTo>
                    <a:pt x="33356" y="38009"/>
                  </a:lnTo>
                  <a:close/>
                </a:path>
                <a:path w="76200" h="460375">
                  <a:moveTo>
                    <a:pt x="38272" y="0"/>
                  </a:moveTo>
                  <a:lnTo>
                    <a:pt x="0" y="50545"/>
                  </a:lnTo>
                  <a:lnTo>
                    <a:pt x="33303" y="50684"/>
                  </a:lnTo>
                  <a:lnTo>
                    <a:pt x="33356" y="38009"/>
                  </a:lnTo>
                  <a:lnTo>
                    <a:pt x="66555" y="38009"/>
                  </a:lnTo>
                  <a:lnTo>
                    <a:pt x="38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156560" y="5702922"/>
            <a:ext cx="1079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ndara"/>
                <a:cs typeface="Candara"/>
              </a:rPr>
              <a:t>X</a:t>
            </a:r>
            <a:endParaRPr sz="1100">
              <a:latin typeface="Candara"/>
              <a:cs typeface="Candara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2173115" y="5917931"/>
          <a:ext cx="500379" cy="359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9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1405149" y="3633330"/>
            <a:ext cx="1231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ndara"/>
                <a:cs typeface="Candara"/>
              </a:rPr>
              <a:t>Q</a:t>
            </a:r>
            <a:endParaRPr sz="1100">
              <a:latin typeface="Candara"/>
              <a:cs typeface="Candara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421705" y="3847361"/>
          <a:ext cx="250190" cy="359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9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2222578" y="3633330"/>
            <a:ext cx="1079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ndara"/>
                <a:cs typeface="Candara"/>
              </a:rPr>
              <a:t>K</a:t>
            </a:r>
            <a:endParaRPr sz="1100">
              <a:latin typeface="Candara"/>
              <a:cs typeface="Candar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39028" y="3846652"/>
            <a:ext cx="263485" cy="37291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976219" y="3636378"/>
            <a:ext cx="1060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ndara"/>
                <a:cs typeface="Candara"/>
              </a:rPr>
              <a:t>V</a:t>
            </a:r>
            <a:endParaRPr sz="1100">
              <a:latin typeface="Candara"/>
              <a:cs typeface="Candar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18516" y="3335484"/>
            <a:ext cx="1884045" cy="2591435"/>
            <a:chOff x="1418516" y="3335484"/>
            <a:chExt cx="1884045" cy="2591435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92667" y="3851435"/>
              <a:ext cx="263485" cy="37291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505648" y="4360644"/>
              <a:ext cx="221615" cy="137160"/>
            </a:xfrm>
            <a:custGeom>
              <a:avLst/>
              <a:gdLst/>
              <a:ahLst/>
              <a:cxnLst/>
              <a:rect l="l" t="t" r="r" b="b"/>
              <a:pathLst>
                <a:path w="221614" h="137160">
                  <a:moveTo>
                    <a:pt x="198484" y="0"/>
                  </a:moveTo>
                  <a:lnTo>
                    <a:pt x="22875" y="0"/>
                  </a:lnTo>
                  <a:lnTo>
                    <a:pt x="13971" y="1796"/>
                  </a:lnTo>
                  <a:lnTo>
                    <a:pt x="6699" y="6694"/>
                  </a:lnTo>
                  <a:lnTo>
                    <a:pt x="1797" y="13959"/>
                  </a:lnTo>
                  <a:lnTo>
                    <a:pt x="0" y="22856"/>
                  </a:lnTo>
                  <a:lnTo>
                    <a:pt x="0" y="114282"/>
                  </a:lnTo>
                  <a:lnTo>
                    <a:pt x="1797" y="123179"/>
                  </a:lnTo>
                  <a:lnTo>
                    <a:pt x="6699" y="130444"/>
                  </a:lnTo>
                  <a:lnTo>
                    <a:pt x="13971" y="135342"/>
                  </a:lnTo>
                  <a:lnTo>
                    <a:pt x="22875" y="137138"/>
                  </a:lnTo>
                  <a:lnTo>
                    <a:pt x="198484" y="137138"/>
                  </a:lnTo>
                  <a:lnTo>
                    <a:pt x="207388" y="135342"/>
                  </a:lnTo>
                  <a:lnTo>
                    <a:pt x="214659" y="130444"/>
                  </a:lnTo>
                  <a:lnTo>
                    <a:pt x="219562" y="123179"/>
                  </a:lnTo>
                  <a:lnTo>
                    <a:pt x="221359" y="114282"/>
                  </a:lnTo>
                  <a:lnTo>
                    <a:pt x="221359" y="22856"/>
                  </a:lnTo>
                  <a:lnTo>
                    <a:pt x="219562" y="13959"/>
                  </a:lnTo>
                  <a:lnTo>
                    <a:pt x="214659" y="6694"/>
                  </a:lnTo>
                  <a:lnTo>
                    <a:pt x="207388" y="1796"/>
                  </a:lnTo>
                  <a:lnTo>
                    <a:pt x="1984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05648" y="4360644"/>
              <a:ext cx="221615" cy="137160"/>
            </a:xfrm>
            <a:custGeom>
              <a:avLst/>
              <a:gdLst/>
              <a:ahLst/>
              <a:cxnLst/>
              <a:rect l="l" t="t" r="r" b="b"/>
              <a:pathLst>
                <a:path w="221614" h="137160">
                  <a:moveTo>
                    <a:pt x="0" y="22857"/>
                  </a:moveTo>
                  <a:lnTo>
                    <a:pt x="1797" y="13960"/>
                  </a:lnTo>
                  <a:lnTo>
                    <a:pt x="6700" y="6694"/>
                  </a:lnTo>
                  <a:lnTo>
                    <a:pt x="13971" y="1796"/>
                  </a:lnTo>
                  <a:lnTo>
                    <a:pt x="22875" y="0"/>
                  </a:lnTo>
                  <a:lnTo>
                    <a:pt x="198484" y="0"/>
                  </a:lnTo>
                  <a:lnTo>
                    <a:pt x="207388" y="1796"/>
                  </a:lnTo>
                  <a:lnTo>
                    <a:pt x="214660" y="6694"/>
                  </a:lnTo>
                  <a:lnTo>
                    <a:pt x="219562" y="13960"/>
                  </a:lnTo>
                  <a:lnTo>
                    <a:pt x="221360" y="22857"/>
                  </a:lnTo>
                  <a:lnTo>
                    <a:pt x="221360" y="114282"/>
                  </a:lnTo>
                  <a:lnTo>
                    <a:pt x="219562" y="123179"/>
                  </a:lnTo>
                  <a:lnTo>
                    <a:pt x="214660" y="130444"/>
                  </a:lnTo>
                  <a:lnTo>
                    <a:pt x="207388" y="135343"/>
                  </a:lnTo>
                  <a:lnTo>
                    <a:pt x="198484" y="137139"/>
                  </a:lnTo>
                  <a:lnTo>
                    <a:pt x="22875" y="137139"/>
                  </a:lnTo>
                  <a:lnTo>
                    <a:pt x="13971" y="135343"/>
                  </a:lnTo>
                  <a:lnTo>
                    <a:pt x="6700" y="130444"/>
                  </a:lnTo>
                  <a:lnTo>
                    <a:pt x="1797" y="123179"/>
                  </a:lnTo>
                  <a:lnTo>
                    <a:pt x="0" y="114282"/>
                  </a:lnTo>
                  <a:lnTo>
                    <a:pt x="0" y="22857"/>
                  </a:lnTo>
                  <a:close/>
                </a:path>
              </a:pathLst>
            </a:custGeom>
            <a:ln w="95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77975" y="4213936"/>
              <a:ext cx="887730" cy="736600"/>
            </a:xfrm>
            <a:custGeom>
              <a:avLst/>
              <a:gdLst/>
              <a:ahLst/>
              <a:cxnLst/>
              <a:rect l="l" t="t" r="r" b="b"/>
              <a:pathLst>
                <a:path w="887730" h="736600">
                  <a:moveTo>
                    <a:pt x="76111" y="50584"/>
                  </a:moveTo>
                  <a:lnTo>
                    <a:pt x="66611" y="38011"/>
                  </a:lnTo>
                  <a:lnTo>
                    <a:pt x="37896" y="0"/>
                  </a:lnTo>
                  <a:lnTo>
                    <a:pt x="0" y="50825"/>
                  </a:lnTo>
                  <a:lnTo>
                    <a:pt x="33299" y="50723"/>
                  </a:lnTo>
                  <a:lnTo>
                    <a:pt x="33591" y="146723"/>
                  </a:lnTo>
                  <a:lnTo>
                    <a:pt x="43103" y="146697"/>
                  </a:lnTo>
                  <a:lnTo>
                    <a:pt x="42811" y="50685"/>
                  </a:lnTo>
                  <a:lnTo>
                    <a:pt x="76111" y="50584"/>
                  </a:lnTo>
                  <a:close/>
                </a:path>
                <a:path w="887730" h="736600">
                  <a:moveTo>
                    <a:pt x="887145" y="329895"/>
                  </a:moveTo>
                  <a:lnTo>
                    <a:pt x="877544" y="316928"/>
                  </a:lnTo>
                  <a:lnTo>
                    <a:pt x="849426" y="278942"/>
                  </a:lnTo>
                  <a:lnTo>
                    <a:pt x="811022" y="329387"/>
                  </a:lnTo>
                  <a:lnTo>
                    <a:pt x="844321" y="329615"/>
                  </a:lnTo>
                  <a:lnTo>
                    <a:pt x="841552" y="736536"/>
                  </a:lnTo>
                  <a:lnTo>
                    <a:pt x="851065" y="736600"/>
                  </a:lnTo>
                  <a:lnTo>
                    <a:pt x="853833" y="329679"/>
                  </a:lnTo>
                  <a:lnTo>
                    <a:pt x="887145" y="3298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16726" y="4355729"/>
              <a:ext cx="221615" cy="137160"/>
            </a:xfrm>
            <a:custGeom>
              <a:avLst/>
              <a:gdLst/>
              <a:ahLst/>
              <a:cxnLst/>
              <a:rect l="l" t="t" r="r" b="b"/>
              <a:pathLst>
                <a:path w="221614" h="137160">
                  <a:moveTo>
                    <a:pt x="198484" y="0"/>
                  </a:moveTo>
                  <a:lnTo>
                    <a:pt x="22875" y="0"/>
                  </a:lnTo>
                  <a:lnTo>
                    <a:pt x="13971" y="1796"/>
                  </a:lnTo>
                  <a:lnTo>
                    <a:pt x="6699" y="6694"/>
                  </a:lnTo>
                  <a:lnTo>
                    <a:pt x="1797" y="13959"/>
                  </a:lnTo>
                  <a:lnTo>
                    <a:pt x="0" y="22856"/>
                  </a:lnTo>
                  <a:lnTo>
                    <a:pt x="0" y="114282"/>
                  </a:lnTo>
                  <a:lnTo>
                    <a:pt x="1797" y="123179"/>
                  </a:lnTo>
                  <a:lnTo>
                    <a:pt x="6699" y="130444"/>
                  </a:lnTo>
                  <a:lnTo>
                    <a:pt x="13971" y="135343"/>
                  </a:lnTo>
                  <a:lnTo>
                    <a:pt x="22875" y="137139"/>
                  </a:lnTo>
                  <a:lnTo>
                    <a:pt x="198484" y="137139"/>
                  </a:lnTo>
                  <a:lnTo>
                    <a:pt x="207388" y="135343"/>
                  </a:lnTo>
                  <a:lnTo>
                    <a:pt x="214659" y="130444"/>
                  </a:lnTo>
                  <a:lnTo>
                    <a:pt x="219562" y="123179"/>
                  </a:lnTo>
                  <a:lnTo>
                    <a:pt x="221359" y="114282"/>
                  </a:lnTo>
                  <a:lnTo>
                    <a:pt x="221359" y="22856"/>
                  </a:lnTo>
                  <a:lnTo>
                    <a:pt x="219562" y="13959"/>
                  </a:lnTo>
                  <a:lnTo>
                    <a:pt x="214659" y="6694"/>
                  </a:lnTo>
                  <a:lnTo>
                    <a:pt x="207388" y="1796"/>
                  </a:lnTo>
                  <a:lnTo>
                    <a:pt x="1984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16726" y="4355729"/>
              <a:ext cx="221615" cy="137160"/>
            </a:xfrm>
            <a:custGeom>
              <a:avLst/>
              <a:gdLst/>
              <a:ahLst/>
              <a:cxnLst/>
              <a:rect l="l" t="t" r="r" b="b"/>
              <a:pathLst>
                <a:path w="221614" h="137160">
                  <a:moveTo>
                    <a:pt x="0" y="22857"/>
                  </a:moveTo>
                  <a:lnTo>
                    <a:pt x="1797" y="13960"/>
                  </a:lnTo>
                  <a:lnTo>
                    <a:pt x="6700" y="6694"/>
                  </a:lnTo>
                  <a:lnTo>
                    <a:pt x="13971" y="1796"/>
                  </a:lnTo>
                  <a:lnTo>
                    <a:pt x="22875" y="0"/>
                  </a:lnTo>
                  <a:lnTo>
                    <a:pt x="198484" y="0"/>
                  </a:lnTo>
                  <a:lnTo>
                    <a:pt x="207388" y="1796"/>
                  </a:lnTo>
                  <a:lnTo>
                    <a:pt x="214660" y="6694"/>
                  </a:lnTo>
                  <a:lnTo>
                    <a:pt x="219562" y="13960"/>
                  </a:lnTo>
                  <a:lnTo>
                    <a:pt x="221360" y="22857"/>
                  </a:lnTo>
                  <a:lnTo>
                    <a:pt x="221360" y="114282"/>
                  </a:lnTo>
                  <a:lnTo>
                    <a:pt x="219562" y="123179"/>
                  </a:lnTo>
                  <a:lnTo>
                    <a:pt x="214660" y="130444"/>
                  </a:lnTo>
                  <a:lnTo>
                    <a:pt x="207388" y="135343"/>
                  </a:lnTo>
                  <a:lnTo>
                    <a:pt x="198484" y="137139"/>
                  </a:lnTo>
                  <a:lnTo>
                    <a:pt x="22875" y="137139"/>
                  </a:lnTo>
                  <a:lnTo>
                    <a:pt x="13971" y="135343"/>
                  </a:lnTo>
                  <a:lnTo>
                    <a:pt x="6700" y="130444"/>
                  </a:lnTo>
                  <a:lnTo>
                    <a:pt x="1797" y="123179"/>
                  </a:lnTo>
                  <a:lnTo>
                    <a:pt x="0" y="114282"/>
                  </a:lnTo>
                  <a:lnTo>
                    <a:pt x="0" y="22857"/>
                  </a:lnTo>
                  <a:close/>
                </a:path>
              </a:pathLst>
            </a:custGeom>
            <a:ln w="95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93175" y="4213224"/>
              <a:ext cx="829944" cy="739775"/>
            </a:xfrm>
            <a:custGeom>
              <a:avLst/>
              <a:gdLst/>
              <a:ahLst/>
              <a:cxnLst/>
              <a:rect l="l" t="t" r="r" b="b"/>
              <a:pathLst>
                <a:path w="829944" h="739775">
                  <a:moveTo>
                    <a:pt x="76060" y="52235"/>
                  </a:moveTo>
                  <a:lnTo>
                    <a:pt x="66128" y="37807"/>
                  </a:lnTo>
                  <a:lnTo>
                    <a:pt x="40132" y="0"/>
                  </a:lnTo>
                  <a:lnTo>
                    <a:pt x="0" y="49098"/>
                  </a:lnTo>
                  <a:lnTo>
                    <a:pt x="33274" y="50469"/>
                  </a:lnTo>
                  <a:lnTo>
                    <a:pt x="29476" y="142316"/>
                  </a:lnTo>
                  <a:lnTo>
                    <a:pt x="38976" y="142709"/>
                  </a:lnTo>
                  <a:lnTo>
                    <a:pt x="42786" y="50863"/>
                  </a:lnTo>
                  <a:lnTo>
                    <a:pt x="76060" y="52235"/>
                  </a:lnTo>
                  <a:close/>
                </a:path>
                <a:path w="829944" h="739775">
                  <a:moveTo>
                    <a:pt x="829525" y="331533"/>
                  </a:moveTo>
                  <a:lnTo>
                    <a:pt x="820051" y="319087"/>
                  </a:lnTo>
                  <a:lnTo>
                    <a:pt x="791121" y="281089"/>
                  </a:lnTo>
                  <a:lnTo>
                    <a:pt x="753414" y="332054"/>
                  </a:lnTo>
                  <a:lnTo>
                    <a:pt x="786714" y="331825"/>
                  </a:lnTo>
                  <a:lnTo>
                    <a:pt x="789546" y="739521"/>
                  </a:lnTo>
                  <a:lnTo>
                    <a:pt x="799058" y="739457"/>
                  </a:lnTo>
                  <a:lnTo>
                    <a:pt x="796226" y="331762"/>
                  </a:lnTo>
                  <a:lnTo>
                    <a:pt x="829525" y="3315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73619" y="4357170"/>
              <a:ext cx="221615" cy="137160"/>
            </a:xfrm>
            <a:custGeom>
              <a:avLst/>
              <a:gdLst/>
              <a:ahLst/>
              <a:cxnLst/>
              <a:rect l="l" t="t" r="r" b="b"/>
              <a:pathLst>
                <a:path w="221614" h="137160">
                  <a:moveTo>
                    <a:pt x="198484" y="0"/>
                  </a:moveTo>
                  <a:lnTo>
                    <a:pt x="22875" y="0"/>
                  </a:lnTo>
                  <a:lnTo>
                    <a:pt x="13971" y="1796"/>
                  </a:lnTo>
                  <a:lnTo>
                    <a:pt x="6700" y="6694"/>
                  </a:lnTo>
                  <a:lnTo>
                    <a:pt x="1797" y="13959"/>
                  </a:lnTo>
                  <a:lnTo>
                    <a:pt x="0" y="22856"/>
                  </a:lnTo>
                  <a:lnTo>
                    <a:pt x="0" y="114282"/>
                  </a:lnTo>
                  <a:lnTo>
                    <a:pt x="1797" y="123179"/>
                  </a:lnTo>
                  <a:lnTo>
                    <a:pt x="6700" y="130444"/>
                  </a:lnTo>
                  <a:lnTo>
                    <a:pt x="13971" y="135343"/>
                  </a:lnTo>
                  <a:lnTo>
                    <a:pt x="22875" y="137139"/>
                  </a:lnTo>
                  <a:lnTo>
                    <a:pt x="198484" y="137139"/>
                  </a:lnTo>
                  <a:lnTo>
                    <a:pt x="207388" y="135343"/>
                  </a:lnTo>
                  <a:lnTo>
                    <a:pt x="214660" y="130444"/>
                  </a:lnTo>
                  <a:lnTo>
                    <a:pt x="219563" y="123179"/>
                  </a:lnTo>
                  <a:lnTo>
                    <a:pt x="221360" y="114282"/>
                  </a:lnTo>
                  <a:lnTo>
                    <a:pt x="221360" y="22856"/>
                  </a:lnTo>
                  <a:lnTo>
                    <a:pt x="219563" y="13959"/>
                  </a:lnTo>
                  <a:lnTo>
                    <a:pt x="214660" y="6694"/>
                  </a:lnTo>
                  <a:lnTo>
                    <a:pt x="207388" y="1796"/>
                  </a:lnTo>
                  <a:lnTo>
                    <a:pt x="1984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73619" y="4357170"/>
              <a:ext cx="221615" cy="137160"/>
            </a:xfrm>
            <a:custGeom>
              <a:avLst/>
              <a:gdLst/>
              <a:ahLst/>
              <a:cxnLst/>
              <a:rect l="l" t="t" r="r" b="b"/>
              <a:pathLst>
                <a:path w="221614" h="137160">
                  <a:moveTo>
                    <a:pt x="0" y="22857"/>
                  </a:moveTo>
                  <a:lnTo>
                    <a:pt x="1797" y="13960"/>
                  </a:lnTo>
                  <a:lnTo>
                    <a:pt x="6700" y="6694"/>
                  </a:lnTo>
                  <a:lnTo>
                    <a:pt x="13971" y="1796"/>
                  </a:lnTo>
                  <a:lnTo>
                    <a:pt x="22875" y="0"/>
                  </a:lnTo>
                  <a:lnTo>
                    <a:pt x="198484" y="0"/>
                  </a:lnTo>
                  <a:lnTo>
                    <a:pt x="207388" y="1796"/>
                  </a:lnTo>
                  <a:lnTo>
                    <a:pt x="214660" y="6694"/>
                  </a:lnTo>
                  <a:lnTo>
                    <a:pt x="219562" y="13960"/>
                  </a:lnTo>
                  <a:lnTo>
                    <a:pt x="221360" y="22857"/>
                  </a:lnTo>
                  <a:lnTo>
                    <a:pt x="221360" y="114282"/>
                  </a:lnTo>
                  <a:lnTo>
                    <a:pt x="219562" y="123179"/>
                  </a:lnTo>
                  <a:lnTo>
                    <a:pt x="214660" y="130444"/>
                  </a:lnTo>
                  <a:lnTo>
                    <a:pt x="207388" y="135343"/>
                  </a:lnTo>
                  <a:lnTo>
                    <a:pt x="198484" y="137139"/>
                  </a:lnTo>
                  <a:lnTo>
                    <a:pt x="22875" y="137139"/>
                  </a:lnTo>
                  <a:lnTo>
                    <a:pt x="13971" y="135343"/>
                  </a:lnTo>
                  <a:lnTo>
                    <a:pt x="6700" y="130444"/>
                  </a:lnTo>
                  <a:lnTo>
                    <a:pt x="1797" y="123179"/>
                  </a:lnTo>
                  <a:lnTo>
                    <a:pt x="0" y="114282"/>
                  </a:lnTo>
                  <a:lnTo>
                    <a:pt x="0" y="22857"/>
                  </a:lnTo>
                  <a:close/>
                </a:path>
              </a:pathLst>
            </a:custGeom>
            <a:ln w="95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488514" y="4218012"/>
              <a:ext cx="735965" cy="1708785"/>
            </a:xfrm>
            <a:custGeom>
              <a:avLst/>
              <a:gdLst/>
              <a:ahLst/>
              <a:cxnLst/>
              <a:rect l="l" t="t" r="r" b="b"/>
              <a:pathLst>
                <a:path w="735964" h="1708785">
                  <a:moveTo>
                    <a:pt x="707974" y="338505"/>
                  </a:moveTo>
                  <a:lnTo>
                    <a:pt x="702081" y="308470"/>
                  </a:lnTo>
                  <a:lnTo>
                    <a:pt x="695782" y="276301"/>
                  </a:lnTo>
                  <a:lnTo>
                    <a:pt x="639432" y="305409"/>
                  </a:lnTo>
                  <a:lnTo>
                    <a:pt x="669417" y="319887"/>
                  </a:lnTo>
                  <a:lnTo>
                    <a:pt x="0" y="1704200"/>
                  </a:lnTo>
                  <a:lnTo>
                    <a:pt x="8559" y="1708327"/>
                  </a:lnTo>
                  <a:lnTo>
                    <a:pt x="677989" y="324027"/>
                  </a:lnTo>
                  <a:lnTo>
                    <a:pt x="707974" y="338505"/>
                  </a:lnTo>
                  <a:close/>
                </a:path>
                <a:path w="735964" h="1708785">
                  <a:moveTo>
                    <a:pt x="735520" y="51422"/>
                  </a:moveTo>
                  <a:lnTo>
                    <a:pt x="725792" y="37934"/>
                  </a:lnTo>
                  <a:lnTo>
                    <a:pt x="698436" y="0"/>
                  </a:lnTo>
                  <a:lnTo>
                    <a:pt x="659409" y="49974"/>
                  </a:lnTo>
                  <a:lnTo>
                    <a:pt x="692708" y="50609"/>
                  </a:lnTo>
                  <a:lnTo>
                    <a:pt x="691019" y="139077"/>
                  </a:lnTo>
                  <a:lnTo>
                    <a:pt x="700532" y="139255"/>
                  </a:lnTo>
                  <a:lnTo>
                    <a:pt x="702221" y="50787"/>
                  </a:lnTo>
                  <a:lnTo>
                    <a:pt x="735520" y="514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423278" y="3340247"/>
              <a:ext cx="1874520" cy="215265"/>
            </a:xfrm>
            <a:custGeom>
              <a:avLst/>
              <a:gdLst/>
              <a:ahLst/>
              <a:cxnLst/>
              <a:rect l="l" t="t" r="r" b="b"/>
              <a:pathLst>
                <a:path w="1874520" h="215264">
                  <a:moveTo>
                    <a:pt x="1838454" y="0"/>
                  </a:moveTo>
                  <a:lnTo>
                    <a:pt x="35873" y="0"/>
                  </a:lnTo>
                  <a:lnTo>
                    <a:pt x="21910" y="2816"/>
                  </a:lnTo>
                  <a:lnTo>
                    <a:pt x="10507" y="10498"/>
                  </a:lnTo>
                  <a:lnTo>
                    <a:pt x="2819" y="21892"/>
                  </a:lnTo>
                  <a:lnTo>
                    <a:pt x="0" y="35844"/>
                  </a:lnTo>
                  <a:lnTo>
                    <a:pt x="0" y="179218"/>
                  </a:lnTo>
                  <a:lnTo>
                    <a:pt x="2819" y="193171"/>
                  </a:lnTo>
                  <a:lnTo>
                    <a:pt x="10507" y="204564"/>
                  </a:lnTo>
                  <a:lnTo>
                    <a:pt x="21910" y="212246"/>
                  </a:lnTo>
                  <a:lnTo>
                    <a:pt x="35873" y="215063"/>
                  </a:lnTo>
                  <a:lnTo>
                    <a:pt x="1838454" y="215063"/>
                  </a:lnTo>
                  <a:lnTo>
                    <a:pt x="1852417" y="212246"/>
                  </a:lnTo>
                  <a:lnTo>
                    <a:pt x="1863820" y="204564"/>
                  </a:lnTo>
                  <a:lnTo>
                    <a:pt x="1871507" y="193171"/>
                  </a:lnTo>
                  <a:lnTo>
                    <a:pt x="1874326" y="179218"/>
                  </a:lnTo>
                  <a:lnTo>
                    <a:pt x="1874326" y="35844"/>
                  </a:lnTo>
                  <a:lnTo>
                    <a:pt x="1871507" y="21892"/>
                  </a:lnTo>
                  <a:lnTo>
                    <a:pt x="1863820" y="10498"/>
                  </a:lnTo>
                  <a:lnTo>
                    <a:pt x="1852417" y="2816"/>
                  </a:lnTo>
                  <a:lnTo>
                    <a:pt x="183845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423278" y="3340247"/>
              <a:ext cx="1874520" cy="215265"/>
            </a:xfrm>
            <a:custGeom>
              <a:avLst/>
              <a:gdLst/>
              <a:ahLst/>
              <a:cxnLst/>
              <a:rect l="l" t="t" r="r" b="b"/>
              <a:pathLst>
                <a:path w="1874520" h="215264">
                  <a:moveTo>
                    <a:pt x="0" y="35844"/>
                  </a:moveTo>
                  <a:lnTo>
                    <a:pt x="2819" y="21892"/>
                  </a:lnTo>
                  <a:lnTo>
                    <a:pt x="10507" y="10498"/>
                  </a:lnTo>
                  <a:lnTo>
                    <a:pt x="21909" y="2816"/>
                  </a:lnTo>
                  <a:lnTo>
                    <a:pt x="35873" y="0"/>
                  </a:lnTo>
                  <a:lnTo>
                    <a:pt x="1838453" y="0"/>
                  </a:lnTo>
                  <a:lnTo>
                    <a:pt x="1852417" y="2816"/>
                  </a:lnTo>
                  <a:lnTo>
                    <a:pt x="1863820" y="10498"/>
                  </a:lnTo>
                  <a:lnTo>
                    <a:pt x="1871508" y="21892"/>
                  </a:lnTo>
                  <a:lnTo>
                    <a:pt x="1874327" y="35844"/>
                  </a:lnTo>
                  <a:lnTo>
                    <a:pt x="1874327" y="179218"/>
                  </a:lnTo>
                  <a:lnTo>
                    <a:pt x="1871508" y="193170"/>
                  </a:lnTo>
                  <a:lnTo>
                    <a:pt x="1863820" y="204564"/>
                  </a:lnTo>
                  <a:lnTo>
                    <a:pt x="1852417" y="212246"/>
                  </a:lnTo>
                  <a:lnTo>
                    <a:pt x="1838453" y="215062"/>
                  </a:lnTo>
                  <a:lnTo>
                    <a:pt x="35873" y="215062"/>
                  </a:lnTo>
                  <a:lnTo>
                    <a:pt x="21909" y="212246"/>
                  </a:lnTo>
                  <a:lnTo>
                    <a:pt x="10507" y="204564"/>
                  </a:lnTo>
                  <a:lnTo>
                    <a:pt x="2819" y="193170"/>
                  </a:lnTo>
                  <a:lnTo>
                    <a:pt x="0" y="179218"/>
                  </a:lnTo>
                  <a:lnTo>
                    <a:pt x="0" y="35844"/>
                  </a:lnTo>
                  <a:close/>
                </a:path>
              </a:pathLst>
            </a:custGeom>
            <a:ln w="9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071805" y="3334626"/>
            <a:ext cx="5765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ndara"/>
                <a:cs typeface="Candara"/>
              </a:rPr>
              <a:t>attention</a:t>
            </a:r>
            <a:endParaRPr sz="1100">
              <a:latin typeface="Candara"/>
              <a:cs typeface="Candar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99912" y="2064713"/>
            <a:ext cx="2513965" cy="1793239"/>
            <a:chOff x="1099912" y="2064713"/>
            <a:chExt cx="2513965" cy="1793239"/>
          </a:xfrm>
        </p:grpSpPr>
        <p:sp>
          <p:nvSpPr>
            <p:cNvPr id="40" name="object 40"/>
            <p:cNvSpPr/>
            <p:nvPr/>
          </p:nvSpPr>
          <p:spPr>
            <a:xfrm>
              <a:off x="1576273" y="2707741"/>
              <a:ext cx="1648460" cy="1150620"/>
            </a:xfrm>
            <a:custGeom>
              <a:avLst/>
              <a:gdLst/>
              <a:ahLst/>
              <a:cxnLst/>
              <a:rect l="l" t="t" r="r" b="b"/>
              <a:pathLst>
                <a:path w="1648460" h="1150620">
                  <a:moveTo>
                    <a:pt x="76111" y="906259"/>
                  </a:moveTo>
                  <a:lnTo>
                    <a:pt x="66636" y="893826"/>
                  </a:lnTo>
                  <a:lnTo>
                    <a:pt x="37680" y="855827"/>
                  </a:lnTo>
                  <a:lnTo>
                    <a:pt x="0" y="906818"/>
                  </a:lnTo>
                  <a:lnTo>
                    <a:pt x="33299" y="906576"/>
                  </a:lnTo>
                  <a:lnTo>
                    <a:pt x="35064" y="1145997"/>
                  </a:lnTo>
                  <a:lnTo>
                    <a:pt x="44577" y="1145933"/>
                  </a:lnTo>
                  <a:lnTo>
                    <a:pt x="42811" y="906500"/>
                  </a:lnTo>
                  <a:lnTo>
                    <a:pt x="76111" y="906259"/>
                  </a:lnTo>
                  <a:close/>
                </a:path>
                <a:path w="1648460" h="1150620">
                  <a:moveTo>
                    <a:pt x="823201" y="50774"/>
                  </a:moveTo>
                  <a:lnTo>
                    <a:pt x="813676" y="38023"/>
                  </a:lnTo>
                  <a:lnTo>
                    <a:pt x="785228" y="0"/>
                  </a:lnTo>
                  <a:lnTo>
                    <a:pt x="747090" y="50647"/>
                  </a:lnTo>
                  <a:lnTo>
                    <a:pt x="780389" y="50698"/>
                  </a:lnTo>
                  <a:lnTo>
                    <a:pt x="779411" y="632498"/>
                  </a:lnTo>
                  <a:lnTo>
                    <a:pt x="788924" y="632523"/>
                  </a:lnTo>
                  <a:lnTo>
                    <a:pt x="789901" y="50723"/>
                  </a:lnTo>
                  <a:lnTo>
                    <a:pt x="823201" y="50774"/>
                  </a:lnTo>
                  <a:close/>
                </a:path>
                <a:path w="1648460" h="1150620">
                  <a:moveTo>
                    <a:pt x="880186" y="898283"/>
                  </a:moveTo>
                  <a:lnTo>
                    <a:pt x="870673" y="885609"/>
                  </a:lnTo>
                  <a:lnTo>
                    <a:pt x="842124" y="847572"/>
                  </a:lnTo>
                  <a:lnTo>
                    <a:pt x="804062" y="898283"/>
                  </a:lnTo>
                  <a:lnTo>
                    <a:pt x="837374" y="898283"/>
                  </a:lnTo>
                  <a:lnTo>
                    <a:pt x="837374" y="1145260"/>
                  </a:lnTo>
                  <a:lnTo>
                    <a:pt x="846886" y="1145260"/>
                  </a:lnTo>
                  <a:lnTo>
                    <a:pt x="846886" y="898283"/>
                  </a:lnTo>
                  <a:lnTo>
                    <a:pt x="880186" y="898283"/>
                  </a:lnTo>
                  <a:close/>
                </a:path>
                <a:path w="1648460" h="1150620">
                  <a:moveTo>
                    <a:pt x="1648129" y="898156"/>
                  </a:moveTo>
                  <a:lnTo>
                    <a:pt x="1638630" y="885596"/>
                  </a:lnTo>
                  <a:lnTo>
                    <a:pt x="1609915" y="847572"/>
                  </a:lnTo>
                  <a:lnTo>
                    <a:pt x="1572018" y="898398"/>
                  </a:lnTo>
                  <a:lnTo>
                    <a:pt x="1605318" y="898296"/>
                  </a:lnTo>
                  <a:lnTo>
                    <a:pt x="1606130" y="1150061"/>
                  </a:lnTo>
                  <a:lnTo>
                    <a:pt x="1615643" y="1150023"/>
                  </a:lnTo>
                  <a:lnTo>
                    <a:pt x="1614830" y="898271"/>
                  </a:lnTo>
                  <a:lnTo>
                    <a:pt x="1648129" y="8981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104675" y="2069476"/>
              <a:ext cx="2504440" cy="219075"/>
            </a:xfrm>
            <a:custGeom>
              <a:avLst/>
              <a:gdLst/>
              <a:ahLst/>
              <a:cxnLst/>
              <a:rect l="l" t="t" r="r" b="b"/>
              <a:pathLst>
                <a:path w="2504440" h="219075">
                  <a:moveTo>
                    <a:pt x="2467545" y="0"/>
                  </a:moveTo>
                  <a:lnTo>
                    <a:pt x="36537" y="0"/>
                  </a:lnTo>
                  <a:lnTo>
                    <a:pt x="22315" y="2868"/>
                  </a:lnTo>
                  <a:lnTo>
                    <a:pt x="10701" y="10692"/>
                  </a:lnTo>
                  <a:lnTo>
                    <a:pt x="2871" y="22297"/>
                  </a:lnTo>
                  <a:lnTo>
                    <a:pt x="0" y="36507"/>
                  </a:lnTo>
                  <a:lnTo>
                    <a:pt x="0" y="182542"/>
                  </a:lnTo>
                  <a:lnTo>
                    <a:pt x="2871" y="196752"/>
                  </a:lnTo>
                  <a:lnTo>
                    <a:pt x="10701" y="208356"/>
                  </a:lnTo>
                  <a:lnTo>
                    <a:pt x="22315" y="216180"/>
                  </a:lnTo>
                  <a:lnTo>
                    <a:pt x="36537" y="219049"/>
                  </a:lnTo>
                  <a:lnTo>
                    <a:pt x="2467545" y="219049"/>
                  </a:lnTo>
                  <a:lnTo>
                    <a:pt x="2481767" y="216180"/>
                  </a:lnTo>
                  <a:lnTo>
                    <a:pt x="2493381" y="208356"/>
                  </a:lnTo>
                  <a:lnTo>
                    <a:pt x="2501211" y="196752"/>
                  </a:lnTo>
                  <a:lnTo>
                    <a:pt x="2504083" y="182542"/>
                  </a:lnTo>
                  <a:lnTo>
                    <a:pt x="2504083" y="36507"/>
                  </a:lnTo>
                  <a:lnTo>
                    <a:pt x="2501211" y="22297"/>
                  </a:lnTo>
                  <a:lnTo>
                    <a:pt x="2493381" y="10692"/>
                  </a:lnTo>
                  <a:lnTo>
                    <a:pt x="2481767" y="2868"/>
                  </a:lnTo>
                  <a:lnTo>
                    <a:pt x="246754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104675" y="2069476"/>
              <a:ext cx="2504440" cy="219075"/>
            </a:xfrm>
            <a:custGeom>
              <a:avLst/>
              <a:gdLst/>
              <a:ahLst/>
              <a:cxnLst/>
              <a:rect l="l" t="t" r="r" b="b"/>
              <a:pathLst>
                <a:path w="2504440" h="219075">
                  <a:moveTo>
                    <a:pt x="0" y="36507"/>
                  </a:moveTo>
                  <a:lnTo>
                    <a:pt x="2871" y="22297"/>
                  </a:lnTo>
                  <a:lnTo>
                    <a:pt x="10701" y="10692"/>
                  </a:lnTo>
                  <a:lnTo>
                    <a:pt x="22315" y="2868"/>
                  </a:lnTo>
                  <a:lnTo>
                    <a:pt x="36537" y="0"/>
                  </a:lnTo>
                  <a:lnTo>
                    <a:pt x="2467545" y="0"/>
                  </a:lnTo>
                  <a:lnTo>
                    <a:pt x="2481767" y="2868"/>
                  </a:lnTo>
                  <a:lnTo>
                    <a:pt x="2493381" y="10692"/>
                  </a:lnTo>
                  <a:lnTo>
                    <a:pt x="2501211" y="22297"/>
                  </a:lnTo>
                  <a:lnTo>
                    <a:pt x="2504082" y="36507"/>
                  </a:lnTo>
                  <a:lnTo>
                    <a:pt x="2504082" y="182541"/>
                  </a:lnTo>
                  <a:lnTo>
                    <a:pt x="2501211" y="196752"/>
                  </a:lnTo>
                  <a:lnTo>
                    <a:pt x="2493381" y="208356"/>
                  </a:lnTo>
                  <a:lnTo>
                    <a:pt x="2481767" y="216180"/>
                  </a:lnTo>
                  <a:lnTo>
                    <a:pt x="2467545" y="219049"/>
                  </a:lnTo>
                  <a:lnTo>
                    <a:pt x="36537" y="219049"/>
                  </a:lnTo>
                  <a:lnTo>
                    <a:pt x="22315" y="216180"/>
                  </a:lnTo>
                  <a:lnTo>
                    <a:pt x="10701" y="208356"/>
                  </a:lnTo>
                  <a:lnTo>
                    <a:pt x="2871" y="196752"/>
                  </a:lnTo>
                  <a:lnTo>
                    <a:pt x="0" y="182541"/>
                  </a:lnTo>
                  <a:lnTo>
                    <a:pt x="0" y="36507"/>
                  </a:lnTo>
                  <a:close/>
                </a:path>
              </a:pathLst>
            </a:custGeom>
            <a:ln w="9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641486" y="2066658"/>
            <a:ext cx="14300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ndara"/>
                <a:cs typeface="Candara"/>
              </a:rPr>
              <a:t>feed-</a:t>
            </a:r>
            <a:r>
              <a:rPr sz="1100" dirty="0">
                <a:latin typeface="Candara"/>
                <a:cs typeface="Candara"/>
              </a:rPr>
              <a:t>forward</a:t>
            </a:r>
            <a:r>
              <a:rPr sz="1100" spc="-25" dirty="0">
                <a:latin typeface="Candara"/>
                <a:cs typeface="Candara"/>
              </a:rPr>
              <a:t> </a:t>
            </a:r>
            <a:r>
              <a:rPr sz="1100" dirty="0">
                <a:latin typeface="Candara"/>
                <a:cs typeface="Candara"/>
              </a:rPr>
              <a:t>neural</a:t>
            </a:r>
            <a:r>
              <a:rPr sz="1100" spc="-15" dirty="0">
                <a:latin typeface="Candara"/>
                <a:cs typeface="Candara"/>
              </a:rPr>
              <a:t> </a:t>
            </a:r>
            <a:r>
              <a:rPr sz="1100" spc="-25" dirty="0">
                <a:latin typeface="Candara"/>
                <a:cs typeface="Candara"/>
              </a:rPr>
              <a:t>net</a:t>
            </a:r>
            <a:endParaRPr sz="1100">
              <a:latin typeface="Candara"/>
              <a:cs typeface="Candar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421335" y="1276976"/>
            <a:ext cx="2251075" cy="1212215"/>
            <a:chOff x="1421335" y="1276976"/>
            <a:chExt cx="2251075" cy="1212215"/>
          </a:xfrm>
        </p:grpSpPr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19881" y="2288526"/>
              <a:ext cx="76098" cy="20027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356751" y="1353234"/>
              <a:ext cx="1315720" cy="1136015"/>
            </a:xfrm>
            <a:custGeom>
              <a:avLst/>
              <a:gdLst/>
              <a:ahLst/>
              <a:cxnLst/>
              <a:rect l="l" t="t" r="r" b="b"/>
              <a:pathLst>
                <a:path w="1315720" h="1136014">
                  <a:moveTo>
                    <a:pt x="1305622" y="1061267"/>
                  </a:moveTo>
                  <a:lnTo>
                    <a:pt x="2129" y="1061267"/>
                  </a:lnTo>
                  <a:lnTo>
                    <a:pt x="0" y="1063396"/>
                  </a:lnTo>
                  <a:lnTo>
                    <a:pt x="0" y="1135456"/>
                  </a:lnTo>
                  <a:lnTo>
                    <a:pt x="9514" y="1135456"/>
                  </a:lnTo>
                  <a:lnTo>
                    <a:pt x="9514" y="1070775"/>
                  </a:lnTo>
                  <a:lnTo>
                    <a:pt x="4757" y="1070775"/>
                  </a:lnTo>
                  <a:lnTo>
                    <a:pt x="9514" y="1066021"/>
                  </a:lnTo>
                  <a:lnTo>
                    <a:pt x="1305622" y="1066021"/>
                  </a:lnTo>
                  <a:lnTo>
                    <a:pt x="1305622" y="1061267"/>
                  </a:lnTo>
                  <a:close/>
                </a:path>
                <a:path w="1315720" h="1136014">
                  <a:moveTo>
                    <a:pt x="9514" y="1066021"/>
                  </a:moveTo>
                  <a:lnTo>
                    <a:pt x="4757" y="1070775"/>
                  </a:lnTo>
                  <a:lnTo>
                    <a:pt x="9514" y="1070775"/>
                  </a:lnTo>
                  <a:lnTo>
                    <a:pt x="9514" y="1066021"/>
                  </a:lnTo>
                  <a:close/>
                </a:path>
                <a:path w="1315720" h="1136014">
                  <a:moveTo>
                    <a:pt x="1315137" y="1061267"/>
                  </a:moveTo>
                  <a:lnTo>
                    <a:pt x="1310379" y="1061267"/>
                  </a:lnTo>
                  <a:lnTo>
                    <a:pt x="1305622" y="1066021"/>
                  </a:lnTo>
                  <a:lnTo>
                    <a:pt x="9514" y="1066021"/>
                  </a:lnTo>
                  <a:lnTo>
                    <a:pt x="9514" y="1070775"/>
                  </a:lnTo>
                  <a:lnTo>
                    <a:pt x="1313007" y="1070775"/>
                  </a:lnTo>
                  <a:lnTo>
                    <a:pt x="1315137" y="1068647"/>
                  </a:lnTo>
                  <a:lnTo>
                    <a:pt x="1315137" y="1061267"/>
                  </a:lnTo>
                  <a:close/>
                </a:path>
                <a:path w="1315720" h="1136014">
                  <a:moveTo>
                    <a:pt x="1305622" y="38028"/>
                  </a:moveTo>
                  <a:lnTo>
                    <a:pt x="1305622" y="1066021"/>
                  </a:lnTo>
                  <a:lnTo>
                    <a:pt x="1310379" y="1061267"/>
                  </a:lnTo>
                  <a:lnTo>
                    <a:pt x="1315137" y="1061267"/>
                  </a:lnTo>
                  <a:lnTo>
                    <a:pt x="1315137" y="42782"/>
                  </a:lnTo>
                  <a:lnTo>
                    <a:pt x="1310379" y="42782"/>
                  </a:lnTo>
                  <a:lnTo>
                    <a:pt x="1305622" y="38028"/>
                  </a:lnTo>
                  <a:close/>
                </a:path>
                <a:path w="1315720" h="1136014">
                  <a:moveTo>
                    <a:pt x="1021928" y="0"/>
                  </a:moveTo>
                  <a:lnTo>
                    <a:pt x="945807" y="38028"/>
                  </a:lnTo>
                  <a:lnTo>
                    <a:pt x="1021928" y="76059"/>
                  </a:lnTo>
                  <a:lnTo>
                    <a:pt x="1021928" y="42782"/>
                  </a:lnTo>
                  <a:lnTo>
                    <a:pt x="1009241" y="42782"/>
                  </a:lnTo>
                  <a:lnTo>
                    <a:pt x="1009241" y="33275"/>
                  </a:lnTo>
                  <a:lnTo>
                    <a:pt x="1021928" y="33275"/>
                  </a:lnTo>
                  <a:lnTo>
                    <a:pt x="1021928" y="0"/>
                  </a:lnTo>
                  <a:close/>
                </a:path>
                <a:path w="1315720" h="1136014">
                  <a:moveTo>
                    <a:pt x="1021928" y="33275"/>
                  </a:moveTo>
                  <a:lnTo>
                    <a:pt x="1009241" y="33275"/>
                  </a:lnTo>
                  <a:lnTo>
                    <a:pt x="1009241" y="42782"/>
                  </a:lnTo>
                  <a:lnTo>
                    <a:pt x="1021928" y="42782"/>
                  </a:lnTo>
                  <a:lnTo>
                    <a:pt x="1021928" y="33275"/>
                  </a:lnTo>
                  <a:close/>
                </a:path>
                <a:path w="1315720" h="1136014">
                  <a:moveTo>
                    <a:pt x="1313007" y="33275"/>
                  </a:moveTo>
                  <a:lnTo>
                    <a:pt x="1021928" y="33275"/>
                  </a:lnTo>
                  <a:lnTo>
                    <a:pt x="1021928" y="42782"/>
                  </a:lnTo>
                  <a:lnTo>
                    <a:pt x="1305622" y="42782"/>
                  </a:lnTo>
                  <a:lnTo>
                    <a:pt x="1305622" y="38028"/>
                  </a:lnTo>
                  <a:lnTo>
                    <a:pt x="1315137" y="38028"/>
                  </a:lnTo>
                  <a:lnTo>
                    <a:pt x="1315137" y="35403"/>
                  </a:lnTo>
                  <a:lnTo>
                    <a:pt x="1313007" y="33275"/>
                  </a:lnTo>
                  <a:close/>
                </a:path>
                <a:path w="1315720" h="1136014">
                  <a:moveTo>
                    <a:pt x="1315137" y="38028"/>
                  </a:moveTo>
                  <a:lnTo>
                    <a:pt x="1305622" y="38028"/>
                  </a:lnTo>
                  <a:lnTo>
                    <a:pt x="1310379" y="42782"/>
                  </a:lnTo>
                  <a:lnTo>
                    <a:pt x="1315137" y="42782"/>
                  </a:lnTo>
                  <a:lnTo>
                    <a:pt x="1315137" y="380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426098" y="1281738"/>
              <a:ext cx="1877060" cy="219075"/>
            </a:xfrm>
            <a:custGeom>
              <a:avLst/>
              <a:gdLst/>
              <a:ahLst/>
              <a:cxnLst/>
              <a:rect l="l" t="t" r="r" b="b"/>
              <a:pathLst>
                <a:path w="1877060" h="219075">
                  <a:moveTo>
                    <a:pt x="1839922" y="0"/>
                  </a:moveTo>
                  <a:lnTo>
                    <a:pt x="36537" y="0"/>
                  </a:lnTo>
                  <a:lnTo>
                    <a:pt x="22315" y="2868"/>
                  </a:lnTo>
                  <a:lnTo>
                    <a:pt x="10701" y="10692"/>
                  </a:lnTo>
                  <a:lnTo>
                    <a:pt x="2871" y="22297"/>
                  </a:lnTo>
                  <a:lnTo>
                    <a:pt x="0" y="36507"/>
                  </a:lnTo>
                  <a:lnTo>
                    <a:pt x="0" y="182540"/>
                  </a:lnTo>
                  <a:lnTo>
                    <a:pt x="2871" y="196751"/>
                  </a:lnTo>
                  <a:lnTo>
                    <a:pt x="10701" y="208356"/>
                  </a:lnTo>
                  <a:lnTo>
                    <a:pt x="22315" y="216180"/>
                  </a:lnTo>
                  <a:lnTo>
                    <a:pt x="36537" y="219049"/>
                  </a:lnTo>
                  <a:lnTo>
                    <a:pt x="1839922" y="219049"/>
                  </a:lnTo>
                  <a:lnTo>
                    <a:pt x="1854144" y="216180"/>
                  </a:lnTo>
                  <a:lnTo>
                    <a:pt x="1865758" y="208356"/>
                  </a:lnTo>
                  <a:lnTo>
                    <a:pt x="1873589" y="196751"/>
                  </a:lnTo>
                  <a:lnTo>
                    <a:pt x="1876460" y="182540"/>
                  </a:lnTo>
                  <a:lnTo>
                    <a:pt x="1876460" y="36507"/>
                  </a:lnTo>
                  <a:lnTo>
                    <a:pt x="1873589" y="22297"/>
                  </a:lnTo>
                  <a:lnTo>
                    <a:pt x="1865758" y="10692"/>
                  </a:lnTo>
                  <a:lnTo>
                    <a:pt x="1854144" y="2868"/>
                  </a:lnTo>
                  <a:lnTo>
                    <a:pt x="183992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426098" y="1281738"/>
              <a:ext cx="1877060" cy="219075"/>
            </a:xfrm>
            <a:custGeom>
              <a:avLst/>
              <a:gdLst/>
              <a:ahLst/>
              <a:cxnLst/>
              <a:rect l="l" t="t" r="r" b="b"/>
              <a:pathLst>
                <a:path w="1877060" h="219075">
                  <a:moveTo>
                    <a:pt x="0" y="36508"/>
                  </a:moveTo>
                  <a:lnTo>
                    <a:pt x="2871" y="22297"/>
                  </a:lnTo>
                  <a:lnTo>
                    <a:pt x="10701" y="10693"/>
                  </a:lnTo>
                  <a:lnTo>
                    <a:pt x="22315" y="2869"/>
                  </a:lnTo>
                  <a:lnTo>
                    <a:pt x="36538" y="0"/>
                  </a:lnTo>
                  <a:lnTo>
                    <a:pt x="1839923" y="0"/>
                  </a:lnTo>
                  <a:lnTo>
                    <a:pt x="1854145" y="2869"/>
                  </a:lnTo>
                  <a:lnTo>
                    <a:pt x="1865759" y="10693"/>
                  </a:lnTo>
                  <a:lnTo>
                    <a:pt x="1873589" y="22297"/>
                  </a:lnTo>
                  <a:lnTo>
                    <a:pt x="1876461" y="36508"/>
                  </a:lnTo>
                  <a:lnTo>
                    <a:pt x="1876461" y="182541"/>
                  </a:lnTo>
                  <a:lnTo>
                    <a:pt x="1873589" y="196751"/>
                  </a:lnTo>
                  <a:lnTo>
                    <a:pt x="1865759" y="208356"/>
                  </a:lnTo>
                  <a:lnTo>
                    <a:pt x="1854145" y="216180"/>
                  </a:lnTo>
                  <a:lnTo>
                    <a:pt x="1839923" y="219049"/>
                  </a:lnTo>
                  <a:lnTo>
                    <a:pt x="36538" y="219049"/>
                  </a:lnTo>
                  <a:lnTo>
                    <a:pt x="22315" y="216180"/>
                  </a:lnTo>
                  <a:lnTo>
                    <a:pt x="10701" y="208356"/>
                  </a:lnTo>
                  <a:lnTo>
                    <a:pt x="2871" y="196751"/>
                  </a:lnTo>
                  <a:lnTo>
                    <a:pt x="0" y="182541"/>
                  </a:lnTo>
                  <a:lnTo>
                    <a:pt x="0" y="36508"/>
                  </a:lnTo>
                  <a:close/>
                </a:path>
              </a:pathLst>
            </a:custGeom>
            <a:ln w="9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1847329" y="1280274"/>
            <a:ext cx="10344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ndara"/>
                <a:cs typeface="Candara"/>
              </a:rPr>
              <a:t>add</a:t>
            </a:r>
            <a:r>
              <a:rPr sz="1100" spc="-30" dirty="0">
                <a:latin typeface="Candara"/>
                <a:cs typeface="Candara"/>
              </a:rPr>
              <a:t> </a:t>
            </a:r>
            <a:r>
              <a:rPr sz="1100" dirty="0">
                <a:latin typeface="Candara"/>
                <a:cs typeface="Candara"/>
              </a:rPr>
              <a:t>&amp;</a:t>
            </a:r>
            <a:r>
              <a:rPr sz="1100" spc="-15" dirty="0">
                <a:latin typeface="Candara"/>
                <a:cs typeface="Candara"/>
              </a:rPr>
              <a:t> </a:t>
            </a:r>
            <a:r>
              <a:rPr sz="1100" dirty="0">
                <a:latin typeface="Candara"/>
                <a:cs typeface="Candara"/>
              </a:rPr>
              <a:t>layer</a:t>
            </a:r>
            <a:r>
              <a:rPr sz="1100" spc="-15" dirty="0">
                <a:latin typeface="Candara"/>
                <a:cs typeface="Candara"/>
              </a:rPr>
              <a:t> </a:t>
            </a:r>
            <a:r>
              <a:rPr sz="1100" spc="-20" dirty="0">
                <a:latin typeface="Candara"/>
                <a:cs typeface="Candara"/>
              </a:rPr>
              <a:t>norm</a:t>
            </a:r>
            <a:endParaRPr sz="1100">
              <a:latin typeface="Candara"/>
              <a:cs typeface="Candar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504006" y="1500786"/>
            <a:ext cx="897890" cy="3261360"/>
            <a:chOff x="1504006" y="1500786"/>
            <a:chExt cx="897890" cy="3261360"/>
          </a:xfrm>
        </p:grpSpPr>
        <p:sp>
          <p:nvSpPr>
            <p:cNvPr id="51" name="object 51"/>
            <p:cNvSpPr/>
            <p:nvPr/>
          </p:nvSpPr>
          <p:spPr>
            <a:xfrm>
              <a:off x="2325593" y="1500786"/>
              <a:ext cx="76200" cy="568960"/>
            </a:xfrm>
            <a:custGeom>
              <a:avLst/>
              <a:gdLst/>
              <a:ahLst/>
              <a:cxnLst/>
              <a:rect l="l" t="t" r="r" b="b"/>
              <a:pathLst>
                <a:path w="76200" h="568960">
                  <a:moveTo>
                    <a:pt x="33299" y="50637"/>
                  </a:moveTo>
                  <a:lnTo>
                    <a:pt x="26366" y="568625"/>
                  </a:lnTo>
                  <a:lnTo>
                    <a:pt x="35880" y="568752"/>
                  </a:lnTo>
                  <a:lnTo>
                    <a:pt x="42813" y="50765"/>
                  </a:lnTo>
                  <a:lnTo>
                    <a:pt x="33299" y="50637"/>
                  </a:lnTo>
                  <a:close/>
                </a:path>
                <a:path w="76200" h="568960">
                  <a:moveTo>
                    <a:pt x="66444" y="37962"/>
                  </a:moveTo>
                  <a:lnTo>
                    <a:pt x="33469" y="37962"/>
                  </a:lnTo>
                  <a:lnTo>
                    <a:pt x="42983" y="38089"/>
                  </a:lnTo>
                  <a:lnTo>
                    <a:pt x="42813" y="50765"/>
                  </a:lnTo>
                  <a:lnTo>
                    <a:pt x="76113" y="51210"/>
                  </a:lnTo>
                  <a:lnTo>
                    <a:pt x="66444" y="37962"/>
                  </a:lnTo>
                  <a:close/>
                </a:path>
                <a:path w="76200" h="568960">
                  <a:moveTo>
                    <a:pt x="33469" y="37962"/>
                  </a:moveTo>
                  <a:lnTo>
                    <a:pt x="33299" y="50637"/>
                  </a:lnTo>
                  <a:lnTo>
                    <a:pt x="42813" y="50765"/>
                  </a:lnTo>
                  <a:lnTo>
                    <a:pt x="42983" y="38089"/>
                  </a:lnTo>
                  <a:lnTo>
                    <a:pt x="33469" y="37962"/>
                  </a:lnTo>
                  <a:close/>
                </a:path>
                <a:path w="76200" h="568960">
                  <a:moveTo>
                    <a:pt x="38734" y="0"/>
                  </a:moveTo>
                  <a:lnTo>
                    <a:pt x="0" y="50192"/>
                  </a:lnTo>
                  <a:lnTo>
                    <a:pt x="33299" y="50637"/>
                  </a:lnTo>
                  <a:lnTo>
                    <a:pt x="33469" y="37962"/>
                  </a:lnTo>
                  <a:lnTo>
                    <a:pt x="66444" y="37962"/>
                  </a:lnTo>
                  <a:lnTo>
                    <a:pt x="387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04006" y="4614971"/>
              <a:ext cx="230869" cy="146649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1352205" y="4316082"/>
            <a:ext cx="37401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mbria Math"/>
                <a:cs typeface="Cambria Math"/>
              </a:rPr>
              <a:t>⨉</a:t>
            </a:r>
            <a:endParaRPr sz="1100">
              <a:latin typeface="Cambria Math"/>
              <a:cs typeface="Cambria Math"/>
            </a:endParaRPr>
          </a:p>
          <a:p>
            <a:pPr marL="195580">
              <a:lnSpc>
                <a:spcPts val="1190"/>
              </a:lnSpc>
              <a:spcBef>
                <a:spcPts val="844"/>
              </a:spcBef>
            </a:pPr>
            <a:r>
              <a:rPr sz="1050" b="1" spc="50" dirty="0">
                <a:latin typeface="Malgun Gothic"/>
                <a:cs typeface="Malgun Gothic"/>
              </a:rPr>
              <a:t>＋</a:t>
            </a:r>
            <a:endParaRPr sz="1050">
              <a:latin typeface="Malgun Gothic"/>
              <a:cs typeface="Malgun Gothic"/>
            </a:endParaRPr>
          </a:p>
          <a:p>
            <a:pPr marL="38100">
              <a:lnSpc>
                <a:spcPts val="1250"/>
              </a:lnSpc>
            </a:pPr>
            <a:r>
              <a:rPr sz="1100" b="1" spc="-25" dirty="0">
                <a:latin typeface="Candara"/>
                <a:cs typeface="Candara"/>
              </a:rPr>
              <a:t>W</a:t>
            </a:r>
            <a:r>
              <a:rPr sz="1050" spc="-37" baseline="-15873" dirty="0">
                <a:latin typeface="Candara"/>
                <a:cs typeface="Candara"/>
              </a:rPr>
              <a:t>q</a:t>
            </a:r>
            <a:endParaRPr sz="1050" baseline="-15873">
              <a:latin typeface="Candara"/>
              <a:cs typeface="Candar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713783" y="4947100"/>
            <a:ext cx="247650" cy="457834"/>
            <a:chOff x="1713783" y="4947100"/>
            <a:chExt cx="247650" cy="457834"/>
          </a:xfrm>
        </p:grpSpPr>
        <p:sp>
          <p:nvSpPr>
            <p:cNvPr id="55" name="object 55"/>
            <p:cNvSpPr/>
            <p:nvPr/>
          </p:nvSpPr>
          <p:spPr>
            <a:xfrm>
              <a:off x="1720133" y="4953449"/>
              <a:ext cx="234950" cy="445134"/>
            </a:xfrm>
            <a:custGeom>
              <a:avLst/>
              <a:gdLst/>
              <a:ahLst/>
              <a:cxnLst/>
              <a:rect l="l" t="t" r="r" b="b"/>
              <a:pathLst>
                <a:path w="234950" h="445135">
                  <a:moveTo>
                    <a:pt x="234795" y="0"/>
                  </a:moveTo>
                  <a:lnTo>
                    <a:pt x="0" y="0"/>
                  </a:lnTo>
                  <a:lnTo>
                    <a:pt x="0" y="444700"/>
                  </a:lnTo>
                  <a:lnTo>
                    <a:pt x="234795" y="444700"/>
                  </a:lnTo>
                  <a:lnTo>
                    <a:pt x="234795" y="0"/>
                  </a:lnTo>
                  <a:close/>
                </a:path>
              </a:pathLst>
            </a:custGeom>
            <a:solidFill>
              <a:srgbClr val="EBA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720133" y="4953450"/>
              <a:ext cx="234950" cy="445134"/>
            </a:xfrm>
            <a:custGeom>
              <a:avLst/>
              <a:gdLst/>
              <a:ahLst/>
              <a:cxnLst/>
              <a:rect l="l" t="t" r="r" b="b"/>
              <a:pathLst>
                <a:path w="234950" h="445135">
                  <a:moveTo>
                    <a:pt x="0" y="444699"/>
                  </a:moveTo>
                  <a:lnTo>
                    <a:pt x="0" y="0"/>
                  </a:lnTo>
                  <a:lnTo>
                    <a:pt x="234794" y="0"/>
                  </a:lnTo>
                  <a:lnTo>
                    <a:pt x="234794" y="444699"/>
                  </a:lnTo>
                  <a:lnTo>
                    <a:pt x="0" y="444699"/>
                  </a:lnTo>
                  <a:close/>
                </a:path>
              </a:pathLst>
            </a:custGeom>
            <a:ln w="12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1766656" y="4999304"/>
            <a:ext cx="165735" cy="3416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20"/>
              </a:lnSpc>
            </a:pPr>
            <a:r>
              <a:rPr sz="1100" b="1" spc="-20" dirty="0">
                <a:latin typeface="Candara"/>
                <a:cs typeface="Candara"/>
              </a:rPr>
              <a:t>LoRA</a:t>
            </a:r>
            <a:endParaRPr sz="1100">
              <a:latin typeface="Candara"/>
              <a:cs typeface="Candar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2558140" y="4944154"/>
            <a:ext cx="247650" cy="457834"/>
            <a:chOff x="2558140" y="4944154"/>
            <a:chExt cx="247650" cy="457834"/>
          </a:xfrm>
        </p:grpSpPr>
        <p:sp>
          <p:nvSpPr>
            <p:cNvPr id="59" name="object 59"/>
            <p:cNvSpPr/>
            <p:nvPr/>
          </p:nvSpPr>
          <p:spPr>
            <a:xfrm>
              <a:off x="2564490" y="4950503"/>
              <a:ext cx="234950" cy="445134"/>
            </a:xfrm>
            <a:custGeom>
              <a:avLst/>
              <a:gdLst/>
              <a:ahLst/>
              <a:cxnLst/>
              <a:rect l="l" t="t" r="r" b="b"/>
              <a:pathLst>
                <a:path w="234950" h="445135">
                  <a:moveTo>
                    <a:pt x="234793" y="0"/>
                  </a:moveTo>
                  <a:lnTo>
                    <a:pt x="0" y="0"/>
                  </a:lnTo>
                  <a:lnTo>
                    <a:pt x="0" y="444700"/>
                  </a:lnTo>
                  <a:lnTo>
                    <a:pt x="234793" y="444700"/>
                  </a:lnTo>
                  <a:lnTo>
                    <a:pt x="234793" y="0"/>
                  </a:lnTo>
                  <a:close/>
                </a:path>
              </a:pathLst>
            </a:custGeom>
            <a:solidFill>
              <a:srgbClr val="EBA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564490" y="4950504"/>
              <a:ext cx="234950" cy="445134"/>
            </a:xfrm>
            <a:custGeom>
              <a:avLst/>
              <a:gdLst/>
              <a:ahLst/>
              <a:cxnLst/>
              <a:rect l="l" t="t" r="r" b="b"/>
              <a:pathLst>
                <a:path w="234950" h="445135">
                  <a:moveTo>
                    <a:pt x="0" y="444699"/>
                  </a:moveTo>
                  <a:lnTo>
                    <a:pt x="0" y="0"/>
                  </a:lnTo>
                  <a:lnTo>
                    <a:pt x="234794" y="0"/>
                  </a:lnTo>
                  <a:lnTo>
                    <a:pt x="234794" y="444699"/>
                  </a:lnTo>
                  <a:lnTo>
                    <a:pt x="0" y="444699"/>
                  </a:lnTo>
                  <a:close/>
                </a:path>
              </a:pathLst>
            </a:custGeom>
            <a:ln w="12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2611012" y="4996256"/>
            <a:ext cx="165735" cy="3416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20"/>
              </a:lnSpc>
            </a:pPr>
            <a:r>
              <a:rPr sz="1100" b="1" spc="-20" dirty="0">
                <a:latin typeface="Candara"/>
                <a:cs typeface="Candara"/>
              </a:rPr>
              <a:t>LoRA</a:t>
            </a:r>
            <a:endParaRPr sz="1100">
              <a:latin typeface="Candara"/>
              <a:cs typeface="Candar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619441" y="4617882"/>
            <a:ext cx="915035" cy="339090"/>
            <a:chOff x="1619441" y="4617882"/>
            <a:chExt cx="915035" cy="339090"/>
          </a:xfrm>
        </p:grpSpPr>
        <p:pic>
          <p:nvPicPr>
            <p:cNvPr id="63" name="object 6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19441" y="4756865"/>
              <a:ext cx="221277" cy="200113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03261" y="4617882"/>
              <a:ext cx="230869" cy="146649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2162091" y="4309986"/>
            <a:ext cx="363220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mbria Math"/>
                <a:cs typeface="Cambria Math"/>
              </a:rPr>
              <a:t>⨉</a:t>
            </a:r>
            <a:endParaRPr sz="1100">
              <a:latin typeface="Cambria Math"/>
              <a:cs typeface="Cambria Math"/>
            </a:endParaRPr>
          </a:p>
          <a:p>
            <a:pPr marL="184785">
              <a:lnSpc>
                <a:spcPts val="1155"/>
              </a:lnSpc>
              <a:spcBef>
                <a:spcPts val="919"/>
              </a:spcBef>
            </a:pPr>
            <a:r>
              <a:rPr sz="1050" b="1" spc="50" dirty="0">
                <a:latin typeface="Malgun Gothic"/>
                <a:cs typeface="Malgun Gothic"/>
              </a:rPr>
              <a:t>＋</a:t>
            </a:r>
            <a:endParaRPr sz="1050">
              <a:latin typeface="Malgun Gothic"/>
              <a:cs typeface="Malgun Gothic"/>
            </a:endParaRPr>
          </a:p>
          <a:p>
            <a:pPr marL="38100">
              <a:lnSpc>
                <a:spcPts val="1215"/>
              </a:lnSpc>
            </a:pPr>
            <a:r>
              <a:rPr sz="1100" b="1" spc="-25" dirty="0">
                <a:latin typeface="Candara"/>
                <a:cs typeface="Candara"/>
              </a:rPr>
              <a:t>W</a:t>
            </a:r>
            <a:r>
              <a:rPr sz="1050" spc="-37" baseline="-15873" dirty="0">
                <a:latin typeface="Candara"/>
                <a:cs typeface="Candara"/>
              </a:rPr>
              <a:t>k</a:t>
            </a:r>
            <a:endParaRPr sz="1050" baseline="-15873">
              <a:latin typeface="Candara"/>
              <a:cs typeface="Candar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404067" y="1139136"/>
            <a:ext cx="3696970" cy="4574540"/>
            <a:chOff x="404067" y="1139136"/>
            <a:chExt cx="3696970" cy="4574540"/>
          </a:xfrm>
        </p:grpSpPr>
        <p:sp>
          <p:nvSpPr>
            <p:cNvPr id="67" name="object 67"/>
            <p:cNvSpPr/>
            <p:nvPr/>
          </p:nvSpPr>
          <p:spPr>
            <a:xfrm>
              <a:off x="2418697" y="4758761"/>
              <a:ext cx="266065" cy="196215"/>
            </a:xfrm>
            <a:custGeom>
              <a:avLst/>
              <a:gdLst/>
              <a:ahLst/>
              <a:cxnLst/>
              <a:rect l="l" t="t" r="r" b="b"/>
              <a:pathLst>
                <a:path w="266064" h="196214">
                  <a:moveTo>
                    <a:pt x="43872" y="26937"/>
                  </a:moveTo>
                  <a:lnTo>
                    <a:pt x="38286" y="34634"/>
                  </a:lnTo>
                  <a:lnTo>
                    <a:pt x="260398" y="195590"/>
                  </a:lnTo>
                  <a:lnTo>
                    <a:pt x="265983" y="187893"/>
                  </a:lnTo>
                  <a:lnTo>
                    <a:pt x="43872" y="26937"/>
                  </a:lnTo>
                  <a:close/>
                </a:path>
                <a:path w="266064" h="196214">
                  <a:moveTo>
                    <a:pt x="63425" y="0"/>
                  </a:moveTo>
                  <a:lnTo>
                    <a:pt x="0" y="1015"/>
                  </a:lnTo>
                  <a:lnTo>
                    <a:pt x="18735" y="61570"/>
                  </a:lnTo>
                  <a:lnTo>
                    <a:pt x="38286" y="34634"/>
                  </a:lnTo>
                  <a:lnTo>
                    <a:pt x="28016" y="27191"/>
                  </a:lnTo>
                  <a:lnTo>
                    <a:pt x="33602" y="19495"/>
                  </a:lnTo>
                  <a:lnTo>
                    <a:pt x="49274" y="19495"/>
                  </a:lnTo>
                  <a:lnTo>
                    <a:pt x="63425" y="0"/>
                  </a:lnTo>
                  <a:close/>
                </a:path>
                <a:path w="266064" h="196214">
                  <a:moveTo>
                    <a:pt x="33602" y="19495"/>
                  </a:moveTo>
                  <a:lnTo>
                    <a:pt x="28016" y="27191"/>
                  </a:lnTo>
                  <a:lnTo>
                    <a:pt x="38286" y="34634"/>
                  </a:lnTo>
                  <a:lnTo>
                    <a:pt x="43872" y="26937"/>
                  </a:lnTo>
                  <a:lnTo>
                    <a:pt x="33602" y="19495"/>
                  </a:lnTo>
                  <a:close/>
                </a:path>
                <a:path w="266064" h="196214">
                  <a:moveTo>
                    <a:pt x="49274" y="19495"/>
                  </a:moveTo>
                  <a:lnTo>
                    <a:pt x="33602" y="19495"/>
                  </a:lnTo>
                  <a:lnTo>
                    <a:pt x="43872" y="26937"/>
                  </a:lnTo>
                  <a:lnTo>
                    <a:pt x="49274" y="194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08829" y="1143899"/>
              <a:ext cx="3687445" cy="4565015"/>
            </a:xfrm>
            <a:custGeom>
              <a:avLst/>
              <a:gdLst/>
              <a:ahLst/>
              <a:cxnLst/>
              <a:rect l="l" t="t" r="r" b="b"/>
              <a:pathLst>
                <a:path w="3687445" h="4565015">
                  <a:moveTo>
                    <a:pt x="0" y="221735"/>
                  </a:moveTo>
                  <a:lnTo>
                    <a:pt x="4508" y="177048"/>
                  </a:lnTo>
                  <a:lnTo>
                    <a:pt x="17439" y="135426"/>
                  </a:lnTo>
                  <a:lnTo>
                    <a:pt x="37899" y="97761"/>
                  </a:lnTo>
                  <a:lnTo>
                    <a:pt x="64997" y="64944"/>
                  </a:lnTo>
                  <a:lnTo>
                    <a:pt x="97840" y="37868"/>
                  </a:lnTo>
                  <a:lnTo>
                    <a:pt x="135536" y="17425"/>
                  </a:lnTo>
                  <a:lnTo>
                    <a:pt x="177192" y="4504"/>
                  </a:lnTo>
                  <a:lnTo>
                    <a:pt x="221915" y="0"/>
                  </a:lnTo>
                  <a:lnTo>
                    <a:pt x="3465034" y="0"/>
                  </a:lnTo>
                  <a:lnTo>
                    <a:pt x="3509758" y="4504"/>
                  </a:lnTo>
                  <a:lnTo>
                    <a:pt x="3551413" y="17425"/>
                  </a:lnTo>
                  <a:lnTo>
                    <a:pt x="3589109" y="37868"/>
                  </a:lnTo>
                  <a:lnTo>
                    <a:pt x="3621952" y="64944"/>
                  </a:lnTo>
                  <a:lnTo>
                    <a:pt x="3649050" y="97761"/>
                  </a:lnTo>
                  <a:lnTo>
                    <a:pt x="3669510" y="135426"/>
                  </a:lnTo>
                  <a:lnTo>
                    <a:pt x="3682441" y="177048"/>
                  </a:lnTo>
                  <a:lnTo>
                    <a:pt x="3686950" y="221735"/>
                  </a:lnTo>
                  <a:lnTo>
                    <a:pt x="3686950" y="4343177"/>
                  </a:lnTo>
                  <a:lnTo>
                    <a:pt x="3682441" y="4387864"/>
                  </a:lnTo>
                  <a:lnTo>
                    <a:pt x="3669510" y="4429486"/>
                  </a:lnTo>
                  <a:lnTo>
                    <a:pt x="3649050" y="4467151"/>
                  </a:lnTo>
                  <a:lnTo>
                    <a:pt x="3621952" y="4499967"/>
                  </a:lnTo>
                  <a:lnTo>
                    <a:pt x="3589109" y="4527043"/>
                  </a:lnTo>
                  <a:lnTo>
                    <a:pt x="3551413" y="4547487"/>
                  </a:lnTo>
                  <a:lnTo>
                    <a:pt x="3509758" y="4560407"/>
                  </a:lnTo>
                  <a:lnTo>
                    <a:pt x="3465034" y="4564912"/>
                  </a:lnTo>
                  <a:lnTo>
                    <a:pt x="221915" y="4564912"/>
                  </a:lnTo>
                  <a:lnTo>
                    <a:pt x="177192" y="4560407"/>
                  </a:lnTo>
                  <a:lnTo>
                    <a:pt x="135536" y="4547487"/>
                  </a:lnTo>
                  <a:lnTo>
                    <a:pt x="97840" y="4527043"/>
                  </a:lnTo>
                  <a:lnTo>
                    <a:pt x="64997" y="4499967"/>
                  </a:lnTo>
                  <a:lnTo>
                    <a:pt x="37899" y="4467151"/>
                  </a:lnTo>
                  <a:lnTo>
                    <a:pt x="17439" y="4429486"/>
                  </a:lnTo>
                  <a:lnTo>
                    <a:pt x="4508" y="4387864"/>
                  </a:lnTo>
                  <a:lnTo>
                    <a:pt x="0" y="4343177"/>
                  </a:lnTo>
                  <a:lnTo>
                    <a:pt x="0" y="221735"/>
                  </a:lnTo>
                  <a:close/>
                </a:path>
              </a:pathLst>
            </a:custGeom>
            <a:ln w="9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578029" y="3055520"/>
            <a:ext cx="165735" cy="7372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20"/>
              </a:lnSpc>
            </a:pPr>
            <a:r>
              <a:rPr sz="1100" spc="-10" dirty="0">
                <a:latin typeface="Candara"/>
                <a:cs typeface="Candara"/>
              </a:rPr>
              <a:t>transformer</a:t>
            </a:r>
            <a:endParaRPr sz="1100">
              <a:latin typeface="Candara"/>
              <a:cs typeface="Candar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156560" y="375018"/>
            <a:ext cx="1441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latin typeface="Candara"/>
                <a:cs typeface="Candara"/>
              </a:rPr>
              <a:t>X’</a:t>
            </a:r>
            <a:endParaRPr sz="1100">
              <a:latin typeface="Candara"/>
              <a:cs typeface="Candara"/>
            </a:endParaRPr>
          </a:p>
        </p:txBody>
      </p:sp>
      <p:graphicFrame>
        <p:nvGraphicFramePr>
          <p:cNvPr id="71" name="object 71"/>
          <p:cNvGraphicFramePr>
            <a:graphicFrameLocks noGrp="1"/>
          </p:cNvGraphicFramePr>
          <p:nvPr/>
        </p:nvGraphicFramePr>
        <p:xfrm>
          <a:off x="2173115" y="584798"/>
          <a:ext cx="500379" cy="359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9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0B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2" name="object 72"/>
          <p:cNvGrpSpPr/>
          <p:nvPr/>
        </p:nvGrpSpPr>
        <p:grpSpPr>
          <a:xfrm>
            <a:off x="2328777" y="951368"/>
            <a:ext cx="991235" cy="3806190"/>
            <a:chOff x="2328777" y="951368"/>
            <a:chExt cx="991235" cy="3806190"/>
          </a:xfrm>
        </p:grpSpPr>
        <p:sp>
          <p:nvSpPr>
            <p:cNvPr id="73" name="object 73"/>
            <p:cNvSpPr/>
            <p:nvPr/>
          </p:nvSpPr>
          <p:spPr>
            <a:xfrm>
              <a:off x="2328777" y="951368"/>
              <a:ext cx="76200" cy="330835"/>
            </a:xfrm>
            <a:custGeom>
              <a:avLst/>
              <a:gdLst/>
              <a:ahLst/>
              <a:cxnLst/>
              <a:rect l="l" t="t" r="r" b="b"/>
              <a:pathLst>
                <a:path w="76200" h="330834">
                  <a:moveTo>
                    <a:pt x="33302" y="50660"/>
                  </a:moveTo>
                  <a:lnTo>
                    <a:pt x="30793" y="330326"/>
                  </a:lnTo>
                  <a:lnTo>
                    <a:pt x="40308" y="330412"/>
                  </a:lnTo>
                  <a:lnTo>
                    <a:pt x="42816" y="50746"/>
                  </a:lnTo>
                  <a:lnTo>
                    <a:pt x="33302" y="50660"/>
                  </a:lnTo>
                  <a:close/>
                </a:path>
                <a:path w="76200" h="330834">
                  <a:moveTo>
                    <a:pt x="66497" y="37984"/>
                  </a:moveTo>
                  <a:lnTo>
                    <a:pt x="33416" y="37984"/>
                  </a:lnTo>
                  <a:lnTo>
                    <a:pt x="42929" y="38069"/>
                  </a:lnTo>
                  <a:lnTo>
                    <a:pt x="42816" y="50746"/>
                  </a:lnTo>
                  <a:lnTo>
                    <a:pt x="76118" y="51043"/>
                  </a:lnTo>
                  <a:lnTo>
                    <a:pt x="66497" y="37984"/>
                  </a:lnTo>
                  <a:close/>
                </a:path>
                <a:path w="76200" h="330834">
                  <a:moveTo>
                    <a:pt x="33416" y="37984"/>
                  </a:moveTo>
                  <a:lnTo>
                    <a:pt x="33302" y="50660"/>
                  </a:lnTo>
                  <a:lnTo>
                    <a:pt x="42816" y="50746"/>
                  </a:lnTo>
                  <a:lnTo>
                    <a:pt x="42929" y="38069"/>
                  </a:lnTo>
                  <a:lnTo>
                    <a:pt x="33416" y="37984"/>
                  </a:lnTo>
                  <a:close/>
                </a:path>
                <a:path w="76200" h="330834">
                  <a:moveTo>
                    <a:pt x="38514" y="0"/>
                  </a:moveTo>
                  <a:lnTo>
                    <a:pt x="0" y="50363"/>
                  </a:lnTo>
                  <a:lnTo>
                    <a:pt x="33302" y="50660"/>
                  </a:lnTo>
                  <a:lnTo>
                    <a:pt x="33416" y="37984"/>
                  </a:lnTo>
                  <a:lnTo>
                    <a:pt x="66497" y="37984"/>
                  </a:lnTo>
                  <a:lnTo>
                    <a:pt x="385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88943" y="4610895"/>
              <a:ext cx="230869" cy="146649"/>
            </a:xfrm>
            <a:prstGeom prst="rect">
              <a:avLst/>
            </a:prstGeom>
          </p:spPr>
        </p:pic>
      </p:grpSp>
      <p:sp>
        <p:nvSpPr>
          <p:cNvPr id="75" name="object 75"/>
          <p:cNvSpPr txBox="1"/>
          <p:nvPr/>
        </p:nvSpPr>
        <p:spPr>
          <a:xfrm>
            <a:off x="2922110" y="4313034"/>
            <a:ext cx="38925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mbria Math"/>
                <a:cs typeface="Cambria Math"/>
              </a:rPr>
              <a:t>⨉</a:t>
            </a:r>
            <a:endParaRPr sz="1100">
              <a:latin typeface="Cambria Math"/>
              <a:cs typeface="Cambria Math"/>
            </a:endParaRPr>
          </a:p>
          <a:p>
            <a:pPr marL="210820">
              <a:lnSpc>
                <a:spcPts val="1190"/>
              </a:lnSpc>
              <a:spcBef>
                <a:spcPts val="844"/>
              </a:spcBef>
            </a:pPr>
            <a:r>
              <a:rPr sz="1050" b="1" spc="50" dirty="0">
                <a:latin typeface="Malgun Gothic"/>
                <a:cs typeface="Malgun Gothic"/>
              </a:rPr>
              <a:t>＋</a:t>
            </a:r>
            <a:endParaRPr sz="1050">
              <a:latin typeface="Malgun Gothic"/>
              <a:cs typeface="Malgun Gothic"/>
            </a:endParaRPr>
          </a:p>
          <a:p>
            <a:pPr marL="38100">
              <a:lnSpc>
                <a:spcPts val="1250"/>
              </a:lnSpc>
            </a:pPr>
            <a:r>
              <a:rPr sz="1100" b="1" spc="-25" dirty="0">
                <a:latin typeface="Candara"/>
                <a:cs typeface="Candara"/>
              </a:rPr>
              <a:t>W</a:t>
            </a:r>
            <a:r>
              <a:rPr sz="1050" spc="-37" baseline="-15873" dirty="0">
                <a:latin typeface="Candara"/>
                <a:cs typeface="Candara"/>
              </a:rPr>
              <a:t>v</a:t>
            </a:r>
            <a:endParaRPr sz="1050" baseline="-15873">
              <a:latin typeface="Candara"/>
              <a:cs typeface="Candara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8211098" y="3017766"/>
            <a:ext cx="3841115" cy="3549650"/>
          </a:xfrm>
          <a:custGeom>
            <a:avLst/>
            <a:gdLst/>
            <a:ahLst/>
            <a:cxnLst/>
            <a:rect l="l" t="t" r="r" b="b"/>
            <a:pathLst>
              <a:path w="3841115" h="3549650">
                <a:moveTo>
                  <a:pt x="0" y="213621"/>
                </a:moveTo>
                <a:lnTo>
                  <a:pt x="5646" y="164639"/>
                </a:lnTo>
                <a:lnTo>
                  <a:pt x="21730" y="119676"/>
                </a:lnTo>
                <a:lnTo>
                  <a:pt x="46968" y="80012"/>
                </a:lnTo>
                <a:lnTo>
                  <a:pt x="80076" y="46930"/>
                </a:lnTo>
                <a:lnTo>
                  <a:pt x="119773" y="21712"/>
                </a:lnTo>
                <a:lnTo>
                  <a:pt x="164773" y="5641"/>
                </a:lnTo>
                <a:lnTo>
                  <a:pt x="213794" y="0"/>
                </a:lnTo>
                <a:lnTo>
                  <a:pt x="3626719" y="0"/>
                </a:lnTo>
                <a:lnTo>
                  <a:pt x="3675741" y="5641"/>
                </a:lnTo>
                <a:lnTo>
                  <a:pt x="3720741" y="21712"/>
                </a:lnTo>
                <a:lnTo>
                  <a:pt x="3760437" y="46930"/>
                </a:lnTo>
                <a:lnTo>
                  <a:pt x="3793546" y="80012"/>
                </a:lnTo>
                <a:lnTo>
                  <a:pt x="3818784" y="119676"/>
                </a:lnTo>
                <a:lnTo>
                  <a:pt x="3834868" y="164639"/>
                </a:lnTo>
                <a:lnTo>
                  <a:pt x="3840514" y="213621"/>
                </a:lnTo>
                <a:lnTo>
                  <a:pt x="3840514" y="3335523"/>
                </a:lnTo>
                <a:lnTo>
                  <a:pt x="3834868" y="3384505"/>
                </a:lnTo>
                <a:lnTo>
                  <a:pt x="3818784" y="3429469"/>
                </a:lnTo>
                <a:lnTo>
                  <a:pt x="3793546" y="3469133"/>
                </a:lnTo>
                <a:lnTo>
                  <a:pt x="3760437" y="3502215"/>
                </a:lnTo>
                <a:lnTo>
                  <a:pt x="3720741" y="3527432"/>
                </a:lnTo>
                <a:lnTo>
                  <a:pt x="3675741" y="3543503"/>
                </a:lnTo>
                <a:lnTo>
                  <a:pt x="3626719" y="3549145"/>
                </a:lnTo>
                <a:lnTo>
                  <a:pt x="213794" y="3549145"/>
                </a:lnTo>
                <a:lnTo>
                  <a:pt x="164773" y="3543503"/>
                </a:lnTo>
                <a:lnTo>
                  <a:pt x="119773" y="3527432"/>
                </a:lnTo>
                <a:lnTo>
                  <a:pt x="80076" y="3502215"/>
                </a:lnTo>
                <a:lnTo>
                  <a:pt x="46968" y="3469133"/>
                </a:lnTo>
                <a:lnTo>
                  <a:pt x="21730" y="3429469"/>
                </a:lnTo>
                <a:lnTo>
                  <a:pt x="5646" y="3384505"/>
                </a:lnTo>
                <a:lnTo>
                  <a:pt x="0" y="3335523"/>
                </a:lnTo>
                <a:lnTo>
                  <a:pt x="0" y="213621"/>
                </a:lnTo>
                <a:close/>
              </a:path>
            </a:pathLst>
          </a:custGeom>
          <a:ln w="95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9276524" y="5625291"/>
            <a:ext cx="1568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Candara"/>
                <a:cs typeface="Candara"/>
              </a:rPr>
              <a:t>x</a:t>
            </a:r>
            <a:endParaRPr sz="2000">
              <a:latin typeface="Candara"/>
              <a:cs typeface="Candar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9526733" y="5751424"/>
            <a:ext cx="1534795" cy="136525"/>
            <a:chOff x="9526733" y="5751424"/>
            <a:chExt cx="1534795" cy="136525"/>
          </a:xfrm>
        </p:grpSpPr>
        <p:sp>
          <p:nvSpPr>
            <p:cNvPr id="79" name="object 79"/>
            <p:cNvSpPr/>
            <p:nvPr/>
          </p:nvSpPr>
          <p:spPr>
            <a:xfrm>
              <a:off x="9533083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9533083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9658378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9658378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9783673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9783673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9909393" y="576122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9909393" y="576122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0034900" y="57577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4" y="120224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0034900" y="57577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0160195" y="57577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0160195" y="57577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0285490" y="57577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4" y="120224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0285490" y="5757774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0411209" y="5758219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5" y="120225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0411209" y="5758219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0553054" y="576033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0553054" y="576033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0678350" y="576033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4" y="120224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0678350" y="576033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0803643" y="576033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0803643" y="5760330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0929364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4" y="120224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0929364" y="5760775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9482381" y="3607515"/>
            <a:ext cx="1358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Candara"/>
                <a:cs typeface="Candara"/>
              </a:rPr>
              <a:t>z</a:t>
            </a:r>
            <a:endParaRPr sz="2000">
              <a:latin typeface="Candara"/>
              <a:cs typeface="Candara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8326407" y="3730556"/>
            <a:ext cx="2422525" cy="1576705"/>
            <a:chOff x="8326407" y="3730556"/>
            <a:chExt cx="2422525" cy="1576705"/>
          </a:xfrm>
        </p:grpSpPr>
        <p:sp>
          <p:nvSpPr>
            <p:cNvPr id="105" name="object 105"/>
            <p:cNvSpPr/>
            <p:nvPr/>
          </p:nvSpPr>
          <p:spPr>
            <a:xfrm>
              <a:off x="9738940" y="3739908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9738940" y="3739908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9864236" y="3739908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4" y="120224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9864236" y="3739908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9989530" y="3739908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9989530" y="3739908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0115250" y="3740353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4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4" y="120225"/>
                  </a:lnTo>
                  <a:lnTo>
                    <a:pt x="125294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0115250" y="3740353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0240757" y="3736906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5" y="120225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0240757" y="3736906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0366052" y="3736906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5" y="120225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0366052" y="3736906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0491347" y="3736906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5"/>
                  </a:lnTo>
                  <a:lnTo>
                    <a:pt x="125295" y="120225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0491347" y="3736906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0617066" y="3737352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125295" y="0"/>
                  </a:moveTo>
                  <a:lnTo>
                    <a:pt x="0" y="0"/>
                  </a:lnTo>
                  <a:lnTo>
                    <a:pt x="0" y="120224"/>
                  </a:lnTo>
                  <a:lnTo>
                    <a:pt x="125295" y="120224"/>
                  </a:lnTo>
                  <a:lnTo>
                    <a:pt x="125295" y="0"/>
                  </a:lnTo>
                  <a:close/>
                </a:path>
              </a:pathLst>
            </a:custGeom>
            <a:solidFill>
              <a:srgbClr val="B0BA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0617066" y="3737352"/>
              <a:ext cx="125730" cy="120650"/>
            </a:xfrm>
            <a:custGeom>
              <a:avLst/>
              <a:gdLst/>
              <a:ahLst/>
              <a:cxnLst/>
              <a:rect l="l" t="t" r="r" b="b"/>
              <a:pathLst>
                <a:path w="125729" h="120650">
                  <a:moveTo>
                    <a:pt x="0" y="0"/>
                  </a:moveTo>
                  <a:lnTo>
                    <a:pt x="125295" y="0"/>
                  </a:lnTo>
                  <a:lnTo>
                    <a:pt x="125295" y="120224"/>
                  </a:lnTo>
                  <a:lnTo>
                    <a:pt x="0" y="120224"/>
                  </a:lnTo>
                  <a:lnTo>
                    <a:pt x="0" y="0"/>
                  </a:lnTo>
                  <a:close/>
                </a:path>
              </a:pathLst>
            </a:custGeom>
            <a:ln w="12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8331169" y="4170083"/>
              <a:ext cx="1528445" cy="1132840"/>
            </a:xfrm>
            <a:custGeom>
              <a:avLst/>
              <a:gdLst/>
              <a:ahLst/>
              <a:cxnLst/>
              <a:rect l="l" t="t" r="r" b="b"/>
              <a:pathLst>
                <a:path w="1528445" h="1132839">
                  <a:moveTo>
                    <a:pt x="1274579" y="0"/>
                  </a:moveTo>
                  <a:lnTo>
                    <a:pt x="253837" y="0"/>
                  </a:lnTo>
                  <a:lnTo>
                    <a:pt x="0" y="1132283"/>
                  </a:lnTo>
                  <a:lnTo>
                    <a:pt x="1528415" y="1132283"/>
                  </a:lnTo>
                  <a:lnTo>
                    <a:pt x="1274579" y="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8331169" y="4170083"/>
              <a:ext cx="1528445" cy="1132840"/>
            </a:xfrm>
            <a:custGeom>
              <a:avLst/>
              <a:gdLst/>
              <a:ahLst/>
              <a:cxnLst/>
              <a:rect l="l" t="t" r="r" b="b"/>
              <a:pathLst>
                <a:path w="1528445" h="1132839">
                  <a:moveTo>
                    <a:pt x="0" y="1132283"/>
                  </a:moveTo>
                  <a:lnTo>
                    <a:pt x="253836" y="0"/>
                  </a:lnTo>
                  <a:lnTo>
                    <a:pt x="1274578" y="0"/>
                  </a:lnTo>
                  <a:lnTo>
                    <a:pt x="1528416" y="1132283"/>
                  </a:lnTo>
                  <a:lnTo>
                    <a:pt x="0" y="1132283"/>
                  </a:lnTo>
                  <a:close/>
                </a:path>
              </a:pathLst>
            </a:custGeom>
            <a:ln w="95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8910586" y="4632638"/>
            <a:ext cx="36957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b="1" spc="-25" dirty="0">
                <a:latin typeface="Candara"/>
                <a:cs typeface="Candara"/>
              </a:rPr>
              <a:t>W</a:t>
            </a:r>
            <a:r>
              <a:rPr sz="1800" spc="-37" baseline="-13888" dirty="0">
                <a:latin typeface="Candara"/>
                <a:cs typeface="Candara"/>
              </a:rPr>
              <a:t>0</a:t>
            </a:r>
            <a:endParaRPr sz="1800" baseline="-13888">
              <a:latin typeface="Candara"/>
              <a:cs typeface="Candara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9094184" y="3833045"/>
            <a:ext cx="2903855" cy="1929130"/>
            <a:chOff x="9094184" y="3833045"/>
            <a:chExt cx="2903855" cy="1929130"/>
          </a:xfrm>
        </p:grpSpPr>
        <p:sp>
          <p:nvSpPr>
            <p:cNvPr id="125" name="object 125"/>
            <p:cNvSpPr/>
            <p:nvPr/>
          </p:nvSpPr>
          <p:spPr>
            <a:xfrm>
              <a:off x="10659925" y="4867313"/>
              <a:ext cx="1333500" cy="430530"/>
            </a:xfrm>
            <a:custGeom>
              <a:avLst/>
              <a:gdLst/>
              <a:ahLst/>
              <a:cxnLst/>
              <a:rect l="l" t="t" r="r" b="b"/>
              <a:pathLst>
                <a:path w="1333500" h="430529">
                  <a:moveTo>
                    <a:pt x="842584" y="0"/>
                  </a:moveTo>
                  <a:lnTo>
                    <a:pt x="490625" y="0"/>
                  </a:lnTo>
                  <a:lnTo>
                    <a:pt x="0" y="429919"/>
                  </a:lnTo>
                  <a:lnTo>
                    <a:pt x="1333207" y="429919"/>
                  </a:lnTo>
                  <a:lnTo>
                    <a:pt x="84258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10659925" y="4867313"/>
              <a:ext cx="1333500" cy="430530"/>
            </a:xfrm>
            <a:custGeom>
              <a:avLst/>
              <a:gdLst/>
              <a:ahLst/>
              <a:cxnLst/>
              <a:rect l="l" t="t" r="r" b="b"/>
              <a:pathLst>
                <a:path w="1333500" h="430529">
                  <a:moveTo>
                    <a:pt x="0" y="429919"/>
                  </a:moveTo>
                  <a:lnTo>
                    <a:pt x="490624" y="0"/>
                  </a:lnTo>
                  <a:lnTo>
                    <a:pt x="842583" y="0"/>
                  </a:lnTo>
                  <a:lnTo>
                    <a:pt x="1333207" y="429919"/>
                  </a:lnTo>
                  <a:lnTo>
                    <a:pt x="0" y="429919"/>
                  </a:lnTo>
                  <a:close/>
                </a:path>
              </a:pathLst>
            </a:custGeom>
            <a:ln w="9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0646492" y="4163720"/>
              <a:ext cx="1333500" cy="430530"/>
            </a:xfrm>
            <a:custGeom>
              <a:avLst/>
              <a:gdLst/>
              <a:ahLst/>
              <a:cxnLst/>
              <a:rect l="l" t="t" r="r" b="b"/>
              <a:pathLst>
                <a:path w="1333500" h="430529">
                  <a:moveTo>
                    <a:pt x="1333207" y="0"/>
                  </a:moveTo>
                  <a:lnTo>
                    <a:pt x="0" y="0"/>
                  </a:lnTo>
                  <a:lnTo>
                    <a:pt x="490623" y="429920"/>
                  </a:lnTo>
                  <a:lnTo>
                    <a:pt x="842582" y="429920"/>
                  </a:lnTo>
                  <a:lnTo>
                    <a:pt x="133320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0646492" y="4163721"/>
              <a:ext cx="1333500" cy="430530"/>
            </a:xfrm>
            <a:custGeom>
              <a:avLst/>
              <a:gdLst/>
              <a:ahLst/>
              <a:cxnLst/>
              <a:rect l="l" t="t" r="r" b="b"/>
              <a:pathLst>
                <a:path w="1333500" h="430529">
                  <a:moveTo>
                    <a:pt x="1333207" y="0"/>
                  </a:moveTo>
                  <a:lnTo>
                    <a:pt x="842583" y="429919"/>
                  </a:lnTo>
                  <a:lnTo>
                    <a:pt x="490624" y="429919"/>
                  </a:lnTo>
                  <a:lnTo>
                    <a:pt x="0" y="0"/>
                  </a:lnTo>
                  <a:lnTo>
                    <a:pt x="1333207" y="0"/>
                  </a:lnTo>
                  <a:close/>
                </a:path>
              </a:pathLst>
            </a:custGeom>
            <a:ln w="9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9094178" y="3833050"/>
              <a:ext cx="2259965" cy="1929764"/>
            </a:xfrm>
            <a:custGeom>
              <a:avLst/>
              <a:gdLst/>
              <a:ahLst/>
              <a:cxnLst/>
              <a:rect l="l" t="t" r="r" b="b"/>
              <a:pathLst>
                <a:path w="2259965" h="1929764">
                  <a:moveTo>
                    <a:pt x="1130439" y="1920328"/>
                  </a:moveTo>
                  <a:lnTo>
                    <a:pt x="50025" y="1483918"/>
                  </a:lnTo>
                  <a:lnTo>
                    <a:pt x="51943" y="1479169"/>
                  </a:lnTo>
                  <a:lnTo>
                    <a:pt x="62509" y="1453070"/>
                  </a:lnTo>
                  <a:lnTo>
                    <a:pt x="1193" y="1469326"/>
                  </a:lnTo>
                  <a:lnTo>
                    <a:pt x="33972" y="1523580"/>
                  </a:lnTo>
                  <a:lnTo>
                    <a:pt x="46456" y="1492732"/>
                  </a:lnTo>
                  <a:lnTo>
                    <a:pt x="1126871" y="1929142"/>
                  </a:lnTo>
                  <a:lnTo>
                    <a:pt x="1130439" y="1920328"/>
                  </a:lnTo>
                  <a:close/>
                </a:path>
                <a:path w="2259965" h="1929764">
                  <a:moveTo>
                    <a:pt x="1209217" y="24091"/>
                  </a:moveTo>
                  <a:lnTo>
                    <a:pt x="1150543" y="0"/>
                  </a:lnTo>
                  <a:lnTo>
                    <a:pt x="1158900" y="32207"/>
                  </a:lnTo>
                  <a:lnTo>
                    <a:pt x="0" y="332435"/>
                  </a:lnTo>
                  <a:lnTo>
                    <a:pt x="2387" y="341642"/>
                  </a:lnTo>
                  <a:lnTo>
                    <a:pt x="1161288" y="41414"/>
                  </a:lnTo>
                  <a:lnTo>
                    <a:pt x="1169644" y="73621"/>
                  </a:lnTo>
                  <a:lnTo>
                    <a:pt x="1205268" y="29032"/>
                  </a:lnTo>
                  <a:lnTo>
                    <a:pt x="1209217" y="24091"/>
                  </a:lnTo>
                  <a:close/>
                </a:path>
                <a:path w="2259965" h="1929764">
                  <a:moveTo>
                    <a:pt x="2220353" y="339229"/>
                  </a:moveTo>
                  <a:lnTo>
                    <a:pt x="1259039" y="34874"/>
                  </a:lnTo>
                  <a:lnTo>
                    <a:pt x="1260246" y="31038"/>
                  </a:lnTo>
                  <a:lnTo>
                    <a:pt x="1269098" y="3149"/>
                  </a:lnTo>
                  <a:lnTo>
                    <a:pt x="1209217" y="24091"/>
                  </a:lnTo>
                  <a:lnTo>
                    <a:pt x="1246098" y="75653"/>
                  </a:lnTo>
                  <a:lnTo>
                    <a:pt x="1256157" y="43942"/>
                  </a:lnTo>
                  <a:lnTo>
                    <a:pt x="2217470" y="348297"/>
                  </a:lnTo>
                  <a:lnTo>
                    <a:pt x="2220353" y="339229"/>
                  </a:lnTo>
                  <a:close/>
                </a:path>
                <a:path w="2259965" h="1929764">
                  <a:moveTo>
                    <a:pt x="2232342" y="1464183"/>
                  </a:moveTo>
                  <a:lnTo>
                    <a:pt x="2170214" y="1451394"/>
                  </a:lnTo>
                  <a:lnTo>
                    <a:pt x="2184412" y="1481493"/>
                  </a:lnTo>
                  <a:lnTo>
                    <a:pt x="1251927" y="1920430"/>
                  </a:lnTo>
                  <a:lnTo>
                    <a:pt x="1255979" y="1929028"/>
                  </a:lnTo>
                  <a:lnTo>
                    <a:pt x="2188464" y="1490103"/>
                  </a:lnTo>
                  <a:lnTo>
                    <a:pt x="2202662" y="1520202"/>
                  </a:lnTo>
                  <a:lnTo>
                    <a:pt x="2226030" y="1476095"/>
                  </a:lnTo>
                  <a:lnTo>
                    <a:pt x="2232342" y="1464183"/>
                  </a:lnTo>
                  <a:close/>
                </a:path>
                <a:path w="2259965" h="1929764">
                  <a:moveTo>
                    <a:pt x="2259419" y="809383"/>
                  </a:moveTo>
                  <a:lnTo>
                    <a:pt x="2250249" y="798347"/>
                  </a:lnTo>
                  <a:lnTo>
                    <a:pt x="2218918" y="760590"/>
                  </a:lnTo>
                  <a:lnTo>
                    <a:pt x="2183384" y="813104"/>
                  </a:lnTo>
                  <a:lnTo>
                    <a:pt x="2216645" y="811479"/>
                  </a:lnTo>
                  <a:lnTo>
                    <a:pt x="2227592" y="1034503"/>
                  </a:lnTo>
                  <a:lnTo>
                    <a:pt x="2237092" y="1034034"/>
                  </a:lnTo>
                  <a:lnTo>
                    <a:pt x="2226145" y="811009"/>
                  </a:lnTo>
                  <a:lnTo>
                    <a:pt x="2259419" y="8093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0" name="object 130"/>
          <p:cNvSpPr txBox="1"/>
          <p:nvPr/>
        </p:nvSpPr>
        <p:spPr>
          <a:xfrm>
            <a:off x="8875330" y="4224144"/>
            <a:ext cx="4222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ndara"/>
                <a:cs typeface="Candara"/>
              </a:rPr>
              <a:t>Linear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10833931" y="4196130"/>
            <a:ext cx="560705" cy="370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94"/>
              </a:lnSpc>
              <a:spcBef>
                <a:spcPts val="100"/>
              </a:spcBef>
            </a:pPr>
            <a:r>
              <a:rPr sz="1200" spc="-10" dirty="0">
                <a:latin typeface="Candara"/>
                <a:cs typeface="Candara"/>
              </a:rPr>
              <a:t>Linear</a:t>
            </a:r>
            <a:endParaRPr sz="1200" dirty="0">
              <a:latin typeface="Candara"/>
              <a:cs typeface="Candara"/>
            </a:endParaRPr>
          </a:p>
          <a:p>
            <a:pPr marR="5080" algn="r">
              <a:lnSpc>
                <a:spcPts val="1714"/>
              </a:lnSpc>
            </a:pPr>
            <a:r>
              <a:rPr sz="1800" b="1" dirty="0">
                <a:latin typeface="Candara"/>
                <a:cs typeface="Candara"/>
              </a:rPr>
              <a:t>B</a:t>
            </a:r>
            <a:endParaRPr sz="1800" dirty="0">
              <a:latin typeface="Candara"/>
              <a:cs typeface="Candara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10786853" y="5010590"/>
            <a:ext cx="64960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Candara"/>
                <a:cs typeface="Candara"/>
              </a:rPr>
              <a:t>Linear</a:t>
            </a:r>
            <a:r>
              <a:rPr sz="1200" spc="-25" dirty="0">
                <a:latin typeface="Candara"/>
                <a:cs typeface="Candara"/>
              </a:rPr>
              <a:t> </a:t>
            </a:r>
            <a:r>
              <a:rPr sz="2700" b="1" spc="-75" baseline="10802" dirty="0">
                <a:latin typeface="Candara"/>
                <a:cs typeface="Candara"/>
              </a:rPr>
              <a:t>A</a:t>
            </a:r>
            <a:endParaRPr sz="2700" baseline="10802">
              <a:latin typeface="Candara"/>
              <a:cs typeface="Candara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9526957" y="5929221"/>
            <a:ext cx="1548765" cy="302895"/>
            <a:chOff x="9526957" y="5929221"/>
            <a:chExt cx="1548765" cy="302895"/>
          </a:xfrm>
        </p:grpSpPr>
        <p:sp>
          <p:nvSpPr>
            <p:cNvPr id="134" name="object 134"/>
            <p:cNvSpPr/>
            <p:nvPr/>
          </p:nvSpPr>
          <p:spPr>
            <a:xfrm>
              <a:off x="10301095" y="6062144"/>
              <a:ext cx="127000" cy="157480"/>
            </a:xfrm>
            <a:custGeom>
              <a:avLst/>
              <a:gdLst/>
              <a:ahLst/>
              <a:cxnLst/>
              <a:rect l="l" t="t" r="r" b="b"/>
              <a:pathLst>
                <a:path w="127000" h="157479">
                  <a:moveTo>
                    <a:pt x="0" y="0"/>
                  </a:moveTo>
                  <a:lnTo>
                    <a:pt x="126656" y="157194"/>
                  </a:lnTo>
                </a:path>
              </a:pathLst>
            </a:custGeom>
            <a:ln w="25365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9539657" y="5941921"/>
              <a:ext cx="1523365" cy="120650"/>
            </a:xfrm>
            <a:custGeom>
              <a:avLst/>
              <a:gdLst/>
              <a:ahLst/>
              <a:cxnLst/>
              <a:rect l="l" t="t" r="r" b="b"/>
              <a:pathLst>
                <a:path w="1523365" h="120650">
                  <a:moveTo>
                    <a:pt x="0" y="0"/>
                  </a:moveTo>
                  <a:lnTo>
                    <a:pt x="787" y="46796"/>
                  </a:lnTo>
                  <a:lnTo>
                    <a:pt x="2936" y="85011"/>
                  </a:lnTo>
                  <a:lnTo>
                    <a:pt x="6123" y="110776"/>
                  </a:lnTo>
                  <a:lnTo>
                    <a:pt x="10025" y="120223"/>
                  </a:lnTo>
                  <a:lnTo>
                    <a:pt x="1512850" y="120223"/>
                  </a:lnTo>
                  <a:lnTo>
                    <a:pt x="1516753" y="110776"/>
                  </a:lnTo>
                  <a:lnTo>
                    <a:pt x="1519940" y="85011"/>
                  </a:lnTo>
                  <a:lnTo>
                    <a:pt x="1522088" y="46796"/>
                  </a:lnTo>
                  <a:lnTo>
                    <a:pt x="1522876" y="0"/>
                  </a:lnTo>
                </a:path>
              </a:pathLst>
            </a:custGeom>
            <a:ln w="25373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6" name="object 136"/>
          <p:cNvSpPr txBox="1"/>
          <p:nvPr/>
        </p:nvSpPr>
        <p:spPr>
          <a:xfrm>
            <a:off x="9378066" y="3097441"/>
            <a:ext cx="1508125" cy="47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95"/>
              </a:spcBef>
            </a:pPr>
            <a:r>
              <a:rPr sz="1600" dirty="0">
                <a:latin typeface="Candara"/>
                <a:cs typeface="Candara"/>
              </a:rPr>
              <a:t>LoRA Linea</a:t>
            </a:r>
            <a:r>
              <a:rPr sz="1600" spc="5" dirty="0">
                <a:latin typeface="Candara"/>
                <a:cs typeface="Candara"/>
              </a:rPr>
              <a:t> </a:t>
            </a:r>
            <a:r>
              <a:rPr sz="1600" spc="-10" dirty="0">
                <a:latin typeface="Candara"/>
                <a:cs typeface="Candara"/>
              </a:rPr>
              <a:t>Layer</a:t>
            </a:r>
            <a:endParaRPr sz="1600">
              <a:latin typeface="Candara"/>
              <a:cs typeface="Candara"/>
            </a:endParaRPr>
          </a:p>
          <a:p>
            <a:pPr marL="1002665">
              <a:lnSpc>
                <a:spcPts val="1880"/>
              </a:lnSpc>
            </a:pPr>
            <a:r>
              <a:rPr sz="1800" dirty="0">
                <a:solidFill>
                  <a:srgbClr val="0432FF"/>
                </a:solidFill>
                <a:latin typeface="Candara"/>
                <a:cs typeface="Candara"/>
              </a:rPr>
              <a:t>d</a:t>
            </a:r>
            <a:endParaRPr sz="1800">
              <a:latin typeface="Candara"/>
              <a:cs typeface="Candara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9726263" y="3422719"/>
            <a:ext cx="1988820" cy="1426845"/>
            <a:chOff x="9726263" y="3422719"/>
            <a:chExt cx="1988820" cy="1426845"/>
          </a:xfrm>
        </p:grpSpPr>
        <p:sp>
          <p:nvSpPr>
            <p:cNvPr id="138" name="object 138"/>
            <p:cNvSpPr/>
            <p:nvPr/>
          </p:nvSpPr>
          <p:spPr>
            <a:xfrm>
              <a:off x="10243827" y="3435405"/>
              <a:ext cx="46355" cy="201930"/>
            </a:xfrm>
            <a:custGeom>
              <a:avLst/>
              <a:gdLst/>
              <a:ahLst/>
              <a:cxnLst/>
              <a:rect l="l" t="t" r="r" b="b"/>
              <a:pathLst>
                <a:path w="46354" h="201929">
                  <a:moveTo>
                    <a:pt x="0" y="201875"/>
                  </a:moveTo>
                  <a:lnTo>
                    <a:pt x="45806" y="0"/>
                  </a:lnTo>
                </a:path>
              </a:pathLst>
            </a:custGeom>
            <a:ln w="25372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9738940" y="3637281"/>
              <a:ext cx="1010285" cy="45720"/>
            </a:xfrm>
            <a:custGeom>
              <a:avLst/>
              <a:gdLst/>
              <a:ahLst/>
              <a:cxnLst/>
              <a:rect l="l" t="t" r="r" b="b"/>
              <a:pathLst>
                <a:path w="1010284" h="45720">
                  <a:moveTo>
                    <a:pt x="0" y="45634"/>
                  </a:moveTo>
                  <a:lnTo>
                    <a:pt x="299" y="27871"/>
                  </a:lnTo>
                  <a:lnTo>
                    <a:pt x="1114" y="13365"/>
                  </a:lnTo>
                  <a:lnTo>
                    <a:pt x="2324" y="3586"/>
                  </a:lnTo>
                  <a:lnTo>
                    <a:pt x="3805" y="0"/>
                  </a:lnTo>
                  <a:lnTo>
                    <a:pt x="1005969" y="0"/>
                  </a:lnTo>
                  <a:lnTo>
                    <a:pt x="1007450" y="3586"/>
                  </a:lnTo>
                  <a:lnTo>
                    <a:pt x="1008660" y="13365"/>
                  </a:lnTo>
                  <a:lnTo>
                    <a:pt x="1009475" y="27871"/>
                  </a:lnTo>
                  <a:lnTo>
                    <a:pt x="1009774" y="45634"/>
                  </a:lnTo>
                </a:path>
              </a:pathLst>
            </a:custGeom>
            <a:ln w="25373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1341654" y="4588817"/>
              <a:ext cx="360680" cy="201930"/>
            </a:xfrm>
            <a:custGeom>
              <a:avLst/>
              <a:gdLst/>
              <a:ahLst/>
              <a:cxnLst/>
              <a:rect l="l" t="t" r="r" b="b"/>
              <a:pathLst>
                <a:path w="360679" h="201929">
                  <a:moveTo>
                    <a:pt x="0" y="201875"/>
                  </a:moveTo>
                  <a:lnTo>
                    <a:pt x="360257" y="0"/>
                  </a:lnTo>
                </a:path>
              </a:pathLst>
            </a:custGeom>
            <a:ln w="25357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1151216" y="4790692"/>
              <a:ext cx="381000" cy="45720"/>
            </a:xfrm>
            <a:custGeom>
              <a:avLst/>
              <a:gdLst/>
              <a:ahLst/>
              <a:cxnLst/>
              <a:rect l="l" t="t" r="r" b="b"/>
              <a:pathLst>
                <a:path w="381000" h="45720">
                  <a:moveTo>
                    <a:pt x="0" y="45634"/>
                  </a:moveTo>
                  <a:lnTo>
                    <a:pt x="299" y="27871"/>
                  </a:lnTo>
                  <a:lnTo>
                    <a:pt x="1114" y="13365"/>
                  </a:lnTo>
                  <a:lnTo>
                    <a:pt x="2324" y="3586"/>
                  </a:lnTo>
                  <a:lnTo>
                    <a:pt x="3805" y="0"/>
                  </a:lnTo>
                  <a:lnTo>
                    <a:pt x="377067" y="0"/>
                  </a:lnTo>
                  <a:lnTo>
                    <a:pt x="378549" y="3586"/>
                  </a:lnTo>
                  <a:lnTo>
                    <a:pt x="379759" y="13365"/>
                  </a:lnTo>
                  <a:lnTo>
                    <a:pt x="380574" y="27871"/>
                  </a:lnTo>
                  <a:lnTo>
                    <a:pt x="380873" y="45634"/>
                  </a:lnTo>
                </a:path>
              </a:pathLst>
            </a:custGeom>
            <a:ln w="25373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2" name="object 142"/>
          <p:cNvSpPr txBox="1"/>
          <p:nvPr/>
        </p:nvSpPr>
        <p:spPr>
          <a:xfrm>
            <a:off x="11780555" y="4422326"/>
            <a:ext cx="10668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solidFill>
                  <a:srgbClr val="0432FF"/>
                </a:solidFill>
                <a:latin typeface="Candara"/>
                <a:cs typeface="Candara"/>
              </a:rPr>
              <a:t>r</a:t>
            </a:r>
            <a:endParaRPr sz="1800">
              <a:latin typeface="Candara"/>
              <a:cs typeface="Candara"/>
            </a:endParaRPr>
          </a:p>
        </p:txBody>
      </p:sp>
      <p:grpSp>
        <p:nvGrpSpPr>
          <p:cNvPr id="143" name="object 143"/>
          <p:cNvGrpSpPr/>
          <p:nvPr/>
        </p:nvGrpSpPr>
        <p:grpSpPr>
          <a:xfrm>
            <a:off x="3298720" y="4943023"/>
            <a:ext cx="247650" cy="457834"/>
            <a:chOff x="3298720" y="4943023"/>
            <a:chExt cx="247650" cy="457834"/>
          </a:xfrm>
        </p:grpSpPr>
        <p:sp>
          <p:nvSpPr>
            <p:cNvPr id="144" name="object 144"/>
            <p:cNvSpPr/>
            <p:nvPr/>
          </p:nvSpPr>
          <p:spPr>
            <a:xfrm>
              <a:off x="3305070" y="4949372"/>
              <a:ext cx="234950" cy="445134"/>
            </a:xfrm>
            <a:custGeom>
              <a:avLst/>
              <a:gdLst/>
              <a:ahLst/>
              <a:cxnLst/>
              <a:rect l="l" t="t" r="r" b="b"/>
              <a:pathLst>
                <a:path w="234950" h="445135">
                  <a:moveTo>
                    <a:pt x="234795" y="0"/>
                  </a:moveTo>
                  <a:lnTo>
                    <a:pt x="0" y="0"/>
                  </a:lnTo>
                  <a:lnTo>
                    <a:pt x="0" y="444700"/>
                  </a:lnTo>
                  <a:lnTo>
                    <a:pt x="234795" y="444700"/>
                  </a:lnTo>
                  <a:lnTo>
                    <a:pt x="234795" y="0"/>
                  </a:lnTo>
                  <a:close/>
                </a:path>
              </a:pathLst>
            </a:custGeom>
            <a:solidFill>
              <a:srgbClr val="EBA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305070" y="4949373"/>
              <a:ext cx="234950" cy="445134"/>
            </a:xfrm>
            <a:custGeom>
              <a:avLst/>
              <a:gdLst/>
              <a:ahLst/>
              <a:cxnLst/>
              <a:rect l="l" t="t" r="r" b="b"/>
              <a:pathLst>
                <a:path w="234950" h="445135">
                  <a:moveTo>
                    <a:pt x="0" y="444699"/>
                  </a:moveTo>
                  <a:lnTo>
                    <a:pt x="0" y="0"/>
                  </a:lnTo>
                  <a:lnTo>
                    <a:pt x="234794" y="0"/>
                  </a:lnTo>
                  <a:lnTo>
                    <a:pt x="234794" y="444699"/>
                  </a:lnTo>
                  <a:lnTo>
                    <a:pt x="0" y="444699"/>
                  </a:lnTo>
                  <a:close/>
                </a:path>
              </a:pathLst>
            </a:custGeom>
            <a:ln w="12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6" name="object 146"/>
          <p:cNvSpPr txBox="1"/>
          <p:nvPr/>
        </p:nvSpPr>
        <p:spPr>
          <a:xfrm>
            <a:off x="3351593" y="4996256"/>
            <a:ext cx="165735" cy="3416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20"/>
              </a:lnSpc>
            </a:pPr>
            <a:r>
              <a:rPr sz="1100" b="1" spc="-20" dirty="0">
                <a:latin typeface="Candara"/>
                <a:cs typeface="Candara"/>
              </a:rPr>
              <a:t>LoRA</a:t>
            </a:r>
            <a:endParaRPr sz="1100">
              <a:latin typeface="Candara"/>
              <a:cs typeface="Candara"/>
            </a:endParaRPr>
          </a:p>
        </p:txBody>
      </p:sp>
      <p:pic>
        <p:nvPicPr>
          <p:cNvPr id="147" name="object 14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204378" y="4752789"/>
            <a:ext cx="221277" cy="200113"/>
          </a:xfrm>
          <a:prstGeom prst="rect">
            <a:avLst/>
          </a:prstGeom>
        </p:spPr>
      </p:pic>
      <p:sp>
        <p:nvSpPr>
          <p:cNvPr id="148" name="object 148"/>
          <p:cNvSpPr txBox="1"/>
          <p:nvPr/>
        </p:nvSpPr>
        <p:spPr>
          <a:xfrm>
            <a:off x="4188920" y="2970797"/>
            <a:ext cx="3875404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150" dirty="0">
                <a:latin typeface="Century"/>
                <a:cs typeface="Century"/>
              </a:rPr>
              <a:t>Q</a:t>
            </a:r>
            <a:r>
              <a:rPr sz="2150" spc="25" dirty="0">
                <a:latin typeface="Century"/>
                <a:cs typeface="Century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=</a:t>
            </a:r>
            <a:r>
              <a:rPr sz="2150" spc="-55" dirty="0">
                <a:latin typeface="Lucida Sans Unicode"/>
                <a:cs typeface="Lucida Sans Unicode"/>
              </a:rPr>
              <a:t> </a:t>
            </a:r>
            <a:r>
              <a:rPr sz="2150" spc="70" dirty="0">
                <a:latin typeface="Calibri"/>
                <a:cs typeface="Calibri"/>
              </a:rPr>
              <a:t>LoRALinear</a:t>
            </a:r>
            <a:r>
              <a:rPr sz="2150" spc="70" dirty="0">
                <a:latin typeface="Lucida Sans Unicode"/>
                <a:cs typeface="Lucida Sans Unicode"/>
              </a:rPr>
              <a:t>(</a:t>
            </a:r>
            <a:r>
              <a:rPr sz="2150" spc="70" dirty="0">
                <a:latin typeface="Century"/>
                <a:cs typeface="Century"/>
              </a:rPr>
              <a:t>X</a:t>
            </a:r>
            <a:r>
              <a:rPr sz="2150" spc="70" dirty="0">
                <a:latin typeface="Lucida Sans Unicode"/>
                <a:cs typeface="Lucida Sans Unicode"/>
              </a:rPr>
              <a:t>;</a:t>
            </a:r>
            <a:r>
              <a:rPr sz="2150" spc="-310" dirty="0">
                <a:latin typeface="Lucida Sans Unicode"/>
                <a:cs typeface="Lucida Sans Unicode"/>
              </a:rPr>
              <a:t> </a:t>
            </a:r>
            <a:r>
              <a:rPr sz="2150" spc="50" dirty="0">
                <a:latin typeface="Century"/>
                <a:cs typeface="Century"/>
              </a:rPr>
              <a:t>W</a:t>
            </a:r>
            <a:r>
              <a:rPr sz="2250" b="0" i="1" spc="75" baseline="-12962" dirty="0">
                <a:latin typeface="Bookman Old Style"/>
                <a:cs typeface="Bookman Old Style"/>
              </a:rPr>
              <a:t>q</a:t>
            </a:r>
            <a:r>
              <a:rPr sz="2250" b="0" i="1" spc="-419" baseline="-12962" dirty="0">
                <a:latin typeface="Bookman Old Style"/>
                <a:cs typeface="Bookman Old Style"/>
              </a:rPr>
              <a:t> </a:t>
            </a:r>
            <a:r>
              <a:rPr sz="2150" dirty="0">
                <a:latin typeface="Arial"/>
                <a:cs typeface="Arial"/>
              </a:rPr>
              <a:t>,</a:t>
            </a:r>
            <a:r>
              <a:rPr sz="2150" spc="-225" dirty="0">
                <a:latin typeface="Arial"/>
                <a:cs typeface="Arial"/>
              </a:rPr>
              <a:t> </a:t>
            </a:r>
            <a:r>
              <a:rPr sz="2150" dirty="0">
                <a:latin typeface="Century"/>
                <a:cs typeface="Century"/>
              </a:rPr>
              <a:t>A</a:t>
            </a:r>
            <a:r>
              <a:rPr sz="2250" b="0" i="1" baseline="-12962" dirty="0">
                <a:latin typeface="Bookman Old Style"/>
                <a:cs typeface="Bookman Old Style"/>
              </a:rPr>
              <a:t>q</a:t>
            </a:r>
            <a:r>
              <a:rPr sz="2250" b="0" i="1" spc="-419" baseline="-12962" dirty="0">
                <a:latin typeface="Bookman Old Style"/>
                <a:cs typeface="Bookman Old Style"/>
              </a:rPr>
              <a:t> </a:t>
            </a:r>
            <a:r>
              <a:rPr sz="2150" dirty="0">
                <a:latin typeface="Arial"/>
                <a:cs typeface="Arial"/>
              </a:rPr>
              <a:t>,</a:t>
            </a:r>
            <a:r>
              <a:rPr sz="2150" spc="-225" dirty="0">
                <a:latin typeface="Arial"/>
                <a:cs typeface="Arial"/>
              </a:rPr>
              <a:t> </a:t>
            </a:r>
            <a:r>
              <a:rPr sz="2150" spc="-30" dirty="0">
                <a:latin typeface="Century"/>
                <a:cs typeface="Century"/>
              </a:rPr>
              <a:t>B</a:t>
            </a:r>
            <a:r>
              <a:rPr sz="2250" b="0" i="1" spc="-44" baseline="-12962" dirty="0">
                <a:latin typeface="Bookman Old Style"/>
                <a:cs typeface="Bookman Old Style"/>
              </a:rPr>
              <a:t>q</a:t>
            </a:r>
            <a:r>
              <a:rPr sz="2250" b="0" i="1" spc="-419" baseline="-12962" dirty="0">
                <a:latin typeface="Bookman Old Style"/>
                <a:cs typeface="Bookman Old Style"/>
              </a:rPr>
              <a:t> </a:t>
            </a:r>
            <a:r>
              <a:rPr sz="2150" spc="95" dirty="0">
                <a:latin typeface="Lucida Sans Unicode"/>
                <a:cs typeface="Lucida Sans Unicode"/>
              </a:rPr>
              <a:t>)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10506397" y="6115909"/>
            <a:ext cx="1371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4"/>
              </a:lnSpc>
            </a:pPr>
            <a:r>
              <a:rPr sz="1800" dirty="0">
                <a:solidFill>
                  <a:srgbClr val="0432FF"/>
                </a:solidFill>
                <a:latin typeface="Candara"/>
                <a:cs typeface="Candara"/>
              </a:rPr>
              <a:t>k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78644" y="6585505"/>
            <a:ext cx="250698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95"/>
              </a:lnSpc>
            </a:pP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Figure</a:t>
            </a:r>
            <a:r>
              <a:rPr sz="1400" spc="-3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inspired</a:t>
            </a:r>
            <a:r>
              <a:rPr sz="1400" spc="-2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by</a:t>
            </a:r>
            <a:r>
              <a:rPr sz="1400" spc="-2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He</a:t>
            </a:r>
            <a:r>
              <a:rPr sz="1400" spc="-3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et</a:t>
            </a:r>
            <a:r>
              <a:rPr sz="1400" spc="-25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al.</a:t>
            </a:r>
            <a:r>
              <a:rPr sz="1400" spc="-2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spc="-10" dirty="0">
                <a:solidFill>
                  <a:srgbClr val="7F7F7F"/>
                </a:solidFill>
                <a:latin typeface="Candara"/>
                <a:cs typeface="Candara"/>
              </a:rPr>
              <a:t>(2022)</a:t>
            </a:r>
            <a:endParaRPr sz="1400">
              <a:latin typeface="Candara"/>
              <a:cs typeface="Candara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7819574" y="3511243"/>
            <a:ext cx="14414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0" i="1" spc="30" dirty="0">
                <a:latin typeface="Bookman Old Style"/>
                <a:cs typeface="Bookman Old Style"/>
              </a:rPr>
              <a:t>k</a:t>
            </a:r>
            <a:endParaRPr sz="1500">
              <a:latin typeface="Bookman Old Style"/>
              <a:cs typeface="Bookman Old Style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4188920" y="3386511"/>
            <a:ext cx="3926840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3780154" algn="l"/>
              </a:tabLst>
            </a:pPr>
            <a:r>
              <a:rPr sz="2150" dirty="0">
                <a:latin typeface="Century"/>
                <a:cs typeface="Century"/>
              </a:rPr>
              <a:t>K</a:t>
            </a:r>
            <a:r>
              <a:rPr sz="2150" spc="30" dirty="0">
                <a:latin typeface="Century"/>
                <a:cs typeface="Century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=</a:t>
            </a:r>
            <a:r>
              <a:rPr sz="2150" spc="-55" dirty="0">
                <a:latin typeface="Lucida Sans Unicode"/>
                <a:cs typeface="Lucida Sans Unicode"/>
              </a:rPr>
              <a:t> </a:t>
            </a:r>
            <a:r>
              <a:rPr sz="2150" spc="70" dirty="0">
                <a:latin typeface="Calibri"/>
                <a:cs typeface="Calibri"/>
              </a:rPr>
              <a:t>LoRALinear</a:t>
            </a:r>
            <a:r>
              <a:rPr sz="2150" spc="70" dirty="0">
                <a:latin typeface="Lucida Sans Unicode"/>
                <a:cs typeface="Lucida Sans Unicode"/>
              </a:rPr>
              <a:t>(</a:t>
            </a:r>
            <a:r>
              <a:rPr sz="2150" spc="70" dirty="0">
                <a:latin typeface="Century"/>
                <a:cs typeface="Century"/>
              </a:rPr>
              <a:t>X</a:t>
            </a:r>
            <a:r>
              <a:rPr sz="2150" spc="70" dirty="0">
                <a:latin typeface="Lucida Sans Unicode"/>
                <a:cs typeface="Lucida Sans Unicode"/>
              </a:rPr>
              <a:t>;</a:t>
            </a:r>
            <a:r>
              <a:rPr sz="2150" spc="-305" dirty="0">
                <a:latin typeface="Lucida Sans Unicode"/>
                <a:cs typeface="Lucida Sans Unicode"/>
              </a:rPr>
              <a:t> </a:t>
            </a:r>
            <a:r>
              <a:rPr sz="2150" spc="85" dirty="0">
                <a:latin typeface="Century"/>
                <a:cs typeface="Century"/>
              </a:rPr>
              <a:t>W</a:t>
            </a:r>
            <a:r>
              <a:rPr sz="2250" b="0" i="1" spc="127" baseline="-12962" dirty="0">
                <a:latin typeface="Bookman Old Style"/>
                <a:cs typeface="Bookman Old Style"/>
              </a:rPr>
              <a:t>k</a:t>
            </a:r>
            <a:r>
              <a:rPr sz="2250" b="0" i="1" spc="-450" baseline="-12962" dirty="0">
                <a:latin typeface="Bookman Old Style"/>
                <a:cs typeface="Bookman Old Style"/>
              </a:rPr>
              <a:t> </a:t>
            </a:r>
            <a:r>
              <a:rPr sz="2150" dirty="0">
                <a:latin typeface="Arial"/>
                <a:cs typeface="Arial"/>
              </a:rPr>
              <a:t>,</a:t>
            </a:r>
            <a:r>
              <a:rPr sz="2150" spc="-225" dirty="0">
                <a:latin typeface="Arial"/>
                <a:cs typeface="Arial"/>
              </a:rPr>
              <a:t> </a:t>
            </a:r>
            <a:r>
              <a:rPr sz="2150" spc="60" dirty="0">
                <a:latin typeface="Century"/>
                <a:cs typeface="Century"/>
              </a:rPr>
              <a:t>A</a:t>
            </a:r>
            <a:r>
              <a:rPr sz="2250" b="0" i="1" spc="89" baseline="-12962" dirty="0">
                <a:latin typeface="Bookman Old Style"/>
                <a:cs typeface="Bookman Old Style"/>
              </a:rPr>
              <a:t>k</a:t>
            </a:r>
            <a:r>
              <a:rPr sz="2250" b="0" i="1" spc="-450" baseline="-12962" dirty="0">
                <a:latin typeface="Bookman Old Style"/>
                <a:cs typeface="Bookman Old Style"/>
              </a:rPr>
              <a:t> </a:t>
            </a:r>
            <a:r>
              <a:rPr sz="2150" dirty="0">
                <a:latin typeface="Arial"/>
                <a:cs typeface="Arial"/>
              </a:rPr>
              <a:t>,</a:t>
            </a:r>
            <a:r>
              <a:rPr sz="2150" spc="-225" dirty="0">
                <a:latin typeface="Arial"/>
                <a:cs typeface="Arial"/>
              </a:rPr>
              <a:t> </a:t>
            </a:r>
            <a:r>
              <a:rPr sz="2150" spc="-50" dirty="0">
                <a:latin typeface="Century"/>
                <a:cs typeface="Century"/>
              </a:rPr>
              <a:t>B</a:t>
            </a:r>
            <a:r>
              <a:rPr sz="2150" dirty="0">
                <a:latin typeface="Century"/>
                <a:cs typeface="Century"/>
              </a:rPr>
              <a:t>	</a:t>
            </a:r>
            <a:r>
              <a:rPr sz="2150" spc="95" dirty="0">
                <a:latin typeface="Lucida Sans Unicode"/>
                <a:cs typeface="Lucida Sans Unicode"/>
              </a:rPr>
              <a:t>)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4188912" y="3802237"/>
            <a:ext cx="3905250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150" spc="90" dirty="0">
                <a:latin typeface="Century"/>
                <a:cs typeface="Century"/>
              </a:rPr>
              <a:t>V</a:t>
            </a:r>
            <a:r>
              <a:rPr sz="2150" spc="35" dirty="0">
                <a:latin typeface="Century"/>
                <a:cs typeface="Century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=</a:t>
            </a:r>
            <a:r>
              <a:rPr sz="2150" spc="-45" dirty="0">
                <a:latin typeface="Lucida Sans Unicode"/>
                <a:cs typeface="Lucida Sans Unicode"/>
              </a:rPr>
              <a:t> </a:t>
            </a:r>
            <a:r>
              <a:rPr sz="2150" spc="70" dirty="0">
                <a:latin typeface="Calibri"/>
                <a:cs typeface="Calibri"/>
              </a:rPr>
              <a:t>LoRALinear</a:t>
            </a:r>
            <a:r>
              <a:rPr sz="2150" spc="70" dirty="0">
                <a:latin typeface="Lucida Sans Unicode"/>
                <a:cs typeface="Lucida Sans Unicode"/>
              </a:rPr>
              <a:t>(</a:t>
            </a:r>
            <a:r>
              <a:rPr sz="2150" spc="70" dirty="0">
                <a:latin typeface="Century"/>
                <a:cs typeface="Century"/>
              </a:rPr>
              <a:t>X</a:t>
            </a:r>
            <a:r>
              <a:rPr sz="2150" spc="70" dirty="0">
                <a:latin typeface="Lucida Sans Unicode"/>
                <a:cs typeface="Lucida Sans Unicode"/>
              </a:rPr>
              <a:t>;</a:t>
            </a:r>
            <a:r>
              <a:rPr sz="2150" spc="-300" dirty="0">
                <a:latin typeface="Lucida Sans Unicode"/>
                <a:cs typeface="Lucida Sans Unicode"/>
              </a:rPr>
              <a:t> </a:t>
            </a:r>
            <a:r>
              <a:rPr sz="2150" spc="105" dirty="0">
                <a:latin typeface="Century"/>
                <a:cs typeface="Century"/>
              </a:rPr>
              <a:t>W</a:t>
            </a:r>
            <a:r>
              <a:rPr sz="2250" b="0" i="1" spc="157" baseline="-12962" dirty="0">
                <a:latin typeface="Bookman Old Style"/>
                <a:cs typeface="Bookman Old Style"/>
              </a:rPr>
              <a:t>v</a:t>
            </a:r>
            <a:r>
              <a:rPr sz="2250" b="0" i="1" spc="-419" baseline="-12962" dirty="0">
                <a:latin typeface="Bookman Old Style"/>
                <a:cs typeface="Bookman Old Style"/>
              </a:rPr>
              <a:t> </a:t>
            </a:r>
            <a:r>
              <a:rPr sz="2150" dirty="0">
                <a:latin typeface="Arial"/>
                <a:cs typeface="Arial"/>
              </a:rPr>
              <a:t>,</a:t>
            </a:r>
            <a:r>
              <a:rPr sz="2150" spc="-220" dirty="0">
                <a:latin typeface="Arial"/>
                <a:cs typeface="Arial"/>
              </a:rPr>
              <a:t> </a:t>
            </a:r>
            <a:r>
              <a:rPr sz="2150" spc="75" dirty="0">
                <a:latin typeface="Century"/>
                <a:cs typeface="Century"/>
              </a:rPr>
              <a:t>A</a:t>
            </a:r>
            <a:r>
              <a:rPr sz="2250" b="0" i="1" spc="112" baseline="-12962" dirty="0">
                <a:latin typeface="Bookman Old Style"/>
                <a:cs typeface="Bookman Old Style"/>
              </a:rPr>
              <a:t>v</a:t>
            </a:r>
            <a:r>
              <a:rPr sz="2250" b="0" i="1" spc="-412" baseline="-12962" dirty="0">
                <a:latin typeface="Bookman Old Style"/>
                <a:cs typeface="Bookman Old Style"/>
              </a:rPr>
              <a:t> </a:t>
            </a:r>
            <a:r>
              <a:rPr sz="2150" dirty="0">
                <a:latin typeface="Arial"/>
                <a:cs typeface="Arial"/>
              </a:rPr>
              <a:t>,</a:t>
            </a:r>
            <a:r>
              <a:rPr sz="2150" spc="-220" dirty="0">
                <a:latin typeface="Arial"/>
                <a:cs typeface="Arial"/>
              </a:rPr>
              <a:t> </a:t>
            </a:r>
            <a:r>
              <a:rPr sz="2150" dirty="0">
                <a:latin typeface="Century"/>
                <a:cs typeface="Century"/>
              </a:rPr>
              <a:t>B</a:t>
            </a:r>
            <a:r>
              <a:rPr sz="2250" b="0" i="1" baseline="-12962" dirty="0">
                <a:latin typeface="Bookman Old Style"/>
                <a:cs typeface="Bookman Old Style"/>
              </a:rPr>
              <a:t>v</a:t>
            </a:r>
            <a:r>
              <a:rPr sz="2250" b="0" i="1" spc="-419" baseline="-12962" dirty="0">
                <a:latin typeface="Bookman Old Style"/>
                <a:cs typeface="Bookman Old Style"/>
              </a:rPr>
              <a:t> </a:t>
            </a:r>
            <a:r>
              <a:rPr sz="2150" spc="95" dirty="0">
                <a:latin typeface="Lucida Sans Unicode"/>
                <a:cs typeface="Lucida Sans Unicode"/>
              </a:rPr>
              <a:t>)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163" name="Slide Number Placeholder 162">
            <a:extLst>
              <a:ext uri="{FF2B5EF4-FFF2-40B4-BE49-F238E27FC236}">
                <a16:creationId xmlns:a16="http://schemas.microsoft.com/office/drawing/2014/main" id="{2984EA8D-C76D-4469-8D14-7B7B30B8C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LoRA 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209" y="1064199"/>
            <a:ext cx="5560791" cy="4522391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3000" spc="-10" dirty="0">
                <a:latin typeface="Candara"/>
                <a:cs typeface="Candara"/>
              </a:rPr>
              <a:t>Takeaways</a:t>
            </a:r>
            <a:endParaRPr sz="3000" dirty="0">
              <a:latin typeface="Candara"/>
              <a:cs typeface="Candara"/>
            </a:endParaRPr>
          </a:p>
          <a:p>
            <a:pPr marL="354965" marR="5080" indent="-342900">
              <a:lnSpc>
                <a:spcPct val="90300"/>
              </a:lnSpc>
              <a:spcBef>
                <a:spcPts val="730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ndara"/>
                <a:cs typeface="Candara"/>
              </a:rPr>
              <a:t>Applied</a:t>
            </a:r>
            <a:r>
              <a:rPr sz="3000" spc="-15" dirty="0">
                <a:latin typeface="Candara"/>
                <a:cs typeface="Candara"/>
              </a:rPr>
              <a:t> </a:t>
            </a:r>
            <a:r>
              <a:rPr sz="3000" dirty="0">
                <a:latin typeface="Candara"/>
                <a:cs typeface="Candara"/>
              </a:rPr>
              <a:t>to</a:t>
            </a:r>
            <a:r>
              <a:rPr sz="3000" spc="-15" dirty="0">
                <a:latin typeface="Candara"/>
                <a:cs typeface="Candara"/>
              </a:rPr>
              <a:t> </a:t>
            </a:r>
            <a:r>
              <a:rPr sz="3000" spc="-10" dirty="0">
                <a:latin typeface="Candara"/>
                <a:cs typeface="Candara"/>
              </a:rPr>
              <a:t>GPT-</a:t>
            </a:r>
            <a:r>
              <a:rPr sz="3000" dirty="0">
                <a:latin typeface="Candara"/>
                <a:cs typeface="Candara"/>
              </a:rPr>
              <a:t>3,</a:t>
            </a:r>
            <a:r>
              <a:rPr sz="3000" spc="-15" dirty="0">
                <a:latin typeface="Candara"/>
                <a:cs typeface="Candara"/>
              </a:rPr>
              <a:t> </a:t>
            </a:r>
            <a:r>
              <a:rPr sz="3000" spc="-20" dirty="0">
                <a:latin typeface="Candara"/>
                <a:cs typeface="Candara"/>
              </a:rPr>
              <a:t>LoRA </a:t>
            </a:r>
            <a:r>
              <a:rPr sz="3000" dirty="0">
                <a:latin typeface="Candara"/>
                <a:cs typeface="Candara"/>
              </a:rPr>
              <a:t>achieves</a:t>
            </a:r>
            <a:r>
              <a:rPr sz="3000" spc="-40" dirty="0">
                <a:latin typeface="Candara"/>
                <a:cs typeface="Candara"/>
              </a:rPr>
              <a:t> </a:t>
            </a:r>
            <a:r>
              <a:rPr sz="3000" spc="-10" dirty="0">
                <a:latin typeface="Candara"/>
                <a:cs typeface="Candara"/>
              </a:rPr>
              <a:t>performance </a:t>
            </a:r>
            <a:r>
              <a:rPr sz="3000" dirty="0">
                <a:latin typeface="Candara"/>
                <a:cs typeface="Candara"/>
              </a:rPr>
              <a:t>almost</a:t>
            </a:r>
            <a:r>
              <a:rPr sz="3000" spc="-15" dirty="0">
                <a:latin typeface="Candara"/>
                <a:cs typeface="Candara"/>
              </a:rPr>
              <a:t> </a:t>
            </a:r>
            <a:r>
              <a:rPr sz="3000" dirty="0">
                <a:latin typeface="Candara"/>
                <a:cs typeface="Candara"/>
              </a:rPr>
              <a:t>as</a:t>
            </a:r>
            <a:r>
              <a:rPr sz="3000" spc="-5" dirty="0">
                <a:latin typeface="Candara"/>
                <a:cs typeface="Candara"/>
              </a:rPr>
              <a:t> </a:t>
            </a:r>
            <a:r>
              <a:rPr sz="3000" dirty="0">
                <a:latin typeface="Candara"/>
                <a:cs typeface="Candara"/>
              </a:rPr>
              <a:t>good</a:t>
            </a:r>
            <a:r>
              <a:rPr sz="3000" spc="-15" dirty="0">
                <a:latin typeface="Candara"/>
                <a:cs typeface="Candara"/>
              </a:rPr>
              <a:t> </a:t>
            </a:r>
            <a:r>
              <a:rPr sz="3000" dirty="0">
                <a:latin typeface="Candara"/>
                <a:cs typeface="Candara"/>
              </a:rPr>
              <a:t>as</a:t>
            </a:r>
            <a:r>
              <a:rPr sz="3000" spc="-5" dirty="0">
                <a:latin typeface="Candara"/>
                <a:cs typeface="Candara"/>
              </a:rPr>
              <a:t> </a:t>
            </a:r>
            <a:r>
              <a:rPr sz="3000" spc="-20" dirty="0">
                <a:latin typeface="Candara"/>
                <a:cs typeface="Candara"/>
              </a:rPr>
              <a:t>full </a:t>
            </a:r>
            <a:r>
              <a:rPr sz="3000" spc="-10" dirty="0">
                <a:latin typeface="Candara"/>
                <a:cs typeface="Candara"/>
              </a:rPr>
              <a:t>fine-</a:t>
            </a:r>
            <a:r>
              <a:rPr sz="3000" dirty="0">
                <a:latin typeface="Candara"/>
                <a:cs typeface="Candara"/>
              </a:rPr>
              <a:t>tuning,</a:t>
            </a:r>
            <a:r>
              <a:rPr sz="3000" spc="-35" dirty="0">
                <a:latin typeface="Candara"/>
                <a:cs typeface="Candara"/>
              </a:rPr>
              <a:t> </a:t>
            </a:r>
            <a:r>
              <a:rPr sz="3000" dirty="0">
                <a:latin typeface="Candara"/>
                <a:cs typeface="Candara"/>
              </a:rPr>
              <a:t>but</a:t>
            </a:r>
            <a:r>
              <a:rPr sz="3000" spc="-25" dirty="0">
                <a:latin typeface="Candara"/>
                <a:cs typeface="Candara"/>
              </a:rPr>
              <a:t> </a:t>
            </a:r>
            <a:r>
              <a:rPr sz="3000" dirty="0">
                <a:latin typeface="Candara"/>
                <a:cs typeface="Candara"/>
              </a:rPr>
              <a:t>with</a:t>
            </a:r>
            <a:r>
              <a:rPr sz="3000" spc="-15" dirty="0">
                <a:latin typeface="Candara"/>
                <a:cs typeface="Candara"/>
              </a:rPr>
              <a:t> </a:t>
            </a:r>
            <a:r>
              <a:rPr sz="3000" spc="-25" dirty="0">
                <a:latin typeface="Candara"/>
                <a:cs typeface="Candara"/>
              </a:rPr>
              <a:t>far </a:t>
            </a:r>
            <a:r>
              <a:rPr sz="3000" dirty="0">
                <a:latin typeface="Candara"/>
                <a:cs typeface="Candara"/>
              </a:rPr>
              <a:t>fewer</a:t>
            </a:r>
            <a:r>
              <a:rPr sz="3000" spc="-25" dirty="0">
                <a:latin typeface="Candara"/>
                <a:cs typeface="Candara"/>
              </a:rPr>
              <a:t> </a:t>
            </a:r>
            <a:r>
              <a:rPr sz="3000" spc="-10" dirty="0">
                <a:latin typeface="Candara"/>
                <a:cs typeface="Candara"/>
              </a:rPr>
              <a:t>parameters</a:t>
            </a:r>
            <a:endParaRPr sz="3000" dirty="0">
              <a:latin typeface="Candara"/>
              <a:cs typeface="Candara"/>
            </a:endParaRPr>
          </a:p>
          <a:p>
            <a:pPr marL="353695" marR="306070" indent="-341630">
              <a:lnSpc>
                <a:spcPct val="90300"/>
              </a:lnSpc>
              <a:spcBef>
                <a:spcPts val="640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ndara"/>
                <a:cs typeface="Candara"/>
              </a:rPr>
              <a:t>On</a:t>
            </a:r>
            <a:r>
              <a:rPr lang="en-US" sz="3000" spc="-10" dirty="0">
                <a:latin typeface="Candara"/>
                <a:cs typeface="Candara"/>
              </a:rPr>
              <a:t> </a:t>
            </a:r>
            <a:r>
              <a:rPr sz="3000" dirty="0">
                <a:latin typeface="Candara"/>
                <a:cs typeface="Candara"/>
              </a:rPr>
              <a:t>some</a:t>
            </a:r>
            <a:r>
              <a:rPr lang="en-US" sz="3000" spc="-15" dirty="0">
                <a:latin typeface="Candara"/>
                <a:cs typeface="Candara"/>
              </a:rPr>
              <a:t> </a:t>
            </a:r>
            <a:r>
              <a:rPr sz="3000" dirty="0">
                <a:latin typeface="Candara"/>
                <a:cs typeface="Candara"/>
              </a:rPr>
              <a:t>tasks</a:t>
            </a:r>
            <a:r>
              <a:rPr sz="3000" spc="-5" dirty="0">
                <a:latin typeface="Candara"/>
                <a:cs typeface="Candara"/>
              </a:rPr>
              <a:t> </a:t>
            </a:r>
            <a:r>
              <a:rPr sz="3000" dirty="0">
                <a:latin typeface="Candara"/>
                <a:cs typeface="Candara"/>
              </a:rPr>
              <a:t>it</a:t>
            </a:r>
            <a:r>
              <a:rPr sz="3000" spc="-10" dirty="0">
                <a:latin typeface="Candara"/>
                <a:cs typeface="Candara"/>
              </a:rPr>
              <a:t> </a:t>
            </a:r>
            <a:r>
              <a:rPr sz="3000" spc="-20" dirty="0">
                <a:latin typeface="Candara"/>
                <a:cs typeface="Candara"/>
              </a:rPr>
              <a:t>even 	</a:t>
            </a:r>
            <a:r>
              <a:rPr sz="3000" dirty="0">
                <a:latin typeface="Candara"/>
                <a:cs typeface="Candara"/>
              </a:rPr>
              <a:t>outperforms</a:t>
            </a:r>
            <a:r>
              <a:rPr sz="3000" spc="-45" dirty="0">
                <a:latin typeface="Candara"/>
                <a:cs typeface="Candara"/>
              </a:rPr>
              <a:t> </a:t>
            </a:r>
            <a:r>
              <a:rPr sz="3000" dirty="0">
                <a:latin typeface="Candara"/>
                <a:cs typeface="Candara"/>
              </a:rPr>
              <a:t>full</a:t>
            </a:r>
            <a:r>
              <a:rPr sz="3000" spc="-40" dirty="0">
                <a:latin typeface="Candara"/>
                <a:cs typeface="Candara"/>
              </a:rPr>
              <a:t> </a:t>
            </a:r>
            <a:r>
              <a:rPr sz="3000" spc="-10" dirty="0">
                <a:latin typeface="Candara"/>
                <a:cs typeface="Candara"/>
              </a:rPr>
              <a:t>fine- 	tuning</a:t>
            </a:r>
            <a:endParaRPr sz="3000" dirty="0">
              <a:latin typeface="Candara"/>
              <a:cs typeface="Candara"/>
            </a:endParaRPr>
          </a:p>
          <a:p>
            <a:pPr marL="353695" marR="229235" indent="-341630">
              <a:lnSpc>
                <a:spcPts val="3190"/>
              </a:lnSpc>
              <a:spcBef>
                <a:spcPts val="830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ndara"/>
                <a:cs typeface="Candara"/>
              </a:rPr>
              <a:t>For</a:t>
            </a:r>
            <a:r>
              <a:rPr sz="3000" spc="-20" dirty="0">
                <a:latin typeface="Candara"/>
                <a:cs typeface="Candara"/>
              </a:rPr>
              <a:t> </a:t>
            </a:r>
            <a:r>
              <a:rPr sz="3000" dirty="0">
                <a:latin typeface="Candara"/>
                <a:cs typeface="Candara"/>
              </a:rPr>
              <a:t>some</a:t>
            </a:r>
            <a:r>
              <a:rPr sz="3000" spc="-20" dirty="0">
                <a:latin typeface="Candara"/>
                <a:cs typeface="Candara"/>
              </a:rPr>
              <a:t> </a:t>
            </a:r>
            <a:r>
              <a:rPr sz="3000" dirty="0">
                <a:latin typeface="Candara"/>
                <a:cs typeface="Candara"/>
              </a:rPr>
              <a:t>datasets</a:t>
            </a:r>
            <a:r>
              <a:rPr sz="3000" spc="-15" dirty="0">
                <a:latin typeface="Candara"/>
                <a:cs typeface="Candara"/>
              </a:rPr>
              <a:t> </a:t>
            </a:r>
            <a:r>
              <a:rPr sz="3000" spc="-50" dirty="0">
                <a:latin typeface="Candara"/>
                <a:cs typeface="Candara"/>
              </a:rPr>
              <a:t>a 	</a:t>
            </a:r>
            <a:r>
              <a:rPr sz="3000" dirty="0">
                <a:latin typeface="Candara"/>
                <a:cs typeface="Candara"/>
              </a:rPr>
              <a:t>rank</a:t>
            </a:r>
            <a:r>
              <a:rPr lang="en-US" sz="3000" spc="-10" dirty="0">
                <a:latin typeface="Candara"/>
                <a:cs typeface="Candara"/>
              </a:rPr>
              <a:t> </a:t>
            </a:r>
            <a:r>
              <a:rPr sz="3000" dirty="0">
                <a:latin typeface="Candara"/>
                <a:cs typeface="Candara"/>
              </a:rPr>
              <a:t>of</a:t>
            </a:r>
            <a:r>
              <a:rPr sz="3000" spc="-15" dirty="0">
                <a:latin typeface="Candara"/>
                <a:cs typeface="Candara"/>
              </a:rPr>
              <a:t> </a:t>
            </a:r>
            <a:r>
              <a:rPr sz="3000" dirty="0">
                <a:latin typeface="Candara"/>
                <a:cs typeface="Candara"/>
              </a:rPr>
              <a:t>r=1</a:t>
            </a:r>
            <a:r>
              <a:rPr sz="3000" spc="-5" dirty="0">
                <a:latin typeface="Candara"/>
                <a:cs typeface="Candara"/>
              </a:rPr>
              <a:t> </a:t>
            </a:r>
            <a:r>
              <a:rPr sz="3000" dirty="0">
                <a:latin typeface="Candara"/>
                <a:cs typeface="Candara"/>
              </a:rPr>
              <a:t>is</a:t>
            </a:r>
            <a:r>
              <a:rPr sz="3000" spc="5" dirty="0">
                <a:latin typeface="Candara"/>
                <a:cs typeface="Candara"/>
              </a:rPr>
              <a:t> </a:t>
            </a:r>
            <a:r>
              <a:rPr sz="3000" spc="-10" dirty="0">
                <a:latin typeface="Candara"/>
                <a:cs typeface="Candara"/>
              </a:rPr>
              <a:t>sufficient</a:t>
            </a:r>
            <a:endParaRPr sz="3000" dirty="0">
              <a:latin typeface="Candara"/>
              <a:cs typeface="Candar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6692" y="1296472"/>
            <a:ext cx="3921133" cy="243872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4740" y="3987503"/>
            <a:ext cx="3729078" cy="2438726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EE7321E-C63E-400F-9F11-68B51FEAD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ig data template.pptx" id="{20A2C686-B26B-470E-A460-CDE7F6DF3BDB}" vid="{FEDE971F-BDA7-4940-B809-146585AB44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B597DB40EB548A2BE0F2D7EA3D291" ma:contentTypeVersion="4" ma:contentTypeDescription="Create a new document." ma:contentTypeScope="" ma:versionID="67aa8a13b95130bbc34076cb2215820b">
  <xsd:schema xmlns:xsd="http://www.w3.org/2001/XMLSchema" xmlns:xs="http://www.w3.org/2001/XMLSchema" xmlns:p="http://schemas.microsoft.com/office/2006/metadata/properties" xmlns:ns2="2f15783b-9d66-4350-8efe-5d8255e1b625" targetNamespace="http://schemas.microsoft.com/office/2006/metadata/properties" ma:root="true" ma:fieldsID="05d6e0c51ef7f9e31959f5f4da9e6eb0" ns2:_="">
    <xsd:import namespace="2f15783b-9d66-4350-8efe-5d8255e1b6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15783b-9d66-4350-8efe-5d8255e1b6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FB09CA-6D0C-4335-A412-3B5180460871}"/>
</file>

<file path=customXml/itemProps2.xml><?xml version="1.0" encoding="utf-8"?>
<ds:datastoreItem xmlns:ds="http://schemas.openxmlformats.org/officeDocument/2006/customXml" ds:itemID="{3AAFFFBC-9FE9-4AE0-A303-DF021261C220}"/>
</file>

<file path=customXml/itemProps3.xml><?xml version="1.0" encoding="utf-8"?>
<ds:datastoreItem xmlns:ds="http://schemas.openxmlformats.org/officeDocument/2006/customXml" ds:itemID="{3E45F657-0001-48A0-A23C-1AE8A9A7F829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Big data template</Template>
  <TotalTime>16186</TotalTime>
  <Words>1997</Words>
  <Application>Microsoft Office PowerPoint</Application>
  <PresentationFormat>Widescreen</PresentationFormat>
  <Paragraphs>406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8" baseType="lpstr">
      <vt:lpstr>Malgun Gothic</vt:lpstr>
      <vt:lpstr>Arial</vt:lpstr>
      <vt:lpstr>Bell MT</vt:lpstr>
      <vt:lpstr>Bookman Old Style</vt:lpstr>
      <vt:lpstr>Calibri</vt:lpstr>
      <vt:lpstr>Cambria</vt:lpstr>
      <vt:lpstr>Cambria Math</vt:lpstr>
      <vt:lpstr>Candara</vt:lpstr>
      <vt:lpstr>Candara Light</vt:lpstr>
      <vt:lpstr>Century</vt:lpstr>
      <vt:lpstr>Courier New</vt:lpstr>
      <vt:lpstr>Euclid</vt:lpstr>
      <vt:lpstr>Georgia</vt:lpstr>
      <vt:lpstr>Lucida Sans Unicode</vt:lpstr>
      <vt:lpstr>Roboto Lt</vt:lpstr>
      <vt:lpstr>Tahoma</vt:lpstr>
      <vt:lpstr>Times New Roman</vt:lpstr>
      <vt:lpstr>Wingdings</vt:lpstr>
      <vt:lpstr>Main</vt:lpstr>
      <vt:lpstr>Parameter Efficient Fine-Tuning (PEFT)</vt:lpstr>
      <vt:lpstr>Few-shot Learning with LLMs</vt:lpstr>
      <vt:lpstr>Fine-Tuning vs. In-Context Learning</vt:lpstr>
      <vt:lpstr>Fine-Tuning vs. In-Context Learning</vt:lpstr>
      <vt:lpstr>Taxonomy of PEFT: A birds-eye view</vt:lpstr>
      <vt:lpstr>Taxonomy of PEFT: a birds-eye view</vt:lpstr>
      <vt:lpstr>Comparing PEFT methods</vt:lpstr>
      <vt:lpstr>PowerPoint Presentation</vt:lpstr>
      <vt:lpstr>Overview of PEFT Approaches</vt:lpstr>
      <vt:lpstr>Parameter Efficient Fine-Tuning</vt:lpstr>
      <vt:lpstr>Fine-Tuning the Top Layers Only</vt:lpstr>
      <vt:lpstr>Adapters</vt:lpstr>
      <vt:lpstr>Overview of PEFT Approaches (Adapters)</vt:lpstr>
      <vt:lpstr>Adapters Module</vt:lpstr>
      <vt:lpstr>Adapters for Transformer</vt:lpstr>
      <vt:lpstr>Adapter Results</vt:lpstr>
      <vt:lpstr>Adapter Results</vt:lpstr>
      <vt:lpstr>Adapter Results</vt:lpstr>
      <vt:lpstr>Low-Rank Adaptation (LoRA)</vt:lpstr>
      <vt:lpstr>How large are LLMs?</vt:lpstr>
      <vt:lpstr>Why does efficiency matter?</vt:lpstr>
      <vt:lpstr>Fine-Tuning LLMs without Regularization</vt:lpstr>
      <vt:lpstr>Intrinsic Dimensionality</vt:lpstr>
      <vt:lpstr>LoRA</vt:lpstr>
      <vt:lpstr>LoRA</vt:lpstr>
      <vt:lpstr>LoRA</vt:lpstr>
      <vt:lpstr>Overview of PEFT Approaches (LoRA)</vt:lpstr>
      <vt:lpstr>LoRA for Transformer</vt:lpstr>
      <vt:lpstr>LoRA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Mohammad Javad</cp:lastModifiedBy>
  <cp:revision>326</cp:revision>
  <dcterms:created xsi:type="dcterms:W3CDTF">2021-09-22T08:38:12Z</dcterms:created>
  <dcterms:modified xsi:type="dcterms:W3CDTF">2024-04-06T09:32:47Z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0x010100008B597DB40EB548A2BE0F2D7EA3D291</vt:lpwstr>
  </property>
</Properties>
</file>