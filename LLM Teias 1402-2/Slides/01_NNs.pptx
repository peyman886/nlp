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425" r:id="rId3"/>
    <p:sldId id="584" r:id="rId4"/>
    <p:sldId id="585" r:id="rId5"/>
    <p:sldId id="589" r:id="rId6"/>
    <p:sldId id="591" r:id="rId7"/>
    <p:sldId id="1982" r:id="rId8"/>
    <p:sldId id="1978" r:id="rId9"/>
    <p:sldId id="1955" r:id="rId10"/>
    <p:sldId id="592" r:id="rId11"/>
    <p:sldId id="1984" r:id="rId12"/>
    <p:sldId id="1985" r:id="rId13"/>
    <p:sldId id="1986" r:id="rId14"/>
    <p:sldId id="1987" r:id="rId15"/>
    <p:sldId id="1989" r:id="rId16"/>
    <p:sldId id="2015" r:id="rId17"/>
    <p:sldId id="1990" r:id="rId18"/>
    <p:sldId id="1991" r:id="rId19"/>
    <p:sldId id="1992" r:id="rId20"/>
    <p:sldId id="1994" r:id="rId21"/>
    <p:sldId id="1995" r:id="rId22"/>
    <p:sldId id="1996" r:id="rId23"/>
    <p:sldId id="1997" r:id="rId24"/>
    <p:sldId id="1998" r:id="rId25"/>
    <p:sldId id="1999" r:id="rId26"/>
    <p:sldId id="459" r:id="rId27"/>
    <p:sldId id="461" r:id="rId28"/>
    <p:sldId id="2000" r:id="rId29"/>
    <p:sldId id="2001" r:id="rId30"/>
    <p:sldId id="2002" r:id="rId31"/>
    <p:sldId id="2003" r:id="rId32"/>
    <p:sldId id="2004" r:id="rId33"/>
    <p:sldId id="2005" r:id="rId34"/>
    <p:sldId id="2006" r:id="rId35"/>
    <p:sldId id="2007" r:id="rId36"/>
    <p:sldId id="2008" r:id="rId37"/>
    <p:sldId id="2010" r:id="rId38"/>
    <p:sldId id="2011" r:id="rId39"/>
    <p:sldId id="2012" r:id="rId40"/>
    <p:sldId id="2013" r:id="rId41"/>
    <p:sldId id="2014" r:id="rId4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81224" autoAdjust="0"/>
  </p:normalViewPr>
  <p:slideViewPr>
    <p:cSldViewPr snapToGrid="0">
      <p:cViewPr varScale="1">
        <p:scale>
          <a:sx n="54" d="100"/>
          <a:sy n="54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9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tags" Target="../tags/tag4.xml"/><Relationship Id="rId7" Type="http://schemas.openxmlformats.org/officeDocument/2006/relationships/image" Target="../media/image1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18" Type="http://schemas.openxmlformats.org/officeDocument/2006/relationships/image" Target="../media/image30.emf"/><Relationship Id="rId3" Type="http://schemas.openxmlformats.org/officeDocument/2006/relationships/image" Target="../media/image14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17" Type="http://schemas.openxmlformats.org/officeDocument/2006/relationships/image" Target="../media/image29.emf"/><Relationship Id="rId2" Type="http://schemas.openxmlformats.org/officeDocument/2006/relationships/image" Target="../media/image13.emf"/><Relationship Id="rId16" Type="http://schemas.openxmlformats.org/officeDocument/2006/relationships/image" Target="../media/image28.emf"/><Relationship Id="rId20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27.emf"/><Relationship Id="rId10" Type="http://schemas.openxmlformats.org/officeDocument/2006/relationships/image" Target="../media/image22.emf"/><Relationship Id="rId19" Type="http://schemas.openxmlformats.org/officeDocument/2006/relationships/image" Target="../media/image31.emf"/><Relationship Id="rId4" Type="http://schemas.openxmlformats.org/officeDocument/2006/relationships/image" Target="../media/image15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AFF7-A259-4627-80E4-82FB1B8F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064475"/>
            <a:ext cx="10769600" cy="932935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Intro to Neural Networks and Deep Learning</a:t>
            </a:r>
            <a:br>
              <a:rPr lang="en-US" sz="5400" dirty="0"/>
            </a:br>
            <a:r>
              <a:rPr lang="en-US" sz="3200" dirty="0"/>
              <a:t>(focusing on NLP classification)</a:t>
            </a:r>
            <a:endParaRPr lang="en-US" sz="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15243-6737-5AE2-86B6-359380E36D04}"/>
              </a:ext>
            </a:extLst>
          </p:cNvPr>
          <p:cNvSpPr txBox="1"/>
          <p:nvPr/>
        </p:nvSpPr>
        <p:spPr>
          <a:xfrm>
            <a:off x="0" y="6427113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Some slides are adopted from “ML for NLU” course of Sam Bowman (NYU) and “AI”  course at UC </a:t>
            </a:r>
            <a:r>
              <a:rPr lang="en-US" sz="1100" dirty="0" err="1"/>
              <a:t>Berekley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78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0760798-C880-C6B1-27EE-51F799FF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Inputs are </a:t>
            </a:r>
            <a:r>
              <a:rPr lang="en-US" sz="2800" dirty="0">
                <a:solidFill>
                  <a:srgbClr val="CC0000"/>
                </a:solidFill>
                <a:latin typeface="Calibri"/>
                <a:cs typeface="Calibri"/>
              </a:rPr>
              <a:t>feature values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Each feature has a </a:t>
            </a:r>
            <a:r>
              <a:rPr lang="en-US" sz="2800" dirty="0">
                <a:solidFill>
                  <a:srgbClr val="CC0000"/>
                </a:solidFill>
                <a:latin typeface="Calibri"/>
                <a:cs typeface="Calibri"/>
              </a:rPr>
              <a:t>weight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Sum is the </a:t>
            </a:r>
            <a:r>
              <a:rPr lang="en-US" sz="2800" dirty="0">
                <a:solidFill>
                  <a:srgbClr val="CC0000"/>
                </a:solidFill>
                <a:latin typeface="Calibri"/>
                <a:cs typeface="Calibri"/>
              </a:rPr>
              <a:t>activation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If the activation is: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/>
                <a:cs typeface="Calibri"/>
              </a:rPr>
              <a:t>Positive, output +1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Negative, output -1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3E0781-B362-202B-04EF-695520872171}"/>
              </a:ext>
            </a:extLst>
          </p:cNvPr>
          <p:cNvGrpSpPr/>
          <p:nvPr/>
        </p:nvGrpSpPr>
        <p:grpSpPr>
          <a:xfrm>
            <a:off x="6096000" y="4395787"/>
            <a:ext cx="3352800" cy="1371600"/>
            <a:chOff x="6172200" y="4876800"/>
            <a:chExt cx="3352800" cy="137160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391400" y="5029200"/>
              <a:ext cx="685800" cy="1219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4000" dirty="0">
                  <a:latin typeface="Calibri"/>
                  <a:cs typeface="Calibri"/>
                  <a:sym typeface="Symbol" charset="0"/>
                </a:rPr>
                <a:t>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6553200" y="5257800"/>
              <a:ext cx="8382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553200" y="5638800"/>
              <a:ext cx="838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6553200" y="6019800"/>
              <a:ext cx="8382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172200" y="5105400"/>
              <a:ext cx="3810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/>
                  <a:cs typeface="Calibri"/>
                </a:rPr>
                <a:t>f</a:t>
              </a:r>
              <a:r>
                <a:rPr lang="en-US" baseline="-2500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172200" y="5486400"/>
              <a:ext cx="3810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/>
                  <a:cs typeface="Calibri"/>
                </a:rPr>
                <a:t>f</a:t>
              </a:r>
              <a:r>
                <a:rPr lang="en-US" baseline="-25000"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172200" y="5867400"/>
              <a:ext cx="3810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/>
                  <a:cs typeface="Calibri"/>
                </a:rPr>
                <a:t>f</a:t>
              </a:r>
              <a:r>
                <a:rPr lang="en-US" baseline="-25000"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6705600" y="4876800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alibri"/>
                  <a:cs typeface="Calibri"/>
                </a:rPr>
                <a:t>w</a:t>
              </a:r>
              <a:r>
                <a:rPr lang="en-US" baseline="-25000">
                  <a:latin typeface="Calibri"/>
                  <a:cs typeface="Calibri"/>
                </a:rPr>
                <a:t>1</a:t>
              </a: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6705600" y="5272088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latin typeface="Calibri"/>
                  <a:cs typeface="Calibri"/>
                </a:rPr>
                <a:t>w</a:t>
              </a:r>
              <a:r>
                <a:rPr lang="en-US" baseline="-25000" dirty="0">
                  <a:latin typeface="Calibri"/>
                  <a:cs typeface="Calibri"/>
                </a:rPr>
                <a:t>2</a:t>
              </a:r>
              <a:endParaRPr lang="en-US" dirty="0">
                <a:latin typeface="Calibri"/>
                <a:cs typeface="Calibri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6705600" y="5638800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alibri"/>
                  <a:cs typeface="Calibri"/>
                </a:rPr>
                <a:t>w</a:t>
              </a:r>
              <a:r>
                <a:rPr lang="en-US" baseline="-25000">
                  <a:latin typeface="Calibri"/>
                  <a:cs typeface="Calibri"/>
                </a:rPr>
                <a:t>3</a:t>
              </a: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8458200" y="5334000"/>
              <a:ext cx="685800" cy="609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Calibri"/>
                  <a:cs typeface="Calibri"/>
                </a:rPr>
                <a:t>&gt;0?</a:t>
              </a:r>
            </a:p>
          </p:txBody>
        </p:sp>
        <p:cxnSp>
          <p:nvCxnSpPr>
            <p:cNvPr id="17" name="AutoShape 16"/>
            <p:cNvCxnSpPr>
              <a:cxnSpLocks noChangeShapeType="1"/>
              <a:stCxn id="6" idx="3"/>
              <a:endCxn id="16" idx="1"/>
            </p:cNvCxnSpPr>
            <p:nvPr/>
          </p:nvCxnSpPr>
          <p:spPr bwMode="auto">
            <a:xfrm>
              <a:off x="8077200" y="5638800"/>
              <a:ext cx="381000" cy="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9144000" y="5638800"/>
              <a:ext cx="381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pic>
        <p:nvPicPr>
          <p:cNvPr id="19" name="Picture 1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2991612"/>
            <a:ext cx="7624762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Neuro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090613"/>
            <a:ext cx="4419600" cy="16610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E170F8-C790-74A4-7197-1D8C8BE7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7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5105-CD88-8B43-9699-8AAFC3BC5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Activation:</a:t>
            </a:r>
          </a:p>
          <a:p>
            <a:pPr lvl="1"/>
            <a:r>
              <a:rPr lang="en-US" dirty="0"/>
              <a:t>If 			        very positive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want probability going to 1</a:t>
            </a:r>
          </a:p>
          <a:p>
            <a:pPr lvl="1"/>
            <a:r>
              <a:rPr lang="en-US" dirty="0"/>
              <a:t>If  			        very negative </a:t>
            </a:r>
            <a:r>
              <a:rPr lang="en-US" dirty="0">
                <a:sym typeface="Wingdings" pitchFamily="2" charset="2"/>
              </a:rPr>
              <a:t> want probability going to 0</a:t>
            </a:r>
            <a:endParaRPr lang="en-US" dirty="0"/>
          </a:p>
          <a:p>
            <a:endParaRPr lang="en-US" dirty="0"/>
          </a:p>
          <a:p>
            <a:r>
              <a:rPr lang="en-US" dirty="0"/>
              <a:t>Sigmoid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7F0E4-0D07-A447-B53F-F88E4D3F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probabilistic decisions?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E5465-7267-6347-9424-88B3633D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76223"/>
            <a:ext cx="4499765" cy="2993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023F1C-5C7B-CE4F-BF28-C4CD16C9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653" y="1533380"/>
            <a:ext cx="2124364" cy="427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19EC6E-012A-1F44-95D8-033BB9FE5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235" y="4684096"/>
            <a:ext cx="2997200" cy="97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9BACE-6ACC-F6BC-1633-62E6FED25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653" y="2025360"/>
            <a:ext cx="2124364" cy="4271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68868-05CB-C639-B0DB-BA96D6B6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5105-CD88-8B43-9699-8AAFC3BC5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Maximum likelihood estimation: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with: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7F0E4-0D07-A447-B53F-F88E4D3F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w?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7B2151-1C3E-ED47-BFCE-EAA4666C3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298700"/>
            <a:ext cx="7505700" cy="913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798623-B533-7F46-AAD8-FF82D222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810000"/>
            <a:ext cx="7886700" cy="21006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69FF1C-F68D-CD4A-9ACA-E444132D23F8}"/>
              </a:ext>
            </a:extLst>
          </p:cNvPr>
          <p:cNvSpPr txBox="1"/>
          <p:nvPr/>
        </p:nvSpPr>
        <p:spPr>
          <a:xfrm>
            <a:off x="266700" y="5981700"/>
            <a:ext cx="3681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=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146D4-A975-4065-95C7-904129E8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7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Multi-class linear classification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A weight vector for each class: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Score (activation) of a class y: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Prediction w/highest score wins:</a:t>
            </a:r>
          </a:p>
          <a:p>
            <a:r>
              <a:rPr lang="en-US" dirty="0"/>
              <a:t>How to make the scores into probabilities? </a:t>
            </a:r>
          </a:p>
          <a:p>
            <a:endParaRPr lang="en-US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Logistic Regression</a:t>
            </a: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75317" y="2738691"/>
            <a:ext cx="14192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96432" y="3547377"/>
            <a:ext cx="33528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2" name="Picture 2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96432" y="1950733"/>
            <a:ext cx="4683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294841-EA58-6540-B947-20938E1FBC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96" y="4522612"/>
            <a:ext cx="11551365" cy="9699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4A082-2EAB-6746-AC77-10A6707493BB}"/>
              </a:ext>
            </a:extLst>
          </p:cNvPr>
          <p:cNvSpPr txBox="1"/>
          <p:nvPr/>
        </p:nvSpPr>
        <p:spPr>
          <a:xfrm>
            <a:off x="317500" y="585688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activations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160BA8-E5ED-8446-93A9-D6854AC57FED}"/>
              </a:ext>
            </a:extLst>
          </p:cNvPr>
          <p:cNvSpPr txBox="1"/>
          <p:nvPr/>
        </p:nvSpPr>
        <p:spPr>
          <a:xfrm>
            <a:off x="6608921" y="585688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r>
              <a:rPr lang="en-US" dirty="0"/>
              <a:t> activations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B3524F8-E0B3-8340-955D-C75B4C522349}"/>
              </a:ext>
            </a:extLst>
          </p:cNvPr>
          <p:cNvSpPr/>
          <p:nvPr/>
        </p:nvSpPr>
        <p:spPr>
          <a:xfrm rot="16200000">
            <a:off x="1197444" y="4759439"/>
            <a:ext cx="297670" cy="1752441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B7E6F4D8-AD56-5543-A764-C98B710D187F}"/>
              </a:ext>
            </a:extLst>
          </p:cNvPr>
          <p:cNvSpPr/>
          <p:nvPr/>
        </p:nvSpPr>
        <p:spPr>
          <a:xfrm rot="16200000">
            <a:off x="7306476" y="1038827"/>
            <a:ext cx="254862" cy="923647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59A8C6-4113-66C3-FC0A-8DAC9446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35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5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03218-AF12-B84B-9173-EA96ED271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= special case of neural network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Logistic Regression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A5720-5954-FF44-86F2-64DBD510BFDF}"/>
              </a:ext>
            </a:extLst>
          </p:cNvPr>
          <p:cNvSpPr/>
          <p:nvPr/>
        </p:nvSpPr>
        <p:spPr>
          <a:xfrm>
            <a:off x="4702432" y="271780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E87EE-69BD-EB48-9DD5-DA170DA4F94D}"/>
              </a:ext>
            </a:extLst>
          </p:cNvPr>
          <p:cNvSpPr/>
          <p:nvPr/>
        </p:nvSpPr>
        <p:spPr>
          <a:xfrm>
            <a:off x="4702432" y="36091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262234-C440-9646-8C45-15CF6D9DD208}"/>
              </a:ext>
            </a:extLst>
          </p:cNvPr>
          <p:cNvSpPr/>
          <p:nvPr/>
        </p:nvSpPr>
        <p:spPr>
          <a:xfrm>
            <a:off x="4702432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49CF-19FB-1D42-BE49-C1BB158B76B2}"/>
              </a:ext>
            </a:extLst>
          </p:cNvPr>
          <p:cNvSpPr/>
          <p:nvPr/>
        </p:nvSpPr>
        <p:spPr>
          <a:xfrm>
            <a:off x="2645032" y="2286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EBA67D-7088-8F47-A94A-49D9EFD08CFB}"/>
              </a:ext>
            </a:extLst>
          </p:cNvPr>
          <p:cNvSpPr/>
          <p:nvPr/>
        </p:nvSpPr>
        <p:spPr>
          <a:xfrm>
            <a:off x="2645032" y="30225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EF69C-9711-1844-9BC8-DCFD043A9A0B}"/>
              </a:ext>
            </a:extLst>
          </p:cNvPr>
          <p:cNvSpPr/>
          <p:nvPr/>
        </p:nvSpPr>
        <p:spPr>
          <a:xfrm>
            <a:off x="2645032" y="37591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393A65-A87E-1F41-AD61-11E9C632BB3B}"/>
              </a:ext>
            </a:extLst>
          </p:cNvPr>
          <p:cNvSpPr/>
          <p:nvPr/>
        </p:nvSpPr>
        <p:spPr>
          <a:xfrm>
            <a:off x="2645032" y="5107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2AD92-0C8E-3E4A-BE55-152C758BDA6F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3254632" y="2590800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BF4D5-EB5F-364C-865E-88B171A8012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3254632" y="2590800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64FB15-66A0-344C-9012-B54F0E0EA9C5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3254632" y="3327399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D7D91-D32E-9C4E-A158-6624CCE36735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3254632" y="4063998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709B-07A7-4140-BC26-0FE413669EA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3254632" y="4802984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4526FC-59B9-1D43-A928-3AE96BD3E3E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3254632" y="2590800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53426-5F80-F045-B572-E86C7C3630A4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3254632" y="3913983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353CD-9070-5141-A6EA-B8AF432B6F9A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3254632" y="3022603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8A068-D7D8-3548-B1A8-918E436445B5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 flipV="1">
            <a:off x="3254632" y="3022603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B73F45-26B0-9445-AB5D-969B9759967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3254632" y="3327399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0B7433-4A04-4B4D-B0B8-7F8D96C47B07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3254632" y="3913983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F5117D-CF3A-5C47-9B55-26A495F20C27}"/>
              </a:ext>
            </a:extLst>
          </p:cNvPr>
          <p:cNvCxnSpPr>
            <a:cxnSpLocks/>
            <a:stCxn id="10" idx="6"/>
            <a:endCxn id="4" idx="2"/>
          </p:cNvCxnSpPr>
          <p:nvPr/>
        </p:nvCxnSpPr>
        <p:spPr>
          <a:xfrm flipV="1">
            <a:off x="3254632" y="3022603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AFAAF-6B45-4143-B9C8-B1497848ED93}"/>
              </a:ext>
            </a:extLst>
          </p:cNvPr>
          <p:cNvSpPr/>
          <p:nvPr/>
        </p:nvSpPr>
        <p:spPr>
          <a:xfrm>
            <a:off x="5751177" y="2464991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FB1BB8-62CF-1946-9AAA-C5CC0111225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5312032" y="302260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B00FCE-948B-D04E-995A-4E7BCF24FFA4}"/>
              </a:ext>
            </a:extLst>
          </p:cNvPr>
          <p:cNvCxnSpPr>
            <a:cxnSpLocks/>
            <a:stCxn id="5" idx="6"/>
            <a:endCxn id="47" idx="1"/>
          </p:cNvCxnSpPr>
          <p:nvPr/>
        </p:nvCxnSpPr>
        <p:spPr>
          <a:xfrm>
            <a:off x="5312032" y="391398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3B8BE-BF9B-464D-AA23-19734243F6C4}"/>
              </a:ext>
            </a:extLst>
          </p:cNvPr>
          <p:cNvCxnSpPr>
            <a:cxnSpLocks/>
          </p:cNvCxnSpPr>
          <p:nvPr/>
        </p:nvCxnSpPr>
        <p:spPr>
          <a:xfrm>
            <a:off x="5312032" y="4773915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A89556-5068-A441-9CAC-271C20C5D8C3}"/>
              </a:ext>
            </a:extLst>
          </p:cNvPr>
          <p:cNvCxnSpPr>
            <a:cxnSpLocks/>
          </p:cNvCxnSpPr>
          <p:nvPr/>
        </p:nvCxnSpPr>
        <p:spPr>
          <a:xfrm>
            <a:off x="6150232" y="30442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0DC496-EF5A-DB4D-99ED-6CDCD593A420}"/>
              </a:ext>
            </a:extLst>
          </p:cNvPr>
          <p:cNvCxnSpPr>
            <a:cxnSpLocks/>
          </p:cNvCxnSpPr>
          <p:nvPr/>
        </p:nvCxnSpPr>
        <p:spPr>
          <a:xfrm>
            <a:off x="6150232" y="393564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8201-4F0B-4C44-9A9C-5BC367C357C7}"/>
              </a:ext>
            </a:extLst>
          </p:cNvPr>
          <p:cNvCxnSpPr>
            <a:cxnSpLocks/>
          </p:cNvCxnSpPr>
          <p:nvPr/>
        </p:nvCxnSpPr>
        <p:spPr>
          <a:xfrm>
            <a:off x="6150232" y="479557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B9F4C8-49AC-BE4D-B127-F825536060AF}"/>
              </a:ext>
            </a:extLst>
          </p:cNvPr>
          <p:cNvSpPr txBox="1"/>
          <p:nvPr/>
        </p:nvSpPr>
        <p:spPr>
          <a:xfrm>
            <a:off x="5801670" y="2820472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7743EB1-5D6F-4647-9F8C-F124A3C4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88" y="2794701"/>
            <a:ext cx="2375244" cy="4147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8E462E5-C4B1-CB4A-824E-C8AC6F2C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32" y="3700075"/>
            <a:ext cx="2375244" cy="41472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0F6A915-63C2-B84F-B65F-CEB927BC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32" y="4545816"/>
            <a:ext cx="2612768" cy="45619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CCD27E8-5F79-914C-BF8C-E75A58A64CC2}"/>
              </a:ext>
            </a:extLst>
          </p:cNvPr>
          <p:cNvSpPr txBox="1"/>
          <p:nvPr/>
        </p:nvSpPr>
        <p:spPr>
          <a:xfrm>
            <a:off x="2743200" y="4572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00A8EBF-FDB0-7056-8C9A-6A0AB2A9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9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Build a multi-layer neural network!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classifiers out of </a:t>
            </a:r>
            <a:r>
              <a:rPr lang="en-US" dirty="0" err="1"/>
              <a:t>perceptrons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34670"/>
            <a:ext cx="7924800" cy="38872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E4D7B-26A2-FBDF-8ED6-3E93493B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2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FF89-1DFE-0B98-901A-D8B20ECC8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 = Also learn the features!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9C3E26D-A790-BE04-B025-6096BFE2022F}"/>
              </a:ext>
            </a:extLst>
          </p:cNvPr>
          <p:cNvGrpSpPr/>
          <p:nvPr/>
        </p:nvGrpSpPr>
        <p:grpSpPr>
          <a:xfrm>
            <a:off x="457200" y="1555764"/>
            <a:ext cx="11277600" cy="2995886"/>
            <a:chOff x="152400" y="1676400"/>
            <a:chExt cx="13716000" cy="343376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43A5720-5954-FF44-86F2-64DBD510BFDF}"/>
                </a:ext>
              </a:extLst>
            </p:cNvPr>
            <p:cNvSpPr/>
            <p:nvPr/>
          </p:nvSpPr>
          <p:spPr>
            <a:xfrm>
              <a:off x="9122032" y="2110587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0BE87EE-69BD-EB48-9DD5-DA170DA4F94D}"/>
                </a:ext>
              </a:extLst>
            </p:cNvPr>
            <p:cNvSpPr/>
            <p:nvPr/>
          </p:nvSpPr>
          <p:spPr>
            <a:xfrm>
              <a:off x="9122032" y="3001967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262234-C440-9646-8C45-15CF6D9DD208}"/>
                </a:ext>
              </a:extLst>
            </p:cNvPr>
            <p:cNvSpPr/>
            <p:nvPr/>
          </p:nvSpPr>
          <p:spPr>
            <a:xfrm>
              <a:off x="9122032" y="3890968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65949CF-19FB-1D42-BE49-C1BB158B76B2}"/>
                </a:ext>
              </a:extLst>
            </p:cNvPr>
            <p:cNvSpPr/>
            <p:nvPr/>
          </p:nvSpPr>
          <p:spPr>
            <a:xfrm>
              <a:off x="7064632" y="1676400"/>
              <a:ext cx="841403" cy="61198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1050" baseline="-25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n-US" sz="105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(x)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EBA67D-7088-8F47-A94A-49D9EFD08CFB}"/>
                </a:ext>
              </a:extLst>
            </p:cNvPr>
            <p:cNvSpPr/>
            <p:nvPr/>
          </p:nvSpPr>
          <p:spPr>
            <a:xfrm>
              <a:off x="7064632" y="2412999"/>
              <a:ext cx="841403" cy="61198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5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1050" baseline="-250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sz="105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(x)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BEF69C-9711-1844-9BC8-DCFD043A9A0B}"/>
                </a:ext>
              </a:extLst>
            </p:cNvPr>
            <p:cNvSpPr/>
            <p:nvPr/>
          </p:nvSpPr>
          <p:spPr>
            <a:xfrm>
              <a:off x="7064632" y="3149598"/>
              <a:ext cx="841403" cy="61198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5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1050" baseline="-250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r>
                <a:rPr lang="en-US" sz="105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(x)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393A65-A87E-1F41-AD61-11E9C632BB3B}"/>
                </a:ext>
              </a:extLst>
            </p:cNvPr>
            <p:cNvSpPr/>
            <p:nvPr/>
          </p:nvSpPr>
          <p:spPr>
            <a:xfrm>
              <a:off x="7064632" y="4498184"/>
              <a:ext cx="841403" cy="61198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1050" baseline="-250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lang="en-US" sz="105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(x)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F42AD92-0C8E-3E4A-BE55-152C758BDA6F}"/>
                </a:ext>
              </a:extLst>
            </p:cNvPr>
            <p:cNvCxnSpPr>
              <a:cxnSpLocks/>
              <a:stCxn id="7" idx="6"/>
              <a:endCxn id="4" idx="2"/>
            </p:cNvCxnSpPr>
            <p:nvPr/>
          </p:nvCxnSpPr>
          <p:spPr>
            <a:xfrm>
              <a:off x="7906035" y="1982392"/>
              <a:ext cx="1215997" cy="4329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6DBF4D5-EB5F-364C-865E-88B171A80127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7906035" y="1982392"/>
              <a:ext cx="1215997" cy="22133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564FB15-66A0-344C-9012-B54F0E0EA9C5}"/>
                </a:ext>
              </a:extLst>
            </p:cNvPr>
            <p:cNvCxnSpPr>
              <a:cxnSpLocks/>
              <a:stCxn id="8" idx="6"/>
              <a:endCxn id="6" idx="2"/>
            </p:cNvCxnSpPr>
            <p:nvPr/>
          </p:nvCxnSpPr>
          <p:spPr>
            <a:xfrm>
              <a:off x="7906035" y="2718991"/>
              <a:ext cx="1215997" cy="1476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5D7D91-D32E-9C4E-A158-6624CCE36735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7906035" y="3455589"/>
              <a:ext cx="1215996" cy="7401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F70709B-07A7-4140-BC26-0FE413669EAC}"/>
                </a:ext>
              </a:extLst>
            </p:cNvPr>
            <p:cNvCxnSpPr>
              <a:cxnSpLocks/>
              <a:stCxn id="10" idx="6"/>
              <a:endCxn id="6" idx="2"/>
            </p:cNvCxnSpPr>
            <p:nvPr/>
          </p:nvCxnSpPr>
          <p:spPr>
            <a:xfrm flipV="1">
              <a:off x="7906035" y="4195768"/>
              <a:ext cx="1215997" cy="6084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24526FC-59B9-1D43-A928-3AE96BD3E3E3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7906035" y="1982392"/>
              <a:ext cx="1215997" cy="13243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7053426-5F80-F045-B572-E86C7C3630A4}"/>
                </a:ext>
              </a:extLst>
            </p:cNvPr>
            <p:cNvCxnSpPr>
              <a:cxnSpLocks/>
              <a:stCxn id="9" idx="6"/>
              <a:endCxn id="5" idx="2"/>
            </p:cNvCxnSpPr>
            <p:nvPr/>
          </p:nvCxnSpPr>
          <p:spPr>
            <a:xfrm flipV="1">
              <a:off x="7906035" y="3306767"/>
              <a:ext cx="1215997" cy="1488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10353CD-9070-5141-A6EA-B8AF432B6F9A}"/>
                </a:ext>
              </a:extLst>
            </p:cNvPr>
            <p:cNvCxnSpPr>
              <a:cxnSpLocks/>
              <a:stCxn id="9" idx="6"/>
              <a:endCxn id="4" idx="2"/>
            </p:cNvCxnSpPr>
            <p:nvPr/>
          </p:nvCxnSpPr>
          <p:spPr>
            <a:xfrm flipV="1">
              <a:off x="7906035" y="2415386"/>
              <a:ext cx="1215997" cy="10402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FE8A068-D7D8-3548-B1A8-918E436445B5}"/>
                </a:ext>
              </a:extLst>
            </p:cNvPr>
            <p:cNvCxnSpPr>
              <a:cxnSpLocks/>
              <a:stCxn id="8" idx="6"/>
              <a:endCxn id="4" idx="2"/>
            </p:cNvCxnSpPr>
            <p:nvPr/>
          </p:nvCxnSpPr>
          <p:spPr>
            <a:xfrm flipV="1">
              <a:off x="7906035" y="2415386"/>
              <a:ext cx="1215997" cy="3036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0B73F45-26B0-9445-AB5D-969B97599676}"/>
                </a:ext>
              </a:extLst>
            </p:cNvPr>
            <p:cNvCxnSpPr>
              <a:cxnSpLocks/>
              <a:stCxn id="8" idx="6"/>
              <a:endCxn id="5" idx="2"/>
            </p:cNvCxnSpPr>
            <p:nvPr/>
          </p:nvCxnSpPr>
          <p:spPr>
            <a:xfrm>
              <a:off x="7906035" y="2718991"/>
              <a:ext cx="1215997" cy="5877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90B7433-4A04-4B4D-B0B8-7F8D96C47B07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 flipV="1">
              <a:off x="7906035" y="3306767"/>
              <a:ext cx="1215997" cy="14974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3F5117D-CF3A-5C47-9B55-26A495F20C27}"/>
                </a:ext>
              </a:extLst>
            </p:cNvPr>
            <p:cNvCxnSpPr>
              <a:cxnSpLocks/>
              <a:stCxn id="10" idx="6"/>
              <a:endCxn id="4" idx="2"/>
            </p:cNvCxnSpPr>
            <p:nvPr/>
          </p:nvCxnSpPr>
          <p:spPr>
            <a:xfrm flipV="1">
              <a:off x="7906035" y="2415386"/>
              <a:ext cx="1215997" cy="23887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49AFAAF-6B45-4143-B9C8-B1497848ED93}"/>
                </a:ext>
              </a:extLst>
            </p:cNvPr>
            <p:cNvSpPr/>
            <p:nvPr/>
          </p:nvSpPr>
          <p:spPr>
            <a:xfrm>
              <a:off x="10170777" y="1857775"/>
              <a:ext cx="399055" cy="2897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8FB1BB8-62CF-1946-9AAA-C5CC0111225A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>
              <a:off x="9731632" y="2415387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AB00FCE-948B-D04E-995A-4E7BCF24FFA4}"/>
                </a:ext>
              </a:extLst>
            </p:cNvPr>
            <p:cNvCxnSpPr>
              <a:cxnSpLocks/>
              <a:stCxn id="5" idx="6"/>
              <a:endCxn id="47" idx="1"/>
            </p:cNvCxnSpPr>
            <p:nvPr/>
          </p:nvCxnSpPr>
          <p:spPr>
            <a:xfrm>
              <a:off x="9731632" y="3306767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083B8BE-BF9B-464D-AA23-19734243F6C4}"/>
                </a:ext>
              </a:extLst>
            </p:cNvPr>
            <p:cNvCxnSpPr>
              <a:cxnSpLocks/>
            </p:cNvCxnSpPr>
            <p:nvPr/>
          </p:nvCxnSpPr>
          <p:spPr>
            <a:xfrm>
              <a:off x="9731632" y="4166699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FA89556-5068-A441-9CAC-271C20C5D8C3}"/>
                </a:ext>
              </a:extLst>
            </p:cNvPr>
            <p:cNvCxnSpPr>
              <a:cxnSpLocks/>
            </p:cNvCxnSpPr>
            <p:nvPr/>
          </p:nvCxnSpPr>
          <p:spPr>
            <a:xfrm>
              <a:off x="10569832" y="2437051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C0DC496-EF5A-DB4D-99ED-6CDCD593A420}"/>
                </a:ext>
              </a:extLst>
            </p:cNvPr>
            <p:cNvCxnSpPr>
              <a:cxnSpLocks/>
            </p:cNvCxnSpPr>
            <p:nvPr/>
          </p:nvCxnSpPr>
          <p:spPr>
            <a:xfrm>
              <a:off x="10569832" y="3328431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AB78201-4F0B-4C44-9A9C-5BC367C357C7}"/>
                </a:ext>
              </a:extLst>
            </p:cNvPr>
            <p:cNvCxnSpPr>
              <a:cxnSpLocks/>
            </p:cNvCxnSpPr>
            <p:nvPr/>
          </p:nvCxnSpPr>
          <p:spPr>
            <a:xfrm>
              <a:off x="10569832" y="4188363"/>
              <a:ext cx="4391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B9F4C8-49AC-BE4D-B127-F825536060AF}"/>
                </a:ext>
              </a:extLst>
            </p:cNvPr>
            <p:cNvSpPr txBox="1"/>
            <p:nvPr/>
          </p:nvSpPr>
          <p:spPr>
            <a:xfrm>
              <a:off x="10221270" y="2213256"/>
              <a:ext cx="2527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" pitchFamily="2" charset="0"/>
                </a:rPr>
                <a:t>softmax</a:t>
              </a:r>
              <a:endParaRPr lang="en-US" dirty="0">
                <a:latin typeface="Courier" pitchFamily="2" charset="0"/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7743EB1-5D6F-4647-9F8C-F124A3C4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2588" y="2187485"/>
              <a:ext cx="2375244" cy="41472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8E462E5-C4B1-CB4A-824E-C8AC6F2C6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55632" y="3092859"/>
              <a:ext cx="2375244" cy="41472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0F6A915-63C2-B84F-B65F-CEB927BC4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55632" y="3938600"/>
              <a:ext cx="2612768" cy="456197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2A01153-3F7F-6644-BFE2-8694D89285D8}"/>
                </a:ext>
              </a:extLst>
            </p:cNvPr>
            <p:cNvSpPr txBox="1"/>
            <p:nvPr/>
          </p:nvSpPr>
          <p:spPr>
            <a:xfrm>
              <a:off x="7162800" y="396478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0A9A8E-1F14-F24F-898C-6D4E29D54C25}"/>
                </a:ext>
              </a:extLst>
            </p:cNvPr>
            <p:cNvSpPr/>
            <p:nvPr/>
          </p:nvSpPr>
          <p:spPr>
            <a:xfrm>
              <a:off x="152400" y="1678784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sz="1600" baseline="-25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A441AF3-4700-4D4C-97A4-94A70A289E05}"/>
                </a:ext>
              </a:extLst>
            </p:cNvPr>
            <p:cNvSpPr/>
            <p:nvPr/>
          </p:nvSpPr>
          <p:spPr>
            <a:xfrm>
              <a:off x="152400" y="2415383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sz="1600" baseline="-250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0768360-3B88-7D40-BC4A-C666016E741C}"/>
                </a:ext>
              </a:extLst>
            </p:cNvPr>
            <p:cNvSpPr/>
            <p:nvPr/>
          </p:nvSpPr>
          <p:spPr>
            <a:xfrm>
              <a:off x="152400" y="3151982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sz="1600" baseline="-250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175CDD4-D652-D247-9B4F-692752AF7464}"/>
                </a:ext>
              </a:extLst>
            </p:cNvPr>
            <p:cNvSpPr/>
            <p:nvPr/>
          </p:nvSpPr>
          <p:spPr>
            <a:xfrm>
              <a:off x="152400" y="4500568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sz="1600" baseline="-250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</a:t>
              </a:r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E444B7-D5A5-4846-A1AE-7044E3638EF1}"/>
                </a:ext>
              </a:extLst>
            </p:cNvPr>
            <p:cNvSpPr txBox="1"/>
            <p:nvPr/>
          </p:nvSpPr>
          <p:spPr>
            <a:xfrm>
              <a:off x="228600" y="390025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212EB48-A487-3441-B5C9-9F27DB460D30}"/>
                </a:ext>
              </a:extLst>
            </p:cNvPr>
            <p:cNvSpPr/>
            <p:nvPr/>
          </p:nvSpPr>
          <p:spPr>
            <a:xfrm>
              <a:off x="1828800" y="1676400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49EC0A3-2056-044A-AE2F-C88F186B5C62}"/>
                </a:ext>
              </a:extLst>
            </p:cNvPr>
            <p:cNvSpPr/>
            <p:nvPr/>
          </p:nvSpPr>
          <p:spPr>
            <a:xfrm>
              <a:off x="1828800" y="2412999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AF0B3B4-206D-6940-908E-B8F44CC68A39}"/>
                </a:ext>
              </a:extLst>
            </p:cNvPr>
            <p:cNvSpPr/>
            <p:nvPr/>
          </p:nvSpPr>
          <p:spPr>
            <a:xfrm>
              <a:off x="1828800" y="3149598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CB0079F-C22D-F447-8748-DD4429427D40}"/>
                </a:ext>
              </a:extLst>
            </p:cNvPr>
            <p:cNvSpPr/>
            <p:nvPr/>
          </p:nvSpPr>
          <p:spPr>
            <a:xfrm>
              <a:off x="1828800" y="4498184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FA79B31-1D20-1E44-A15E-1EC23742DAD1}"/>
                </a:ext>
              </a:extLst>
            </p:cNvPr>
            <p:cNvSpPr txBox="1"/>
            <p:nvPr/>
          </p:nvSpPr>
          <p:spPr>
            <a:xfrm>
              <a:off x="1905000" y="38978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EBD58D6-B6E6-264F-A75C-917629177410}"/>
                </a:ext>
              </a:extLst>
            </p:cNvPr>
            <p:cNvSpPr/>
            <p:nvPr/>
          </p:nvSpPr>
          <p:spPr>
            <a:xfrm>
              <a:off x="3505200" y="1678784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91ED56-EAB4-6444-8B34-63672FF754B6}"/>
                </a:ext>
              </a:extLst>
            </p:cNvPr>
            <p:cNvSpPr/>
            <p:nvPr/>
          </p:nvSpPr>
          <p:spPr>
            <a:xfrm>
              <a:off x="3505200" y="2415383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B686E79-56CA-AD42-8459-398310976342}"/>
                </a:ext>
              </a:extLst>
            </p:cNvPr>
            <p:cNvSpPr/>
            <p:nvPr/>
          </p:nvSpPr>
          <p:spPr>
            <a:xfrm>
              <a:off x="3505200" y="3151982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01E9E4E-A9F7-0046-A54F-E1C074D731BA}"/>
                </a:ext>
              </a:extLst>
            </p:cNvPr>
            <p:cNvSpPr/>
            <p:nvPr/>
          </p:nvSpPr>
          <p:spPr>
            <a:xfrm>
              <a:off x="3505200" y="4500568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FD06C78-41F4-464E-AF0E-1248CC676A5A}"/>
                </a:ext>
              </a:extLst>
            </p:cNvPr>
            <p:cNvSpPr txBox="1"/>
            <p:nvPr/>
          </p:nvSpPr>
          <p:spPr>
            <a:xfrm>
              <a:off x="3581400" y="390025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B100046-20AD-764A-98C6-15CD85DD0A91}"/>
                </a:ext>
              </a:extLst>
            </p:cNvPr>
            <p:cNvSpPr/>
            <p:nvPr/>
          </p:nvSpPr>
          <p:spPr>
            <a:xfrm>
              <a:off x="5410200" y="1678784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C1FE6E-11B8-5943-A4D8-29C373D9E851}"/>
                </a:ext>
              </a:extLst>
            </p:cNvPr>
            <p:cNvSpPr/>
            <p:nvPr/>
          </p:nvSpPr>
          <p:spPr>
            <a:xfrm>
              <a:off x="5410200" y="2415383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A1BD88F-8F49-D444-92C8-C752211BAEAA}"/>
                </a:ext>
              </a:extLst>
            </p:cNvPr>
            <p:cNvSpPr/>
            <p:nvPr/>
          </p:nvSpPr>
          <p:spPr>
            <a:xfrm>
              <a:off x="5410200" y="3151982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9F6B768-DCB7-E94B-8EA6-B6D07998F922}"/>
                </a:ext>
              </a:extLst>
            </p:cNvPr>
            <p:cNvSpPr/>
            <p:nvPr/>
          </p:nvSpPr>
          <p:spPr>
            <a:xfrm>
              <a:off x="5410200" y="4500568"/>
              <a:ext cx="609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B86C79-4210-9543-83E6-0D045AD38EF0}"/>
                </a:ext>
              </a:extLst>
            </p:cNvPr>
            <p:cNvSpPr txBox="1"/>
            <p:nvPr/>
          </p:nvSpPr>
          <p:spPr>
            <a:xfrm>
              <a:off x="5486400" y="390025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FCF439-C5E4-9649-8385-752CE3555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9422" y="1791880"/>
              <a:ext cx="372778" cy="34410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D04483-3165-034C-BE0B-15F0A4D7A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7211" y="2530866"/>
              <a:ext cx="372778" cy="34410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C80BE36-B407-0D44-8AF7-EB6CFBA76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69179" y="3300221"/>
              <a:ext cx="372778" cy="35127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AAFE58B-058B-BA45-A9EE-D6F6C0E4E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4641" y="4630281"/>
              <a:ext cx="462715" cy="34540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12BC2E8-5A0C-5A43-9CD3-6E23F71C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75885" y="4630281"/>
              <a:ext cx="462715" cy="34540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913E5AA-E16B-F54D-AA02-856880D05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44565" y="1817269"/>
              <a:ext cx="372778" cy="34410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90791AF-85B3-AE4C-8102-D8EEFB1D3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19467" y="2530866"/>
              <a:ext cx="372778" cy="34410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24C2811-1A29-5648-842D-91B62BE1E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47260" y="3291039"/>
              <a:ext cx="338889" cy="319338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E54AC2B-BD58-CD45-8754-2ECD37D7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00742" y="2286104"/>
              <a:ext cx="554762" cy="258531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F54B6809-8D43-374B-866E-FAEBC539B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193513" y="3199165"/>
              <a:ext cx="554762" cy="258531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ED4B2D8-497C-2545-B102-D16DA9407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98838" y="4073494"/>
              <a:ext cx="554762" cy="263915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2E5A591-9F0D-0948-815B-21453BD17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486400" y="3319869"/>
              <a:ext cx="490130" cy="26391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A3AAC56-D10E-A94C-898F-D0044F1AE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486400" y="2639453"/>
              <a:ext cx="490130" cy="258531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7D8FFC3-5BF1-7848-8214-BDECAF7A5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510905" y="1877453"/>
              <a:ext cx="490130" cy="258531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A100085-647A-DF4E-8B43-0FC5F604B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77153" y="4739771"/>
              <a:ext cx="471835" cy="235916"/>
            </a:xfrm>
            <a:prstGeom prst="rect">
              <a:avLst/>
            </a:prstGeom>
          </p:spPr>
        </p:pic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3ECE2D3-5359-324A-9257-C777AA415E9C}"/>
                </a:ext>
              </a:extLst>
            </p:cNvPr>
            <p:cNvCxnSpPr>
              <a:cxnSpLocks/>
              <a:stCxn id="35" idx="6"/>
              <a:endCxn id="42" idx="2"/>
            </p:cNvCxnSpPr>
            <p:nvPr/>
          </p:nvCxnSpPr>
          <p:spPr>
            <a:xfrm flipV="1">
              <a:off x="762000" y="1981200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ABCD7A0-8A5E-0649-A78C-A9A10F8D687C}"/>
                </a:ext>
              </a:extLst>
            </p:cNvPr>
            <p:cNvCxnSpPr>
              <a:cxnSpLocks/>
              <a:stCxn id="35" idx="6"/>
              <a:endCxn id="43" idx="2"/>
            </p:cNvCxnSpPr>
            <p:nvPr/>
          </p:nvCxnSpPr>
          <p:spPr>
            <a:xfrm>
              <a:off x="762000" y="1983584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43F17B1-E77E-3242-9073-5E30192DE4F1}"/>
                </a:ext>
              </a:extLst>
            </p:cNvPr>
            <p:cNvCxnSpPr>
              <a:cxnSpLocks/>
              <a:stCxn id="35" idx="6"/>
              <a:endCxn id="45" idx="2"/>
            </p:cNvCxnSpPr>
            <p:nvPr/>
          </p:nvCxnSpPr>
          <p:spPr>
            <a:xfrm>
              <a:off x="762000" y="1983584"/>
              <a:ext cx="1066800" cy="14708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7AA8CC3-A41D-2641-AEC3-00760CF4A2F4}"/>
                </a:ext>
              </a:extLst>
            </p:cNvPr>
            <p:cNvCxnSpPr>
              <a:cxnSpLocks/>
              <a:stCxn id="35" idx="6"/>
              <a:endCxn id="46" idx="2"/>
            </p:cNvCxnSpPr>
            <p:nvPr/>
          </p:nvCxnSpPr>
          <p:spPr>
            <a:xfrm>
              <a:off x="762000" y="1983584"/>
              <a:ext cx="1066800" cy="2819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CBA05B1-1FF2-924E-8540-42C7CCD0D09F}"/>
                </a:ext>
              </a:extLst>
            </p:cNvPr>
            <p:cNvCxnSpPr>
              <a:cxnSpLocks/>
              <a:stCxn id="36" idx="6"/>
              <a:endCxn id="42" idx="2"/>
            </p:cNvCxnSpPr>
            <p:nvPr/>
          </p:nvCxnSpPr>
          <p:spPr>
            <a:xfrm flipV="1">
              <a:off x="762000" y="1981200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1A1430B-7D9B-534C-BE41-71F12328FC51}"/>
                </a:ext>
              </a:extLst>
            </p:cNvPr>
            <p:cNvCxnSpPr>
              <a:cxnSpLocks/>
              <a:stCxn id="36" idx="6"/>
              <a:endCxn id="46" idx="2"/>
            </p:cNvCxnSpPr>
            <p:nvPr/>
          </p:nvCxnSpPr>
          <p:spPr>
            <a:xfrm>
              <a:off x="762000" y="2720183"/>
              <a:ext cx="1066800" cy="2082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B5BBF901-F044-4D4A-BDCC-94282E86A03D}"/>
                </a:ext>
              </a:extLst>
            </p:cNvPr>
            <p:cNvCxnSpPr>
              <a:cxnSpLocks/>
              <a:stCxn id="37" idx="6"/>
              <a:endCxn id="45" idx="2"/>
            </p:cNvCxnSpPr>
            <p:nvPr/>
          </p:nvCxnSpPr>
          <p:spPr>
            <a:xfrm flipV="1">
              <a:off x="762000" y="3454398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BDD6522C-378B-C145-8588-00A5DD78D75F}"/>
                </a:ext>
              </a:extLst>
            </p:cNvPr>
            <p:cNvCxnSpPr>
              <a:cxnSpLocks/>
              <a:stCxn id="36" idx="6"/>
              <a:endCxn id="43" idx="2"/>
            </p:cNvCxnSpPr>
            <p:nvPr/>
          </p:nvCxnSpPr>
          <p:spPr>
            <a:xfrm flipV="1">
              <a:off x="762000" y="2717799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E3CA7E1-B791-F643-A52A-C201B74E77C2}"/>
                </a:ext>
              </a:extLst>
            </p:cNvPr>
            <p:cNvCxnSpPr>
              <a:cxnSpLocks/>
              <a:stCxn id="36" idx="6"/>
              <a:endCxn id="45" idx="2"/>
            </p:cNvCxnSpPr>
            <p:nvPr/>
          </p:nvCxnSpPr>
          <p:spPr>
            <a:xfrm>
              <a:off x="762000" y="2720183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A4370DF-83A4-7A43-84B5-47EFA835A973}"/>
                </a:ext>
              </a:extLst>
            </p:cNvPr>
            <p:cNvCxnSpPr>
              <a:cxnSpLocks/>
              <a:stCxn id="37" idx="6"/>
              <a:endCxn id="46" idx="2"/>
            </p:cNvCxnSpPr>
            <p:nvPr/>
          </p:nvCxnSpPr>
          <p:spPr>
            <a:xfrm>
              <a:off x="762000" y="3456782"/>
              <a:ext cx="1066800" cy="1346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0EF41F6-7E7D-4746-B5BA-E33F8AACDD3A}"/>
                </a:ext>
              </a:extLst>
            </p:cNvPr>
            <p:cNvCxnSpPr>
              <a:cxnSpLocks/>
              <a:stCxn id="37" idx="6"/>
              <a:endCxn id="43" idx="2"/>
            </p:cNvCxnSpPr>
            <p:nvPr/>
          </p:nvCxnSpPr>
          <p:spPr>
            <a:xfrm flipV="1">
              <a:off x="762000" y="2717799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F271589-F31A-8548-A1A9-8E363DC490B7}"/>
                </a:ext>
              </a:extLst>
            </p:cNvPr>
            <p:cNvCxnSpPr>
              <a:cxnSpLocks/>
              <a:stCxn id="37" idx="6"/>
              <a:endCxn id="42" idx="2"/>
            </p:cNvCxnSpPr>
            <p:nvPr/>
          </p:nvCxnSpPr>
          <p:spPr>
            <a:xfrm flipV="1">
              <a:off x="762000" y="1981200"/>
              <a:ext cx="1066800" cy="1475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16E567D3-4C4B-0547-8B5F-CCEB65CA29E6}"/>
                </a:ext>
              </a:extLst>
            </p:cNvPr>
            <p:cNvCxnSpPr>
              <a:cxnSpLocks/>
              <a:stCxn id="39" idx="6"/>
              <a:endCxn id="42" idx="2"/>
            </p:cNvCxnSpPr>
            <p:nvPr/>
          </p:nvCxnSpPr>
          <p:spPr>
            <a:xfrm flipV="1">
              <a:off x="762000" y="1981200"/>
              <a:ext cx="1066800" cy="2824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9A3574CE-D484-B141-979B-3D957468BCA2}"/>
                </a:ext>
              </a:extLst>
            </p:cNvPr>
            <p:cNvCxnSpPr>
              <a:cxnSpLocks/>
              <a:stCxn id="39" idx="6"/>
              <a:endCxn id="43" idx="2"/>
            </p:cNvCxnSpPr>
            <p:nvPr/>
          </p:nvCxnSpPr>
          <p:spPr>
            <a:xfrm flipV="1">
              <a:off x="762000" y="2717799"/>
              <a:ext cx="1066800" cy="2087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EE98790-01FE-B94D-B198-9B5AE88464B2}"/>
                </a:ext>
              </a:extLst>
            </p:cNvPr>
            <p:cNvCxnSpPr>
              <a:cxnSpLocks/>
              <a:stCxn id="39" idx="6"/>
              <a:endCxn id="45" idx="2"/>
            </p:cNvCxnSpPr>
            <p:nvPr/>
          </p:nvCxnSpPr>
          <p:spPr>
            <a:xfrm flipV="1">
              <a:off x="762000" y="3454398"/>
              <a:ext cx="1066800" cy="13509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94E60EF2-2C34-714A-8FF9-5D3E24E36813}"/>
                </a:ext>
              </a:extLst>
            </p:cNvPr>
            <p:cNvCxnSpPr>
              <a:cxnSpLocks/>
              <a:stCxn id="39" idx="6"/>
              <a:endCxn id="46" idx="2"/>
            </p:cNvCxnSpPr>
            <p:nvPr/>
          </p:nvCxnSpPr>
          <p:spPr>
            <a:xfrm flipV="1">
              <a:off x="762000" y="4802984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7825F59-9CB9-6344-9B57-1752774642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983584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65A182EC-8071-6645-86B2-10FC3010459A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1985968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37691FB5-9F33-5E41-9A0A-D6D0DC947AA9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1985968"/>
              <a:ext cx="1066800" cy="14708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F929864A-6C42-9A4A-AA31-DCE78AC3DFA7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1985968"/>
              <a:ext cx="1066800" cy="2819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2557496D-90FC-8E49-9C3B-FD924BD92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983584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96C6287D-0C84-3F44-8E45-3EBFB69B44D5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2722567"/>
              <a:ext cx="1066800" cy="2082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120AF504-55DC-D34F-844F-3A95DF368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56782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E9EB7F5-3372-C740-95EA-1E454BE1C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2720183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73697004-4831-AE43-A5ED-784069FE97F9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2722567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229FFCF0-28DA-D845-9BB1-5B73A19C0F95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3459166"/>
              <a:ext cx="1066800" cy="1346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B33ABE2A-AB6B-5441-8521-4B340F1805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2720183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357EF21-034E-9D4C-80D8-3406AA3489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983584"/>
              <a:ext cx="1066800" cy="1475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8AE527D8-4141-8E41-B6C6-33739702A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983584"/>
              <a:ext cx="1066800" cy="2824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DD28FD8A-010E-CA44-BBA2-FD8BF8416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2720183"/>
              <a:ext cx="1066800" cy="2087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609044F1-96A8-DC42-B7B2-1C9CA2F1B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56782"/>
              <a:ext cx="1066800" cy="13509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E7F8137A-5D13-CF43-8EF4-D1F112B22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05368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CD65653C-0165-2C4C-92B7-FE7DC71C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1983584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4F777358-80CD-3241-98E3-E428B9AF6390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1985968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E0F675C8-1B24-524F-858C-C86971377E78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1985968"/>
              <a:ext cx="1066800" cy="14708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05B40515-0F4D-5C46-9A99-79394DF76AA3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1985968"/>
              <a:ext cx="1066800" cy="2819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7A06DE4D-5375-BB40-9268-1C5AC95D4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1983584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0D6E92EF-39FC-234C-A220-A3F83E361EEB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2722567"/>
              <a:ext cx="1066800" cy="2082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E03F6A3F-FCF7-FE4C-8D94-82A79307A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3456782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335386F5-1965-D341-8E1A-C4FAC31BA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2720183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78BF3F7F-586A-4B42-B3F6-F5AD2C58961F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2722567"/>
              <a:ext cx="1066800" cy="734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76F0F04-7C4E-B644-9BCF-ADA074FA9983}"/>
                </a:ext>
              </a:extLst>
            </p:cNvPr>
            <p:cNvCxnSpPr>
              <a:cxnSpLocks/>
            </p:cNvCxnSpPr>
            <p:nvPr/>
          </p:nvCxnSpPr>
          <p:spPr>
            <a:xfrm>
              <a:off x="6019800" y="3459166"/>
              <a:ext cx="1066800" cy="1346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03AF7B9B-CBF7-1249-A51A-763A66E85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2720183"/>
              <a:ext cx="1066800" cy="73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2B7FA1F7-B4AA-324B-86F1-2ED5A1CB2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1983584"/>
              <a:ext cx="1066800" cy="1475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712D3E96-08D3-A143-9773-6266F7217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1983584"/>
              <a:ext cx="1066800" cy="2824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781899A1-AD76-EC43-8196-67259176A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2720183"/>
              <a:ext cx="1066800" cy="2087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EE16F824-6829-FF49-8BE4-F9B0B43633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3456782"/>
              <a:ext cx="1066800" cy="13509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1A9418F8-DA02-FA4C-AA82-7B0BA78315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4805368"/>
              <a:ext cx="1066800" cy="23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C96864B-164A-264C-8D12-EEB1EEF08CBF}"/>
                </a:ext>
              </a:extLst>
            </p:cNvPr>
            <p:cNvSpPr txBox="1"/>
            <p:nvPr/>
          </p:nvSpPr>
          <p:spPr>
            <a:xfrm>
              <a:off x="4528279" y="293088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BC5D178E-561F-D342-9AB1-D38FE627D6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13947" y="5335207"/>
            <a:ext cx="3831192" cy="747126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FC439990-DD49-9248-BFC6-744CF7AE7DF9}"/>
              </a:ext>
            </a:extLst>
          </p:cNvPr>
          <p:cNvSpPr txBox="1"/>
          <p:nvPr/>
        </p:nvSpPr>
        <p:spPr>
          <a:xfrm>
            <a:off x="8307480" y="5368390"/>
            <a:ext cx="32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 = nonlinear activation function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6721684-3E2C-F3C3-FECC-71123740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E0E604-8F46-CB42-B967-B166C0C0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Activation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495E8-752A-154F-931A-209CF0CA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213845"/>
            <a:ext cx="11544300" cy="4219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3BCB90-6880-0B47-B165-5AFA4A9C74AD}"/>
              </a:ext>
            </a:extLst>
          </p:cNvPr>
          <p:cNvSpPr txBox="1"/>
          <p:nvPr/>
        </p:nvSpPr>
        <p:spPr>
          <a:xfrm>
            <a:off x="101600" y="5986790"/>
            <a:ext cx="548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[source: MIT 6.S191 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introtodeeplearning.com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]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9AF3-91F6-9A86-735A-EEC65BD3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1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139726-A10F-B440-B4E8-3E916B128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the deep neural network:</a:t>
            </a:r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en-US" sz="2800" dirty="0"/>
              <a:t>Using gradient descent algorithm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Network: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FCAC2-35AB-E548-8455-357E85BFE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0" y="2392595"/>
            <a:ext cx="8140700" cy="990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58186-BEBA-D4B8-352B-F28E80AF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35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weights by gradient descent: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Network: Training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580694" y="1679575"/>
          <a:ext cx="20462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393480" progId="Equation.3">
                  <p:embed/>
                </p:oleObj>
              </mc:Choice>
              <mc:Fallback>
                <p:oleObj name="Equation" r:id="rId2" imgW="965160" imgH="3934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0694" y="1679575"/>
                        <a:ext cx="20462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3048000" y="2895600"/>
            <a:ext cx="6324599" cy="3124200"/>
            <a:chOff x="1904999" y="3478644"/>
            <a:chExt cx="6490949" cy="337935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l="10795" r="-10769"/>
            <a:stretch/>
          </p:blipFill>
          <p:spPr>
            <a:xfrm>
              <a:off x="1904999" y="3478644"/>
              <a:ext cx="6490949" cy="337935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971800" y="6324600"/>
              <a:ext cx="44977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32025" y="6096000"/>
              <a:ext cx="44977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2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CA75A-E123-45A7-96A6-ED129A0D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9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2D746B-78FE-D04F-AFDC-12BF97AAB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for Text Classification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CDCD4-E3AC-DE7A-642D-138B4AA2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42D985-3FE1-3C45-9785-402BE6E5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piece of text, predict the sentiment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20648A-F753-5A4C-A4D0-0E39FB88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classification example: sentiment analysis</a:t>
            </a:r>
          </a:p>
        </p:txBody>
      </p:sp>
      <p:pic>
        <p:nvPicPr>
          <p:cNvPr id="2049" name="Picture 1" descr="page8image3767360">
            <a:extLst>
              <a:ext uri="{FF2B5EF4-FFF2-40B4-BE49-F238E27FC236}">
                <a16:creationId xmlns:a16="http://schemas.microsoft.com/office/drawing/2014/main" id="{2B97DCD5-9D91-FA4C-80C9-C30DB7015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246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9F4309-DCA6-8348-2DA0-5902113A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8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page9image5073808">
            <a:extLst>
              <a:ext uri="{FF2B5EF4-FFF2-40B4-BE49-F238E27FC236}">
                <a16:creationId xmlns:a16="http://schemas.microsoft.com/office/drawing/2014/main" id="{D09E2094-BC37-0348-8780-89572FAEFA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212" y="1731526"/>
            <a:ext cx="8993981" cy="3710017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65720-6670-654D-9CBC-799FA64E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Sentiment analysis</a:t>
            </a:r>
          </a:p>
        </p:txBody>
      </p:sp>
      <p:sp>
        <p:nvSpPr>
          <p:cNvPr id="3080" name="Slide Number Placeholder 4">
            <a:extLst>
              <a:ext uri="{FF2B5EF4-FFF2-40B4-BE49-F238E27FC236}">
                <a16:creationId xmlns:a16="http://schemas.microsoft.com/office/drawing/2014/main" id="{E09FE524-E95C-A40F-DAE9-651A743C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9D00882-420D-446F-B065-6675A463A27F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5F28-2EFE-EF44-8F4B-4CA6B09E0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a choice from a fixed set of labels</a:t>
            </a:r>
          </a:p>
          <a:p>
            <a:r>
              <a:rPr lang="en-US" dirty="0"/>
              <a:t>For sentiment:</a:t>
            </a:r>
          </a:p>
          <a:p>
            <a:pPr lvl="1"/>
            <a:r>
              <a:rPr lang="en-US" dirty="0"/>
              <a:t>Positive/negative</a:t>
            </a:r>
          </a:p>
          <a:p>
            <a:pPr lvl="1"/>
            <a:r>
              <a:rPr lang="en-US" dirty="0"/>
              <a:t>Star rating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917A3-D7F2-5A46-A47F-0C041286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49080-DA36-9411-CE66-EBA4C47E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63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D7DA99-A23A-FE2F-AFF9-AE11225CC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537" y="2538412"/>
            <a:ext cx="8162925" cy="23145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77C6792-7FFD-1D8D-084E-0BE69AC6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 of binary sentiment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864A1-39E3-8931-30FB-C036D252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A0724-4F49-4366-9792-232D1A38DB3E}"/>
              </a:ext>
            </a:extLst>
          </p:cNvPr>
          <p:cNvSpPr txBox="1"/>
          <p:nvPr/>
        </p:nvSpPr>
        <p:spPr>
          <a:xfrm>
            <a:off x="3936901" y="6492876"/>
            <a:ext cx="310694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https://</a:t>
            </a:r>
            <a:r>
              <a:rPr lang="en-US" sz="700" dirty="0" err="1"/>
              <a:t>www.cs.utexas.edu</a:t>
            </a:r>
            <a:r>
              <a:rPr lang="en-US" sz="700" dirty="0"/>
              <a:t>/~</a:t>
            </a:r>
            <a:r>
              <a:rPr lang="en-US" sz="700" dirty="0" err="1"/>
              <a:t>gdurrett</a:t>
            </a:r>
            <a:r>
              <a:rPr lang="en-US" sz="700" dirty="0"/>
              <a:t>/courses/online-course/</a:t>
            </a:r>
            <a:r>
              <a:rPr lang="en-US" sz="700" dirty="0" err="1"/>
              <a:t>materials.html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21526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6D76-C57F-6C4A-A730-4C637CCC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we have 10k labeled sentences</a:t>
            </a:r>
          </a:p>
          <a:p>
            <a:r>
              <a:rPr lang="en-US" dirty="0"/>
              <a:t>We want to learn a function </a:t>
            </a:r>
            <a:r>
              <a:rPr lang="en-US" i="1" dirty="0"/>
              <a:t>f</a:t>
            </a:r>
            <a:r>
              <a:rPr lang="en-US" dirty="0"/>
              <a:t> that</a:t>
            </a:r>
          </a:p>
          <a:p>
            <a:pPr lvl="1"/>
            <a:r>
              <a:rPr lang="en-US" dirty="0"/>
              <a:t>maps an unseen sentence to one of the labels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F5C0B-E84C-6448-B596-1C789BCE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classifier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C5903-C4C9-65D6-651F-D3FEB966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5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9BFFD-5F4F-AB48-8C69-15C8CD2A5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some example input-label pairs 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r>
              <a:rPr lang="en-US" dirty="0"/>
              <a:t>Design a model that can map inputs to labels and whose behavior depends on the values of some parameters </a:t>
            </a:r>
            <a:r>
              <a:rPr lang="en-US" dirty="0" err="1"/>
              <a:t>θ</a:t>
            </a:r>
            <a:endParaRPr lang="en-US" dirty="0"/>
          </a:p>
          <a:p>
            <a:r>
              <a:rPr lang="en-US" dirty="0"/>
              <a:t>Use a learning algorithm to train or fit the parameters </a:t>
            </a:r>
            <a:r>
              <a:rPr lang="en-US" dirty="0" err="1"/>
              <a:t>θ</a:t>
            </a:r>
            <a:r>
              <a:rPr lang="en-US" dirty="0"/>
              <a:t> to the input-label pairs 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usually involves optimization: picking parameters that perform best (according to some measure of performance) at predicting the labels from the inputs.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4905C-BF44-5E44-969E-9AA74806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with supervised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82EA9-E3AF-FEBE-3D32-05A5142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95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0754-4026-F34D-87DB-39DE4DBB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don’t like any of Ford’s trucks.</a:t>
            </a:r>
          </a:p>
          <a:p>
            <a:endParaRPr lang="en-US" dirty="0"/>
          </a:p>
          <a:p>
            <a:r>
              <a:rPr lang="en-US" dirty="0"/>
              <a:t>I do </a:t>
            </a:r>
            <a:r>
              <a:rPr lang="en-US" dirty="0" err="1"/>
              <a:t>n’t</a:t>
            </a:r>
            <a:r>
              <a:rPr lang="en-US" dirty="0"/>
              <a:t> like any of Ford ‘s trucks 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2FBAF-FDD2-2D46-9176-0AD4C2F6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strings to words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424952-4E8B-F8FA-9525-83BC6B8788D4}"/>
              </a:ext>
            </a:extLst>
          </p:cNvPr>
          <p:cNvSpPr/>
          <p:nvPr/>
        </p:nvSpPr>
        <p:spPr>
          <a:xfrm>
            <a:off x="2087745" y="3301550"/>
            <a:ext cx="5769622" cy="14080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Tokenization: Turning strings into a sequence of symbols (e.g., words, </a:t>
            </a:r>
            <a:r>
              <a:rPr lang="en-US" dirty="0" err="1"/>
              <a:t>subwords</a:t>
            </a:r>
            <a:r>
              <a:rPr lang="en-US" dirty="0"/>
              <a:t>, characters,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B518D-27EC-C961-A7BD-B8EF459C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6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CECC1D-073C-8249-B4BB-2D780AA74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916" y="1258824"/>
            <a:ext cx="8202168" cy="487375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F1B1B6-16F2-7E4A-B866-B2D8B1B3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Two-Class Classifier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B24A3-1938-6643-1F6F-19D4BE52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50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844D-4AED-6E4F-8A44-0D3592BD2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usually need to use regularization to avoid overfitting</a:t>
            </a:r>
          </a:p>
          <a:p>
            <a:pPr lvl="1"/>
            <a:r>
              <a:rPr lang="en-US" dirty="0"/>
              <a:t>early stopping could be used as well</a:t>
            </a:r>
          </a:p>
          <a:p>
            <a:r>
              <a:rPr lang="en-US" dirty="0"/>
              <a:t>We split data into train, dev, test</a:t>
            </a:r>
          </a:p>
          <a:p>
            <a:r>
              <a:rPr lang="en-US" dirty="0"/>
              <a:t>Normally all subsets are from the same distribution</a:t>
            </a:r>
          </a:p>
          <a:p>
            <a:r>
              <a:rPr lang="en-US" dirty="0"/>
              <a:t>The hyperparameters of the models are chosen using the dev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B44C8-81DA-9A4A-BCB1-FE01B4DF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supervised classifiers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A797-0EDB-3FA3-8002-85FFE231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60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AB1AF2-9211-8E48-BF24-43ED95E01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3768" y="1030224"/>
            <a:ext cx="8284464" cy="533095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82295-B437-524A-802C-EF7C4F48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 sentiment classifier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CA88-C54B-27DF-3746-3D2F1FD7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1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720CB1-A3D6-B348-B302-B6E81241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80" y="68263"/>
            <a:ext cx="10377240" cy="6351587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86448-DD56-D41A-25BC-E0AD9C2C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57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F6B5E-A6CE-4943-8F93-5DB57D78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698500"/>
            <a:ext cx="8343900" cy="5461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E4902D-5FB0-1D91-D75A-18DD976F8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B7A0C-E92C-A471-3B8E-D9CE0005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62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76BF4F-A08F-B042-968A-AD8D020EB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660400"/>
            <a:ext cx="8648700" cy="55372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7CA3DB-22A7-D2F5-3FDC-D90A070C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F8AF2-A689-3C6A-C3A7-2011C6B9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3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C6DC75-6F7E-2940-9046-D9B48B47E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117" y="2290456"/>
            <a:ext cx="6294121" cy="33934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C16081-C1F9-DE4B-879C-2C9DEC6719FE}"/>
              </a:ext>
            </a:extLst>
          </p:cNvPr>
          <p:cNvSpPr/>
          <p:nvPr/>
        </p:nvSpPr>
        <p:spPr>
          <a:xfrm>
            <a:off x="2592456" y="2290455"/>
            <a:ext cx="6477000" cy="3429000"/>
          </a:xfrm>
          <a:prstGeom prst="rect">
            <a:avLst/>
          </a:prstGeom>
          <a:solidFill>
            <a:srgbClr val="00B0F0">
              <a:alpha val="10000"/>
            </a:srgbClr>
          </a:solidFill>
          <a:ln>
            <a:solidFill>
              <a:srgbClr val="00B0F0">
                <a:alpha val="4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Each word = a vector </a:t>
            </a:r>
          </a:p>
          <a:p>
            <a:r>
              <a:rPr lang="en-US" dirty="0"/>
              <a:t>Similar words are "nearby in space"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We'll build a new model of meaning focusing on similarity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DC4EB1-192F-FF3A-8A7D-373C6F4E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4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Called an "embedding" because it's embedded into a space</a:t>
            </a:r>
          </a:p>
          <a:p>
            <a:r>
              <a:rPr lang="en-US" sz="2400" dirty="0"/>
              <a:t>The standard way to represent meaning in NLP</a:t>
            </a:r>
          </a:p>
          <a:p>
            <a:r>
              <a:rPr lang="en-US" sz="2400" dirty="0"/>
              <a:t>Fine-grained model of meaning for similarity </a:t>
            </a:r>
          </a:p>
          <a:p>
            <a:pPr lvl="1"/>
            <a:r>
              <a:rPr lang="en-US" sz="2000" dirty="0"/>
              <a:t>NLP tasks like sentiment analysis</a:t>
            </a:r>
          </a:p>
          <a:p>
            <a:pPr lvl="2"/>
            <a:r>
              <a:rPr lang="en-US" sz="1600" dirty="0"/>
              <a:t>With words, requires same word to be in training and test</a:t>
            </a:r>
          </a:p>
          <a:p>
            <a:pPr lvl="2"/>
            <a:r>
              <a:rPr lang="en-US" sz="1600" dirty="0"/>
              <a:t>With embeddings: ok if similar words occurred!!! </a:t>
            </a:r>
          </a:p>
          <a:p>
            <a:pPr lvl="1"/>
            <a:r>
              <a:rPr lang="en-US" sz="2000" dirty="0"/>
              <a:t>Question answering, conversational agents, </a:t>
            </a:r>
            <a:r>
              <a:rPr lang="en-US" sz="2000" dirty="0" err="1"/>
              <a:t>etc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define a word as a vector</a:t>
            </a:r>
          </a:p>
        </p:txBody>
      </p:sp>
    </p:spTree>
    <p:extLst>
      <p:ext uri="{BB962C8B-B14F-4D97-AF65-F5344CB8AC3E}">
        <p14:creationId xmlns:p14="http://schemas.microsoft.com/office/powerpoint/2010/main" val="520143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44A14F-386B-3341-A3B8-6371F4D2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685800"/>
            <a:ext cx="8813800" cy="54864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0F900F-7375-2645-79B0-58F60DFAA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C1D76-3E2A-3D46-E4E7-414990CB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84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068FE8-4B91-1C4F-8F5D-E742B80F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19" y="752559"/>
            <a:ext cx="8793481" cy="53497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25A05-A6A7-8A50-7EF6-E292DD94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40F200-A71A-5D43-B0DE-3865983E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673100"/>
            <a:ext cx="8839200" cy="5511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5344E-5B08-0A0B-8347-DC562B51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1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CDD0D9-9B03-D440-9AAD-7E5F928F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711200"/>
            <a:ext cx="8877300" cy="54356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229193-877C-C818-4777-D42EB3F8D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BDBF1E-532D-AB6A-8404-BEFEECD2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11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56E000-36C7-5843-8C83-D4295830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698500"/>
            <a:ext cx="8839200" cy="5461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31F2C2-A1A5-921F-672D-7BF5EA6D7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83CBF-C2DD-4AA9-5826-033D4A64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10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41119A-9446-6B4D-8F5F-3C44E0BB7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027" y="1910334"/>
            <a:ext cx="8465890" cy="381181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4EFD90-0FB1-BC4F-B707-7C039263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NNs made of?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DAE7F-B5DD-B88F-DB10-4F191C11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72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55E3AD-1F5E-8C44-9577-3AD32C9CD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2809" y="990600"/>
            <a:ext cx="7566381" cy="5410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5BD9C3-2E9F-6C12-DF54-84C150D5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9B15E5-8DC7-ECCC-B78C-83561C34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74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928BEF-9549-D544-A2DE-84D17FE58A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700"/>
          <a:stretch/>
        </p:blipFill>
        <p:spPr>
          <a:xfrm>
            <a:off x="1590674" y="1235869"/>
            <a:ext cx="8597900" cy="50601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6B090A6-97FB-4267-EFAB-D8B409AF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From Bag-of-Words Networks to Convolutional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A260A-C9BE-1AFB-267D-FA22B118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87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21769F-4863-2C4F-AE37-86A561168E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90"/>
          <a:stretch/>
        </p:blipFill>
        <p:spPr>
          <a:xfrm>
            <a:off x="2101057" y="1450181"/>
            <a:ext cx="8763000" cy="523319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99B1E8-5156-C51D-345D-79621048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B1AB5-4A65-B466-8B30-134BD283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54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7EAB-CF57-4644-A370-35DDEF26F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679450"/>
            <a:ext cx="8737600" cy="5499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EC79C-125C-DD3D-9DCF-E4838659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7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C0B4E0-90BA-554F-BDD6-40EFD627F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584200"/>
            <a:ext cx="8966200" cy="5689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46CFC-A8BA-FB7F-4B36-B81CB619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4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90F359-4A52-4440-90EB-F8269A85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525" y="152400"/>
            <a:ext cx="8108950" cy="6108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AA90AD-3698-3D80-52E5-6F89A5FA2C94}"/>
              </a:ext>
            </a:extLst>
          </p:cNvPr>
          <p:cNvSpPr txBox="1"/>
          <p:nvPr/>
        </p:nvSpPr>
        <p:spPr>
          <a:xfrm>
            <a:off x="5922333" y="6492876"/>
            <a:ext cx="5334000" cy="338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We will discuss attention more in the future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3F415-6F27-DB84-0C5E-E1C26C4B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8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6134D7-4D31-D241-854C-7AF207E2F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9550"/>
            <a:ext cx="8839200" cy="6438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C7757-9873-A2F6-8106-16E16DAA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08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B346C4-EA6B-A448-AF7C-169E4B9A4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228600"/>
            <a:ext cx="8890000" cy="6400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683086-464B-E024-6B44-B22369B7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43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mbox{activation}_w(x) = \sum_i w_i \cdot f_i(x) = w \cdot f(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91"/>
  <p:tag name="PICTUREFILESIZE" val="223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w_{y} \cdot f(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82"/>
  <p:tag name="PICTUREFILESIZE" val="500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def\argmax{\mathop{\rm arg\,max}}&#10;\[&#10;y = \argmax_y \,\, w_y \cdot f(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2"/>
  <p:tag name="PICTUREFILESIZE" val="122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w_{y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4"/>
  <p:tag name="PICTUREFILESIZE" val="1673"/>
</p:tagLst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5CA9D5-9FAC-42C2-8C95-B9A413E63959}"/>
</file>

<file path=customXml/itemProps2.xml><?xml version="1.0" encoding="utf-8"?>
<ds:datastoreItem xmlns:ds="http://schemas.openxmlformats.org/officeDocument/2006/customXml" ds:itemID="{1647FA07-EA94-499F-B7B0-1F0B7E3E70E2}"/>
</file>

<file path=customXml/itemProps3.xml><?xml version="1.0" encoding="utf-8"?>
<ds:datastoreItem xmlns:ds="http://schemas.openxmlformats.org/officeDocument/2006/customXml" ds:itemID="{9ABD416D-9ED7-44E0-B573-018226322B53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10693</TotalTime>
  <Words>714</Words>
  <Application>Microsoft Office PowerPoint</Application>
  <PresentationFormat>Widescreen</PresentationFormat>
  <Paragraphs>180</Paragraphs>
  <Slides>41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Courier</vt:lpstr>
      <vt:lpstr>Courier New</vt:lpstr>
      <vt:lpstr>Times New Roman</vt:lpstr>
      <vt:lpstr>Wingdings</vt:lpstr>
      <vt:lpstr>Main</vt:lpstr>
      <vt:lpstr>Equation</vt:lpstr>
      <vt:lpstr>Intro to Neural Networks and Deep Learning (focusing on NLP classification)</vt:lpstr>
      <vt:lpstr>Linear Classifiers</vt:lpstr>
      <vt:lpstr>How to get probabilistic decisions?</vt:lpstr>
      <vt:lpstr>Best w? </vt:lpstr>
      <vt:lpstr>Multi-class Logistic Regression</vt:lpstr>
      <vt:lpstr>Multi-class Logistic Regression</vt:lpstr>
      <vt:lpstr>Nonlinear classifiers out of perceptrons</vt:lpstr>
      <vt:lpstr>Deep Neural Network = Also learn the features!</vt:lpstr>
      <vt:lpstr>Common Activation Functions</vt:lpstr>
      <vt:lpstr>Deep Neural Network: Training</vt:lpstr>
      <vt:lpstr>Deep Neural Network: Training</vt:lpstr>
      <vt:lpstr>Deep Learning for Text Classification</vt:lpstr>
      <vt:lpstr>Text classification example: sentiment analysis</vt:lpstr>
      <vt:lpstr>Sentiment analysis</vt:lpstr>
      <vt:lpstr>Classification</vt:lpstr>
      <vt:lpstr>Some examples of binary sentiment classification</vt:lpstr>
      <vt:lpstr>Building a classifier</vt:lpstr>
      <vt:lpstr>Classification with supervised learning</vt:lpstr>
      <vt:lpstr>From strings to words</vt:lpstr>
      <vt:lpstr>Evaluating a Two-Class Classifier</vt:lpstr>
      <vt:lpstr>Training supervised classifiers</vt:lpstr>
      <vt:lpstr>NN sentiment classifier</vt:lpstr>
      <vt:lpstr>PowerPoint Presentation</vt:lpstr>
      <vt:lpstr>PowerPoint Presentation</vt:lpstr>
      <vt:lpstr>PowerPoint Presentation</vt:lpstr>
      <vt:lpstr>We'll build a new model of meaning focusing on similarity</vt:lpstr>
      <vt:lpstr>We define a word as a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NNs made of?</vt:lpstr>
      <vt:lpstr>PowerPoint Presentation</vt:lpstr>
      <vt:lpstr>From Bag-of-Words Networks to Convolutional Networks</vt:lpstr>
      <vt:lpstr>Convolutional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149</cp:revision>
  <dcterms:created xsi:type="dcterms:W3CDTF">2021-09-22T08:38:12Z</dcterms:created>
  <dcterms:modified xsi:type="dcterms:W3CDTF">2024-02-25T07:13:50Z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