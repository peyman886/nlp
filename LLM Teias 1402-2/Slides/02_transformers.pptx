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320" r:id="rId3"/>
    <p:sldId id="303" r:id="rId4"/>
    <p:sldId id="304" r:id="rId5"/>
    <p:sldId id="306" r:id="rId6"/>
    <p:sldId id="308" r:id="rId7"/>
    <p:sldId id="305" r:id="rId8"/>
    <p:sldId id="309" r:id="rId9"/>
    <p:sldId id="258" r:id="rId10"/>
    <p:sldId id="310" r:id="rId11"/>
    <p:sldId id="257" r:id="rId12"/>
    <p:sldId id="314" r:id="rId13"/>
    <p:sldId id="315" r:id="rId14"/>
    <p:sldId id="316" r:id="rId15"/>
    <p:sldId id="317" r:id="rId16"/>
    <p:sldId id="321" r:id="rId17"/>
    <p:sldId id="318" r:id="rId18"/>
    <p:sldId id="292" r:id="rId19"/>
    <p:sldId id="294" r:id="rId20"/>
    <p:sldId id="312" r:id="rId21"/>
    <p:sldId id="319" r:id="rId22"/>
    <p:sldId id="261" r:id="rId23"/>
    <p:sldId id="311" r:id="rId24"/>
    <p:sldId id="296" r:id="rId25"/>
    <p:sldId id="297" r:id="rId26"/>
    <p:sldId id="259" r:id="rId27"/>
    <p:sldId id="298" r:id="rId28"/>
    <p:sldId id="260" r:id="rId29"/>
    <p:sldId id="262" r:id="rId30"/>
    <p:sldId id="263" r:id="rId31"/>
    <p:sldId id="313" r:id="rId32"/>
    <p:sldId id="299" r:id="rId33"/>
    <p:sldId id="268" r:id="rId34"/>
    <p:sldId id="301" r:id="rId35"/>
    <p:sldId id="302" r:id="rId3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81224" autoAdjust="0"/>
  </p:normalViewPr>
  <p:slideViewPr>
    <p:cSldViewPr snapToGrid="0">
      <p:cViewPr varScale="1">
        <p:scale>
          <a:sx n="54" d="100"/>
          <a:sy n="54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fa-IR" dirty="0"/>
              <a:t>کدام مورد از مزایای شبکه </a:t>
            </a:r>
            <a:r>
              <a:rPr lang="en-US" dirty="0"/>
              <a:t>RNN</a:t>
            </a:r>
            <a:r>
              <a:rPr lang="fa-IR" dirty="0"/>
              <a:t> نیست؟</a:t>
            </a:r>
          </a:p>
          <a:p>
            <a:pPr marL="0" algn="r" defTabSz="914400" rtl="1" eaLnBrk="1" latinLnBrk="0" hangingPunct="1"/>
            <a:r>
              <a:rPr lang="fa-IR" dirty="0"/>
              <a:t>۱) پردازش ورودی با طول زیاد</a:t>
            </a:r>
          </a:p>
          <a:p>
            <a:pPr marL="0" algn="r" defTabSz="914400" rtl="1" eaLnBrk="1" latinLnBrk="0" hangingPunct="1"/>
            <a:r>
              <a:rPr lang="fa-IR" dirty="0"/>
              <a:t>۲)‌ تعداد پارامتر یکسان برای هر اندازه ورودی</a:t>
            </a:r>
          </a:p>
          <a:p>
            <a:pPr marL="0" algn="r" defTabSz="914400" rtl="1" eaLnBrk="1" latinLnBrk="0" hangingPunct="1"/>
            <a:r>
              <a:rPr lang="fa-IR" dirty="0"/>
              <a:t>۳) یادگیری ارتباطات بین کلمات با هر </a:t>
            </a:r>
            <a:r>
              <a:rPr lang="fa-IR" dirty="0" err="1"/>
              <a:t>فاصله‌ای</a:t>
            </a:r>
            <a:r>
              <a:rPr lang="fa-IR" dirty="0"/>
              <a:t> از یکدیگر در </a:t>
            </a:r>
            <a:r>
              <a:rPr lang="fa-IR" dirty="0" err="1"/>
              <a:t>وردی</a:t>
            </a:r>
            <a:r>
              <a:rPr lang="fa-IR" dirty="0"/>
              <a:t>. </a:t>
            </a:r>
          </a:p>
          <a:p>
            <a:pPr marL="0" algn="r" defTabSz="914400" rtl="1" eaLnBrk="1" latinLnBrk="0" hangingPunct="1"/>
            <a:r>
              <a:rPr lang="fa-IR" dirty="0"/>
              <a:t>۴) در نظر گرفتن تاریخچه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29CA1-B658-4086-8393-ECC0BF3F61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92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The intermediate representation 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z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 cannot encode information from all the input timesteps. This is commonly known as the 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bottleneck problem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. The vector z needs to capture all the information about the source sentence.</a:t>
            </a:r>
          </a:p>
          <a:p>
            <a:pPr algn="just"/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In theory, mathematics indicate that this is possible. However in practice, how far we can see in the past (the so-called reference window) is finite. RNN’s tend to 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forget information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 from timesteps that are far behind.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1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the model learned to 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swap the order of words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 in translation. Also 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note that this is not a 1-1 relationship but a 1 to many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, meaning that an output word is affected by more than one input word (each one with different importance).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37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also have hard and soft attentions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16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49CF1FC-DCF2-1BEA-5797-19AB6337B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1"/>
            <a:ext cx="11658601" cy="5410199"/>
          </a:xfrm>
        </p:spPr>
        <p:txBody>
          <a:bodyPr/>
          <a:lstStyle>
            <a:lvl1pPr marL="257175" indent="-257175">
              <a:buSzPct val="60000"/>
              <a:buFont typeface="Wingdings" panose="05000000000000000000" pitchFamily="2" charset="2"/>
              <a:buChar char="q"/>
              <a:defRPr sz="2100"/>
            </a:lvl1pPr>
            <a:lvl2pPr marL="557213" indent="-214313">
              <a:buSzPct val="60000"/>
              <a:buFont typeface="Wingdings" panose="05000000000000000000" pitchFamily="2" charset="2"/>
              <a:buChar char="Ø"/>
              <a:defRPr sz="1800" b="0"/>
            </a:lvl2pPr>
            <a:lvl3pPr marL="857250" indent="-171450">
              <a:buFont typeface="Courier New" panose="02070309020205020404" pitchFamily="49" charset="0"/>
              <a:buChar char="o"/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6A0F4E-D1B8-2742-CD40-78511704E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>
            <a:lvl1pPr marL="137160" algn="l">
              <a:defRPr sz="3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AE7635F-A0A6-B080-9748-276C2361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>
            <a:lvl1pPr algn="ctr">
              <a:defRPr sz="9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69C14-8E65-60D0-C3FC-81A0C03F91B9}"/>
              </a:ext>
            </a:extLst>
          </p:cNvPr>
          <p:cNvSpPr txBox="1"/>
          <p:nvPr/>
        </p:nvSpPr>
        <p:spPr>
          <a:xfrm>
            <a:off x="228600" y="6488668"/>
            <a:ext cx="1676400" cy="253916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/>
                </a:solidFill>
              </a:rPr>
              <a:t>FMNLP 1402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30629A-45FD-3099-BABD-9C73A88B05AF}"/>
              </a:ext>
            </a:extLst>
          </p:cNvPr>
          <p:cNvCxnSpPr>
            <a:cxnSpLocks/>
          </p:cNvCxnSpPr>
          <p:nvPr/>
        </p:nvCxnSpPr>
        <p:spPr>
          <a:xfrm>
            <a:off x="266701" y="9779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723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99C0-AAD6-484A-918C-5F008DDE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5191-551E-47CF-86AA-7B88D665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E13E2-409F-499F-A296-4F76746C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3438-B4B3-4297-BE45-25935018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42B98-CC06-D7F5-D223-637C743FA0E2}"/>
              </a:ext>
            </a:extLst>
          </p:cNvPr>
          <p:cNvSpPr txBox="1"/>
          <p:nvPr userDrawn="1"/>
        </p:nvSpPr>
        <p:spPr>
          <a:xfrm>
            <a:off x="228600" y="6488668"/>
            <a:ext cx="18161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— Spring 1403</a:t>
            </a:r>
          </a:p>
        </p:txBody>
      </p:sp>
    </p:spTree>
    <p:extLst>
      <p:ext uri="{BB962C8B-B14F-4D97-AF65-F5344CB8AC3E}">
        <p14:creationId xmlns:p14="http://schemas.microsoft.com/office/powerpoint/2010/main" val="57089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73" r:id="rId7"/>
    <p:sldLayoutId id="2147483674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_url?url=https://papers.nips.cc/paper/7181-attention-is-all-you-need.pdf&amp;hl=en&amp;sa=T&amp;oi=gsb-gga&amp;ct=res&amp;cd=0&amp;d=2960712678066186980&amp;ei=RSB_X4-XNeiOy9YP_6W9oAo&amp;scisig=AAGBfm1BT0D5TrbyR7oR4v3lmmVXXipXoA" TargetMode="External"/><Relationship Id="rId2" Type="http://schemas.openxmlformats.org/officeDocument/2006/relationships/hyperlink" Target="https://arxiv.org/abs/1409.047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heaisummer.com/attention/" TargetMode="External"/><Relationship Id="rId4" Type="http://schemas.openxmlformats.org/officeDocument/2006/relationships/hyperlink" Target="jalammar.github.io/illustrated-transformer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1AFF7-A259-4627-80E4-82FB1B8F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064475"/>
            <a:ext cx="10769600" cy="932935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RNNs, Attention, and Transformers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413784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9DBDF4-A364-643D-DD2B-1CFE4447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Bahdanau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, D., Cho, K., &amp; </a:t>
            </a:r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Bengio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, Y. (2014). </a:t>
            </a:r>
            <a:r>
              <a:rPr lang="en-US" sz="2400" b="0" i="0" u="none" strike="noStrike" dirty="0">
                <a:solidFill>
                  <a:srgbClr val="1A73E8"/>
                </a:solidFill>
                <a:effectLst/>
                <a:latin typeface="+mn-lt"/>
                <a:hlinkClick r:id="rId2"/>
              </a:rPr>
              <a:t>Neural machine translation by jointly learning to align and translate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. </a:t>
            </a:r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arXiv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 preprint arXiv:1409.0473.</a:t>
            </a:r>
          </a:p>
          <a:p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Vaswani, A., </a:t>
            </a:r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Shazeer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, N., Parmar, N., </a:t>
            </a:r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Uszkoreit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, J., Jones, L., Gomez, A. N., ... &amp; </a:t>
            </a:r>
            <a:r>
              <a:rPr lang="en-US" sz="2400" b="0" i="0" dirty="0" err="1">
                <a:solidFill>
                  <a:srgbClr val="2F4858"/>
                </a:solidFill>
                <a:effectLst/>
                <a:latin typeface="+mn-lt"/>
              </a:rPr>
              <a:t>Polosukhin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, I. (2017). </a:t>
            </a:r>
            <a:r>
              <a:rPr lang="en-US" sz="2400" b="0" i="0" u="none" strike="noStrike" dirty="0">
                <a:solidFill>
                  <a:srgbClr val="1A73E8"/>
                </a:solidFill>
                <a:effectLst/>
                <a:latin typeface="+mn-lt"/>
                <a:hlinkClick r:id="rId3"/>
              </a:rPr>
              <a:t>Attention is all you need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. In </a:t>
            </a:r>
            <a:r>
              <a:rPr lang="en-US" sz="2400" b="0" i="1" dirty="0">
                <a:solidFill>
                  <a:srgbClr val="2F4858"/>
                </a:solidFill>
                <a:effectLst/>
                <a:latin typeface="+mn-lt"/>
              </a:rPr>
              <a:t>Advances in neural information processing systems</a:t>
            </a:r>
            <a:r>
              <a:rPr lang="en-US" sz="2400" b="0" i="0" dirty="0">
                <a:solidFill>
                  <a:srgbClr val="2F4858"/>
                </a:solidFill>
                <a:effectLst/>
                <a:latin typeface="+mn-lt"/>
              </a:rPr>
              <a:t> (pp. 5998-6008)</a:t>
            </a:r>
          </a:p>
          <a:p>
            <a:r>
              <a:rPr lang="en-US" sz="2400" dirty="0" err="1">
                <a:solidFill>
                  <a:schemeClr val="tx2"/>
                </a:solidFill>
              </a:rPr>
              <a:t>Alammar</a:t>
            </a:r>
            <a:r>
              <a:rPr lang="en-US" sz="2400" dirty="0">
                <a:solidFill>
                  <a:schemeClr val="tx2"/>
                </a:solidFill>
              </a:rPr>
              <a:t>, Jay </a:t>
            </a:r>
            <a:r>
              <a:rPr lang="en-US" sz="2400">
                <a:solidFill>
                  <a:schemeClr val="tx2"/>
                </a:solidFill>
              </a:rPr>
              <a:t>(2018). </a:t>
            </a:r>
            <a:r>
              <a:rPr lang="en-US" sz="2400" dirty="0">
                <a:solidFill>
                  <a:schemeClr val="tx2"/>
                </a:solidFill>
                <a:hlinkClick r:id="rId4"/>
              </a:rPr>
              <a:t>The Illustrated Transformer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 err="1">
                <a:latin typeface="+mn-lt"/>
              </a:rPr>
              <a:t>Adaloglou</a:t>
            </a:r>
            <a:r>
              <a:rPr lang="en-US" sz="2400" dirty="0">
                <a:latin typeface="+mn-lt"/>
              </a:rPr>
              <a:t>, N. and </a:t>
            </a:r>
            <a:r>
              <a:rPr lang="en-US" sz="2400" dirty="0" err="1">
                <a:latin typeface="+mn-lt"/>
              </a:rPr>
              <a:t>Karagiannakos</a:t>
            </a:r>
            <a:r>
              <a:rPr lang="en-US" sz="2400" dirty="0">
                <a:latin typeface="+mn-lt"/>
              </a:rPr>
              <a:t>, S. (2020), </a:t>
            </a:r>
            <a:r>
              <a:rPr lang="en-US" sz="2400" dirty="0">
                <a:latin typeface="+mn-lt"/>
                <a:hlinkClick r:id="rId5"/>
              </a:rPr>
              <a:t>How attention works in deep learning: understanding the attention mechanism in sequence models</a:t>
            </a:r>
            <a:r>
              <a:rPr lang="en-US" sz="2400" dirty="0">
                <a:latin typeface="+mn-lt"/>
              </a:rPr>
              <a:t>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306E71-A3CA-FAB3-33D6-B3A61504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Refernces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FEEE68-FA10-AFEA-553B-EDF9B45E5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0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6BD6-C05F-C748-A9B0-1F334DB8D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Recurrent Networks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7BE9-6C77-044B-8CC7-A2C275E2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Some problems require previous history/context in order to be able to give proper output (speech recognition, stock forecasting, target tracking, etc.)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One way to do that is to just provide all the necessary context in one "snap-shot" and use standard learning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How big should the snap-shot be?  Varies for different instances of the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A5A0F-D607-3243-8EA8-EBB81CEDC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7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49A9-2E78-E344-BDC7-563139719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BF62E-7EF4-9C4C-BE72-C1B35470A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Not all problems can be converted into one with fixed length inputs and outputs</a:t>
            </a:r>
            <a:br>
              <a:rPr lang="en-US" altLang="en-US" sz="2400" dirty="0"/>
            </a:br>
            <a:endParaRPr lang="en-US" altLang="en-US" sz="2400" dirty="0"/>
          </a:p>
          <a:p>
            <a:r>
              <a:rPr lang="en-US" altLang="en-US" sz="2400" dirty="0"/>
              <a:t>Problems such as Speech Recognition or Time-series Prediction require a system to store and use context information</a:t>
            </a:r>
          </a:p>
          <a:p>
            <a:pPr lvl="1"/>
            <a:r>
              <a:rPr lang="en-US" altLang="en-US" sz="2000" dirty="0"/>
              <a:t>Simple case: Output YES if the number of 1s is even, else NO</a:t>
            </a:r>
            <a:br>
              <a:rPr lang="en-US" altLang="en-US" sz="2000" dirty="0"/>
            </a:br>
            <a:r>
              <a:rPr lang="en-US" altLang="en-US" sz="2000" dirty="0"/>
              <a:t>1000010101 – YES, 100011 – NO, … </a:t>
            </a:r>
            <a:br>
              <a:rPr lang="en-US" altLang="en-US" sz="2000" dirty="0"/>
            </a:br>
            <a:endParaRPr lang="en-US" altLang="en-US" sz="2000" dirty="0"/>
          </a:p>
          <a:p>
            <a:r>
              <a:rPr lang="en-US" altLang="en-US" sz="2400" dirty="0"/>
              <a:t>Hard/Impossible to choose a fixed context window</a:t>
            </a:r>
          </a:p>
          <a:p>
            <a:pPr lvl="1"/>
            <a:r>
              <a:rPr lang="en-US" altLang="en-US" sz="2000" dirty="0"/>
              <a:t>There can always be a new sample longer than anything seen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ABB35-E8DE-8049-B22B-2A4942E04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2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350A2-7775-6047-887D-15367052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Recurrent Neural Networks (RNNs)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EBE51-28D3-E342-BD4D-98399FFD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ACCCE69-EB53-2D48-BE4D-3F3ACA8FA4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854" y="1743510"/>
            <a:ext cx="3650105" cy="4000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F5A7A1-9B79-6249-B2C3-85288BAE5457}"/>
              </a:ext>
            </a:extLst>
          </p:cNvPr>
          <p:cNvSpPr txBox="1">
            <a:spLocks/>
          </p:cNvSpPr>
          <p:nvPr/>
        </p:nvSpPr>
        <p:spPr>
          <a:xfrm>
            <a:off x="5246690" y="2035466"/>
            <a:ext cx="5276405" cy="4000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RNNs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take the previous output or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hidden states as inputs!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composite input at time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t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has some historical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information about the happenings at time T &lt;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RNNs are useful as their intermediate values (state) can store information about past inputs for a time that is not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fixed a priori</a:t>
            </a: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5284-A287-2643-8D7C-2BDC27E80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Recurrent Neural Networks (RNNs)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9694D-D05A-234E-B09F-84DFE175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6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7F7FF62-69D6-E64A-870F-D5AC91449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50" y="1993692"/>
            <a:ext cx="11191500" cy="3735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57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E1C4-9381-EF42-959D-D8E0DDB00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Inference in Simple RNNs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B85D3-E59E-D44E-BF62-BBF9852E8D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6701" y="824459"/>
                <a:ext cx="11658601" cy="5576341"/>
              </a:xfrm>
            </p:spPr>
            <p:txBody>
              <a:bodyPr>
                <a:normAutofit/>
              </a:bodyPr>
              <a:lstStyle/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</m:oMath>
                </a14:m>
                <a:r>
                  <a:rPr lang="en-US" dirty="0"/>
                  <a:t>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3B85D3-E59E-D44E-BF62-BBF9852E8D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6701" y="824459"/>
                <a:ext cx="11658601" cy="557634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72128-555B-AC45-A272-E8BB031D0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14F7A2-BE2F-2262-1F27-9C2730165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5" y="3009900"/>
            <a:ext cx="101600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772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B24A-C143-6440-A82E-60F67F6D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RNNs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F927D-682D-7648-92E1-D11E7E88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FA9A1F6F-D065-6946-8182-83C0CAB36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978" y="1065550"/>
            <a:ext cx="8621029" cy="564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46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0B17-0EA7-42F6-B7FF-6FB1E81A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9ED2E-3E44-49BA-9703-260A047B1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Advantages:</a:t>
            </a:r>
          </a:p>
          <a:p>
            <a:pPr lvl="1"/>
            <a:r>
              <a:rPr lang="en-US" sz="2400" i="0" dirty="0"/>
              <a:t>Possibility of processing input of any length</a:t>
            </a:r>
          </a:p>
          <a:p>
            <a:pPr lvl="1"/>
            <a:r>
              <a:rPr lang="en-US" sz="2400" i="0" dirty="0"/>
              <a:t>Model size not increasing with size of input</a:t>
            </a:r>
          </a:p>
          <a:p>
            <a:pPr lvl="1"/>
            <a:r>
              <a:rPr lang="en-US" sz="2400" i="0" dirty="0"/>
              <a:t>Computation takes into account historical information</a:t>
            </a:r>
          </a:p>
          <a:p>
            <a:pPr lvl="1"/>
            <a:r>
              <a:rPr lang="en-US" sz="2400" i="0" dirty="0"/>
              <a:t>Weights are shared across time</a:t>
            </a:r>
            <a:endParaRPr lang="en-US" sz="2400" dirty="0"/>
          </a:p>
          <a:p>
            <a:pPr lvl="1"/>
            <a:endParaRPr lang="en-US" sz="2400" dirty="0"/>
          </a:p>
          <a:p>
            <a:r>
              <a:rPr lang="en-US" sz="2800" dirty="0"/>
              <a:t>Shortcomings:</a:t>
            </a:r>
          </a:p>
          <a:p>
            <a:pPr lvl="1"/>
            <a:r>
              <a:rPr lang="en-US" sz="2400" dirty="0"/>
              <a:t>Hard to parallelize because of the sequential nature of RNNs</a:t>
            </a:r>
          </a:p>
          <a:p>
            <a:pPr lvl="1"/>
            <a:r>
              <a:rPr lang="en-US" sz="2400" dirty="0"/>
              <a:t>Difficulty of learning long-range dependencies</a:t>
            </a:r>
          </a:p>
          <a:p>
            <a:pPr lvl="1"/>
            <a:r>
              <a:rPr lang="en-US" sz="2400" dirty="0"/>
              <a:t>Cannot consider any future input for the current state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5756D-AFA0-0645-81BD-BCACB18A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3402F-4833-1342-A8DB-90FAAB905D51}"/>
              </a:ext>
            </a:extLst>
          </p:cNvPr>
          <p:cNvSpPr txBox="1"/>
          <p:nvPr/>
        </p:nvSpPr>
        <p:spPr>
          <a:xfrm>
            <a:off x="2090058" y="6268720"/>
            <a:ext cx="5914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stanford.edu</a:t>
            </a:r>
            <a:r>
              <a:rPr lang="en-US" sz="1200" dirty="0"/>
              <a:t>/~</a:t>
            </a:r>
            <a:r>
              <a:rPr lang="en-US" sz="1200" dirty="0" err="1"/>
              <a:t>shervine</a:t>
            </a:r>
            <a:r>
              <a:rPr lang="en-US" sz="1200" dirty="0"/>
              <a:t>/teaching/cs-230/</a:t>
            </a:r>
            <a:r>
              <a:rPr lang="en-US" sz="1200" dirty="0" err="1"/>
              <a:t>cheatsheet</a:t>
            </a:r>
            <a:r>
              <a:rPr lang="en-US" sz="1200" dirty="0"/>
              <a:t>-recurrent-neural-networks</a:t>
            </a:r>
          </a:p>
        </p:txBody>
      </p:sp>
    </p:spTree>
    <p:extLst>
      <p:ext uri="{BB962C8B-B14F-4D97-AF65-F5344CB8AC3E}">
        <p14:creationId xmlns:p14="http://schemas.microsoft.com/office/powerpoint/2010/main" val="416317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89"/>
    </mc:Choice>
    <mc:Fallback xmlns="">
      <p:transition spd="slow" advTm="116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B7C7C-25A5-FA4D-948F-AA7B7AE0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DF45C-3315-A3FF-D194-F0884B6BC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6C3B3-C527-3F4E-B9B1-EF3A3814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5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67E3B-CE46-4578-A9E9-D324DBFA8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4824603" cy="5410200"/>
          </a:xfrm>
        </p:spPr>
        <p:txBody>
          <a:bodyPr/>
          <a:lstStyle/>
          <a:p>
            <a:endParaRPr lang="en-US" sz="2400" dirty="0"/>
          </a:p>
          <a:p>
            <a:r>
              <a:rPr lang="en-US" sz="2300" dirty="0"/>
              <a:t>Used in a wide range of applications including machine translation, summarization, question answering, and dialogue modeling.</a:t>
            </a:r>
          </a:p>
          <a:p>
            <a:endParaRPr lang="en-US" sz="2300" dirty="0"/>
          </a:p>
          <a:p>
            <a:endParaRPr lang="en-US" sz="2300" dirty="0"/>
          </a:p>
          <a:p>
            <a:r>
              <a:rPr lang="en-US" sz="2300" dirty="0"/>
              <a:t>RNNs were the most widely-used and successful architecture for both the encoder and decoder.</a:t>
            </a:r>
            <a:endParaRPr lang="fa-IR" sz="2300" dirty="0"/>
          </a:p>
          <a:p>
            <a:endParaRPr lang="en-US" sz="23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B414C68-6E3A-8B65-97B1-C06490C51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 networks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7A7B1E-4253-DB43-B891-907CC2D73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A03E3F4-2B15-4D6C-A658-C890D3165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661" y="1280747"/>
            <a:ext cx="6232028" cy="4104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C9BB468-729C-0742-B443-C1BD5F151519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1344"/>
    </mc:Choice>
    <mc:Fallback xmlns="">
      <p:transition spd="slow" advTm="16134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B8626C-2E29-D74F-2EC4-01C407213E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39" y="2421455"/>
            <a:ext cx="11392172" cy="23213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C99B270-FE4E-F10B-436C-7D282802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Encoder-decoder: seq2seq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27848-4BA1-3D92-854B-9BF4A7244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AD223-2737-30C1-0B5B-2D8C5553D293}"/>
              </a:ext>
            </a:extLst>
          </p:cNvPr>
          <p:cNvSpPr txBox="1"/>
          <p:nvPr/>
        </p:nvSpPr>
        <p:spPr>
          <a:xfrm>
            <a:off x="4533282" y="5487020"/>
            <a:ext cx="23407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theaisummer.com</a:t>
            </a:r>
            <a:r>
              <a:rPr lang="en-US" sz="1100" dirty="0"/>
              <a:t>/attention/</a:t>
            </a:r>
          </a:p>
        </p:txBody>
      </p:sp>
    </p:spTree>
    <p:extLst>
      <p:ext uri="{BB962C8B-B14F-4D97-AF65-F5344CB8AC3E}">
        <p14:creationId xmlns:p14="http://schemas.microsoft.com/office/powerpoint/2010/main" val="2920326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E0461A-A569-65C8-E299-55F0FD5AE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" y="1137897"/>
            <a:ext cx="11658600" cy="511560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0F1B328-AAA7-1579-B358-BDD26CFF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 with RNNs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03971-6025-669C-54C8-646F64AE6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37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00ED32-729D-FD4E-5129-023211AA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with RNNs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3EDD6-D477-0A9A-6B25-1B38FD9D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14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95AED4-F7F3-52C1-0D1C-CCA9A1092D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099"/>
          <a:stretch/>
        </p:blipFill>
        <p:spPr>
          <a:xfrm>
            <a:off x="266701" y="1229192"/>
            <a:ext cx="11248710" cy="501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821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F285F-044C-41F3-6ACE-37D346109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349115"/>
            <a:ext cx="11620501" cy="109428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What if sequence length is high (say &gt; 30)?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8035B1-952B-9CDF-5414-C1BC49B87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15</a:t>
            </a:fld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FD65408-A4DA-59CF-1E1C-07447E3C0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99828" y="3021061"/>
            <a:ext cx="11392172" cy="2321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B8D312-2210-7388-99E2-19B42D3FE5DF}"/>
              </a:ext>
            </a:extLst>
          </p:cNvPr>
          <p:cNvSpPr txBox="1"/>
          <p:nvPr/>
        </p:nvSpPr>
        <p:spPr>
          <a:xfrm>
            <a:off x="1773226" y="5732961"/>
            <a:ext cx="8996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Work Sans" panose="020F0502020204030204" pitchFamily="34" charset="0"/>
              </a:rPr>
              <a:t>The vector z needs to capture all the information about the source sentence.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53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03D608C-CC4F-A4C0-C892-857A85819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350" y="1421606"/>
            <a:ext cx="6629400" cy="3644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0EACEB-3B09-20DB-114E-1B3E8391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FA3834-CA2C-15F1-86CC-0752CA777049}"/>
              </a:ext>
            </a:extLst>
          </p:cNvPr>
          <p:cNvSpPr txBox="1"/>
          <p:nvPr/>
        </p:nvSpPr>
        <p:spPr>
          <a:xfrm>
            <a:off x="3643860" y="5576342"/>
            <a:ext cx="4942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fixed size representation can be the bottleneck</a:t>
            </a:r>
          </a:p>
        </p:txBody>
      </p:sp>
    </p:spTree>
    <p:extLst>
      <p:ext uri="{BB962C8B-B14F-4D97-AF65-F5344CB8AC3E}">
        <p14:creationId xmlns:p14="http://schemas.microsoft.com/office/powerpoint/2010/main" val="96112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96DF8A-5F11-AFAC-DA33-6350CAB2C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638269"/>
            <a:ext cx="11620501" cy="3762530"/>
          </a:xfrm>
        </p:spPr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The core idea of 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attention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 is that the context vector </a:t>
            </a:r>
            <a:r>
              <a:rPr lang="en-US" b="1" i="1" dirty="0">
                <a:solidFill>
                  <a:srgbClr val="000000"/>
                </a:solidFill>
                <a:latin typeface="KaTeX_Main"/>
              </a:rPr>
              <a:t>z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 should have access to </a:t>
            </a:r>
            <a:r>
              <a:rPr lang="en-US" b="1" i="0" dirty="0">
                <a:solidFill>
                  <a:srgbClr val="000000"/>
                </a:solidFill>
                <a:effectLst/>
                <a:latin typeface="Work Sans" pitchFamily="2" charset="77"/>
              </a:rPr>
              <a:t>all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 parts of the input sequence instead of just the last one.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7BC0E-4E6D-E1D9-62D8-793A039B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0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96336-3D12-184A-9665-0E3256DB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95C0-B269-ED48-8DF0-9E1851B9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2"/>
            <a:ext cx="11658601" cy="4384048"/>
          </a:xfrm>
        </p:spPr>
        <p:txBody>
          <a:bodyPr/>
          <a:lstStyle/>
          <a:p>
            <a:r>
              <a:rPr lang="en-US" dirty="0"/>
              <a:t>A weighted average of (sequence) elements with the weights depending on an input query. </a:t>
            </a:r>
          </a:p>
          <a:p>
            <a:r>
              <a:rPr lang="en-US" dirty="0"/>
              <a:t>The idea and the name taken from the intuition that humans attend to certain things at each time.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3FF86-D6C1-AE45-A436-D3894FCC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543" y="2108830"/>
            <a:ext cx="10921756" cy="32658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05208-ED19-AC4D-B1BB-80153C27C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050D1F-9A1C-0546-C6B8-78E07D0FEA98}"/>
                  </a:ext>
                </a:extLst>
              </p:cNvPr>
              <p:cNvSpPr txBox="1"/>
              <p:nvPr/>
            </p:nvSpPr>
            <p:spPr>
              <a:xfrm>
                <a:off x="3387777" y="5682732"/>
                <a:ext cx="4690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⍺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0" dirty="0">
                    <a:solidFill>
                      <a:srgbClr val="000000"/>
                    </a:solidFill>
                    <a:effectLst/>
                    <a:latin typeface="Work Sans" pitchFamily="2" charset="77"/>
                  </a:rPr>
                  <a:t>are data-dependent dynamic weights</a:t>
                </a:r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050D1F-9A1C-0546-C6B8-78E07D0FE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777" y="5682732"/>
                <a:ext cx="4690002" cy="369332"/>
              </a:xfrm>
              <a:prstGeom prst="rect">
                <a:avLst/>
              </a:prstGeom>
              <a:blipFill>
                <a:blip r:embed="rId3"/>
                <a:stretch>
                  <a:fillRect t="-6667" r="-270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0395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6DA709-5C27-2C44-B462-49970A7EF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700" y="2118153"/>
            <a:ext cx="11658600" cy="3155093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80DF61B-42E8-DEFA-AD5D-93BE2BC4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64A53-3265-564D-A29B-15A1978AE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30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312FAB-92C9-DB9A-7684-D3FE7F60E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2" y="990601"/>
            <a:ext cx="4755004" cy="5410199"/>
          </a:xfrm>
        </p:spPr>
        <p:txBody>
          <a:bodyPr/>
          <a:lstStyle/>
          <a:p>
            <a:r>
              <a:rPr lang="en-US" sz="2000" i="0" dirty="0"/>
              <a:t>Input: two sentences or sequences </a:t>
            </a:r>
          </a:p>
          <a:p>
            <a:r>
              <a:rPr lang="en-US" sz="2000" i="0" dirty="0"/>
              <a:t>Task: reason/compare those sentences </a:t>
            </a:r>
          </a:p>
          <a:p>
            <a:r>
              <a:rPr lang="en-US" sz="2000" i="0" dirty="0"/>
              <a:t>Attention: queries for each word from one sentences, key and value for each word from second sentence </a:t>
            </a:r>
          </a:p>
          <a:p>
            <a:r>
              <a:rPr lang="en-US" sz="2000" i="0" dirty="0"/>
              <a:t>Applications: paraphrasing, natural language inference, question answering</a:t>
            </a:r>
          </a:p>
          <a:p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7DDF17E-78C4-A854-F6C4-80A7AED8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05627-4065-0514-E7FC-CF1DBC1C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20</a:t>
            </a:fld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465EF79-EDF4-85F4-01FA-CE4A5AB54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1628" y="1007546"/>
            <a:ext cx="6903593" cy="5485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045726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25F10-2C03-904D-E71C-21B5B2D0B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2B88C-7E7F-F8EA-82D0-DDE6737FC6D2}"/>
              </a:ext>
            </a:extLst>
          </p:cNvPr>
          <p:cNvSpPr txBox="1"/>
          <p:nvPr/>
        </p:nvSpPr>
        <p:spPr>
          <a:xfrm>
            <a:off x="9382073" y="4406630"/>
            <a:ext cx="22245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0" dirty="0">
                <a:solidFill>
                  <a:srgbClr val="000000"/>
                </a:solidFill>
                <a:effectLst/>
              </a:rPr>
              <a:t>In local attention, we consider only a subset of the input units/tokens.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6186B-5A5D-A0BA-8829-D31A3C0D734B}"/>
              </a:ext>
            </a:extLst>
          </p:cNvPr>
          <p:cNvSpPr txBox="1"/>
          <p:nvPr/>
        </p:nvSpPr>
        <p:spPr>
          <a:xfrm>
            <a:off x="7838372" y="113437"/>
            <a:ext cx="40923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The </a:t>
            </a:r>
            <a:r>
              <a:rPr lang="en-US" b="0" i="0" dirty="0">
                <a:solidFill>
                  <a:srgbClr val="FF0000"/>
                </a:solidFill>
                <a:effectLst/>
                <a:latin typeface="Work Sans" pitchFamily="2" charset="77"/>
              </a:rPr>
              <a:t>colors</a:t>
            </a:r>
            <a:r>
              <a:rPr lang="en-US" b="0" i="0" dirty="0">
                <a:solidFill>
                  <a:srgbClr val="000000"/>
                </a:solidFill>
                <a:effectLst/>
                <a:latin typeface="Work Sans" pitchFamily="2" charset="77"/>
              </a:rPr>
              <a:t> in the attention indicate that these weights are constantly changing while in convolution and fully connected layers they are slowly changing by gradient descent.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28755D-006E-1A36-32C7-6F0DC9E8DEED}"/>
              </a:ext>
            </a:extLst>
          </p:cNvPr>
          <p:cNvCxnSpPr/>
          <p:nvPr/>
        </p:nvCxnSpPr>
        <p:spPr>
          <a:xfrm>
            <a:off x="8244590" y="4991725"/>
            <a:ext cx="100434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E30C95CD-F850-EE38-741D-E4D8CDD86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36" y="1867763"/>
            <a:ext cx="7357986" cy="3731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0537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22E6-5BC8-4830-B955-E57677DE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8055-4B14-4D0A-8AAE-5B86C4879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word, self-attention allows the model to look at other positions in the input for a better encoding for this word.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20B264E-8D8E-4C9D-951A-A77AA3B98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53"/>
          <a:stretch/>
        </p:blipFill>
        <p:spPr bwMode="auto">
          <a:xfrm>
            <a:off x="641982" y="2016369"/>
            <a:ext cx="10379181" cy="4114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DF9E8-B670-844F-AA72-D12E27CED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1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263"/>
    </mc:Choice>
    <mc:Fallback xmlns="">
      <p:transition spd="slow" advTm="712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E1B0-8619-0448-804B-0BB105652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4D157-EBD6-1046-9AEB-F5020D16E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EDA33-46CD-3D49-A8E6-9A409CA85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33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73B0-3620-C545-B14F-21A392455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99B358-15D6-4849-A382-B134B44638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086" y="1103084"/>
            <a:ext cx="7193827" cy="514989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3B266DA-CA6E-1B46-8B1A-1355E585D297}"/>
              </a:ext>
            </a:extLst>
          </p:cNvPr>
          <p:cNvSpPr/>
          <p:nvPr/>
        </p:nvSpPr>
        <p:spPr>
          <a:xfrm>
            <a:off x="4902237" y="6140499"/>
            <a:ext cx="31325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0" dirty="0"/>
              <a:t>http://</a:t>
            </a:r>
            <a:r>
              <a:rPr lang="en-US" sz="1100" i="0" dirty="0" err="1"/>
              <a:t>jalammar.github.io</a:t>
            </a:r>
            <a:r>
              <a:rPr lang="en-US" sz="1100" i="0" dirty="0"/>
              <a:t>/illustrated-transformer/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80959-5757-C043-A259-318C1491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78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AA4E2-5A35-C441-95C2-9E92A718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DB9F8E-4626-444B-AF03-C9A51D8785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91" y="1480863"/>
            <a:ext cx="11447315" cy="389627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8EAC61-0FA3-5B47-A6E1-2CD6F29C6C21}"/>
              </a:ext>
            </a:extLst>
          </p:cNvPr>
          <p:cNvSpPr/>
          <p:nvPr/>
        </p:nvSpPr>
        <p:spPr>
          <a:xfrm>
            <a:off x="4133091" y="5422900"/>
            <a:ext cx="313258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0" dirty="0"/>
              <a:t>http://</a:t>
            </a:r>
            <a:r>
              <a:rPr lang="en-US" sz="1100" i="0" dirty="0" err="1"/>
              <a:t>jalammar.github.io</a:t>
            </a:r>
            <a:r>
              <a:rPr lang="en-US" sz="1100" i="0" dirty="0"/>
              <a:t>/illustrated-transformer/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6CD5F6-4241-7C48-A1E0-F090A599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04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1CE0B-7D38-463D-B7AC-6CA2B3D69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8197362" cy="5410200"/>
          </a:xfrm>
        </p:spPr>
        <p:txBody>
          <a:bodyPr/>
          <a:lstStyle/>
          <a:p>
            <a:r>
              <a:rPr lang="en-US" dirty="0"/>
              <a:t>Non-recurrent sequence to sequence encoder-decoder model</a:t>
            </a:r>
          </a:p>
          <a:p>
            <a:pPr lvl="1"/>
            <a:r>
              <a:rPr lang="en-US" dirty="0"/>
              <a:t>Eliminate recurrence, allows for significantly more parallelization</a:t>
            </a:r>
          </a:p>
          <a:p>
            <a:pPr lvl="1"/>
            <a:endParaRPr lang="en-US" dirty="0"/>
          </a:p>
          <a:p>
            <a:r>
              <a:rPr lang="en-US" dirty="0"/>
              <a:t>Three kinds of attentions: </a:t>
            </a:r>
          </a:p>
          <a:p>
            <a:pPr lvl="1"/>
            <a:r>
              <a:rPr lang="en-US" dirty="0"/>
              <a:t>The input and output tokens (solved by traditional attention mechanism)</a:t>
            </a:r>
          </a:p>
          <a:p>
            <a:pPr lvl="1"/>
            <a:r>
              <a:rPr lang="en-US" dirty="0"/>
              <a:t>The input tokens themselves</a:t>
            </a:r>
          </a:p>
          <a:p>
            <a:pPr lvl="1"/>
            <a:r>
              <a:rPr lang="en-US" dirty="0"/>
              <a:t>The output tokens themselves</a:t>
            </a:r>
          </a:p>
          <a:p>
            <a:pPr lvl="1"/>
            <a:endParaRPr lang="en-US" dirty="0"/>
          </a:p>
          <a:p>
            <a:r>
              <a:rPr lang="en-US" dirty="0"/>
              <a:t>Extend the (self-)attention mechanism to processing input and output sentences as well.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14F21-538E-4F5C-BA1B-F16EDA7E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/>
          <a:p>
            <a:r>
              <a:rPr lang="en-US" dirty="0"/>
              <a:t>Transformer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BC47-53B4-8D43-B4E5-68AEDDE1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B5386E-40EE-400A-BC08-DAD15D1C9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006" y="1477169"/>
            <a:ext cx="3131097" cy="452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45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3516"/>
    </mc:Choice>
    <mc:Fallback xmlns="">
      <p:transition spd="slow" advTm="223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7A19-0DDB-2240-98B1-B5DAD2B53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ED5941-6707-F943-989E-057CDE638D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869" y="1500554"/>
            <a:ext cx="6802261" cy="437856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3C451-91DB-F54D-98ED-B9A3A7B8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09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F8E90-CA1E-4E6F-8B11-29420BBEC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6726742" cy="5410200"/>
          </a:xfrm>
        </p:spPr>
        <p:txBody>
          <a:bodyPr/>
          <a:lstStyle/>
          <a:p>
            <a:endParaRPr lang="fa-IR" dirty="0"/>
          </a:p>
          <a:p>
            <a:r>
              <a:rPr lang="en-US" dirty="0"/>
              <a:t>The encoder composed of N blocks (N = 6)</a:t>
            </a:r>
          </a:p>
          <a:p>
            <a:endParaRPr lang="en-US" dirty="0"/>
          </a:p>
          <a:p>
            <a:r>
              <a:rPr lang="en-US" dirty="0"/>
              <a:t>Each block composed of two sub-layers</a:t>
            </a:r>
          </a:p>
          <a:p>
            <a:pPr lvl="1"/>
            <a:r>
              <a:rPr lang="en-US" dirty="0"/>
              <a:t>1. Multi-head self-attention layer</a:t>
            </a:r>
          </a:p>
          <a:p>
            <a:pPr lvl="1"/>
            <a:r>
              <a:rPr lang="en-US" dirty="0"/>
              <a:t>2. fully connected feed-forward network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Residual connection followed by a layer normalization between each sub-layer</a:t>
            </a:r>
          </a:p>
          <a:p>
            <a:pPr lvl="2"/>
            <a:r>
              <a:rPr lang="en-US" dirty="0" err="1"/>
              <a:t>LayerNorm</a:t>
            </a:r>
            <a:r>
              <a:rPr lang="en-US" dirty="0"/>
              <a:t>(x + Sublayer(x))</a:t>
            </a:r>
          </a:p>
          <a:p>
            <a:pPr lvl="2"/>
            <a:r>
              <a:rPr lang="en-US" dirty="0"/>
              <a:t>Faster training and regularization 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DFC0B-C9CD-44D6-B491-174F2154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/>
          <a:p>
            <a:r>
              <a:rPr lang="en-US" dirty="0"/>
              <a:t>Encoder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55C70-09DE-2C40-B795-A540D298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D1517-0273-4B43-AA5E-9CDF5C42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5911" y="-26486"/>
            <a:ext cx="2178928" cy="6692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A005E-AF19-4F1E-93FC-2A6A2C58D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452" y="1922585"/>
            <a:ext cx="2185998" cy="385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9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2331"/>
    </mc:Choice>
    <mc:Fallback xmlns="">
      <p:transition spd="slow" advTm="32233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BB995-D4E1-481C-90AF-92DC287E9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599"/>
            <a:ext cx="11658600" cy="1588477"/>
          </a:xfrm>
        </p:spPr>
        <p:txBody>
          <a:bodyPr/>
          <a:lstStyle/>
          <a:p>
            <a:r>
              <a:rPr lang="en-US" sz="2400" dirty="0"/>
              <a:t>Three vectors for each of the input vectors </a:t>
            </a:r>
          </a:p>
          <a:p>
            <a:pPr lvl="1"/>
            <a:r>
              <a:rPr lang="en-US" sz="2000" dirty="0"/>
              <a:t>A Query vector</a:t>
            </a:r>
          </a:p>
          <a:p>
            <a:pPr lvl="1"/>
            <a:r>
              <a:rPr lang="en-US" sz="2000" dirty="0"/>
              <a:t>A Key vector</a:t>
            </a:r>
          </a:p>
          <a:p>
            <a:pPr lvl="1"/>
            <a:r>
              <a:rPr lang="en-US" sz="2000" dirty="0"/>
              <a:t>A Value vector 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BB664B-2801-4044-A8D4-8E8E5EB6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/>
          <a:p>
            <a:r>
              <a:rPr lang="en-US" dirty="0"/>
              <a:t>Self-Attention in Transformers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94F2-BC02-3241-AF3E-13C895954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73">
                <a:extLst>
                  <a:ext uri="{FF2B5EF4-FFF2-40B4-BE49-F238E27FC236}">
                    <a16:creationId xmlns:a16="http://schemas.microsoft.com/office/drawing/2014/main" id="{E44D86F6-FF22-4EAD-A0C2-1BAADE8983EA}"/>
                  </a:ext>
                </a:extLst>
              </p:cNvPr>
              <p:cNvSpPr txBox="1"/>
              <p:nvPr/>
            </p:nvSpPr>
            <p:spPr>
              <a:xfrm>
                <a:off x="6882343" y="2317637"/>
                <a:ext cx="1485791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7" name="文字方塊 73">
                <a:extLst>
                  <a:ext uri="{FF2B5EF4-FFF2-40B4-BE49-F238E27FC236}">
                    <a16:creationId xmlns:a16="http://schemas.microsoft.com/office/drawing/2014/main" id="{E44D86F6-FF22-4EAD-A0C2-1BAADE898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2343" y="2317637"/>
                <a:ext cx="1485791" cy="3812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4">
                <a:extLst>
                  <a:ext uri="{FF2B5EF4-FFF2-40B4-BE49-F238E27FC236}">
                    <a16:creationId xmlns:a16="http://schemas.microsoft.com/office/drawing/2014/main" id="{BC2FB289-726F-4B3D-8A2A-D10E6B4FEA6D}"/>
                  </a:ext>
                </a:extLst>
              </p:cNvPr>
              <p:cNvSpPr txBox="1"/>
              <p:nvPr/>
            </p:nvSpPr>
            <p:spPr>
              <a:xfrm>
                <a:off x="6870352" y="2823026"/>
                <a:ext cx="1497782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8" name="文字方塊 74">
                <a:extLst>
                  <a:ext uri="{FF2B5EF4-FFF2-40B4-BE49-F238E27FC236}">
                    <a16:creationId xmlns:a16="http://schemas.microsoft.com/office/drawing/2014/main" id="{BC2FB289-726F-4B3D-8A2A-D10E6B4FE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352" y="2823026"/>
                <a:ext cx="1497782" cy="3812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75">
                <a:extLst>
                  <a:ext uri="{FF2B5EF4-FFF2-40B4-BE49-F238E27FC236}">
                    <a16:creationId xmlns:a16="http://schemas.microsoft.com/office/drawing/2014/main" id="{81735BE0-0334-4F31-9B55-E610F8E599C3}"/>
                  </a:ext>
                </a:extLst>
              </p:cNvPr>
              <p:cNvSpPr txBox="1"/>
              <p:nvPr/>
            </p:nvSpPr>
            <p:spPr>
              <a:xfrm>
                <a:off x="6870352" y="3272459"/>
                <a:ext cx="1487074" cy="3812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p>
                      </m:sSup>
                      <m:sSup>
                        <m:sSup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9" name="文字方塊 75">
                <a:extLst>
                  <a:ext uri="{FF2B5EF4-FFF2-40B4-BE49-F238E27FC236}">
                    <a16:creationId xmlns:a16="http://schemas.microsoft.com/office/drawing/2014/main" id="{81735BE0-0334-4F31-9B55-E610F8E59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0352" y="3272459"/>
                <a:ext cx="1487074" cy="3812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" name="Picture 75">
            <a:extLst>
              <a:ext uri="{FF2B5EF4-FFF2-40B4-BE49-F238E27FC236}">
                <a16:creationId xmlns:a16="http://schemas.microsoft.com/office/drawing/2014/main" id="{27DB4EB0-B058-4866-A0BC-DD41DD29E1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975" y="4102648"/>
            <a:ext cx="6962775" cy="233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1751"/>
    </mc:Choice>
    <mc:Fallback xmlns="">
      <p:transition spd="slow" advTm="27175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6C00B-8A00-419E-9789-893CFDF8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20819"/>
            <a:ext cx="11658601" cy="969781"/>
          </a:xfrm>
        </p:spPr>
        <p:txBody>
          <a:bodyPr/>
          <a:lstStyle/>
          <a:p>
            <a:r>
              <a:rPr lang="en-US" dirty="0"/>
              <a:t>Self-Attention in Transformers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8989B9-4442-B14F-B000-724F6A7CF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1" y="6492878"/>
            <a:ext cx="676589" cy="365125"/>
          </a:xfrm>
        </p:spPr>
        <p:txBody>
          <a:bodyPr/>
          <a:lstStyle/>
          <a:p>
            <a:fld id="{E5F7E35F-1D62-4A68-BD9D-5B27D60AE559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0D5E316-FF62-4620-A6DB-32A3E7910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255" y="1502154"/>
            <a:ext cx="38671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712EF3-13EF-4ED7-B5DB-1D0127B50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463" y="3128962"/>
            <a:ext cx="5214937" cy="3610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EF928-7614-4F29-A836-DA04D23A8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770" y="1565202"/>
            <a:ext cx="2085975" cy="4835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80A1CF-953D-4B98-A72C-57597DCD7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103" y="2033173"/>
            <a:ext cx="3100855" cy="508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5EBE93-B018-4142-BEA7-A35BC786AD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489" y="2522663"/>
            <a:ext cx="1449428" cy="6348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9C6805-2397-2E4A-A42C-01190ECF2B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297" y="3602001"/>
            <a:ext cx="4397582" cy="28881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ECFA151-86CA-7C4F-AAAA-C27B79CB6A7C}"/>
              </a:ext>
            </a:extLst>
          </p:cNvPr>
          <p:cNvSpPr/>
          <p:nvPr/>
        </p:nvSpPr>
        <p:spPr>
          <a:xfrm>
            <a:off x="825908" y="221484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For large values of 𝑑</a:t>
            </a:r>
            <a:r>
              <a:rPr lang="en-US" baseline="-25000" dirty="0">
                <a:solidFill>
                  <a:schemeClr val="tx2"/>
                </a:solidFill>
              </a:rPr>
              <a:t>k</a:t>
            </a:r>
            <a:r>
              <a:rPr lang="en-US" dirty="0">
                <a:solidFill>
                  <a:schemeClr val="tx2"/>
                </a:solidFill>
              </a:rPr>
              <a:t>, the dot products grow into huge values, pushing the 𝑠𝑜𝑓𝑡𝑚𝑎𝑥 function into regions where it has extremely small gradients, so the dot-product is scaled by 𝑑</a:t>
            </a:r>
            <a:r>
              <a:rPr lang="en-US" baseline="-25000" dirty="0">
                <a:solidFill>
                  <a:schemeClr val="tx2"/>
                </a:solidFill>
              </a:rPr>
              <a:t>k</a:t>
            </a:r>
            <a:r>
              <a:rPr lang="en-US" dirty="0">
                <a:solidFill>
                  <a:schemeClr val="tx2"/>
                </a:solidFill>
              </a:rPr>
              <a:t> (length of query/key vectors).</a:t>
            </a:r>
          </a:p>
        </p:txBody>
      </p:sp>
    </p:spTree>
    <p:extLst>
      <p:ext uri="{BB962C8B-B14F-4D97-AF65-F5344CB8AC3E}">
        <p14:creationId xmlns:p14="http://schemas.microsoft.com/office/powerpoint/2010/main" val="415969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888"/>
    </mc:Choice>
    <mc:Fallback xmlns="">
      <p:transition spd="slow" advTm="7288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FA76E3-ECDF-133A-99C8-EE1C90842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1" y="990601"/>
            <a:ext cx="6028591" cy="5410199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Single head offers only one perspective on the data ⇒ Often not enough</a:t>
            </a:r>
          </a:p>
          <a:p>
            <a:r>
              <a:rPr lang="en-US" sz="2400" dirty="0"/>
              <a:t>Performing several self-attentions in parallel increases flexibility and non-linearity/complexity </a:t>
            </a:r>
          </a:p>
          <a:p>
            <a:r>
              <a:rPr lang="en-US" sz="2400" dirty="0"/>
              <a:t>Output projection to scale down the concatenation if necessary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41FCAA-B1BE-C99E-869D-BF3CD993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Multi-Head Self-Attention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DC7B8-C1C5-9829-F0A7-67C535E14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4C3FC-BEC7-CF5C-E8C9-F62AED6BC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739" y="1101073"/>
            <a:ext cx="4524157" cy="529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39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E58471-1EE6-0342-B94C-0AB45EAFC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9733" y="466096"/>
            <a:ext cx="6347306" cy="59258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00F76E-8DBA-0147-99BA-E520C9E12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733" y="2827867"/>
            <a:ext cx="2974163" cy="33655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AD846B-313C-9042-83A2-C16441D99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9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3F5C6-36BD-4287-885C-0C9E3A96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BE8B0-1B3F-44E3-B209-8B42666D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990600"/>
            <a:ext cx="7143018" cy="5076093"/>
          </a:xfrm>
        </p:spPr>
        <p:txBody>
          <a:bodyPr>
            <a:noAutofit/>
          </a:bodyPr>
          <a:lstStyle/>
          <a:p>
            <a:r>
              <a:rPr lang="en-US" sz="2400" dirty="0"/>
              <a:t>Composed of 3 sub-layers</a:t>
            </a:r>
          </a:p>
          <a:p>
            <a:pPr lvl="1"/>
            <a:r>
              <a:rPr lang="en-US" sz="2000" dirty="0"/>
              <a:t>1. Masked Multi-head attention</a:t>
            </a:r>
          </a:p>
          <a:p>
            <a:pPr lvl="1"/>
            <a:r>
              <a:rPr lang="en-US" sz="2000" dirty="0"/>
              <a:t>2. Encoder-Decoder Attention </a:t>
            </a:r>
          </a:p>
          <a:p>
            <a:pPr lvl="1"/>
            <a:r>
              <a:rPr lang="en-US" sz="2000" dirty="0"/>
              <a:t>3. Fully connected feed-forward network</a:t>
            </a:r>
          </a:p>
          <a:p>
            <a:endParaRPr lang="en-US" sz="2400" dirty="0"/>
          </a:p>
          <a:p>
            <a:r>
              <a:rPr lang="en-US" sz="2400" dirty="0"/>
              <a:t>Masked Multi-head attention:</a:t>
            </a:r>
          </a:p>
          <a:p>
            <a:pPr lvl="1"/>
            <a:r>
              <a:rPr lang="en-US" sz="2000" dirty="0"/>
              <a:t>The self-attention layer is only allowed to attend to earlier positions in the output sequence</a:t>
            </a:r>
          </a:p>
          <a:p>
            <a:pPr lvl="1"/>
            <a:r>
              <a:rPr lang="en-US" sz="2000" dirty="0"/>
              <a:t>Masks the “future” tokens when decoding a certain word (setting them to -inf)</a:t>
            </a:r>
          </a:p>
          <a:p>
            <a:pPr lvl="1"/>
            <a:endParaRPr lang="en-US" sz="2000" dirty="0"/>
          </a:p>
          <a:p>
            <a:r>
              <a:rPr lang="en-US" sz="2400" dirty="0"/>
              <a:t>Encoder-Decoder Attention layer: </a:t>
            </a:r>
          </a:p>
          <a:p>
            <a:pPr lvl="1"/>
            <a:r>
              <a:rPr lang="en-US" sz="2000" dirty="0"/>
              <a:t>Queries come from the layer below it</a:t>
            </a:r>
          </a:p>
          <a:p>
            <a:pPr lvl="1"/>
            <a:r>
              <a:rPr lang="en-US" sz="2000" dirty="0"/>
              <a:t>Keys and Values come from the output of the encoder stack</a:t>
            </a:r>
            <a:endParaRPr lang="fa-IR" sz="20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18848-B260-9E48-99C8-8092541A3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716" y="1321087"/>
            <a:ext cx="4211118" cy="44151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F7778-2FF8-7D42-A1D3-4E8B6DDF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3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4052"/>
    </mc:Choice>
    <mc:Fallback xmlns="">
      <p:transition spd="slow" advTm="2640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82B46-5B8F-214B-9943-67B5C9C0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Transformer: Performance in MT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B422DB-335E-A04C-B0C7-7D2C5FC2A1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427" y="1146664"/>
            <a:ext cx="10066942" cy="52039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E14AA2-CEF2-AF45-A92A-DFED9C4E0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285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E156D7-D9DD-488E-BEB9-D4E967642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+ State-of-the-art on most benchmarks </a:t>
            </a:r>
          </a:p>
          <a:p>
            <a:pPr marL="0" indent="0">
              <a:buNone/>
            </a:pPr>
            <a:r>
              <a:rPr lang="en-US" sz="2000" dirty="0"/>
              <a:t>+ Scalable to billions of parameters (GPT3 – XX billion params) </a:t>
            </a:r>
          </a:p>
          <a:p>
            <a:pPr marL="0" indent="0">
              <a:buNone/>
            </a:pPr>
            <a:r>
              <a:rPr lang="en-US" sz="2000" dirty="0"/>
              <a:t>+ Computation in parallel (feedforward network)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-  Recurrence needs to be learned</a:t>
            </a:r>
            <a:br>
              <a:rPr lang="en-US" sz="2000" dirty="0"/>
            </a:br>
            <a:r>
              <a:rPr lang="en-US" sz="2000" dirty="0"/>
              <a:t>⇒ lots of data required or autoregressive task </a:t>
            </a:r>
          </a:p>
          <a:p>
            <a:pPr marL="0" indent="0">
              <a:buNone/>
            </a:pPr>
            <a:r>
              <a:rPr lang="en-US" sz="2000" dirty="0"/>
              <a:t>-  Many parameters for suitable model necessary ⇒ can easily overfit </a:t>
            </a:r>
          </a:p>
          <a:p>
            <a:pPr marL="0" indent="0">
              <a:buNone/>
            </a:pPr>
            <a:r>
              <a:rPr lang="en-US" sz="2000" dirty="0"/>
              <a:t>-  Memory scales quadratically with seq length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44CD91-ADFD-2944-A56A-5B64947D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7E35F-1D62-4A68-BD9D-5B27D60AE55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4ACE991-27C0-4401-AA06-B6FF72D4EF0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+ Language is naturally recurrent </a:t>
            </a:r>
          </a:p>
          <a:p>
            <a:pPr marL="0" indent="0">
              <a:buNone/>
            </a:pPr>
            <a:r>
              <a:rPr lang="en-US" sz="2000" dirty="0"/>
              <a:t>+ Higher non-linearity and more complex composition</a:t>
            </a:r>
            <a:br>
              <a:rPr lang="en-US" sz="2000" dirty="0"/>
            </a:br>
            <a:r>
              <a:rPr lang="en-US" sz="2000" dirty="0"/>
              <a:t>⇒ Single-layer RNN outperforms single-layer transformer 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- Does not scale well beyond 5 layers - Slower to run for long sequences</a:t>
            </a:r>
            <a:br>
              <a:rPr lang="en-US" sz="2000" dirty="0"/>
            </a:br>
            <a:r>
              <a:rPr lang="en-US" sz="2000" dirty="0"/>
              <a:t>- Long-term dependencies problematic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1B7DFC-25AD-9BAE-7E98-46452C1ED1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33901"/>
            <a:ext cx="10972800" cy="1143000"/>
          </a:xfrm>
        </p:spPr>
        <p:txBody>
          <a:bodyPr/>
          <a:lstStyle/>
          <a:p>
            <a:r>
              <a:rPr lang="en-US" dirty="0"/>
              <a:t>Transformers      vs           RNNs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2D2BED7-4E6B-674D-BE10-E7C40E68C080}"/>
              </a:ext>
            </a:extLst>
          </p:cNvPr>
          <p:cNvSpPr txBox="1">
            <a:spLocks/>
          </p:cNvSpPr>
          <p:nvPr/>
        </p:nvSpPr>
        <p:spPr>
          <a:xfrm>
            <a:off x="1524000" y="8382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48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1648E0-DE0B-4DD0-AD1A-D32607720F0D}"/>
</file>

<file path=customXml/itemProps2.xml><?xml version="1.0" encoding="utf-8"?>
<ds:datastoreItem xmlns:ds="http://schemas.openxmlformats.org/officeDocument/2006/customXml" ds:itemID="{B55C78A6-6926-4565-87AD-F43FC66F0B49}"/>
</file>

<file path=customXml/itemProps3.xml><?xml version="1.0" encoding="utf-8"?>
<ds:datastoreItem xmlns:ds="http://schemas.openxmlformats.org/officeDocument/2006/customXml" ds:itemID="{54C27194-75D7-4F38-8099-CE45AE2432F5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10693</TotalTime>
  <Words>1357</Words>
  <Application>Microsoft Office PowerPoint</Application>
  <PresentationFormat>Widescreen</PresentationFormat>
  <Paragraphs>189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Cambria Math</vt:lpstr>
      <vt:lpstr>Courier New</vt:lpstr>
      <vt:lpstr>KaTeX_Main</vt:lpstr>
      <vt:lpstr>Times New Roman</vt:lpstr>
      <vt:lpstr>Wingdings</vt:lpstr>
      <vt:lpstr>Work Sans</vt:lpstr>
      <vt:lpstr>Main</vt:lpstr>
      <vt:lpstr>RNNs, Attention, and Transformers</vt:lpstr>
      <vt:lpstr>Refernces</vt:lpstr>
      <vt:lpstr>Recurrent Networks</vt:lpstr>
      <vt:lpstr>Motivation</vt:lpstr>
      <vt:lpstr>Recurrent Neural Networks (RNNs) </vt:lpstr>
      <vt:lpstr>Recurrent Neural Networks (RNNs) </vt:lpstr>
      <vt:lpstr>Inference in Simple RNNs</vt:lpstr>
      <vt:lpstr>RNNs applications</vt:lpstr>
      <vt:lpstr>RNN</vt:lpstr>
      <vt:lpstr>Attention</vt:lpstr>
      <vt:lpstr>Encoder-decoder networks</vt:lpstr>
      <vt:lpstr>Encoder-decoder: seq2seq</vt:lpstr>
      <vt:lpstr>Encoding with RNNs</vt:lpstr>
      <vt:lpstr>Decoding with RNNs</vt:lpstr>
      <vt:lpstr>PowerPoint Presentation</vt:lpstr>
      <vt:lpstr>PowerPoint Presentation</vt:lpstr>
      <vt:lpstr>PowerPoint Presentation</vt:lpstr>
      <vt:lpstr>Attention</vt:lpstr>
      <vt:lpstr>MT</vt:lpstr>
      <vt:lpstr>Cross-Attention</vt:lpstr>
      <vt:lpstr>PowerPoint Presentation</vt:lpstr>
      <vt:lpstr>Self-Attention</vt:lpstr>
      <vt:lpstr>Transformer</vt:lpstr>
      <vt:lpstr>Transformer Model</vt:lpstr>
      <vt:lpstr>Transformer Model</vt:lpstr>
      <vt:lpstr>Transformer model</vt:lpstr>
      <vt:lpstr>Encoder</vt:lpstr>
      <vt:lpstr>Encoder</vt:lpstr>
      <vt:lpstr>Self-Attention in Transformers</vt:lpstr>
      <vt:lpstr>Self-Attention in Transformers</vt:lpstr>
      <vt:lpstr>Multi-Head Self-Attention</vt:lpstr>
      <vt:lpstr>PowerPoint Presentation</vt:lpstr>
      <vt:lpstr>Decoder</vt:lpstr>
      <vt:lpstr>Transformer: Performance in MT</vt:lpstr>
      <vt:lpstr>Transformers      vs           RNNs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150</cp:revision>
  <dcterms:created xsi:type="dcterms:W3CDTF">2021-09-22T08:38:12Z</dcterms:created>
  <dcterms:modified xsi:type="dcterms:W3CDTF">2024-02-25T07:17:10Z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