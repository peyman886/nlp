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Metadata/LabelInfo.xml" ContentType="application/vnd.ms-office.classificationlabel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367" r:id="rId2"/>
    <p:sldId id="867" r:id="rId3"/>
    <p:sldId id="868" r:id="rId4"/>
    <p:sldId id="873" r:id="rId5"/>
    <p:sldId id="815" r:id="rId6"/>
    <p:sldId id="874" r:id="rId7"/>
    <p:sldId id="875" r:id="rId8"/>
    <p:sldId id="818" r:id="rId9"/>
    <p:sldId id="819" r:id="rId10"/>
    <p:sldId id="821" r:id="rId11"/>
    <p:sldId id="822" r:id="rId12"/>
    <p:sldId id="823" r:id="rId13"/>
    <p:sldId id="824" r:id="rId14"/>
    <p:sldId id="826" r:id="rId15"/>
    <p:sldId id="869" r:id="rId16"/>
    <p:sldId id="830" r:id="rId17"/>
    <p:sldId id="831" r:id="rId18"/>
    <p:sldId id="832" r:id="rId19"/>
    <p:sldId id="360" r:id="rId20"/>
    <p:sldId id="827" r:id="rId21"/>
    <p:sldId id="828" r:id="rId22"/>
    <p:sldId id="362" r:id="rId23"/>
    <p:sldId id="833" r:id="rId24"/>
    <p:sldId id="834" r:id="rId25"/>
    <p:sldId id="835" r:id="rId26"/>
    <p:sldId id="836" r:id="rId27"/>
    <p:sldId id="876" r:id="rId28"/>
    <p:sldId id="870" r:id="rId29"/>
    <p:sldId id="871" r:id="rId30"/>
    <p:sldId id="270" r:id="rId31"/>
    <p:sldId id="424" r:id="rId32"/>
    <p:sldId id="425" r:id="rId33"/>
    <p:sldId id="872" r:id="rId34"/>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129" autoAdjust="0"/>
    <p:restoredTop sz="81224" autoAdjust="0"/>
  </p:normalViewPr>
  <p:slideViewPr>
    <p:cSldViewPr snapToGrid="0">
      <p:cViewPr varScale="1">
        <p:scale>
          <a:sx n="83" d="100"/>
          <a:sy n="83" d="100"/>
        </p:scale>
        <p:origin x="32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64490D-F570-4B09-B1F1-76C91DD2C33E}" type="datetimeFigureOut">
              <a:rPr lang="en-US" smtClean="0"/>
              <a:t>3/13/2024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B59005-A619-4B65-B892-C09CB53A2022}" type="slidenum">
              <a:rPr lang="en-US" smtClean="0"/>
              <a:t>‹#›</a:t>
            </a:fld>
            <a:endParaRPr lang="en-US"/>
          </a:p>
        </p:txBody>
      </p:sp>
    </p:spTree>
    <p:extLst>
      <p:ext uri="{BB962C8B-B14F-4D97-AF65-F5344CB8AC3E}">
        <p14:creationId xmlns:p14="http://schemas.microsoft.com/office/powerpoint/2010/main" val="2905393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Children’s Book Test (CBT) (Hill et al., 2015) was created to examine the performance of LMs on different categories of words: named entities, nouns, verbs, and prepositions. Rather than reporting perplexity as an evaluation metric, CBT reports accuracy on an automatically constructed cloze test where the task is to predict which of 10 possible choices for an omitted word is correct.</a:t>
            </a:r>
          </a:p>
          <a:p>
            <a:endParaRPr lang="en-US" dirty="0"/>
          </a:p>
          <a:p>
            <a:r>
              <a:rPr lang="en-US" dirty="0"/>
              <a:t>The LAMBADA dataset (</a:t>
            </a:r>
            <a:r>
              <a:rPr lang="en-US" dirty="0" err="1"/>
              <a:t>Paperno</a:t>
            </a:r>
            <a:r>
              <a:rPr lang="en-US" dirty="0"/>
              <a:t> et al., 2016) tests the ability of systems to model long-range dependencies in text. The task is to predict the final word of sentences which require at least 50 tokens of context for a human to successfully predict.</a:t>
            </a:r>
          </a:p>
        </p:txBody>
      </p:sp>
      <p:sp>
        <p:nvSpPr>
          <p:cNvPr id="4" name="Slide Number Placeholder 3"/>
          <p:cNvSpPr>
            <a:spLocks noGrp="1"/>
          </p:cNvSpPr>
          <p:nvPr>
            <p:ph type="sldNum" sz="quarter" idx="5"/>
          </p:nvPr>
        </p:nvSpPr>
        <p:spPr/>
        <p:txBody>
          <a:bodyPr/>
          <a:lstStyle/>
          <a:p>
            <a:fld id="{ADB59005-A619-4B65-B892-C09CB53A2022}" type="slidenum">
              <a:rPr lang="en-US" smtClean="0"/>
              <a:t>11</a:t>
            </a:fld>
            <a:endParaRPr lang="en-US"/>
          </a:p>
        </p:txBody>
      </p:sp>
    </p:spTree>
    <p:extLst>
      <p:ext uri="{BB962C8B-B14F-4D97-AF65-F5344CB8AC3E}">
        <p14:creationId xmlns:p14="http://schemas.microsoft.com/office/powerpoint/2010/main" val="41073180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802639" y="2423160"/>
            <a:ext cx="10769600" cy="1828800"/>
          </a:xfrm>
        </p:spPr>
        <p:txBody>
          <a:bodyPr/>
          <a:lstStyle>
            <a:lvl1pPr>
              <a:defRPr baseline="0">
                <a:solidFill>
                  <a:schemeClr val="tx1"/>
                </a:solidFill>
              </a:defRPr>
            </a:lvl1pPr>
          </a:lstStyle>
          <a:p>
            <a:r>
              <a:rPr lang="en-US" dirty="0"/>
              <a:t>title style</a:t>
            </a:r>
          </a:p>
        </p:txBody>
      </p:sp>
      <p:sp>
        <p:nvSpPr>
          <p:cNvPr id="8" name="Rectangle 7"/>
          <p:cNvSpPr/>
          <p:nvPr/>
        </p:nvSpPr>
        <p:spPr>
          <a:xfrm>
            <a:off x="4257195" y="5035617"/>
            <a:ext cx="3677610" cy="1200329"/>
          </a:xfrm>
          <a:prstGeom prst="rect">
            <a:avLst/>
          </a:prstGeom>
        </p:spPr>
        <p:txBody>
          <a:bodyPr wrap="none">
            <a:spAutoFit/>
          </a:bodyPr>
          <a:lstStyle/>
          <a:p>
            <a:pPr algn="ctr"/>
            <a:r>
              <a:rPr lang="en-US" sz="2400" b="0" dirty="0">
                <a:latin typeface="+mj-lt"/>
              </a:rPr>
              <a:t>Yadollah Yaghoobzadeh</a:t>
            </a:r>
          </a:p>
          <a:p>
            <a:pPr algn="ctr"/>
            <a:r>
              <a:rPr lang="en-US" sz="2400" b="0" dirty="0">
                <a:latin typeface="+mj-lt"/>
              </a:rPr>
              <a:t>Mohammad Javad </a:t>
            </a:r>
            <a:r>
              <a:rPr lang="en-US" sz="2400" b="0" dirty="0" err="1">
                <a:latin typeface="+mj-lt"/>
              </a:rPr>
              <a:t>Dousti</a:t>
            </a:r>
            <a:br>
              <a:rPr lang="en-US" sz="2400" b="0" dirty="0">
                <a:latin typeface="+mj-lt"/>
              </a:rPr>
            </a:br>
            <a:r>
              <a:rPr lang="en-US" sz="2400" b="0" dirty="0">
                <a:latin typeface="+mj-lt"/>
              </a:rPr>
              <a:t>Spring 1403</a:t>
            </a:r>
          </a:p>
        </p:txBody>
      </p:sp>
      <p:pic>
        <p:nvPicPr>
          <p:cNvPr id="1026" name="Picture 2">
            <a:extLst>
              <a:ext uri="{FF2B5EF4-FFF2-40B4-BE49-F238E27FC236}">
                <a16:creationId xmlns:a16="http://schemas.microsoft.com/office/drawing/2014/main" id="{1E30B603-B01F-ED0C-0B6F-B58531A1694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7695" y="223520"/>
            <a:ext cx="2026398" cy="657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454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66700" y="990600"/>
            <a:ext cx="11658601" cy="5410199"/>
          </a:xfrm>
        </p:spPr>
        <p:txBody>
          <a:bodyPr/>
          <a:lstStyle>
            <a:lvl1pPr marL="342900" indent="-342900">
              <a:buSzPct val="60000"/>
              <a:buFont typeface="Wingdings" panose="05000000000000000000" pitchFamily="2" charset="2"/>
              <a:buChar char="q"/>
              <a:defRPr sz="2800"/>
            </a:lvl1pPr>
            <a:lvl2pPr marL="742950" indent="-285750">
              <a:buSzPct val="60000"/>
              <a:buFont typeface="Wingdings" panose="05000000000000000000" pitchFamily="2" charset="2"/>
              <a:buChar char="Ø"/>
              <a:defRPr sz="2400" b="0"/>
            </a:lvl2pPr>
            <a:lvl3pPr marL="1143000" indent="-228600">
              <a:buFont typeface="Courier New" panose="02070309020205020404" pitchFamily="49" charset="0"/>
              <a:buChar char="o"/>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266699" y="20819"/>
            <a:ext cx="11658601" cy="969781"/>
          </a:xfrm>
        </p:spPr>
        <p:txBody>
          <a:bodyPr/>
          <a:lstStyle>
            <a:lvl1pPr marL="182880" algn="l">
              <a:defRPr sz="4000" baseline="0">
                <a:solidFill>
                  <a:schemeClr val="tx1"/>
                </a:solidFill>
              </a:defRPr>
            </a:lvl1pPr>
          </a:lstStyle>
          <a:p>
            <a:r>
              <a:rPr lang="en-US" dirty="0"/>
              <a:t>Click to edit Master title style</a:t>
            </a:r>
          </a:p>
        </p:txBody>
      </p:sp>
      <p:sp>
        <p:nvSpPr>
          <p:cNvPr id="10" name="Slide Number Placeholder 5"/>
          <p:cNvSpPr>
            <a:spLocks noGrp="1"/>
          </p:cNvSpPr>
          <p:nvPr>
            <p:ph type="sldNum" sz="quarter" idx="12"/>
          </p:nvPr>
        </p:nvSpPr>
        <p:spPr>
          <a:xfrm>
            <a:off x="11515410" y="6492876"/>
            <a:ext cx="676589" cy="365125"/>
          </a:xfrm>
        </p:spPr>
        <p:txBody>
          <a:bodyPr/>
          <a:lstStyle>
            <a:lvl1pPr algn="ctr">
              <a:defRPr sz="1200" b="0" baseline="0" smtClean="0">
                <a:solidFill>
                  <a:schemeClr val="tx1"/>
                </a:solidFill>
                <a:latin typeface="Arial" panose="020B0604020202020204" pitchFamily="34" charset="0"/>
                <a:cs typeface="Arial" panose="020B0604020202020204" pitchFamily="34" charset="0"/>
              </a:defRPr>
            </a:lvl1pPr>
          </a:lstStyle>
          <a:p>
            <a:fld id="{89D00882-420D-446F-B065-6675A463A27F}" type="slidenum">
              <a:rPr lang="en-US" smtClean="0"/>
              <a:pPr/>
              <a:t>‹#›</a:t>
            </a:fld>
            <a:endParaRPr lang="en-US"/>
          </a:p>
        </p:txBody>
      </p:sp>
      <p:sp>
        <p:nvSpPr>
          <p:cNvPr id="11" name="TextBox 10">
            <a:extLst>
              <a:ext uri="{FF2B5EF4-FFF2-40B4-BE49-F238E27FC236}">
                <a16:creationId xmlns:a16="http://schemas.microsoft.com/office/drawing/2014/main" id="{C4246A69-1A96-2A98-509C-62C07C91A106}"/>
              </a:ext>
            </a:extLst>
          </p:cNvPr>
          <p:cNvSpPr txBox="1"/>
          <p:nvPr/>
        </p:nvSpPr>
        <p:spPr>
          <a:xfrm>
            <a:off x="228600" y="6488668"/>
            <a:ext cx="1010920" cy="307777"/>
          </a:xfrm>
          <a:prstGeom prst="rect">
            <a:avLst/>
          </a:prstGeom>
          <a:solidFill>
            <a:srgbClr val="002060"/>
          </a:solidFill>
          <a:ln>
            <a:solidFill>
              <a:schemeClr val="bg1"/>
            </a:solidFill>
          </a:ln>
        </p:spPr>
        <p:txBody>
          <a:bodyPr wrap="square" rtlCol="0">
            <a:spAutoFit/>
          </a:bodyPr>
          <a:lstStyle/>
          <a:p>
            <a:r>
              <a:rPr lang="en-US" sz="1400" dirty="0">
                <a:solidFill>
                  <a:schemeClr val="bg1"/>
                </a:solidFill>
              </a:rPr>
              <a:t>LLM 1403</a:t>
            </a:r>
          </a:p>
        </p:txBody>
      </p:sp>
      <p:cxnSp>
        <p:nvCxnSpPr>
          <p:cNvPr id="5" name="Straight Connector 4">
            <a:extLst>
              <a:ext uri="{FF2B5EF4-FFF2-40B4-BE49-F238E27FC236}">
                <a16:creationId xmlns:a16="http://schemas.microsoft.com/office/drawing/2014/main" id="{83E6AB8B-6628-4778-8FCB-1FBFFE37E74E}"/>
              </a:ext>
            </a:extLst>
          </p:cNvPr>
          <p:cNvCxnSpPr>
            <a:cxnSpLocks/>
          </p:cNvCxnSpPr>
          <p:nvPr userDrawn="1"/>
        </p:nvCxnSpPr>
        <p:spPr>
          <a:xfrm>
            <a:off x="266699" y="990600"/>
            <a:ext cx="9836089" cy="0"/>
          </a:xfrm>
          <a:prstGeom prst="line">
            <a:avLst/>
          </a:prstGeom>
          <a:ln>
            <a:headEnd type="none" w="med" len="med"/>
            <a:tailEnd type="none" w="med" len="med"/>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987618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hape Only">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EF3E32C6-F01F-FCD4-7174-2ED528ADB421}"/>
              </a:ext>
            </a:extLst>
          </p:cNvPr>
          <p:cNvSpPr>
            <a:spLocks noGrp="1"/>
          </p:cNvSpPr>
          <p:nvPr>
            <p:ph idx="1"/>
          </p:nvPr>
        </p:nvSpPr>
        <p:spPr>
          <a:xfrm>
            <a:off x="266700" y="990600"/>
            <a:ext cx="11658601" cy="5410199"/>
          </a:xfrm>
        </p:spPr>
        <p:txBody>
          <a:bodyPr/>
          <a:lstStyle>
            <a:lvl1pPr marL="342900" indent="-342900">
              <a:buSzPct val="60000"/>
              <a:buFont typeface="Wingdings" panose="05000000000000000000" pitchFamily="2" charset="2"/>
              <a:buChar char="q"/>
              <a:defRPr sz="2800"/>
            </a:lvl1pPr>
            <a:lvl2pPr marL="742950" indent="-285750">
              <a:buSzPct val="60000"/>
              <a:buFont typeface="Wingdings" panose="05000000000000000000" pitchFamily="2" charset="2"/>
              <a:buChar char="Ø"/>
              <a:defRPr sz="2400" b="0"/>
            </a:lvl2pPr>
            <a:lvl3pPr marL="1143000" indent="-228600">
              <a:buFont typeface="Courier New" panose="02070309020205020404" pitchFamily="49" charset="0"/>
              <a:buChar char="o"/>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a:extLst>
              <a:ext uri="{FF2B5EF4-FFF2-40B4-BE49-F238E27FC236}">
                <a16:creationId xmlns:a16="http://schemas.microsoft.com/office/drawing/2014/main" id="{44B3854E-0506-9A13-05AE-E5752448404E}"/>
              </a:ext>
            </a:extLst>
          </p:cNvPr>
          <p:cNvSpPr>
            <a:spLocks noGrp="1"/>
          </p:cNvSpPr>
          <p:nvPr>
            <p:ph type="title"/>
          </p:nvPr>
        </p:nvSpPr>
        <p:spPr>
          <a:xfrm>
            <a:off x="266699" y="20819"/>
            <a:ext cx="11658601" cy="969781"/>
          </a:xfrm>
        </p:spPr>
        <p:txBody>
          <a:bodyPr/>
          <a:lstStyle>
            <a:lvl1pPr marL="182880" algn="l">
              <a:defRPr sz="4000" baseline="0">
                <a:solidFill>
                  <a:schemeClr val="tx1"/>
                </a:solidFill>
              </a:defRPr>
            </a:lvl1pPr>
          </a:lstStyle>
          <a:p>
            <a:r>
              <a:rPr lang="en-US" dirty="0"/>
              <a:t>Click to edit Master title style</a:t>
            </a:r>
          </a:p>
        </p:txBody>
      </p:sp>
      <p:sp>
        <p:nvSpPr>
          <p:cNvPr id="12" name="Slide Number Placeholder 5">
            <a:extLst>
              <a:ext uri="{FF2B5EF4-FFF2-40B4-BE49-F238E27FC236}">
                <a16:creationId xmlns:a16="http://schemas.microsoft.com/office/drawing/2014/main" id="{F5695B4F-549D-4FDC-5594-2D5B766DAFE7}"/>
              </a:ext>
            </a:extLst>
          </p:cNvPr>
          <p:cNvSpPr>
            <a:spLocks noGrp="1"/>
          </p:cNvSpPr>
          <p:nvPr>
            <p:ph type="sldNum" sz="quarter" idx="12"/>
          </p:nvPr>
        </p:nvSpPr>
        <p:spPr>
          <a:xfrm>
            <a:off x="10769600" y="6492876"/>
            <a:ext cx="1422400" cy="365125"/>
          </a:xfrm>
        </p:spPr>
        <p:txBody>
          <a:bodyPr/>
          <a:lstStyle>
            <a:lvl1pPr algn="ctr">
              <a:defRPr sz="1400" b="1" baseline="0" smtClean="0">
                <a:solidFill>
                  <a:schemeClr val="bg1"/>
                </a:solidFill>
                <a:latin typeface="Arial" panose="020B0604020202020204" pitchFamily="34" charset="0"/>
                <a:cs typeface="Arial" panose="020B0604020202020204" pitchFamily="34" charset="0"/>
              </a:defRPr>
            </a:lvl1pPr>
          </a:lstStyle>
          <a:p>
            <a:fld id="{89D00882-420D-446F-B065-6675A463A27F}" type="slidenum">
              <a:rPr lang="en-US" smtClean="0"/>
              <a:t>‹#›</a:t>
            </a:fld>
            <a:endParaRPr lang="en-US"/>
          </a:p>
        </p:txBody>
      </p:sp>
      <p:sp>
        <p:nvSpPr>
          <p:cNvPr id="3" name="TextBox 2">
            <a:extLst>
              <a:ext uri="{FF2B5EF4-FFF2-40B4-BE49-F238E27FC236}">
                <a16:creationId xmlns:a16="http://schemas.microsoft.com/office/drawing/2014/main" id="{6F5D39A4-7EF6-1C27-5295-E2B43BB8CFDB}"/>
              </a:ext>
            </a:extLst>
          </p:cNvPr>
          <p:cNvSpPr txBox="1"/>
          <p:nvPr userDrawn="1"/>
        </p:nvSpPr>
        <p:spPr>
          <a:xfrm>
            <a:off x="228600" y="6488668"/>
            <a:ext cx="1010920" cy="307777"/>
          </a:xfrm>
          <a:prstGeom prst="rect">
            <a:avLst/>
          </a:prstGeom>
          <a:solidFill>
            <a:srgbClr val="002060"/>
          </a:solidFill>
          <a:ln>
            <a:solidFill>
              <a:schemeClr val="bg1"/>
            </a:solidFill>
          </a:ln>
        </p:spPr>
        <p:txBody>
          <a:bodyPr wrap="square" rtlCol="0">
            <a:spAutoFit/>
          </a:bodyPr>
          <a:lstStyle/>
          <a:p>
            <a:r>
              <a:rPr lang="en-US" sz="1400" dirty="0">
                <a:solidFill>
                  <a:schemeClr val="bg1"/>
                </a:solidFill>
              </a:rPr>
              <a:t>LLM 1403</a:t>
            </a:r>
          </a:p>
        </p:txBody>
      </p:sp>
    </p:spTree>
    <p:extLst>
      <p:ext uri="{BB962C8B-B14F-4D97-AF65-F5344CB8AC3E}">
        <p14:creationId xmlns:p14="http://schemas.microsoft.com/office/powerpoint/2010/main" val="1780268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Only">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1A9015F-2C1C-0901-4D5C-553042AB3430}"/>
              </a:ext>
            </a:extLst>
          </p:cNvPr>
          <p:cNvSpPr>
            <a:spLocks noGrp="1"/>
          </p:cNvSpPr>
          <p:nvPr>
            <p:ph idx="1"/>
          </p:nvPr>
        </p:nvSpPr>
        <p:spPr>
          <a:xfrm>
            <a:off x="304800" y="87868"/>
            <a:ext cx="11620501" cy="6312931"/>
          </a:xfrm>
        </p:spPr>
        <p:txBody>
          <a:bodyPr/>
          <a:lstStyle>
            <a:lvl1pPr marL="342900" indent="-342900">
              <a:buSzPct val="60000"/>
              <a:buFont typeface="Wingdings" panose="05000000000000000000" pitchFamily="2" charset="2"/>
              <a:buChar char="q"/>
              <a:defRPr sz="2800"/>
            </a:lvl1pPr>
            <a:lvl2pPr marL="742950" indent="-285750">
              <a:buSzPct val="60000"/>
              <a:buFont typeface="Wingdings" panose="05000000000000000000" pitchFamily="2" charset="2"/>
              <a:buChar char="Ø"/>
              <a:defRPr sz="2400" b="0"/>
            </a:lvl2pPr>
            <a:lvl3pPr marL="1143000" indent="-228600">
              <a:buFont typeface="Courier New" panose="02070309020205020404" pitchFamily="49" charset="0"/>
              <a:buChar char="o"/>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2DCF8FF8-5AE6-FF9E-E7A5-1B96F522F66F}"/>
              </a:ext>
            </a:extLst>
          </p:cNvPr>
          <p:cNvSpPr>
            <a:spLocks noGrp="1"/>
          </p:cNvSpPr>
          <p:nvPr>
            <p:ph type="sldNum" sz="quarter" idx="12"/>
          </p:nvPr>
        </p:nvSpPr>
        <p:spPr>
          <a:xfrm>
            <a:off x="10769600" y="6492876"/>
            <a:ext cx="1422400" cy="365125"/>
          </a:xfrm>
        </p:spPr>
        <p:txBody>
          <a:bodyPr/>
          <a:lstStyle>
            <a:lvl1pPr algn="ctr">
              <a:defRPr sz="1400" b="1" baseline="0" smtClean="0">
                <a:solidFill>
                  <a:schemeClr val="bg1"/>
                </a:solidFill>
                <a:latin typeface="Arial" panose="020B0604020202020204" pitchFamily="34" charset="0"/>
                <a:cs typeface="Arial" panose="020B0604020202020204" pitchFamily="34" charset="0"/>
              </a:defRPr>
            </a:lvl1pPr>
          </a:lstStyle>
          <a:p>
            <a:fld id="{89D00882-420D-446F-B065-6675A463A27F}" type="slidenum">
              <a:rPr lang="en-US" smtClean="0"/>
              <a:t>‹#›</a:t>
            </a:fld>
            <a:endParaRPr lang="en-US"/>
          </a:p>
        </p:txBody>
      </p:sp>
      <p:sp>
        <p:nvSpPr>
          <p:cNvPr id="4" name="TextBox 3">
            <a:extLst>
              <a:ext uri="{FF2B5EF4-FFF2-40B4-BE49-F238E27FC236}">
                <a16:creationId xmlns:a16="http://schemas.microsoft.com/office/drawing/2014/main" id="{8F5CFD43-5A75-7F4A-F95F-D29B59459AA7}"/>
              </a:ext>
            </a:extLst>
          </p:cNvPr>
          <p:cNvSpPr txBox="1"/>
          <p:nvPr userDrawn="1"/>
        </p:nvSpPr>
        <p:spPr>
          <a:xfrm>
            <a:off x="228600" y="6488668"/>
            <a:ext cx="1010920" cy="307777"/>
          </a:xfrm>
          <a:prstGeom prst="rect">
            <a:avLst/>
          </a:prstGeom>
          <a:solidFill>
            <a:srgbClr val="002060"/>
          </a:solidFill>
          <a:ln>
            <a:solidFill>
              <a:schemeClr val="bg1"/>
            </a:solidFill>
          </a:ln>
        </p:spPr>
        <p:txBody>
          <a:bodyPr wrap="square" rtlCol="0">
            <a:spAutoFit/>
          </a:bodyPr>
          <a:lstStyle/>
          <a:p>
            <a:r>
              <a:rPr lang="en-US" sz="1400" dirty="0">
                <a:solidFill>
                  <a:schemeClr val="bg1"/>
                </a:solidFill>
              </a:rPr>
              <a:t>LLM 1403</a:t>
            </a:r>
          </a:p>
        </p:txBody>
      </p:sp>
    </p:spTree>
    <p:extLst>
      <p:ext uri="{BB962C8B-B14F-4D97-AF65-F5344CB8AC3E}">
        <p14:creationId xmlns:p14="http://schemas.microsoft.com/office/powerpoint/2010/main" val="3813945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ntent-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2DCF8FF8-5AE6-FF9E-E7A5-1B96F522F66F}"/>
              </a:ext>
            </a:extLst>
          </p:cNvPr>
          <p:cNvSpPr>
            <a:spLocks noGrp="1"/>
          </p:cNvSpPr>
          <p:nvPr>
            <p:ph type="sldNum" sz="quarter" idx="12"/>
          </p:nvPr>
        </p:nvSpPr>
        <p:spPr>
          <a:xfrm>
            <a:off x="10769600" y="6492876"/>
            <a:ext cx="1422400" cy="365125"/>
          </a:xfrm>
        </p:spPr>
        <p:txBody>
          <a:bodyPr/>
          <a:lstStyle>
            <a:lvl1pPr algn="ctr">
              <a:defRPr sz="1400" b="1" baseline="0" smtClean="0">
                <a:solidFill>
                  <a:schemeClr val="bg1"/>
                </a:solidFill>
                <a:latin typeface="Arial" panose="020B0604020202020204" pitchFamily="34" charset="0"/>
                <a:cs typeface="Arial" panose="020B0604020202020204" pitchFamily="34" charset="0"/>
              </a:defRPr>
            </a:lvl1pPr>
          </a:lstStyle>
          <a:p>
            <a:fld id="{89D00882-420D-446F-B065-6675A463A27F}" type="slidenum">
              <a:rPr lang="en-US" smtClean="0"/>
              <a:t>‹#›</a:t>
            </a:fld>
            <a:endParaRPr lang="en-US"/>
          </a:p>
        </p:txBody>
      </p:sp>
      <p:sp>
        <p:nvSpPr>
          <p:cNvPr id="4" name="TextBox 3">
            <a:extLst>
              <a:ext uri="{FF2B5EF4-FFF2-40B4-BE49-F238E27FC236}">
                <a16:creationId xmlns:a16="http://schemas.microsoft.com/office/drawing/2014/main" id="{8F5CFD43-5A75-7F4A-F95F-D29B59459AA7}"/>
              </a:ext>
            </a:extLst>
          </p:cNvPr>
          <p:cNvSpPr txBox="1"/>
          <p:nvPr userDrawn="1"/>
        </p:nvSpPr>
        <p:spPr>
          <a:xfrm>
            <a:off x="228600" y="6488668"/>
            <a:ext cx="1010920" cy="307777"/>
          </a:xfrm>
          <a:prstGeom prst="rect">
            <a:avLst/>
          </a:prstGeom>
          <a:solidFill>
            <a:srgbClr val="002060"/>
          </a:solidFill>
          <a:ln>
            <a:solidFill>
              <a:schemeClr val="bg1"/>
            </a:solidFill>
          </a:ln>
        </p:spPr>
        <p:txBody>
          <a:bodyPr wrap="square" rtlCol="0">
            <a:spAutoFit/>
          </a:bodyPr>
          <a:lstStyle/>
          <a:p>
            <a:r>
              <a:rPr lang="en-US" sz="1400" dirty="0">
                <a:solidFill>
                  <a:schemeClr val="bg1"/>
                </a:solidFill>
              </a:rPr>
              <a:t>LLM 1403</a:t>
            </a:r>
          </a:p>
        </p:txBody>
      </p:sp>
    </p:spTree>
    <p:extLst>
      <p:ext uri="{BB962C8B-B14F-4D97-AF65-F5344CB8AC3E}">
        <p14:creationId xmlns:p14="http://schemas.microsoft.com/office/powerpoint/2010/main" val="3403844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Content Placeholder 2"/>
          <p:cNvSpPr>
            <a:spLocks noGrp="1"/>
          </p:cNvSpPr>
          <p:nvPr>
            <p:ph idx="1"/>
          </p:nvPr>
        </p:nvSpPr>
        <p:spPr>
          <a:xfrm>
            <a:off x="266701" y="152400"/>
            <a:ext cx="5600698" cy="6172201"/>
          </a:xfrm>
        </p:spPr>
        <p:txBody>
          <a:bodyPr/>
          <a:lstStyle>
            <a:lvl1pPr marL="342900" indent="-342900">
              <a:buSzPct val="60000"/>
              <a:buFont typeface="Wingdings" panose="05000000000000000000" pitchFamily="2" charset="2"/>
              <a:buChar char="q"/>
              <a:defRPr sz="2800"/>
            </a:lvl1pPr>
            <a:lvl2pPr marL="742950" indent="-285750">
              <a:buSzPct val="60000"/>
              <a:buFont typeface="Wingdings" panose="05000000000000000000" pitchFamily="2" charset="2"/>
              <a:buChar char="Ø"/>
              <a:defRPr sz="2400"/>
            </a:lvl2pPr>
            <a:lvl3pPr marL="1143000" indent="-228600">
              <a:buFont typeface="Courier New" panose="02070309020205020404" pitchFamily="49" charset="0"/>
              <a:buChar char="o"/>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p:cNvSpPr>
            <a:spLocks noGrp="1"/>
          </p:cNvSpPr>
          <p:nvPr>
            <p:ph type="sldNum" sz="quarter" idx="12"/>
          </p:nvPr>
        </p:nvSpPr>
        <p:spPr>
          <a:xfrm>
            <a:off x="10769600" y="6492876"/>
            <a:ext cx="1422400" cy="365125"/>
          </a:xfrm>
        </p:spPr>
        <p:txBody>
          <a:bodyPr/>
          <a:lstStyle>
            <a:lvl1pPr algn="ctr">
              <a:defRPr sz="1400" b="1" baseline="0" smtClean="0">
                <a:solidFill>
                  <a:schemeClr val="bg1"/>
                </a:solidFill>
                <a:latin typeface="Arial" panose="020B0604020202020204" pitchFamily="34" charset="0"/>
                <a:cs typeface="Arial" panose="020B0604020202020204" pitchFamily="34" charset="0"/>
              </a:defRPr>
            </a:lvl1pPr>
          </a:lstStyle>
          <a:p>
            <a:fld id="{89D00882-420D-446F-B065-6675A463A27F}" type="slidenum">
              <a:rPr lang="en-US" smtClean="0"/>
              <a:t>‹#›</a:t>
            </a:fld>
            <a:endParaRPr lang="en-US"/>
          </a:p>
        </p:txBody>
      </p:sp>
      <p:sp>
        <p:nvSpPr>
          <p:cNvPr id="8" name="Content Placeholder 2">
            <a:extLst>
              <a:ext uri="{FF2B5EF4-FFF2-40B4-BE49-F238E27FC236}">
                <a16:creationId xmlns:a16="http://schemas.microsoft.com/office/drawing/2014/main" id="{CFEFB003-44D6-451B-86D6-5FF16B9CEB5F}"/>
              </a:ext>
            </a:extLst>
          </p:cNvPr>
          <p:cNvSpPr>
            <a:spLocks noGrp="1"/>
          </p:cNvSpPr>
          <p:nvPr>
            <p:ph idx="13"/>
          </p:nvPr>
        </p:nvSpPr>
        <p:spPr>
          <a:xfrm>
            <a:off x="6324600" y="131618"/>
            <a:ext cx="5600699" cy="6172201"/>
          </a:xfrm>
        </p:spPr>
        <p:txBody>
          <a:bodyPr/>
          <a:lstStyle>
            <a:lvl1pPr marL="342900" indent="-342900">
              <a:buSzPct val="60000"/>
              <a:buFont typeface="Wingdings" panose="05000000000000000000" pitchFamily="2" charset="2"/>
              <a:buChar char="q"/>
              <a:defRPr sz="2800"/>
            </a:lvl1pPr>
            <a:lvl2pPr marL="742950" indent="-285750">
              <a:buSzPct val="60000"/>
              <a:buFont typeface="Wingdings" panose="05000000000000000000" pitchFamily="2" charset="2"/>
              <a:buChar char="Ø"/>
              <a:defRPr sz="2400"/>
            </a:lvl2pPr>
            <a:lvl3pPr marL="1143000" indent="-228600">
              <a:buFont typeface="Courier New" panose="02070309020205020404" pitchFamily="49" charset="0"/>
              <a:buChar char="o"/>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D5E32E36-2BF4-11A0-CF58-A8CDA0086211}"/>
              </a:ext>
            </a:extLst>
          </p:cNvPr>
          <p:cNvSpPr txBox="1"/>
          <p:nvPr userDrawn="1"/>
        </p:nvSpPr>
        <p:spPr>
          <a:xfrm>
            <a:off x="228600" y="6488668"/>
            <a:ext cx="1010920" cy="307777"/>
          </a:xfrm>
          <a:prstGeom prst="rect">
            <a:avLst/>
          </a:prstGeom>
          <a:solidFill>
            <a:srgbClr val="002060"/>
          </a:solidFill>
          <a:ln>
            <a:solidFill>
              <a:schemeClr val="bg1"/>
            </a:solidFill>
          </a:ln>
        </p:spPr>
        <p:txBody>
          <a:bodyPr wrap="square" rtlCol="0">
            <a:spAutoFit/>
          </a:bodyPr>
          <a:lstStyle/>
          <a:p>
            <a:r>
              <a:rPr lang="en-US" sz="1400" dirty="0">
                <a:solidFill>
                  <a:schemeClr val="bg1"/>
                </a:solidFill>
              </a:rPr>
              <a:t>LLM 1403</a:t>
            </a:r>
          </a:p>
        </p:txBody>
      </p:sp>
    </p:spTree>
    <p:extLst>
      <p:ext uri="{BB962C8B-B14F-4D97-AF65-F5344CB8AC3E}">
        <p14:creationId xmlns:p14="http://schemas.microsoft.com/office/powerpoint/2010/main" val="33374065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cs typeface="+mn-cs"/>
              </a:defRPr>
            </a:lvl1pPr>
          </a:lstStyle>
          <a:p>
            <a:fld id="{89D00882-420D-446F-B065-6675A463A27F}" type="slidenum">
              <a:rPr lang="en-US" smtClean="0"/>
              <a:t>‹#›</a:t>
            </a:fld>
            <a:endParaRPr lang="en-US"/>
          </a:p>
        </p:txBody>
      </p:sp>
    </p:spTree>
    <p:extLst>
      <p:ext uri="{BB962C8B-B14F-4D97-AF65-F5344CB8AC3E}">
        <p14:creationId xmlns:p14="http://schemas.microsoft.com/office/powerpoint/2010/main" val="5920304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72" r:id="rId5"/>
    <p:sldLayoutId id="2147483665" r:id="rId6"/>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Calibri" panose="020F0502020204030204" pitchFamily="34" charset="0"/>
          <a:ea typeface="Helvetica Neue" panose="02000503000000020004" pitchFamily="2" charset="0"/>
          <a:cs typeface="Calibri" panose="020F0502020204030204" pitchFamily="34" charset="0"/>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Calibri" panose="020F0502020204030204" pitchFamily="34" charset="0"/>
          <a:ea typeface="Helvetica Neue" panose="02000503000000020004" pitchFamily="2" charset="0"/>
          <a:cs typeface="Calibri" panose="020F0502020204030204" pitchFamily="34" charset="0"/>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Calibri" panose="020F0502020204030204" pitchFamily="34" charset="0"/>
          <a:ea typeface="Helvetica Neue" panose="02000503000000020004" pitchFamily="2" charset="0"/>
          <a:cs typeface="Calibri" panose="020F0502020204030204" pitchFamily="34" charset="0"/>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Calibri" panose="020F0502020204030204" pitchFamily="34" charset="0"/>
          <a:ea typeface="Helvetica Neue" panose="02000503000000020004" pitchFamily="2" charset="0"/>
          <a:cs typeface="Calibri" panose="020F0502020204030204" pitchFamily="34" charset="0"/>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Calibri" panose="020F0502020204030204" pitchFamily="34" charset="0"/>
          <a:ea typeface="Helvetica Neue" panose="02000503000000020004" pitchFamily="2" charset="0"/>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0D085-445B-4930-BF23-86F3FF17CED3}"/>
              </a:ext>
            </a:extLst>
          </p:cNvPr>
          <p:cNvSpPr>
            <a:spLocks noGrp="1"/>
          </p:cNvSpPr>
          <p:nvPr>
            <p:ph type="ctrTitle"/>
          </p:nvPr>
        </p:nvSpPr>
        <p:spPr>
          <a:xfrm>
            <a:off x="711200" y="3100388"/>
            <a:ext cx="10678850" cy="821531"/>
          </a:xfrm>
        </p:spPr>
        <p:txBody>
          <a:bodyPr/>
          <a:lstStyle/>
          <a:p>
            <a:r>
              <a:rPr lang="en-US" dirty="0"/>
              <a:t>GPT: </a:t>
            </a:r>
            <a:r>
              <a:rPr lang="en-US" b="1" dirty="0"/>
              <a:t>G</a:t>
            </a:r>
            <a:r>
              <a:rPr lang="en-US" dirty="0"/>
              <a:t>enerative </a:t>
            </a:r>
            <a:r>
              <a:rPr lang="en-US" b="1" dirty="0"/>
              <a:t>P</a:t>
            </a:r>
            <a:r>
              <a:rPr lang="en-US" dirty="0"/>
              <a:t>re-trained </a:t>
            </a:r>
            <a:r>
              <a:rPr lang="en-US" b="1" dirty="0"/>
              <a:t>T</a:t>
            </a:r>
            <a:r>
              <a:rPr lang="en-US" dirty="0"/>
              <a:t>ransformer</a:t>
            </a:r>
          </a:p>
        </p:txBody>
      </p:sp>
      <p:sp>
        <p:nvSpPr>
          <p:cNvPr id="3" name="TextBox 2">
            <a:extLst>
              <a:ext uri="{FF2B5EF4-FFF2-40B4-BE49-F238E27FC236}">
                <a16:creationId xmlns:a16="http://schemas.microsoft.com/office/drawing/2014/main" id="{53139387-D27A-4717-A2A3-54677254CC7A}"/>
              </a:ext>
            </a:extLst>
          </p:cNvPr>
          <p:cNvSpPr txBox="1"/>
          <p:nvPr/>
        </p:nvSpPr>
        <p:spPr>
          <a:xfrm>
            <a:off x="0" y="6550223"/>
            <a:ext cx="5386388" cy="307777"/>
          </a:xfrm>
          <a:prstGeom prst="rect">
            <a:avLst/>
          </a:prstGeom>
          <a:noFill/>
        </p:spPr>
        <p:txBody>
          <a:bodyPr wrap="square" rtlCol="0">
            <a:spAutoFit/>
          </a:bodyPr>
          <a:lstStyle/>
          <a:p>
            <a:r>
              <a:rPr lang="en-US" sz="1400" b="0" i="0" u="none" strike="noStrike" baseline="0" dirty="0">
                <a:solidFill>
                  <a:srgbClr val="000000"/>
                </a:solidFill>
                <a:latin typeface="Arial" panose="020B0604020202020204" pitchFamily="34" charset="0"/>
              </a:rPr>
              <a:t> Slides are adopted from Advanced NLP course at UMass.</a:t>
            </a:r>
            <a:endParaRPr lang="en-US" sz="1000" dirty="0"/>
          </a:p>
        </p:txBody>
      </p:sp>
      <p:sp>
        <p:nvSpPr>
          <p:cNvPr id="5" name="TextBox 4">
            <a:extLst>
              <a:ext uri="{FF2B5EF4-FFF2-40B4-BE49-F238E27FC236}">
                <a16:creationId xmlns:a16="http://schemas.microsoft.com/office/drawing/2014/main" id="{DA0875AF-4830-3395-04A9-A8F37D6CFA98}"/>
              </a:ext>
            </a:extLst>
          </p:cNvPr>
          <p:cNvSpPr txBox="1"/>
          <p:nvPr/>
        </p:nvSpPr>
        <p:spPr>
          <a:xfrm>
            <a:off x="270164" y="6442501"/>
            <a:ext cx="6097978" cy="430887"/>
          </a:xfrm>
          <a:prstGeom prst="rect">
            <a:avLst/>
          </a:prstGeom>
          <a:noFill/>
        </p:spPr>
        <p:txBody>
          <a:bodyPr wrap="square">
            <a:spAutoFit/>
          </a:bodyPr>
          <a:lstStyle/>
          <a:p>
            <a:r>
              <a:rPr lang="en-US" sz="1100" dirty="0"/>
              <a:t>Slides adapted are adapted from various sources including from D. </a:t>
            </a:r>
            <a:r>
              <a:rPr lang="en-US" sz="1100" dirty="0" err="1"/>
              <a:t>Hoiem</a:t>
            </a:r>
            <a:r>
              <a:rPr lang="en-US" sz="1100" dirty="0"/>
              <a:t>, </a:t>
            </a:r>
            <a:r>
              <a:rPr lang="zh-CN" sz="1100" dirty="0"/>
              <a:t>S</a:t>
            </a:r>
            <a:r>
              <a:rPr lang="en-US" altLang="zh-CN" sz="1100" dirty="0"/>
              <a:t>.</a:t>
            </a:r>
            <a:r>
              <a:rPr lang="zh-CN" sz="1100" dirty="0"/>
              <a:t> Diao</a:t>
            </a:r>
            <a:r>
              <a:rPr lang="en-US" altLang="zh-CN" sz="1100" dirty="0"/>
              <a:t>, and Z. Li</a:t>
            </a:r>
            <a:r>
              <a:rPr lang="en-US" sz="1100" dirty="0"/>
              <a:t> of U. </a:t>
            </a:r>
            <a:r>
              <a:rPr lang="en-US" sz="1100"/>
              <a:t>of Illinois.</a:t>
            </a:r>
            <a:endParaRPr lang="en-US" sz="1100" dirty="0"/>
          </a:p>
        </p:txBody>
      </p:sp>
    </p:spTree>
    <p:extLst>
      <p:ext uri="{BB962C8B-B14F-4D97-AF65-F5344CB8AC3E}">
        <p14:creationId xmlns:p14="http://schemas.microsoft.com/office/powerpoint/2010/main" val="1616806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143A91-D178-4304-AE6B-045D92186C54}"/>
              </a:ext>
            </a:extLst>
          </p:cNvPr>
          <p:cNvSpPr>
            <a:spLocks noGrp="1"/>
          </p:cNvSpPr>
          <p:nvPr>
            <p:ph type="title"/>
          </p:nvPr>
        </p:nvSpPr>
        <p:spPr/>
        <p:txBody>
          <a:bodyPr/>
          <a:lstStyle/>
          <a:p>
            <a:r>
              <a:rPr lang="en-US" dirty="0"/>
              <a:t>History of </a:t>
            </a:r>
            <a:r>
              <a:rPr lang="en-US" dirty="0" err="1"/>
              <a:t>OpenAI</a:t>
            </a:r>
            <a:r>
              <a:rPr lang="en-US" dirty="0"/>
              <a:t> GPT models</a:t>
            </a:r>
          </a:p>
        </p:txBody>
      </p:sp>
      <p:sp>
        <p:nvSpPr>
          <p:cNvPr id="4" name="Slide Number Placeholder 3">
            <a:extLst>
              <a:ext uri="{FF2B5EF4-FFF2-40B4-BE49-F238E27FC236}">
                <a16:creationId xmlns:a16="http://schemas.microsoft.com/office/drawing/2014/main" id="{89AECAB5-67CF-4C51-9260-780C9BB0D395}"/>
              </a:ext>
            </a:extLst>
          </p:cNvPr>
          <p:cNvSpPr>
            <a:spLocks noGrp="1"/>
          </p:cNvSpPr>
          <p:nvPr>
            <p:ph type="sldNum" sz="quarter" idx="12"/>
          </p:nvPr>
        </p:nvSpPr>
        <p:spPr/>
        <p:txBody>
          <a:bodyPr/>
          <a:lstStyle/>
          <a:p>
            <a:fld id="{89D00882-420D-446F-B065-6675A463A27F}" type="slidenum">
              <a:rPr lang="en-US" smtClean="0"/>
              <a:pPr/>
              <a:t>2</a:t>
            </a:fld>
            <a:endParaRPr lang="en-US"/>
          </a:p>
        </p:txBody>
      </p:sp>
      <p:pic>
        <p:nvPicPr>
          <p:cNvPr id="5" name="Picture 4">
            <a:extLst>
              <a:ext uri="{FF2B5EF4-FFF2-40B4-BE49-F238E27FC236}">
                <a16:creationId xmlns:a16="http://schemas.microsoft.com/office/drawing/2014/main" id="{848F7C55-5D8A-46B4-9D7B-465D76D746AF}"/>
              </a:ext>
            </a:extLst>
          </p:cNvPr>
          <p:cNvPicPr>
            <a:picLocks noChangeAspect="1"/>
          </p:cNvPicPr>
          <p:nvPr/>
        </p:nvPicPr>
        <p:blipFill>
          <a:blip r:embed="rId2"/>
          <a:stretch>
            <a:fillRect/>
          </a:stretch>
        </p:blipFill>
        <p:spPr>
          <a:xfrm>
            <a:off x="314648" y="2333370"/>
            <a:ext cx="11562702" cy="2724657"/>
          </a:xfrm>
          <a:prstGeom prst="rect">
            <a:avLst/>
          </a:prstGeom>
        </p:spPr>
      </p:pic>
    </p:spTree>
    <p:extLst>
      <p:ext uri="{BB962C8B-B14F-4D97-AF65-F5344CB8AC3E}">
        <p14:creationId xmlns:p14="http://schemas.microsoft.com/office/powerpoint/2010/main" val="2050687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126E4-D207-981B-F50C-70EDC57D8C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348C5D2-34AD-4DEA-A656-F9B3E62EDF19}"/>
              </a:ext>
            </a:extLst>
          </p:cNvPr>
          <p:cNvSpPr>
            <a:spLocks noGrp="1"/>
          </p:cNvSpPr>
          <p:nvPr>
            <p:ph type="title"/>
          </p:nvPr>
        </p:nvSpPr>
        <p:spPr/>
        <p:txBody>
          <a:bodyPr/>
          <a:lstStyle/>
          <a:p>
            <a:r>
              <a:rPr lang="en-US" dirty="0"/>
              <a:t>History of </a:t>
            </a:r>
            <a:r>
              <a:rPr lang="en-US" dirty="0" err="1"/>
              <a:t>OpenAI</a:t>
            </a:r>
            <a:r>
              <a:rPr lang="en-US" dirty="0"/>
              <a:t> GPT models</a:t>
            </a:r>
          </a:p>
        </p:txBody>
      </p:sp>
      <p:sp>
        <p:nvSpPr>
          <p:cNvPr id="4" name="Slide Number Placeholder 3">
            <a:extLst>
              <a:ext uri="{FF2B5EF4-FFF2-40B4-BE49-F238E27FC236}">
                <a16:creationId xmlns:a16="http://schemas.microsoft.com/office/drawing/2014/main" id="{898F23AA-6F8A-BF17-7F71-853F1269FB6C}"/>
              </a:ext>
            </a:extLst>
          </p:cNvPr>
          <p:cNvSpPr>
            <a:spLocks noGrp="1"/>
          </p:cNvSpPr>
          <p:nvPr>
            <p:ph type="sldNum" sz="quarter" idx="12"/>
          </p:nvPr>
        </p:nvSpPr>
        <p:spPr/>
        <p:txBody>
          <a:bodyPr/>
          <a:lstStyle/>
          <a:p>
            <a:fld id="{89D00882-420D-446F-B065-6675A463A27F}" type="slidenum">
              <a:rPr lang="en-US" smtClean="0"/>
              <a:pPr/>
              <a:t>3</a:t>
            </a:fld>
            <a:endParaRPr lang="en-US"/>
          </a:p>
        </p:txBody>
      </p:sp>
      <p:pic>
        <p:nvPicPr>
          <p:cNvPr id="5" name="Picture 4">
            <a:extLst>
              <a:ext uri="{FF2B5EF4-FFF2-40B4-BE49-F238E27FC236}">
                <a16:creationId xmlns:a16="http://schemas.microsoft.com/office/drawing/2014/main" id="{170A15F5-B6FC-9B34-5D50-AA8C05EEA319}"/>
              </a:ext>
            </a:extLst>
          </p:cNvPr>
          <p:cNvPicPr>
            <a:picLocks noChangeAspect="1"/>
          </p:cNvPicPr>
          <p:nvPr/>
        </p:nvPicPr>
        <p:blipFill>
          <a:blip r:embed="rId2"/>
          <a:stretch>
            <a:fillRect/>
          </a:stretch>
        </p:blipFill>
        <p:spPr>
          <a:xfrm>
            <a:off x="314648" y="2333370"/>
            <a:ext cx="11562702" cy="2724657"/>
          </a:xfrm>
          <a:prstGeom prst="rect">
            <a:avLst/>
          </a:prstGeom>
        </p:spPr>
      </p:pic>
      <p:sp>
        <p:nvSpPr>
          <p:cNvPr id="2" name="Left Brace 1">
            <a:extLst>
              <a:ext uri="{FF2B5EF4-FFF2-40B4-BE49-F238E27FC236}">
                <a16:creationId xmlns:a16="http://schemas.microsoft.com/office/drawing/2014/main" id="{B7A6F7B9-A8C1-C21A-6C7A-942264A44399}"/>
              </a:ext>
            </a:extLst>
          </p:cNvPr>
          <p:cNvSpPr/>
          <p:nvPr/>
        </p:nvSpPr>
        <p:spPr>
          <a:xfrm rot="5400000">
            <a:off x="3032150" y="-230429"/>
            <a:ext cx="523036" cy="4824375"/>
          </a:xfrm>
          <a:prstGeom prst="leftBrac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36727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sign&#10;&#10;Description automatically generated">
            <a:extLst>
              <a:ext uri="{FF2B5EF4-FFF2-40B4-BE49-F238E27FC236}">
                <a16:creationId xmlns:a16="http://schemas.microsoft.com/office/drawing/2014/main" id="{2D2B893D-E267-A4EE-7C7E-C134A4EF4DA6}"/>
              </a:ext>
            </a:extLst>
          </p:cNvPr>
          <p:cNvPicPr>
            <a:picLocks noChangeAspect="1"/>
          </p:cNvPicPr>
          <p:nvPr/>
        </p:nvPicPr>
        <p:blipFill>
          <a:blip r:embed="rId2"/>
          <a:stretch>
            <a:fillRect/>
          </a:stretch>
        </p:blipFill>
        <p:spPr>
          <a:xfrm>
            <a:off x="120650" y="1107869"/>
            <a:ext cx="11950700" cy="4272374"/>
          </a:xfrm>
          <a:prstGeom prst="rect">
            <a:avLst/>
          </a:prstGeom>
          <a:noFill/>
        </p:spPr>
      </p:pic>
      <p:sp>
        <p:nvSpPr>
          <p:cNvPr id="4" name="Slide Number Placeholder 3" hidden="1">
            <a:extLst>
              <a:ext uri="{FF2B5EF4-FFF2-40B4-BE49-F238E27FC236}">
                <a16:creationId xmlns:a16="http://schemas.microsoft.com/office/drawing/2014/main" id="{838AB097-2C74-4B92-F75E-DDE042B0E16C}"/>
              </a:ext>
            </a:extLst>
          </p:cNvPr>
          <p:cNvSpPr>
            <a:spLocks noGrp="1"/>
          </p:cNvSpPr>
          <p:nvPr>
            <p:ph type="sldNum" sz="quarter" idx="12"/>
          </p:nvPr>
        </p:nvSpPr>
        <p:spPr/>
        <p:txBody>
          <a:bodyPr/>
          <a:lstStyle/>
          <a:p>
            <a:pPr>
              <a:spcAft>
                <a:spcPts val="600"/>
              </a:spcAft>
            </a:pPr>
            <a:fld id="{89D00882-420D-446F-B065-6675A463A27F}" type="slidenum">
              <a:rPr lang="en-US" smtClean="0"/>
              <a:pPr>
                <a:spcAft>
                  <a:spcPts val="600"/>
                </a:spcAft>
              </a:pPr>
              <a:t>4</a:t>
            </a:fld>
            <a:endParaRPr lang="en-US"/>
          </a:p>
        </p:txBody>
      </p:sp>
      <p:sp>
        <p:nvSpPr>
          <p:cNvPr id="9" name="TextBox 8">
            <a:extLst>
              <a:ext uri="{FF2B5EF4-FFF2-40B4-BE49-F238E27FC236}">
                <a16:creationId xmlns:a16="http://schemas.microsoft.com/office/drawing/2014/main" id="{623FC452-9652-37F0-8DE2-E5946B5198A9}"/>
              </a:ext>
            </a:extLst>
          </p:cNvPr>
          <p:cNvSpPr txBox="1"/>
          <p:nvPr/>
        </p:nvSpPr>
        <p:spPr>
          <a:xfrm>
            <a:off x="3129077" y="6370243"/>
            <a:ext cx="8313166" cy="261610"/>
          </a:xfrm>
          <a:prstGeom prst="rect">
            <a:avLst/>
          </a:prstGeom>
          <a:noFill/>
        </p:spPr>
        <p:txBody>
          <a:bodyPr wrap="square">
            <a:spAutoFit/>
          </a:bodyPr>
          <a:lstStyle/>
          <a:p>
            <a:r>
              <a:rPr lang="en-US" sz="1100" dirty="0"/>
              <a:t>https://cdn.openai.com/research-covers/language-unsupervised/language_understanding_paper.pdf</a:t>
            </a:r>
          </a:p>
        </p:txBody>
      </p:sp>
    </p:spTree>
    <p:extLst>
      <p:ext uri="{BB962C8B-B14F-4D97-AF65-F5344CB8AC3E}">
        <p14:creationId xmlns:p14="http://schemas.microsoft.com/office/powerpoint/2010/main" val="3497517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C0F209-E6E0-73C3-1460-D333A0E4A857}"/>
                  </a:ext>
                </a:extLst>
              </p:cNvPr>
              <p:cNvSpPr>
                <a:spLocks noGrp="1"/>
              </p:cNvSpPr>
              <p:nvPr>
                <p:ph idx="1"/>
              </p:nvPr>
            </p:nvSpPr>
            <p:spPr/>
            <p:txBody>
              <a:bodyPr>
                <a:normAutofit/>
              </a:bodyPr>
              <a:lstStyle/>
              <a:p>
                <a:r>
                  <a:rPr lang="en-US" dirty="0"/>
                  <a:t>GPT-1 is a generative, decoder-only Transformer architecture</a:t>
                </a:r>
              </a:p>
              <a:p>
                <a:pPr lvl="1"/>
                <a:r>
                  <a:rPr lang="en-US" dirty="0"/>
                  <a:t>117M parameters in GPT1 vs. 340M for BERT Large</a:t>
                </a:r>
              </a:p>
              <a:p>
                <a:r>
                  <a:rPr lang="en-US" dirty="0"/>
                  <a:t>Pre-training: Maximize data likelihood as a product of conditional probabilities, trained on </a:t>
                </a:r>
                <a:r>
                  <a:rPr lang="en-US" i="1" dirty="0"/>
                  <a:t>Books Corpus</a:t>
                </a:r>
              </a:p>
              <a:p>
                <a:pPr lvl="1"/>
                <a:r>
                  <a:rPr lang="en-US" dirty="0"/>
                  <a:t>Predict each token based on the </a:t>
                </a:r>
                <a:r>
                  <a:rPr lang="en-US" i="1" dirty="0"/>
                  <a:t>k</a:t>
                </a:r>
                <a:r>
                  <a:rPr lang="en-US" dirty="0"/>
                  <a:t> tokens (the “context”) that came before</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𝑈</m:t>
                          </m:r>
                        </m:e>
                      </m:d>
                      <m:r>
                        <a:rPr lang="en-US" b="0" i="1" smtClean="0">
                          <a:latin typeface="Cambria Math" panose="02040503050406030204" pitchFamily="18" charset="0"/>
                        </a:rPr>
                        <m:t>=</m:t>
                      </m:r>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𝑖</m:t>
                          </m:r>
                        </m:sub>
                        <m:sup/>
                        <m:e>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𝑃</m:t>
                              </m:r>
                              <m:d>
                                <m:dPr>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sub>
                                  </m:sSub>
                                </m:e>
                              </m:d>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𝑘</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m:t>
                              </m:r>
                              <m:r>
                                <m:rPr>
                                  <m:sty m:val="p"/>
                                </m:rPr>
                                <a:rPr lang="en-US">
                                  <a:latin typeface="Cambria Math" panose="02040503050406030204" pitchFamily="18" charset="0"/>
                                </a:rPr>
                                <m:t>Θ</m:t>
                              </m:r>
                              <m:r>
                                <a:rPr lang="en-US" i="1">
                                  <a:latin typeface="Cambria Math" panose="02040503050406030204" pitchFamily="18" charset="0"/>
                                </a:rPr>
                                <m:t>) </m:t>
                              </m:r>
                            </m:e>
                          </m:func>
                        </m:e>
                      </m:nary>
                    </m:oMath>
                  </m:oMathPara>
                </a14:m>
                <a:endParaRPr lang="en-US" dirty="0"/>
              </a:p>
              <a:p>
                <a:r>
                  <a:rPr lang="en-US" dirty="0"/>
                  <a:t>Fine-tuned for each task while also retaining the generative objective.</a:t>
                </a:r>
              </a:p>
              <a:p>
                <a:r>
                  <a:rPr lang="en-US" dirty="0"/>
                  <a:t>Achieved state-of-art in 9 out of 12 tasks</a:t>
                </a:r>
              </a:p>
            </p:txBody>
          </p:sp>
        </mc:Choice>
        <mc:Fallback xmlns="">
          <p:sp>
            <p:nvSpPr>
              <p:cNvPr id="3" name="Content Placeholder 2">
                <a:extLst>
                  <a:ext uri="{FF2B5EF4-FFF2-40B4-BE49-F238E27FC236}">
                    <a16:creationId xmlns:a16="http://schemas.microsoft.com/office/drawing/2014/main" id="{A5C0F209-E6E0-73C3-1460-D333A0E4A857}"/>
                  </a:ext>
                </a:extLst>
              </p:cNvPr>
              <p:cNvSpPr>
                <a:spLocks noGrp="1" noRot="1" noChangeAspect="1" noMove="1" noResize="1" noEditPoints="1" noAdjustHandles="1" noChangeArrowheads="1" noChangeShapeType="1" noTextEdit="1"/>
              </p:cNvSpPr>
              <p:nvPr>
                <p:ph idx="1"/>
              </p:nvPr>
            </p:nvSpPr>
            <p:spPr>
              <a:blipFill>
                <a:blip r:embed="rId2"/>
                <a:stretch>
                  <a:fillRect l="-262" t="-1127"/>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8695DB35-3F8A-0547-4D8F-5AAA4DC7D383}"/>
              </a:ext>
            </a:extLst>
          </p:cNvPr>
          <p:cNvSpPr>
            <a:spLocks noGrp="1"/>
          </p:cNvSpPr>
          <p:nvPr>
            <p:ph type="title"/>
          </p:nvPr>
        </p:nvSpPr>
        <p:spPr/>
        <p:txBody>
          <a:bodyPr>
            <a:normAutofit/>
          </a:bodyPr>
          <a:lstStyle/>
          <a:p>
            <a:r>
              <a:rPr lang="en-US" dirty="0"/>
              <a:t>OpenAI GPT-1</a:t>
            </a:r>
          </a:p>
        </p:txBody>
      </p:sp>
      <p:sp>
        <p:nvSpPr>
          <p:cNvPr id="4" name="Slide Number Placeholder 3">
            <a:extLst>
              <a:ext uri="{FF2B5EF4-FFF2-40B4-BE49-F238E27FC236}">
                <a16:creationId xmlns:a16="http://schemas.microsoft.com/office/drawing/2014/main" id="{AD0F13B0-889C-4260-BDE4-BBBB15F95A46}"/>
              </a:ext>
            </a:extLst>
          </p:cNvPr>
          <p:cNvSpPr>
            <a:spLocks noGrp="1"/>
          </p:cNvSpPr>
          <p:nvPr>
            <p:ph type="sldNum" sz="quarter" idx="12"/>
          </p:nvPr>
        </p:nvSpPr>
        <p:spPr/>
        <p:txBody>
          <a:bodyPr/>
          <a:lstStyle/>
          <a:p>
            <a:fld id="{89D00882-420D-446F-B065-6675A463A27F}" type="slidenum">
              <a:rPr lang="en-US" smtClean="0"/>
              <a:pPr/>
              <a:t>5</a:t>
            </a:fld>
            <a:endParaRPr lang="en-US"/>
          </a:p>
        </p:txBody>
      </p:sp>
    </p:spTree>
    <p:extLst>
      <p:ext uri="{BB962C8B-B14F-4D97-AF65-F5344CB8AC3E}">
        <p14:creationId xmlns:p14="http://schemas.microsoft.com/office/powerpoint/2010/main" val="335839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C792131-0147-E8F2-4013-7EF682F6BC26}"/>
              </a:ext>
            </a:extLst>
          </p:cNvPr>
          <p:cNvPicPr>
            <a:picLocks noGrp="1" noChangeAspect="1"/>
          </p:cNvPicPr>
          <p:nvPr>
            <p:ph idx="1"/>
          </p:nvPr>
        </p:nvPicPr>
        <p:blipFill>
          <a:blip r:embed="rId2"/>
          <a:stretch>
            <a:fillRect/>
          </a:stretch>
        </p:blipFill>
        <p:spPr>
          <a:xfrm>
            <a:off x="372438" y="1173480"/>
            <a:ext cx="10803386" cy="5410200"/>
          </a:xfrm>
        </p:spPr>
      </p:pic>
      <p:sp>
        <p:nvSpPr>
          <p:cNvPr id="3" name="Title 2">
            <a:extLst>
              <a:ext uri="{FF2B5EF4-FFF2-40B4-BE49-F238E27FC236}">
                <a16:creationId xmlns:a16="http://schemas.microsoft.com/office/drawing/2014/main" id="{6DA2C8F0-0C02-E49B-C284-FC1F30FEFB78}"/>
              </a:ext>
            </a:extLst>
          </p:cNvPr>
          <p:cNvSpPr>
            <a:spLocks noGrp="1"/>
          </p:cNvSpPr>
          <p:nvPr>
            <p:ph type="title"/>
          </p:nvPr>
        </p:nvSpPr>
        <p:spPr/>
        <p:txBody>
          <a:bodyPr/>
          <a:lstStyle/>
          <a:p>
            <a:r>
              <a:rPr lang="en-US" dirty="0"/>
              <a:t>GPT1 fine-tunes linear layers for each task</a:t>
            </a:r>
          </a:p>
        </p:txBody>
      </p:sp>
      <p:sp>
        <p:nvSpPr>
          <p:cNvPr id="4" name="Slide Number Placeholder 3">
            <a:extLst>
              <a:ext uri="{FF2B5EF4-FFF2-40B4-BE49-F238E27FC236}">
                <a16:creationId xmlns:a16="http://schemas.microsoft.com/office/drawing/2014/main" id="{BB06E5D0-A6F7-85FB-29D9-D137AB82B5AF}"/>
              </a:ext>
            </a:extLst>
          </p:cNvPr>
          <p:cNvSpPr>
            <a:spLocks noGrp="1"/>
          </p:cNvSpPr>
          <p:nvPr>
            <p:ph type="sldNum" sz="quarter" idx="12"/>
          </p:nvPr>
        </p:nvSpPr>
        <p:spPr/>
        <p:txBody>
          <a:bodyPr/>
          <a:lstStyle/>
          <a:p>
            <a:fld id="{89D00882-420D-446F-B065-6675A463A27F}" type="slidenum">
              <a:rPr lang="en-US" smtClean="0"/>
              <a:pPr/>
              <a:t>6</a:t>
            </a:fld>
            <a:endParaRPr lang="en-US"/>
          </a:p>
        </p:txBody>
      </p:sp>
    </p:spTree>
    <p:extLst>
      <p:ext uri="{BB962C8B-B14F-4D97-AF65-F5344CB8AC3E}">
        <p14:creationId xmlns:p14="http://schemas.microsoft.com/office/powerpoint/2010/main" val="3006947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 up of a sign&#10;&#10;Description automatically generated">
            <a:extLst>
              <a:ext uri="{FF2B5EF4-FFF2-40B4-BE49-F238E27FC236}">
                <a16:creationId xmlns:a16="http://schemas.microsoft.com/office/drawing/2014/main" id="{D50C690E-F769-DD87-46A3-B6E96017C230}"/>
              </a:ext>
            </a:extLst>
          </p:cNvPr>
          <p:cNvPicPr>
            <a:picLocks noChangeAspect="1"/>
          </p:cNvPicPr>
          <p:nvPr/>
        </p:nvPicPr>
        <p:blipFill>
          <a:blip r:embed="rId2"/>
          <a:stretch>
            <a:fillRect/>
          </a:stretch>
        </p:blipFill>
        <p:spPr>
          <a:xfrm>
            <a:off x="304800" y="2096809"/>
            <a:ext cx="11620501" cy="2295048"/>
          </a:xfrm>
          <a:prstGeom prst="rect">
            <a:avLst/>
          </a:prstGeom>
          <a:noFill/>
        </p:spPr>
      </p:pic>
      <p:sp>
        <p:nvSpPr>
          <p:cNvPr id="4" name="Slide Number Placeholder 3">
            <a:extLst>
              <a:ext uri="{FF2B5EF4-FFF2-40B4-BE49-F238E27FC236}">
                <a16:creationId xmlns:a16="http://schemas.microsoft.com/office/drawing/2014/main" id="{C31DE20B-EF78-4503-D745-D105BAE0CC13}"/>
              </a:ext>
            </a:extLst>
          </p:cNvPr>
          <p:cNvSpPr>
            <a:spLocks noGrp="1"/>
          </p:cNvSpPr>
          <p:nvPr>
            <p:ph type="sldNum" sz="quarter" idx="12"/>
          </p:nvPr>
        </p:nvSpPr>
        <p:spPr>
          <a:xfrm>
            <a:off x="11515410" y="6492876"/>
            <a:ext cx="676589" cy="365125"/>
          </a:xfrm>
        </p:spPr>
        <p:txBody>
          <a:bodyPr anchor="ctr">
            <a:normAutofit/>
          </a:bodyPr>
          <a:lstStyle/>
          <a:p>
            <a:pPr>
              <a:spcAft>
                <a:spcPts val="600"/>
              </a:spcAft>
            </a:pPr>
            <a:fld id="{89D00882-420D-446F-B065-6675A463A27F}" type="slidenum">
              <a:rPr lang="en-US" smtClean="0"/>
              <a:pPr>
                <a:spcAft>
                  <a:spcPts val="600"/>
                </a:spcAft>
              </a:pPr>
              <a:t>7</a:t>
            </a:fld>
            <a:endParaRPr lang="en-US"/>
          </a:p>
        </p:txBody>
      </p:sp>
      <p:sp>
        <p:nvSpPr>
          <p:cNvPr id="9" name="TextBox 8">
            <a:extLst>
              <a:ext uri="{FF2B5EF4-FFF2-40B4-BE49-F238E27FC236}">
                <a16:creationId xmlns:a16="http://schemas.microsoft.com/office/drawing/2014/main" id="{5E62625B-13E8-527D-9960-E2941416E5F3}"/>
              </a:ext>
            </a:extLst>
          </p:cNvPr>
          <p:cNvSpPr txBox="1"/>
          <p:nvPr/>
        </p:nvSpPr>
        <p:spPr>
          <a:xfrm>
            <a:off x="3706978" y="5828918"/>
            <a:ext cx="6097218" cy="261610"/>
          </a:xfrm>
          <a:prstGeom prst="rect">
            <a:avLst/>
          </a:prstGeom>
          <a:noFill/>
        </p:spPr>
        <p:txBody>
          <a:bodyPr wrap="square">
            <a:spAutoFit/>
          </a:bodyPr>
          <a:lstStyle/>
          <a:p>
            <a:r>
              <a:rPr lang="en-US" sz="1100" dirty="0"/>
              <a:t>https://d4mucfpksywv.cloudfront.net/better-language-models/language-models.pdf</a:t>
            </a:r>
          </a:p>
        </p:txBody>
      </p:sp>
    </p:spTree>
    <p:extLst>
      <p:ext uri="{BB962C8B-B14F-4D97-AF65-F5344CB8AC3E}">
        <p14:creationId xmlns:p14="http://schemas.microsoft.com/office/powerpoint/2010/main" val="40623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89D5BA-1C9D-66D9-5F07-0FA51AC54120}"/>
                  </a:ext>
                </a:extLst>
              </p:cNvPr>
              <p:cNvSpPr>
                <a:spLocks noGrp="1"/>
              </p:cNvSpPr>
              <p:nvPr>
                <p:ph idx="1"/>
              </p:nvPr>
            </p:nvSpPr>
            <p:spPr/>
            <p:txBody>
              <a:bodyPr>
                <a:normAutofit/>
              </a:bodyPr>
              <a:lstStyle/>
              <a:p>
                <a:r>
                  <a:rPr lang="en-US" dirty="0"/>
                  <a:t>Aims to create a general purpose language learner via modeling</a:t>
                </a:r>
              </a:p>
              <a:p>
                <a:pPr marL="0" indent="0" algn="ctr">
                  <a:buNone/>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𝑃</m:t>
                      </m:r>
                      <m:d>
                        <m:dPr>
                          <m:ctrlPr>
                            <a:rPr lang="en-US" b="0" i="1" smtClean="0">
                              <a:solidFill>
                                <a:srgbClr val="C00000"/>
                              </a:solidFill>
                              <a:latin typeface="Cambria Math" panose="02040503050406030204" pitchFamily="18" charset="0"/>
                            </a:rPr>
                          </m:ctrlPr>
                        </m:dPr>
                        <m:e>
                          <m:r>
                            <m:rPr>
                              <m:sty m:val="p"/>
                            </m:rPr>
                            <a:rPr lang="en-US" b="0" i="0" smtClean="0">
                              <a:solidFill>
                                <a:srgbClr val="C00000"/>
                              </a:solidFill>
                              <a:latin typeface="Cambria Math" panose="02040503050406030204" pitchFamily="18" charset="0"/>
                            </a:rPr>
                            <m:t>output</m:t>
                          </m:r>
                        </m:e>
                        <m:e>
                          <m:r>
                            <m:rPr>
                              <m:sty m:val="p"/>
                            </m:rPr>
                            <a:rPr lang="en-US" b="0" i="0" smtClean="0">
                              <a:solidFill>
                                <a:srgbClr val="C00000"/>
                              </a:solidFill>
                              <a:latin typeface="Cambria Math" panose="02040503050406030204" pitchFamily="18" charset="0"/>
                            </a:rPr>
                            <m:t>input</m:t>
                          </m:r>
                          <m:r>
                            <a:rPr lang="en-US" b="0" i="1" smtClean="0">
                              <a:solidFill>
                                <a:srgbClr val="C00000"/>
                              </a:solidFill>
                              <a:latin typeface="Cambria Math" panose="02040503050406030204" pitchFamily="18" charset="0"/>
                            </a:rPr>
                            <m:t>, </m:t>
                          </m:r>
                          <m:r>
                            <m:rPr>
                              <m:sty m:val="p"/>
                            </m:rPr>
                            <a:rPr lang="en-US" b="0" i="0" smtClean="0">
                              <a:solidFill>
                                <a:srgbClr val="C00000"/>
                              </a:solidFill>
                              <a:latin typeface="Cambria Math" panose="02040503050406030204" pitchFamily="18" charset="0"/>
                            </a:rPr>
                            <m:t>task</m:t>
                          </m:r>
                        </m:e>
                      </m:d>
                    </m:oMath>
                  </m:oMathPara>
                </a14:m>
                <a:endParaRPr lang="en-US" b="0" dirty="0">
                  <a:solidFill>
                    <a:srgbClr val="C00000"/>
                  </a:solidFill>
                </a:endParaRPr>
              </a:p>
              <a:p>
                <a:pPr marL="339725" indent="0" algn="l">
                  <a:buNone/>
                </a:pPr>
                <a:r>
                  <a:rPr lang="en-US" dirty="0"/>
                  <a:t>This predicts the output conditioned on the input and task information.</a:t>
                </a:r>
              </a:p>
              <a:p>
                <a:pPr algn="l"/>
                <a:r>
                  <a:rPr lang="en-US" dirty="0"/>
                  <a:t>“Since the (task-specific) supervised objective is the same as the unsupervised (language modeling) objective but only evaluated on a subset of the sequence, the global minimum of the unsupervised objective is also the global minimum of the supervised objective (for various tasks).”</a:t>
                </a:r>
              </a:p>
              <a:p>
                <a:pPr algn="l"/>
                <a:r>
                  <a:rPr lang="en-US" dirty="0"/>
                  <a:t>Each (NLP) task can be considered as the word prediction problem based on a subset of the world text.</a:t>
                </a:r>
              </a:p>
              <a:p>
                <a:r>
                  <a:rPr lang="en-US" dirty="0"/>
                  <a:t>The task can be specified in natural language, so language tasks can be framed as sequence-to-sequence text processing.</a:t>
                </a:r>
              </a:p>
            </p:txBody>
          </p:sp>
        </mc:Choice>
        <mc:Fallback xmlns="">
          <p:sp>
            <p:nvSpPr>
              <p:cNvPr id="3" name="Content Placeholder 2">
                <a:extLst>
                  <a:ext uri="{FF2B5EF4-FFF2-40B4-BE49-F238E27FC236}">
                    <a16:creationId xmlns:a16="http://schemas.microsoft.com/office/drawing/2014/main" id="{6289D5BA-1C9D-66D9-5F07-0FA51AC54120}"/>
                  </a:ext>
                </a:extLst>
              </p:cNvPr>
              <p:cNvSpPr>
                <a:spLocks noGrp="1" noRot="1" noChangeAspect="1" noMove="1" noResize="1" noEditPoints="1" noAdjustHandles="1" noChangeArrowheads="1" noChangeShapeType="1" noTextEdit="1"/>
              </p:cNvSpPr>
              <p:nvPr>
                <p:ph idx="1"/>
              </p:nvPr>
            </p:nvSpPr>
            <p:spPr>
              <a:blipFill>
                <a:blip r:embed="rId2"/>
                <a:stretch>
                  <a:fillRect l="-262" t="-1127" r="-105"/>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111E7A6A-4D32-95A7-6686-B7CCA4C4B400}"/>
              </a:ext>
            </a:extLst>
          </p:cNvPr>
          <p:cNvSpPr>
            <a:spLocks noGrp="1"/>
          </p:cNvSpPr>
          <p:nvPr>
            <p:ph type="title"/>
          </p:nvPr>
        </p:nvSpPr>
        <p:spPr/>
        <p:txBody>
          <a:bodyPr/>
          <a:lstStyle/>
          <a:p>
            <a:r>
              <a:rPr lang="en-US" dirty="0" err="1"/>
              <a:t>OpenAI</a:t>
            </a:r>
            <a:r>
              <a:rPr lang="en-US" dirty="0"/>
              <a:t> GPT-2</a:t>
            </a:r>
          </a:p>
        </p:txBody>
      </p:sp>
      <p:sp>
        <p:nvSpPr>
          <p:cNvPr id="5" name="TextBox 4">
            <a:extLst>
              <a:ext uri="{FF2B5EF4-FFF2-40B4-BE49-F238E27FC236}">
                <a16:creationId xmlns:a16="http://schemas.microsoft.com/office/drawing/2014/main" id="{4FD83198-0DDF-4C35-B519-4DE1316EE004}"/>
              </a:ext>
            </a:extLst>
          </p:cNvPr>
          <p:cNvSpPr txBox="1"/>
          <p:nvPr/>
        </p:nvSpPr>
        <p:spPr>
          <a:xfrm>
            <a:off x="2640571" y="6482539"/>
            <a:ext cx="6094378" cy="276999"/>
          </a:xfrm>
          <a:prstGeom prst="rect">
            <a:avLst/>
          </a:prstGeom>
          <a:noFill/>
        </p:spPr>
        <p:txBody>
          <a:bodyPr wrap="square">
            <a:spAutoFit/>
          </a:bodyPr>
          <a:lstStyle/>
          <a:p>
            <a:pPr marL="0" indent="0">
              <a:buNone/>
            </a:pPr>
            <a:r>
              <a:rPr lang="en-US" sz="1200" b="1" dirty="0"/>
              <a:t>Source:</a:t>
            </a:r>
            <a:r>
              <a:rPr lang="en-US" sz="1200" dirty="0"/>
              <a:t>  Radford et al. “Language Models are Unsupervised Multitask Learners,” 2019.</a:t>
            </a:r>
          </a:p>
        </p:txBody>
      </p:sp>
      <p:sp>
        <p:nvSpPr>
          <p:cNvPr id="6" name="Slide Number Placeholder 5">
            <a:extLst>
              <a:ext uri="{FF2B5EF4-FFF2-40B4-BE49-F238E27FC236}">
                <a16:creationId xmlns:a16="http://schemas.microsoft.com/office/drawing/2014/main" id="{DAAA5854-8313-49C1-9540-C36B3B61C863}"/>
              </a:ext>
            </a:extLst>
          </p:cNvPr>
          <p:cNvSpPr>
            <a:spLocks noGrp="1"/>
          </p:cNvSpPr>
          <p:nvPr>
            <p:ph type="sldNum" sz="quarter" idx="12"/>
          </p:nvPr>
        </p:nvSpPr>
        <p:spPr/>
        <p:txBody>
          <a:bodyPr/>
          <a:lstStyle/>
          <a:p>
            <a:fld id="{89D00882-420D-446F-B065-6675A463A27F}" type="slidenum">
              <a:rPr lang="en-US" smtClean="0"/>
              <a:pPr/>
              <a:t>8</a:t>
            </a:fld>
            <a:endParaRPr lang="en-US"/>
          </a:p>
        </p:txBody>
      </p:sp>
    </p:spTree>
    <p:extLst>
      <p:ext uri="{BB962C8B-B14F-4D97-AF65-F5344CB8AC3E}">
        <p14:creationId xmlns:p14="http://schemas.microsoft.com/office/powerpoint/2010/main" val="4158522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B8A097-5EF8-0D0E-4937-BB5A09DD4B63}"/>
              </a:ext>
            </a:extLst>
          </p:cNvPr>
          <p:cNvSpPr>
            <a:spLocks noGrp="1"/>
          </p:cNvSpPr>
          <p:nvPr>
            <p:ph idx="1"/>
          </p:nvPr>
        </p:nvSpPr>
        <p:spPr/>
        <p:txBody>
          <a:bodyPr>
            <a:normAutofit/>
          </a:bodyPr>
          <a:lstStyle/>
          <a:p>
            <a:r>
              <a:rPr lang="en-US" dirty="0" err="1"/>
              <a:t>WebText</a:t>
            </a:r>
            <a:r>
              <a:rPr lang="en-US" dirty="0"/>
              <a:t> Dataset: Created a new web scrape of pages linked from Reddit with at least 3 karma, as these should be of reasonable quality.</a:t>
            </a:r>
          </a:p>
          <a:p>
            <a:pPr lvl="1"/>
            <a:r>
              <a:rPr lang="en-US" dirty="0"/>
              <a:t>Does not require additional manual annotation.</a:t>
            </a:r>
          </a:p>
          <a:p>
            <a:pPr lvl="1"/>
            <a:r>
              <a:rPr lang="en-US" dirty="0"/>
              <a:t>Yields 8 million documents (40GB text) from before 2018 after de-duplication and cleaning.</a:t>
            </a:r>
          </a:p>
          <a:p>
            <a:pPr lvl="1"/>
            <a:r>
              <a:rPr lang="en-US" dirty="0"/>
              <a:t>Removed Wikipedia, since it is commonly used in test sets.</a:t>
            </a:r>
          </a:p>
          <a:p>
            <a:endParaRPr lang="en-US" dirty="0"/>
          </a:p>
          <a:p>
            <a:r>
              <a:rPr lang="en-US" dirty="0"/>
              <a:t>GPT-2 is generatively trained on </a:t>
            </a:r>
            <a:r>
              <a:rPr lang="en-US" dirty="0" err="1"/>
              <a:t>WebText</a:t>
            </a:r>
            <a:r>
              <a:rPr lang="en-US" dirty="0"/>
              <a:t> data and not fine-tuned on anything else .</a:t>
            </a:r>
          </a:p>
          <a:p>
            <a:endParaRPr lang="en-US" dirty="0"/>
          </a:p>
          <a:p>
            <a:endParaRPr lang="en-US" dirty="0"/>
          </a:p>
        </p:txBody>
      </p:sp>
      <p:sp>
        <p:nvSpPr>
          <p:cNvPr id="2" name="Title 1">
            <a:extLst>
              <a:ext uri="{FF2B5EF4-FFF2-40B4-BE49-F238E27FC236}">
                <a16:creationId xmlns:a16="http://schemas.microsoft.com/office/drawing/2014/main" id="{BED9053D-1FC8-DDA4-8F40-8E84B6E1BDFC}"/>
              </a:ext>
            </a:extLst>
          </p:cNvPr>
          <p:cNvSpPr>
            <a:spLocks noGrp="1"/>
          </p:cNvSpPr>
          <p:nvPr>
            <p:ph type="title"/>
          </p:nvPr>
        </p:nvSpPr>
        <p:spPr/>
        <p:txBody>
          <a:bodyPr/>
          <a:lstStyle/>
          <a:p>
            <a:r>
              <a:rPr lang="en-US" dirty="0" err="1"/>
              <a:t>OpenAI</a:t>
            </a:r>
            <a:r>
              <a:rPr lang="en-US" dirty="0"/>
              <a:t> GPT-2: Data and Training</a:t>
            </a:r>
          </a:p>
        </p:txBody>
      </p:sp>
      <p:sp>
        <p:nvSpPr>
          <p:cNvPr id="4" name="Slide Number Placeholder 3">
            <a:extLst>
              <a:ext uri="{FF2B5EF4-FFF2-40B4-BE49-F238E27FC236}">
                <a16:creationId xmlns:a16="http://schemas.microsoft.com/office/drawing/2014/main" id="{AA38C34A-5CAD-49F5-85C8-FAC86C4BE280}"/>
              </a:ext>
            </a:extLst>
          </p:cNvPr>
          <p:cNvSpPr>
            <a:spLocks noGrp="1"/>
          </p:cNvSpPr>
          <p:nvPr>
            <p:ph type="sldNum" sz="quarter" idx="12"/>
          </p:nvPr>
        </p:nvSpPr>
        <p:spPr/>
        <p:txBody>
          <a:bodyPr/>
          <a:lstStyle/>
          <a:p>
            <a:fld id="{89D00882-420D-446F-B065-6675A463A27F}" type="slidenum">
              <a:rPr lang="en-US" smtClean="0"/>
              <a:pPr/>
              <a:t>9</a:t>
            </a:fld>
            <a:endParaRPr lang="en-US"/>
          </a:p>
        </p:txBody>
      </p:sp>
    </p:spTree>
    <p:extLst>
      <p:ext uri="{BB962C8B-B14F-4D97-AF65-F5344CB8AC3E}">
        <p14:creationId xmlns:p14="http://schemas.microsoft.com/office/powerpoint/2010/main" val="29688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BAEA26DD-3806-35FA-251C-5E9CFDC80CFE}"/>
              </a:ext>
            </a:extLst>
          </p:cNvPr>
          <p:cNvSpPr>
            <a:spLocks noGrp="1"/>
          </p:cNvSpPr>
          <p:nvPr>
            <p:ph idx="1"/>
          </p:nvPr>
        </p:nvSpPr>
        <p:spPr/>
        <p:txBody>
          <a:bodyPr/>
          <a:lstStyle/>
          <a:p>
            <a:r>
              <a:rPr lang="en-US" dirty="0"/>
              <a:t>Architecture is basically the same as GPT-1 and BERT</a:t>
            </a:r>
          </a:p>
        </p:txBody>
      </p:sp>
      <p:sp>
        <p:nvSpPr>
          <p:cNvPr id="2" name="Title 1">
            <a:extLst>
              <a:ext uri="{FF2B5EF4-FFF2-40B4-BE49-F238E27FC236}">
                <a16:creationId xmlns:a16="http://schemas.microsoft.com/office/drawing/2014/main" id="{D0EFC974-B9D2-4DA9-2997-2AFD96E2934B}"/>
              </a:ext>
            </a:extLst>
          </p:cNvPr>
          <p:cNvSpPr>
            <a:spLocks noGrp="1"/>
          </p:cNvSpPr>
          <p:nvPr>
            <p:ph type="title"/>
          </p:nvPr>
        </p:nvSpPr>
        <p:spPr/>
        <p:txBody>
          <a:bodyPr/>
          <a:lstStyle/>
          <a:p>
            <a:r>
              <a:rPr lang="en-US" dirty="0" err="1"/>
              <a:t>OpenAI</a:t>
            </a:r>
            <a:r>
              <a:rPr lang="en-US" dirty="0"/>
              <a:t> GPT-2 Architecture and Model Sizes</a:t>
            </a:r>
          </a:p>
        </p:txBody>
      </p:sp>
      <p:pic>
        <p:nvPicPr>
          <p:cNvPr id="5" name="Picture 4">
            <a:extLst>
              <a:ext uri="{FF2B5EF4-FFF2-40B4-BE49-F238E27FC236}">
                <a16:creationId xmlns:a16="http://schemas.microsoft.com/office/drawing/2014/main" id="{A3AD81B5-D6B9-9FEC-2A9E-BB91A81C6601}"/>
              </a:ext>
            </a:extLst>
          </p:cNvPr>
          <p:cNvPicPr>
            <a:picLocks noChangeAspect="1"/>
          </p:cNvPicPr>
          <p:nvPr/>
        </p:nvPicPr>
        <p:blipFill>
          <a:blip r:embed="rId2"/>
          <a:stretch>
            <a:fillRect/>
          </a:stretch>
        </p:blipFill>
        <p:spPr>
          <a:xfrm>
            <a:off x="2900819" y="2644302"/>
            <a:ext cx="5738070" cy="2818701"/>
          </a:xfrm>
          <a:prstGeom prst="rect">
            <a:avLst/>
          </a:prstGeom>
        </p:spPr>
      </p:pic>
      <p:sp>
        <p:nvSpPr>
          <p:cNvPr id="6" name="TextBox 5">
            <a:extLst>
              <a:ext uri="{FF2B5EF4-FFF2-40B4-BE49-F238E27FC236}">
                <a16:creationId xmlns:a16="http://schemas.microsoft.com/office/drawing/2014/main" id="{4FF0F98C-4D2A-0A8C-1465-E093C0E90AE2}"/>
              </a:ext>
            </a:extLst>
          </p:cNvPr>
          <p:cNvSpPr txBox="1"/>
          <p:nvPr/>
        </p:nvSpPr>
        <p:spPr>
          <a:xfrm flipH="1">
            <a:off x="8303609" y="3406302"/>
            <a:ext cx="2743200" cy="461665"/>
          </a:xfrm>
          <a:prstGeom prst="rect">
            <a:avLst/>
          </a:prstGeom>
          <a:noFill/>
        </p:spPr>
        <p:txBody>
          <a:bodyPr wrap="square" rtlCol="0">
            <a:spAutoFit/>
          </a:bodyPr>
          <a:lstStyle/>
          <a:p>
            <a:r>
              <a:rPr lang="en-US" sz="2400" dirty="0"/>
              <a:t>GPT-1 Size</a:t>
            </a:r>
          </a:p>
        </p:txBody>
      </p:sp>
      <p:sp>
        <p:nvSpPr>
          <p:cNvPr id="7" name="TextBox 6">
            <a:extLst>
              <a:ext uri="{FF2B5EF4-FFF2-40B4-BE49-F238E27FC236}">
                <a16:creationId xmlns:a16="http://schemas.microsoft.com/office/drawing/2014/main" id="{1272D3D2-106A-16D6-20CD-797705F67C34}"/>
              </a:ext>
            </a:extLst>
          </p:cNvPr>
          <p:cNvSpPr txBox="1"/>
          <p:nvPr/>
        </p:nvSpPr>
        <p:spPr>
          <a:xfrm flipH="1">
            <a:off x="8303609" y="3822819"/>
            <a:ext cx="2743200" cy="461665"/>
          </a:xfrm>
          <a:prstGeom prst="rect">
            <a:avLst/>
          </a:prstGeom>
          <a:noFill/>
        </p:spPr>
        <p:txBody>
          <a:bodyPr wrap="square" rtlCol="0">
            <a:spAutoFit/>
          </a:bodyPr>
          <a:lstStyle/>
          <a:p>
            <a:r>
              <a:rPr lang="en-US" sz="2400" dirty="0"/>
              <a:t>BERT Size</a:t>
            </a:r>
          </a:p>
        </p:txBody>
      </p:sp>
      <p:sp>
        <p:nvSpPr>
          <p:cNvPr id="3" name="Slide Number Placeholder 2">
            <a:extLst>
              <a:ext uri="{FF2B5EF4-FFF2-40B4-BE49-F238E27FC236}">
                <a16:creationId xmlns:a16="http://schemas.microsoft.com/office/drawing/2014/main" id="{45D030DE-1A9D-4C18-AF71-F18926FB56CB}"/>
              </a:ext>
            </a:extLst>
          </p:cNvPr>
          <p:cNvSpPr>
            <a:spLocks noGrp="1"/>
          </p:cNvSpPr>
          <p:nvPr>
            <p:ph type="sldNum" sz="quarter" idx="12"/>
          </p:nvPr>
        </p:nvSpPr>
        <p:spPr/>
        <p:txBody>
          <a:bodyPr/>
          <a:lstStyle/>
          <a:p>
            <a:fld id="{89D00882-420D-446F-B065-6675A463A27F}" type="slidenum">
              <a:rPr lang="en-US" smtClean="0"/>
              <a:pPr/>
              <a:t>10</a:t>
            </a:fld>
            <a:endParaRPr lang="en-US"/>
          </a:p>
        </p:txBody>
      </p:sp>
    </p:spTree>
    <p:extLst>
      <p:ext uri="{BB962C8B-B14F-4D97-AF65-F5344CB8AC3E}">
        <p14:creationId xmlns:p14="http://schemas.microsoft.com/office/powerpoint/2010/main" val="1372055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BCE4EF-248D-9E3D-10B5-FD49348F5AE6}"/>
              </a:ext>
            </a:extLst>
          </p:cNvPr>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endParaRPr lang="en-US" dirty="0"/>
          </a:p>
          <a:p>
            <a:r>
              <a:rPr lang="en-US" dirty="0"/>
              <a:t>Achieves state-of-art in many tasks without tuning for them</a:t>
            </a:r>
          </a:p>
          <a:p>
            <a:r>
              <a:rPr lang="en-US" dirty="0"/>
              <a:t>Performs much worse than state-of-art in summarization and translation (though can effectively translate word for word)</a:t>
            </a:r>
          </a:p>
        </p:txBody>
      </p:sp>
      <p:sp>
        <p:nvSpPr>
          <p:cNvPr id="2" name="Title 1">
            <a:extLst>
              <a:ext uri="{FF2B5EF4-FFF2-40B4-BE49-F238E27FC236}">
                <a16:creationId xmlns:a16="http://schemas.microsoft.com/office/drawing/2014/main" id="{5DC5876A-C610-6282-4BF7-3104FDEC75FF}"/>
              </a:ext>
            </a:extLst>
          </p:cNvPr>
          <p:cNvSpPr>
            <a:spLocks noGrp="1"/>
          </p:cNvSpPr>
          <p:nvPr>
            <p:ph type="title"/>
          </p:nvPr>
        </p:nvSpPr>
        <p:spPr/>
        <p:txBody>
          <a:bodyPr/>
          <a:lstStyle/>
          <a:p>
            <a:r>
              <a:rPr lang="en-US" dirty="0" err="1"/>
              <a:t>OpenAI</a:t>
            </a:r>
            <a:r>
              <a:rPr lang="en-US" dirty="0"/>
              <a:t> GPT-2: Zero shot results</a:t>
            </a:r>
          </a:p>
        </p:txBody>
      </p:sp>
      <p:pic>
        <p:nvPicPr>
          <p:cNvPr id="5" name="Picture 4">
            <a:extLst>
              <a:ext uri="{FF2B5EF4-FFF2-40B4-BE49-F238E27FC236}">
                <a16:creationId xmlns:a16="http://schemas.microsoft.com/office/drawing/2014/main" id="{F4A948BF-644F-3D7E-C218-811C4D88D8BF}"/>
              </a:ext>
            </a:extLst>
          </p:cNvPr>
          <p:cNvPicPr>
            <a:picLocks noChangeAspect="1"/>
          </p:cNvPicPr>
          <p:nvPr/>
        </p:nvPicPr>
        <p:blipFill>
          <a:blip r:embed="rId3"/>
          <a:stretch>
            <a:fillRect/>
          </a:stretch>
        </p:blipFill>
        <p:spPr>
          <a:xfrm>
            <a:off x="727061" y="1058696"/>
            <a:ext cx="10737876" cy="2988013"/>
          </a:xfrm>
          <a:prstGeom prst="rect">
            <a:avLst/>
          </a:prstGeom>
        </p:spPr>
      </p:pic>
      <p:sp>
        <p:nvSpPr>
          <p:cNvPr id="4" name="Slide Number Placeholder 3">
            <a:extLst>
              <a:ext uri="{FF2B5EF4-FFF2-40B4-BE49-F238E27FC236}">
                <a16:creationId xmlns:a16="http://schemas.microsoft.com/office/drawing/2014/main" id="{3F768A89-497E-46C7-8B45-49487D14F838}"/>
              </a:ext>
            </a:extLst>
          </p:cNvPr>
          <p:cNvSpPr>
            <a:spLocks noGrp="1"/>
          </p:cNvSpPr>
          <p:nvPr>
            <p:ph type="sldNum" sz="quarter" idx="12"/>
          </p:nvPr>
        </p:nvSpPr>
        <p:spPr/>
        <p:txBody>
          <a:bodyPr/>
          <a:lstStyle/>
          <a:p>
            <a:fld id="{89D00882-420D-446F-B065-6675A463A27F}" type="slidenum">
              <a:rPr lang="en-US" smtClean="0"/>
              <a:pPr/>
              <a:t>11</a:t>
            </a:fld>
            <a:endParaRPr lang="en-US"/>
          </a:p>
        </p:txBody>
      </p:sp>
    </p:spTree>
    <p:extLst>
      <p:ext uri="{BB962C8B-B14F-4D97-AF65-F5344CB8AC3E}">
        <p14:creationId xmlns:p14="http://schemas.microsoft.com/office/powerpoint/2010/main" val="363131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E154A0F-26E4-4924-9747-99012259504B}"/>
              </a:ext>
            </a:extLst>
          </p:cNvPr>
          <p:cNvSpPr>
            <a:spLocks noGrp="1"/>
          </p:cNvSpPr>
          <p:nvPr>
            <p:ph idx="1"/>
          </p:nvPr>
        </p:nvSpPr>
        <p:spPr/>
        <p:txBody>
          <a:bodyPr/>
          <a:lstStyle/>
          <a:p>
            <a:endParaRPr lang="en-US"/>
          </a:p>
        </p:txBody>
      </p:sp>
      <p:sp>
        <p:nvSpPr>
          <p:cNvPr id="4" name="Title 3">
            <a:extLst>
              <a:ext uri="{FF2B5EF4-FFF2-40B4-BE49-F238E27FC236}">
                <a16:creationId xmlns:a16="http://schemas.microsoft.com/office/drawing/2014/main" id="{21B9D568-B752-4D2B-A723-0E185BC7EFE3}"/>
              </a:ext>
            </a:extLst>
          </p:cNvPr>
          <p:cNvSpPr>
            <a:spLocks noGrp="1"/>
          </p:cNvSpPr>
          <p:nvPr>
            <p:ph type="title"/>
          </p:nvPr>
        </p:nvSpPr>
        <p:spPr/>
        <p:txBody>
          <a:bodyPr/>
          <a:lstStyle/>
          <a:p>
            <a:endParaRPr lang="en-US"/>
          </a:p>
        </p:txBody>
      </p:sp>
      <p:pic>
        <p:nvPicPr>
          <p:cNvPr id="7" name="Picture 6">
            <a:extLst>
              <a:ext uri="{FF2B5EF4-FFF2-40B4-BE49-F238E27FC236}">
                <a16:creationId xmlns:a16="http://schemas.microsoft.com/office/drawing/2014/main" id="{62645AE4-D8E4-A322-9463-A60AF0FFB927}"/>
              </a:ext>
            </a:extLst>
          </p:cNvPr>
          <p:cNvPicPr>
            <a:picLocks noChangeAspect="1"/>
          </p:cNvPicPr>
          <p:nvPr/>
        </p:nvPicPr>
        <p:blipFill>
          <a:blip r:embed="rId2"/>
          <a:stretch>
            <a:fillRect/>
          </a:stretch>
        </p:blipFill>
        <p:spPr>
          <a:xfrm>
            <a:off x="408264" y="15240"/>
            <a:ext cx="11375472" cy="6828639"/>
          </a:xfrm>
          <a:prstGeom prst="rect">
            <a:avLst/>
          </a:prstGeom>
        </p:spPr>
      </p:pic>
      <p:sp>
        <p:nvSpPr>
          <p:cNvPr id="6" name="Slide Number Placeholder 5">
            <a:extLst>
              <a:ext uri="{FF2B5EF4-FFF2-40B4-BE49-F238E27FC236}">
                <a16:creationId xmlns:a16="http://schemas.microsoft.com/office/drawing/2014/main" id="{05089671-8FD2-4591-9B3D-FCE486FB7C68}"/>
              </a:ext>
            </a:extLst>
          </p:cNvPr>
          <p:cNvSpPr>
            <a:spLocks noGrp="1"/>
          </p:cNvSpPr>
          <p:nvPr>
            <p:ph type="sldNum" sz="quarter" idx="12"/>
          </p:nvPr>
        </p:nvSpPr>
        <p:spPr/>
        <p:txBody>
          <a:bodyPr/>
          <a:lstStyle/>
          <a:p>
            <a:fld id="{89D00882-420D-446F-B065-6675A463A27F}" type="slidenum">
              <a:rPr lang="en-US" smtClean="0"/>
              <a:pPr/>
              <a:t>12</a:t>
            </a:fld>
            <a:endParaRPr lang="en-US"/>
          </a:p>
        </p:txBody>
      </p:sp>
    </p:spTree>
    <p:extLst>
      <p:ext uri="{BB962C8B-B14F-4D97-AF65-F5344CB8AC3E}">
        <p14:creationId xmlns:p14="http://schemas.microsoft.com/office/powerpoint/2010/main" val="1737219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CF482D-0D63-37F9-397F-029FA9C4C60F}"/>
              </a:ext>
            </a:extLst>
          </p:cNvPr>
          <p:cNvSpPr>
            <a:spLocks noGrp="1"/>
          </p:cNvSpPr>
          <p:nvPr>
            <p:ph idx="1"/>
          </p:nvPr>
        </p:nvSpPr>
        <p:spPr>
          <a:xfrm>
            <a:off x="266700" y="990600"/>
            <a:ext cx="5595481" cy="5410200"/>
          </a:xfrm>
        </p:spPr>
        <p:txBody>
          <a:bodyPr>
            <a:normAutofit/>
          </a:bodyPr>
          <a:lstStyle/>
          <a:p>
            <a:r>
              <a:rPr lang="en-US" dirty="0"/>
              <a:t>“The diversity of tasks the model is able to perform in a zero-shot setting suggests that high-capacity models trained to maximize the likelihood of a sufficiently varied text corpus begin to learn how to perform a surprising amount of tasks without the need for explicit supervision.”</a:t>
            </a:r>
          </a:p>
        </p:txBody>
      </p:sp>
      <p:sp>
        <p:nvSpPr>
          <p:cNvPr id="2" name="Title 1">
            <a:extLst>
              <a:ext uri="{FF2B5EF4-FFF2-40B4-BE49-F238E27FC236}">
                <a16:creationId xmlns:a16="http://schemas.microsoft.com/office/drawing/2014/main" id="{9D5B7BCD-9CCD-E573-3691-A8FF4D2FE534}"/>
              </a:ext>
            </a:extLst>
          </p:cNvPr>
          <p:cNvSpPr>
            <a:spLocks noGrp="1"/>
          </p:cNvSpPr>
          <p:nvPr>
            <p:ph type="title"/>
          </p:nvPr>
        </p:nvSpPr>
        <p:spPr>
          <a:xfrm>
            <a:off x="266699" y="20819"/>
            <a:ext cx="11658601" cy="969781"/>
          </a:xfrm>
        </p:spPr>
        <p:txBody>
          <a:bodyPr/>
          <a:lstStyle/>
          <a:p>
            <a:r>
              <a:rPr lang="en-US" dirty="0"/>
              <a:t>Continued log-linear improvement with model size</a:t>
            </a:r>
          </a:p>
        </p:txBody>
      </p:sp>
      <p:pic>
        <p:nvPicPr>
          <p:cNvPr id="5" name="Picture 4">
            <a:extLst>
              <a:ext uri="{FF2B5EF4-FFF2-40B4-BE49-F238E27FC236}">
                <a16:creationId xmlns:a16="http://schemas.microsoft.com/office/drawing/2014/main" id="{12CBFED2-DD5C-500F-056C-46BE27979473}"/>
              </a:ext>
            </a:extLst>
          </p:cNvPr>
          <p:cNvPicPr>
            <a:picLocks noChangeAspect="1"/>
          </p:cNvPicPr>
          <p:nvPr/>
        </p:nvPicPr>
        <p:blipFill>
          <a:blip r:embed="rId2"/>
          <a:stretch>
            <a:fillRect/>
          </a:stretch>
        </p:blipFill>
        <p:spPr>
          <a:xfrm>
            <a:off x="6810693" y="1139510"/>
            <a:ext cx="5381306" cy="5697852"/>
          </a:xfrm>
          <a:prstGeom prst="rect">
            <a:avLst/>
          </a:prstGeom>
        </p:spPr>
      </p:pic>
      <p:sp>
        <p:nvSpPr>
          <p:cNvPr id="7" name="Slide Number Placeholder 6">
            <a:extLst>
              <a:ext uri="{FF2B5EF4-FFF2-40B4-BE49-F238E27FC236}">
                <a16:creationId xmlns:a16="http://schemas.microsoft.com/office/drawing/2014/main" id="{21677D68-5B97-48A4-9319-2EAA774B91FA}"/>
              </a:ext>
            </a:extLst>
          </p:cNvPr>
          <p:cNvSpPr>
            <a:spLocks noGrp="1"/>
          </p:cNvSpPr>
          <p:nvPr>
            <p:ph type="sldNum" sz="quarter" idx="12"/>
          </p:nvPr>
        </p:nvSpPr>
        <p:spPr/>
        <p:txBody>
          <a:bodyPr/>
          <a:lstStyle/>
          <a:p>
            <a:fld id="{89D00882-420D-446F-B065-6675A463A27F}" type="slidenum">
              <a:rPr lang="en-US" smtClean="0"/>
              <a:pPr/>
              <a:t>13</a:t>
            </a:fld>
            <a:endParaRPr lang="en-US"/>
          </a:p>
        </p:txBody>
      </p:sp>
    </p:spTree>
    <p:extLst>
      <p:ext uri="{BB962C8B-B14F-4D97-AF65-F5344CB8AC3E}">
        <p14:creationId xmlns:p14="http://schemas.microsoft.com/office/powerpoint/2010/main" val="4195951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521F0-C939-F42C-C447-7DCC9BCEC3C2}"/>
              </a:ext>
            </a:extLst>
          </p:cNvPr>
          <p:cNvSpPr>
            <a:spLocks noGrp="1"/>
          </p:cNvSpPr>
          <p:nvPr>
            <p:ph type="title"/>
          </p:nvPr>
        </p:nvSpPr>
        <p:spPr/>
        <p:txBody>
          <a:bodyPr/>
          <a:lstStyle/>
          <a:p>
            <a:r>
              <a:rPr lang="en-US" dirty="0"/>
              <a:t>GPT-3 (Brown et al. 2020)</a:t>
            </a:r>
          </a:p>
        </p:txBody>
      </p:sp>
      <p:pic>
        <p:nvPicPr>
          <p:cNvPr id="7" name="Picture 6">
            <a:extLst>
              <a:ext uri="{FF2B5EF4-FFF2-40B4-BE49-F238E27FC236}">
                <a16:creationId xmlns:a16="http://schemas.microsoft.com/office/drawing/2014/main" id="{E442A2EF-E823-1F5A-2769-2B3257B316BC}"/>
              </a:ext>
            </a:extLst>
          </p:cNvPr>
          <p:cNvPicPr>
            <a:picLocks noChangeAspect="1"/>
          </p:cNvPicPr>
          <p:nvPr/>
        </p:nvPicPr>
        <p:blipFill rotWithShape="1">
          <a:blip r:embed="rId2"/>
          <a:srcRect t="3251"/>
          <a:stretch/>
        </p:blipFill>
        <p:spPr>
          <a:xfrm>
            <a:off x="2364738" y="1465465"/>
            <a:ext cx="7598564" cy="4747223"/>
          </a:xfrm>
          <a:prstGeom prst="rect">
            <a:avLst/>
          </a:prstGeom>
        </p:spPr>
      </p:pic>
      <p:sp>
        <p:nvSpPr>
          <p:cNvPr id="5" name="Slide Number Placeholder 4">
            <a:extLst>
              <a:ext uri="{FF2B5EF4-FFF2-40B4-BE49-F238E27FC236}">
                <a16:creationId xmlns:a16="http://schemas.microsoft.com/office/drawing/2014/main" id="{5FD0F685-3043-43EE-B6EA-A06E58CACEA0}"/>
              </a:ext>
            </a:extLst>
          </p:cNvPr>
          <p:cNvSpPr>
            <a:spLocks noGrp="1"/>
          </p:cNvSpPr>
          <p:nvPr>
            <p:ph type="sldNum" sz="quarter" idx="12"/>
          </p:nvPr>
        </p:nvSpPr>
        <p:spPr/>
        <p:txBody>
          <a:bodyPr/>
          <a:lstStyle/>
          <a:p>
            <a:fld id="{89D00882-420D-446F-B065-6675A463A27F}" type="slidenum">
              <a:rPr lang="en-US" smtClean="0"/>
              <a:pPr/>
              <a:t>14</a:t>
            </a:fld>
            <a:endParaRPr lang="en-US"/>
          </a:p>
        </p:txBody>
      </p:sp>
      <p:sp>
        <p:nvSpPr>
          <p:cNvPr id="6" name="TextBox 5">
            <a:extLst>
              <a:ext uri="{FF2B5EF4-FFF2-40B4-BE49-F238E27FC236}">
                <a16:creationId xmlns:a16="http://schemas.microsoft.com/office/drawing/2014/main" id="{E6498EBD-BCD5-6588-7ED1-FCFA3A8629A7}"/>
              </a:ext>
            </a:extLst>
          </p:cNvPr>
          <p:cNvSpPr txBox="1"/>
          <p:nvPr/>
        </p:nvSpPr>
        <p:spPr>
          <a:xfrm>
            <a:off x="5199280" y="6369386"/>
            <a:ext cx="2181757" cy="261610"/>
          </a:xfrm>
          <a:prstGeom prst="rect">
            <a:avLst/>
          </a:prstGeom>
          <a:noFill/>
        </p:spPr>
        <p:txBody>
          <a:bodyPr wrap="square">
            <a:spAutoFit/>
          </a:bodyPr>
          <a:lstStyle/>
          <a:p>
            <a:r>
              <a:rPr lang="en-US" sz="1100" dirty="0"/>
              <a:t>https://arxiv.org/abs/2005.14165</a:t>
            </a:r>
          </a:p>
        </p:txBody>
      </p:sp>
    </p:spTree>
    <p:extLst>
      <p:ext uri="{BB962C8B-B14F-4D97-AF65-F5344CB8AC3E}">
        <p14:creationId xmlns:p14="http://schemas.microsoft.com/office/powerpoint/2010/main" val="1091140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A96770-EE4C-DB2C-17AA-1B140BB87CFE}"/>
              </a:ext>
            </a:extLst>
          </p:cNvPr>
          <p:cNvSpPr>
            <a:spLocks noGrp="1"/>
          </p:cNvSpPr>
          <p:nvPr>
            <p:ph idx="1"/>
          </p:nvPr>
        </p:nvSpPr>
        <p:spPr/>
        <p:txBody>
          <a:bodyPr/>
          <a:lstStyle/>
          <a:p>
            <a:r>
              <a:rPr lang="en-US" dirty="0"/>
              <a:t>Although GPT-2 is intended to be an “unsupervised multitask learner”, it overall has an inferior performance compared with supervised fine-tuning state-of-the-art methods.</a:t>
            </a:r>
          </a:p>
          <a:p>
            <a:endParaRPr lang="en-US" dirty="0"/>
          </a:p>
        </p:txBody>
      </p:sp>
      <p:sp>
        <p:nvSpPr>
          <p:cNvPr id="3" name="Title 2">
            <a:extLst>
              <a:ext uri="{FF2B5EF4-FFF2-40B4-BE49-F238E27FC236}">
                <a16:creationId xmlns:a16="http://schemas.microsoft.com/office/drawing/2014/main" id="{598D1F5B-4330-2E0D-0556-58281489427B}"/>
              </a:ext>
            </a:extLst>
          </p:cNvPr>
          <p:cNvSpPr>
            <a:spLocks noGrp="1"/>
          </p:cNvSpPr>
          <p:nvPr>
            <p:ph type="title"/>
          </p:nvPr>
        </p:nvSpPr>
        <p:spPr/>
        <p:txBody>
          <a:bodyPr/>
          <a:lstStyle/>
          <a:p>
            <a:r>
              <a:rPr lang="en-US" dirty="0"/>
              <a:t>GPT-3</a:t>
            </a:r>
          </a:p>
        </p:txBody>
      </p:sp>
      <p:sp>
        <p:nvSpPr>
          <p:cNvPr id="4" name="Slide Number Placeholder 3">
            <a:extLst>
              <a:ext uri="{FF2B5EF4-FFF2-40B4-BE49-F238E27FC236}">
                <a16:creationId xmlns:a16="http://schemas.microsoft.com/office/drawing/2014/main" id="{2B49A64A-BBC1-1A76-7F7E-FB0DC5556A28}"/>
              </a:ext>
            </a:extLst>
          </p:cNvPr>
          <p:cNvSpPr>
            <a:spLocks noGrp="1"/>
          </p:cNvSpPr>
          <p:nvPr>
            <p:ph type="sldNum" sz="quarter" idx="12"/>
          </p:nvPr>
        </p:nvSpPr>
        <p:spPr/>
        <p:txBody>
          <a:bodyPr/>
          <a:lstStyle/>
          <a:p>
            <a:fld id="{89D00882-420D-446F-B065-6675A463A27F}" type="slidenum">
              <a:rPr lang="en-US" smtClean="0"/>
              <a:pPr/>
              <a:t>15</a:t>
            </a:fld>
            <a:endParaRPr lang="en-US"/>
          </a:p>
        </p:txBody>
      </p:sp>
    </p:spTree>
    <p:extLst>
      <p:ext uri="{BB962C8B-B14F-4D97-AF65-F5344CB8AC3E}">
        <p14:creationId xmlns:p14="http://schemas.microsoft.com/office/powerpoint/2010/main" val="509689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2CB7D5-BFDA-5D8B-DCFA-3FFA23E4C23F}"/>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1756D8D-CAB1-4FB2-F489-C36DB227CCD5}"/>
              </a:ext>
            </a:extLst>
          </p:cNvPr>
          <p:cNvSpPr>
            <a:spLocks noGrp="1"/>
          </p:cNvSpPr>
          <p:nvPr>
            <p:ph type="title"/>
          </p:nvPr>
        </p:nvSpPr>
        <p:spPr/>
        <p:txBody>
          <a:bodyPr/>
          <a:lstStyle/>
          <a:p>
            <a:r>
              <a:rPr lang="en-US" dirty="0"/>
              <a:t>Models and Architectures</a:t>
            </a:r>
          </a:p>
        </p:txBody>
      </p:sp>
      <p:pic>
        <p:nvPicPr>
          <p:cNvPr id="5" name="Picture 4">
            <a:extLst>
              <a:ext uri="{FF2B5EF4-FFF2-40B4-BE49-F238E27FC236}">
                <a16:creationId xmlns:a16="http://schemas.microsoft.com/office/drawing/2014/main" id="{4B8B6F67-857E-26F6-AA34-3C7EB69CDB59}"/>
              </a:ext>
            </a:extLst>
          </p:cNvPr>
          <p:cNvPicPr>
            <a:picLocks noChangeAspect="1"/>
          </p:cNvPicPr>
          <p:nvPr/>
        </p:nvPicPr>
        <p:blipFill>
          <a:blip r:embed="rId2"/>
          <a:stretch>
            <a:fillRect/>
          </a:stretch>
        </p:blipFill>
        <p:spPr>
          <a:xfrm>
            <a:off x="533400" y="1447800"/>
            <a:ext cx="11419617" cy="3810000"/>
          </a:xfrm>
          <a:prstGeom prst="rect">
            <a:avLst/>
          </a:prstGeom>
        </p:spPr>
      </p:pic>
      <p:sp>
        <p:nvSpPr>
          <p:cNvPr id="4" name="Slide Number Placeholder 3">
            <a:extLst>
              <a:ext uri="{FF2B5EF4-FFF2-40B4-BE49-F238E27FC236}">
                <a16:creationId xmlns:a16="http://schemas.microsoft.com/office/drawing/2014/main" id="{D040B356-307F-4C3E-B44A-A0FA69C7FE29}"/>
              </a:ext>
            </a:extLst>
          </p:cNvPr>
          <p:cNvSpPr>
            <a:spLocks noGrp="1"/>
          </p:cNvSpPr>
          <p:nvPr>
            <p:ph type="sldNum" sz="quarter" idx="12"/>
          </p:nvPr>
        </p:nvSpPr>
        <p:spPr/>
        <p:txBody>
          <a:bodyPr/>
          <a:lstStyle/>
          <a:p>
            <a:fld id="{89D00882-420D-446F-B065-6675A463A27F}" type="slidenum">
              <a:rPr lang="en-US" smtClean="0"/>
              <a:pPr/>
              <a:t>16</a:t>
            </a:fld>
            <a:endParaRPr lang="en-US"/>
          </a:p>
        </p:txBody>
      </p:sp>
    </p:spTree>
    <p:extLst>
      <p:ext uri="{BB962C8B-B14F-4D97-AF65-F5344CB8AC3E}">
        <p14:creationId xmlns:p14="http://schemas.microsoft.com/office/powerpoint/2010/main" val="376780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9F398-6C74-8186-8622-C6AAC737D7D1}"/>
              </a:ext>
            </a:extLst>
          </p:cNvPr>
          <p:cNvSpPr>
            <a:spLocks noGrp="1"/>
          </p:cNvSpPr>
          <p:nvPr>
            <p:ph type="title"/>
          </p:nvPr>
        </p:nvSpPr>
        <p:spPr/>
        <p:txBody>
          <a:bodyPr/>
          <a:lstStyle/>
          <a:p>
            <a:r>
              <a:rPr lang="en-US" dirty="0"/>
              <a:t>Training data</a:t>
            </a:r>
          </a:p>
        </p:txBody>
      </p:sp>
      <p:pic>
        <p:nvPicPr>
          <p:cNvPr id="5" name="Picture 4">
            <a:extLst>
              <a:ext uri="{FF2B5EF4-FFF2-40B4-BE49-F238E27FC236}">
                <a16:creationId xmlns:a16="http://schemas.microsoft.com/office/drawing/2014/main" id="{451B635B-1962-1407-8FB9-F0A765A2E9ED}"/>
              </a:ext>
            </a:extLst>
          </p:cNvPr>
          <p:cNvPicPr>
            <a:picLocks noChangeAspect="1"/>
          </p:cNvPicPr>
          <p:nvPr/>
        </p:nvPicPr>
        <p:blipFill>
          <a:blip r:embed="rId2"/>
          <a:stretch>
            <a:fillRect/>
          </a:stretch>
        </p:blipFill>
        <p:spPr>
          <a:xfrm>
            <a:off x="342687" y="2468614"/>
            <a:ext cx="11172723" cy="2793180"/>
          </a:xfrm>
          <a:prstGeom prst="rect">
            <a:avLst/>
          </a:prstGeom>
        </p:spPr>
      </p:pic>
      <p:sp>
        <p:nvSpPr>
          <p:cNvPr id="6" name="Slide Number Placeholder 5">
            <a:extLst>
              <a:ext uri="{FF2B5EF4-FFF2-40B4-BE49-F238E27FC236}">
                <a16:creationId xmlns:a16="http://schemas.microsoft.com/office/drawing/2014/main" id="{C82A64E2-83E0-4F26-9D3E-89B4659FD8B9}"/>
              </a:ext>
            </a:extLst>
          </p:cNvPr>
          <p:cNvSpPr>
            <a:spLocks noGrp="1"/>
          </p:cNvSpPr>
          <p:nvPr>
            <p:ph type="sldNum" sz="quarter" idx="12"/>
          </p:nvPr>
        </p:nvSpPr>
        <p:spPr/>
        <p:txBody>
          <a:bodyPr/>
          <a:lstStyle/>
          <a:p>
            <a:fld id="{89D00882-420D-446F-B065-6675A463A27F}" type="slidenum">
              <a:rPr lang="en-US" smtClean="0"/>
              <a:pPr/>
              <a:t>17</a:t>
            </a:fld>
            <a:endParaRPr lang="en-US"/>
          </a:p>
        </p:txBody>
      </p:sp>
    </p:spTree>
    <p:extLst>
      <p:ext uri="{BB962C8B-B14F-4D97-AF65-F5344CB8AC3E}">
        <p14:creationId xmlns:p14="http://schemas.microsoft.com/office/powerpoint/2010/main" val="3970122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50E4C7-4583-0F61-75A1-277B9CB4D7A0}"/>
              </a:ext>
            </a:extLst>
          </p:cNvPr>
          <p:cNvSpPr>
            <a:spLocks noGrp="1"/>
          </p:cNvSpPr>
          <p:nvPr>
            <p:ph idx="1"/>
          </p:nvPr>
        </p:nvSpPr>
        <p:spPr>
          <a:xfrm>
            <a:off x="266700" y="990600"/>
            <a:ext cx="11658601" cy="5410199"/>
          </a:xfrm>
        </p:spPr>
        <p:txBody>
          <a:bodyPr/>
          <a:lstStyle/>
          <a:p>
            <a:r>
              <a:rPr lang="en-US" dirty="0"/>
              <a:t>List price of compute to train GPT-3 175B: ~$4.5M</a:t>
            </a:r>
          </a:p>
        </p:txBody>
      </p:sp>
      <p:sp>
        <p:nvSpPr>
          <p:cNvPr id="2" name="Title 1">
            <a:extLst>
              <a:ext uri="{FF2B5EF4-FFF2-40B4-BE49-F238E27FC236}">
                <a16:creationId xmlns:a16="http://schemas.microsoft.com/office/drawing/2014/main" id="{F99309D2-3A8E-DD53-CF3F-2EEE8D583D4C}"/>
              </a:ext>
            </a:extLst>
          </p:cNvPr>
          <p:cNvSpPr>
            <a:spLocks noGrp="1"/>
          </p:cNvSpPr>
          <p:nvPr>
            <p:ph type="title"/>
          </p:nvPr>
        </p:nvSpPr>
        <p:spPr>
          <a:xfrm>
            <a:off x="266699" y="20819"/>
            <a:ext cx="11658601" cy="969781"/>
          </a:xfrm>
        </p:spPr>
        <p:txBody>
          <a:bodyPr/>
          <a:lstStyle/>
          <a:p>
            <a:r>
              <a:rPr lang="en-US" dirty="0"/>
              <a:t>Training compute</a:t>
            </a:r>
          </a:p>
        </p:txBody>
      </p:sp>
      <p:sp>
        <p:nvSpPr>
          <p:cNvPr id="9" name="Slide Number Placeholder 8">
            <a:extLst>
              <a:ext uri="{FF2B5EF4-FFF2-40B4-BE49-F238E27FC236}">
                <a16:creationId xmlns:a16="http://schemas.microsoft.com/office/drawing/2014/main" id="{691868C3-BD8A-40E7-9571-1DD5124245D8}"/>
              </a:ext>
            </a:extLst>
          </p:cNvPr>
          <p:cNvSpPr>
            <a:spLocks noGrp="1"/>
          </p:cNvSpPr>
          <p:nvPr>
            <p:ph type="sldNum" sz="quarter" idx="12"/>
          </p:nvPr>
        </p:nvSpPr>
        <p:spPr/>
        <p:txBody>
          <a:bodyPr/>
          <a:lstStyle/>
          <a:p>
            <a:fld id="{89D00882-420D-446F-B065-6675A463A27F}" type="slidenum">
              <a:rPr lang="en-US" smtClean="0"/>
              <a:pPr/>
              <a:t>18</a:t>
            </a:fld>
            <a:endParaRPr lang="en-US"/>
          </a:p>
        </p:txBody>
      </p:sp>
    </p:spTree>
    <p:extLst>
      <p:ext uri="{BB962C8B-B14F-4D97-AF65-F5344CB8AC3E}">
        <p14:creationId xmlns:p14="http://schemas.microsoft.com/office/powerpoint/2010/main" val="4169955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D3F5DD-0492-881F-2B74-56072882592C}"/>
              </a:ext>
            </a:extLst>
          </p:cNvPr>
          <p:cNvSpPr>
            <a:spLocks noGrp="1"/>
          </p:cNvSpPr>
          <p:nvPr>
            <p:ph idx="1"/>
          </p:nvPr>
        </p:nvSpPr>
        <p:spPr/>
        <p:txBody>
          <a:bodyPr/>
          <a:lstStyle/>
          <a:p>
            <a:r>
              <a:rPr lang="en-US" dirty="0"/>
              <a:t>Specify a task by simply prepending examples of the task before your example</a:t>
            </a:r>
          </a:p>
          <a:p>
            <a:r>
              <a:rPr lang="en-US" dirty="0"/>
              <a:t>Also called in-context learning, to stress that no gradient updates are performed when learning a new task </a:t>
            </a:r>
            <a:r>
              <a:rPr lang="en-US" i="1" dirty="0"/>
              <a:t>(there is a separate literature on few-shot learning with gradient updates)</a:t>
            </a:r>
          </a:p>
          <a:p>
            <a:endParaRPr lang="en-US" i="1" dirty="0"/>
          </a:p>
        </p:txBody>
      </p:sp>
      <p:sp>
        <p:nvSpPr>
          <p:cNvPr id="2" name="Title 1">
            <a:extLst>
              <a:ext uri="{FF2B5EF4-FFF2-40B4-BE49-F238E27FC236}">
                <a16:creationId xmlns:a16="http://schemas.microsoft.com/office/drawing/2014/main" id="{1E4D605F-7C0C-F552-C426-AF5A758EDD7E}"/>
              </a:ext>
            </a:extLst>
          </p:cNvPr>
          <p:cNvSpPr>
            <a:spLocks noGrp="1"/>
          </p:cNvSpPr>
          <p:nvPr>
            <p:ph type="title"/>
          </p:nvPr>
        </p:nvSpPr>
        <p:spPr/>
        <p:txBody>
          <a:bodyPr/>
          <a:lstStyle/>
          <a:p>
            <a:r>
              <a:rPr lang="en-US" dirty="0"/>
              <a:t>Emergent in-context learning</a:t>
            </a:r>
          </a:p>
        </p:txBody>
      </p:sp>
      <p:pic>
        <p:nvPicPr>
          <p:cNvPr id="5" name="Picture 4">
            <a:extLst>
              <a:ext uri="{FF2B5EF4-FFF2-40B4-BE49-F238E27FC236}">
                <a16:creationId xmlns:a16="http://schemas.microsoft.com/office/drawing/2014/main" id="{AC113796-CBA0-9555-0B6A-A841A50FFA66}"/>
              </a:ext>
            </a:extLst>
          </p:cNvPr>
          <p:cNvPicPr>
            <a:picLocks noChangeAspect="1"/>
          </p:cNvPicPr>
          <p:nvPr/>
        </p:nvPicPr>
        <p:blipFill>
          <a:blip r:embed="rId2"/>
          <a:stretch>
            <a:fillRect/>
          </a:stretch>
        </p:blipFill>
        <p:spPr>
          <a:xfrm>
            <a:off x="2286000" y="3258701"/>
            <a:ext cx="7772400" cy="3599299"/>
          </a:xfrm>
          <a:prstGeom prst="rect">
            <a:avLst/>
          </a:prstGeom>
        </p:spPr>
      </p:pic>
      <p:sp>
        <p:nvSpPr>
          <p:cNvPr id="6" name="Slide Number Placeholder 5">
            <a:extLst>
              <a:ext uri="{FF2B5EF4-FFF2-40B4-BE49-F238E27FC236}">
                <a16:creationId xmlns:a16="http://schemas.microsoft.com/office/drawing/2014/main" id="{0C94F6F3-A916-4331-A5E1-EF5A5D1DD4FE}"/>
              </a:ext>
            </a:extLst>
          </p:cNvPr>
          <p:cNvSpPr>
            <a:spLocks noGrp="1"/>
          </p:cNvSpPr>
          <p:nvPr>
            <p:ph type="sldNum" sz="quarter" idx="12"/>
          </p:nvPr>
        </p:nvSpPr>
        <p:spPr/>
        <p:txBody>
          <a:bodyPr/>
          <a:lstStyle/>
          <a:p>
            <a:fld id="{89D00882-420D-446F-B065-6675A463A27F}" type="slidenum">
              <a:rPr lang="en-US" smtClean="0"/>
              <a:pPr/>
              <a:t>19</a:t>
            </a:fld>
            <a:endParaRPr lang="en-US"/>
          </a:p>
        </p:txBody>
      </p:sp>
    </p:spTree>
    <p:extLst>
      <p:ext uri="{BB962C8B-B14F-4D97-AF65-F5344CB8AC3E}">
        <p14:creationId xmlns:p14="http://schemas.microsoft.com/office/powerpoint/2010/main" val="1563572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76992-7BFD-8AFE-A3F9-D3575861C443}"/>
              </a:ext>
            </a:extLst>
          </p:cNvPr>
          <p:cNvSpPr>
            <a:spLocks noGrp="1"/>
          </p:cNvSpPr>
          <p:nvPr>
            <p:ph type="title"/>
          </p:nvPr>
        </p:nvSpPr>
        <p:spPr/>
        <p:txBody>
          <a:bodyPr/>
          <a:lstStyle/>
          <a:p>
            <a:r>
              <a:rPr lang="en-US" dirty="0"/>
              <a:t>GPT-3 </a:t>
            </a:r>
          </a:p>
        </p:txBody>
      </p:sp>
      <p:pic>
        <p:nvPicPr>
          <p:cNvPr id="5" name="Picture 4">
            <a:extLst>
              <a:ext uri="{FF2B5EF4-FFF2-40B4-BE49-F238E27FC236}">
                <a16:creationId xmlns:a16="http://schemas.microsoft.com/office/drawing/2014/main" id="{797735E1-8269-F5EE-2753-0B8E567850B9}"/>
              </a:ext>
            </a:extLst>
          </p:cNvPr>
          <p:cNvPicPr>
            <a:picLocks noChangeAspect="1"/>
          </p:cNvPicPr>
          <p:nvPr/>
        </p:nvPicPr>
        <p:blipFill>
          <a:blip r:embed="rId2"/>
          <a:stretch>
            <a:fillRect/>
          </a:stretch>
        </p:blipFill>
        <p:spPr>
          <a:xfrm>
            <a:off x="1070043" y="1116841"/>
            <a:ext cx="9246116" cy="5247796"/>
          </a:xfrm>
          <a:prstGeom prst="rect">
            <a:avLst/>
          </a:prstGeom>
        </p:spPr>
      </p:pic>
      <p:sp>
        <p:nvSpPr>
          <p:cNvPr id="6" name="TextBox 5">
            <a:extLst>
              <a:ext uri="{FF2B5EF4-FFF2-40B4-BE49-F238E27FC236}">
                <a16:creationId xmlns:a16="http://schemas.microsoft.com/office/drawing/2014/main" id="{1E1D06B2-4236-ED6E-1392-0D0B5D7037BA}"/>
              </a:ext>
            </a:extLst>
          </p:cNvPr>
          <p:cNvSpPr txBox="1"/>
          <p:nvPr/>
        </p:nvSpPr>
        <p:spPr>
          <a:xfrm>
            <a:off x="9838531" y="6110923"/>
            <a:ext cx="1454309" cy="369332"/>
          </a:xfrm>
          <a:prstGeom prst="rect">
            <a:avLst/>
          </a:prstGeom>
          <a:noFill/>
        </p:spPr>
        <p:txBody>
          <a:bodyPr wrap="none" rtlCol="0">
            <a:spAutoFit/>
          </a:bodyPr>
          <a:lstStyle/>
          <a:p>
            <a:r>
              <a:rPr lang="en-US" dirty="0"/>
              <a:t>GPT-2 scale</a:t>
            </a:r>
          </a:p>
        </p:txBody>
      </p:sp>
      <p:cxnSp>
        <p:nvCxnSpPr>
          <p:cNvPr id="8" name="Straight Arrow Connector 7">
            <a:extLst>
              <a:ext uri="{FF2B5EF4-FFF2-40B4-BE49-F238E27FC236}">
                <a16:creationId xmlns:a16="http://schemas.microsoft.com/office/drawing/2014/main" id="{AAE7D30A-9DA3-F64E-891F-06BA5F208707}"/>
              </a:ext>
            </a:extLst>
          </p:cNvPr>
          <p:cNvCxnSpPr/>
          <p:nvPr/>
        </p:nvCxnSpPr>
        <p:spPr>
          <a:xfrm flipH="1" flipV="1">
            <a:off x="9525000" y="5845479"/>
            <a:ext cx="381000" cy="280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45A85F9-FD1E-D539-E1E0-09DC02B46A79}"/>
              </a:ext>
            </a:extLst>
          </p:cNvPr>
          <p:cNvSpPr txBox="1"/>
          <p:nvPr/>
        </p:nvSpPr>
        <p:spPr>
          <a:xfrm>
            <a:off x="2286000" y="6490879"/>
            <a:ext cx="6994222" cy="369332"/>
          </a:xfrm>
          <a:prstGeom prst="rect">
            <a:avLst/>
          </a:prstGeom>
          <a:noFill/>
        </p:spPr>
        <p:txBody>
          <a:bodyPr wrap="none" rtlCol="0">
            <a:spAutoFit/>
          </a:bodyPr>
          <a:lstStyle/>
          <a:p>
            <a:r>
              <a:rPr lang="en-US" dirty="0"/>
              <a:t>Accuracy on a simple task to remove random symbols from a word</a:t>
            </a:r>
          </a:p>
        </p:txBody>
      </p:sp>
      <p:sp>
        <p:nvSpPr>
          <p:cNvPr id="7" name="Slide Number Placeholder 6">
            <a:extLst>
              <a:ext uri="{FF2B5EF4-FFF2-40B4-BE49-F238E27FC236}">
                <a16:creationId xmlns:a16="http://schemas.microsoft.com/office/drawing/2014/main" id="{8264CA2F-088B-41FB-B4E8-55197B41F76C}"/>
              </a:ext>
            </a:extLst>
          </p:cNvPr>
          <p:cNvSpPr>
            <a:spLocks noGrp="1"/>
          </p:cNvSpPr>
          <p:nvPr>
            <p:ph type="sldNum" sz="quarter" idx="12"/>
          </p:nvPr>
        </p:nvSpPr>
        <p:spPr/>
        <p:txBody>
          <a:bodyPr/>
          <a:lstStyle/>
          <a:p>
            <a:fld id="{89D00882-420D-446F-B065-6675A463A27F}" type="slidenum">
              <a:rPr lang="en-US" smtClean="0"/>
              <a:pPr/>
              <a:t>20</a:t>
            </a:fld>
            <a:endParaRPr lang="en-US"/>
          </a:p>
        </p:txBody>
      </p:sp>
    </p:spTree>
    <p:extLst>
      <p:ext uri="{BB962C8B-B14F-4D97-AF65-F5344CB8AC3E}">
        <p14:creationId xmlns:p14="http://schemas.microsoft.com/office/powerpoint/2010/main" val="2563617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3AED-531F-6429-DB02-EF2B56DC024A}"/>
              </a:ext>
            </a:extLst>
          </p:cNvPr>
          <p:cNvSpPr>
            <a:spLocks noGrp="1"/>
          </p:cNvSpPr>
          <p:nvPr>
            <p:ph type="title"/>
          </p:nvPr>
        </p:nvSpPr>
        <p:spPr/>
        <p:txBody>
          <a:bodyPr/>
          <a:lstStyle/>
          <a:p>
            <a:r>
              <a:rPr lang="en-US" dirty="0"/>
              <a:t>GPT-3</a:t>
            </a:r>
          </a:p>
        </p:txBody>
      </p:sp>
      <p:pic>
        <p:nvPicPr>
          <p:cNvPr id="5" name="Picture 4">
            <a:extLst>
              <a:ext uri="{FF2B5EF4-FFF2-40B4-BE49-F238E27FC236}">
                <a16:creationId xmlns:a16="http://schemas.microsoft.com/office/drawing/2014/main" id="{6E4D1600-86C5-14DB-CE94-EC6F5983EA83}"/>
              </a:ext>
            </a:extLst>
          </p:cNvPr>
          <p:cNvPicPr>
            <a:picLocks noChangeAspect="1"/>
          </p:cNvPicPr>
          <p:nvPr/>
        </p:nvPicPr>
        <p:blipFill>
          <a:blip r:embed="rId2"/>
          <a:stretch>
            <a:fillRect/>
          </a:stretch>
        </p:blipFill>
        <p:spPr>
          <a:xfrm>
            <a:off x="1219861" y="1110131"/>
            <a:ext cx="9752276" cy="5171136"/>
          </a:xfrm>
          <a:prstGeom prst="rect">
            <a:avLst/>
          </a:prstGeom>
        </p:spPr>
      </p:pic>
      <p:sp>
        <p:nvSpPr>
          <p:cNvPr id="6" name="Slide Number Placeholder 5">
            <a:extLst>
              <a:ext uri="{FF2B5EF4-FFF2-40B4-BE49-F238E27FC236}">
                <a16:creationId xmlns:a16="http://schemas.microsoft.com/office/drawing/2014/main" id="{8F99EF0F-6AE3-4151-B76B-F52A97D809B0}"/>
              </a:ext>
            </a:extLst>
          </p:cNvPr>
          <p:cNvSpPr>
            <a:spLocks noGrp="1"/>
          </p:cNvSpPr>
          <p:nvPr>
            <p:ph type="sldNum" sz="quarter" idx="12"/>
          </p:nvPr>
        </p:nvSpPr>
        <p:spPr/>
        <p:txBody>
          <a:bodyPr/>
          <a:lstStyle/>
          <a:p>
            <a:fld id="{89D00882-420D-446F-B065-6675A463A27F}" type="slidenum">
              <a:rPr lang="en-US" smtClean="0"/>
              <a:pPr/>
              <a:t>21</a:t>
            </a:fld>
            <a:endParaRPr lang="en-US"/>
          </a:p>
        </p:txBody>
      </p:sp>
    </p:spTree>
    <p:extLst>
      <p:ext uri="{BB962C8B-B14F-4D97-AF65-F5344CB8AC3E}">
        <p14:creationId xmlns:p14="http://schemas.microsoft.com/office/powerpoint/2010/main" val="942858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green and orange lines&#10;&#10;Description automatically generated">
            <a:extLst>
              <a:ext uri="{FF2B5EF4-FFF2-40B4-BE49-F238E27FC236}">
                <a16:creationId xmlns:a16="http://schemas.microsoft.com/office/drawing/2014/main" id="{F472242F-85DF-CFFC-1CD5-621A8FDB5A62}"/>
              </a:ext>
            </a:extLst>
          </p:cNvPr>
          <p:cNvPicPr>
            <a:picLocks noGrp="1" noChangeAspect="1"/>
          </p:cNvPicPr>
          <p:nvPr>
            <p:ph idx="1"/>
          </p:nvPr>
        </p:nvPicPr>
        <p:blipFill>
          <a:blip r:embed="rId2"/>
          <a:stretch>
            <a:fillRect/>
          </a:stretch>
        </p:blipFill>
        <p:spPr>
          <a:xfrm>
            <a:off x="1320370" y="68263"/>
            <a:ext cx="9551259" cy="6351587"/>
          </a:xfrm>
          <a:prstGeom prst="rect">
            <a:avLst/>
          </a:prstGeom>
          <a:noFill/>
        </p:spPr>
      </p:pic>
      <p:sp>
        <p:nvSpPr>
          <p:cNvPr id="6" name="Slide Number Placeholder 5" hidden="1">
            <a:extLst>
              <a:ext uri="{FF2B5EF4-FFF2-40B4-BE49-F238E27FC236}">
                <a16:creationId xmlns:a16="http://schemas.microsoft.com/office/drawing/2014/main" id="{8DD7FEFE-7B2B-4A37-917D-C6EE48C7AC29}"/>
              </a:ext>
            </a:extLst>
          </p:cNvPr>
          <p:cNvSpPr>
            <a:spLocks noGrp="1"/>
          </p:cNvSpPr>
          <p:nvPr>
            <p:ph type="sldNum" sz="quarter" idx="12"/>
          </p:nvPr>
        </p:nvSpPr>
        <p:spPr/>
        <p:txBody>
          <a:bodyPr/>
          <a:lstStyle/>
          <a:p>
            <a:pPr>
              <a:spcAft>
                <a:spcPts val="600"/>
              </a:spcAft>
            </a:pPr>
            <a:fld id="{89D00882-420D-446F-B065-6675A463A27F}" type="slidenum">
              <a:rPr lang="en-US" smtClean="0"/>
              <a:pPr>
                <a:spcAft>
                  <a:spcPts val="600"/>
                </a:spcAft>
              </a:pPr>
              <a:t>22</a:t>
            </a:fld>
            <a:endParaRPr lang="en-US"/>
          </a:p>
        </p:txBody>
      </p:sp>
    </p:spTree>
    <p:extLst>
      <p:ext uri="{BB962C8B-B14F-4D97-AF65-F5344CB8AC3E}">
        <p14:creationId xmlns:p14="http://schemas.microsoft.com/office/powerpoint/2010/main" val="4079713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064550-6467-DF07-9E75-B785B7E25347}"/>
              </a:ext>
            </a:extLst>
          </p:cNvPr>
          <p:cNvSpPr>
            <a:spLocks noGrp="1"/>
          </p:cNvSpPr>
          <p:nvPr>
            <p:ph idx="1"/>
          </p:nvPr>
        </p:nvSpPr>
        <p:spPr/>
        <p:txBody>
          <a:bodyPr>
            <a:normAutofit/>
          </a:bodyPr>
          <a:lstStyle/>
          <a:p>
            <a:r>
              <a:rPr lang="en-US" dirty="0"/>
              <a:t>Average performance of few-shot is about the same as fine-tuned BERT-Large, but varies by task</a:t>
            </a:r>
          </a:p>
          <a:p>
            <a:r>
              <a:rPr lang="en-US" dirty="0"/>
              <a:t>Per-task specialized SOTA models are still best</a:t>
            </a:r>
          </a:p>
        </p:txBody>
      </p:sp>
      <p:sp>
        <p:nvSpPr>
          <p:cNvPr id="2" name="Title 1">
            <a:extLst>
              <a:ext uri="{FF2B5EF4-FFF2-40B4-BE49-F238E27FC236}">
                <a16:creationId xmlns:a16="http://schemas.microsoft.com/office/drawing/2014/main" id="{9E7AE171-106A-BFF7-F8A1-34A61D91B8FA}"/>
              </a:ext>
            </a:extLst>
          </p:cNvPr>
          <p:cNvSpPr>
            <a:spLocks noGrp="1"/>
          </p:cNvSpPr>
          <p:nvPr>
            <p:ph type="title"/>
          </p:nvPr>
        </p:nvSpPr>
        <p:spPr/>
        <p:txBody>
          <a:bodyPr/>
          <a:lstStyle/>
          <a:p>
            <a:r>
              <a:rPr lang="en-US" dirty="0" err="1"/>
              <a:t>SuperGLUE</a:t>
            </a:r>
            <a:r>
              <a:rPr lang="en-US" dirty="0"/>
              <a:t> </a:t>
            </a:r>
          </a:p>
        </p:txBody>
      </p:sp>
      <p:pic>
        <p:nvPicPr>
          <p:cNvPr id="5" name="Picture 4">
            <a:extLst>
              <a:ext uri="{FF2B5EF4-FFF2-40B4-BE49-F238E27FC236}">
                <a16:creationId xmlns:a16="http://schemas.microsoft.com/office/drawing/2014/main" id="{146948AB-838A-1018-296E-917C0D03EC37}"/>
              </a:ext>
            </a:extLst>
          </p:cNvPr>
          <p:cNvPicPr>
            <a:picLocks noChangeAspect="1"/>
          </p:cNvPicPr>
          <p:nvPr/>
        </p:nvPicPr>
        <p:blipFill>
          <a:blip r:embed="rId2"/>
          <a:stretch>
            <a:fillRect/>
          </a:stretch>
        </p:blipFill>
        <p:spPr>
          <a:xfrm>
            <a:off x="1400638" y="2764142"/>
            <a:ext cx="9390723" cy="3305918"/>
          </a:xfrm>
          <a:prstGeom prst="rect">
            <a:avLst/>
          </a:prstGeom>
        </p:spPr>
      </p:pic>
      <p:sp>
        <p:nvSpPr>
          <p:cNvPr id="4" name="Slide Number Placeholder 3">
            <a:extLst>
              <a:ext uri="{FF2B5EF4-FFF2-40B4-BE49-F238E27FC236}">
                <a16:creationId xmlns:a16="http://schemas.microsoft.com/office/drawing/2014/main" id="{B85A7A4F-45EE-43CA-BE26-60579B4CC963}"/>
              </a:ext>
            </a:extLst>
          </p:cNvPr>
          <p:cNvSpPr>
            <a:spLocks noGrp="1"/>
          </p:cNvSpPr>
          <p:nvPr>
            <p:ph type="sldNum" sz="quarter" idx="12"/>
          </p:nvPr>
        </p:nvSpPr>
        <p:spPr/>
        <p:txBody>
          <a:bodyPr/>
          <a:lstStyle/>
          <a:p>
            <a:fld id="{89D00882-420D-446F-B065-6675A463A27F}" type="slidenum">
              <a:rPr lang="en-US" smtClean="0"/>
              <a:pPr/>
              <a:t>23</a:t>
            </a:fld>
            <a:endParaRPr lang="en-US"/>
          </a:p>
        </p:txBody>
      </p:sp>
    </p:spTree>
    <p:extLst>
      <p:ext uri="{BB962C8B-B14F-4D97-AF65-F5344CB8AC3E}">
        <p14:creationId xmlns:p14="http://schemas.microsoft.com/office/powerpoint/2010/main" val="1262980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DC000C3-BF15-4120-8C91-E8042CAAF463}"/>
              </a:ext>
            </a:extLst>
          </p:cNvPr>
          <p:cNvSpPr>
            <a:spLocks noGrp="1"/>
          </p:cNvSpPr>
          <p:nvPr>
            <p:ph type="sldNum" sz="quarter" idx="12"/>
          </p:nvPr>
        </p:nvSpPr>
        <p:spPr/>
        <p:txBody>
          <a:bodyPr/>
          <a:lstStyle/>
          <a:p>
            <a:fld id="{89D00882-420D-446F-B065-6675A463A27F}" type="slidenum">
              <a:rPr lang="en-US" smtClean="0"/>
              <a:pPr/>
              <a:t>24</a:t>
            </a:fld>
            <a:endParaRPr lang="en-US"/>
          </a:p>
        </p:txBody>
      </p:sp>
      <p:pic>
        <p:nvPicPr>
          <p:cNvPr id="5" name="Picture 4">
            <a:extLst>
              <a:ext uri="{FF2B5EF4-FFF2-40B4-BE49-F238E27FC236}">
                <a16:creationId xmlns:a16="http://schemas.microsoft.com/office/drawing/2014/main" id="{E1AFEDC1-1CC9-D1DF-47DD-CE951FE7779E}"/>
              </a:ext>
            </a:extLst>
          </p:cNvPr>
          <p:cNvPicPr>
            <a:picLocks noChangeAspect="1"/>
          </p:cNvPicPr>
          <p:nvPr/>
        </p:nvPicPr>
        <p:blipFill>
          <a:blip r:embed="rId2"/>
          <a:stretch>
            <a:fillRect/>
          </a:stretch>
        </p:blipFill>
        <p:spPr>
          <a:xfrm>
            <a:off x="1565945" y="480269"/>
            <a:ext cx="9060110" cy="5897461"/>
          </a:xfrm>
          <a:prstGeom prst="rect">
            <a:avLst/>
          </a:prstGeom>
        </p:spPr>
      </p:pic>
    </p:spTree>
    <p:extLst>
      <p:ext uri="{BB962C8B-B14F-4D97-AF65-F5344CB8AC3E}">
        <p14:creationId xmlns:p14="http://schemas.microsoft.com/office/powerpoint/2010/main" val="438620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F96F1-472E-B265-91A6-B376CB25EC9B}"/>
              </a:ext>
            </a:extLst>
          </p:cNvPr>
          <p:cNvSpPr>
            <a:spLocks noGrp="1"/>
          </p:cNvSpPr>
          <p:nvPr>
            <p:ph type="title"/>
          </p:nvPr>
        </p:nvSpPr>
        <p:spPr/>
        <p:txBody>
          <a:bodyPr/>
          <a:lstStyle/>
          <a:p>
            <a:r>
              <a:rPr lang="en-US" dirty="0"/>
              <a:t>GPT-3 Arithmetic</a:t>
            </a:r>
          </a:p>
        </p:txBody>
      </p:sp>
      <p:pic>
        <p:nvPicPr>
          <p:cNvPr id="5" name="Picture 4">
            <a:extLst>
              <a:ext uri="{FF2B5EF4-FFF2-40B4-BE49-F238E27FC236}">
                <a16:creationId xmlns:a16="http://schemas.microsoft.com/office/drawing/2014/main" id="{3422AA50-CDB5-DF71-0F2A-0B1D999F9103}"/>
              </a:ext>
            </a:extLst>
          </p:cNvPr>
          <p:cNvPicPr>
            <a:picLocks noChangeAspect="1"/>
          </p:cNvPicPr>
          <p:nvPr/>
        </p:nvPicPr>
        <p:blipFill>
          <a:blip r:embed="rId2"/>
          <a:stretch>
            <a:fillRect/>
          </a:stretch>
        </p:blipFill>
        <p:spPr>
          <a:xfrm>
            <a:off x="1868424" y="1223394"/>
            <a:ext cx="8623883" cy="1367406"/>
          </a:xfrm>
          <a:prstGeom prst="rect">
            <a:avLst/>
          </a:prstGeom>
        </p:spPr>
      </p:pic>
      <p:pic>
        <p:nvPicPr>
          <p:cNvPr id="7" name="Picture 6">
            <a:extLst>
              <a:ext uri="{FF2B5EF4-FFF2-40B4-BE49-F238E27FC236}">
                <a16:creationId xmlns:a16="http://schemas.microsoft.com/office/drawing/2014/main" id="{73AEE1F7-3A1E-3741-643B-D978450F8382}"/>
              </a:ext>
            </a:extLst>
          </p:cNvPr>
          <p:cNvPicPr>
            <a:picLocks noChangeAspect="1"/>
          </p:cNvPicPr>
          <p:nvPr/>
        </p:nvPicPr>
        <p:blipFill>
          <a:blip r:embed="rId3"/>
          <a:stretch>
            <a:fillRect/>
          </a:stretch>
        </p:blipFill>
        <p:spPr>
          <a:xfrm>
            <a:off x="2667000" y="2590800"/>
            <a:ext cx="6576969" cy="4127383"/>
          </a:xfrm>
          <a:prstGeom prst="rect">
            <a:avLst/>
          </a:prstGeom>
        </p:spPr>
      </p:pic>
      <p:sp>
        <p:nvSpPr>
          <p:cNvPr id="6" name="Slide Number Placeholder 5">
            <a:extLst>
              <a:ext uri="{FF2B5EF4-FFF2-40B4-BE49-F238E27FC236}">
                <a16:creationId xmlns:a16="http://schemas.microsoft.com/office/drawing/2014/main" id="{C9B1F6D4-0456-483F-8B91-9BD7A49DC83D}"/>
              </a:ext>
            </a:extLst>
          </p:cNvPr>
          <p:cNvSpPr>
            <a:spLocks noGrp="1"/>
          </p:cNvSpPr>
          <p:nvPr>
            <p:ph type="sldNum" sz="quarter" idx="12"/>
          </p:nvPr>
        </p:nvSpPr>
        <p:spPr/>
        <p:txBody>
          <a:bodyPr/>
          <a:lstStyle/>
          <a:p>
            <a:fld id="{89D00882-420D-446F-B065-6675A463A27F}" type="slidenum">
              <a:rPr lang="en-US" smtClean="0"/>
              <a:pPr/>
              <a:t>25</a:t>
            </a:fld>
            <a:endParaRPr lang="en-US"/>
          </a:p>
        </p:txBody>
      </p:sp>
    </p:spTree>
    <p:extLst>
      <p:ext uri="{BB962C8B-B14F-4D97-AF65-F5344CB8AC3E}">
        <p14:creationId xmlns:p14="http://schemas.microsoft.com/office/powerpoint/2010/main" val="4016281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5129085-D089-4024-B873-B96A158C3256}"/>
              </a:ext>
            </a:extLst>
          </p:cNvPr>
          <p:cNvSpPr>
            <a:spLocks noGrp="1"/>
          </p:cNvSpPr>
          <p:nvPr>
            <p:ph type="sldNum" sz="quarter" idx="12"/>
          </p:nvPr>
        </p:nvSpPr>
        <p:spPr/>
        <p:txBody>
          <a:bodyPr/>
          <a:lstStyle/>
          <a:p>
            <a:fld id="{89D00882-420D-446F-B065-6675A463A27F}" type="slidenum">
              <a:rPr lang="en-US" smtClean="0"/>
              <a:pPr/>
              <a:t>26</a:t>
            </a:fld>
            <a:endParaRPr lang="en-US"/>
          </a:p>
        </p:txBody>
      </p:sp>
      <p:pic>
        <p:nvPicPr>
          <p:cNvPr id="5" name="Picture 4">
            <a:extLst>
              <a:ext uri="{FF2B5EF4-FFF2-40B4-BE49-F238E27FC236}">
                <a16:creationId xmlns:a16="http://schemas.microsoft.com/office/drawing/2014/main" id="{7C0920F7-D7A3-6838-138E-EC46979CB032}"/>
              </a:ext>
            </a:extLst>
          </p:cNvPr>
          <p:cNvPicPr>
            <a:picLocks noChangeAspect="1"/>
          </p:cNvPicPr>
          <p:nvPr/>
        </p:nvPicPr>
        <p:blipFill>
          <a:blip r:embed="rId2"/>
          <a:stretch>
            <a:fillRect/>
          </a:stretch>
        </p:blipFill>
        <p:spPr>
          <a:xfrm>
            <a:off x="1867711" y="145565"/>
            <a:ext cx="8258784" cy="6489045"/>
          </a:xfrm>
          <a:prstGeom prst="rect">
            <a:avLst/>
          </a:prstGeom>
        </p:spPr>
      </p:pic>
    </p:spTree>
    <p:extLst>
      <p:ext uri="{BB962C8B-B14F-4D97-AF65-F5344CB8AC3E}">
        <p14:creationId xmlns:p14="http://schemas.microsoft.com/office/powerpoint/2010/main" val="1201368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0074CB4-FD85-D6FE-5616-6104AB31A817}"/>
              </a:ext>
            </a:extLst>
          </p:cNvPr>
          <p:cNvSpPr>
            <a:spLocks noGrp="1"/>
          </p:cNvSpPr>
          <p:nvPr>
            <p:ph idx="1"/>
          </p:nvPr>
        </p:nvSpPr>
        <p:spPr/>
        <p:txBody>
          <a:bodyPr/>
          <a:lstStyle/>
          <a:p>
            <a:r>
              <a:rPr lang="en-US" dirty="0"/>
              <a:t>Great results in many NLP benchmarks</a:t>
            </a:r>
          </a:p>
          <a:p>
            <a:r>
              <a:rPr lang="en-US" dirty="0"/>
              <a:t>“GPT-3 also displays one-shot and few-shot proficiency at tasks designed to test rapid adaption or on-the-fly reasoning, which include unscrambling words, performing arithmetic, and using novel words in a sentence after seeing them defined only once”</a:t>
            </a:r>
          </a:p>
          <a:p>
            <a:r>
              <a:rPr lang="en-US" dirty="0"/>
              <a:t>GPT-3 can generate synthetic news articles which human evaluators have difficulty distinguishing from human-generated articles</a:t>
            </a:r>
          </a:p>
          <a:p>
            <a:r>
              <a:rPr lang="en-US" dirty="0"/>
              <a:t>Tasks where GPT-3 struggles include natural language inference tasks like the ANLI dataset, and some reading comprehension datasets like RACE or </a:t>
            </a:r>
            <a:r>
              <a:rPr lang="en-US" dirty="0" err="1"/>
              <a:t>QuAC</a:t>
            </a:r>
            <a:r>
              <a:rPr lang="en-US" dirty="0"/>
              <a:t>.</a:t>
            </a:r>
          </a:p>
        </p:txBody>
      </p:sp>
      <p:sp>
        <p:nvSpPr>
          <p:cNvPr id="4" name="Title 3">
            <a:extLst>
              <a:ext uri="{FF2B5EF4-FFF2-40B4-BE49-F238E27FC236}">
                <a16:creationId xmlns:a16="http://schemas.microsoft.com/office/drawing/2014/main" id="{572328C0-ABB7-D27A-FE6C-E58900A5785E}"/>
              </a:ext>
            </a:extLst>
          </p:cNvPr>
          <p:cNvSpPr>
            <a:spLocks noGrp="1"/>
          </p:cNvSpPr>
          <p:nvPr>
            <p:ph type="title"/>
          </p:nvPr>
        </p:nvSpPr>
        <p:spPr/>
        <p:txBody>
          <a:bodyPr/>
          <a:lstStyle/>
          <a:p>
            <a:r>
              <a:rPr lang="en-US"/>
              <a:t>GPT-3 results summary</a:t>
            </a:r>
            <a:endParaRPr lang="en-US" dirty="0"/>
          </a:p>
        </p:txBody>
      </p:sp>
      <p:sp>
        <p:nvSpPr>
          <p:cNvPr id="3" name="Slide Number Placeholder 2">
            <a:extLst>
              <a:ext uri="{FF2B5EF4-FFF2-40B4-BE49-F238E27FC236}">
                <a16:creationId xmlns:a16="http://schemas.microsoft.com/office/drawing/2014/main" id="{4D190B27-6304-1070-88B4-E1EF679D8E3D}"/>
              </a:ext>
            </a:extLst>
          </p:cNvPr>
          <p:cNvSpPr>
            <a:spLocks noGrp="1"/>
          </p:cNvSpPr>
          <p:nvPr>
            <p:ph type="sldNum" sz="quarter" idx="12"/>
          </p:nvPr>
        </p:nvSpPr>
        <p:spPr/>
        <p:txBody>
          <a:bodyPr/>
          <a:lstStyle/>
          <a:p>
            <a:fld id="{89D00882-420D-446F-B065-6675A463A27F}" type="slidenum">
              <a:rPr lang="en-US" smtClean="0"/>
              <a:pPr/>
              <a:t>27</a:t>
            </a:fld>
            <a:endParaRPr lang="en-US"/>
          </a:p>
        </p:txBody>
      </p:sp>
    </p:spTree>
    <p:extLst>
      <p:ext uri="{BB962C8B-B14F-4D97-AF65-F5344CB8AC3E}">
        <p14:creationId xmlns:p14="http://schemas.microsoft.com/office/powerpoint/2010/main" val="1473429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496404B-48AD-77A0-1D80-9501AC6A0D80}"/>
              </a:ext>
            </a:extLst>
          </p:cNvPr>
          <p:cNvPicPr>
            <a:picLocks noGrp="1" noChangeAspect="1"/>
          </p:cNvPicPr>
          <p:nvPr>
            <p:ph idx="1"/>
          </p:nvPr>
        </p:nvPicPr>
        <p:blipFill>
          <a:blip r:embed="rId2"/>
          <a:stretch>
            <a:fillRect/>
          </a:stretch>
        </p:blipFill>
        <p:spPr>
          <a:xfrm>
            <a:off x="266700" y="1401977"/>
            <a:ext cx="11658600" cy="4587445"/>
          </a:xfrm>
        </p:spPr>
      </p:pic>
      <p:sp>
        <p:nvSpPr>
          <p:cNvPr id="3" name="Title 2">
            <a:extLst>
              <a:ext uri="{FF2B5EF4-FFF2-40B4-BE49-F238E27FC236}">
                <a16:creationId xmlns:a16="http://schemas.microsoft.com/office/drawing/2014/main" id="{96583C65-3770-C2CC-B89F-DDE7B7C15520}"/>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B77B7CD9-D291-8351-F0B1-0C53B39A175F}"/>
              </a:ext>
            </a:extLst>
          </p:cNvPr>
          <p:cNvSpPr>
            <a:spLocks noGrp="1"/>
          </p:cNvSpPr>
          <p:nvPr>
            <p:ph type="sldNum" sz="quarter" idx="12"/>
          </p:nvPr>
        </p:nvSpPr>
        <p:spPr/>
        <p:txBody>
          <a:bodyPr/>
          <a:lstStyle/>
          <a:p>
            <a:fld id="{89D00882-420D-446F-B065-6675A463A27F}" type="slidenum">
              <a:rPr lang="en-US" smtClean="0"/>
              <a:pPr/>
              <a:t>28</a:t>
            </a:fld>
            <a:endParaRPr lang="en-US"/>
          </a:p>
        </p:txBody>
      </p:sp>
    </p:spTree>
    <p:extLst>
      <p:ext uri="{BB962C8B-B14F-4D97-AF65-F5344CB8AC3E}">
        <p14:creationId xmlns:p14="http://schemas.microsoft.com/office/powerpoint/2010/main" val="3993146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904B82-B1DB-6C12-BEDD-26B5FE38C068}"/>
              </a:ext>
            </a:extLst>
          </p:cNvPr>
          <p:cNvSpPr>
            <a:spLocks noGrp="1"/>
          </p:cNvSpPr>
          <p:nvPr>
            <p:ph idx="1"/>
          </p:nvPr>
        </p:nvSpPr>
        <p:spPr/>
        <p:txBody>
          <a:bodyPr/>
          <a:lstStyle/>
          <a:p>
            <a:r>
              <a:rPr lang="en-US" dirty="0"/>
              <a:t>Practical issues</a:t>
            </a:r>
          </a:p>
          <a:p>
            <a:pPr lvl="1"/>
            <a:r>
              <a:rPr lang="en-US" dirty="0"/>
              <a:t>Needs large task-specific datasets</a:t>
            </a:r>
          </a:p>
          <a:p>
            <a:pPr lvl="1"/>
            <a:r>
              <a:rPr lang="en-US" dirty="0"/>
              <a:t>A copy of model for each task</a:t>
            </a:r>
          </a:p>
          <a:p>
            <a:r>
              <a:rPr lang="en-US" dirty="0"/>
              <a:t>Potential to exploit spurious correlations</a:t>
            </a:r>
          </a:p>
          <a:p>
            <a:pPr lvl="1"/>
            <a:r>
              <a:rPr lang="en-US" dirty="0"/>
              <a:t>Models can overfit to training distributions and don’t generalize to out of distribution datasets</a:t>
            </a:r>
          </a:p>
          <a:p>
            <a:pPr lvl="1"/>
            <a:r>
              <a:rPr lang="en-US" dirty="0"/>
              <a:t>Learning datasets and not the underlying task</a:t>
            </a:r>
          </a:p>
          <a:p>
            <a:r>
              <a:rPr lang="en-US" dirty="0"/>
              <a:t>Humans don’t need large supervised datasets</a:t>
            </a:r>
          </a:p>
          <a:p>
            <a:pPr lvl="1"/>
            <a:r>
              <a:rPr lang="en-US" dirty="0"/>
              <a:t>we learn from few examples and/or an instruction</a:t>
            </a:r>
          </a:p>
          <a:p>
            <a:pPr lvl="1"/>
            <a:r>
              <a:rPr lang="en-US" dirty="0"/>
              <a:t>we switch between tasks easily</a:t>
            </a:r>
          </a:p>
          <a:p>
            <a:endParaRPr lang="en-US" dirty="0"/>
          </a:p>
        </p:txBody>
      </p:sp>
      <p:sp>
        <p:nvSpPr>
          <p:cNvPr id="3" name="Title 2">
            <a:extLst>
              <a:ext uri="{FF2B5EF4-FFF2-40B4-BE49-F238E27FC236}">
                <a16:creationId xmlns:a16="http://schemas.microsoft.com/office/drawing/2014/main" id="{D8D36D21-71DC-B9B9-4EEC-F4273FD07AB7}"/>
              </a:ext>
            </a:extLst>
          </p:cNvPr>
          <p:cNvSpPr>
            <a:spLocks noGrp="1"/>
          </p:cNvSpPr>
          <p:nvPr>
            <p:ph type="title"/>
          </p:nvPr>
        </p:nvSpPr>
        <p:spPr/>
        <p:txBody>
          <a:bodyPr/>
          <a:lstStyle/>
          <a:p>
            <a:r>
              <a:rPr lang="en-US" dirty="0"/>
              <a:t>Limitations of Pretraining </a:t>
            </a:r>
            <a:r>
              <a:rPr lang="en-US" dirty="0">
                <a:sym typeface="Wingdings" pitchFamily="2" charset="2"/>
              </a:rPr>
              <a:t></a:t>
            </a:r>
            <a:r>
              <a:rPr lang="en-US" dirty="0"/>
              <a:t> Fine-tuning</a:t>
            </a:r>
          </a:p>
        </p:txBody>
      </p:sp>
      <p:sp>
        <p:nvSpPr>
          <p:cNvPr id="4" name="Slide Number Placeholder 3">
            <a:extLst>
              <a:ext uri="{FF2B5EF4-FFF2-40B4-BE49-F238E27FC236}">
                <a16:creationId xmlns:a16="http://schemas.microsoft.com/office/drawing/2014/main" id="{97D8A070-901B-D7A7-D63D-479CAF31D6DB}"/>
              </a:ext>
            </a:extLst>
          </p:cNvPr>
          <p:cNvSpPr>
            <a:spLocks noGrp="1"/>
          </p:cNvSpPr>
          <p:nvPr>
            <p:ph type="sldNum" sz="quarter" idx="12"/>
          </p:nvPr>
        </p:nvSpPr>
        <p:spPr/>
        <p:txBody>
          <a:bodyPr/>
          <a:lstStyle/>
          <a:p>
            <a:fld id="{89D00882-420D-446F-B065-6675A463A27F}" type="slidenum">
              <a:rPr lang="en-US" smtClean="0"/>
              <a:pPr/>
              <a:t>29</a:t>
            </a:fld>
            <a:endParaRPr lang="en-US"/>
          </a:p>
        </p:txBody>
      </p:sp>
    </p:spTree>
    <p:extLst>
      <p:ext uri="{BB962C8B-B14F-4D97-AF65-F5344CB8AC3E}">
        <p14:creationId xmlns:p14="http://schemas.microsoft.com/office/powerpoint/2010/main" val="1682072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254FB97-EB53-1442-82F8-8DF6B436835D}"/>
              </a:ext>
            </a:extLst>
          </p:cNvPr>
          <p:cNvPicPr>
            <a:picLocks noGrp="1" noChangeAspect="1"/>
          </p:cNvPicPr>
          <p:nvPr>
            <p:ph idx="1"/>
          </p:nvPr>
        </p:nvPicPr>
        <p:blipFill>
          <a:blip r:embed="rId2"/>
          <a:stretch>
            <a:fillRect/>
          </a:stretch>
        </p:blipFill>
        <p:spPr>
          <a:xfrm>
            <a:off x="453299" y="1858635"/>
            <a:ext cx="11027501" cy="3331929"/>
          </a:xfrm>
          <a:prstGeom prst="rect">
            <a:avLst/>
          </a:prstGeom>
        </p:spPr>
      </p:pic>
      <p:sp>
        <p:nvSpPr>
          <p:cNvPr id="3" name="Slide Number Placeholder 2">
            <a:extLst>
              <a:ext uri="{FF2B5EF4-FFF2-40B4-BE49-F238E27FC236}">
                <a16:creationId xmlns:a16="http://schemas.microsoft.com/office/drawing/2014/main" id="{E4001C89-30B0-4D70-892A-3C2D62E06EA7}"/>
              </a:ext>
            </a:extLst>
          </p:cNvPr>
          <p:cNvSpPr>
            <a:spLocks noGrp="1"/>
          </p:cNvSpPr>
          <p:nvPr>
            <p:ph type="sldNum" sz="quarter" idx="12"/>
          </p:nvPr>
        </p:nvSpPr>
        <p:spPr/>
        <p:txBody>
          <a:bodyPr/>
          <a:lstStyle/>
          <a:p>
            <a:fld id="{89D00882-420D-446F-B065-6675A463A27F}" type="slidenum">
              <a:rPr lang="en-US" smtClean="0"/>
              <a:pPr/>
              <a:t>30</a:t>
            </a:fld>
            <a:endParaRPr lang="en-US"/>
          </a:p>
        </p:txBody>
      </p:sp>
    </p:spTree>
    <p:extLst>
      <p:ext uri="{BB962C8B-B14F-4D97-AF65-F5344CB8AC3E}">
        <p14:creationId xmlns:p14="http://schemas.microsoft.com/office/powerpoint/2010/main" val="2384660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ducing Model Size - Language Models · Sujay S Kumar">
            <a:extLst>
              <a:ext uri="{FF2B5EF4-FFF2-40B4-BE49-F238E27FC236}">
                <a16:creationId xmlns:a16="http://schemas.microsoft.com/office/drawing/2014/main" id="{711CEC19-4161-33DB-0D49-4D11A1D466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38200" y="1675256"/>
            <a:ext cx="9220200" cy="4863656"/>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F387B3E6-C8BB-4E19-BC27-BD0A09D2F9C2}"/>
              </a:ext>
            </a:extLst>
          </p:cNvPr>
          <p:cNvSpPr>
            <a:spLocks noGrp="1"/>
          </p:cNvSpPr>
          <p:nvPr>
            <p:ph type="title"/>
          </p:nvPr>
        </p:nvSpPr>
        <p:spPr/>
        <p:txBody>
          <a:bodyPr/>
          <a:lstStyle/>
          <a:p>
            <a:r>
              <a:rPr lang="en-US" dirty="0"/>
              <a:t>Scale in #parameters</a:t>
            </a:r>
          </a:p>
        </p:txBody>
      </p:sp>
      <p:sp>
        <p:nvSpPr>
          <p:cNvPr id="4" name="Slide Number Placeholder 3">
            <a:extLst>
              <a:ext uri="{FF2B5EF4-FFF2-40B4-BE49-F238E27FC236}">
                <a16:creationId xmlns:a16="http://schemas.microsoft.com/office/drawing/2014/main" id="{60C174CE-A2B8-44F4-A342-36C3C2908019}"/>
              </a:ext>
            </a:extLst>
          </p:cNvPr>
          <p:cNvSpPr>
            <a:spLocks noGrp="1"/>
          </p:cNvSpPr>
          <p:nvPr>
            <p:ph type="sldNum" sz="quarter" idx="12"/>
          </p:nvPr>
        </p:nvSpPr>
        <p:spPr/>
        <p:txBody>
          <a:bodyPr/>
          <a:lstStyle/>
          <a:p>
            <a:fld id="{89D00882-420D-446F-B065-6675A463A27F}" type="slidenum">
              <a:rPr lang="en-US" smtClean="0"/>
              <a:pPr/>
              <a:t>31</a:t>
            </a:fld>
            <a:endParaRPr lang="en-US"/>
          </a:p>
        </p:txBody>
      </p:sp>
    </p:spTree>
    <p:extLst>
      <p:ext uri="{BB962C8B-B14F-4D97-AF65-F5344CB8AC3E}">
        <p14:creationId xmlns:p14="http://schemas.microsoft.com/office/powerpoint/2010/main" val="2231088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1AA05D-0036-E60C-8661-30380C8E05B7}"/>
              </a:ext>
            </a:extLst>
          </p:cNvPr>
          <p:cNvSpPr>
            <a:spLocks noGrp="1"/>
          </p:cNvSpPr>
          <p:nvPr>
            <p:ph type="title"/>
          </p:nvPr>
        </p:nvSpPr>
        <p:spPr/>
        <p:txBody>
          <a:bodyPr/>
          <a:lstStyle/>
          <a:p>
            <a:r>
              <a:rPr lang="en-US" dirty="0"/>
              <a:t>Scale in #words</a:t>
            </a:r>
          </a:p>
        </p:txBody>
      </p:sp>
      <p:pic>
        <p:nvPicPr>
          <p:cNvPr id="3" name="Picture 2">
            <a:extLst>
              <a:ext uri="{FF2B5EF4-FFF2-40B4-BE49-F238E27FC236}">
                <a16:creationId xmlns:a16="http://schemas.microsoft.com/office/drawing/2014/main" id="{80467DA8-0DEA-D21A-A9CE-1C937F962049}"/>
              </a:ext>
            </a:extLst>
          </p:cNvPr>
          <p:cNvPicPr>
            <a:picLocks noChangeAspect="1"/>
          </p:cNvPicPr>
          <p:nvPr/>
        </p:nvPicPr>
        <p:blipFill rotWithShape="1">
          <a:blip r:embed="rId2"/>
          <a:srcRect t="1" r="31123" b="9840"/>
          <a:stretch/>
        </p:blipFill>
        <p:spPr>
          <a:xfrm>
            <a:off x="2999664" y="1481184"/>
            <a:ext cx="6692976" cy="3656081"/>
          </a:xfrm>
          <a:prstGeom prst="rect">
            <a:avLst/>
          </a:prstGeom>
        </p:spPr>
      </p:pic>
      <p:sp>
        <p:nvSpPr>
          <p:cNvPr id="4" name="TextBox 3">
            <a:extLst>
              <a:ext uri="{FF2B5EF4-FFF2-40B4-BE49-F238E27FC236}">
                <a16:creationId xmlns:a16="http://schemas.microsoft.com/office/drawing/2014/main" id="{EA316F0C-A8B0-2392-BD8C-264EAB4EED23}"/>
              </a:ext>
            </a:extLst>
          </p:cNvPr>
          <p:cNvSpPr txBox="1"/>
          <p:nvPr/>
        </p:nvSpPr>
        <p:spPr>
          <a:xfrm>
            <a:off x="5070763" y="5868785"/>
            <a:ext cx="3145413" cy="400110"/>
          </a:xfrm>
          <a:prstGeom prst="rect">
            <a:avLst/>
          </a:prstGeom>
          <a:noFill/>
        </p:spPr>
        <p:txBody>
          <a:bodyPr wrap="none" rtlCol="0">
            <a:spAutoFit/>
          </a:bodyPr>
          <a:lstStyle/>
          <a:p>
            <a:r>
              <a:rPr lang="en-US" sz="2000" dirty="0"/>
              <a:t>#tokens seen during training</a:t>
            </a:r>
          </a:p>
        </p:txBody>
      </p:sp>
      <p:sp>
        <p:nvSpPr>
          <p:cNvPr id="7" name="Slide Number Placeholder 6">
            <a:extLst>
              <a:ext uri="{FF2B5EF4-FFF2-40B4-BE49-F238E27FC236}">
                <a16:creationId xmlns:a16="http://schemas.microsoft.com/office/drawing/2014/main" id="{1B793E67-2669-4D3E-B156-48D7DE5EFC65}"/>
              </a:ext>
            </a:extLst>
          </p:cNvPr>
          <p:cNvSpPr>
            <a:spLocks noGrp="1"/>
          </p:cNvSpPr>
          <p:nvPr>
            <p:ph type="sldNum" sz="quarter" idx="12"/>
          </p:nvPr>
        </p:nvSpPr>
        <p:spPr/>
        <p:txBody>
          <a:bodyPr/>
          <a:lstStyle/>
          <a:p>
            <a:fld id="{89D00882-420D-446F-B065-6675A463A27F}" type="slidenum">
              <a:rPr lang="en-US" smtClean="0"/>
              <a:pPr/>
              <a:t>32</a:t>
            </a:fld>
            <a:endParaRPr lang="en-US"/>
          </a:p>
        </p:txBody>
      </p:sp>
    </p:spTree>
    <p:extLst>
      <p:ext uri="{BB962C8B-B14F-4D97-AF65-F5344CB8AC3E}">
        <p14:creationId xmlns:p14="http://schemas.microsoft.com/office/powerpoint/2010/main" val="4031870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D26FB23-FF98-64C1-3399-AB7BACEC9030}"/>
              </a:ext>
            </a:extLst>
          </p:cNvPr>
          <p:cNvPicPr>
            <a:picLocks noGrp="1" noChangeAspect="1"/>
          </p:cNvPicPr>
          <p:nvPr>
            <p:ph idx="1"/>
          </p:nvPr>
        </p:nvPicPr>
        <p:blipFill>
          <a:blip r:embed="rId2"/>
          <a:stretch>
            <a:fillRect/>
          </a:stretch>
        </p:blipFill>
        <p:spPr>
          <a:xfrm>
            <a:off x="1731302" y="1382573"/>
            <a:ext cx="8334375" cy="3733800"/>
          </a:xfrm>
        </p:spPr>
      </p:pic>
      <p:sp>
        <p:nvSpPr>
          <p:cNvPr id="3" name="Title 2">
            <a:extLst>
              <a:ext uri="{FF2B5EF4-FFF2-40B4-BE49-F238E27FC236}">
                <a16:creationId xmlns:a16="http://schemas.microsoft.com/office/drawing/2014/main" id="{5956E9D5-C9D5-6757-BC09-6C6476B96E83}"/>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85D04935-54B7-C7E3-8B8A-EAEFCDC9458A}"/>
              </a:ext>
            </a:extLst>
          </p:cNvPr>
          <p:cNvSpPr>
            <a:spLocks noGrp="1"/>
          </p:cNvSpPr>
          <p:nvPr>
            <p:ph type="sldNum" sz="quarter" idx="12"/>
          </p:nvPr>
        </p:nvSpPr>
        <p:spPr/>
        <p:txBody>
          <a:bodyPr/>
          <a:lstStyle/>
          <a:p>
            <a:fld id="{89D00882-420D-446F-B065-6675A463A27F}" type="slidenum">
              <a:rPr lang="en-US" smtClean="0"/>
              <a:pPr/>
              <a:t>33</a:t>
            </a:fld>
            <a:endParaRPr lang="en-US"/>
          </a:p>
        </p:txBody>
      </p:sp>
      <p:sp>
        <p:nvSpPr>
          <p:cNvPr id="8" name="TextBox 7">
            <a:extLst>
              <a:ext uri="{FF2B5EF4-FFF2-40B4-BE49-F238E27FC236}">
                <a16:creationId xmlns:a16="http://schemas.microsoft.com/office/drawing/2014/main" id="{9CADD0DA-AAAB-172E-4B30-215ED4D42E7D}"/>
              </a:ext>
            </a:extLst>
          </p:cNvPr>
          <p:cNvSpPr txBox="1"/>
          <p:nvPr/>
        </p:nvSpPr>
        <p:spPr>
          <a:xfrm>
            <a:off x="4343401" y="5892394"/>
            <a:ext cx="2766974" cy="261610"/>
          </a:xfrm>
          <a:prstGeom prst="rect">
            <a:avLst/>
          </a:prstGeom>
          <a:noFill/>
        </p:spPr>
        <p:txBody>
          <a:bodyPr wrap="square">
            <a:spAutoFit/>
          </a:bodyPr>
          <a:lstStyle/>
          <a:p>
            <a:pPr algn="ctr"/>
            <a:r>
              <a:rPr lang="en-US" sz="1100" dirty="0"/>
              <a:t>jalammar.github.io</a:t>
            </a:r>
          </a:p>
        </p:txBody>
      </p:sp>
    </p:spTree>
    <p:extLst>
      <p:ext uri="{BB962C8B-B14F-4D97-AF65-F5344CB8AC3E}">
        <p14:creationId xmlns:p14="http://schemas.microsoft.com/office/powerpoint/2010/main" val="1039884243"/>
      </p:ext>
    </p:extLst>
  </p:cSld>
  <p:clrMapOvr>
    <a:masterClrMapping/>
  </p:clrMapOvr>
</p:sld>
</file>

<file path=ppt/theme/theme1.xml><?xml version="1.0" encoding="utf-8"?>
<a:theme xmlns:a="http://schemas.openxmlformats.org/drawingml/2006/main" name="Mai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2"/>
        </a:lnRef>
        <a:fillRef idx="2">
          <a:schemeClr val="accent2"/>
        </a:fillRef>
        <a:effectRef idx="1">
          <a:schemeClr val="accent2"/>
        </a:effectRef>
        <a:fontRef idx="minor">
          <a:schemeClr val="dk1"/>
        </a:fontRef>
      </a:style>
    </a:spDef>
    <a:lnDef>
      <a:spPr>
        <a:ln w="1905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Big data template.pptx" id="{20A2C686-B26B-470E-A460-CDE7F6DF3BDB}" vid="{FEDE971F-BDA7-4940-B809-146585AB44A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8B597DB40EB548A2BE0F2D7EA3D291" ma:contentTypeVersion="4" ma:contentTypeDescription="Create a new document." ma:contentTypeScope="" ma:versionID="67aa8a13b95130bbc34076cb2215820b">
  <xsd:schema xmlns:xsd="http://www.w3.org/2001/XMLSchema" xmlns:xs="http://www.w3.org/2001/XMLSchema" xmlns:p="http://schemas.microsoft.com/office/2006/metadata/properties" xmlns:ns2="2f15783b-9d66-4350-8efe-5d8255e1b625" targetNamespace="http://schemas.microsoft.com/office/2006/metadata/properties" ma:root="true" ma:fieldsID="05d6e0c51ef7f9e31959f5f4da9e6eb0" ns2:_="">
    <xsd:import namespace="2f15783b-9d66-4350-8efe-5d8255e1b62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15783b-9d66-4350-8efe-5d8255e1b6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5F47D6-4F1E-4955-ADBF-D4E8009EA5BA}"/>
</file>

<file path=customXml/itemProps2.xml><?xml version="1.0" encoding="utf-8"?>
<ds:datastoreItem xmlns:ds="http://schemas.openxmlformats.org/officeDocument/2006/customXml" ds:itemID="{E00100EB-C1C9-4791-8589-88AB6BEB4130}"/>
</file>

<file path=customXml/itemProps3.xml><?xml version="1.0" encoding="utf-8"?>
<ds:datastoreItem xmlns:ds="http://schemas.openxmlformats.org/officeDocument/2006/customXml" ds:itemID="{BD9E1A10-329C-4E35-9179-D0F8B20A7AE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Big data template</Template>
  <TotalTime>10697</TotalTime>
  <Words>968</Words>
  <Application>Microsoft Office PowerPoint</Application>
  <PresentationFormat>Widescreen</PresentationFormat>
  <Paragraphs>124</Paragraphs>
  <Slides>33</Slides>
  <Notes>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Cambria Math</vt:lpstr>
      <vt:lpstr>Courier New</vt:lpstr>
      <vt:lpstr>Times New Roman</vt:lpstr>
      <vt:lpstr>Wingdings</vt:lpstr>
      <vt:lpstr>Main</vt:lpstr>
      <vt:lpstr>GPT: Generative Pre-trained Transformer</vt:lpstr>
      <vt:lpstr>History of OpenAI GPT models</vt:lpstr>
      <vt:lpstr>History of OpenAI GPT models</vt:lpstr>
      <vt:lpstr>PowerPoint Presentation</vt:lpstr>
      <vt:lpstr>OpenAI GPT-1</vt:lpstr>
      <vt:lpstr>GPT1 fine-tunes linear layers for each task</vt:lpstr>
      <vt:lpstr>PowerPoint Presentation</vt:lpstr>
      <vt:lpstr>OpenAI GPT-2</vt:lpstr>
      <vt:lpstr>OpenAI GPT-2: Data and Training</vt:lpstr>
      <vt:lpstr>OpenAI GPT-2 Architecture and Model Sizes</vt:lpstr>
      <vt:lpstr>OpenAI GPT-2: Zero shot results</vt:lpstr>
      <vt:lpstr>PowerPoint Presentation</vt:lpstr>
      <vt:lpstr>Continued log-linear improvement with model size</vt:lpstr>
      <vt:lpstr>GPT-3 (Brown et al. 2020)</vt:lpstr>
      <vt:lpstr>GPT-3</vt:lpstr>
      <vt:lpstr>Models and Architectures</vt:lpstr>
      <vt:lpstr>Training data</vt:lpstr>
      <vt:lpstr>Training compute</vt:lpstr>
      <vt:lpstr>Emergent in-context learning</vt:lpstr>
      <vt:lpstr>GPT-3 </vt:lpstr>
      <vt:lpstr>GPT-3</vt:lpstr>
      <vt:lpstr>PowerPoint Presentation</vt:lpstr>
      <vt:lpstr>SuperGLUE </vt:lpstr>
      <vt:lpstr>PowerPoint Presentation</vt:lpstr>
      <vt:lpstr>GPT-3 Arithmetic</vt:lpstr>
      <vt:lpstr>PowerPoint Presentation</vt:lpstr>
      <vt:lpstr>GPT-3 results summary</vt:lpstr>
      <vt:lpstr>PowerPoint Presentation</vt:lpstr>
      <vt:lpstr>Limitations of Pretraining  Fine-tuning</vt:lpstr>
      <vt:lpstr>PowerPoint Presentation</vt:lpstr>
      <vt:lpstr>Scale in #parameters</vt:lpstr>
      <vt:lpstr>Scale in #words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 Models in Natural Language Processing</dc:title>
  <dc:creator>Yadollah Yaghoobzadeh</dc:creator>
  <cp:lastModifiedBy>Yadollah Yaghoobzadeh</cp:lastModifiedBy>
  <cp:revision>154</cp:revision>
  <dcterms:created xsi:type="dcterms:W3CDTF">2021-09-22T08:38:12Z</dcterms:created>
  <dcterms:modified xsi:type="dcterms:W3CDTF">2024-03-13T07:15:44Z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0x010100008B597DB40EB548A2BE0F2D7EA3D291</vt:lpwstr>
  </property>
</Properties>
</file>