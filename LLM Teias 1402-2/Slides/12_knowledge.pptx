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367" r:id="rId2"/>
    <p:sldId id="318" r:id="rId3"/>
    <p:sldId id="319" r:id="rId4"/>
    <p:sldId id="320" r:id="rId5"/>
    <p:sldId id="260" r:id="rId6"/>
    <p:sldId id="321" r:id="rId7"/>
    <p:sldId id="322" r:id="rId8"/>
    <p:sldId id="323" r:id="rId9"/>
    <p:sldId id="324" r:id="rId10"/>
    <p:sldId id="378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6" r:id="rId52"/>
    <p:sldId id="368" r:id="rId53"/>
    <p:sldId id="369" r:id="rId54"/>
    <p:sldId id="370" r:id="rId55"/>
    <p:sldId id="377" r:id="rId56"/>
    <p:sldId id="280" r:id="rId57"/>
    <p:sldId id="306" r:id="rId58"/>
    <p:sldId id="307" r:id="rId59"/>
    <p:sldId id="375" r:id="rId60"/>
    <p:sldId id="374" r:id="rId6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56" autoAdjust="0"/>
    <p:restoredTop sz="85146" autoAdjust="0"/>
  </p:normalViewPr>
  <p:slideViewPr>
    <p:cSldViewPr snapToGrid="0">
      <p:cViewPr>
        <p:scale>
          <a:sx n="76" d="100"/>
          <a:sy n="76" d="100"/>
        </p:scale>
        <p:origin x="12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5336" y="5076735"/>
            <a:ext cx="34933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91440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914400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00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240" y="3064057"/>
            <a:ext cx="8341520" cy="969781"/>
          </a:xfrm>
        </p:spPr>
        <p:txBody>
          <a:bodyPr/>
          <a:lstStyle>
            <a:lvl1pPr marL="182880" algn="l"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182721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25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29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AA883-74D8-4E5F-3B42-4A513F5B4EF5}"/>
              </a:ext>
            </a:extLst>
          </p:cNvPr>
          <p:cNvSpPr txBox="1"/>
          <p:nvPr userDrawn="1"/>
        </p:nvSpPr>
        <p:spPr>
          <a:xfrm>
            <a:off x="228600" y="6488668"/>
            <a:ext cx="16764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FMNLP 1402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CC967D-ACA9-6FE2-3146-C1E61176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A1ADD3-1404-E884-5F21-CD0607B48772}"/>
              </a:ext>
            </a:extLst>
          </p:cNvPr>
          <p:cNvCxnSpPr>
            <a:cxnSpLocks/>
          </p:cNvCxnSpPr>
          <p:nvPr userDrawn="1"/>
        </p:nvCxnSpPr>
        <p:spPr>
          <a:xfrm>
            <a:off x="266699" y="9779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4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DAF5-D2F2-4A6A-9A50-DC91D1863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56D40-4705-4578-AA3A-8B42F7150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34AB-FC8A-4E4A-A365-B42FDEE7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158D5-7A90-4721-962A-E8052A7B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EA5AB-CAA4-3CDD-BB6E-EE25B649B191}"/>
              </a:ext>
            </a:extLst>
          </p:cNvPr>
          <p:cNvSpPr txBox="1"/>
          <p:nvPr userDrawn="1"/>
        </p:nvSpPr>
        <p:spPr>
          <a:xfrm>
            <a:off x="228600" y="6488668"/>
            <a:ext cx="16764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FMNLP 1402</a:t>
            </a:r>
          </a:p>
        </p:txBody>
      </p:sp>
    </p:spTree>
    <p:extLst>
      <p:ext uri="{BB962C8B-B14F-4D97-AF65-F5344CB8AC3E}">
        <p14:creationId xmlns:p14="http://schemas.microsoft.com/office/powerpoint/2010/main" val="368021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79" r:id="rId4"/>
    <p:sldLayoutId id="2147483664" r:id="rId5"/>
    <p:sldLayoutId id="2147483665" r:id="rId6"/>
    <p:sldLayoutId id="2147483673" r:id="rId7"/>
    <p:sldLayoutId id="2147483676" r:id="rId8"/>
    <p:sldLayoutId id="2147483680" r:id="rId9"/>
    <p:sldLayoutId id="2147483681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09.01066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09.01066" TargetMode="Externa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2.08910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2020.emnlp-main.437/" TargetMode="External"/><Relationship Id="rId2" Type="http://schemas.openxmlformats.org/officeDocument/2006/relationships/hyperlink" Target="https://arxiv.org/abs/1909.01066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rxiv.org/pdf/2010.02413.pdf" TargetMode="External"/><Relationship Id="rId5" Type="http://schemas.openxmlformats.org/officeDocument/2006/relationships/hyperlink" Target="http://cidrdb.org/cidr2021/papers/cidr2021_paper13.pdf" TargetMode="Externa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xiv.org/abs/1905.07129" TargetMode="Externa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lweb.org/anthology/2020.findings-emnlp.71/" TargetMode="Externa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lweb.org/anthology/D19-1005.pdf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aclweb.org/anthology/P19-1598/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www.aclweb.org/anthology/P19-1598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11.00172" TargetMode="Externa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png"/><Relationship Id="rId21" Type="http://schemas.openxmlformats.org/officeDocument/2006/relationships/image" Target="../media/image78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12.09637.pdf" TargetMode="Externa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hyperlink" Target="https://arxiv.org/abs/1904.09223" TargetMode="Externa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1.png"/><Relationship Id="rId11" Type="http://schemas.openxmlformats.org/officeDocument/2006/relationships/hyperlink" Target="https://arxiv.org/abs/2002.08909" TargetMode="External"/><Relationship Id="rId5" Type="http://schemas.openxmlformats.org/officeDocument/2006/relationships/image" Target="../media/image100.png"/><Relationship Id="rId10" Type="http://schemas.openxmlformats.org/officeDocument/2006/relationships/hyperlink" Target="https://arxiv.org/pdf/2002.08910.pdf" TargetMode="External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hyperlink" Target="https://www.aclweb.org/anthology/D19-1250.pdf" TargetMode="Externa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lweb.org/anthology/2020.findings-emnlp.71.pdf" TargetMode="Externa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hyperlink" Target="https://www.aclweb.org/anthology/2020.tacl-1.28.pdf" TargetMode="Externa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08387.pdf" TargetMode="External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08387.pdf" TargetMode="Externa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08387.pdf" TargetMode="Externa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hyperlink" Target="https://proceedings.mlr.press/v202/kandpal23a/kandpal23a.pdf" TargetMode="Externa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Integrating Knowledge</a:t>
            </a:r>
            <a:r>
              <a:rPr lang="en-US" sz="4400" spc="5" dirty="0">
                <a:latin typeface="Calibri"/>
                <a:cs typeface="Calibri"/>
              </a:rPr>
              <a:t> </a:t>
            </a:r>
            <a:r>
              <a:rPr lang="en-US" sz="4400" dirty="0">
                <a:latin typeface="Calibri"/>
                <a:cs typeface="Calibri"/>
              </a:rPr>
              <a:t>in</a:t>
            </a:r>
            <a:r>
              <a:rPr lang="en-US" sz="4400" spc="5" dirty="0">
                <a:latin typeface="Calibri"/>
                <a:cs typeface="Calibri"/>
              </a:rPr>
              <a:t> </a:t>
            </a:r>
            <a:r>
              <a:rPr lang="en-US" sz="4400" dirty="0">
                <a:latin typeface="Calibri"/>
                <a:cs typeface="Calibri"/>
              </a:rPr>
              <a:t>Language</a:t>
            </a:r>
            <a:r>
              <a:rPr lang="en-US" sz="4400" spc="5" dirty="0">
                <a:latin typeface="Calibri"/>
                <a:cs typeface="Calibri"/>
              </a:rPr>
              <a:t> </a:t>
            </a:r>
            <a:r>
              <a:rPr lang="en-US" sz="4400" spc="-10" dirty="0">
                <a:latin typeface="Calibri"/>
                <a:cs typeface="Calibri"/>
              </a:rPr>
              <a:t>Models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71045" y="6328860"/>
            <a:ext cx="6097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Most slides are from Natural</a:t>
            </a:r>
            <a:r>
              <a:rPr lang="en-US" sz="1100" spc="-15" dirty="0"/>
              <a:t> </a:t>
            </a:r>
            <a:r>
              <a:rPr lang="en-US" sz="1100" dirty="0"/>
              <a:t>Language</a:t>
            </a:r>
            <a:r>
              <a:rPr lang="en-US" sz="1100" spc="-5" dirty="0"/>
              <a:t> </a:t>
            </a:r>
            <a:r>
              <a:rPr lang="en-US" sz="1100" spc="-10" dirty="0"/>
              <a:t>Processing </a:t>
            </a:r>
            <a:r>
              <a:rPr lang="en-US" sz="1100" dirty="0"/>
              <a:t>with</a:t>
            </a:r>
            <a:r>
              <a:rPr lang="en-US" sz="1100" spc="-5" dirty="0"/>
              <a:t> </a:t>
            </a:r>
            <a:r>
              <a:rPr lang="en-US" sz="1100" dirty="0"/>
              <a:t>Deep </a:t>
            </a:r>
            <a:r>
              <a:rPr lang="en-US" sz="1100" spc="-10" dirty="0"/>
              <a:t>Learning, Stanford CS224N/Ling284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FC31F6-4770-66A1-D054-59EC8675D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1006" marR="0" lvl="0" indent="-456342" algn="l" defTabSz="914400" rtl="0" eaLnBrk="1" fontAlgn="base" latinLnBrk="0" hangingPunct="1">
              <a:lnSpc>
                <a:spcPct val="100000"/>
              </a:lnSpc>
              <a:spcBef>
                <a:spcPts val="707"/>
              </a:spcBef>
              <a:spcAft>
                <a:spcPct val="0"/>
              </a:spcAft>
              <a:buClr>
                <a:srgbClr val="8C1515"/>
              </a:buClr>
              <a:buSzTx/>
              <a:buFontTx/>
              <a:buAutoNum type="arabicPeriod"/>
              <a:tabLst>
                <a:tab pos="541006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Recap:</a:t>
            </a:r>
            <a:r>
              <a:rPr kumimoji="0" lang="en-US" sz="2400" b="0" i="0" u="none" strike="noStrike" kern="1200" cap="none" spc="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US" sz="2400" b="0" i="0" u="none" strike="noStrike" kern="1200" cap="none" spc="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models </a:t>
            </a:r>
            <a:r>
              <a:rPr kumimoji="0" lang="en-US" sz="2400" b="0" i="0" u="none" strike="noStrike" kern="1200" cap="none" spc="-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(LMs)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41006" marR="0" lvl="0" indent="-456342" algn="l" defTabSz="914400" rtl="0" eaLnBrk="1" fontAlgn="base" latinLnBrk="0" hangingPunct="1">
              <a:lnSpc>
                <a:spcPct val="100000"/>
              </a:lnSpc>
              <a:spcBef>
                <a:spcPts val="579"/>
              </a:spcBef>
              <a:spcAft>
                <a:spcPct val="0"/>
              </a:spcAft>
              <a:buClr>
                <a:srgbClr val="8C1515"/>
              </a:buClr>
              <a:buSzTx/>
              <a:buFontTx/>
              <a:buAutoNum type="arabicPeriod"/>
              <a:tabLst>
                <a:tab pos="541006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 a LM 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41006" marR="0" lvl="0" indent="-456342" algn="l" defTabSz="914400" rtl="0" eaLnBrk="1" fontAlgn="base" latinLnBrk="0" hangingPunct="1">
              <a:lnSpc>
                <a:spcPct val="100000"/>
              </a:lnSpc>
              <a:spcBef>
                <a:spcPts val="607"/>
              </a:spcBef>
              <a:spcAft>
                <a:spcPct val="0"/>
              </a:spcAft>
              <a:buClr>
                <a:srgbClr val="8C1515"/>
              </a:buClr>
              <a:buSzTx/>
              <a:buFontTx/>
              <a:buAutoNum type="arabicPeriod"/>
              <a:tabLst>
                <a:tab pos="541006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Techniques</a:t>
            </a:r>
            <a:r>
              <a:rPr kumimoji="0" lang="en-US" sz="2400" b="0" i="0" u="none" strike="noStrike" kern="1200" cap="none" spc="-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add knowledge</a:t>
            </a:r>
            <a:r>
              <a:rPr kumimoji="0" lang="en-US" sz="2400" b="0" i="0" u="none" strike="noStrike" kern="1200" cap="none" spc="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US" sz="2400" b="0" i="0" u="none" strike="noStrike" kern="1200" cap="none" spc="-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98195" marR="0" lvl="1" indent="-456342" algn="l" defTabSz="914400" rtl="0" eaLnBrk="1" fontAlgn="base" latinLnBrk="0" hangingPunct="1">
              <a:lnSpc>
                <a:spcPct val="100000"/>
              </a:lnSpc>
              <a:spcBef>
                <a:spcPts val="573"/>
              </a:spcBef>
              <a:spcAft>
                <a:spcPct val="0"/>
              </a:spcAft>
              <a:buClr>
                <a:srgbClr val="007C92"/>
              </a:buClr>
              <a:buSzTx/>
              <a:buFontTx/>
              <a:buAutoNum type="arabicPeriod"/>
              <a:tabLst>
                <a:tab pos="99819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Add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pretrained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entity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embeddings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98195" marR="0" lvl="1" indent="-456342" algn="l" defTabSz="914400" rtl="0" eaLnBrk="1" fontAlgn="base" latinLnBrk="0" hangingPunct="1">
              <a:lnSpc>
                <a:spcPct val="100000"/>
              </a:lnSpc>
              <a:spcBef>
                <a:spcPts val="579"/>
              </a:spcBef>
              <a:spcAft>
                <a:spcPct val="0"/>
              </a:spcAft>
              <a:buClr>
                <a:srgbClr val="007C92"/>
              </a:buClr>
              <a:buSzTx/>
              <a:buFontTx/>
              <a:buAutoNum type="arabicPeriod"/>
              <a:tabLst>
                <a:tab pos="99819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external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memory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98195" marR="0" lvl="1" indent="-456342" algn="l" defTabSz="914400" rtl="0" eaLnBrk="1" fontAlgn="base" latinLnBrk="0" hangingPunct="1">
              <a:lnSpc>
                <a:spcPct val="100000"/>
              </a:lnSpc>
              <a:spcBef>
                <a:spcPts val="479"/>
              </a:spcBef>
              <a:spcAft>
                <a:spcPct val="0"/>
              </a:spcAft>
              <a:buClr>
                <a:srgbClr val="007C92"/>
              </a:buClr>
              <a:buSzTx/>
              <a:buFontTx/>
              <a:buAutoNum type="arabicPeriod"/>
              <a:tabLst>
                <a:tab pos="99819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Modify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US" sz="2400" b="0" i="0" u="none" strike="noStrike" kern="1200" cap="none" spc="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training </a:t>
            </a:r>
            <a:r>
              <a:rPr kumimoji="0" lang="en-US" sz="2400" b="0" i="0" u="none" strike="noStrike" kern="1200" cap="none" spc="-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41006" marR="0" lvl="1" indent="-456342" algn="l" defTabSz="914400" rtl="0" eaLnBrk="1" fontAlgn="base" latinLnBrk="0" hangingPunct="1">
              <a:lnSpc>
                <a:spcPct val="100000"/>
              </a:lnSpc>
              <a:spcBef>
                <a:spcPts val="573"/>
              </a:spcBef>
              <a:spcAft>
                <a:spcPct val="0"/>
              </a:spcAft>
              <a:buClr>
                <a:srgbClr val="8C1515"/>
              </a:buClr>
              <a:buSzTx/>
              <a:buFontTx/>
              <a:buAutoNum type="arabicPeriod"/>
              <a:tabLst>
                <a:tab pos="541006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Evaluating</a:t>
            </a:r>
            <a:r>
              <a:rPr kumimoji="0" lang="en-US" sz="2400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US" sz="2400" b="0" i="0" u="none" strike="noStrike" kern="1200" cap="none" spc="-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-3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LMs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lang="en-US"/>
              <a:t>Lecture</a:t>
            </a:r>
            <a:r>
              <a:rPr lang="en-US" spc="-20"/>
              <a:t> </a:t>
            </a:r>
            <a:r>
              <a:rPr lang="en-US" spc="-27"/>
              <a:t>Plan</a:t>
            </a:r>
            <a:endParaRPr lang="en-US" spc="-27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</a:t>
            </a:fld>
            <a:endParaRPr spc="-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Recap: LMs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fld id="{81D60167-4931-47E6-BA6A-407CBD079E4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43654" y="1169754"/>
            <a:ext cx="10904220" cy="46161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27556" marR="710336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427556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Standard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language</a:t>
            </a:r>
            <a:r>
              <a:rPr sz="2400" spc="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models</a:t>
            </a:r>
            <a:r>
              <a:rPr sz="2400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next word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sequence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text and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compute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probability of a </a:t>
            </a:r>
            <a:r>
              <a:rPr sz="2400" spc="-13" dirty="0">
                <a:latin typeface="Calibri"/>
                <a:cs typeface="Calibri"/>
              </a:rPr>
              <a:t>sequence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742173"/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students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opened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their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920" dirty="0">
                <a:latin typeface="Calibri"/>
                <a:cs typeface="Calibri"/>
              </a:rPr>
              <a:t>_</a:t>
            </a:r>
            <a:r>
              <a:rPr sz="3600" b="1" i="1" spc="-29" baseline="9259" dirty="0">
                <a:solidFill>
                  <a:srgbClr val="00B050"/>
                </a:solidFill>
                <a:latin typeface="Calibri"/>
                <a:cs typeface="Calibri"/>
              </a:rPr>
              <a:t>b</a:t>
            </a:r>
            <a:r>
              <a:rPr sz="3600" b="1" i="1" u="heavy" spc="-20" baseline="9259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3600" b="1" i="1" u="heavy" spc="-759" baseline="9259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2400" i="1" spc="-720" dirty="0">
                <a:latin typeface="Calibri"/>
                <a:cs typeface="Calibri"/>
              </a:rPr>
              <a:t>_</a:t>
            </a:r>
            <a:r>
              <a:rPr sz="3600" b="1" i="1" spc="-689" baseline="9259" dirty="0">
                <a:solidFill>
                  <a:srgbClr val="00B050"/>
                </a:solidFill>
                <a:latin typeface="Calibri"/>
                <a:cs typeface="Calibri"/>
              </a:rPr>
              <a:t>k</a:t>
            </a:r>
            <a:r>
              <a:rPr sz="2400" i="1" spc="-793" dirty="0">
                <a:latin typeface="Calibri"/>
                <a:cs typeface="Calibri"/>
              </a:rPr>
              <a:t>_</a:t>
            </a:r>
            <a:r>
              <a:rPr sz="3600" b="1" i="1" spc="-269" baseline="9259" dirty="0">
                <a:solidFill>
                  <a:srgbClr val="00B050"/>
                </a:solidFill>
                <a:latin typeface="Calibri"/>
                <a:cs typeface="Calibri"/>
              </a:rPr>
              <a:t>s</a:t>
            </a:r>
            <a:r>
              <a:rPr sz="2400" i="1" spc="-13" dirty="0">
                <a:latin typeface="Calibri"/>
                <a:cs typeface="Calibri"/>
              </a:rPr>
              <a:t>_.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3"/>
              </a:spcBef>
            </a:pPr>
            <a:endParaRPr sz="3267" dirty="0">
              <a:latin typeface="Calibri"/>
              <a:cs typeface="Calibri"/>
            </a:endParaRPr>
          </a:p>
          <a:p>
            <a:pPr marL="427556" marR="170176" indent="-342891">
              <a:lnSpc>
                <a:spcPct val="102200"/>
              </a:lnSpc>
              <a:buClr>
                <a:srgbClr val="8C1515"/>
              </a:buClr>
              <a:buFont typeface="Times New Roman"/>
              <a:buChar char="•"/>
              <a:tabLst>
                <a:tab pos="427556" algn="l"/>
              </a:tabLst>
            </a:pPr>
            <a:r>
              <a:rPr lang="en-US" sz="2400" dirty="0">
                <a:solidFill>
                  <a:srgbClr val="3A87FF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asked language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models</a:t>
            </a:r>
            <a:r>
              <a:rPr sz="2400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BERT)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masked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token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67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bidirectional</a:t>
            </a:r>
            <a:r>
              <a:rPr sz="2400" spc="-13" dirty="0">
                <a:latin typeface="Calibri"/>
                <a:cs typeface="Calibri"/>
              </a:rPr>
              <a:t> context</a:t>
            </a:r>
            <a:endParaRPr sz="2400" dirty="0">
              <a:latin typeface="Calibri"/>
              <a:cs typeface="Calibri"/>
            </a:endParaRPr>
          </a:p>
          <a:p>
            <a:pPr marL="4397477">
              <a:lnSpc>
                <a:spcPts val="2733"/>
              </a:lnSpc>
              <a:spcBef>
                <a:spcPts val="1313"/>
              </a:spcBef>
              <a:tabLst>
                <a:tab pos="6445512" algn="l"/>
              </a:tabLst>
            </a:pPr>
            <a:r>
              <a:rPr sz="2400" b="1" i="1" spc="-27" dirty="0">
                <a:solidFill>
                  <a:srgbClr val="00B050"/>
                </a:solidFill>
                <a:latin typeface="Calibri"/>
                <a:cs typeface="Calibri"/>
              </a:rPr>
              <a:t>went</a:t>
            </a:r>
            <a:r>
              <a:rPr sz="2400" b="1" i="1" dirty="0">
                <a:solidFill>
                  <a:srgbClr val="00B050"/>
                </a:solidFill>
                <a:latin typeface="Calibri"/>
                <a:cs typeface="Calibri"/>
              </a:rPr>
              <a:t>	</a:t>
            </a:r>
            <a:r>
              <a:rPr sz="2400" b="1" i="1" spc="-13" dirty="0">
                <a:solidFill>
                  <a:srgbClr val="00B050"/>
                </a:solidFill>
                <a:latin typeface="Calibri"/>
                <a:cs typeface="Calibri"/>
              </a:rPr>
              <a:t>store</a:t>
            </a:r>
            <a:endParaRPr sz="2400" dirty="0">
              <a:latin typeface="Calibri"/>
              <a:cs typeface="Calibri"/>
            </a:endParaRPr>
          </a:p>
          <a:p>
            <a:pPr marL="399617" algn="ctr">
              <a:lnSpc>
                <a:spcPts val="2733"/>
              </a:lnSpc>
            </a:pP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ourier New"/>
                <a:cs typeface="Courier New"/>
              </a:rPr>
              <a:t>[MASK]</a:t>
            </a:r>
            <a:r>
              <a:rPr sz="2400" i="1" spc="-53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ourier New"/>
                <a:cs typeface="Courier New"/>
              </a:rPr>
              <a:t>[MASK]</a:t>
            </a:r>
            <a:r>
              <a:rPr sz="2400" i="1" spc="-13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73"/>
              </a:spcBef>
            </a:pPr>
            <a:endParaRPr sz="3267" dirty="0">
              <a:latin typeface="Calibri"/>
              <a:cs typeface="Calibri"/>
            </a:endParaRPr>
          </a:p>
          <a:p>
            <a:pPr marL="426709" indent="-342045"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dirty="0">
                <a:latin typeface="Calibri"/>
                <a:cs typeface="Calibri"/>
              </a:rPr>
              <a:t>Both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language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 can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 large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unlabeled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text!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Recap: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511387" y="1169754"/>
            <a:ext cx="10700173" cy="437555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9824" marR="343738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Traditionally,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used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involving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generating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evaluating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solidFill>
                  <a:srgbClr val="3A87FF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probability</a:t>
            </a:r>
            <a:r>
              <a:rPr sz="2400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text: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00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13" dirty="0">
                <a:latin typeface="Calibri"/>
                <a:cs typeface="Calibri"/>
              </a:rPr>
              <a:t>Summarization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13" dirty="0">
                <a:latin typeface="Calibri"/>
                <a:cs typeface="Calibri"/>
              </a:rPr>
              <a:t>Dialogue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13" dirty="0">
                <a:latin typeface="Calibri"/>
                <a:cs typeface="Calibri"/>
              </a:rPr>
              <a:t>Autocompletion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translation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Fluency </a:t>
            </a:r>
            <a:r>
              <a:rPr sz="2400" spc="-13" dirty="0">
                <a:latin typeface="Calibri"/>
                <a:cs typeface="Calibri"/>
              </a:rPr>
              <a:t>evaluation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33" dirty="0">
                <a:latin typeface="Calibri"/>
                <a:cs typeface="Calibri"/>
              </a:rPr>
              <a:t>...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33"/>
              </a:spcBef>
              <a:buClr>
                <a:srgbClr val="007C92"/>
              </a:buClr>
              <a:buFont typeface="Times New Roman"/>
              <a:buChar char="•"/>
            </a:pPr>
            <a:endParaRPr sz="3400" dirty="0">
              <a:latin typeface="Calibri"/>
              <a:cs typeface="Calibri"/>
            </a:endParaRPr>
          </a:p>
          <a:p>
            <a:pPr marL="358978" indent="-342045">
              <a:spcBef>
                <a:spcPts val="49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language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 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knowledge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base</a:t>
            </a:r>
            <a:r>
              <a:rPr sz="2400" spc="-13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5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What</a:t>
            </a:r>
            <a:r>
              <a:rPr spc="-33" dirty="0"/>
              <a:t> </a:t>
            </a:r>
            <a:r>
              <a:rPr dirty="0"/>
              <a:t>does</a:t>
            </a:r>
            <a:r>
              <a:rPr spc="-13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model</a:t>
            </a:r>
            <a:r>
              <a:rPr spc="-20" dirty="0"/>
              <a:t> </a:t>
            </a:r>
            <a:r>
              <a:rPr spc="-13" dirty="0"/>
              <a:t>know?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169754"/>
            <a:ext cx="8455660" cy="4762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  <a:tab pos="5043467" algn="l"/>
              </a:tabLst>
            </a:pPr>
            <a:r>
              <a:rPr sz="2400" dirty="0">
                <a:latin typeface="Calibri"/>
                <a:cs typeface="Calibri"/>
              </a:rPr>
              <a:t>iPod Touch is produced 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  <a:tab pos="5891806" algn="l"/>
              </a:tabLst>
            </a:pPr>
            <a:r>
              <a:rPr sz="2400" dirty="0">
                <a:latin typeface="Calibri"/>
                <a:cs typeface="Calibri"/>
              </a:rPr>
              <a:t>London Jazz Festival is located in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  <a:tab pos="4350911" algn="l"/>
              </a:tabLst>
            </a:pPr>
            <a:r>
              <a:rPr sz="2400" dirty="0">
                <a:latin typeface="Calibri"/>
                <a:cs typeface="Calibri"/>
              </a:rPr>
              <a:t>Dani Alves plays with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27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  <a:tab pos="5904506" algn="l"/>
              </a:tabLst>
            </a:pPr>
            <a:r>
              <a:rPr sz="2400" dirty="0">
                <a:latin typeface="Calibri"/>
                <a:cs typeface="Calibri"/>
              </a:rPr>
              <a:t>Carl III used to communicate in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80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  <a:tab pos="2953946" algn="l"/>
              </a:tabLst>
            </a:pPr>
            <a:r>
              <a:rPr sz="2400" dirty="0">
                <a:latin typeface="Calibri"/>
                <a:cs typeface="Calibri"/>
              </a:rPr>
              <a:t>Ravens can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0"/>
              </a:spcBef>
            </a:pPr>
            <a:endParaRPr sz="3267" dirty="0">
              <a:latin typeface="Calibri"/>
              <a:cs typeface="Calibri"/>
            </a:endParaRPr>
          </a:p>
          <a:p>
            <a:pPr marL="16933"/>
            <a:r>
              <a:rPr sz="2400" dirty="0">
                <a:latin typeface="Calibri"/>
                <a:cs typeface="Calibri"/>
              </a:rPr>
              <a:t>Examples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Petroni 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400" dirty="0">
                <a:latin typeface="Calibri"/>
                <a:cs typeface="Calibri"/>
              </a:rPr>
              <a:t>to test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BERT-Large.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6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What</a:t>
            </a:r>
            <a:r>
              <a:rPr spc="-33" dirty="0"/>
              <a:t> </a:t>
            </a:r>
            <a:r>
              <a:rPr dirty="0"/>
              <a:t>does</a:t>
            </a:r>
            <a:r>
              <a:rPr spc="-13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model</a:t>
            </a:r>
            <a:r>
              <a:rPr spc="-20" dirty="0"/>
              <a:t> </a:t>
            </a:r>
            <a:r>
              <a:rPr spc="-13" dirty="0"/>
              <a:t>know?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854" y="1169754"/>
            <a:ext cx="8591127" cy="4762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750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477508" algn="l"/>
                <a:tab pos="4147716" algn="l"/>
                <a:tab pos="5161998" algn="l"/>
              </a:tabLst>
            </a:pPr>
            <a:r>
              <a:rPr sz="2400" dirty="0">
                <a:latin typeface="Calibri"/>
                <a:cs typeface="Calibri"/>
              </a:rPr>
              <a:t>iPod Touch is produced 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3600" u="sng" baseline="18518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sng" spc="-20" baseline="18518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Apple</a:t>
            </a:r>
            <a:r>
              <a:rPr sz="3600" b="1" u="sng" baseline="18518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477508" indent="-342045">
              <a:buClr>
                <a:srgbClr val="8C1515"/>
              </a:buClr>
              <a:buFont typeface="Times New Roman"/>
              <a:buChar char="•"/>
              <a:tabLst>
                <a:tab pos="477508" algn="l"/>
                <a:tab pos="6010336" algn="l"/>
              </a:tabLst>
            </a:pPr>
            <a:r>
              <a:rPr sz="2400" dirty="0">
                <a:latin typeface="Calibri"/>
                <a:cs typeface="Calibri"/>
              </a:rPr>
              <a:t>London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Jazz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Festival is located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3600" u="sng" spc="289" baseline="12345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3600" b="1" u="sng" spc="-20" baseline="12345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London</a:t>
            </a:r>
            <a:r>
              <a:rPr sz="3600" b="1" u="sng" baseline="12345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477508" indent="-342045">
              <a:buClr>
                <a:srgbClr val="8C1515"/>
              </a:buClr>
              <a:buFont typeface="Times New Roman"/>
              <a:buChar char="•"/>
              <a:tabLst>
                <a:tab pos="477508" algn="l"/>
                <a:tab pos="3429761" algn="l"/>
                <a:tab pos="4469442" algn="l"/>
              </a:tabLst>
            </a:pPr>
            <a:r>
              <a:rPr sz="2400" dirty="0">
                <a:latin typeface="Calibri"/>
                <a:cs typeface="Calibri"/>
              </a:rPr>
              <a:t>Dani Alves plays with </a:t>
            </a:r>
            <a:r>
              <a:rPr sz="3600" u="sng" baseline="15432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sng" spc="-20" baseline="15432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Santos</a:t>
            </a:r>
            <a:r>
              <a:rPr sz="3600" b="1" u="sng" baseline="15432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27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477508" indent="-342045">
              <a:buClr>
                <a:srgbClr val="8C1515"/>
              </a:buClr>
              <a:buFont typeface="Times New Roman"/>
              <a:buChar char="•"/>
              <a:tabLst>
                <a:tab pos="477508" algn="l"/>
                <a:tab pos="4667555" algn="l"/>
                <a:tab pos="6023036" algn="l"/>
              </a:tabLst>
            </a:pPr>
            <a:r>
              <a:rPr sz="2400" dirty="0">
                <a:latin typeface="Calibri"/>
                <a:cs typeface="Calibri"/>
              </a:rPr>
              <a:t>Carl III used to communicate in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3600" u="sng" baseline="13888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sng" spc="-20" baseline="13888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German</a:t>
            </a:r>
            <a:r>
              <a:rPr sz="3600" b="1" u="sng" baseline="13888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80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477508" indent="-342045">
              <a:buClr>
                <a:srgbClr val="8C1515"/>
              </a:buClr>
              <a:buFont typeface="Times New Roman"/>
              <a:buChar char="•"/>
              <a:tabLst>
                <a:tab pos="477508" algn="l"/>
                <a:tab pos="2296103" algn="l"/>
                <a:tab pos="3072477" algn="l"/>
              </a:tabLst>
            </a:pPr>
            <a:r>
              <a:rPr sz="2400" dirty="0">
                <a:latin typeface="Calibri"/>
                <a:cs typeface="Calibri"/>
              </a:rPr>
              <a:t>Ravens can </a:t>
            </a:r>
            <a:r>
              <a:rPr sz="3600" u="sng" baseline="15432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600" b="1" u="sng" spc="-49" baseline="15432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fly</a:t>
            </a:r>
            <a:r>
              <a:rPr sz="3600" b="1" u="sng" baseline="15432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0"/>
              </a:spcBef>
            </a:pPr>
            <a:endParaRPr sz="3267" dirty="0">
              <a:latin typeface="Calibri"/>
              <a:cs typeface="Calibri"/>
            </a:endParaRPr>
          </a:p>
          <a:p>
            <a:pPr marL="135463"/>
            <a:r>
              <a:rPr sz="2400" dirty="0">
                <a:latin typeface="Calibri"/>
                <a:cs typeface="Calibri"/>
              </a:rPr>
              <a:t>Examples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Petroni 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lang="en-US"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test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BERT-Large.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7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What</a:t>
            </a:r>
            <a:r>
              <a:rPr spc="-33" dirty="0"/>
              <a:t> </a:t>
            </a:r>
            <a:r>
              <a:rPr dirty="0"/>
              <a:t>does</a:t>
            </a:r>
            <a:r>
              <a:rPr spc="-13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model</a:t>
            </a:r>
            <a:r>
              <a:rPr spc="-20" dirty="0"/>
              <a:t> </a:t>
            </a:r>
            <a:r>
              <a:rPr spc="-13" dirty="0"/>
              <a:t>know?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8" y="1169754"/>
            <a:ext cx="11012593" cy="508023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9824" marR="358978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Takeaway: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sense (e.g.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correct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types), but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are not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factually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correct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happen?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Unseen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facts: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corpora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all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Rare facts: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hasn’t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 enough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 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memorize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fact</a:t>
            </a:r>
            <a:endParaRPr sz="2400" dirty="0">
              <a:latin typeface="Calibri"/>
              <a:cs typeface="Calibri"/>
            </a:endParaRPr>
          </a:p>
          <a:p>
            <a:pPr marL="702716" marR="6773" lvl="1" indent="-228594">
              <a:lnSpc>
                <a:spcPct val="102200"/>
              </a:lnSpc>
              <a:spcBef>
                <a:spcPts val="507"/>
              </a:spcBef>
              <a:buClr>
                <a:srgbClr val="007C92"/>
              </a:buClr>
              <a:buFont typeface="Times New Roman"/>
              <a:buChar char="•"/>
              <a:tabLst>
                <a:tab pos="702716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Model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sensitivity: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seen the fact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training, but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sensitive to </a:t>
            </a:r>
            <a:r>
              <a:rPr sz="2400" spc="-33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phrasing of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prompt</a:t>
            </a:r>
            <a:endParaRPr sz="2400" dirty="0">
              <a:latin typeface="Calibri"/>
              <a:cs typeface="Calibri"/>
            </a:endParaRPr>
          </a:p>
          <a:p>
            <a:pPr marL="1044761" lvl="2" indent="-227748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latin typeface="Calibri"/>
                <a:cs typeface="Calibri"/>
              </a:rPr>
              <a:t>Correctly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“x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made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y”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templates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“x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created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y”</a:t>
            </a:r>
            <a:endParaRPr sz="2400" dirty="0">
              <a:latin typeface="Calibri"/>
              <a:cs typeface="Calibri"/>
            </a:endParaRPr>
          </a:p>
          <a:p>
            <a:pPr lvl="2">
              <a:spcBef>
                <a:spcPts val="27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inability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/>
                <a:cs typeface="Calibri"/>
              </a:rPr>
              <a:t>reliably</a:t>
            </a:r>
            <a:r>
              <a:rPr sz="2400" i="1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recall knowledge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key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challenge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facing LMs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today!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Recent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some </a:t>
            </a:r>
            <a:r>
              <a:rPr sz="2400" dirty="0">
                <a:latin typeface="Calibri"/>
                <a:cs typeface="Calibri"/>
              </a:rPr>
              <a:t>knowledge, but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 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go.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8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The</a:t>
            </a:r>
            <a:r>
              <a:rPr spc="-27" dirty="0"/>
              <a:t> </a:t>
            </a:r>
            <a:r>
              <a:rPr dirty="0"/>
              <a:t>importance</a:t>
            </a:r>
            <a:r>
              <a:rPr spc="-7" dirty="0"/>
              <a:t> </a:t>
            </a:r>
            <a:r>
              <a:rPr dirty="0"/>
              <a:t>of</a:t>
            </a:r>
            <a:r>
              <a:rPr spc="-13" dirty="0"/>
              <a:t> knowledge-</a:t>
            </a:r>
            <a:r>
              <a:rPr dirty="0"/>
              <a:t>aware</a:t>
            </a:r>
            <a:r>
              <a:rPr spc="-7" dirty="0"/>
              <a:t> </a:t>
            </a:r>
            <a:r>
              <a:rPr dirty="0"/>
              <a:t>language</a:t>
            </a:r>
            <a:r>
              <a:rPr spc="-7" dirty="0"/>
              <a:t> </a:t>
            </a:r>
            <a:r>
              <a:rPr spc="-13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096601"/>
            <a:ext cx="11122660" cy="3850051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LM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 representations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benefit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downstream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tasks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leverage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endParaRPr sz="2400" dirty="0">
              <a:latin typeface="Calibri"/>
              <a:cs typeface="Calibri"/>
            </a:endParaRPr>
          </a:p>
          <a:p>
            <a:pPr marL="702716" marR="360671" lvl="1" indent="-228594">
              <a:lnSpc>
                <a:spcPts val="2813"/>
              </a:lnSpc>
              <a:spcBef>
                <a:spcPts val="727"/>
              </a:spcBef>
              <a:buClr>
                <a:srgbClr val="007C92"/>
              </a:buClr>
              <a:buFont typeface="Times New Roman"/>
              <a:buChar char="•"/>
              <a:tabLst>
                <a:tab pos="702716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extracting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relations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 two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sentence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easier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entities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49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We’ll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 back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this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talking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evaluation!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80"/>
              </a:spcBef>
              <a:buClr>
                <a:srgbClr val="007C92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Stretch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goal: can LMs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ultimately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replace traditional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bases</a:t>
            </a:r>
            <a:r>
              <a:rPr sz="2400" spc="-13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marL="702716" marR="18626" lvl="1" indent="-228594">
              <a:lnSpc>
                <a:spcPct val="102200"/>
              </a:lnSpc>
              <a:spcBef>
                <a:spcPts val="512"/>
              </a:spcBef>
              <a:buClr>
                <a:srgbClr val="007C92"/>
              </a:buClr>
              <a:buFont typeface="Times New Roman"/>
              <a:buChar char="•"/>
              <a:tabLst>
                <a:tab pos="702716" algn="l"/>
              </a:tabLst>
            </a:pPr>
            <a:r>
              <a:rPr sz="2400" dirty="0">
                <a:latin typeface="Calibri"/>
                <a:cs typeface="Calibri"/>
              </a:rPr>
              <a:t>Instead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querying a knowledge base 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fact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SQL), query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 </a:t>
            </a:r>
            <a:r>
              <a:rPr sz="2400" spc="-13" dirty="0">
                <a:latin typeface="Calibri"/>
                <a:cs typeface="Calibri"/>
              </a:rPr>
              <a:t>prompt!</a:t>
            </a:r>
            <a:endParaRPr sz="2400" dirty="0">
              <a:latin typeface="Calibri"/>
              <a:cs typeface="Calibri"/>
            </a:endParaRPr>
          </a:p>
          <a:p>
            <a:pPr marL="1044761" lvl="2" indent="-227748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 quality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 recalling </a:t>
            </a:r>
            <a:r>
              <a:rPr sz="2400" spc="-13" dirty="0">
                <a:latin typeface="Calibri"/>
                <a:cs typeface="Calibri"/>
              </a:rPr>
              <a:t>facts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50799">
              <a:spcBef>
                <a:spcPts val="6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9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Querying</a:t>
            </a:r>
            <a:r>
              <a:rPr spc="-60" dirty="0"/>
              <a:t> </a:t>
            </a:r>
            <a:r>
              <a:rPr dirty="0"/>
              <a:t>traditional</a:t>
            </a:r>
            <a:r>
              <a:rPr spc="-47" dirty="0"/>
              <a:t> </a:t>
            </a:r>
            <a:r>
              <a:rPr dirty="0"/>
              <a:t>knowledge</a:t>
            </a:r>
            <a:r>
              <a:rPr spc="-40" dirty="0"/>
              <a:t> </a:t>
            </a:r>
            <a:r>
              <a:rPr spc="-13" dirty="0"/>
              <a:t>bases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74124" y="1144470"/>
            <a:ext cx="3900593" cy="3451013"/>
            <a:chOff x="2980592" y="858352"/>
            <a:chExt cx="2925445" cy="2588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8663" y="2198077"/>
              <a:ext cx="1081451" cy="10111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8663" y="2198077"/>
              <a:ext cx="1082040" cy="1011555"/>
            </a:xfrm>
            <a:custGeom>
              <a:avLst/>
              <a:gdLst/>
              <a:ahLst/>
              <a:cxnLst/>
              <a:rect l="l" t="t" r="r" b="b"/>
              <a:pathLst>
                <a:path w="1082039" h="1011555">
                  <a:moveTo>
                    <a:pt x="0" y="505558"/>
                  </a:moveTo>
                  <a:lnTo>
                    <a:pt x="2209" y="459542"/>
                  </a:lnTo>
                  <a:lnTo>
                    <a:pt x="8711" y="414683"/>
                  </a:lnTo>
                  <a:lnTo>
                    <a:pt x="19315" y="371161"/>
                  </a:lnTo>
                  <a:lnTo>
                    <a:pt x="33829" y="329152"/>
                  </a:lnTo>
                  <a:lnTo>
                    <a:pt x="52062" y="288837"/>
                  </a:lnTo>
                  <a:lnTo>
                    <a:pt x="73825" y="250393"/>
                  </a:lnTo>
                  <a:lnTo>
                    <a:pt x="98925" y="213999"/>
                  </a:lnTo>
                  <a:lnTo>
                    <a:pt x="127172" y="179833"/>
                  </a:lnTo>
                  <a:lnTo>
                    <a:pt x="158375" y="148074"/>
                  </a:lnTo>
                  <a:lnTo>
                    <a:pt x="192343" y="118901"/>
                  </a:lnTo>
                  <a:lnTo>
                    <a:pt x="228885" y="92491"/>
                  </a:lnTo>
                  <a:lnTo>
                    <a:pt x="267811" y="69023"/>
                  </a:lnTo>
                  <a:lnTo>
                    <a:pt x="308929" y="48676"/>
                  </a:lnTo>
                  <a:lnTo>
                    <a:pt x="352049" y="31629"/>
                  </a:lnTo>
                  <a:lnTo>
                    <a:pt x="396979" y="18059"/>
                  </a:lnTo>
                  <a:lnTo>
                    <a:pt x="443530" y="8145"/>
                  </a:lnTo>
                  <a:lnTo>
                    <a:pt x="491509" y="2066"/>
                  </a:lnTo>
                  <a:lnTo>
                    <a:pt x="540726" y="0"/>
                  </a:lnTo>
                  <a:lnTo>
                    <a:pt x="589943" y="2066"/>
                  </a:lnTo>
                  <a:lnTo>
                    <a:pt x="637922" y="8145"/>
                  </a:lnTo>
                  <a:lnTo>
                    <a:pt x="684472" y="18059"/>
                  </a:lnTo>
                  <a:lnTo>
                    <a:pt x="729403" y="31629"/>
                  </a:lnTo>
                  <a:lnTo>
                    <a:pt x="772523" y="48676"/>
                  </a:lnTo>
                  <a:lnTo>
                    <a:pt x="813641" y="69023"/>
                  </a:lnTo>
                  <a:lnTo>
                    <a:pt x="852567" y="92491"/>
                  </a:lnTo>
                  <a:lnTo>
                    <a:pt x="889109" y="118901"/>
                  </a:lnTo>
                  <a:lnTo>
                    <a:pt x="923077" y="148074"/>
                  </a:lnTo>
                  <a:lnTo>
                    <a:pt x="954280" y="179833"/>
                  </a:lnTo>
                  <a:lnTo>
                    <a:pt x="982527" y="213999"/>
                  </a:lnTo>
                  <a:lnTo>
                    <a:pt x="1007627" y="250393"/>
                  </a:lnTo>
                  <a:lnTo>
                    <a:pt x="1029390" y="288837"/>
                  </a:lnTo>
                  <a:lnTo>
                    <a:pt x="1047623" y="329152"/>
                  </a:lnTo>
                  <a:lnTo>
                    <a:pt x="1062137" y="371161"/>
                  </a:lnTo>
                  <a:lnTo>
                    <a:pt x="1072741" y="414683"/>
                  </a:lnTo>
                  <a:lnTo>
                    <a:pt x="1079243" y="459542"/>
                  </a:lnTo>
                  <a:lnTo>
                    <a:pt x="1081453" y="505558"/>
                  </a:lnTo>
                  <a:lnTo>
                    <a:pt x="1079243" y="551574"/>
                  </a:lnTo>
                  <a:lnTo>
                    <a:pt x="1072741" y="596433"/>
                  </a:lnTo>
                  <a:lnTo>
                    <a:pt x="1062137" y="639955"/>
                  </a:lnTo>
                  <a:lnTo>
                    <a:pt x="1047623" y="681964"/>
                  </a:lnTo>
                  <a:lnTo>
                    <a:pt x="1029390" y="722279"/>
                  </a:lnTo>
                  <a:lnTo>
                    <a:pt x="1007627" y="760723"/>
                  </a:lnTo>
                  <a:lnTo>
                    <a:pt x="982527" y="797117"/>
                  </a:lnTo>
                  <a:lnTo>
                    <a:pt x="954280" y="831283"/>
                  </a:lnTo>
                  <a:lnTo>
                    <a:pt x="923077" y="863042"/>
                  </a:lnTo>
                  <a:lnTo>
                    <a:pt x="889109" y="892215"/>
                  </a:lnTo>
                  <a:lnTo>
                    <a:pt x="852567" y="918625"/>
                  </a:lnTo>
                  <a:lnTo>
                    <a:pt x="813641" y="942093"/>
                  </a:lnTo>
                  <a:lnTo>
                    <a:pt x="772523" y="962440"/>
                  </a:lnTo>
                  <a:lnTo>
                    <a:pt x="729403" y="979487"/>
                  </a:lnTo>
                  <a:lnTo>
                    <a:pt x="684472" y="993057"/>
                  </a:lnTo>
                  <a:lnTo>
                    <a:pt x="637922" y="1002971"/>
                  </a:lnTo>
                  <a:lnTo>
                    <a:pt x="589943" y="1009050"/>
                  </a:lnTo>
                  <a:lnTo>
                    <a:pt x="540726" y="1011117"/>
                  </a:lnTo>
                  <a:lnTo>
                    <a:pt x="491509" y="1009050"/>
                  </a:lnTo>
                  <a:lnTo>
                    <a:pt x="443530" y="1002971"/>
                  </a:lnTo>
                  <a:lnTo>
                    <a:pt x="396979" y="993057"/>
                  </a:lnTo>
                  <a:lnTo>
                    <a:pt x="352049" y="979487"/>
                  </a:lnTo>
                  <a:lnTo>
                    <a:pt x="308929" y="962440"/>
                  </a:lnTo>
                  <a:lnTo>
                    <a:pt x="267811" y="942093"/>
                  </a:lnTo>
                  <a:lnTo>
                    <a:pt x="228885" y="918625"/>
                  </a:lnTo>
                  <a:lnTo>
                    <a:pt x="192343" y="892215"/>
                  </a:lnTo>
                  <a:lnTo>
                    <a:pt x="158375" y="863042"/>
                  </a:lnTo>
                  <a:lnTo>
                    <a:pt x="127172" y="831283"/>
                  </a:lnTo>
                  <a:lnTo>
                    <a:pt x="98925" y="797117"/>
                  </a:lnTo>
                  <a:lnTo>
                    <a:pt x="73825" y="760723"/>
                  </a:lnTo>
                  <a:lnTo>
                    <a:pt x="52062" y="722279"/>
                  </a:lnTo>
                  <a:lnTo>
                    <a:pt x="33829" y="681964"/>
                  </a:lnTo>
                  <a:lnTo>
                    <a:pt x="19315" y="639955"/>
                  </a:lnTo>
                  <a:lnTo>
                    <a:pt x="8711" y="596433"/>
                  </a:lnTo>
                  <a:lnTo>
                    <a:pt x="2209" y="551574"/>
                  </a:lnTo>
                  <a:lnTo>
                    <a:pt x="0" y="505558"/>
                  </a:lnTo>
                  <a:close/>
                </a:path>
              </a:pathLst>
            </a:custGeom>
            <a:ln w="25400">
              <a:solidFill>
                <a:srgbClr val="007C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8806" y="871052"/>
              <a:ext cx="904139" cy="814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88806" y="871052"/>
              <a:ext cx="904240" cy="815340"/>
            </a:xfrm>
            <a:custGeom>
              <a:avLst/>
              <a:gdLst/>
              <a:ahLst/>
              <a:cxnLst/>
              <a:rect l="l" t="t" r="r" b="b"/>
              <a:pathLst>
                <a:path w="904239" h="815339">
                  <a:moveTo>
                    <a:pt x="0" y="407378"/>
                  </a:moveTo>
                  <a:lnTo>
                    <a:pt x="2652" y="362990"/>
                  </a:lnTo>
                  <a:lnTo>
                    <a:pt x="10426" y="319986"/>
                  </a:lnTo>
                  <a:lnTo>
                    <a:pt x="23046" y="278615"/>
                  </a:lnTo>
                  <a:lnTo>
                    <a:pt x="40236" y="239126"/>
                  </a:lnTo>
                  <a:lnTo>
                    <a:pt x="61720" y="201766"/>
                  </a:lnTo>
                  <a:lnTo>
                    <a:pt x="87223" y="166786"/>
                  </a:lnTo>
                  <a:lnTo>
                    <a:pt x="116468" y="134432"/>
                  </a:lnTo>
                  <a:lnTo>
                    <a:pt x="149180" y="104954"/>
                  </a:lnTo>
                  <a:lnTo>
                    <a:pt x="185083" y="78600"/>
                  </a:lnTo>
                  <a:lnTo>
                    <a:pt x="223901" y="55619"/>
                  </a:lnTo>
                  <a:lnTo>
                    <a:pt x="265359" y="36258"/>
                  </a:lnTo>
                  <a:lnTo>
                    <a:pt x="309180" y="20768"/>
                  </a:lnTo>
                  <a:lnTo>
                    <a:pt x="355090" y="9396"/>
                  </a:lnTo>
                  <a:lnTo>
                    <a:pt x="402811" y="2390"/>
                  </a:lnTo>
                  <a:lnTo>
                    <a:pt x="452070" y="0"/>
                  </a:lnTo>
                  <a:lnTo>
                    <a:pt x="501328" y="2390"/>
                  </a:lnTo>
                  <a:lnTo>
                    <a:pt x="549049" y="9396"/>
                  </a:lnTo>
                  <a:lnTo>
                    <a:pt x="594959" y="20768"/>
                  </a:lnTo>
                  <a:lnTo>
                    <a:pt x="638780" y="36258"/>
                  </a:lnTo>
                  <a:lnTo>
                    <a:pt x="680238" y="55619"/>
                  </a:lnTo>
                  <a:lnTo>
                    <a:pt x="719056" y="78600"/>
                  </a:lnTo>
                  <a:lnTo>
                    <a:pt x="754959" y="104954"/>
                  </a:lnTo>
                  <a:lnTo>
                    <a:pt x="787671" y="134432"/>
                  </a:lnTo>
                  <a:lnTo>
                    <a:pt x="816916" y="166786"/>
                  </a:lnTo>
                  <a:lnTo>
                    <a:pt x="842419" y="201766"/>
                  </a:lnTo>
                  <a:lnTo>
                    <a:pt x="863903" y="239126"/>
                  </a:lnTo>
                  <a:lnTo>
                    <a:pt x="881093" y="278615"/>
                  </a:lnTo>
                  <a:lnTo>
                    <a:pt x="893713" y="319986"/>
                  </a:lnTo>
                  <a:lnTo>
                    <a:pt x="901487" y="362990"/>
                  </a:lnTo>
                  <a:lnTo>
                    <a:pt x="904140" y="407378"/>
                  </a:lnTo>
                  <a:lnTo>
                    <a:pt x="901487" y="451766"/>
                  </a:lnTo>
                  <a:lnTo>
                    <a:pt x="893713" y="494770"/>
                  </a:lnTo>
                  <a:lnTo>
                    <a:pt x="881093" y="536141"/>
                  </a:lnTo>
                  <a:lnTo>
                    <a:pt x="863903" y="575630"/>
                  </a:lnTo>
                  <a:lnTo>
                    <a:pt x="842419" y="612990"/>
                  </a:lnTo>
                  <a:lnTo>
                    <a:pt x="816916" y="647970"/>
                  </a:lnTo>
                  <a:lnTo>
                    <a:pt x="787671" y="680324"/>
                  </a:lnTo>
                  <a:lnTo>
                    <a:pt x="754959" y="709802"/>
                  </a:lnTo>
                  <a:lnTo>
                    <a:pt x="719056" y="736156"/>
                  </a:lnTo>
                  <a:lnTo>
                    <a:pt x="680238" y="759137"/>
                  </a:lnTo>
                  <a:lnTo>
                    <a:pt x="638780" y="778498"/>
                  </a:lnTo>
                  <a:lnTo>
                    <a:pt x="594959" y="793988"/>
                  </a:lnTo>
                  <a:lnTo>
                    <a:pt x="549049" y="805360"/>
                  </a:lnTo>
                  <a:lnTo>
                    <a:pt x="501328" y="812366"/>
                  </a:lnTo>
                  <a:lnTo>
                    <a:pt x="452070" y="814757"/>
                  </a:lnTo>
                  <a:lnTo>
                    <a:pt x="402811" y="812366"/>
                  </a:lnTo>
                  <a:lnTo>
                    <a:pt x="355090" y="805360"/>
                  </a:lnTo>
                  <a:lnTo>
                    <a:pt x="309180" y="793988"/>
                  </a:lnTo>
                  <a:lnTo>
                    <a:pt x="265359" y="778498"/>
                  </a:lnTo>
                  <a:lnTo>
                    <a:pt x="223901" y="759137"/>
                  </a:lnTo>
                  <a:lnTo>
                    <a:pt x="185083" y="736156"/>
                  </a:lnTo>
                  <a:lnTo>
                    <a:pt x="149180" y="709802"/>
                  </a:lnTo>
                  <a:lnTo>
                    <a:pt x="116468" y="680324"/>
                  </a:lnTo>
                  <a:lnTo>
                    <a:pt x="87223" y="647970"/>
                  </a:lnTo>
                  <a:lnTo>
                    <a:pt x="61720" y="612990"/>
                  </a:lnTo>
                  <a:lnTo>
                    <a:pt x="40236" y="575630"/>
                  </a:lnTo>
                  <a:lnTo>
                    <a:pt x="23046" y="536141"/>
                  </a:lnTo>
                  <a:lnTo>
                    <a:pt x="10426" y="494770"/>
                  </a:lnTo>
                  <a:lnTo>
                    <a:pt x="2652" y="451766"/>
                  </a:lnTo>
                  <a:lnTo>
                    <a:pt x="0" y="407378"/>
                  </a:lnTo>
                  <a:close/>
                </a:path>
              </a:pathLst>
            </a:custGeom>
            <a:ln w="25400">
              <a:solidFill>
                <a:srgbClr val="007C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80588" y="1560639"/>
              <a:ext cx="2036445" cy="1885950"/>
            </a:xfrm>
            <a:custGeom>
              <a:avLst/>
              <a:gdLst/>
              <a:ahLst/>
              <a:cxnLst/>
              <a:rect l="l" t="t" r="r" b="b"/>
              <a:pathLst>
                <a:path w="2036445" h="1885950">
                  <a:moveTo>
                    <a:pt x="1886686" y="1622183"/>
                  </a:moveTo>
                  <a:lnTo>
                    <a:pt x="1882533" y="1601647"/>
                  </a:lnTo>
                  <a:lnTo>
                    <a:pt x="1871230" y="1584883"/>
                  </a:lnTo>
                  <a:lnTo>
                    <a:pt x="1854466" y="1573580"/>
                  </a:lnTo>
                  <a:lnTo>
                    <a:pt x="1833930" y="1569427"/>
                  </a:lnTo>
                  <a:lnTo>
                    <a:pt x="52755" y="1569427"/>
                  </a:lnTo>
                  <a:lnTo>
                    <a:pt x="32219" y="1573580"/>
                  </a:lnTo>
                  <a:lnTo>
                    <a:pt x="15443" y="1584883"/>
                  </a:lnTo>
                  <a:lnTo>
                    <a:pt x="4140" y="1601647"/>
                  </a:lnTo>
                  <a:lnTo>
                    <a:pt x="0" y="1622183"/>
                  </a:lnTo>
                  <a:lnTo>
                    <a:pt x="0" y="1833194"/>
                  </a:lnTo>
                  <a:lnTo>
                    <a:pt x="4140" y="1853730"/>
                  </a:lnTo>
                  <a:lnTo>
                    <a:pt x="15443" y="1870506"/>
                  </a:lnTo>
                  <a:lnTo>
                    <a:pt x="32219" y="1881809"/>
                  </a:lnTo>
                  <a:lnTo>
                    <a:pt x="52755" y="1885950"/>
                  </a:lnTo>
                  <a:lnTo>
                    <a:pt x="1833930" y="1885950"/>
                  </a:lnTo>
                  <a:lnTo>
                    <a:pt x="1854466" y="1881809"/>
                  </a:lnTo>
                  <a:lnTo>
                    <a:pt x="1871230" y="1870506"/>
                  </a:lnTo>
                  <a:lnTo>
                    <a:pt x="1882533" y="1853730"/>
                  </a:lnTo>
                  <a:lnTo>
                    <a:pt x="1886686" y="1833194"/>
                  </a:lnTo>
                  <a:lnTo>
                    <a:pt x="1886686" y="1622183"/>
                  </a:lnTo>
                  <a:close/>
                </a:path>
                <a:path w="2036445" h="1885950">
                  <a:moveTo>
                    <a:pt x="2035911" y="0"/>
                  </a:moveTo>
                  <a:lnTo>
                    <a:pt x="1955012" y="26695"/>
                  </a:lnTo>
                  <a:lnTo>
                    <a:pt x="1972919" y="44716"/>
                  </a:lnTo>
                  <a:lnTo>
                    <a:pt x="1328801" y="684809"/>
                  </a:lnTo>
                  <a:lnTo>
                    <a:pt x="1346708" y="702830"/>
                  </a:lnTo>
                  <a:lnTo>
                    <a:pt x="1990813" y="62725"/>
                  </a:lnTo>
                  <a:lnTo>
                    <a:pt x="2008720" y="80746"/>
                  </a:lnTo>
                  <a:lnTo>
                    <a:pt x="2023872" y="35763"/>
                  </a:lnTo>
                  <a:lnTo>
                    <a:pt x="2035911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99711" y="4186598"/>
            <a:ext cx="2335952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Franklin</a:t>
            </a:r>
            <a:r>
              <a:rPr sz="2133" spc="-6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D.</a:t>
            </a:r>
            <a:r>
              <a:rPr sz="2133" spc="-6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FFFF"/>
                </a:solidFill>
                <a:latin typeface="Calibri"/>
                <a:cs typeface="Calibri"/>
              </a:rPr>
              <a:t>Roosevelt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83318" y="836863"/>
            <a:ext cx="2516293" cy="422487"/>
          </a:xfrm>
          <a:custGeom>
            <a:avLst/>
            <a:gdLst/>
            <a:ahLst/>
            <a:cxnLst/>
            <a:rect l="l" t="t" r="r" b="b"/>
            <a:pathLst>
              <a:path w="1887220" h="316865">
                <a:moveTo>
                  <a:pt x="1833929" y="0"/>
                </a:moveTo>
                <a:lnTo>
                  <a:pt x="52754" y="0"/>
                </a:lnTo>
                <a:lnTo>
                  <a:pt x="32220" y="4145"/>
                </a:lnTo>
                <a:lnTo>
                  <a:pt x="15451" y="15451"/>
                </a:lnTo>
                <a:lnTo>
                  <a:pt x="4145" y="32220"/>
                </a:lnTo>
                <a:lnTo>
                  <a:pt x="0" y="52754"/>
                </a:lnTo>
                <a:lnTo>
                  <a:pt x="0" y="263765"/>
                </a:lnTo>
                <a:lnTo>
                  <a:pt x="4145" y="284299"/>
                </a:lnTo>
                <a:lnTo>
                  <a:pt x="15451" y="301068"/>
                </a:lnTo>
                <a:lnTo>
                  <a:pt x="32220" y="312373"/>
                </a:lnTo>
                <a:lnTo>
                  <a:pt x="52754" y="316519"/>
                </a:lnTo>
                <a:lnTo>
                  <a:pt x="1833929" y="316519"/>
                </a:lnTo>
                <a:lnTo>
                  <a:pt x="1854463" y="312373"/>
                </a:lnTo>
                <a:lnTo>
                  <a:pt x="1871232" y="301068"/>
                </a:lnTo>
                <a:lnTo>
                  <a:pt x="1882538" y="284299"/>
                </a:lnTo>
                <a:lnTo>
                  <a:pt x="1886684" y="263765"/>
                </a:lnTo>
                <a:lnTo>
                  <a:pt x="1886684" y="52754"/>
                </a:lnTo>
                <a:lnTo>
                  <a:pt x="1882538" y="32220"/>
                </a:lnTo>
                <a:lnTo>
                  <a:pt x="1871232" y="15451"/>
                </a:lnTo>
                <a:lnTo>
                  <a:pt x="1854463" y="4145"/>
                </a:lnTo>
                <a:lnTo>
                  <a:pt x="1833929" y="0"/>
                </a:lnTo>
                <a:close/>
              </a:path>
            </a:pathLst>
          </a:custGeom>
          <a:solidFill>
            <a:srgbClr val="007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69905" y="850052"/>
            <a:ext cx="114384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Hyde</a:t>
            </a:r>
            <a:r>
              <a:rPr sz="2133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spc="-27" dirty="0">
                <a:solidFill>
                  <a:srgbClr val="FFFFFF"/>
                </a:solidFill>
                <a:latin typeface="Calibri"/>
                <a:cs typeface="Calibri"/>
              </a:rPr>
              <a:t>Park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 rot="19020000">
            <a:off x="5285788" y="2241059"/>
            <a:ext cx="1488747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7"/>
              </a:lnSpc>
            </a:pPr>
            <a:r>
              <a:rPr sz="2133" dirty="0">
                <a:latin typeface="Calibri"/>
                <a:cs typeface="Calibri"/>
              </a:rPr>
              <a:t>place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of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spc="-27" dirty="0">
                <a:latin typeface="Calibri"/>
                <a:cs typeface="Calibri"/>
              </a:rPr>
              <a:t>birth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83547" y="1059460"/>
            <a:ext cx="2516293" cy="1270000"/>
            <a:chOff x="1262660" y="794595"/>
            <a:chExt cx="1887220" cy="9525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1610" y="1043245"/>
              <a:ext cx="779707" cy="7032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62660" y="794595"/>
              <a:ext cx="1887220" cy="316865"/>
            </a:xfrm>
            <a:custGeom>
              <a:avLst/>
              <a:gdLst/>
              <a:ahLst/>
              <a:cxnLst/>
              <a:rect l="l" t="t" r="r" b="b"/>
              <a:pathLst>
                <a:path w="1887220" h="316865">
                  <a:moveTo>
                    <a:pt x="1833928" y="0"/>
                  </a:moveTo>
                  <a:lnTo>
                    <a:pt x="52753" y="0"/>
                  </a:lnTo>
                  <a:lnTo>
                    <a:pt x="32219" y="4145"/>
                  </a:lnTo>
                  <a:lnTo>
                    <a:pt x="15451" y="15451"/>
                  </a:lnTo>
                  <a:lnTo>
                    <a:pt x="4145" y="32220"/>
                  </a:lnTo>
                  <a:lnTo>
                    <a:pt x="0" y="52754"/>
                  </a:lnTo>
                  <a:lnTo>
                    <a:pt x="0" y="263765"/>
                  </a:lnTo>
                  <a:lnTo>
                    <a:pt x="4145" y="284299"/>
                  </a:lnTo>
                  <a:lnTo>
                    <a:pt x="15451" y="301068"/>
                  </a:lnTo>
                  <a:lnTo>
                    <a:pt x="32219" y="312373"/>
                  </a:lnTo>
                  <a:lnTo>
                    <a:pt x="52753" y="316519"/>
                  </a:lnTo>
                  <a:lnTo>
                    <a:pt x="1833928" y="316519"/>
                  </a:lnTo>
                  <a:lnTo>
                    <a:pt x="1854463" y="312373"/>
                  </a:lnTo>
                  <a:lnTo>
                    <a:pt x="1871232" y="301068"/>
                  </a:lnTo>
                  <a:lnTo>
                    <a:pt x="1882537" y="284299"/>
                  </a:lnTo>
                  <a:lnTo>
                    <a:pt x="1886683" y="263765"/>
                  </a:lnTo>
                  <a:lnTo>
                    <a:pt x="1886683" y="52754"/>
                  </a:lnTo>
                  <a:lnTo>
                    <a:pt x="1882537" y="32220"/>
                  </a:lnTo>
                  <a:lnTo>
                    <a:pt x="1871232" y="15451"/>
                  </a:lnTo>
                  <a:lnTo>
                    <a:pt x="1854463" y="4145"/>
                  </a:lnTo>
                  <a:lnTo>
                    <a:pt x="1833928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992391" y="1073572"/>
            <a:ext cx="189822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January</a:t>
            </a:r>
            <a:r>
              <a:rPr sz="2133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30,</a:t>
            </a:r>
            <a:r>
              <a:rPr sz="2133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spc="-27" dirty="0">
                <a:solidFill>
                  <a:srgbClr val="FFFFFF"/>
                </a:solidFill>
                <a:latin typeface="Calibri"/>
                <a:cs typeface="Calibri"/>
              </a:rPr>
              <a:t>1882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42450" y="2290901"/>
            <a:ext cx="1147233" cy="960120"/>
          </a:xfrm>
          <a:custGeom>
            <a:avLst/>
            <a:gdLst/>
            <a:ahLst/>
            <a:cxnLst/>
            <a:rect l="l" t="t" r="r" b="b"/>
            <a:pathLst>
              <a:path w="860425" h="720089">
                <a:moveTo>
                  <a:pt x="66664" y="39034"/>
                </a:moveTo>
                <a:lnTo>
                  <a:pt x="50400" y="58545"/>
                </a:lnTo>
                <a:lnTo>
                  <a:pt x="843694" y="719808"/>
                </a:lnTo>
                <a:lnTo>
                  <a:pt x="859956" y="700298"/>
                </a:lnTo>
                <a:lnTo>
                  <a:pt x="66664" y="39034"/>
                </a:lnTo>
                <a:close/>
              </a:path>
              <a:path w="860425" h="720089">
                <a:moveTo>
                  <a:pt x="0" y="0"/>
                </a:moveTo>
                <a:lnTo>
                  <a:pt x="34136" y="78056"/>
                </a:lnTo>
                <a:lnTo>
                  <a:pt x="50400" y="58545"/>
                </a:lnTo>
                <a:lnTo>
                  <a:pt x="40645" y="50413"/>
                </a:lnTo>
                <a:lnTo>
                  <a:pt x="56908" y="30902"/>
                </a:lnTo>
                <a:lnTo>
                  <a:pt x="73442" y="30902"/>
                </a:lnTo>
                <a:lnTo>
                  <a:pt x="82927" y="19524"/>
                </a:lnTo>
                <a:lnTo>
                  <a:pt x="0" y="0"/>
                </a:lnTo>
                <a:close/>
              </a:path>
              <a:path w="860425" h="720089">
                <a:moveTo>
                  <a:pt x="56908" y="30902"/>
                </a:moveTo>
                <a:lnTo>
                  <a:pt x="40645" y="50413"/>
                </a:lnTo>
                <a:lnTo>
                  <a:pt x="50400" y="58545"/>
                </a:lnTo>
                <a:lnTo>
                  <a:pt x="66664" y="39034"/>
                </a:lnTo>
                <a:lnTo>
                  <a:pt x="56908" y="30902"/>
                </a:lnTo>
                <a:close/>
              </a:path>
              <a:path w="860425" h="720089">
                <a:moveTo>
                  <a:pt x="73442" y="30902"/>
                </a:moveTo>
                <a:lnTo>
                  <a:pt x="56908" y="30902"/>
                </a:lnTo>
                <a:lnTo>
                  <a:pt x="66664" y="39034"/>
                </a:lnTo>
                <a:lnTo>
                  <a:pt x="73442" y="30902"/>
                </a:lnTo>
                <a:close/>
              </a:path>
            </a:pathLst>
          </a:custGeom>
          <a:solidFill>
            <a:srgbClr val="007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 rot="2340000">
            <a:off x="3361068" y="2446775"/>
            <a:ext cx="1402256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3"/>
              </a:lnSpc>
            </a:pPr>
            <a:r>
              <a:rPr sz="3200" baseline="1736" dirty="0">
                <a:latin typeface="Calibri"/>
                <a:cs typeface="Calibri"/>
              </a:rPr>
              <a:t>date</a:t>
            </a:r>
            <a:r>
              <a:rPr sz="3200" spc="-109" baseline="1736" dirty="0">
                <a:latin typeface="Calibri"/>
                <a:cs typeface="Calibri"/>
              </a:rPr>
              <a:t> </a:t>
            </a:r>
            <a:r>
              <a:rPr sz="3200" baseline="1736" dirty="0">
                <a:latin typeface="Calibri"/>
                <a:cs typeface="Calibri"/>
              </a:rPr>
              <a:t>o</a:t>
            </a:r>
            <a:r>
              <a:rPr sz="2133" dirty="0">
                <a:latin typeface="Calibri"/>
                <a:cs typeface="Calibri"/>
              </a:rPr>
              <a:t>f</a:t>
            </a:r>
            <a:r>
              <a:rPr sz="2133" spc="-67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birth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81300" y="2737987"/>
            <a:ext cx="3610187" cy="1382607"/>
            <a:chOff x="4485975" y="2053490"/>
            <a:chExt cx="2707640" cy="103695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8931" y="2066190"/>
              <a:ext cx="1081452" cy="101111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98931" y="2066190"/>
              <a:ext cx="1082040" cy="1011555"/>
            </a:xfrm>
            <a:custGeom>
              <a:avLst/>
              <a:gdLst/>
              <a:ahLst/>
              <a:cxnLst/>
              <a:rect l="l" t="t" r="r" b="b"/>
              <a:pathLst>
                <a:path w="1082040" h="1011555">
                  <a:moveTo>
                    <a:pt x="0" y="505558"/>
                  </a:moveTo>
                  <a:lnTo>
                    <a:pt x="2209" y="459542"/>
                  </a:lnTo>
                  <a:lnTo>
                    <a:pt x="8711" y="414683"/>
                  </a:lnTo>
                  <a:lnTo>
                    <a:pt x="19315" y="371161"/>
                  </a:lnTo>
                  <a:lnTo>
                    <a:pt x="33829" y="329152"/>
                  </a:lnTo>
                  <a:lnTo>
                    <a:pt x="52062" y="288837"/>
                  </a:lnTo>
                  <a:lnTo>
                    <a:pt x="73825" y="250393"/>
                  </a:lnTo>
                  <a:lnTo>
                    <a:pt x="98925" y="213999"/>
                  </a:lnTo>
                  <a:lnTo>
                    <a:pt x="127172" y="179833"/>
                  </a:lnTo>
                  <a:lnTo>
                    <a:pt x="158375" y="148074"/>
                  </a:lnTo>
                  <a:lnTo>
                    <a:pt x="192343" y="118901"/>
                  </a:lnTo>
                  <a:lnTo>
                    <a:pt x="228885" y="92491"/>
                  </a:lnTo>
                  <a:lnTo>
                    <a:pt x="267811" y="69023"/>
                  </a:lnTo>
                  <a:lnTo>
                    <a:pt x="308929" y="48676"/>
                  </a:lnTo>
                  <a:lnTo>
                    <a:pt x="352049" y="31629"/>
                  </a:lnTo>
                  <a:lnTo>
                    <a:pt x="396979" y="18059"/>
                  </a:lnTo>
                  <a:lnTo>
                    <a:pt x="443530" y="8145"/>
                  </a:lnTo>
                  <a:lnTo>
                    <a:pt x="491509" y="2066"/>
                  </a:lnTo>
                  <a:lnTo>
                    <a:pt x="540726" y="0"/>
                  </a:lnTo>
                  <a:lnTo>
                    <a:pt x="589943" y="2066"/>
                  </a:lnTo>
                  <a:lnTo>
                    <a:pt x="637922" y="8145"/>
                  </a:lnTo>
                  <a:lnTo>
                    <a:pt x="684472" y="18059"/>
                  </a:lnTo>
                  <a:lnTo>
                    <a:pt x="729403" y="31629"/>
                  </a:lnTo>
                  <a:lnTo>
                    <a:pt x="772523" y="48676"/>
                  </a:lnTo>
                  <a:lnTo>
                    <a:pt x="813641" y="69023"/>
                  </a:lnTo>
                  <a:lnTo>
                    <a:pt x="852567" y="92491"/>
                  </a:lnTo>
                  <a:lnTo>
                    <a:pt x="889109" y="118901"/>
                  </a:lnTo>
                  <a:lnTo>
                    <a:pt x="923077" y="148074"/>
                  </a:lnTo>
                  <a:lnTo>
                    <a:pt x="954280" y="179833"/>
                  </a:lnTo>
                  <a:lnTo>
                    <a:pt x="982527" y="213999"/>
                  </a:lnTo>
                  <a:lnTo>
                    <a:pt x="1007627" y="250393"/>
                  </a:lnTo>
                  <a:lnTo>
                    <a:pt x="1029390" y="288837"/>
                  </a:lnTo>
                  <a:lnTo>
                    <a:pt x="1047623" y="329152"/>
                  </a:lnTo>
                  <a:lnTo>
                    <a:pt x="1062137" y="371161"/>
                  </a:lnTo>
                  <a:lnTo>
                    <a:pt x="1072741" y="414683"/>
                  </a:lnTo>
                  <a:lnTo>
                    <a:pt x="1079243" y="459542"/>
                  </a:lnTo>
                  <a:lnTo>
                    <a:pt x="1081453" y="505558"/>
                  </a:lnTo>
                  <a:lnTo>
                    <a:pt x="1079243" y="551574"/>
                  </a:lnTo>
                  <a:lnTo>
                    <a:pt x="1072741" y="596433"/>
                  </a:lnTo>
                  <a:lnTo>
                    <a:pt x="1062137" y="639955"/>
                  </a:lnTo>
                  <a:lnTo>
                    <a:pt x="1047623" y="681964"/>
                  </a:lnTo>
                  <a:lnTo>
                    <a:pt x="1029390" y="722279"/>
                  </a:lnTo>
                  <a:lnTo>
                    <a:pt x="1007627" y="760723"/>
                  </a:lnTo>
                  <a:lnTo>
                    <a:pt x="982527" y="797117"/>
                  </a:lnTo>
                  <a:lnTo>
                    <a:pt x="954280" y="831283"/>
                  </a:lnTo>
                  <a:lnTo>
                    <a:pt x="923077" y="863042"/>
                  </a:lnTo>
                  <a:lnTo>
                    <a:pt x="889109" y="892215"/>
                  </a:lnTo>
                  <a:lnTo>
                    <a:pt x="852567" y="918625"/>
                  </a:lnTo>
                  <a:lnTo>
                    <a:pt x="813641" y="942093"/>
                  </a:lnTo>
                  <a:lnTo>
                    <a:pt x="772523" y="962440"/>
                  </a:lnTo>
                  <a:lnTo>
                    <a:pt x="729403" y="979487"/>
                  </a:lnTo>
                  <a:lnTo>
                    <a:pt x="684472" y="993057"/>
                  </a:lnTo>
                  <a:lnTo>
                    <a:pt x="637922" y="1002971"/>
                  </a:lnTo>
                  <a:lnTo>
                    <a:pt x="589943" y="1009050"/>
                  </a:lnTo>
                  <a:lnTo>
                    <a:pt x="540726" y="1011117"/>
                  </a:lnTo>
                  <a:lnTo>
                    <a:pt x="491509" y="1009050"/>
                  </a:lnTo>
                  <a:lnTo>
                    <a:pt x="443530" y="1002971"/>
                  </a:lnTo>
                  <a:lnTo>
                    <a:pt x="396979" y="993057"/>
                  </a:lnTo>
                  <a:lnTo>
                    <a:pt x="352049" y="979487"/>
                  </a:lnTo>
                  <a:lnTo>
                    <a:pt x="308929" y="962440"/>
                  </a:lnTo>
                  <a:lnTo>
                    <a:pt x="267811" y="942093"/>
                  </a:lnTo>
                  <a:lnTo>
                    <a:pt x="228885" y="918625"/>
                  </a:lnTo>
                  <a:lnTo>
                    <a:pt x="192343" y="892215"/>
                  </a:lnTo>
                  <a:lnTo>
                    <a:pt x="158375" y="863042"/>
                  </a:lnTo>
                  <a:lnTo>
                    <a:pt x="127172" y="831283"/>
                  </a:lnTo>
                  <a:lnTo>
                    <a:pt x="98925" y="797117"/>
                  </a:lnTo>
                  <a:lnTo>
                    <a:pt x="73825" y="760723"/>
                  </a:lnTo>
                  <a:lnTo>
                    <a:pt x="52062" y="722279"/>
                  </a:lnTo>
                  <a:lnTo>
                    <a:pt x="33829" y="681964"/>
                  </a:lnTo>
                  <a:lnTo>
                    <a:pt x="19315" y="639955"/>
                  </a:lnTo>
                  <a:lnTo>
                    <a:pt x="8711" y="596433"/>
                  </a:lnTo>
                  <a:lnTo>
                    <a:pt x="2209" y="551574"/>
                  </a:lnTo>
                  <a:lnTo>
                    <a:pt x="0" y="505558"/>
                  </a:lnTo>
                  <a:close/>
                </a:path>
              </a:pathLst>
            </a:custGeom>
            <a:ln w="25400">
              <a:solidFill>
                <a:srgbClr val="007C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5975" y="2607932"/>
              <a:ext cx="1521460" cy="160020"/>
            </a:xfrm>
            <a:custGeom>
              <a:avLst/>
              <a:gdLst/>
              <a:ahLst/>
              <a:cxnLst/>
              <a:rect l="l" t="t" r="r" b="b"/>
              <a:pathLst>
                <a:path w="1521460" h="160019">
                  <a:moveTo>
                    <a:pt x="73732" y="83738"/>
                  </a:moveTo>
                  <a:lnTo>
                    <a:pt x="0" y="126419"/>
                  </a:lnTo>
                  <a:lnTo>
                    <a:pt x="78384" y="159796"/>
                  </a:lnTo>
                  <a:lnTo>
                    <a:pt x="76881" y="135219"/>
                  </a:lnTo>
                  <a:lnTo>
                    <a:pt x="64157" y="135219"/>
                  </a:lnTo>
                  <a:lnTo>
                    <a:pt x="62607" y="109866"/>
                  </a:lnTo>
                  <a:lnTo>
                    <a:pt x="75283" y="109091"/>
                  </a:lnTo>
                  <a:lnTo>
                    <a:pt x="73732" y="83738"/>
                  </a:lnTo>
                  <a:close/>
                </a:path>
                <a:path w="1521460" h="160019">
                  <a:moveTo>
                    <a:pt x="75283" y="109091"/>
                  </a:moveTo>
                  <a:lnTo>
                    <a:pt x="62607" y="109866"/>
                  </a:lnTo>
                  <a:lnTo>
                    <a:pt x="64157" y="135219"/>
                  </a:lnTo>
                  <a:lnTo>
                    <a:pt x="76833" y="134444"/>
                  </a:lnTo>
                  <a:lnTo>
                    <a:pt x="75283" y="109091"/>
                  </a:lnTo>
                  <a:close/>
                </a:path>
                <a:path w="1521460" h="160019">
                  <a:moveTo>
                    <a:pt x="76833" y="134444"/>
                  </a:moveTo>
                  <a:lnTo>
                    <a:pt x="64157" y="135219"/>
                  </a:lnTo>
                  <a:lnTo>
                    <a:pt x="76881" y="135219"/>
                  </a:lnTo>
                  <a:lnTo>
                    <a:pt x="76833" y="134444"/>
                  </a:lnTo>
                  <a:close/>
                </a:path>
                <a:path w="1521460" h="160019">
                  <a:moveTo>
                    <a:pt x="1444401" y="25352"/>
                  </a:moveTo>
                  <a:lnTo>
                    <a:pt x="75283" y="109091"/>
                  </a:lnTo>
                  <a:lnTo>
                    <a:pt x="76833" y="134444"/>
                  </a:lnTo>
                  <a:lnTo>
                    <a:pt x="1445952" y="50704"/>
                  </a:lnTo>
                  <a:lnTo>
                    <a:pt x="1444401" y="25352"/>
                  </a:lnTo>
                  <a:close/>
                </a:path>
                <a:path w="1521460" h="160019">
                  <a:moveTo>
                    <a:pt x="1500568" y="24577"/>
                  </a:moveTo>
                  <a:lnTo>
                    <a:pt x="1457079" y="24577"/>
                  </a:lnTo>
                  <a:lnTo>
                    <a:pt x="1458630" y="49928"/>
                  </a:lnTo>
                  <a:lnTo>
                    <a:pt x="1445952" y="50704"/>
                  </a:lnTo>
                  <a:lnTo>
                    <a:pt x="1447502" y="76057"/>
                  </a:lnTo>
                  <a:lnTo>
                    <a:pt x="1521233" y="33376"/>
                  </a:lnTo>
                  <a:lnTo>
                    <a:pt x="1500568" y="24577"/>
                  </a:lnTo>
                  <a:close/>
                </a:path>
                <a:path w="1521460" h="160019">
                  <a:moveTo>
                    <a:pt x="1457079" y="24577"/>
                  </a:moveTo>
                  <a:lnTo>
                    <a:pt x="1444401" y="25352"/>
                  </a:lnTo>
                  <a:lnTo>
                    <a:pt x="1445952" y="50704"/>
                  </a:lnTo>
                  <a:lnTo>
                    <a:pt x="1458630" y="49928"/>
                  </a:lnTo>
                  <a:lnTo>
                    <a:pt x="1457079" y="24577"/>
                  </a:lnTo>
                  <a:close/>
                </a:path>
                <a:path w="1521460" h="160019">
                  <a:moveTo>
                    <a:pt x="1442850" y="0"/>
                  </a:moveTo>
                  <a:lnTo>
                    <a:pt x="1444401" y="25352"/>
                  </a:lnTo>
                  <a:lnTo>
                    <a:pt x="1457079" y="24577"/>
                  </a:lnTo>
                  <a:lnTo>
                    <a:pt x="1500568" y="24577"/>
                  </a:lnTo>
                  <a:lnTo>
                    <a:pt x="1442850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 rot="21420000">
            <a:off x="6516388" y="3224831"/>
            <a:ext cx="825507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7"/>
              </a:lnSpc>
            </a:pPr>
            <a:r>
              <a:rPr sz="2133" spc="-13" dirty="0">
                <a:latin typeface="Calibri"/>
                <a:cs typeface="Calibri"/>
              </a:rPr>
              <a:t>spo</a:t>
            </a:r>
            <a:r>
              <a:rPr sz="3200" spc="-20" baseline="1736" dirty="0">
                <a:latin typeface="Calibri"/>
                <a:cs typeface="Calibri"/>
              </a:rPr>
              <a:t>use</a:t>
            </a:r>
            <a:endParaRPr sz="3200" baseline="1736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65655" y="3975603"/>
            <a:ext cx="2516293" cy="422487"/>
          </a:xfrm>
          <a:custGeom>
            <a:avLst/>
            <a:gdLst/>
            <a:ahLst/>
            <a:cxnLst/>
            <a:rect l="l" t="t" r="r" b="b"/>
            <a:pathLst>
              <a:path w="1887220" h="316864">
                <a:moveTo>
                  <a:pt x="1833929" y="0"/>
                </a:moveTo>
                <a:lnTo>
                  <a:pt x="52754" y="0"/>
                </a:lnTo>
                <a:lnTo>
                  <a:pt x="32220" y="4145"/>
                </a:lnTo>
                <a:lnTo>
                  <a:pt x="15451" y="15451"/>
                </a:lnTo>
                <a:lnTo>
                  <a:pt x="4145" y="32219"/>
                </a:lnTo>
                <a:lnTo>
                  <a:pt x="0" y="52754"/>
                </a:lnTo>
                <a:lnTo>
                  <a:pt x="0" y="263765"/>
                </a:lnTo>
                <a:lnTo>
                  <a:pt x="4145" y="284299"/>
                </a:lnTo>
                <a:lnTo>
                  <a:pt x="15451" y="301067"/>
                </a:lnTo>
                <a:lnTo>
                  <a:pt x="32220" y="312373"/>
                </a:lnTo>
                <a:lnTo>
                  <a:pt x="52754" y="316519"/>
                </a:lnTo>
                <a:lnTo>
                  <a:pt x="1833929" y="316519"/>
                </a:lnTo>
                <a:lnTo>
                  <a:pt x="1854463" y="312373"/>
                </a:lnTo>
                <a:lnTo>
                  <a:pt x="1871232" y="301067"/>
                </a:lnTo>
                <a:lnTo>
                  <a:pt x="1882538" y="284299"/>
                </a:lnTo>
                <a:lnTo>
                  <a:pt x="1886684" y="263765"/>
                </a:lnTo>
                <a:lnTo>
                  <a:pt x="1886684" y="52754"/>
                </a:lnTo>
                <a:lnTo>
                  <a:pt x="1882538" y="32219"/>
                </a:lnTo>
                <a:lnTo>
                  <a:pt x="1871232" y="15451"/>
                </a:lnTo>
                <a:lnTo>
                  <a:pt x="1854463" y="4145"/>
                </a:lnTo>
                <a:lnTo>
                  <a:pt x="1833929" y="0"/>
                </a:lnTo>
                <a:close/>
              </a:path>
            </a:pathLst>
          </a:custGeom>
          <a:solidFill>
            <a:srgbClr val="007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916462" y="3991526"/>
            <a:ext cx="20133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Eleanor</a:t>
            </a:r>
            <a:r>
              <a:rPr sz="2133" spc="-13" dirty="0">
                <a:solidFill>
                  <a:srgbClr val="FFFFFF"/>
                </a:solidFill>
                <a:latin typeface="Calibri"/>
                <a:cs typeface="Calibri"/>
              </a:rPr>
              <a:t> Roosevelt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523814" y="1314362"/>
            <a:ext cx="2516293" cy="1753447"/>
            <a:chOff x="7142860" y="985771"/>
            <a:chExt cx="1887220" cy="1315085"/>
          </a:xfrm>
        </p:grpSpPr>
        <p:sp>
          <p:nvSpPr>
            <p:cNvPr id="27" name="object 27"/>
            <p:cNvSpPr/>
            <p:nvPr/>
          </p:nvSpPr>
          <p:spPr>
            <a:xfrm>
              <a:off x="7158647" y="1845276"/>
              <a:ext cx="587375" cy="455295"/>
            </a:xfrm>
            <a:custGeom>
              <a:avLst/>
              <a:gdLst/>
              <a:ahLst/>
              <a:cxnLst/>
              <a:rect l="l" t="t" r="r" b="b"/>
              <a:pathLst>
                <a:path w="587375" h="455294">
                  <a:moveTo>
                    <a:pt x="519206" y="36342"/>
                  </a:moveTo>
                  <a:lnTo>
                    <a:pt x="0" y="435122"/>
                  </a:lnTo>
                  <a:lnTo>
                    <a:pt x="15471" y="455267"/>
                  </a:lnTo>
                  <a:lnTo>
                    <a:pt x="534679" y="56487"/>
                  </a:lnTo>
                  <a:lnTo>
                    <a:pt x="519206" y="36342"/>
                  </a:lnTo>
                  <a:close/>
                </a:path>
                <a:path w="587375" h="455294">
                  <a:moveTo>
                    <a:pt x="573480" y="28606"/>
                  </a:moveTo>
                  <a:lnTo>
                    <a:pt x="529278" y="28606"/>
                  </a:lnTo>
                  <a:lnTo>
                    <a:pt x="544751" y="48751"/>
                  </a:lnTo>
                  <a:lnTo>
                    <a:pt x="534679" y="56487"/>
                  </a:lnTo>
                  <a:lnTo>
                    <a:pt x="550151" y="76631"/>
                  </a:lnTo>
                  <a:lnTo>
                    <a:pt x="573480" y="28606"/>
                  </a:lnTo>
                  <a:close/>
                </a:path>
                <a:path w="587375" h="455294">
                  <a:moveTo>
                    <a:pt x="529278" y="28606"/>
                  </a:moveTo>
                  <a:lnTo>
                    <a:pt x="519206" y="36342"/>
                  </a:lnTo>
                  <a:lnTo>
                    <a:pt x="534679" y="56487"/>
                  </a:lnTo>
                  <a:lnTo>
                    <a:pt x="544751" y="48751"/>
                  </a:lnTo>
                  <a:lnTo>
                    <a:pt x="529278" y="28606"/>
                  </a:lnTo>
                  <a:close/>
                </a:path>
                <a:path w="587375" h="455294">
                  <a:moveTo>
                    <a:pt x="587376" y="0"/>
                  </a:moveTo>
                  <a:lnTo>
                    <a:pt x="503735" y="16198"/>
                  </a:lnTo>
                  <a:lnTo>
                    <a:pt x="519206" y="36342"/>
                  </a:lnTo>
                  <a:lnTo>
                    <a:pt x="529278" y="28606"/>
                  </a:lnTo>
                  <a:lnTo>
                    <a:pt x="573480" y="28606"/>
                  </a:lnTo>
                  <a:lnTo>
                    <a:pt x="587376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177" y="1271958"/>
              <a:ext cx="779707" cy="7031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142860" y="985771"/>
              <a:ext cx="1887220" cy="316865"/>
            </a:xfrm>
            <a:custGeom>
              <a:avLst/>
              <a:gdLst/>
              <a:ahLst/>
              <a:cxnLst/>
              <a:rect l="l" t="t" r="r" b="b"/>
              <a:pathLst>
                <a:path w="1887220" h="316865">
                  <a:moveTo>
                    <a:pt x="1833929" y="0"/>
                  </a:moveTo>
                  <a:lnTo>
                    <a:pt x="52754" y="0"/>
                  </a:lnTo>
                  <a:lnTo>
                    <a:pt x="32219" y="4145"/>
                  </a:lnTo>
                  <a:lnTo>
                    <a:pt x="15451" y="15451"/>
                  </a:lnTo>
                  <a:lnTo>
                    <a:pt x="4145" y="32219"/>
                  </a:lnTo>
                  <a:lnTo>
                    <a:pt x="0" y="52754"/>
                  </a:lnTo>
                  <a:lnTo>
                    <a:pt x="0" y="263765"/>
                  </a:lnTo>
                  <a:lnTo>
                    <a:pt x="4145" y="284299"/>
                  </a:lnTo>
                  <a:lnTo>
                    <a:pt x="15451" y="301067"/>
                  </a:lnTo>
                  <a:lnTo>
                    <a:pt x="32219" y="312373"/>
                  </a:lnTo>
                  <a:lnTo>
                    <a:pt x="52754" y="316519"/>
                  </a:lnTo>
                  <a:lnTo>
                    <a:pt x="1833929" y="316519"/>
                  </a:lnTo>
                  <a:lnTo>
                    <a:pt x="1854463" y="312373"/>
                  </a:lnTo>
                  <a:lnTo>
                    <a:pt x="1871232" y="301067"/>
                  </a:lnTo>
                  <a:lnTo>
                    <a:pt x="1882538" y="284299"/>
                  </a:lnTo>
                  <a:lnTo>
                    <a:pt x="1886684" y="263765"/>
                  </a:lnTo>
                  <a:lnTo>
                    <a:pt x="1886684" y="52754"/>
                  </a:lnTo>
                  <a:lnTo>
                    <a:pt x="1882538" y="32219"/>
                  </a:lnTo>
                  <a:lnTo>
                    <a:pt x="1871232" y="15451"/>
                  </a:lnTo>
                  <a:lnTo>
                    <a:pt x="1854463" y="4145"/>
                  </a:lnTo>
                  <a:lnTo>
                    <a:pt x="1833929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807132" y="1329604"/>
            <a:ext cx="194902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October</a:t>
            </a:r>
            <a:r>
              <a:rPr sz="2133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FFFF"/>
                </a:solidFill>
                <a:latin typeface="Calibri"/>
                <a:cs typeface="Calibri"/>
              </a:rPr>
              <a:t>11,</a:t>
            </a:r>
            <a:r>
              <a:rPr sz="2133" spc="-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33" spc="-27" dirty="0">
                <a:solidFill>
                  <a:srgbClr val="FFFFFF"/>
                </a:solidFill>
                <a:latin typeface="Calibri"/>
                <a:cs typeface="Calibri"/>
              </a:rPr>
              <a:t>1884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 rot="19380000">
            <a:off x="9194641" y="2206848"/>
            <a:ext cx="828707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0"/>
              </a:lnSpc>
            </a:pPr>
            <a:r>
              <a:rPr sz="2133" spc="-13" dirty="0">
                <a:latin typeface="Calibri"/>
                <a:cs typeface="Calibri"/>
              </a:rPr>
              <a:t>date</a:t>
            </a:r>
            <a:r>
              <a:rPr sz="2133" spc="-87" dirty="0">
                <a:latin typeface="Calibri"/>
                <a:cs typeface="Calibri"/>
              </a:rPr>
              <a:t> </a:t>
            </a:r>
            <a:r>
              <a:rPr sz="3200" spc="-49" baseline="1736" dirty="0">
                <a:latin typeface="Calibri"/>
                <a:cs typeface="Calibri"/>
              </a:rPr>
              <a:t>of</a:t>
            </a:r>
            <a:endParaRPr sz="3200" baseline="1736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 rot="19380000">
            <a:off x="9504855" y="2460855"/>
            <a:ext cx="599775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3"/>
              </a:lnSpc>
            </a:pPr>
            <a:r>
              <a:rPr sz="2133" spc="-13" dirty="0">
                <a:latin typeface="Calibri"/>
                <a:cs typeface="Calibri"/>
              </a:rPr>
              <a:t>birth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12610" y="4463115"/>
            <a:ext cx="3788833" cy="1769533"/>
            <a:chOff x="4434457" y="3347336"/>
            <a:chExt cx="2841625" cy="1327150"/>
          </a:xfrm>
        </p:grpSpPr>
        <p:sp>
          <p:nvSpPr>
            <p:cNvPr id="34" name="object 34"/>
            <p:cNvSpPr/>
            <p:nvPr/>
          </p:nvSpPr>
          <p:spPr>
            <a:xfrm>
              <a:off x="5721776" y="3927376"/>
              <a:ext cx="754380" cy="673100"/>
            </a:xfrm>
            <a:custGeom>
              <a:avLst/>
              <a:gdLst/>
              <a:ahLst/>
              <a:cxnLst/>
              <a:rect l="l" t="t" r="r" b="b"/>
              <a:pathLst>
                <a:path w="754379" h="673100">
                  <a:moveTo>
                    <a:pt x="0" y="336253"/>
                  </a:moveTo>
                  <a:lnTo>
                    <a:pt x="3442" y="290625"/>
                  </a:lnTo>
                  <a:lnTo>
                    <a:pt x="13472" y="246863"/>
                  </a:lnTo>
                  <a:lnTo>
                    <a:pt x="29638" y="205368"/>
                  </a:lnTo>
                  <a:lnTo>
                    <a:pt x="51492" y="166539"/>
                  </a:lnTo>
                  <a:lnTo>
                    <a:pt x="78584" y="130778"/>
                  </a:lnTo>
                  <a:lnTo>
                    <a:pt x="110465" y="98486"/>
                  </a:lnTo>
                  <a:lnTo>
                    <a:pt x="146686" y="70062"/>
                  </a:lnTo>
                  <a:lnTo>
                    <a:pt x="186796" y="45908"/>
                  </a:lnTo>
                  <a:lnTo>
                    <a:pt x="230348" y="26424"/>
                  </a:lnTo>
                  <a:lnTo>
                    <a:pt x="276891" y="12011"/>
                  </a:lnTo>
                  <a:lnTo>
                    <a:pt x="325976" y="3069"/>
                  </a:lnTo>
                  <a:lnTo>
                    <a:pt x="377153" y="0"/>
                  </a:lnTo>
                  <a:lnTo>
                    <a:pt x="428330" y="3069"/>
                  </a:lnTo>
                  <a:lnTo>
                    <a:pt x="477415" y="12011"/>
                  </a:lnTo>
                  <a:lnTo>
                    <a:pt x="523958" y="26424"/>
                  </a:lnTo>
                  <a:lnTo>
                    <a:pt x="567510" y="45908"/>
                  </a:lnTo>
                  <a:lnTo>
                    <a:pt x="607620" y="70062"/>
                  </a:lnTo>
                  <a:lnTo>
                    <a:pt x="643841" y="98486"/>
                  </a:lnTo>
                  <a:lnTo>
                    <a:pt x="675722" y="130778"/>
                  </a:lnTo>
                  <a:lnTo>
                    <a:pt x="702814" y="166539"/>
                  </a:lnTo>
                  <a:lnTo>
                    <a:pt x="724668" y="205368"/>
                  </a:lnTo>
                  <a:lnTo>
                    <a:pt x="740834" y="246863"/>
                  </a:lnTo>
                  <a:lnTo>
                    <a:pt x="750864" y="290625"/>
                  </a:lnTo>
                  <a:lnTo>
                    <a:pt x="754307" y="336253"/>
                  </a:lnTo>
                  <a:lnTo>
                    <a:pt x="750864" y="381880"/>
                  </a:lnTo>
                  <a:lnTo>
                    <a:pt x="740834" y="425642"/>
                  </a:lnTo>
                  <a:lnTo>
                    <a:pt x="724668" y="467137"/>
                  </a:lnTo>
                  <a:lnTo>
                    <a:pt x="702814" y="505966"/>
                  </a:lnTo>
                  <a:lnTo>
                    <a:pt x="675722" y="541727"/>
                  </a:lnTo>
                  <a:lnTo>
                    <a:pt x="643841" y="574019"/>
                  </a:lnTo>
                  <a:lnTo>
                    <a:pt x="607620" y="602443"/>
                  </a:lnTo>
                  <a:lnTo>
                    <a:pt x="567510" y="626597"/>
                  </a:lnTo>
                  <a:lnTo>
                    <a:pt x="523958" y="646081"/>
                  </a:lnTo>
                  <a:lnTo>
                    <a:pt x="477415" y="660494"/>
                  </a:lnTo>
                  <a:lnTo>
                    <a:pt x="428330" y="669436"/>
                  </a:lnTo>
                  <a:lnTo>
                    <a:pt x="377153" y="672506"/>
                  </a:lnTo>
                  <a:lnTo>
                    <a:pt x="325976" y="669436"/>
                  </a:lnTo>
                  <a:lnTo>
                    <a:pt x="276891" y="660494"/>
                  </a:lnTo>
                  <a:lnTo>
                    <a:pt x="230348" y="646081"/>
                  </a:lnTo>
                  <a:lnTo>
                    <a:pt x="186796" y="626597"/>
                  </a:lnTo>
                  <a:lnTo>
                    <a:pt x="146686" y="602443"/>
                  </a:lnTo>
                  <a:lnTo>
                    <a:pt x="110465" y="574019"/>
                  </a:lnTo>
                  <a:lnTo>
                    <a:pt x="78584" y="541727"/>
                  </a:lnTo>
                  <a:lnTo>
                    <a:pt x="51492" y="505966"/>
                  </a:lnTo>
                  <a:lnTo>
                    <a:pt x="29638" y="467137"/>
                  </a:lnTo>
                  <a:lnTo>
                    <a:pt x="13472" y="425642"/>
                  </a:lnTo>
                  <a:lnTo>
                    <a:pt x="3442" y="381880"/>
                  </a:lnTo>
                  <a:lnTo>
                    <a:pt x="0" y="336253"/>
                  </a:lnTo>
                  <a:close/>
                </a:path>
              </a:pathLst>
            </a:custGeom>
            <a:ln w="25400">
              <a:solidFill>
                <a:srgbClr val="007C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1199" y="3962399"/>
              <a:ext cx="615696" cy="61569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434446" y="3347338"/>
              <a:ext cx="2841625" cy="1327150"/>
            </a:xfrm>
            <a:custGeom>
              <a:avLst/>
              <a:gdLst/>
              <a:ahLst/>
              <a:cxnLst/>
              <a:rect l="l" t="t" r="r" b="b"/>
              <a:pathLst>
                <a:path w="2841625" h="1327150">
                  <a:moveTo>
                    <a:pt x="1287322" y="793851"/>
                  </a:moveTo>
                  <a:lnTo>
                    <a:pt x="1274584" y="776935"/>
                  </a:lnTo>
                  <a:lnTo>
                    <a:pt x="1236078" y="725792"/>
                  </a:lnTo>
                  <a:lnTo>
                    <a:pt x="1224762" y="748525"/>
                  </a:lnTo>
                  <a:lnTo>
                    <a:pt x="11328" y="144653"/>
                  </a:lnTo>
                  <a:lnTo>
                    <a:pt x="0" y="167386"/>
                  </a:lnTo>
                  <a:lnTo>
                    <a:pt x="1213446" y="771271"/>
                  </a:lnTo>
                  <a:lnTo>
                    <a:pt x="1202131" y="794016"/>
                  </a:lnTo>
                  <a:lnTo>
                    <a:pt x="1287322" y="793851"/>
                  </a:lnTo>
                  <a:close/>
                </a:path>
                <a:path w="2841625" h="1327150">
                  <a:moveTo>
                    <a:pt x="2216543" y="11455"/>
                  </a:moveTo>
                  <a:lnTo>
                    <a:pt x="2193874" y="0"/>
                  </a:lnTo>
                  <a:lnTo>
                    <a:pt x="1919046" y="543826"/>
                  </a:lnTo>
                  <a:lnTo>
                    <a:pt x="1896376" y="532371"/>
                  </a:lnTo>
                  <a:lnTo>
                    <a:pt x="1896008" y="617562"/>
                  </a:lnTo>
                  <a:lnTo>
                    <a:pt x="1964385" y="566737"/>
                  </a:lnTo>
                  <a:lnTo>
                    <a:pt x="1964143" y="566623"/>
                  </a:lnTo>
                  <a:lnTo>
                    <a:pt x="1941715" y="555282"/>
                  </a:lnTo>
                  <a:lnTo>
                    <a:pt x="2216543" y="11455"/>
                  </a:lnTo>
                  <a:close/>
                </a:path>
                <a:path w="2841625" h="1327150">
                  <a:moveTo>
                    <a:pt x="2841104" y="1063015"/>
                  </a:moveTo>
                  <a:lnTo>
                    <a:pt x="2836951" y="1042479"/>
                  </a:lnTo>
                  <a:lnTo>
                    <a:pt x="2825648" y="1025715"/>
                  </a:lnTo>
                  <a:lnTo>
                    <a:pt x="2808884" y="1014399"/>
                  </a:lnTo>
                  <a:lnTo>
                    <a:pt x="2788348" y="1010259"/>
                  </a:lnTo>
                  <a:lnTo>
                    <a:pt x="1891538" y="1010259"/>
                  </a:lnTo>
                  <a:lnTo>
                    <a:pt x="1871002" y="1014399"/>
                  </a:lnTo>
                  <a:lnTo>
                    <a:pt x="1854238" y="1025715"/>
                  </a:lnTo>
                  <a:lnTo>
                    <a:pt x="1842922" y="1042479"/>
                  </a:lnTo>
                  <a:lnTo>
                    <a:pt x="1838782" y="1063015"/>
                  </a:lnTo>
                  <a:lnTo>
                    <a:pt x="1838782" y="1274025"/>
                  </a:lnTo>
                  <a:lnTo>
                    <a:pt x="1842922" y="1294561"/>
                  </a:lnTo>
                  <a:lnTo>
                    <a:pt x="1854238" y="1311325"/>
                  </a:lnTo>
                  <a:lnTo>
                    <a:pt x="1871002" y="1322628"/>
                  </a:lnTo>
                  <a:lnTo>
                    <a:pt x="1891538" y="1326781"/>
                  </a:lnTo>
                  <a:lnTo>
                    <a:pt x="2788348" y="1326781"/>
                  </a:lnTo>
                  <a:lnTo>
                    <a:pt x="2808884" y="1322628"/>
                  </a:lnTo>
                  <a:lnTo>
                    <a:pt x="2825648" y="1311325"/>
                  </a:lnTo>
                  <a:lnTo>
                    <a:pt x="2836951" y="1294561"/>
                  </a:lnTo>
                  <a:lnTo>
                    <a:pt x="2841104" y="1274025"/>
                  </a:lnTo>
                  <a:lnTo>
                    <a:pt x="2841104" y="1063015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630359" y="5824388"/>
            <a:ext cx="8051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 rot="17880000">
            <a:off x="8097432" y="4674196"/>
            <a:ext cx="563073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3"/>
              </a:lnSpc>
            </a:pPr>
            <a:r>
              <a:rPr sz="2133" spc="-27" dirty="0">
                <a:latin typeface="Calibri"/>
                <a:cs typeface="Calibri"/>
              </a:rPr>
              <a:t>type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 rot="1560000">
            <a:off x="6616111" y="4781801"/>
            <a:ext cx="563816" cy="274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07"/>
              </a:lnSpc>
            </a:pPr>
            <a:r>
              <a:rPr sz="3200" spc="-40" baseline="1736" dirty="0">
                <a:latin typeface="Calibri"/>
                <a:cs typeface="Calibri"/>
              </a:rPr>
              <a:t>ty</a:t>
            </a:r>
            <a:r>
              <a:rPr sz="2133" spc="-27" dirty="0">
                <a:latin typeface="Calibri"/>
                <a:cs typeface="Calibri"/>
              </a:rPr>
              <a:t>pe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07264" y="2911758"/>
            <a:ext cx="6397413" cy="3401060"/>
            <a:chOff x="455448" y="2183818"/>
            <a:chExt cx="4798060" cy="2550795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594" y="2183818"/>
              <a:ext cx="1243429" cy="101405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0210" y="4125370"/>
              <a:ext cx="4788535" cy="604520"/>
            </a:xfrm>
            <a:custGeom>
              <a:avLst/>
              <a:gdLst/>
              <a:ahLst/>
              <a:cxnLst/>
              <a:rect l="l" t="t" r="r" b="b"/>
              <a:pathLst>
                <a:path w="4788535" h="604520">
                  <a:moveTo>
                    <a:pt x="4687754" y="0"/>
                  </a:moveTo>
                  <a:lnTo>
                    <a:pt x="100702" y="0"/>
                  </a:lnTo>
                  <a:lnTo>
                    <a:pt x="61504" y="7913"/>
                  </a:lnTo>
                  <a:lnTo>
                    <a:pt x="29494" y="29495"/>
                  </a:lnTo>
                  <a:lnTo>
                    <a:pt x="7913" y="61504"/>
                  </a:lnTo>
                  <a:lnTo>
                    <a:pt x="0" y="100702"/>
                  </a:lnTo>
                  <a:lnTo>
                    <a:pt x="0" y="503488"/>
                  </a:lnTo>
                  <a:lnTo>
                    <a:pt x="7913" y="542686"/>
                  </a:lnTo>
                  <a:lnTo>
                    <a:pt x="29494" y="574695"/>
                  </a:lnTo>
                  <a:lnTo>
                    <a:pt x="61504" y="596277"/>
                  </a:lnTo>
                  <a:lnTo>
                    <a:pt x="100702" y="604190"/>
                  </a:lnTo>
                  <a:lnTo>
                    <a:pt x="4687754" y="604190"/>
                  </a:lnTo>
                  <a:lnTo>
                    <a:pt x="4726952" y="596277"/>
                  </a:lnTo>
                  <a:lnTo>
                    <a:pt x="4758961" y="574695"/>
                  </a:lnTo>
                  <a:lnTo>
                    <a:pt x="4780542" y="542686"/>
                  </a:lnTo>
                  <a:lnTo>
                    <a:pt x="4788456" y="503488"/>
                  </a:lnTo>
                  <a:lnTo>
                    <a:pt x="4788456" y="100702"/>
                  </a:lnTo>
                  <a:lnTo>
                    <a:pt x="4780542" y="61504"/>
                  </a:lnTo>
                  <a:lnTo>
                    <a:pt x="4758961" y="29495"/>
                  </a:lnTo>
                  <a:lnTo>
                    <a:pt x="4726952" y="7913"/>
                  </a:lnTo>
                  <a:lnTo>
                    <a:pt x="4687754" y="0"/>
                  </a:lnTo>
                  <a:close/>
                </a:path>
              </a:pathLst>
            </a:custGeom>
            <a:solidFill>
              <a:srgbClr val="F6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0210" y="4125370"/>
              <a:ext cx="4788535" cy="604520"/>
            </a:xfrm>
            <a:custGeom>
              <a:avLst/>
              <a:gdLst/>
              <a:ahLst/>
              <a:cxnLst/>
              <a:rect l="l" t="t" r="r" b="b"/>
              <a:pathLst>
                <a:path w="4788535" h="604520">
                  <a:moveTo>
                    <a:pt x="0" y="100702"/>
                  </a:moveTo>
                  <a:lnTo>
                    <a:pt x="7913" y="61504"/>
                  </a:lnTo>
                  <a:lnTo>
                    <a:pt x="29494" y="29495"/>
                  </a:lnTo>
                  <a:lnTo>
                    <a:pt x="61504" y="7913"/>
                  </a:lnTo>
                  <a:lnTo>
                    <a:pt x="100702" y="0"/>
                  </a:lnTo>
                  <a:lnTo>
                    <a:pt x="4687754" y="0"/>
                  </a:lnTo>
                  <a:lnTo>
                    <a:pt x="4726951" y="7913"/>
                  </a:lnTo>
                  <a:lnTo>
                    <a:pt x="4758961" y="29495"/>
                  </a:lnTo>
                  <a:lnTo>
                    <a:pt x="4780542" y="61504"/>
                  </a:lnTo>
                  <a:lnTo>
                    <a:pt x="4788456" y="100702"/>
                  </a:lnTo>
                  <a:lnTo>
                    <a:pt x="4788456" y="503488"/>
                  </a:lnTo>
                  <a:lnTo>
                    <a:pt x="4780542" y="542686"/>
                  </a:lnTo>
                  <a:lnTo>
                    <a:pt x="4758961" y="574695"/>
                  </a:lnTo>
                  <a:lnTo>
                    <a:pt x="4726951" y="596277"/>
                  </a:lnTo>
                  <a:lnTo>
                    <a:pt x="4687754" y="604191"/>
                  </a:lnTo>
                  <a:lnTo>
                    <a:pt x="100702" y="604191"/>
                  </a:lnTo>
                  <a:lnTo>
                    <a:pt x="61504" y="596277"/>
                  </a:lnTo>
                  <a:lnTo>
                    <a:pt x="29494" y="574695"/>
                  </a:lnTo>
                  <a:lnTo>
                    <a:pt x="7913" y="542686"/>
                  </a:lnTo>
                  <a:lnTo>
                    <a:pt x="0" y="503488"/>
                  </a:lnTo>
                  <a:lnTo>
                    <a:pt x="0" y="10070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11388" y="4993977"/>
            <a:ext cx="5846233" cy="11828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statements</a:t>
            </a:r>
            <a:endParaRPr sz="2400" dirty="0">
              <a:latin typeface="Calibri"/>
              <a:cs typeface="Calibri"/>
            </a:endParaRPr>
          </a:p>
          <a:p>
            <a:pPr marL="263307">
              <a:lnSpc>
                <a:spcPts val="2173"/>
              </a:lnSpc>
              <a:spcBef>
                <a:spcPts val="1780"/>
              </a:spcBef>
            </a:pPr>
            <a:r>
              <a:rPr sz="1867" b="1" dirty="0">
                <a:latin typeface="Courier New"/>
                <a:cs typeface="Courier New"/>
              </a:rPr>
              <a:t>SELECT</a:t>
            </a:r>
            <a:r>
              <a:rPr sz="1867" b="1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date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of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birth</a:t>
            </a:r>
            <a:endParaRPr sz="1867" dirty="0">
              <a:latin typeface="Courier New"/>
              <a:cs typeface="Courier New"/>
            </a:endParaRPr>
          </a:p>
          <a:p>
            <a:pPr marL="263307">
              <a:lnSpc>
                <a:spcPts val="2173"/>
              </a:lnSpc>
            </a:pPr>
            <a:r>
              <a:rPr sz="1867" b="1" dirty="0">
                <a:latin typeface="Courier New"/>
                <a:cs typeface="Courier New"/>
              </a:rPr>
              <a:t>WHERE</a:t>
            </a:r>
            <a:r>
              <a:rPr sz="1867" b="1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person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=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“Franklin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D.</a:t>
            </a:r>
            <a:r>
              <a:rPr sz="1867" spc="-33" dirty="0">
                <a:latin typeface="Courier New"/>
                <a:cs typeface="Courier New"/>
              </a:rPr>
              <a:t> </a:t>
            </a:r>
            <a:r>
              <a:rPr sz="1867" spc="-13" dirty="0">
                <a:latin typeface="Courier New"/>
                <a:cs typeface="Courier New"/>
              </a:rPr>
              <a:t>Roosevelt”</a:t>
            </a:r>
            <a:endParaRPr sz="1867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9E183F-06D9-401F-4A4E-E765EF5D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0E8316-D712-6049-899B-EB800C60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CD283-461E-0ADC-8F35-4E82A897E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56" y="1835067"/>
            <a:ext cx="9059421" cy="36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11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Querying</a:t>
            </a:r>
            <a:r>
              <a:rPr spc="-53" dirty="0"/>
              <a:t> </a:t>
            </a:r>
            <a:r>
              <a:rPr dirty="0"/>
              <a:t>language</a:t>
            </a:r>
            <a:r>
              <a:rPr spc="-33" dirty="0"/>
              <a:t> </a:t>
            </a:r>
            <a:r>
              <a:rPr dirty="0"/>
              <a:t>models</a:t>
            </a:r>
            <a:r>
              <a:rPr spc="-27" dirty="0"/>
              <a:t> </a:t>
            </a:r>
            <a:r>
              <a:rPr dirty="0"/>
              <a:t>as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spc="-13" dirty="0"/>
              <a:t>bases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169753"/>
            <a:ext cx="95275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Pretrain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unstructured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13" dirty="0">
                <a:latin typeface="Calibri"/>
                <a:cs typeface="Calibri"/>
              </a:rPr>
              <a:t> language.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149" y="1935509"/>
            <a:ext cx="10358120" cy="4219787"/>
            <a:chOff x="570862" y="1451632"/>
            <a:chExt cx="7768590" cy="3164840"/>
          </a:xfrm>
        </p:grpSpPr>
        <p:sp>
          <p:nvSpPr>
            <p:cNvPr id="5" name="object 5"/>
            <p:cNvSpPr/>
            <p:nvPr/>
          </p:nvSpPr>
          <p:spPr>
            <a:xfrm>
              <a:off x="678916" y="3587527"/>
              <a:ext cx="7560309" cy="0"/>
            </a:xfrm>
            <a:custGeom>
              <a:avLst/>
              <a:gdLst/>
              <a:ahLst/>
              <a:cxnLst/>
              <a:rect l="l" t="t" r="r" b="b"/>
              <a:pathLst>
                <a:path w="7560309">
                  <a:moveTo>
                    <a:pt x="0" y="0"/>
                  </a:moveTo>
                  <a:lnTo>
                    <a:pt x="5176984" y="0"/>
                  </a:lnTo>
                </a:path>
                <a:path w="7560309">
                  <a:moveTo>
                    <a:pt x="5386889" y="0"/>
                  </a:moveTo>
                  <a:lnTo>
                    <a:pt x="7560003" y="0"/>
                  </a:lnTo>
                </a:path>
              </a:pathLst>
            </a:custGeom>
            <a:ln w="25180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862" y="1451632"/>
              <a:ext cx="7768163" cy="31647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1967" y="2031318"/>
            <a:ext cx="486918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President</a:t>
            </a:r>
            <a:r>
              <a:rPr sz="1400" spc="-33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Franklin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33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born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33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January</a:t>
            </a:r>
            <a:r>
              <a:rPr sz="1400" spc="-27" dirty="0">
                <a:latin typeface="Courier New"/>
                <a:cs typeface="Courier New"/>
              </a:rPr>
              <a:t> 1882.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8090" y="3630309"/>
            <a:ext cx="3580553" cy="453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ts val="1680"/>
              </a:lnSpc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Our</a:t>
            </a:r>
            <a:r>
              <a:rPr sz="1400" spc="7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7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hand-</a:t>
            </a:r>
            <a:r>
              <a:rPr sz="1400" dirty="0">
                <a:latin typeface="Courier New"/>
                <a:cs typeface="Courier New"/>
              </a:rPr>
              <a:t>picked</a:t>
            </a:r>
            <a:r>
              <a:rPr sz="1400" spc="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and</a:t>
            </a:r>
            <a:r>
              <a:rPr sz="1400" spc="13" dirty="0"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sun-dried</a:t>
            </a:r>
            <a:endParaRPr sz="1400">
              <a:latin typeface="Courier New"/>
              <a:cs typeface="Courier New"/>
            </a:endParaRPr>
          </a:p>
          <a:p>
            <a:pPr algn="ctr">
              <a:lnSpc>
                <a:spcPts val="1680"/>
              </a:lnSpc>
            </a:pP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orchard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in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Georgia.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5915" y="2622350"/>
            <a:ext cx="3365500" cy="66428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 algn="ctr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Lily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couldn't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dirty="0">
                <a:latin typeface="Courier New"/>
                <a:cs typeface="Courier New"/>
              </a:rPr>
              <a:t>.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waitress </a:t>
            </a:r>
            <a:r>
              <a:rPr sz="1400" dirty="0">
                <a:latin typeface="Courier New"/>
                <a:cs typeface="Courier New"/>
              </a:rPr>
              <a:t>had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brought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largest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spc="-33" dirty="0">
                <a:latin typeface="Courier New"/>
                <a:cs typeface="Courier New"/>
              </a:rPr>
              <a:t>of </a:t>
            </a:r>
            <a:r>
              <a:rPr sz="1400" dirty="0">
                <a:latin typeface="Courier New"/>
                <a:cs typeface="Courier New"/>
              </a:rPr>
              <a:t>chocolate</a:t>
            </a:r>
            <a:r>
              <a:rPr sz="1400" spc="-33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cake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27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seen.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1963" y="2265783"/>
            <a:ext cx="2505285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D.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Roosevelt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was</a:t>
            </a:r>
            <a:r>
              <a:rPr sz="1400" spc="-13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spc="-33" dirty="0">
                <a:latin typeface="Courier New"/>
                <a:cs typeface="Courier New"/>
              </a:rPr>
              <a:t>in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5869" y="2862072"/>
            <a:ext cx="2397760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 indent="106677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believe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her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eyes</a:t>
            </a:r>
            <a:r>
              <a:rPr sz="1400" spc="-13" dirty="0">
                <a:latin typeface="Courier New"/>
                <a:cs typeface="Courier New"/>
              </a:rPr>
              <a:t> </a:t>
            </a:r>
            <a:r>
              <a:rPr sz="1400" spc="-33" dirty="0">
                <a:solidFill>
                  <a:srgbClr val="666666"/>
                </a:solidFill>
                <a:latin typeface="Courier New"/>
                <a:cs typeface="Courier New"/>
              </a:rPr>
              <a:t>&lt;M&gt; </a:t>
            </a:r>
            <a:r>
              <a:rPr sz="1400" dirty="0">
                <a:latin typeface="Courier New"/>
                <a:cs typeface="Courier New"/>
              </a:rPr>
              <a:t>piece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13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had</a:t>
            </a:r>
            <a:r>
              <a:rPr sz="1400" spc="-13" dirty="0">
                <a:latin typeface="Courier New"/>
                <a:cs typeface="Courier New"/>
              </a:rPr>
              <a:t> </a:t>
            </a:r>
            <a:r>
              <a:rPr sz="1400" spc="-27" dirty="0">
                <a:latin typeface="Courier New"/>
                <a:cs typeface="Courier New"/>
              </a:rPr>
              <a:t>ever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5925" y="3664120"/>
            <a:ext cx="2397760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peaches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are</a:t>
            </a:r>
            <a:r>
              <a:rPr sz="1400" spc="-13" dirty="0"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&lt;M&gt;</a:t>
            </a:r>
            <a:r>
              <a:rPr sz="14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at</a:t>
            </a:r>
            <a:r>
              <a:rPr sz="1400" spc="-13" dirty="0">
                <a:latin typeface="Courier New"/>
                <a:cs typeface="Courier New"/>
              </a:rPr>
              <a:t> </a:t>
            </a:r>
            <a:r>
              <a:rPr sz="1400" spc="-33" dirty="0">
                <a:latin typeface="Courier New"/>
                <a:cs typeface="Courier New"/>
              </a:rPr>
              <a:t>our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3011" y="5488513"/>
            <a:ext cx="2182707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5320" marR="6773" indent="-269233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When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was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Franklin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spc="-33" dirty="0">
                <a:latin typeface="Courier New"/>
                <a:cs typeface="Courier New"/>
              </a:rPr>
              <a:t>D. </a:t>
            </a:r>
            <a:r>
              <a:rPr sz="1400" dirty="0">
                <a:latin typeface="Courier New"/>
                <a:cs typeface="Courier New"/>
              </a:rPr>
              <a:t>Roosevelt</a:t>
            </a:r>
            <a:r>
              <a:rPr sz="1400" spc="-53" dirty="0"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born?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58521" y="5244916"/>
            <a:ext cx="894080" cy="88400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5600" spc="-33" dirty="0">
                <a:latin typeface="Courier New"/>
                <a:cs typeface="Courier New"/>
              </a:rPr>
              <a:t>T5</a:t>
            </a:r>
            <a:endParaRPr sz="5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6523" y="5591399"/>
            <a:ext cx="463973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spc="-27" dirty="0">
                <a:latin typeface="Courier New"/>
                <a:cs typeface="Courier New"/>
              </a:rPr>
              <a:t>1882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43584" y="2684396"/>
            <a:ext cx="2290233" cy="1804767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537620">
              <a:spcBef>
                <a:spcPts val="173"/>
              </a:spcBef>
            </a:pPr>
            <a:r>
              <a:rPr sz="5600" spc="-33" dirty="0">
                <a:latin typeface="Courier New"/>
                <a:cs typeface="Courier New"/>
              </a:rPr>
              <a:t>T5</a:t>
            </a:r>
            <a:endParaRPr sz="5600">
              <a:latin typeface="Courier New"/>
              <a:cs typeface="Courier New"/>
            </a:endParaRPr>
          </a:p>
          <a:p>
            <a:pPr marL="16933">
              <a:spcBef>
                <a:spcPts val="5453"/>
              </a:spcBef>
            </a:pPr>
            <a:r>
              <a:rPr sz="1400" dirty="0">
                <a:latin typeface="Courier New"/>
                <a:cs typeface="Courier New"/>
              </a:rPr>
              <a:t>President</a:t>
            </a:r>
            <a:r>
              <a:rPr sz="1400" spc="-53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Franklin</a:t>
            </a:r>
            <a:r>
              <a:rPr sz="1400" spc="-47" dirty="0">
                <a:latin typeface="Courier New"/>
                <a:cs typeface="Courier New"/>
              </a:rPr>
              <a:t> </a:t>
            </a:r>
            <a:r>
              <a:rPr sz="1400" spc="-33" dirty="0">
                <a:latin typeface="Courier New"/>
                <a:cs typeface="Courier New"/>
              </a:rPr>
              <a:t>D.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4766" y="4447419"/>
            <a:ext cx="1968500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3610" marR="6773" indent="-107524">
              <a:spcBef>
                <a:spcPts val="140"/>
              </a:spcBef>
            </a:pPr>
            <a:r>
              <a:rPr sz="1400" dirty="0">
                <a:latin typeface="Courier New"/>
                <a:cs typeface="Courier New"/>
              </a:rPr>
              <a:t>Roosevelt</a:t>
            </a:r>
            <a:r>
              <a:rPr sz="1400" spc="-33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was</a:t>
            </a:r>
            <a:r>
              <a:rPr sz="1400" spc="-33" dirty="0">
                <a:latin typeface="Courier New"/>
                <a:cs typeface="Courier New"/>
              </a:rPr>
              <a:t> </a:t>
            </a:r>
            <a:r>
              <a:rPr sz="1400" spc="-27" dirty="0">
                <a:latin typeface="Courier New"/>
                <a:cs typeface="Courier New"/>
              </a:rPr>
              <a:t>born </a:t>
            </a:r>
            <a:r>
              <a:rPr sz="1400" dirty="0">
                <a:latin typeface="Courier New"/>
                <a:cs typeface="Courier New"/>
              </a:rPr>
              <a:t>in</a:t>
            </a:r>
            <a:r>
              <a:rPr sz="1400" spc="-27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January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3" dirty="0">
                <a:latin typeface="Courier New"/>
                <a:cs typeface="Courier New"/>
              </a:rPr>
              <a:t>1882.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4068" y="4360211"/>
            <a:ext cx="1427480" cy="34118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2067" i="1" spc="-107" dirty="0">
                <a:solidFill>
                  <a:srgbClr val="666666"/>
                </a:solidFill>
                <a:latin typeface="Verdana"/>
                <a:cs typeface="Verdana"/>
              </a:rPr>
              <a:t>Pre-</a:t>
            </a:r>
            <a:r>
              <a:rPr sz="2067" i="1" spc="-113" dirty="0">
                <a:solidFill>
                  <a:srgbClr val="666666"/>
                </a:solidFill>
                <a:latin typeface="Verdana"/>
                <a:cs typeface="Verdana"/>
              </a:rPr>
              <a:t>training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4069" y="4833168"/>
            <a:ext cx="1392767" cy="341184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2067" i="1" spc="-113" dirty="0">
                <a:solidFill>
                  <a:srgbClr val="666666"/>
                </a:solidFill>
                <a:latin typeface="Verdana"/>
                <a:cs typeface="Verdana"/>
              </a:rPr>
              <a:t>Fine-</a:t>
            </a:r>
            <a:r>
              <a:rPr sz="2067" i="1" spc="-100" dirty="0">
                <a:solidFill>
                  <a:srgbClr val="666666"/>
                </a:solidFill>
                <a:latin typeface="Verdana"/>
                <a:cs typeface="Verdana"/>
              </a:rPr>
              <a:t>tuning</a:t>
            </a:r>
            <a:endParaRPr sz="2067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7310" y="6164411"/>
            <a:ext cx="34027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Roberts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et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al.,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EMNLP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2020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12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Advantages</a:t>
            </a:r>
            <a:r>
              <a:rPr spc="-33" dirty="0"/>
              <a:t> </a:t>
            </a:r>
            <a:r>
              <a:rPr dirty="0"/>
              <a:t>of</a:t>
            </a:r>
            <a:r>
              <a:rPr spc="-27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models</a:t>
            </a:r>
            <a:r>
              <a:rPr spc="-20" dirty="0"/>
              <a:t> </a:t>
            </a:r>
            <a:r>
              <a:rPr dirty="0"/>
              <a:t>over</a:t>
            </a:r>
            <a:r>
              <a:rPr spc="-33" dirty="0"/>
              <a:t> </a:t>
            </a:r>
            <a:r>
              <a:rPr dirty="0"/>
              <a:t>traditional</a:t>
            </a:r>
            <a:r>
              <a:rPr spc="-27" dirty="0"/>
              <a:t> </a:t>
            </a:r>
            <a:r>
              <a:rPr spc="-33" dirty="0"/>
              <a:t>KBs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8" y="1096601"/>
            <a:ext cx="11261513" cy="5494795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LMs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 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 amounts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unstructured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and unlabeled </a:t>
            </a:r>
            <a:r>
              <a:rPr sz="2400" spc="-27" dirty="0">
                <a:solidFill>
                  <a:srgbClr val="00B050"/>
                </a:solidFill>
                <a:latin typeface="Calibri"/>
                <a:cs typeface="Calibri"/>
              </a:rPr>
              <a:t>text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KBs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annotation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NLP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pipelines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13" dirty="0">
                <a:latin typeface="Calibri"/>
                <a:cs typeface="Calibri"/>
              </a:rPr>
              <a:t>populate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73"/>
              </a:spcBef>
              <a:buClr>
                <a:srgbClr val="007C92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LMs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flexible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natural language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queries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What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does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final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F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song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U.F.O.F.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stand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i="1" spc="-27" dirty="0">
                <a:latin typeface="Calibri"/>
                <a:cs typeface="Calibri"/>
              </a:rPr>
              <a:t>for?</a:t>
            </a:r>
            <a:endParaRPr sz="2400" dirty="0">
              <a:latin typeface="Calibri"/>
              <a:cs typeface="Calibri"/>
            </a:endParaRPr>
          </a:p>
          <a:p>
            <a:pPr marL="1044761" lvl="2" indent="-227748">
              <a:spcBef>
                <a:spcPts val="480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latin typeface="Calibri"/>
                <a:cs typeface="Calibri"/>
              </a:rPr>
              <a:t>Traditional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KB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wouldn’t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field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“final F”;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may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this</a:t>
            </a:r>
            <a:endParaRPr sz="2400" dirty="0">
              <a:latin typeface="Calibri"/>
              <a:cs typeface="Calibri"/>
            </a:endParaRPr>
          </a:p>
          <a:p>
            <a:pPr lvl="2"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However,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 many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open challenges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using LMs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KBs: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Hard to</a:t>
            </a:r>
            <a:r>
              <a:rPr sz="2400" spc="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interpret </a:t>
            </a:r>
            <a:r>
              <a:rPr sz="2400" dirty="0">
                <a:latin typeface="Calibri"/>
                <a:cs typeface="Calibri"/>
              </a:rPr>
              <a:t>(i.e., why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answer)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Hard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trust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 the 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realistic,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incorrect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answer)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Hard to modify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 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LM)</a:t>
            </a:r>
            <a:endParaRPr sz="2400" dirty="0">
              <a:latin typeface="Calibri"/>
              <a:cs typeface="Calibri"/>
            </a:endParaRPr>
          </a:p>
          <a:p>
            <a:pPr marL="4223914">
              <a:spcBef>
                <a:spcPts val="1920"/>
              </a:spcBef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Petroni</a:t>
            </a:r>
            <a:r>
              <a:rPr sz="2400" u="sng" spc="-3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sz="2400" spc="-20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C92"/>
                </a:solidFill>
                <a:latin typeface="Calibri"/>
                <a:cs typeface="Calibri"/>
              </a:rPr>
              <a:t>&amp;</a:t>
            </a:r>
            <a:r>
              <a:rPr sz="2400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Roberts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et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al.,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EMNLP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3"/>
              </a:rPr>
              <a:t>2020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33"/>
              </a:spcBef>
            </a:pPr>
            <a:r>
              <a:rPr dirty="0"/>
              <a:t>Section</a:t>
            </a:r>
            <a:r>
              <a:rPr spc="-27" dirty="0"/>
              <a:t> </a:t>
            </a:r>
            <a:r>
              <a:rPr spc="-33" dirty="0"/>
              <a:t>2:</a:t>
            </a:r>
          </a:p>
          <a:p>
            <a:pPr algn="ctr">
              <a:lnSpc>
                <a:spcPct val="100000"/>
              </a:lnSpc>
            </a:pPr>
            <a:r>
              <a:rPr dirty="0"/>
              <a:t>Techniques</a:t>
            </a:r>
            <a:r>
              <a:rPr spc="-33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13</a:t>
            </a:fld>
            <a:endParaRPr spc="-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14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Techniques</a:t>
            </a:r>
            <a:r>
              <a:rPr spc="-33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4852" y="1169753"/>
            <a:ext cx="43831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Add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pretrained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851" y="1519258"/>
            <a:ext cx="1816947" cy="1011388"/>
          </a:xfrm>
          <a:prstGeom prst="rect">
            <a:avLst/>
          </a:prstGeom>
        </p:spPr>
        <p:txBody>
          <a:bodyPr vert="horz" wrap="square" lIns="0" tIns="143087" rIns="0" bIns="0" rtlCol="0">
            <a:spAutoFit/>
          </a:bodyPr>
          <a:lstStyle/>
          <a:p>
            <a:pPr marL="473275" indent="-456342">
              <a:spcBef>
                <a:spcPts val="112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ERNIE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98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KnowBERT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851" y="2974171"/>
            <a:ext cx="3136900" cy="1495281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6933">
              <a:spcBef>
                <a:spcPts val="1120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Use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an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external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memory</a:t>
            </a:r>
            <a:endParaRPr sz="2400" dirty="0">
              <a:latin typeface="Calibri"/>
              <a:cs typeface="Calibri"/>
            </a:endParaRPr>
          </a:p>
          <a:p>
            <a:pPr marL="473275" indent="-456342">
              <a:spcBef>
                <a:spcPts val="993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27" dirty="0">
                <a:solidFill>
                  <a:schemeClr val="accent4"/>
                </a:solidFill>
                <a:latin typeface="Calibri"/>
                <a:cs typeface="Calibri"/>
              </a:rPr>
              <a:t>KGLM</a:t>
            </a:r>
            <a:endParaRPr sz="2400" dirty="0">
              <a:solidFill>
                <a:schemeClr val="accent4"/>
              </a:solidFill>
              <a:latin typeface="Calibri"/>
              <a:cs typeface="Calibri"/>
            </a:endParaRPr>
          </a:p>
          <a:p>
            <a:pPr marL="473275" indent="-456342">
              <a:spcBef>
                <a:spcPts val="86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kNN-</a:t>
            </a:r>
            <a:r>
              <a:rPr sz="2400" spc="-33" dirty="0">
                <a:latin typeface="Calibri"/>
                <a:cs typeface="Calibri"/>
              </a:rPr>
              <a:t>LM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32260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2260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2260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2260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31328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31328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1328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1328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35789" y="2926757"/>
            <a:ext cx="14300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17109" algn="l"/>
              </a:tabLst>
            </a:pPr>
            <a:r>
              <a:rPr sz="2133" i="1" spc="-27" dirty="0">
                <a:latin typeface="Calibri"/>
                <a:cs typeface="Calibri"/>
              </a:rPr>
              <a:t>keys</a:t>
            </a:r>
            <a:r>
              <a:rPr sz="2133" i="1" dirty="0">
                <a:latin typeface="Calibri"/>
                <a:cs typeface="Calibri"/>
              </a:rPr>
              <a:t>	</a:t>
            </a:r>
            <a:r>
              <a:rPr sz="2133" i="1" spc="-13" dirty="0">
                <a:latin typeface="Calibri"/>
                <a:cs typeface="Calibri"/>
              </a:rPr>
              <a:t>values</a:t>
            </a:r>
            <a:endParaRPr sz="2133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260" y="1524208"/>
            <a:ext cx="3337659" cy="58404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22102" y="2101764"/>
            <a:ext cx="129201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token</a:t>
            </a:r>
            <a:r>
              <a:rPr sz="2133" i="1" spc="-113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83839" y="2077380"/>
            <a:ext cx="13123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entity</a:t>
            </a:r>
            <a:r>
              <a:rPr sz="2133" i="1" spc="-40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84132" y="5736589"/>
            <a:ext cx="3132667" cy="281939"/>
            <a:chOff x="813099" y="4302442"/>
            <a:chExt cx="2349500" cy="211454"/>
          </a:xfrm>
        </p:grpSpPr>
        <p:sp>
          <p:nvSpPr>
            <p:cNvPr id="19" name="object 19"/>
            <p:cNvSpPr/>
            <p:nvPr/>
          </p:nvSpPr>
          <p:spPr>
            <a:xfrm>
              <a:off x="813092" y="4302442"/>
              <a:ext cx="927100" cy="211454"/>
            </a:xfrm>
            <a:custGeom>
              <a:avLst/>
              <a:gdLst/>
              <a:ahLst/>
              <a:cxnLst/>
              <a:rect l="l" t="t" r="r" b="b"/>
              <a:pathLst>
                <a:path w="927100" h="211454">
                  <a:moveTo>
                    <a:pt x="449148" y="35179"/>
                  </a:moveTo>
                  <a:lnTo>
                    <a:pt x="446379" y="21488"/>
                  </a:lnTo>
                  <a:lnTo>
                    <a:pt x="438848" y="10312"/>
                  </a:lnTo>
                  <a:lnTo>
                    <a:pt x="427659" y="2768"/>
                  </a:lnTo>
                  <a:lnTo>
                    <a:pt x="413969" y="0"/>
                  </a:lnTo>
                  <a:lnTo>
                    <a:pt x="35166" y="0"/>
                  </a:lnTo>
                  <a:lnTo>
                    <a:pt x="21475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75" y="208254"/>
                  </a:lnTo>
                  <a:lnTo>
                    <a:pt x="35166" y="211023"/>
                  </a:lnTo>
                  <a:lnTo>
                    <a:pt x="413969" y="211023"/>
                  </a:lnTo>
                  <a:lnTo>
                    <a:pt x="427659" y="208254"/>
                  </a:lnTo>
                  <a:lnTo>
                    <a:pt x="438848" y="200723"/>
                  </a:lnTo>
                  <a:lnTo>
                    <a:pt x="446379" y="189547"/>
                  </a:lnTo>
                  <a:lnTo>
                    <a:pt x="449148" y="175856"/>
                  </a:lnTo>
                  <a:lnTo>
                    <a:pt x="449148" y="35179"/>
                  </a:lnTo>
                  <a:close/>
                </a:path>
                <a:path w="927100" h="211454">
                  <a:moveTo>
                    <a:pt x="926858" y="35179"/>
                  </a:moveTo>
                  <a:lnTo>
                    <a:pt x="924090" y="21488"/>
                  </a:lnTo>
                  <a:lnTo>
                    <a:pt x="916559" y="10312"/>
                  </a:lnTo>
                  <a:lnTo>
                    <a:pt x="905383" y="2768"/>
                  </a:lnTo>
                  <a:lnTo>
                    <a:pt x="891692" y="0"/>
                  </a:lnTo>
                  <a:lnTo>
                    <a:pt x="512889" y="0"/>
                  </a:lnTo>
                  <a:lnTo>
                    <a:pt x="499198" y="2768"/>
                  </a:lnTo>
                  <a:lnTo>
                    <a:pt x="488010" y="10312"/>
                  </a:lnTo>
                  <a:lnTo>
                    <a:pt x="480479" y="21488"/>
                  </a:lnTo>
                  <a:lnTo>
                    <a:pt x="477710" y="35179"/>
                  </a:lnTo>
                  <a:lnTo>
                    <a:pt x="477710" y="175856"/>
                  </a:lnTo>
                  <a:lnTo>
                    <a:pt x="480479" y="189547"/>
                  </a:lnTo>
                  <a:lnTo>
                    <a:pt x="488010" y="200723"/>
                  </a:lnTo>
                  <a:lnTo>
                    <a:pt x="499198" y="208254"/>
                  </a:lnTo>
                  <a:lnTo>
                    <a:pt x="512889" y="211023"/>
                  </a:lnTo>
                  <a:lnTo>
                    <a:pt x="891692" y="211023"/>
                  </a:lnTo>
                  <a:lnTo>
                    <a:pt x="905383" y="208254"/>
                  </a:lnTo>
                  <a:lnTo>
                    <a:pt x="916559" y="200723"/>
                  </a:lnTo>
                  <a:lnTo>
                    <a:pt x="924090" y="189547"/>
                  </a:lnTo>
                  <a:lnTo>
                    <a:pt x="926858" y="175856"/>
                  </a:lnTo>
                  <a:lnTo>
                    <a:pt x="926858" y="35179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8158" y="4302442"/>
              <a:ext cx="449141" cy="2110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503" y="4302442"/>
              <a:ext cx="449141" cy="21101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13056" y="4302442"/>
              <a:ext cx="449580" cy="211454"/>
            </a:xfrm>
            <a:custGeom>
              <a:avLst/>
              <a:gdLst/>
              <a:ahLst/>
              <a:cxnLst/>
              <a:rect l="l" t="t" r="r" b="b"/>
              <a:pathLst>
                <a:path w="449580" h="211454">
                  <a:moveTo>
                    <a:pt x="413971" y="0"/>
                  </a:moveTo>
                  <a:lnTo>
                    <a:pt x="35168" y="0"/>
                  </a:lnTo>
                  <a:lnTo>
                    <a:pt x="21479" y="2763"/>
                  </a:lnTo>
                  <a:lnTo>
                    <a:pt x="10300" y="10301"/>
                  </a:lnTo>
                  <a:lnTo>
                    <a:pt x="2763" y="21480"/>
                  </a:lnTo>
                  <a:lnTo>
                    <a:pt x="0" y="35170"/>
                  </a:lnTo>
                  <a:lnTo>
                    <a:pt x="0" y="175845"/>
                  </a:lnTo>
                  <a:lnTo>
                    <a:pt x="2763" y="189535"/>
                  </a:lnTo>
                  <a:lnTo>
                    <a:pt x="10300" y="200714"/>
                  </a:lnTo>
                  <a:lnTo>
                    <a:pt x="21479" y="208252"/>
                  </a:lnTo>
                  <a:lnTo>
                    <a:pt x="35168" y="211016"/>
                  </a:lnTo>
                  <a:lnTo>
                    <a:pt x="413971" y="211016"/>
                  </a:lnTo>
                  <a:lnTo>
                    <a:pt x="427661" y="208252"/>
                  </a:lnTo>
                  <a:lnTo>
                    <a:pt x="438840" y="200714"/>
                  </a:lnTo>
                  <a:lnTo>
                    <a:pt x="446377" y="189535"/>
                  </a:lnTo>
                  <a:lnTo>
                    <a:pt x="449141" y="175845"/>
                  </a:lnTo>
                  <a:lnTo>
                    <a:pt x="449141" y="35170"/>
                  </a:lnTo>
                  <a:lnTo>
                    <a:pt x="446377" y="21480"/>
                  </a:lnTo>
                  <a:lnTo>
                    <a:pt x="438840" y="10301"/>
                  </a:lnTo>
                  <a:lnTo>
                    <a:pt x="427661" y="2763"/>
                  </a:lnTo>
                  <a:lnTo>
                    <a:pt x="413971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54851" y="5061395"/>
            <a:ext cx="3125047" cy="371041"/>
          </a:xfrm>
          <a:prstGeom prst="rect">
            <a:avLst/>
          </a:prstGeom>
        </p:spPr>
        <p:txBody>
          <a:bodyPr vert="horz" wrap="square" lIns="0" tIns="1693" rIns="0" bIns="0" rtlCol="0">
            <a:spAutoFit/>
          </a:bodyPr>
          <a:lstStyle/>
          <a:p>
            <a:pPr marL="16933">
              <a:spcBef>
                <a:spcPts val="1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Modify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training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5852" y="5536883"/>
            <a:ext cx="4824305" cy="868614"/>
          </a:xfrm>
          <a:prstGeom prst="rect">
            <a:avLst/>
          </a:prstGeom>
        </p:spPr>
        <p:txBody>
          <a:bodyPr vert="horz" wrap="square" lIns="0" tIns="1693" rIns="0" bIns="0" rtlCol="0">
            <a:spAutoFit/>
          </a:bodyPr>
          <a:lstStyle/>
          <a:p>
            <a:pPr marL="16933">
              <a:spcBef>
                <a:spcPts val="13"/>
              </a:spcBef>
            </a:pPr>
            <a:r>
              <a:rPr sz="2400" spc="-27" dirty="0">
                <a:latin typeface="Calibri"/>
                <a:cs typeface="Calibri"/>
              </a:rPr>
              <a:t>WKLM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993"/>
              </a:spcBef>
            </a:pP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(another!),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 </a:t>
            </a:r>
            <a:r>
              <a:rPr sz="2400" spc="-13" dirty="0">
                <a:latin typeface="Calibri"/>
                <a:cs typeface="Calibri"/>
              </a:rPr>
              <a:t>masking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54852" y="5551172"/>
            <a:ext cx="141393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6933">
              <a:spcBef>
                <a:spcPts val="993"/>
              </a:spcBef>
            </a:pP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4249" y="6020234"/>
            <a:ext cx="1882140" cy="331651"/>
          </a:xfrm>
          <a:prstGeom prst="rect">
            <a:avLst/>
          </a:prstGeom>
        </p:spPr>
        <p:txBody>
          <a:bodyPr vert="horz" wrap="square" lIns="0" tIns="3387" rIns="0" bIns="0" rtlCol="0">
            <a:spAutoFit/>
          </a:bodyPr>
          <a:lstStyle/>
          <a:p>
            <a:pPr marL="16933">
              <a:spcBef>
                <a:spcPts val="27"/>
              </a:spcBef>
            </a:pPr>
            <a:r>
              <a:rPr sz="2133" i="1" dirty="0">
                <a:latin typeface="Calibri"/>
                <a:cs typeface="Calibri"/>
              </a:rPr>
              <a:t>corrupted</a:t>
            </a:r>
            <a:r>
              <a:rPr sz="2133" i="1" spc="-60" dirty="0">
                <a:latin typeface="Calibri"/>
                <a:cs typeface="Calibri"/>
              </a:rPr>
              <a:t> </a:t>
            </a:r>
            <a:r>
              <a:rPr sz="2133" i="1" spc="-13" dirty="0">
                <a:latin typeface="Calibri"/>
                <a:cs typeface="Calibri"/>
              </a:rPr>
              <a:t>tokens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15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Techniques</a:t>
            </a:r>
            <a:r>
              <a:rPr spc="-33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4852" y="1169753"/>
            <a:ext cx="43831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Add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pretrained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851" y="1519258"/>
            <a:ext cx="1816947" cy="1011388"/>
          </a:xfrm>
          <a:prstGeom prst="rect">
            <a:avLst/>
          </a:prstGeom>
        </p:spPr>
        <p:txBody>
          <a:bodyPr vert="horz" wrap="square" lIns="0" tIns="143087" rIns="0" bIns="0" rtlCol="0">
            <a:spAutoFit/>
          </a:bodyPr>
          <a:lstStyle/>
          <a:p>
            <a:pPr marL="473275" indent="-456342">
              <a:spcBef>
                <a:spcPts val="112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ERNIE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98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KnowBERT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851" y="2974171"/>
            <a:ext cx="3136900" cy="1495281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6933">
              <a:spcBef>
                <a:spcPts val="1120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Use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an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external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993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27" dirty="0">
                <a:latin typeface="Calibri"/>
                <a:cs typeface="Calibri"/>
              </a:rPr>
              <a:t>KGLM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86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kNN-</a:t>
            </a:r>
            <a:r>
              <a:rPr sz="2400" spc="-33" dirty="0">
                <a:latin typeface="Calibri"/>
                <a:cs typeface="Calibri"/>
              </a:rPr>
              <a:t>LM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32260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2260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2260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2260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31328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31328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1328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1328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35789" y="2926757"/>
            <a:ext cx="14300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17109" algn="l"/>
              </a:tabLst>
            </a:pPr>
            <a:r>
              <a:rPr sz="2133" i="1" spc="-27" dirty="0">
                <a:latin typeface="Calibri"/>
                <a:cs typeface="Calibri"/>
              </a:rPr>
              <a:t>keys</a:t>
            </a:r>
            <a:r>
              <a:rPr sz="2133" i="1" dirty="0">
                <a:latin typeface="Calibri"/>
                <a:cs typeface="Calibri"/>
              </a:rPr>
              <a:t>	</a:t>
            </a:r>
            <a:r>
              <a:rPr sz="2133" i="1" spc="-13" dirty="0">
                <a:latin typeface="Calibri"/>
                <a:cs typeface="Calibri"/>
              </a:rPr>
              <a:t>values</a:t>
            </a:r>
            <a:endParaRPr sz="2133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260" y="1524208"/>
            <a:ext cx="3337659" cy="58404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22102" y="2101764"/>
            <a:ext cx="129201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token</a:t>
            </a:r>
            <a:r>
              <a:rPr sz="2133" i="1" spc="-113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83839" y="2077380"/>
            <a:ext cx="13123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entity</a:t>
            </a:r>
            <a:r>
              <a:rPr sz="2133" i="1" spc="-40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6398" y="2672860"/>
            <a:ext cx="10281073" cy="4109720"/>
            <a:chOff x="304798" y="2004645"/>
            <a:chExt cx="7710805" cy="3082290"/>
          </a:xfrm>
        </p:grpSpPr>
        <p:sp>
          <p:nvSpPr>
            <p:cNvPr id="19" name="object 19"/>
            <p:cNvSpPr/>
            <p:nvPr/>
          </p:nvSpPr>
          <p:spPr>
            <a:xfrm>
              <a:off x="813092" y="4302442"/>
              <a:ext cx="927100" cy="211454"/>
            </a:xfrm>
            <a:custGeom>
              <a:avLst/>
              <a:gdLst/>
              <a:ahLst/>
              <a:cxnLst/>
              <a:rect l="l" t="t" r="r" b="b"/>
              <a:pathLst>
                <a:path w="927100" h="211454">
                  <a:moveTo>
                    <a:pt x="449148" y="35179"/>
                  </a:moveTo>
                  <a:lnTo>
                    <a:pt x="446379" y="21488"/>
                  </a:lnTo>
                  <a:lnTo>
                    <a:pt x="438848" y="10312"/>
                  </a:lnTo>
                  <a:lnTo>
                    <a:pt x="427659" y="2768"/>
                  </a:lnTo>
                  <a:lnTo>
                    <a:pt x="413969" y="0"/>
                  </a:lnTo>
                  <a:lnTo>
                    <a:pt x="35166" y="0"/>
                  </a:lnTo>
                  <a:lnTo>
                    <a:pt x="21475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75" y="208254"/>
                  </a:lnTo>
                  <a:lnTo>
                    <a:pt x="35166" y="211023"/>
                  </a:lnTo>
                  <a:lnTo>
                    <a:pt x="413969" y="211023"/>
                  </a:lnTo>
                  <a:lnTo>
                    <a:pt x="427659" y="208254"/>
                  </a:lnTo>
                  <a:lnTo>
                    <a:pt x="438848" y="200723"/>
                  </a:lnTo>
                  <a:lnTo>
                    <a:pt x="446379" y="189547"/>
                  </a:lnTo>
                  <a:lnTo>
                    <a:pt x="449148" y="175856"/>
                  </a:lnTo>
                  <a:lnTo>
                    <a:pt x="449148" y="35179"/>
                  </a:lnTo>
                  <a:close/>
                </a:path>
                <a:path w="927100" h="211454">
                  <a:moveTo>
                    <a:pt x="926858" y="35179"/>
                  </a:moveTo>
                  <a:lnTo>
                    <a:pt x="924090" y="21488"/>
                  </a:lnTo>
                  <a:lnTo>
                    <a:pt x="916559" y="10312"/>
                  </a:lnTo>
                  <a:lnTo>
                    <a:pt x="905383" y="2768"/>
                  </a:lnTo>
                  <a:lnTo>
                    <a:pt x="891692" y="0"/>
                  </a:lnTo>
                  <a:lnTo>
                    <a:pt x="512889" y="0"/>
                  </a:lnTo>
                  <a:lnTo>
                    <a:pt x="499198" y="2768"/>
                  </a:lnTo>
                  <a:lnTo>
                    <a:pt x="488010" y="10312"/>
                  </a:lnTo>
                  <a:lnTo>
                    <a:pt x="480479" y="21488"/>
                  </a:lnTo>
                  <a:lnTo>
                    <a:pt x="477710" y="35179"/>
                  </a:lnTo>
                  <a:lnTo>
                    <a:pt x="477710" y="175856"/>
                  </a:lnTo>
                  <a:lnTo>
                    <a:pt x="480479" y="189547"/>
                  </a:lnTo>
                  <a:lnTo>
                    <a:pt x="488010" y="200723"/>
                  </a:lnTo>
                  <a:lnTo>
                    <a:pt x="499198" y="208254"/>
                  </a:lnTo>
                  <a:lnTo>
                    <a:pt x="512889" y="211023"/>
                  </a:lnTo>
                  <a:lnTo>
                    <a:pt x="891692" y="211023"/>
                  </a:lnTo>
                  <a:lnTo>
                    <a:pt x="905383" y="208254"/>
                  </a:lnTo>
                  <a:lnTo>
                    <a:pt x="916559" y="200723"/>
                  </a:lnTo>
                  <a:lnTo>
                    <a:pt x="924090" y="189547"/>
                  </a:lnTo>
                  <a:lnTo>
                    <a:pt x="926858" y="175856"/>
                  </a:lnTo>
                  <a:lnTo>
                    <a:pt x="926858" y="35179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8158" y="4302442"/>
              <a:ext cx="449141" cy="2110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503" y="4302442"/>
              <a:ext cx="449141" cy="21101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13056" y="4302442"/>
              <a:ext cx="449580" cy="211454"/>
            </a:xfrm>
            <a:custGeom>
              <a:avLst/>
              <a:gdLst/>
              <a:ahLst/>
              <a:cxnLst/>
              <a:rect l="l" t="t" r="r" b="b"/>
              <a:pathLst>
                <a:path w="449580" h="211454">
                  <a:moveTo>
                    <a:pt x="413971" y="0"/>
                  </a:moveTo>
                  <a:lnTo>
                    <a:pt x="35168" y="0"/>
                  </a:lnTo>
                  <a:lnTo>
                    <a:pt x="21479" y="2763"/>
                  </a:lnTo>
                  <a:lnTo>
                    <a:pt x="10300" y="10301"/>
                  </a:lnTo>
                  <a:lnTo>
                    <a:pt x="2763" y="21480"/>
                  </a:lnTo>
                  <a:lnTo>
                    <a:pt x="0" y="35170"/>
                  </a:lnTo>
                  <a:lnTo>
                    <a:pt x="0" y="175845"/>
                  </a:lnTo>
                  <a:lnTo>
                    <a:pt x="2763" y="189535"/>
                  </a:lnTo>
                  <a:lnTo>
                    <a:pt x="10300" y="200714"/>
                  </a:lnTo>
                  <a:lnTo>
                    <a:pt x="21479" y="208252"/>
                  </a:lnTo>
                  <a:lnTo>
                    <a:pt x="35168" y="211016"/>
                  </a:lnTo>
                  <a:lnTo>
                    <a:pt x="413971" y="211016"/>
                  </a:lnTo>
                  <a:lnTo>
                    <a:pt x="427661" y="208252"/>
                  </a:lnTo>
                  <a:lnTo>
                    <a:pt x="438840" y="200714"/>
                  </a:lnTo>
                  <a:lnTo>
                    <a:pt x="446377" y="189535"/>
                  </a:lnTo>
                  <a:lnTo>
                    <a:pt x="449141" y="175845"/>
                  </a:lnTo>
                  <a:lnTo>
                    <a:pt x="449141" y="35170"/>
                  </a:lnTo>
                  <a:lnTo>
                    <a:pt x="446377" y="21480"/>
                  </a:lnTo>
                  <a:lnTo>
                    <a:pt x="438840" y="10301"/>
                  </a:lnTo>
                  <a:lnTo>
                    <a:pt x="427661" y="2763"/>
                  </a:lnTo>
                  <a:lnTo>
                    <a:pt x="413971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4798" y="2004645"/>
              <a:ext cx="7710805" cy="3082290"/>
            </a:xfrm>
            <a:custGeom>
              <a:avLst/>
              <a:gdLst/>
              <a:ahLst/>
              <a:cxnLst/>
              <a:rect l="l" t="t" r="r" b="b"/>
              <a:pathLst>
                <a:path w="7710805" h="3082290">
                  <a:moveTo>
                    <a:pt x="7710196" y="0"/>
                  </a:moveTo>
                  <a:lnTo>
                    <a:pt x="0" y="0"/>
                  </a:lnTo>
                  <a:lnTo>
                    <a:pt x="0" y="3081704"/>
                  </a:lnTo>
                  <a:lnTo>
                    <a:pt x="7710196" y="3081704"/>
                  </a:lnTo>
                  <a:lnTo>
                    <a:pt x="7710196" y="0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54851" y="5061395"/>
            <a:ext cx="3125047" cy="371041"/>
          </a:xfrm>
          <a:prstGeom prst="rect">
            <a:avLst/>
          </a:prstGeom>
        </p:spPr>
        <p:txBody>
          <a:bodyPr vert="horz" wrap="square" lIns="0" tIns="1693" rIns="0" bIns="0" rtlCol="0">
            <a:spAutoFit/>
          </a:bodyPr>
          <a:lstStyle/>
          <a:p>
            <a:pPr marL="16933">
              <a:spcBef>
                <a:spcPts val="1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Modify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training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35852" y="5536883"/>
            <a:ext cx="4824305" cy="868614"/>
          </a:xfrm>
          <a:prstGeom prst="rect">
            <a:avLst/>
          </a:prstGeom>
        </p:spPr>
        <p:txBody>
          <a:bodyPr vert="horz" wrap="square" lIns="0" tIns="1693" rIns="0" bIns="0" rtlCol="0">
            <a:spAutoFit/>
          </a:bodyPr>
          <a:lstStyle/>
          <a:p>
            <a:pPr marL="16933">
              <a:spcBef>
                <a:spcPts val="13"/>
              </a:spcBef>
            </a:pPr>
            <a:r>
              <a:rPr sz="2400" spc="-27" dirty="0">
                <a:latin typeface="Calibri"/>
                <a:cs typeface="Calibri"/>
              </a:rPr>
              <a:t>WKLM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993"/>
              </a:spcBef>
            </a:pP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(another!),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 </a:t>
            </a:r>
            <a:r>
              <a:rPr sz="2400" spc="-13" dirty="0">
                <a:latin typeface="Calibri"/>
                <a:cs typeface="Calibri"/>
              </a:rPr>
              <a:t>masking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54852" y="5551172"/>
            <a:ext cx="141393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6933">
              <a:spcBef>
                <a:spcPts val="993"/>
              </a:spcBef>
            </a:pP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4249" y="6020234"/>
            <a:ext cx="1882140" cy="331651"/>
          </a:xfrm>
          <a:prstGeom prst="rect">
            <a:avLst/>
          </a:prstGeom>
        </p:spPr>
        <p:txBody>
          <a:bodyPr vert="horz" wrap="square" lIns="0" tIns="3387" rIns="0" bIns="0" rtlCol="0">
            <a:spAutoFit/>
          </a:bodyPr>
          <a:lstStyle/>
          <a:p>
            <a:pPr marL="16933">
              <a:spcBef>
                <a:spcPts val="27"/>
              </a:spcBef>
            </a:pPr>
            <a:r>
              <a:rPr sz="2133" i="1" dirty="0">
                <a:latin typeface="Calibri"/>
                <a:cs typeface="Calibri"/>
              </a:rPr>
              <a:t>corrupted</a:t>
            </a:r>
            <a:r>
              <a:rPr sz="2133" i="1" spc="-60" dirty="0">
                <a:latin typeface="Calibri"/>
                <a:cs typeface="Calibri"/>
              </a:rPr>
              <a:t> </a:t>
            </a:r>
            <a:r>
              <a:rPr sz="2133" i="1" spc="-13" dirty="0">
                <a:latin typeface="Calibri"/>
                <a:cs typeface="Calibri"/>
              </a:rPr>
              <a:t>tokens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16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0799">
              <a:spcBef>
                <a:spcPts val="133"/>
              </a:spcBef>
            </a:pPr>
            <a:r>
              <a:rPr dirty="0"/>
              <a:t>Method</a:t>
            </a:r>
            <a:r>
              <a:rPr spc="-27" dirty="0"/>
              <a:t> </a:t>
            </a:r>
            <a:r>
              <a:rPr dirty="0"/>
              <a:t>1:</a:t>
            </a:r>
            <a:r>
              <a:rPr spc="-13" dirty="0"/>
              <a:t> </a:t>
            </a:r>
            <a:r>
              <a:rPr dirty="0"/>
              <a:t>Ad</a:t>
            </a:r>
            <a:r>
              <a:rPr lang="en-US" dirty="0"/>
              <a:t>d pretrained entity embeddings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380759" y="952617"/>
            <a:ext cx="11010053" cy="495276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R="2103914" algn="ctr">
              <a:spcBef>
                <a:spcPts val="560"/>
              </a:spcBef>
            </a:pPr>
            <a:endParaRPr sz="3200" dirty="0">
              <a:latin typeface="Calibri"/>
              <a:cs typeface="Calibri"/>
            </a:endParaRPr>
          </a:p>
          <a:p>
            <a:pPr marL="358978" indent="-342045">
              <a:spcBef>
                <a:spcPts val="32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Facts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usually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entities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160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Washington</a:t>
            </a:r>
            <a:r>
              <a:rPr sz="2400" dirty="0">
                <a:latin typeface="Calibri"/>
                <a:cs typeface="Calibri"/>
              </a:rPr>
              <a:t> was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president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United 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States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20"/>
              </a:spcBef>
              <a:buClr>
                <a:srgbClr val="007C92"/>
              </a:buClr>
              <a:buFont typeface="Times New Roman"/>
              <a:buChar char="•"/>
            </a:pPr>
            <a:endParaRPr sz="28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Pretrained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 embeddings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400" b="1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 a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notion of </a:t>
            </a:r>
            <a:r>
              <a:rPr sz="2400" spc="-13" dirty="0">
                <a:latin typeface="Calibri"/>
                <a:cs typeface="Calibri"/>
              </a:rPr>
              <a:t>entities</a:t>
            </a:r>
            <a:endParaRPr sz="2400" dirty="0">
              <a:latin typeface="Calibri"/>
              <a:cs typeface="Calibri"/>
            </a:endParaRPr>
          </a:p>
          <a:p>
            <a:pPr marL="702716" marR="6773" lvl="1" indent="-228594">
              <a:lnSpc>
                <a:spcPts val="2560"/>
              </a:lnSpc>
              <a:spcBef>
                <a:spcPts val="673"/>
              </a:spcBef>
              <a:buClr>
                <a:srgbClr val="007C92"/>
              </a:buClr>
              <a:buFont typeface="Times New Roman"/>
              <a:buChar char="•"/>
              <a:tabLst>
                <a:tab pos="702716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word embeddings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“U.S.A.”,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“United States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America”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3" dirty="0">
                <a:latin typeface="Calibri"/>
                <a:cs typeface="Calibri"/>
              </a:rPr>
              <a:t>“America” </a:t>
            </a:r>
            <a:r>
              <a:rPr sz="2400" dirty="0">
                <a:latin typeface="Calibri"/>
                <a:cs typeface="Calibri"/>
              </a:rPr>
              <a:t>even though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 refer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the same </a:t>
            </a:r>
            <a:r>
              <a:rPr sz="2400" spc="-13" dirty="0">
                <a:latin typeface="Calibri"/>
                <a:cs typeface="Calibri"/>
              </a:rPr>
              <a:t>entity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67"/>
              </a:spcBef>
              <a:buClr>
                <a:srgbClr val="007C92"/>
              </a:buClr>
              <a:buFont typeface="Times New Roman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 we assign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embedding per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entity?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160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Single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entity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embedding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“U.S.A.”,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“United States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America”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3" dirty="0">
                <a:latin typeface="Calibri"/>
                <a:cs typeface="Calibri"/>
              </a:rPr>
              <a:t>“America”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20"/>
              </a:spcBef>
              <a:buClr>
                <a:srgbClr val="007C92"/>
              </a:buClr>
              <a:buFont typeface="Times New Roman"/>
              <a:buChar char="•"/>
            </a:pPr>
            <a:endParaRPr sz="2867" dirty="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LMs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iff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 do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entity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linking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well!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Aside:</a:t>
            </a:r>
            <a:r>
              <a:rPr spc="-27" dirty="0"/>
              <a:t> </a:t>
            </a:r>
            <a:r>
              <a:rPr dirty="0"/>
              <a:t>What</a:t>
            </a:r>
            <a:r>
              <a:rPr spc="-7" dirty="0"/>
              <a:t> </a:t>
            </a:r>
            <a:r>
              <a:rPr dirty="0"/>
              <a:t>is</a:t>
            </a:r>
            <a:r>
              <a:rPr spc="-7" dirty="0"/>
              <a:t> </a:t>
            </a:r>
            <a:r>
              <a:rPr dirty="0"/>
              <a:t>entity</a:t>
            </a:r>
            <a:r>
              <a:rPr spc="-13" dirty="0"/>
              <a:t> linking?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16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4916761"/>
            <a:ext cx="9663853" cy="10891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3067">
              <a:spcBef>
                <a:spcPts val="133"/>
              </a:spcBef>
              <a:tabLst>
                <a:tab pos="3043691" algn="l"/>
                <a:tab pos="7779825" algn="l"/>
              </a:tabLst>
            </a:pPr>
            <a:r>
              <a:rPr sz="2400" dirty="0">
                <a:latin typeface="Calibri"/>
                <a:cs typeface="Calibri"/>
              </a:rPr>
              <a:t>Q23 </a:t>
            </a:r>
            <a:r>
              <a:rPr sz="2400" spc="-13" dirty="0">
                <a:latin typeface="Calibri"/>
                <a:cs typeface="Calibri"/>
              </a:rPr>
              <a:t>(Wikidata)</a:t>
            </a:r>
            <a:r>
              <a:rPr sz="2400" dirty="0">
                <a:latin typeface="Calibri"/>
                <a:cs typeface="Calibri"/>
              </a:rPr>
              <a:t>	Q1223</a:t>
            </a:r>
            <a:r>
              <a:rPr sz="2400" spc="-13" dirty="0">
                <a:latin typeface="Calibri"/>
                <a:cs typeface="Calibri"/>
              </a:rPr>
              <a:t> (Wikidata)</a:t>
            </a:r>
            <a:r>
              <a:rPr sz="2400" dirty="0">
                <a:latin typeface="Calibri"/>
                <a:cs typeface="Calibri"/>
              </a:rPr>
              <a:t>	Q30</a:t>
            </a:r>
            <a:r>
              <a:rPr sz="2400" spc="-13" dirty="0">
                <a:latin typeface="Calibri"/>
                <a:cs typeface="Calibri"/>
              </a:rPr>
              <a:t> (Wikidata)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256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tells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 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relevant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7" dirty="0">
                <a:latin typeface="Calibri"/>
                <a:cs typeface="Calibri"/>
              </a:rPr>
              <a:t>text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2765" y="2228135"/>
            <a:ext cx="2127673" cy="2614507"/>
            <a:chOff x="677073" y="1671101"/>
            <a:chExt cx="1595755" cy="1960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073" y="2036192"/>
              <a:ext cx="1595227" cy="1595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91407" y="1671101"/>
              <a:ext cx="340995" cy="339090"/>
            </a:xfrm>
            <a:custGeom>
              <a:avLst/>
              <a:gdLst/>
              <a:ahLst/>
              <a:cxnLst/>
              <a:rect l="l" t="t" r="r" b="b"/>
              <a:pathLst>
                <a:path w="340994" h="339089">
                  <a:moveTo>
                    <a:pt x="40864" y="217455"/>
                  </a:moveTo>
                  <a:lnTo>
                    <a:pt x="0" y="338537"/>
                  </a:lnTo>
                  <a:lnTo>
                    <a:pt x="121384" y="298580"/>
                  </a:lnTo>
                  <a:lnTo>
                    <a:pt x="107863" y="284958"/>
                  </a:lnTo>
                  <a:lnTo>
                    <a:pt x="81023" y="284958"/>
                  </a:lnTo>
                  <a:lnTo>
                    <a:pt x="54184" y="257917"/>
                  </a:lnTo>
                  <a:lnTo>
                    <a:pt x="67705" y="244498"/>
                  </a:lnTo>
                  <a:lnTo>
                    <a:pt x="40864" y="217455"/>
                  </a:lnTo>
                  <a:close/>
                </a:path>
                <a:path w="340994" h="339089">
                  <a:moveTo>
                    <a:pt x="67705" y="244498"/>
                  </a:moveTo>
                  <a:lnTo>
                    <a:pt x="54184" y="257917"/>
                  </a:lnTo>
                  <a:lnTo>
                    <a:pt x="81023" y="284958"/>
                  </a:lnTo>
                  <a:lnTo>
                    <a:pt x="94544" y="271538"/>
                  </a:lnTo>
                  <a:lnTo>
                    <a:pt x="67705" y="244498"/>
                  </a:lnTo>
                  <a:close/>
                </a:path>
                <a:path w="340994" h="339089">
                  <a:moveTo>
                    <a:pt x="94544" y="271538"/>
                  </a:moveTo>
                  <a:lnTo>
                    <a:pt x="81023" y="284958"/>
                  </a:lnTo>
                  <a:lnTo>
                    <a:pt x="107863" y="284958"/>
                  </a:lnTo>
                  <a:lnTo>
                    <a:pt x="94544" y="271538"/>
                  </a:lnTo>
                  <a:close/>
                </a:path>
                <a:path w="340994" h="339089">
                  <a:moveTo>
                    <a:pt x="314041" y="0"/>
                  </a:moveTo>
                  <a:lnTo>
                    <a:pt x="67705" y="244498"/>
                  </a:lnTo>
                  <a:lnTo>
                    <a:pt x="94544" y="271538"/>
                  </a:lnTo>
                  <a:lnTo>
                    <a:pt x="340880" y="27040"/>
                  </a:lnTo>
                  <a:lnTo>
                    <a:pt x="314041" y="0"/>
                  </a:lnTo>
                  <a:close/>
                </a:path>
              </a:pathLst>
            </a:custGeom>
            <a:solidFill>
              <a:srgbClr val="3A8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3994" y="2747766"/>
            <a:ext cx="2533369" cy="212961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581319" y="2238500"/>
            <a:ext cx="3308773" cy="2522219"/>
            <a:chOff x="5685989" y="1678875"/>
            <a:chExt cx="2481580" cy="189166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5989" y="2280151"/>
              <a:ext cx="2481492" cy="12902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05077" y="1678875"/>
              <a:ext cx="632460" cy="581025"/>
            </a:xfrm>
            <a:custGeom>
              <a:avLst/>
              <a:gdLst/>
              <a:ahLst/>
              <a:cxnLst/>
              <a:rect l="l" t="t" r="r" b="b"/>
              <a:pathLst>
                <a:path w="632460" h="581025">
                  <a:moveTo>
                    <a:pt x="534894" y="517716"/>
                  </a:moveTo>
                  <a:lnTo>
                    <a:pt x="509169" y="545820"/>
                  </a:lnTo>
                  <a:lnTo>
                    <a:pt x="632070" y="580838"/>
                  </a:lnTo>
                  <a:lnTo>
                    <a:pt x="612811" y="530578"/>
                  </a:lnTo>
                  <a:lnTo>
                    <a:pt x="548946" y="530578"/>
                  </a:lnTo>
                  <a:lnTo>
                    <a:pt x="534894" y="517716"/>
                  </a:lnTo>
                  <a:close/>
                </a:path>
                <a:path w="632460" h="581025">
                  <a:moveTo>
                    <a:pt x="560619" y="489612"/>
                  </a:moveTo>
                  <a:lnTo>
                    <a:pt x="534894" y="517716"/>
                  </a:lnTo>
                  <a:lnTo>
                    <a:pt x="548946" y="530578"/>
                  </a:lnTo>
                  <a:lnTo>
                    <a:pt x="574671" y="502474"/>
                  </a:lnTo>
                  <a:lnTo>
                    <a:pt x="560619" y="489612"/>
                  </a:lnTo>
                  <a:close/>
                </a:path>
                <a:path w="632460" h="581025">
                  <a:moveTo>
                    <a:pt x="586345" y="461507"/>
                  </a:moveTo>
                  <a:lnTo>
                    <a:pt x="560619" y="489612"/>
                  </a:lnTo>
                  <a:lnTo>
                    <a:pt x="574671" y="502474"/>
                  </a:lnTo>
                  <a:lnTo>
                    <a:pt x="548946" y="530578"/>
                  </a:lnTo>
                  <a:lnTo>
                    <a:pt x="612811" y="530578"/>
                  </a:lnTo>
                  <a:lnTo>
                    <a:pt x="586345" y="461507"/>
                  </a:lnTo>
                  <a:close/>
                </a:path>
                <a:path w="632460" h="581025">
                  <a:moveTo>
                    <a:pt x="25725" y="0"/>
                  </a:moveTo>
                  <a:lnTo>
                    <a:pt x="0" y="28105"/>
                  </a:lnTo>
                  <a:lnTo>
                    <a:pt x="534894" y="517716"/>
                  </a:lnTo>
                  <a:lnTo>
                    <a:pt x="560619" y="489612"/>
                  </a:lnTo>
                  <a:lnTo>
                    <a:pt x="25725" y="0"/>
                  </a:lnTo>
                  <a:close/>
                </a:path>
              </a:pathLst>
            </a:custGeom>
            <a:solidFill>
              <a:srgbClr val="3A8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1387" y="1081361"/>
            <a:ext cx="8221980" cy="1156108"/>
          </a:xfrm>
          <a:prstGeom prst="rect">
            <a:avLst/>
          </a:prstGeom>
        </p:spPr>
        <p:txBody>
          <a:bodyPr vert="horz" wrap="square" lIns="0" tIns="104987" rIns="0" bIns="0" rtlCol="0">
            <a:spAutoFit/>
          </a:bodyPr>
          <a:lstStyle/>
          <a:p>
            <a:pPr marL="358978" indent="-342045">
              <a:spcBef>
                <a:spcPts val="82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Link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mentions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entities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base</a:t>
            </a:r>
            <a:endParaRPr sz="2400">
              <a:latin typeface="Calibri"/>
              <a:cs typeface="Calibri"/>
            </a:endParaRPr>
          </a:p>
          <a:p>
            <a:pPr marL="1576454">
              <a:lnSpc>
                <a:spcPts val="2200"/>
              </a:lnSpc>
              <a:spcBef>
                <a:spcPts val="620"/>
              </a:spcBef>
              <a:tabLst>
                <a:tab pos="6809570" algn="l"/>
              </a:tabLst>
            </a:pPr>
            <a:r>
              <a:rPr sz="2133" i="1" spc="-13" dirty="0">
                <a:solidFill>
                  <a:srgbClr val="FF30EE"/>
                </a:solidFill>
                <a:latin typeface="Calibri"/>
                <a:cs typeface="Calibri"/>
              </a:rPr>
              <a:t>mention</a:t>
            </a:r>
            <a:r>
              <a:rPr sz="2133" i="1" dirty="0">
                <a:solidFill>
                  <a:srgbClr val="FF30EE"/>
                </a:solidFill>
                <a:latin typeface="Calibri"/>
                <a:cs typeface="Calibri"/>
              </a:rPr>
              <a:t>	</a:t>
            </a:r>
            <a:r>
              <a:rPr sz="2133" i="1" spc="-13" dirty="0">
                <a:solidFill>
                  <a:srgbClr val="FF30EE"/>
                </a:solidFill>
                <a:latin typeface="Calibri"/>
                <a:cs typeface="Calibri"/>
              </a:rPr>
              <a:t>mention</a:t>
            </a:r>
            <a:endParaRPr sz="2133">
              <a:latin typeface="Calibri"/>
              <a:cs typeface="Calibri"/>
            </a:endParaRPr>
          </a:p>
          <a:p>
            <a:pPr marL="1236102">
              <a:lnSpc>
                <a:spcPts val="2519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Washington</a:t>
            </a:r>
            <a:r>
              <a:rPr sz="2400" dirty="0">
                <a:latin typeface="Calibri"/>
                <a:cs typeface="Calibri"/>
              </a:rPr>
              <a:t> was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first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president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United 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States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6958" y="6336454"/>
            <a:ext cx="67928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latin typeface="Calibri"/>
                <a:cs typeface="Calibri"/>
              </a:rPr>
              <a:t>More</a:t>
            </a:r>
            <a:r>
              <a:rPr sz="2133" b="1" spc="-4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resources:</a:t>
            </a:r>
            <a:r>
              <a:rPr sz="2133" b="1" spc="-13" dirty="0">
                <a:latin typeface="Calibri"/>
                <a:cs typeface="Calibri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Orr</a:t>
            </a:r>
            <a:r>
              <a:rPr sz="2133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et</a:t>
            </a:r>
            <a:r>
              <a:rPr sz="2133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al.,</a:t>
            </a:r>
            <a:r>
              <a:rPr sz="2133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CIDR</a:t>
            </a:r>
            <a:r>
              <a:rPr sz="2133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5"/>
              </a:rPr>
              <a:t>2021</a:t>
            </a:r>
            <a:r>
              <a:rPr sz="2133" spc="-13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&amp;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Li</a:t>
            </a:r>
            <a:r>
              <a:rPr sz="2133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et</a:t>
            </a:r>
            <a:r>
              <a:rPr sz="2133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al.,</a:t>
            </a:r>
            <a:r>
              <a:rPr sz="2133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EMNLP</a:t>
            </a:r>
            <a:r>
              <a:rPr sz="2133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2133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6"/>
              </a:rPr>
              <a:t>2020</a:t>
            </a:r>
            <a:endParaRPr sz="2133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19000" y="2634148"/>
            <a:ext cx="11226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spc="-13" dirty="0">
                <a:solidFill>
                  <a:srgbClr val="FF30EE"/>
                </a:solidFill>
                <a:latin typeface="Calibri"/>
                <a:cs typeface="Calibri"/>
              </a:rPr>
              <a:t>candidate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1868" y="2329348"/>
            <a:ext cx="11226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spc="-13" dirty="0">
                <a:solidFill>
                  <a:srgbClr val="FF30EE"/>
                </a:solidFill>
                <a:latin typeface="Calibri"/>
                <a:cs typeface="Calibri"/>
              </a:rPr>
              <a:t>candidate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1249" y="2365926"/>
            <a:ext cx="11226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spc="-13" dirty="0">
                <a:solidFill>
                  <a:srgbClr val="FF30EE"/>
                </a:solidFill>
                <a:latin typeface="Calibri"/>
                <a:cs typeface="Calibri"/>
              </a:rPr>
              <a:t>candidate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18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Method</a:t>
            </a:r>
            <a:r>
              <a:rPr spc="-27" dirty="0"/>
              <a:t> </a:t>
            </a:r>
            <a:r>
              <a:rPr dirty="0"/>
              <a:t>1:</a:t>
            </a:r>
            <a:r>
              <a:rPr spc="-20" dirty="0"/>
              <a:t> </a:t>
            </a:r>
            <a:r>
              <a:rPr dirty="0"/>
              <a:t>Add</a:t>
            </a:r>
            <a:r>
              <a:rPr spc="-20" dirty="0"/>
              <a:t> </a:t>
            </a:r>
            <a:r>
              <a:rPr dirty="0"/>
              <a:t>pretrained</a:t>
            </a:r>
            <a:r>
              <a:rPr spc="-27" dirty="0"/>
              <a:t> </a:t>
            </a:r>
            <a:r>
              <a:rPr dirty="0"/>
              <a:t>entity</a:t>
            </a:r>
            <a:r>
              <a:rPr spc="-13" dirty="0"/>
              <a:t> 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137243"/>
            <a:ext cx="1031747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like word embeddings,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base!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8285" y="2746585"/>
            <a:ext cx="27279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dirty="0">
                <a:solidFill>
                  <a:srgbClr val="3A87FF"/>
                </a:solidFill>
                <a:latin typeface="Calibri"/>
                <a:cs typeface="Calibri"/>
              </a:rPr>
              <a:t>George</a:t>
            </a:r>
            <a:r>
              <a:rPr sz="2400" i="1" spc="-3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A87FF"/>
                </a:solidFill>
                <a:latin typeface="Calibri"/>
                <a:cs typeface="Calibri"/>
              </a:rPr>
              <a:t>Washington</a:t>
            </a:r>
            <a:r>
              <a:rPr sz="2400" i="1" spc="-2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67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88" y="4311228"/>
            <a:ext cx="7598833" cy="1638055"/>
          </a:xfrm>
          <a:prstGeom prst="rect">
            <a:avLst/>
          </a:prstGeom>
        </p:spPr>
        <p:txBody>
          <a:bodyPr vert="horz" wrap="square" lIns="0" tIns="57573" rIns="0" bIns="0" rtlCol="0">
            <a:spAutoFit/>
          </a:bodyPr>
          <a:lstStyle/>
          <a:p>
            <a:pPr marL="16933">
              <a:spcBef>
                <a:spcPts val="453"/>
              </a:spcBef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techniques 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 </a:t>
            </a:r>
            <a:r>
              <a:rPr sz="2400" spc="-13" dirty="0">
                <a:latin typeface="Calibri"/>
                <a:cs typeface="Calibri"/>
              </a:rPr>
              <a:t>embeddings: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32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 embedding methods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TransE</a:t>
            </a:r>
            <a:r>
              <a:rPr sz="2400" spc="-13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19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spc="-13" dirty="0">
                <a:latin typeface="Calibri"/>
                <a:cs typeface="Calibri"/>
              </a:rPr>
              <a:t>Word-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co-</a:t>
            </a:r>
            <a:r>
              <a:rPr sz="2400" dirty="0">
                <a:latin typeface="Calibri"/>
                <a:cs typeface="Calibri"/>
              </a:rPr>
              <a:t>occurrence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Wikipedia2Vec</a:t>
            </a:r>
            <a:r>
              <a:rPr sz="2400" spc="-13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32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Transformer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encodings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BLINK</a:t>
            </a:r>
            <a:r>
              <a:rPr sz="2400" spc="-13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24074" y="2038899"/>
            <a:ext cx="220133" cy="2015067"/>
          </a:xfrm>
          <a:custGeom>
            <a:avLst/>
            <a:gdLst/>
            <a:ahLst/>
            <a:cxnLst/>
            <a:rect l="l" t="t" r="r" b="b"/>
            <a:pathLst>
              <a:path w="165100" h="1511300">
                <a:moveTo>
                  <a:pt x="164595" y="1510698"/>
                </a:moveTo>
                <a:lnTo>
                  <a:pt x="120839" y="1504818"/>
                </a:lnTo>
                <a:lnTo>
                  <a:pt x="81521" y="1488225"/>
                </a:lnTo>
                <a:lnTo>
                  <a:pt x="48209" y="1462489"/>
                </a:lnTo>
                <a:lnTo>
                  <a:pt x="22472" y="1429176"/>
                </a:lnTo>
                <a:lnTo>
                  <a:pt x="5879" y="1389858"/>
                </a:lnTo>
                <a:lnTo>
                  <a:pt x="0" y="1346102"/>
                </a:lnTo>
                <a:lnTo>
                  <a:pt x="0" y="164595"/>
                </a:lnTo>
                <a:lnTo>
                  <a:pt x="5879" y="120839"/>
                </a:lnTo>
                <a:lnTo>
                  <a:pt x="22472" y="81521"/>
                </a:lnTo>
                <a:lnTo>
                  <a:pt x="48209" y="48208"/>
                </a:lnTo>
                <a:lnTo>
                  <a:pt x="81521" y="22472"/>
                </a:lnTo>
                <a:lnTo>
                  <a:pt x="120839" y="5879"/>
                </a:lnTo>
                <a:lnTo>
                  <a:pt x="16459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21348" y="2038899"/>
            <a:ext cx="220133" cy="2015067"/>
          </a:xfrm>
          <a:custGeom>
            <a:avLst/>
            <a:gdLst/>
            <a:ahLst/>
            <a:cxnLst/>
            <a:rect l="l" t="t" r="r" b="b"/>
            <a:pathLst>
              <a:path w="165100" h="1511300">
                <a:moveTo>
                  <a:pt x="0" y="0"/>
                </a:moveTo>
                <a:lnTo>
                  <a:pt x="43756" y="5879"/>
                </a:lnTo>
                <a:lnTo>
                  <a:pt x="83074" y="22472"/>
                </a:lnTo>
                <a:lnTo>
                  <a:pt x="116386" y="48208"/>
                </a:lnTo>
                <a:lnTo>
                  <a:pt x="142123" y="81521"/>
                </a:lnTo>
                <a:lnTo>
                  <a:pt x="158716" y="120839"/>
                </a:lnTo>
                <a:lnTo>
                  <a:pt x="164595" y="164595"/>
                </a:lnTo>
                <a:lnTo>
                  <a:pt x="164595" y="1346102"/>
                </a:lnTo>
                <a:lnTo>
                  <a:pt x="158716" y="1389858"/>
                </a:lnTo>
                <a:lnTo>
                  <a:pt x="142123" y="1429176"/>
                </a:lnTo>
                <a:lnTo>
                  <a:pt x="116386" y="1462489"/>
                </a:lnTo>
                <a:lnTo>
                  <a:pt x="83074" y="1488225"/>
                </a:lnTo>
                <a:lnTo>
                  <a:pt x="43756" y="1504818"/>
                </a:lnTo>
                <a:lnTo>
                  <a:pt x="0" y="151069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94106" y="2164080"/>
            <a:ext cx="908473" cy="16588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0224">
              <a:spcBef>
                <a:spcPts val="133"/>
              </a:spcBef>
            </a:pPr>
            <a:r>
              <a:rPr sz="2667" spc="-13" dirty="0">
                <a:latin typeface="Calibri"/>
                <a:cs typeface="Calibri"/>
              </a:rPr>
              <a:t>0.111</a:t>
            </a:r>
            <a:endParaRPr sz="2667">
              <a:latin typeface="Calibri"/>
              <a:cs typeface="Calibri"/>
            </a:endParaRPr>
          </a:p>
          <a:p>
            <a:pPr marL="16933"/>
            <a:r>
              <a:rPr sz="2667" dirty="0">
                <a:latin typeface="Calibri"/>
                <a:cs typeface="Calibri"/>
              </a:rPr>
              <a:t>-</a:t>
            </a:r>
            <a:r>
              <a:rPr sz="2667" spc="-13" dirty="0">
                <a:latin typeface="Calibri"/>
                <a:cs typeface="Calibri"/>
              </a:rPr>
              <a:t>0.345</a:t>
            </a:r>
            <a:endParaRPr sz="2667">
              <a:latin typeface="Calibri"/>
              <a:cs typeface="Calibri"/>
            </a:endParaRPr>
          </a:p>
          <a:p>
            <a:pPr marL="120224"/>
            <a:r>
              <a:rPr sz="2667" spc="-13" dirty="0">
                <a:latin typeface="Calibri"/>
                <a:cs typeface="Calibri"/>
              </a:rPr>
              <a:t>0.876</a:t>
            </a:r>
            <a:endParaRPr sz="2667">
              <a:latin typeface="Calibri"/>
              <a:cs typeface="Calibri"/>
            </a:endParaRPr>
          </a:p>
          <a:p>
            <a:pPr marL="16933"/>
            <a:r>
              <a:rPr sz="2667" dirty="0">
                <a:latin typeface="Calibri"/>
                <a:cs typeface="Calibri"/>
              </a:rPr>
              <a:t>-</a:t>
            </a:r>
            <a:r>
              <a:rPr sz="2667" spc="-13" dirty="0">
                <a:latin typeface="Calibri"/>
                <a:cs typeface="Calibri"/>
              </a:rPr>
              <a:t>0.201</a:t>
            </a:r>
            <a:endParaRPr sz="266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19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Method</a:t>
            </a:r>
            <a:r>
              <a:rPr spc="-27" dirty="0"/>
              <a:t> </a:t>
            </a:r>
            <a:r>
              <a:rPr dirty="0"/>
              <a:t>1:</a:t>
            </a:r>
            <a:r>
              <a:rPr spc="-20" dirty="0"/>
              <a:t> </a:t>
            </a:r>
            <a:r>
              <a:rPr dirty="0"/>
              <a:t>Add</a:t>
            </a:r>
            <a:r>
              <a:rPr spc="-20" dirty="0"/>
              <a:t> </a:t>
            </a:r>
            <a:r>
              <a:rPr dirty="0"/>
              <a:t>pretrained</a:t>
            </a:r>
            <a:r>
              <a:rPr spc="-27" dirty="0"/>
              <a:t> </a:t>
            </a:r>
            <a:r>
              <a:rPr dirty="0"/>
              <a:t>entity</a:t>
            </a:r>
            <a:r>
              <a:rPr spc="-13" dirty="0"/>
              <a:t> embeddings</a:t>
            </a:r>
          </a:p>
        </p:txBody>
      </p:sp>
      <p:sp>
        <p:nvSpPr>
          <p:cNvPr id="3" name="object 3"/>
          <p:cNvSpPr/>
          <p:nvPr/>
        </p:nvSpPr>
        <p:spPr>
          <a:xfrm>
            <a:off x="5186551" y="3303546"/>
            <a:ext cx="2703407" cy="368300"/>
          </a:xfrm>
          <a:custGeom>
            <a:avLst/>
            <a:gdLst/>
            <a:ahLst/>
            <a:cxnLst/>
            <a:rect l="l" t="t" r="r" b="b"/>
            <a:pathLst>
              <a:path w="2027554" h="276225">
                <a:moveTo>
                  <a:pt x="1954512" y="0"/>
                </a:moveTo>
                <a:lnTo>
                  <a:pt x="1951720" y="9152"/>
                </a:lnTo>
                <a:lnTo>
                  <a:pt x="1964407" y="15731"/>
                </a:lnTo>
                <a:lnTo>
                  <a:pt x="1975454" y="25310"/>
                </a:lnTo>
                <a:lnTo>
                  <a:pt x="1998709" y="71570"/>
                </a:lnTo>
                <a:lnTo>
                  <a:pt x="2005658" y="113930"/>
                </a:lnTo>
                <a:lnTo>
                  <a:pt x="2006527" y="138187"/>
                </a:lnTo>
                <a:lnTo>
                  <a:pt x="2005658" y="162391"/>
                </a:lnTo>
                <a:lnTo>
                  <a:pt x="1998709" y="204668"/>
                </a:lnTo>
                <a:lnTo>
                  <a:pt x="1975454" y="250854"/>
                </a:lnTo>
                <a:lnTo>
                  <a:pt x="1951720" y="266998"/>
                </a:lnTo>
                <a:lnTo>
                  <a:pt x="1954512" y="276151"/>
                </a:lnTo>
                <a:lnTo>
                  <a:pt x="1997771" y="246034"/>
                </a:lnTo>
                <a:lnTo>
                  <a:pt x="2016454" y="208690"/>
                </a:lnTo>
                <a:lnTo>
                  <a:pt x="2025886" y="163371"/>
                </a:lnTo>
                <a:lnTo>
                  <a:pt x="2027065" y="138075"/>
                </a:lnTo>
                <a:lnTo>
                  <a:pt x="2025886" y="112779"/>
                </a:lnTo>
                <a:lnTo>
                  <a:pt x="2016454" y="67461"/>
                </a:lnTo>
                <a:lnTo>
                  <a:pt x="1997771" y="30117"/>
                </a:lnTo>
                <a:lnTo>
                  <a:pt x="1970927" y="6397"/>
                </a:lnTo>
                <a:lnTo>
                  <a:pt x="1954512" y="0"/>
                </a:lnTo>
                <a:close/>
              </a:path>
              <a:path w="2027554" h="276225">
                <a:moveTo>
                  <a:pt x="72548" y="0"/>
                </a:moveTo>
                <a:lnTo>
                  <a:pt x="29288" y="30117"/>
                </a:lnTo>
                <a:lnTo>
                  <a:pt x="10605" y="67461"/>
                </a:lnTo>
                <a:lnTo>
                  <a:pt x="1173" y="112779"/>
                </a:lnTo>
                <a:lnTo>
                  <a:pt x="0" y="138187"/>
                </a:lnTo>
                <a:lnTo>
                  <a:pt x="1173" y="163371"/>
                </a:lnTo>
                <a:lnTo>
                  <a:pt x="10605" y="208690"/>
                </a:lnTo>
                <a:lnTo>
                  <a:pt x="29288" y="246034"/>
                </a:lnTo>
                <a:lnTo>
                  <a:pt x="72548" y="276151"/>
                </a:lnTo>
                <a:lnTo>
                  <a:pt x="75338" y="266998"/>
                </a:lnTo>
                <a:lnTo>
                  <a:pt x="62652" y="260423"/>
                </a:lnTo>
                <a:lnTo>
                  <a:pt x="51605" y="250854"/>
                </a:lnTo>
                <a:lnTo>
                  <a:pt x="28349" y="204668"/>
                </a:lnTo>
                <a:lnTo>
                  <a:pt x="21401" y="162391"/>
                </a:lnTo>
                <a:lnTo>
                  <a:pt x="20537" y="138075"/>
                </a:lnTo>
                <a:lnTo>
                  <a:pt x="21401" y="113930"/>
                </a:lnTo>
                <a:lnTo>
                  <a:pt x="28349" y="71570"/>
                </a:lnTo>
                <a:lnTo>
                  <a:pt x="51605" y="25310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05116" y="4590479"/>
            <a:ext cx="531707" cy="368300"/>
          </a:xfrm>
          <a:custGeom>
            <a:avLst/>
            <a:gdLst/>
            <a:ahLst/>
            <a:cxnLst/>
            <a:rect l="l" t="t" r="r" b="b"/>
            <a:pathLst>
              <a:path w="398780" h="276225">
                <a:moveTo>
                  <a:pt x="325927" y="0"/>
                </a:moveTo>
                <a:lnTo>
                  <a:pt x="323137" y="9152"/>
                </a:lnTo>
                <a:lnTo>
                  <a:pt x="335823" y="15731"/>
                </a:lnTo>
                <a:lnTo>
                  <a:pt x="346870" y="25310"/>
                </a:lnTo>
                <a:lnTo>
                  <a:pt x="370126" y="71570"/>
                </a:lnTo>
                <a:lnTo>
                  <a:pt x="377074" y="113930"/>
                </a:lnTo>
                <a:lnTo>
                  <a:pt x="377942" y="138187"/>
                </a:lnTo>
                <a:lnTo>
                  <a:pt x="377074" y="162391"/>
                </a:lnTo>
                <a:lnTo>
                  <a:pt x="370126" y="204668"/>
                </a:lnTo>
                <a:lnTo>
                  <a:pt x="346870" y="250854"/>
                </a:lnTo>
                <a:lnTo>
                  <a:pt x="323137" y="266998"/>
                </a:lnTo>
                <a:lnTo>
                  <a:pt x="325927" y="276151"/>
                </a:lnTo>
                <a:lnTo>
                  <a:pt x="369187" y="246034"/>
                </a:lnTo>
                <a:lnTo>
                  <a:pt x="387870" y="208689"/>
                </a:lnTo>
                <a:lnTo>
                  <a:pt x="397302" y="163371"/>
                </a:lnTo>
                <a:lnTo>
                  <a:pt x="398481" y="138075"/>
                </a:lnTo>
                <a:lnTo>
                  <a:pt x="397302" y="112779"/>
                </a:lnTo>
                <a:lnTo>
                  <a:pt x="387870" y="67461"/>
                </a:lnTo>
                <a:lnTo>
                  <a:pt x="369187" y="30117"/>
                </a:lnTo>
                <a:lnTo>
                  <a:pt x="342342" y="6397"/>
                </a:lnTo>
                <a:lnTo>
                  <a:pt x="325927" y="0"/>
                </a:lnTo>
                <a:close/>
              </a:path>
              <a:path w="398780" h="276225">
                <a:moveTo>
                  <a:pt x="72548" y="0"/>
                </a:moveTo>
                <a:lnTo>
                  <a:pt x="29288" y="30117"/>
                </a:lnTo>
                <a:lnTo>
                  <a:pt x="10605" y="67461"/>
                </a:lnTo>
                <a:lnTo>
                  <a:pt x="1173" y="112779"/>
                </a:lnTo>
                <a:lnTo>
                  <a:pt x="0" y="138187"/>
                </a:lnTo>
                <a:lnTo>
                  <a:pt x="1173" y="163371"/>
                </a:lnTo>
                <a:lnTo>
                  <a:pt x="10605" y="208689"/>
                </a:lnTo>
                <a:lnTo>
                  <a:pt x="29288" y="246034"/>
                </a:lnTo>
                <a:lnTo>
                  <a:pt x="72548" y="276151"/>
                </a:lnTo>
                <a:lnTo>
                  <a:pt x="75338" y="266998"/>
                </a:lnTo>
                <a:lnTo>
                  <a:pt x="62652" y="260423"/>
                </a:lnTo>
                <a:lnTo>
                  <a:pt x="51605" y="250854"/>
                </a:lnTo>
                <a:lnTo>
                  <a:pt x="28350" y="204668"/>
                </a:lnTo>
                <a:lnTo>
                  <a:pt x="21401" y="162391"/>
                </a:lnTo>
                <a:lnTo>
                  <a:pt x="20537" y="138075"/>
                </a:lnTo>
                <a:lnTo>
                  <a:pt x="21401" y="113930"/>
                </a:lnTo>
                <a:lnTo>
                  <a:pt x="28350" y="71570"/>
                </a:lnTo>
                <a:lnTo>
                  <a:pt x="51605" y="25310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0587" y="1169753"/>
            <a:ext cx="11108267" cy="475553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67732" marR="1021054">
              <a:lnSpc>
                <a:spcPts val="2813"/>
              </a:lnSpc>
              <a:spcBef>
                <a:spcPts val="28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 we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incorporate pretrained 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i="1" spc="-13" dirty="0">
                <a:solidFill>
                  <a:srgbClr val="3A87FF"/>
                </a:solidFill>
                <a:latin typeface="Calibri"/>
                <a:cs typeface="Calibri"/>
              </a:rPr>
              <a:t>different </a:t>
            </a:r>
            <a:r>
              <a:rPr sz="2400" i="1" dirty="0">
                <a:solidFill>
                  <a:srgbClr val="3A87FF"/>
                </a:solidFill>
                <a:latin typeface="Calibri"/>
                <a:cs typeface="Calibri"/>
              </a:rPr>
              <a:t>embedding </a:t>
            </a:r>
            <a:r>
              <a:rPr sz="2400" i="1" spc="-13" dirty="0">
                <a:solidFill>
                  <a:srgbClr val="3A87FF"/>
                </a:solidFill>
                <a:latin typeface="Calibri"/>
                <a:cs typeface="Calibri"/>
              </a:rPr>
              <a:t>space</a:t>
            </a:r>
            <a:r>
              <a:rPr sz="2400" spc="-13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47"/>
              </a:spcBef>
            </a:pPr>
            <a:endParaRPr sz="3200">
              <a:latin typeface="Calibri"/>
              <a:cs typeface="Calibri"/>
            </a:endParaRPr>
          </a:p>
          <a:p>
            <a:pPr marL="67732"/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Answer: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fusion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layer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combine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 </a:t>
            </a:r>
            <a:r>
              <a:rPr sz="2400" spc="-13" dirty="0">
                <a:latin typeface="Calibri"/>
                <a:cs typeface="Calibri"/>
              </a:rPr>
              <a:t>information.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60"/>
              </a:spcBef>
            </a:pPr>
            <a:endParaRPr sz="3067">
              <a:latin typeface="Calibri"/>
              <a:cs typeface="Calibri"/>
            </a:endParaRPr>
          </a:p>
          <a:p>
            <a:pPr marL="16933" algn="ctr">
              <a:spcBef>
                <a:spcPts val="7"/>
              </a:spcBef>
            </a:pPr>
            <a:r>
              <a:rPr sz="2400" spc="67" dirty="0">
                <a:latin typeface="Cambria Math"/>
                <a:cs typeface="Cambria Math"/>
              </a:rPr>
              <a:t>𝒉</a:t>
            </a:r>
            <a:r>
              <a:rPr sz="2600" spc="100" baseline="-14957" dirty="0">
                <a:latin typeface="Cambria Math"/>
                <a:cs typeface="Cambria Math"/>
              </a:rPr>
              <a:t>j</a:t>
            </a:r>
            <a:r>
              <a:rPr sz="2600" spc="66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𝐹</a:t>
            </a:r>
            <a:r>
              <a:rPr sz="2400" spc="645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𝑾</a:t>
            </a:r>
            <a:r>
              <a:rPr sz="2600" spc="119" baseline="-14957" dirty="0">
                <a:latin typeface="Cambria Math"/>
                <a:cs typeface="Cambria Math"/>
              </a:rPr>
              <a:t>𝑡</a:t>
            </a:r>
            <a:r>
              <a:rPr sz="2400" spc="80" dirty="0">
                <a:latin typeface="Cambria Math"/>
                <a:cs typeface="Cambria Math"/>
              </a:rPr>
              <a:t>𝒘</a:t>
            </a:r>
            <a:r>
              <a:rPr sz="2600" spc="119" baseline="-14957" dirty="0">
                <a:latin typeface="Cambria Math"/>
                <a:cs typeface="Cambria Math"/>
              </a:rPr>
              <a:t>j</a:t>
            </a:r>
            <a:r>
              <a:rPr sz="2600" spc="46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3" dirty="0">
                <a:latin typeface="Cambria Math"/>
                <a:cs typeface="Cambria Math"/>
              </a:rPr>
              <a:t> </a:t>
            </a:r>
            <a:r>
              <a:rPr sz="2400" spc="73" dirty="0">
                <a:latin typeface="Cambria Math"/>
                <a:cs typeface="Cambria Math"/>
              </a:rPr>
              <a:t>𝑾</a:t>
            </a:r>
            <a:r>
              <a:rPr sz="2600" spc="109" baseline="-14957" dirty="0">
                <a:latin typeface="Cambria Math"/>
                <a:cs typeface="Cambria Math"/>
              </a:rPr>
              <a:t>𝑒</a:t>
            </a:r>
            <a:r>
              <a:rPr sz="2400" spc="73" dirty="0">
                <a:latin typeface="Cambria Math"/>
                <a:cs typeface="Cambria Math"/>
              </a:rPr>
              <a:t>𝒆</a:t>
            </a:r>
            <a:r>
              <a:rPr sz="2600" spc="109" baseline="-14957" dirty="0">
                <a:latin typeface="Cambria Math"/>
                <a:cs typeface="Cambria Math"/>
              </a:rPr>
              <a:t>𝑘</a:t>
            </a:r>
            <a:r>
              <a:rPr sz="2600" spc="47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545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  <a:p>
            <a:pPr>
              <a:spcBef>
                <a:spcPts val="53"/>
              </a:spcBef>
            </a:pPr>
            <a:endParaRPr sz="3333">
              <a:latin typeface="Cambria Math"/>
              <a:cs typeface="Cambria Math"/>
            </a:endParaRPr>
          </a:p>
          <a:p>
            <a:pPr marL="67732" marR="57572">
              <a:lnSpc>
                <a:spcPct val="106700"/>
              </a:lnSpc>
              <a:spcBef>
                <a:spcPts val="7"/>
              </a:spcBef>
            </a:pPr>
            <a:r>
              <a:rPr sz="2400" dirty="0">
                <a:latin typeface="Calibri"/>
                <a:cs typeface="Calibri"/>
              </a:rPr>
              <a:t>We assume there’s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known alignment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words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 sentence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that </a:t>
            </a:r>
            <a:r>
              <a:rPr sz="2400" dirty="0">
                <a:latin typeface="Cambria Math"/>
                <a:cs typeface="Cambria Math"/>
              </a:rPr>
              <a:t>𝑒</a:t>
            </a:r>
            <a:r>
              <a:rPr sz="2600" baseline="-17094" dirty="0">
                <a:latin typeface="Cambria Math"/>
                <a:cs typeface="Cambria Math"/>
              </a:rPr>
              <a:t>𝑘</a:t>
            </a:r>
            <a:r>
              <a:rPr sz="2600" spc="669" baseline="-1709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r>
              <a:rPr sz="2400" spc="612" dirty="0">
                <a:latin typeface="Cambria Math"/>
                <a:cs typeface="Cambria Math"/>
              </a:rPr>
              <a:t> </a:t>
            </a:r>
            <a:r>
              <a:rPr sz="2400" spc="-33" dirty="0">
                <a:latin typeface="Cambria Math"/>
                <a:cs typeface="Cambria Math"/>
              </a:rPr>
              <a:t>𝑤</a:t>
            </a:r>
            <a:r>
              <a:rPr sz="2600" spc="-49" baseline="-17094" dirty="0">
                <a:latin typeface="Cambria Math"/>
                <a:cs typeface="Cambria Math"/>
              </a:rPr>
              <a:t>j</a:t>
            </a:r>
            <a:endParaRPr sz="2600" baseline="-17094">
              <a:latin typeface="Cambria Math"/>
              <a:cs typeface="Cambria Math"/>
            </a:endParaRPr>
          </a:p>
          <a:p>
            <a:pPr marL="409776" indent="-342045">
              <a:spcBef>
                <a:spcPts val="860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latin typeface="Cambria Math"/>
                <a:cs typeface="Cambria Math"/>
              </a:rPr>
              <a:t>𝒘</a:t>
            </a:r>
            <a:r>
              <a:rPr sz="2600" baseline="-14957" dirty="0">
                <a:latin typeface="Cambria Math"/>
                <a:cs typeface="Cambria Math"/>
              </a:rPr>
              <a:t>j</a:t>
            </a:r>
            <a:r>
              <a:rPr sz="2600" spc="24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𝑗</a:t>
            </a:r>
            <a:r>
              <a:rPr sz="2400" spc="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words</a:t>
            </a:r>
            <a:endParaRPr sz="2400">
              <a:latin typeface="Calibri"/>
              <a:cs typeface="Calibri"/>
            </a:endParaRPr>
          </a:p>
          <a:p>
            <a:pPr marL="409776" indent="-342045">
              <a:spcBef>
                <a:spcPts val="867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latin typeface="Cambria Math"/>
                <a:cs typeface="Cambria Math"/>
              </a:rPr>
              <a:t>𝒆</a:t>
            </a:r>
            <a:r>
              <a:rPr sz="2600" baseline="-14957" dirty="0">
                <a:latin typeface="Cambria Math"/>
                <a:cs typeface="Cambria Math"/>
              </a:rPr>
              <a:t>𝑘</a:t>
            </a:r>
            <a:r>
              <a:rPr sz="2600" spc="520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20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-103079"/>
            <a:ext cx="11658601" cy="1217577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ERNIE:</a:t>
            </a:r>
            <a:r>
              <a:rPr spc="-47" dirty="0"/>
              <a:t> </a:t>
            </a:r>
            <a:r>
              <a:rPr dirty="0"/>
              <a:t>Enhanced</a:t>
            </a:r>
            <a:r>
              <a:rPr spc="-33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Representation</a:t>
            </a:r>
            <a:r>
              <a:rPr spc="-33" dirty="0"/>
              <a:t> </a:t>
            </a:r>
            <a:r>
              <a:rPr dirty="0"/>
              <a:t>with</a:t>
            </a:r>
            <a:r>
              <a:rPr spc="-33" dirty="0"/>
              <a:t> </a:t>
            </a:r>
            <a:r>
              <a:rPr spc="-13" dirty="0"/>
              <a:t>Informative </a:t>
            </a:r>
            <a:r>
              <a:rPr dirty="0"/>
              <a:t>Entities</a:t>
            </a:r>
            <a:r>
              <a:rPr spc="-7" dirty="0"/>
              <a:t> </a:t>
            </a:r>
            <a:r>
              <a:rPr sz="2667" dirty="0"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Zhang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ACL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2019</a:t>
            </a:r>
            <a:r>
              <a:rPr sz="2667" spc="-13" dirty="0"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587" y="1592411"/>
            <a:ext cx="10669693" cy="2453877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10623" marR="57572" indent="-342891">
              <a:lnSpc>
                <a:spcPts val="2787"/>
              </a:lnSpc>
              <a:spcBef>
                <a:spcPts val="300"/>
              </a:spcBef>
              <a:buClr>
                <a:srgbClr val="8C1515"/>
              </a:buClr>
              <a:buFont typeface="Times New Roman"/>
              <a:buChar char="•"/>
              <a:tabLst>
                <a:tab pos="410623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Text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encoder: </a:t>
            </a:r>
            <a:r>
              <a:rPr sz="2400" spc="-13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bidirectional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Transformer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</a:t>
            </a:r>
            <a:r>
              <a:rPr sz="2400" spc="-13" dirty="0">
                <a:latin typeface="Calibri"/>
                <a:cs typeface="Calibri"/>
              </a:rPr>
              <a:t>sentence</a:t>
            </a:r>
            <a:endParaRPr sz="2400" dirty="0">
              <a:latin typeface="Calibri"/>
              <a:cs typeface="Calibri"/>
            </a:endParaRPr>
          </a:p>
          <a:p>
            <a:pPr marL="409776" indent="-342045">
              <a:spcBef>
                <a:spcPts val="527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Knowledge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encoder: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stacked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of:</a:t>
            </a:r>
            <a:endParaRPr sz="2400" dirty="0">
              <a:latin typeface="Calibri"/>
              <a:cs typeface="Calibri"/>
            </a:endParaRPr>
          </a:p>
          <a:p>
            <a:pPr marL="753514" marR="957556" lvl="1" indent="-228594">
              <a:lnSpc>
                <a:spcPct val="102200"/>
              </a:lnSpc>
              <a:spcBef>
                <a:spcPts val="513"/>
              </a:spcBef>
              <a:buClr>
                <a:srgbClr val="007C92"/>
              </a:buClr>
              <a:buFont typeface="Times New Roman"/>
              <a:buChar char="•"/>
              <a:tabLst>
                <a:tab pos="753514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multi-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headed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attentions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(MHAs)</a:t>
            </a:r>
            <a:r>
              <a:rPr sz="2400" spc="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 embeddings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token embeddings</a:t>
            </a:r>
            <a:endParaRPr sz="2400" dirty="0">
              <a:latin typeface="Calibri"/>
              <a:cs typeface="Calibri"/>
            </a:endParaRPr>
          </a:p>
          <a:p>
            <a:pPr marL="752668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52668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fusion</a:t>
            </a:r>
            <a:r>
              <a:rPr sz="2400" spc="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layer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 of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MHAs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FF4223-7287-741A-D695-F5F5F5427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389" y="4537171"/>
            <a:ext cx="4896153" cy="20017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88800" y="0"/>
            <a:ext cx="203200" cy="990600"/>
          </a:xfrm>
          <a:custGeom>
            <a:avLst/>
            <a:gdLst/>
            <a:ahLst/>
            <a:cxnLst/>
            <a:rect l="l" t="t" r="r" b="b"/>
            <a:pathLst>
              <a:path w="152400" h="742950">
                <a:moveTo>
                  <a:pt x="152400" y="0"/>
                </a:moveTo>
                <a:lnTo>
                  <a:pt x="0" y="0"/>
                </a:lnTo>
                <a:lnTo>
                  <a:pt x="0" y="742950"/>
                </a:lnTo>
                <a:lnTo>
                  <a:pt x="152400" y="742950"/>
                </a:lnTo>
                <a:lnTo>
                  <a:pt x="152400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49193"/>
            <a:ext cx="203200" cy="209127"/>
          </a:xfrm>
          <a:custGeom>
            <a:avLst/>
            <a:gdLst/>
            <a:ahLst/>
            <a:cxnLst/>
            <a:rect l="l" t="t" r="r" b="b"/>
            <a:pathLst>
              <a:path w="152400" h="156845">
                <a:moveTo>
                  <a:pt x="0" y="156604"/>
                </a:moveTo>
                <a:lnTo>
                  <a:pt x="152400" y="156604"/>
                </a:lnTo>
                <a:lnTo>
                  <a:pt x="152400" y="0"/>
                </a:lnTo>
                <a:lnTo>
                  <a:pt x="0" y="0"/>
                </a:lnTo>
                <a:lnTo>
                  <a:pt x="0" y="156604"/>
                </a:lnTo>
                <a:close/>
              </a:path>
            </a:pathLst>
          </a:custGeom>
          <a:solidFill>
            <a:srgbClr val="007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801414" y="1472215"/>
            <a:ext cx="7118773" cy="4166447"/>
            <a:chOff x="3601060" y="1104161"/>
            <a:chExt cx="5339080" cy="3124835"/>
          </a:xfrm>
        </p:grpSpPr>
        <p:sp>
          <p:nvSpPr>
            <p:cNvPr id="5" name="object 5"/>
            <p:cNvSpPr/>
            <p:nvPr/>
          </p:nvSpPr>
          <p:spPr>
            <a:xfrm>
              <a:off x="3605822" y="2029842"/>
              <a:ext cx="5329555" cy="1814830"/>
            </a:xfrm>
            <a:custGeom>
              <a:avLst/>
              <a:gdLst/>
              <a:ahLst/>
              <a:cxnLst/>
              <a:rect l="l" t="t" r="r" b="b"/>
              <a:pathLst>
                <a:path w="5329555" h="1814829">
                  <a:moveTo>
                    <a:pt x="0" y="0"/>
                  </a:moveTo>
                  <a:lnTo>
                    <a:pt x="5328953" y="0"/>
                  </a:lnTo>
                  <a:lnTo>
                    <a:pt x="5328953" y="1814305"/>
                  </a:lnTo>
                  <a:lnTo>
                    <a:pt x="0" y="1814305"/>
                  </a:lnTo>
                  <a:lnTo>
                    <a:pt x="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7534" y="1104161"/>
              <a:ext cx="4157403" cy="312450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97381" y="5284793"/>
            <a:ext cx="1399540" cy="3359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4665">
              <a:lnSpc>
                <a:spcPts val="1453"/>
              </a:lnSpc>
              <a:spcBef>
                <a:spcPts val="120"/>
              </a:spcBef>
              <a:tabLst>
                <a:tab pos="944010" algn="l"/>
              </a:tabLst>
            </a:pPr>
            <a:r>
              <a:rPr sz="1900" i="1" spc="-40" baseline="-29239" dirty="0">
                <a:latin typeface="Arial"/>
                <a:cs typeface="Arial"/>
              </a:rPr>
              <a:t>e</a:t>
            </a:r>
            <a:r>
              <a:rPr sz="867" spc="-27" dirty="0">
                <a:latin typeface="Tahoma"/>
                <a:cs typeface="Tahoma"/>
              </a:rPr>
              <a:t>(</a:t>
            </a:r>
            <a:r>
              <a:rPr sz="867" i="1" spc="-27" dirty="0">
                <a:latin typeface="Calibri"/>
                <a:cs typeface="Calibri"/>
              </a:rPr>
              <a:t>i</a:t>
            </a:r>
            <a:r>
              <a:rPr sz="867" i="1" spc="-27" dirty="0">
                <a:latin typeface="Arial"/>
                <a:cs typeface="Arial"/>
              </a:rPr>
              <a:t>—</a:t>
            </a:r>
            <a:r>
              <a:rPr sz="867" spc="-33" dirty="0">
                <a:latin typeface="Tahoma"/>
                <a:cs typeface="Tahoma"/>
              </a:rPr>
              <a:t>1)</a:t>
            </a:r>
            <a:r>
              <a:rPr sz="867" dirty="0">
                <a:latin typeface="Tahoma"/>
                <a:cs typeface="Tahoma"/>
              </a:rPr>
              <a:t>	</a:t>
            </a:r>
            <a:r>
              <a:rPr sz="1900" i="1" spc="-40" baseline="-29239" dirty="0">
                <a:latin typeface="Arial"/>
                <a:cs typeface="Arial"/>
              </a:rPr>
              <a:t>e</a:t>
            </a:r>
            <a:r>
              <a:rPr sz="867" spc="-27" dirty="0">
                <a:latin typeface="Tahoma"/>
                <a:cs typeface="Tahoma"/>
              </a:rPr>
              <a:t>(</a:t>
            </a:r>
            <a:r>
              <a:rPr sz="867" i="1" spc="-27" dirty="0">
                <a:latin typeface="Calibri"/>
                <a:cs typeface="Calibri"/>
              </a:rPr>
              <a:t>i</a:t>
            </a:r>
            <a:r>
              <a:rPr sz="867" i="1" spc="-27" dirty="0">
                <a:latin typeface="Arial"/>
                <a:cs typeface="Arial"/>
              </a:rPr>
              <a:t>—</a:t>
            </a:r>
            <a:r>
              <a:rPr sz="867" spc="-33" dirty="0">
                <a:latin typeface="Tahoma"/>
                <a:cs typeface="Tahoma"/>
              </a:rPr>
              <a:t>1)</a:t>
            </a:r>
            <a:endParaRPr sz="867">
              <a:latin typeface="Tahoma"/>
              <a:cs typeface="Tahoma"/>
            </a:endParaRPr>
          </a:p>
          <a:p>
            <a:pPr marL="155781">
              <a:lnSpc>
                <a:spcPts val="973"/>
              </a:lnSpc>
              <a:tabLst>
                <a:tab pos="1015975" algn="l"/>
              </a:tabLst>
            </a:pPr>
            <a:r>
              <a:rPr sz="867" spc="-67" dirty="0">
                <a:latin typeface="Tahoma"/>
                <a:cs typeface="Tahoma"/>
              </a:rPr>
              <a:t>1</a:t>
            </a:r>
            <a:r>
              <a:rPr sz="867" dirty="0">
                <a:latin typeface="Tahoma"/>
                <a:cs typeface="Tahoma"/>
              </a:rPr>
              <a:t>	</a:t>
            </a:r>
            <a:r>
              <a:rPr sz="867" spc="-67" dirty="0">
                <a:latin typeface="Tahoma"/>
                <a:cs typeface="Tahoma"/>
              </a:rPr>
              <a:t>2</a:t>
            </a:r>
            <a:endParaRPr sz="86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4039" y="5259272"/>
            <a:ext cx="465667" cy="23168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50799">
              <a:spcBef>
                <a:spcPts val="127"/>
              </a:spcBef>
            </a:pPr>
            <a:r>
              <a:rPr sz="2100" i="1" spc="-169" baseline="-29100" dirty="0">
                <a:latin typeface="Calibri"/>
                <a:cs typeface="Calibri"/>
              </a:rPr>
              <a:t>w</a:t>
            </a:r>
            <a:r>
              <a:rPr sz="933" spc="-113" dirty="0">
                <a:latin typeface="Tahoma"/>
                <a:cs typeface="Tahoma"/>
              </a:rPr>
              <a:t>(</a:t>
            </a:r>
            <a:r>
              <a:rPr sz="933" i="1" spc="-113" dirty="0">
                <a:latin typeface="Calibri"/>
                <a:cs typeface="Calibri"/>
              </a:rPr>
              <a:t>i</a:t>
            </a:r>
            <a:r>
              <a:rPr sz="933" i="1" spc="-113" dirty="0">
                <a:latin typeface="Arial"/>
                <a:cs typeface="Arial"/>
              </a:rPr>
              <a:t>—</a:t>
            </a:r>
            <a:r>
              <a:rPr sz="933" spc="-33" dirty="0">
                <a:latin typeface="Tahoma"/>
                <a:cs typeface="Tahoma"/>
              </a:rPr>
              <a:t>1)</a:t>
            </a:r>
            <a:endParaRPr sz="933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5425" y="5451649"/>
            <a:ext cx="226907" cy="38899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36406">
              <a:spcBef>
                <a:spcPts val="173"/>
              </a:spcBef>
            </a:pPr>
            <a:r>
              <a:rPr sz="933" spc="-87" dirty="0">
                <a:latin typeface="Tahoma"/>
                <a:cs typeface="Tahoma"/>
              </a:rPr>
              <a:t>1</a:t>
            </a:r>
            <a:endParaRPr sz="933">
              <a:latin typeface="Tahoma"/>
              <a:cs typeface="Tahoma"/>
            </a:endParaRPr>
          </a:p>
          <a:p>
            <a:pPr marL="16933">
              <a:spcBef>
                <a:spcPts val="727"/>
              </a:spcBef>
            </a:pPr>
            <a:r>
              <a:rPr sz="867" spc="-33" dirty="0">
                <a:latin typeface="Arial MT"/>
                <a:cs typeface="Arial MT"/>
              </a:rPr>
              <a:t>bob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1463" y="5256476"/>
            <a:ext cx="465667" cy="23168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50799">
              <a:spcBef>
                <a:spcPts val="127"/>
              </a:spcBef>
            </a:pPr>
            <a:r>
              <a:rPr sz="2100" i="1" spc="-169" baseline="-29100" dirty="0">
                <a:latin typeface="Calibri"/>
                <a:cs typeface="Calibri"/>
              </a:rPr>
              <a:t>w</a:t>
            </a:r>
            <a:r>
              <a:rPr sz="933" spc="-113" dirty="0">
                <a:latin typeface="Tahoma"/>
                <a:cs typeface="Tahoma"/>
              </a:rPr>
              <a:t>(</a:t>
            </a:r>
            <a:r>
              <a:rPr sz="933" i="1" spc="-113" dirty="0">
                <a:latin typeface="Calibri"/>
                <a:cs typeface="Calibri"/>
              </a:rPr>
              <a:t>i</a:t>
            </a:r>
            <a:r>
              <a:rPr sz="933" i="1" spc="-113" dirty="0">
                <a:latin typeface="Arial"/>
                <a:cs typeface="Arial"/>
              </a:rPr>
              <a:t>—</a:t>
            </a:r>
            <a:r>
              <a:rPr sz="933" spc="-33" dirty="0">
                <a:latin typeface="Tahoma"/>
                <a:cs typeface="Tahoma"/>
              </a:rPr>
              <a:t>1)</a:t>
            </a:r>
            <a:endParaRPr sz="933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0743" y="5448853"/>
            <a:ext cx="310727" cy="401819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78738">
              <a:spcBef>
                <a:spcPts val="173"/>
              </a:spcBef>
            </a:pPr>
            <a:r>
              <a:rPr sz="933" spc="-87" dirty="0">
                <a:latin typeface="Tahoma"/>
                <a:cs typeface="Tahoma"/>
              </a:rPr>
              <a:t>2</a:t>
            </a:r>
            <a:endParaRPr sz="933">
              <a:latin typeface="Tahoma"/>
              <a:cs typeface="Tahoma"/>
            </a:endParaRPr>
          </a:p>
          <a:p>
            <a:pPr marL="16933">
              <a:spcBef>
                <a:spcPts val="753"/>
              </a:spcBef>
            </a:pPr>
            <a:r>
              <a:rPr sz="867" spc="-13" dirty="0">
                <a:latin typeface="Arial MT"/>
                <a:cs typeface="Arial MT"/>
              </a:rPr>
              <a:t>dylan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3984" y="5260932"/>
            <a:ext cx="465667" cy="22655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</a:pPr>
            <a:r>
              <a:rPr sz="2000" i="1" spc="-129" baseline="-30555" dirty="0">
                <a:latin typeface="Calibri"/>
                <a:cs typeface="Calibri"/>
              </a:rPr>
              <a:t>w</a:t>
            </a:r>
            <a:r>
              <a:rPr sz="933" spc="-87" dirty="0">
                <a:latin typeface="Calibri"/>
                <a:cs typeface="Calibri"/>
              </a:rPr>
              <a:t>(</a:t>
            </a:r>
            <a:r>
              <a:rPr sz="933" i="1" spc="-87" dirty="0">
                <a:latin typeface="Calibri"/>
                <a:cs typeface="Calibri"/>
              </a:rPr>
              <a:t>i</a:t>
            </a:r>
            <a:r>
              <a:rPr sz="933" i="1" spc="-87" dirty="0">
                <a:latin typeface="Arial"/>
                <a:cs typeface="Arial"/>
              </a:rPr>
              <a:t>—</a:t>
            </a:r>
            <a:r>
              <a:rPr sz="933" spc="-33" dirty="0">
                <a:latin typeface="Calibri"/>
                <a:cs typeface="Calibri"/>
              </a:rPr>
              <a:t>1)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6184" y="5449381"/>
            <a:ext cx="316653" cy="399253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75351">
              <a:spcBef>
                <a:spcPts val="152"/>
              </a:spcBef>
            </a:pPr>
            <a:r>
              <a:rPr sz="933" spc="-47" dirty="0">
                <a:latin typeface="Calibri"/>
                <a:cs typeface="Calibri"/>
              </a:rPr>
              <a:t>3</a:t>
            </a:r>
            <a:endParaRPr sz="933">
              <a:latin typeface="Calibri"/>
              <a:cs typeface="Calibri"/>
            </a:endParaRPr>
          </a:p>
          <a:p>
            <a:pPr marL="16933">
              <a:spcBef>
                <a:spcPts val="767"/>
              </a:spcBef>
            </a:pPr>
            <a:r>
              <a:rPr sz="867" spc="-13" dirty="0">
                <a:latin typeface="Arial MT"/>
                <a:cs typeface="Arial MT"/>
              </a:rPr>
              <a:t>wrote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1639" y="5291579"/>
            <a:ext cx="247227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spc="-33" dirty="0">
                <a:latin typeface="Microsoft Sans Serif"/>
                <a:cs typeface="Microsoft Sans Serif"/>
              </a:rPr>
              <a:t>···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01083" y="5253431"/>
            <a:ext cx="465667" cy="255624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50799">
              <a:spcBef>
                <a:spcPts val="152"/>
              </a:spcBef>
            </a:pPr>
            <a:r>
              <a:rPr sz="2300" i="1" spc="-289" baseline="-24154" dirty="0">
                <a:latin typeface="Calibri"/>
                <a:cs typeface="Calibri"/>
              </a:rPr>
              <a:t>w</a:t>
            </a:r>
            <a:r>
              <a:rPr sz="1067" spc="-193" dirty="0">
                <a:latin typeface="Tahoma"/>
                <a:cs typeface="Tahoma"/>
              </a:rPr>
              <a:t>(</a:t>
            </a:r>
            <a:r>
              <a:rPr sz="1067" i="1" spc="-193" dirty="0">
                <a:latin typeface="Calibri"/>
                <a:cs typeface="Calibri"/>
              </a:rPr>
              <a:t>i</a:t>
            </a:r>
            <a:r>
              <a:rPr sz="1067" i="1" spc="-193" dirty="0">
                <a:latin typeface="Arial"/>
                <a:cs typeface="Arial"/>
              </a:rPr>
              <a:t>—</a:t>
            </a:r>
            <a:r>
              <a:rPr sz="1067" spc="-33" dirty="0">
                <a:latin typeface="Tahoma"/>
                <a:cs typeface="Tahoma"/>
              </a:rPr>
              <a:t>1)</a:t>
            </a:r>
            <a:endParaRPr sz="1067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3538" y="5351380"/>
            <a:ext cx="291253" cy="487441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65192">
              <a:spcBef>
                <a:spcPts val="880"/>
              </a:spcBef>
            </a:pPr>
            <a:r>
              <a:rPr sz="1067" i="1" spc="-20" dirty="0">
                <a:latin typeface="Calibri"/>
                <a:cs typeface="Calibri"/>
              </a:rPr>
              <a:t>n</a:t>
            </a:r>
            <a:endParaRPr sz="1067">
              <a:latin typeface="Calibri"/>
              <a:cs typeface="Calibri"/>
            </a:endParaRPr>
          </a:p>
          <a:p>
            <a:pPr marL="16933">
              <a:spcBef>
                <a:spcPts val="645"/>
              </a:spcBef>
            </a:pPr>
            <a:r>
              <a:rPr sz="867" spc="-27" dirty="0">
                <a:latin typeface="Arial MT"/>
                <a:cs typeface="Arial MT"/>
              </a:rPr>
              <a:t>1962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3601" y="4592378"/>
            <a:ext cx="1197187" cy="170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00" dirty="0">
                <a:latin typeface="Arial MT"/>
                <a:cs typeface="Arial MT"/>
              </a:rPr>
              <a:t>Multi-Head</a:t>
            </a:r>
            <a:r>
              <a:rPr sz="1000" spc="47" dirty="0">
                <a:latin typeface="Arial MT"/>
                <a:cs typeface="Arial MT"/>
              </a:rPr>
              <a:t> </a:t>
            </a:r>
            <a:r>
              <a:rPr sz="1000" spc="-13" dirty="0">
                <a:latin typeface="Arial MT"/>
                <a:cs typeface="Arial MT"/>
              </a:rPr>
              <a:t>Attention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71077" y="4595005"/>
            <a:ext cx="1197187" cy="170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00" dirty="0">
                <a:latin typeface="Arial MT"/>
                <a:cs typeface="Arial MT"/>
              </a:rPr>
              <a:t>Multi-Head</a:t>
            </a:r>
            <a:r>
              <a:rPr sz="1000" spc="47" dirty="0">
                <a:latin typeface="Arial MT"/>
                <a:cs typeface="Arial MT"/>
              </a:rPr>
              <a:t> </a:t>
            </a:r>
            <a:r>
              <a:rPr sz="1000" spc="-13" dirty="0">
                <a:latin typeface="Arial MT"/>
                <a:cs typeface="Arial MT"/>
              </a:rPr>
              <a:t>Attention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2165" y="2988462"/>
            <a:ext cx="1086273" cy="170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00" dirty="0">
                <a:latin typeface="Arial MT"/>
                <a:cs typeface="Arial MT"/>
              </a:rPr>
              <a:t>Information</a:t>
            </a:r>
            <a:r>
              <a:rPr sz="1000" spc="13" dirty="0">
                <a:latin typeface="Arial MT"/>
                <a:cs typeface="Arial MT"/>
              </a:rPr>
              <a:t> </a:t>
            </a:r>
            <a:r>
              <a:rPr sz="1000" spc="-13" dirty="0">
                <a:latin typeface="Arial MT"/>
                <a:cs typeface="Arial MT"/>
              </a:rPr>
              <a:t>Fusion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78127" y="1969382"/>
            <a:ext cx="307339" cy="21287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1900" i="1" spc="-40" baseline="-23391" dirty="0">
                <a:latin typeface="Calibri"/>
                <a:cs typeface="Calibri"/>
              </a:rPr>
              <a:t>w</a:t>
            </a:r>
            <a:r>
              <a:rPr sz="867" spc="-27" dirty="0">
                <a:latin typeface="Tahoma"/>
                <a:cs typeface="Tahoma"/>
              </a:rPr>
              <a:t>(</a:t>
            </a:r>
            <a:r>
              <a:rPr sz="867" i="1" spc="-27" dirty="0">
                <a:latin typeface="Calibri"/>
                <a:cs typeface="Calibri"/>
              </a:rPr>
              <a:t>i</a:t>
            </a:r>
            <a:r>
              <a:rPr sz="867" spc="-27" dirty="0">
                <a:latin typeface="Tahoma"/>
                <a:cs typeface="Tahoma"/>
              </a:rPr>
              <a:t>)</a:t>
            </a:r>
            <a:endParaRPr sz="867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01169" y="2125130"/>
            <a:ext cx="95673" cy="15395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867" i="1" spc="33" dirty="0">
                <a:latin typeface="Calibri"/>
                <a:cs typeface="Calibri"/>
              </a:rPr>
              <a:t>n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69425" y="1526019"/>
            <a:ext cx="2203873" cy="37788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84665">
              <a:lnSpc>
                <a:spcPts val="1693"/>
              </a:lnSpc>
              <a:spcBef>
                <a:spcPts val="147"/>
              </a:spcBef>
              <a:tabLst>
                <a:tab pos="1910032" algn="l"/>
              </a:tabLst>
            </a:pPr>
            <a:r>
              <a:rPr sz="2200" i="1" spc="-40" baseline="-30303" dirty="0">
                <a:latin typeface="Arial"/>
                <a:cs typeface="Arial"/>
              </a:rPr>
              <a:t>e</a:t>
            </a:r>
            <a:r>
              <a:rPr sz="1000" spc="-27" dirty="0">
                <a:latin typeface="Tahoma"/>
                <a:cs typeface="Tahoma"/>
              </a:rPr>
              <a:t>(</a:t>
            </a:r>
            <a:r>
              <a:rPr sz="1000" i="1" spc="-27" dirty="0">
                <a:latin typeface="Calibri"/>
                <a:cs typeface="Calibri"/>
              </a:rPr>
              <a:t>i</a:t>
            </a:r>
            <a:r>
              <a:rPr sz="1000" spc="-27" dirty="0">
                <a:latin typeface="Tahoma"/>
                <a:cs typeface="Tahoma"/>
              </a:rPr>
              <a:t>)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2200" i="1" spc="-40" baseline="-30303" dirty="0">
                <a:latin typeface="Arial"/>
                <a:cs typeface="Arial"/>
              </a:rPr>
              <a:t>e</a:t>
            </a:r>
            <a:r>
              <a:rPr sz="1000" spc="-27" dirty="0">
                <a:latin typeface="Tahoma"/>
                <a:cs typeface="Tahoma"/>
              </a:rPr>
              <a:t>(</a:t>
            </a:r>
            <a:r>
              <a:rPr sz="1000" i="1" spc="-27" dirty="0">
                <a:latin typeface="Calibri"/>
                <a:cs typeface="Calibri"/>
              </a:rPr>
              <a:t>i</a:t>
            </a:r>
            <a:r>
              <a:rPr sz="1000" spc="-27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154936">
              <a:lnSpc>
                <a:spcPts val="1133"/>
              </a:lnSpc>
              <a:tabLst>
                <a:tab pos="1980304" algn="l"/>
              </a:tabLst>
            </a:pPr>
            <a:r>
              <a:rPr sz="1000" spc="-67" dirty="0">
                <a:latin typeface="Tahoma"/>
                <a:cs typeface="Tahoma"/>
              </a:rPr>
              <a:t>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67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13951" y="1924916"/>
            <a:ext cx="309880" cy="24451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50799">
              <a:spcBef>
                <a:spcPts val="147"/>
              </a:spcBef>
            </a:pPr>
            <a:r>
              <a:rPr sz="2200" i="1" spc="-40" baseline="-30303" dirty="0">
                <a:latin typeface="Arial"/>
                <a:cs typeface="Arial"/>
              </a:rPr>
              <a:t>e</a:t>
            </a:r>
            <a:r>
              <a:rPr sz="1000" spc="-27" dirty="0">
                <a:latin typeface="Tahoma"/>
                <a:cs typeface="Tahoma"/>
              </a:rPr>
              <a:t>(</a:t>
            </a:r>
            <a:r>
              <a:rPr sz="1000" i="1" spc="-27" dirty="0">
                <a:latin typeface="Calibri"/>
                <a:cs typeface="Calibri"/>
              </a:rPr>
              <a:t>i</a:t>
            </a:r>
            <a:r>
              <a:rPr sz="1000" spc="-27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18429" y="2129608"/>
            <a:ext cx="94827" cy="17611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000" spc="-73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86759" y="1932069"/>
            <a:ext cx="309880" cy="244512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50799">
              <a:spcBef>
                <a:spcPts val="147"/>
              </a:spcBef>
            </a:pPr>
            <a:r>
              <a:rPr sz="2200" i="1" spc="-40" baseline="-30303" dirty="0">
                <a:latin typeface="Arial"/>
                <a:cs typeface="Arial"/>
              </a:rPr>
              <a:t>e</a:t>
            </a:r>
            <a:r>
              <a:rPr sz="1000" spc="-27" dirty="0">
                <a:latin typeface="Tahoma"/>
                <a:cs typeface="Tahoma"/>
              </a:rPr>
              <a:t>(</a:t>
            </a:r>
            <a:r>
              <a:rPr sz="1000" i="1" spc="-27" dirty="0">
                <a:latin typeface="Calibri"/>
                <a:cs typeface="Calibri"/>
              </a:rPr>
              <a:t>i</a:t>
            </a:r>
            <a:r>
              <a:rPr sz="1000" spc="-27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91239" y="2136763"/>
            <a:ext cx="94827" cy="17611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000" spc="-73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13788" y="3963436"/>
            <a:ext cx="171873" cy="17611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000" spc="-33" dirty="0">
                <a:latin typeface="Tahoma"/>
                <a:cs typeface="Tahoma"/>
              </a:rPr>
              <a:t>(</a:t>
            </a:r>
            <a:r>
              <a:rPr sz="1000" i="1" spc="-33" dirty="0">
                <a:latin typeface="Calibri"/>
                <a:cs typeface="Calibri"/>
              </a:rPr>
              <a:t>i</a:t>
            </a:r>
            <a:r>
              <a:rPr sz="1000" spc="-33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09309" y="4004791"/>
            <a:ext cx="232833" cy="24457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50799">
              <a:spcBef>
                <a:spcPts val="147"/>
              </a:spcBef>
            </a:pPr>
            <a:r>
              <a:rPr sz="1467" i="1" spc="-653" dirty="0">
                <a:latin typeface="Arial"/>
                <a:cs typeface="Arial"/>
              </a:rPr>
              <a:t>e</a:t>
            </a:r>
            <a:r>
              <a:rPr sz="1467" spc="27" dirty="0">
                <a:latin typeface="Arial MT"/>
                <a:cs typeface="Arial MT"/>
              </a:rPr>
              <a:t>˜</a:t>
            </a:r>
            <a:r>
              <a:rPr sz="1500" spc="160" baseline="-22222" dirty="0">
                <a:latin typeface="Tahoma"/>
                <a:cs typeface="Tahoma"/>
              </a:rPr>
              <a:t>1</a:t>
            </a:r>
            <a:endParaRPr sz="1500" baseline="-22222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673837" y="3963436"/>
            <a:ext cx="171873" cy="176116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1000" spc="-33" dirty="0">
                <a:latin typeface="Tahoma"/>
                <a:cs typeface="Tahoma"/>
              </a:rPr>
              <a:t>(</a:t>
            </a:r>
            <a:r>
              <a:rPr sz="1000" i="1" spc="-33" dirty="0">
                <a:latin typeface="Calibri"/>
                <a:cs typeface="Calibri"/>
              </a:rPr>
              <a:t>i</a:t>
            </a:r>
            <a:r>
              <a:rPr sz="1000" spc="-33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69357" y="4004791"/>
            <a:ext cx="232833" cy="244576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50799">
              <a:spcBef>
                <a:spcPts val="147"/>
              </a:spcBef>
            </a:pPr>
            <a:r>
              <a:rPr sz="1467" i="1" spc="-653" dirty="0">
                <a:latin typeface="Arial"/>
                <a:cs typeface="Arial"/>
              </a:rPr>
              <a:t>e</a:t>
            </a:r>
            <a:r>
              <a:rPr sz="1467" spc="27" dirty="0">
                <a:latin typeface="Arial MT"/>
                <a:cs typeface="Arial MT"/>
              </a:rPr>
              <a:t>˜</a:t>
            </a:r>
            <a:r>
              <a:rPr sz="1500" spc="160" baseline="-22222" dirty="0">
                <a:latin typeface="Tahoma"/>
                <a:cs typeface="Tahoma"/>
              </a:rPr>
              <a:t>2</a:t>
            </a:r>
            <a:endParaRPr sz="1500" baseline="-22222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06328" y="3920785"/>
            <a:ext cx="307339" cy="1923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1700" spc="-40" baseline="-29411" dirty="0">
                <a:latin typeface="Arial MT"/>
                <a:cs typeface="Arial MT"/>
              </a:rPr>
              <a:t>˜</a:t>
            </a:r>
            <a:r>
              <a:rPr sz="800" spc="-27" dirty="0">
                <a:latin typeface="Tahoma"/>
                <a:cs typeface="Tahoma"/>
              </a:rPr>
              <a:t>(</a:t>
            </a:r>
            <a:r>
              <a:rPr sz="800" i="1" spc="-27" dirty="0">
                <a:latin typeface="Calibri"/>
                <a:cs typeface="Calibri"/>
              </a:rPr>
              <a:t>i</a:t>
            </a:r>
            <a:r>
              <a:rPr sz="800" spc="-27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29370" y="4078633"/>
            <a:ext cx="8382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47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14136" y="3920450"/>
            <a:ext cx="307339" cy="1923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1700" spc="-40" baseline="-29411" dirty="0">
                <a:latin typeface="Arial MT"/>
                <a:cs typeface="Arial MT"/>
              </a:rPr>
              <a:t>˜</a:t>
            </a:r>
            <a:r>
              <a:rPr sz="800" spc="-27" dirty="0">
                <a:latin typeface="Tahoma"/>
                <a:cs typeface="Tahoma"/>
              </a:rPr>
              <a:t>(</a:t>
            </a:r>
            <a:r>
              <a:rPr sz="800" i="1" spc="-27" dirty="0">
                <a:latin typeface="Calibri"/>
                <a:cs typeface="Calibri"/>
              </a:rPr>
              <a:t>i</a:t>
            </a:r>
            <a:r>
              <a:rPr sz="800" spc="-27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37178" y="4078297"/>
            <a:ext cx="8382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47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21943" y="3921813"/>
            <a:ext cx="307339" cy="18979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799">
              <a:spcBef>
                <a:spcPts val="120"/>
              </a:spcBef>
            </a:pP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1700" spc="-40" baseline="-29411" dirty="0">
                <a:latin typeface="Arial MT"/>
                <a:cs typeface="Arial MT"/>
              </a:rPr>
              <a:t>˜</a:t>
            </a:r>
            <a:r>
              <a:rPr sz="733" spc="-27" dirty="0">
                <a:latin typeface="Tahoma"/>
                <a:cs typeface="Tahoma"/>
              </a:rPr>
              <a:t>(</a:t>
            </a:r>
            <a:r>
              <a:rPr sz="733" i="1" spc="-27" dirty="0">
                <a:latin typeface="Calibri"/>
                <a:cs typeface="Calibri"/>
              </a:rPr>
              <a:t>i</a:t>
            </a:r>
            <a:r>
              <a:rPr sz="733" spc="-27" dirty="0">
                <a:latin typeface="Tahoma"/>
                <a:cs typeface="Tahoma"/>
              </a:rPr>
              <a:t>)</a:t>
            </a:r>
            <a:endParaRPr sz="733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4985" y="4076439"/>
            <a:ext cx="83820" cy="13587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6933">
              <a:spcBef>
                <a:spcPts val="180"/>
              </a:spcBef>
            </a:pPr>
            <a:r>
              <a:rPr sz="733" spc="-13" dirty="0">
                <a:latin typeface="Tahoma"/>
                <a:cs typeface="Tahoma"/>
              </a:rPr>
              <a:t>3</a:t>
            </a:r>
            <a:endParaRPr sz="733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75557" y="3910997"/>
            <a:ext cx="307339" cy="21287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1900" i="1" spc="-889" baseline="-23391" dirty="0">
                <a:latin typeface="Calibri"/>
                <a:cs typeface="Calibri"/>
              </a:rPr>
              <a:t>w</a:t>
            </a:r>
            <a:r>
              <a:rPr sz="1900" spc="149" baseline="-23391" dirty="0">
                <a:latin typeface="Arial MT"/>
                <a:cs typeface="Arial MT"/>
              </a:rPr>
              <a:t>˜</a:t>
            </a:r>
            <a:r>
              <a:rPr sz="867" spc="67" dirty="0">
                <a:latin typeface="Tahoma"/>
                <a:cs typeface="Tahoma"/>
              </a:rPr>
              <a:t>(</a:t>
            </a:r>
            <a:r>
              <a:rPr sz="867" i="1" spc="67" dirty="0">
                <a:latin typeface="Calibri"/>
                <a:cs typeface="Calibri"/>
              </a:rPr>
              <a:t>i</a:t>
            </a:r>
            <a:r>
              <a:rPr sz="867" spc="67" dirty="0">
                <a:latin typeface="Tahoma"/>
                <a:cs typeface="Tahoma"/>
              </a:rPr>
              <a:t>)</a:t>
            </a:r>
            <a:endParaRPr sz="867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898600" y="4066746"/>
            <a:ext cx="95673" cy="153953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867" i="1" spc="33" dirty="0">
                <a:latin typeface="Calibri"/>
                <a:cs typeface="Calibri"/>
              </a:rPr>
              <a:t>n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81639" y="1987589"/>
            <a:ext cx="247227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spc="-33" dirty="0">
                <a:latin typeface="Microsoft Sans Serif"/>
                <a:cs typeface="Microsoft Sans Serif"/>
              </a:rPr>
              <a:t>···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79073" y="3904768"/>
            <a:ext cx="247227" cy="325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spc="-33" dirty="0">
                <a:latin typeface="Microsoft Sans Serif"/>
                <a:cs typeface="Microsoft Sans Serif"/>
              </a:rPr>
              <a:t>···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36428" y="3460632"/>
            <a:ext cx="284480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2400" i="1" spc="-1219" baseline="-30092" dirty="0">
                <a:latin typeface="Arial"/>
                <a:cs typeface="Arial"/>
              </a:rPr>
              <a:t>e</a:t>
            </a:r>
            <a:r>
              <a:rPr sz="2400" spc="-100" baseline="-30092" dirty="0">
                <a:latin typeface="Arial MT"/>
                <a:cs typeface="Arial MT"/>
              </a:rPr>
              <a:t>˜</a:t>
            </a:r>
            <a:r>
              <a:rPr sz="1133" spc="20" dirty="0">
                <a:latin typeface="Tahoma"/>
                <a:cs typeface="Tahoma"/>
              </a:rPr>
              <a:t>(</a:t>
            </a:r>
            <a:r>
              <a:rPr sz="1133" i="1" spc="20" dirty="0">
                <a:latin typeface="Calibri"/>
                <a:cs typeface="Calibri"/>
              </a:rPr>
              <a:t>i</a:t>
            </a:r>
            <a:r>
              <a:rPr sz="1133" spc="20" dirty="0">
                <a:latin typeface="Tahoma"/>
                <a:cs typeface="Tahoma"/>
              </a:rPr>
              <a:t>)</a:t>
            </a:r>
            <a:endParaRPr sz="1133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32082" y="3682606"/>
            <a:ext cx="87207" cy="1905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133" spc="-207" dirty="0">
                <a:latin typeface="Tahoma"/>
                <a:cs typeface="Tahoma"/>
              </a:rPr>
              <a:t>2</a:t>
            </a:r>
            <a:endParaRPr sz="1133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44288" y="5333210"/>
            <a:ext cx="756920" cy="18558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067" spc="-13" dirty="0">
                <a:latin typeface="Arial MT"/>
                <a:cs typeface="Arial MT"/>
              </a:rPr>
              <a:t>Token</a:t>
            </a:r>
            <a:r>
              <a:rPr sz="1067" spc="-33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Input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159747" y="5333210"/>
            <a:ext cx="733213" cy="18558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067" dirty="0">
                <a:latin typeface="Arial MT"/>
                <a:cs typeface="Arial MT"/>
              </a:rPr>
              <a:t>Entity</a:t>
            </a:r>
            <a:r>
              <a:rPr sz="1067" spc="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Input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34451" y="2030974"/>
            <a:ext cx="866140" cy="18558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067" spc="-13" dirty="0">
                <a:latin typeface="Arial MT"/>
                <a:cs typeface="Arial MT"/>
              </a:rPr>
              <a:t>Token</a:t>
            </a:r>
            <a:r>
              <a:rPr sz="1067" spc="-33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Output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045346" y="2014718"/>
            <a:ext cx="842433" cy="18558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067" dirty="0">
                <a:latin typeface="Arial MT"/>
                <a:cs typeface="Arial MT"/>
              </a:rPr>
              <a:t>Entity</a:t>
            </a:r>
            <a:r>
              <a:rPr sz="1067" spc="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Output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21845" y="6077400"/>
            <a:ext cx="3048000" cy="549723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16933">
              <a:spcBef>
                <a:spcPts val="707"/>
              </a:spcBef>
            </a:pPr>
            <a:r>
              <a:rPr sz="1133" b="1" i="1" dirty="0">
                <a:latin typeface="Arial"/>
                <a:cs typeface="Arial"/>
              </a:rPr>
              <a:t>Bob</a:t>
            </a:r>
            <a:r>
              <a:rPr sz="1133" b="1" i="1" spc="20" dirty="0">
                <a:latin typeface="Arial"/>
                <a:cs typeface="Arial"/>
              </a:rPr>
              <a:t> </a:t>
            </a:r>
            <a:r>
              <a:rPr sz="1133" b="1" i="1" dirty="0">
                <a:latin typeface="Arial"/>
                <a:cs typeface="Arial"/>
              </a:rPr>
              <a:t>Dylan</a:t>
            </a:r>
            <a:r>
              <a:rPr sz="1133" b="1" i="1" spc="20" dirty="0">
                <a:latin typeface="Arial"/>
                <a:cs typeface="Arial"/>
              </a:rPr>
              <a:t> </a:t>
            </a:r>
            <a:r>
              <a:rPr sz="1133" dirty="0">
                <a:latin typeface="Arial MT"/>
                <a:cs typeface="Arial MT"/>
              </a:rPr>
              <a:t>wrote</a:t>
            </a:r>
            <a:r>
              <a:rPr sz="1133" spc="20" dirty="0">
                <a:latin typeface="Arial MT"/>
                <a:cs typeface="Arial MT"/>
              </a:rPr>
              <a:t> </a:t>
            </a:r>
            <a:r>
              <a:rPr sz="1133" b="1" i="1" dirty="0">
                <a:latin typeface="Arial"/>
                <a:cs typeface="Arial"/>
              </a:rPr>
              <a:t>Blowin’</a:t>
            </a:r>
            <a:r>
              <a:rPr sz="1133" b="1" i="1" spc="-40" dirty="0">
                <a:latin typeface="Arial"/>
                <a:cs typeface="Arial"/>
              </a:rPr>
              <a:t> </a:t>
            </a:r>
            <a:r>
              <a:rPr sz="1133" b="1" i="1" dirty="0">
                <a:latin typeface="Arial"/>
                <a:cs typeface="Arial"/>
              </a:rPr>
              <a:t>in</a:t>
            </a:r>
            <a:r>
              <a:rPr sz="1133" b="1" i="1" spc="20" dirty="0">
                <a:latin typeface="Arial"/>
                <a:cs typeface="Arial"/>
              </a:rPr>
              <a:t> </a:t>
            </a:r>
            <a:r>
              <a:rPr sz="1133" b="1" i="1" dirty="0">
                <a:latin typeface="Arial"/>
                <a:cs typeface="Arial"/>
              </a:rPr>
              <a:t>the</a:t>
            </a:r>
            <a:r>
              <a:rPr sz="1133" b="1" i="1" spc="20" dirty="0">
                <a:latin typeface="Arial"/>
                <a:cs typeface="Arial"/>
              </a:rPr>
              <a:t> </a:t>
            </a:r>
            <a:r>
              <a:rPr sz="1133" b="1" i="1" dirty="0">
                <a:latin typeface="Arial"/>
                <a:cs typeface="Arial"/>
              </a:rPr>
              <a:t>Wind</a:t>
            </a:r>
            <a:r>
              <a:rPr sz="1133" b="1" i="1" spc="20" dirty="0">
                <a:latin typeface="Arial"/>
                <a:cs typeface="Arial"/>
              </a:rPr>
              <a:t> </a:t>
            </a:r>
            <a:r>
              <a:rPr sz="1133" dirty="0">
                <a:latin typeface="Arial MT"/>
                <a:cs typeface="Arial MT"/>
              </a:rPr>
              <a:t>in</a:t>
            </a:r>
            <a:r>
              <a:rPr sz="1133" spc="20" dirty="0">
                <a:latin typeface="Arial MT"/>
                <a:cs typeface="Arial MT"/>
              </a:rPr>
              <a:t> </a:t>
            </a:r>
            <a:r>
              <a:rPr sz="1133" spc="-27" dirty="0">
                <a:latin typeface="Arial MT"/>
                <a:cs typeface="Arial MT"/>
              </a:rPr>
              <a:t>1962</a:t>
            </a:r>
            <a:endParaRPr sz="1133">
              <a:latin typeface="Arial MT"/>
              <a:cs typeface="Arial MT"/>
            </a:endParaRPr>
          </a:p>
          <a:p>
            <a:pPr marL="1037987">
              <a:spcBef>
                <a:spcPts val="660"/>
              </a:spcBef>
            </a:pPr>
            <a:r>
              <a:rPr sz="1267" dirty="0">
                <a:latin typeface="Times New Roman"/>
                <a:cs typeface="Times New Roman"/>
              </a:rPr>
              <a:t>(b)</a:t>
            </a:r>
            <a:r>
              <a:rPr sz="1267" spc="-40" dirty="0">
                <a:latin typeface="Times New Roman"/>
                <a:cs typeface="Times New Roman"/>
              </a:rPr>
              <a:t> </a:t>
            </a:r>
            <a:r>
              <a:rPr sz="1267" spc="-13" dirty="0">
                <a:latin typeface="Times New Roman"/>
                <a:cs typeface="Times New Roman"/>
              </a:rPr>
              <a:t>Aggregator</a:t>
            </a:r>
            <a:endParaRPr sz="1267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59161" y="5688617"/>
            <a:ext cx="271780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spc="-27" dirty="0">
                <a:latin typeface="Arial MT"/>
                <a:cs typeface="Arial MT"/>
              </a:rPr>
              <a:t>blow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51793" y="5256476"/>
            <a:ext cx="465667" cy="23168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50799">
              <a:spcBef>
                <a:spcPts val="127"/>
              </a:spcBef>
            </a:pPr>
            <a:r>
              <a:rPr sz="2100" i="1" spc="-139" baseline="-29100" dirty="0">
                <a:latin typeface="Calibri"/>
                <a:cs typeface="Calibri"/>
              </a:rPr>
              <a:t>w</a:t>
            </a:r>
            <a:r>
              <a:rPr sz="933" spc="-93" dirty="0">
                <a:latin typeface="Calibri"/>
                <a:cs typeface="Calibri"/>
              </a:rPr>
              <a:t>(</a:t>
            </a:r>
            <a:r>
              <a:rPr sz="933" i="1" spc="-93" dirty="0">
                <a:latin typeface="Calibri"/>
                <a:cs typeface="Calibri"/>
              </a:rPr>
              <a:t>i</a:t>
            </a:r>
            <a:r>
              <a:rPr sz="933" i="1" spc="-93" dirty="0">
                <a:latin typeface="Arial"/>
                <a:cs typeface="Arial"/>
              </a:rPr>
              <a:t>—</a:t>
            </a:r>
            <a:r>
              <a:rPr sz="933" spc="-33" dirty="0">
                <a:latin typeface="Calibri"/>
                <a:cs typeface="Calibri"/>
              </a:rPr>
              <a:t>1)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782986" y="5448853"/>
            <a:ext cx="88053" cy="16579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933" spc="-47" dirty="0">
                <a:latin typeface="Calibri"/>
                <a:cs typeface="Calibri"/>
              </a:rPr>
              <a:t>4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29751" y="3920450"/>
            <a:ext cx="307339" cy="1923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1700" spc="-40" baseline="-29411" dirty="0">
                <a:latin typeface="Arial MT"/>
                <a:cs typeface="Arial MT"/>
              </a:rPr>
              <a:t>˜</a:t>
            </a:r>
            <a:r>
              <a:rPr sz="800" spc="-27" dirty="0">
                <a:latin typeface="Tahoma"/>
                <a:cs typeface="Tahoma"/>
              </a:rPr>
              <a:t>(</a:t>
            </a:r>
            <a:r>
              <a:rPr sz="800" i="1" spc="-27" dirty="0">
                <a:latin typeface="Calibri"/>
                <a:cs typeface="Calibri"/>
              </a:rPr>
              <a:t>i</a:t>
            </a:r>
            <a:r>
              <a:rPr sz="800" spc="-27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52794" y="4078297"/>
            <a:ext cx="83820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spc="-47" dirty="0"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41163" y="1978836"/>
            <a:ext cx="2232660" cy="30008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18530">
              <a:lnSpc>
                <a:spcPts val="1292"/>
              </a:lnSpc>
              <a:spcBef>
                <a:spcPts val="140"/>
              </a:spcBef>
              <a:tabLst>
                <a:tab pos="727268" algn="l"/>
                <a:tab pos="1335159" algn="l"/>
                <a:tab pos="1941358" algn="l"/>
              </a:tabLst>
            </a:pP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800" spc="-27" dirty="0">
                <a:latin typeface="Tahoma"/>
                <a:cs typeface="Tahoma"/>
              </a:rPr>
              <a:t>(</a:t>
            </a:r>
            <a:r>
              <a:rPr sz="800" i="1" spc="-27" dirty="0">
                <a:latin typeface="Calibri"/>
                <a:cs typeface="Calibri"/>
              </a:rPr>
              <a:t>i</a:t>
            </a:r>
            <a:r>
              <a:rPr sz="800" spc="-27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800" spc="-27" dirty="0">
                <a:latin typeface="Tahoma"/>
                <a:cs typeface="Tahoma"/>
              </a:rPr>
              <a:t>(</a:t>
            </a:r>
            <a:r>
              <a:rPr sz="800" i="1" spc="-27" dirty="0">
                <a:latin typeface="Calibri"/>
                <a:cs typeface="Calibri"/>
              </a:rPr>
              <a:t>i</a:t>
            </a:r>
            <a:r>
              <a:rPr sz="800" spc="-27" dirty="0">
                <a:latin typeface="Tahoma"/>
                <a:cs typeface="Tahoma"/>
              </a:rPr>
              <a:t>)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1700" i="1" spc="-40" baseline="-29411" dirty="0">
                <a:latin typeface="Calibri"/>
                <a:cs typeface="Calibri"/>
              </a:rPr>
              <a:t>w</a:t>
            </a:r>
            <a:r>
              <a:rPr sz="733" spc="-27" dirty="0">
                <a:latin typeface="Tahoma"/>
                <a:cs typeface="Tahoma"/>
              </a:rPr>
              <a:t>(</a:t>
            </a:r>
            <a:r>
              <a:rPr sz="733" i="1" spc="-27" dirty="0">
                <a:latin typeface="Calibri"/>
                <a:cs typeface="Calibri"/>
              </a:rPr>
              <a:t>i</a:t>
            </a:r>
            <a:r>
              <a:rPr sz="733" spc="-27" dirty="0">
                <a:latin typeface="Tahoma"/>
                <a:cs typeface="Tahoma"/>
              </a:rPr>
              <a:t>)</a:t>
            </a:r>
            <a:r>
              <a:rPr sz="733" dirty="0">
                <a:latin typeface="Tahoma"/>
                <a:cs typeface="Tahoma"/>
              </a:rPr>
              <a:t>	</a:t>
            </a:r>
            <a:r>
              <a:rPr sz="1700" i="1" spc="-40" baseline="-26143" dirty="0">
                <a:latin typeface="Calibri"/>
                <a:cs typeface="Calibri"/>
              </a:rPr>
              <a:t>w</a:t>
            </a:r>
            <a:r>
              <a:rPr sz="1200" spc="-40" baseline="4629" dirty="0">
                <a:latin typeface="Tahoma"/>
                <a:cs typeface="Tahoma"/>
              </a:rPr>
              <a:t>(</a:t>
            </a:r>
            <a:r>
              <a:rPr sz="1200" i="1" spc="-40" baseline="4629" dirty="0">
                <a:latin typeface="Calibri"/>
                <a:cs typeface="Calibri"/>
              </a:rPr>
              <a:t>i</a:t>
            </a:r>
            <a:r>
              <a:rPr sz="1200" spc="-40" baseline="4629" dirty="0">
                <a:latin typeface="Tahoma"/>
                <a:cs typeface="Tahoma"/>
              </a:rPr>
              <a:t>)</a:t>
            </a:r>
            <a:endParaRPr sz="1200" baseline="4629">
              <a:latin typeface="Tahoma"/>
              <a:cs typeface="Tahoma"/>
            </a:endParaRPr>
          </a:p>
          <a:p>
            <a:pPr marL="207428">
              <a:lnSpc>
                <a:spcPts val="893"/>
              </a:lnSpc>
              <a:tabLst>
                <a:tab pos="817013" algn="l"/>
                <a:tab pos="1424904" algn="l"/>
                <a:tab pos="2030256" algn="l"/>
              </a:tabLst>
            </a:pPr>
            <a:r>
              <a:rPr sz="800" spc="-67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67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733" spc="-67" dirty="0">
                <a:latin typeface="Tahoma"/>
                <a:cs typeface="Tahoma"/>
              </a:rPr>
              <a:t>3</a:t>
            </a:r>
            <a:r>
              <a:rPr sz="733" dirty="0">
                <a:latin typeface="Tahoma"/>
                <a:cs typeface="Tahoma"/>
              </a:rPr>
              <a:t>	</a:t>
            </a:r>
            <a:r>
              <a:rPr sz="1200" spc="-100" baseline="4629" dirty="0">
                <a:latin typeface="Tahoma"/>
                <a:cs typeface="Tahoma"/>
              </a:rPr>
              <a:t>4</a:t>
            </a:r>
            <a:endParaRPr sz="1200" baseline="4629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94652" y="4150831"/>
            <a:ext cx="1554480" cy="1583267"/>
            <a:chOff x="1045989" y="3113123"/>
            <a:chExt cx="1165860" cy="1187450"/>
          </a:xfrm>
        </p:grpSpPr>
        <p:sp>
          <p:nvSpPr>
            <p:cNvPr id="55" name="object 55"/>
            <p:cNvSpPr/>
            <p:nvPr/>
          </p:nvSpPr>
          <p:spPr>
            <a:xfrm>
              <a:off x="1050751" y="3117886"/>
              <a:ext cx="1156335" cy="1177925"/>
            </a:xfrm>
            <a:custGeom>
              <a:avLst/>
              <a:gdLst/>
              <a:ahLst/>
              <a:cxnLst/>
              <a:rect l="l" t="t" r="r" b="b"/>
              <a:pathLst>
                <a:path w="1156335" h="1177925">
                  <a:moveTo>
                    <a:pt x="0" y="0"/>
                  </a:moveTo>
                  <a:lnTo>
                    <a:pt x="1156054" y="0"/>
                  </a:lnTo>
                  <a:lnTo>
                    <a:pt x="1156054" y="1177843"/>
                  </a:lnTo>
                  <a:lnTo>
                    <a:pt x="0" y="1177843"/>
                  </a:lnTo>
                  <a:lnTo>
                    <a:pt x="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56429" y="372056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542293" y="0"/>
                  </a:moveTo>
                  <a:lnTo>
                    <a:pt x="63820" y="0"/>
                  </a:lnTo>
                  <a:lnTo>
                    <a:pt x="38978" y="5015"/>
                  </a:lnTo>
                  <a:lnTo>
                    <a:pt x="18692" y="18692"/>
                  </a:lnTo>
                  <a:lnTo>
                    <a:pt x="5015" y="38978"/>
                  </a:lnTo>
                  <a:lnTo>
                    <a:pt x="0" y="63820"/>
                  </a:lnTo>
                  <a:lnTo>
                    <a:pt x="0" y="168309"/>
                  </a:lnTo>
                  <a:lnTo>
                    <a:pt x="5015" y="193150"/>
                  </a:lnTo>
                  <a:lnTo>
                    <a:pt x="18692" y="213436"/>
                  </a:lnTo>
                  <a:lnTo>
                    <a:pt x="38978" y="227113"/>
                  </a:lnTo>
                  <a:lnTo>
                    <a:pt x="63820" y="232128"/>
                  </a:lnTo>
                  <a:lnTo>
                    <a:pt x="542293" y="232128"/>
                  </a:lnTo>
                  <a:lnTo>
                    <a:pt x="567135" y="227113"/>
                  </a:lnTo>
                  <a:lnTo>
                    <a:pt x="587421" y="213436"/>
                  </a:lnTo>
                  <a:lnTo>
                    <a:pt x="601098" y="193150"/>
                  </a:lnTo>
                  <a:lnTo>
                    <a:pt x="606113" y="168309"/>
                  </a:lnTo>
                  <a:lnTo>
                    <a:pt x="606113" y="63820"/>
                  </a:lnTo>
                  <a:lnTo>
                    <a:pt x="601098" y="38978"/>
                  </a:lnTo>
                  <a:lnTo>
                    <a:pt x="587421" y="18692"/>
                  </a:lnTo>
                  <a:lnTo>
                    <a:pt x="567135" y="5015"/>
                  </a:lnTo>
                  <a:lnTo>
                    <a:pt x="542293" y="0"/>
                  </a:lnTo>
                  <a:close/>
                </a:path>
              </a:pathLst>
            </a:custGeom>
            <a:solidFill>
              <a:srgbClr val="FEE2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56435" y="372056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63819" y="0"/>
                  </a:moveTo>
                  <a:lnTo>
                    <a:pt x="542295" y="0"/>
                  </a:lnTo>
                  <a:lnTo>
                    <a:pt x="567136" y="5015"/>
                  </a:lnTo>
                  <a:lnTo>
                    <a:pt x="587422" y="18692"/>
                  </a:lnTo>
                  <a:lnTo>
                    <a:pt x="601099" y="38978"/>
                  </a:lnTo>
                  <a:lnTo>
                    <a:pt x="606114" y="63819"/>
                  </a:lnTo>
                  <a:lnTo>
                    <a:pt x="606114" y="168308"/>
                  </a:lnTo>
                  <a:lnTo>
                    <a:pt x="601099" y="193150"/>
                  </a:lnTo>
                  <a:lnTo>
                    <a:pt x="587422" y="213436"/>
                  </a:lnTo>
                  <a:lnTo>
                    <a:pt x="567136" y="227113"/>
                  </a:lnTo>
                  <a:lnTo>
                    <a:pt x="542295" y="232128"/>
                  </a:lnTo>
                  <a:lnTo>
                    <a:pt x="63819" y="232128"/>
                  </a:lnTo>
                  <a:lnTo>
                    <a:pt x="38978" y="227113"/>
                  </a:lnTo>
                  <a:lnTo>
                    <a:pt x="18692" y="213436"/>
                  </a:lnTo>
                  <a:lnTo>
                    <a:pt x="5015" y="193150"/>
                  </a:lnTo>
                  <a:lnTo>
                    <a:pt x="0" y="168308"/>
                  </a:lnTo>
                  <a:lnTo>
                    <a:pt x="0" y="63819"/>
                  </a:lnTo>
                  <a:lnTo>
                    <a:pt x="5015" y="38978"/>
                  </a:lnTo>
                  <a:lnTo>
                    <a:pt x="18692" y="18692"/>
                  </a:lnTo>
                  <a:lnTo>
                    <a:pt x="38978" y="5015"/>
                  </a:lnTo>
                  <a:lnTo>
                    <a:pt x="63819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966696" y="4980272"/>
            <a:ext cx="491913" cy="24694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8419" marR="6773" indent="-42332">
              <a:spcBef>
                <a:spcPts val="167"/>
              </a:spcBef>
            </a:pPr>
            <a:r>
              <a:rPr sz="733" dirty="0">
                <a:latin typeface="Arial MT"/>
                <a:cs typeface="Arial MT"/>
              </a:rPr>
              <a:t>Multi-</a:t>
            </a:r>
            <a:r>
              <a:rPr sz="733" spc="-27" dirty="0">
                <a:latin typeface="Arial MT"/>
                <a:cs typeface="Arial MT"/>
              </a:rPr>
              <a:t>Head</a:t>
            </a:r>
            <a:r>
              <a:rPr sz="733" spc="667" dirty="0">
                <a:latin typeface="Arial MT"/>
                <a:cs typeface="Arial MT"/>
              </a:rPr>
              <a:t> </a:t>
            </a:r>
            <a:r>
              <a:rPr sz="733" spc="-13" dirty="0">
                <a:latin typeface="Arial MT"/>
                <a:cs typeface="Arial MT"/>
              </a:rPr>
              <a:t>Attention</a:t>
            </a:r>
            <a:endParaRPr sz="733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802229" y="4448657"/>
            <a:ext cx="821267" cy="322580"/>
            <a:chOff x="1351672" y="3336492"/>
            <a:chExt cx="615950" cy="241935"/>
          </a:xfrm>
        </p:grpSpPr>
        <p:sp>
          <p:nvSpPr>
            <p:cNvPr id="60" name="object 60"/>
            <p:cNvSpPr/>
            <p:nvPr/>
          </p:nvSpPr>
          <p:spPr>
            <a:xfrm>
              <a:off x="1356429" y="3341255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542293" y="0"/>
                  </a:moveTo>
                  <a:lnTo>
                    <a:pt x="63820" y="0"/>
                  </a:lnTo>
                  <a:lnTo>
                    <a:pt x="38978" y="5015"/>
                  </a:lnTo>
                  <a:lnTo>
                    <a:pt x="18692" y="18692"/>
                  </a:lnTo>
                  <a:lnTo>
                    <a:pt x="5015" y="38978"/>
                  </a:lnTo>
                  <a:lnTo>
                    <a:pt x="0" y="63820"/>
                  </a:lnTo>
                  <a:lnTo>
                    <a:pt x="0" y="168309"/>
                  </a:lnTo>
                  <a:lnTo>
                    <a:pt x="5015" y="193150"/>
                  </a:lnTo>
                  <a:lnTo>
                    <a:pt x="18692" y="213436"/>
                  </a:lnTo>
                  <a:lnTo>
                    <a:pt x="38978" y="227112"/>
                  </a:lnTo>
                  <a:lnTo>
                    <a:pt x="63820" y="232128"/>
                  </a:lnTo>
                  <a:lnTo>
                    <a:pt x="542293" y="232128"/>
                  </a:lnTo>
                  <a:lnTo>
                    <a:pt x="567135" y="227112"/>
                  </a:lnTo>
                  <a:lnTo>
                    <a:pt x="587421" y="213436"/>
                  </a:lnTo>
                  <a:lnTo>
                    <a:pt x="601098" y="193150"/>
                  </a:lnTo>
                  <a:lnTo>
                    <a:pt x="606113" y="168309"/>
                  </a:lnTo>
                  <a:lnTo>
                    <a:pt x="606113" y="63820"/>
                  </a:lnTo>
                  <a:lnTo>
                    <a:pt x="601098" y="38978"/>
                  </a:lnTo>
                  <a:lnTo>
                    <a:pt x="587421" y="18692"/>
                  </a:lnTo>
                  <a:lnTo>
                    <a:pt x="567135" y="5015"/>
                  </a:lnTo>
                  <a:lnTo>
                    <a:pt x="542293" y="0"/>
                  </a:lnTo>
                  <a:close/>
                </a:path>
              </a:pathLst>
            </a:custGeom>
            <a:solidFill>
              <a:srgbClr val="C2E8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356435" y="3341255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63819" y="0"/>
                  </a:moveTo>
                  <a:lnTo>
                    <a:pt x="542295" y="0"/>
                  </a:lnTo>
                  <a:lnTo>
                    <a:pt x="567136" y="5015"/>
                  </a:lnTo>
                  <a:lnTo>
                    <a:pt x="587422" y="18692"/>
                  </a:lnTo>
                  <a:lnTo>
                    <a:pt x="601099" y="38978"/>
                  </a:lnTo>
                  <a:lnTo>
                    <a:pt x="606114" y="63819"/>
                  </a:lnTo>
                  <a:lnTo>
                    <a:pt x="606114" y="168308"/>
                  </a:lnTo>
                  <a:lnTo>
                    <a:pt x="601099" y="193150"/>
                  </a:lnTo>
                  <a:lnTo>
                    <a:pt x="587422" y="213436"/>
                  </a:lnTo>
                  <a:lnTo>
                    <a:pt x="567136" y="227113"/>
                  </a:lnTo>
                  <a:lnTo>
                    <a:pt x="542295" y="232128"/>
                  </a:lnTo>
                  <a:lnTo>
                    <a:pt x="63819" y="232128"/>
                  </a:lnTo>
                  <a:lnTo>
                    <a:pt x="38978" y="227113"/>
                  </a:lnTo>
                  <a:lnTo>
                    <a:pt x="18692" y="213436"/>
                  </a:lnTo>
                  <a:lnTo>
                    <a:pt x="5015" y="193150"/>
                  </a:lnTo>
                  <a:lnTo>
                    <a:pt x="0" y="168308"/>
                  </a:lnTo>
                  <a:lnTo>
                    <a:pt x="0" y="63819"/>
                  </a:lnTo>
                  <a:lnTo>
                    <a:pt x="5015" y="38978"/>
                  </a:lnTo>
                  <a:lnTo>
                    <a:pt x="18692" y="18692"/>
                  </a:lnTo>
                  <a:lnTo>
                    <a:pt x="38978" y="5015"/>
                  </a:lnTo>
                  <a:lnTo>
                    <a:pt x="63819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023634" y="4474522"/>
            <a:ext cx="378460" cy="24694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 marR="6773" indent="66885">
              <a:spcBef>
                <a:spcPts val="167"/>
              </a:spcBef>
            </a:pPr>
            <a:r>
              <a:rPr sz="733" spc="-27" dirty="0">
                <a:latin typeface="Arial MT"/>
                <a:cs typeface="Arial MT"/>
              </a:rPr>
              <a:t>Feed</a:t>
            </a:r>
            <a:r>
              <a:rPr sz="733" spc="667" dirty="0">
                <a:latin typeface="Arial MT"/>
                <a:cs typeface="Arial MT"/>
              </a:rPr>
              <a:t> </a:t>
            </a:r>
            <a:r>
              <a:rPr sz="733" spc="-13" dirty="0">
                <a:latin typeface="Arial MT"/>
                <a:cs typeface="Arial MT"/>
              </a:rPr>
              <a:t>Forward</a:t>
            </a:r>
            <a:endParaRPr sz="733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394653" y="2129871"/>
            <a:ext cx="2593340" cy="3924300"/>
            <a:chOff x="1045989" y="1597403"/>
            <a:chExt cx="1945005" cy="2943225"/>
          </a:xfrm>
        </p:grpSpPr>
        <p:sp>
          <p:nvSpPr>
            <p:cNvPr id="64" name="object 64"/>
            <p:cNvSpPr/>
            <p:nvPr/>
          </p:nvSpPr>
          <p:spPr>
            <a:xfrm>
              <a:off x="1660773" y="4013778"/>
              <a:ext cx="3810" cy="521970"/>
            </a:xfrm>
            <a:custGeom>
              <a:avLst/>
              <a:gdLst/>
              <a:ahLst/>
              <a:cxnLst/>
              <a:rect l="l" t="t" r="r" b="b"/>
              <a:pathLst>
                <a:path w="3810" h="521970">
                  <a:moveTo>
                    <a:pt x="3769" y="521907"/>
                  </a:move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3333" y="3963179"/>
              <a:ext cx="454223" cy="12139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656912" y="3634465"/>
              <a:ext cx="1270" cy="78740"/>
            </a:xfrm>
            <a:custGeom>
              <a:avLst/>
              <a:gdLst/>
              <a:ahLst/>
              <a:cxnLst/>
              <a:rect l="l" t="t" r="r" b="b"/>
              <a:pathLst>
                <a:path w="1269" h="78739">
                  <a:moveTo>
                    <a:pt x="0" y="78363"/>
                  </a:moveTo>
                  <a:lnTo>
                    <a:pt x="793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41288" y="3590705"/>
              <a:ext cx="33020" cy="44450"/>
            </a:xfrm>
            <a:custGeom>
              <a:avLst/>
              <a:gdLst/>
              <a:ahLst/>
              <a:cxnLst/>
              <a:rect l="l" t="t" r="r" b="b"/>
              <a:pathLst>
                <a:path w="33019" h="44450">
                  <a:moveTo>
                    <a:pt x="16852" y="0"/>
                  </a:moveTo>
                  <a:lnTo>
                    <a:pt x="0" y="43595"/>
                  </a:lnTo>
                  <a:lnTo>
                    <a:pt x="32820" y="43926"/>
                  </a:lnTo>
                  <a:lnTo>
                    <a:pt x="168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41294" y="3590705"/>
              <a:ext cx="33020" cy="44450"/>
            </a:xfrm>
            <a:custGeom>
              <a:avLst/>
              <a:gdLst/>
              <a:ahLst/>
              <a:cxnLst/>
              <a:rect l="l" t="t" r="r" b="b"/>
              <a:pathLst>
                <a:path w="33019" h="44450">
                  <a:moveTo>
                    <a:pt x="16848" y="0"/>
                  </a:moveTo>
                  <a:lnTo>
                    <a:pt x="0" y="43594"/>
                  </a:lnTo>
                  <a:lnTo>
                    <a:pt x="32817" y="43925"/>
                  </a:lnTo>
                  <a:lnTo>
                    <a:pt x="16848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50751" y="1602165"/>
              <a:ext cx="1935480" cy="1332230"/>
            </a:xfrm>
            <a:custGeom>
              <a:avLst/>
              <a:gdLst/>
              <a:ahLst/>
              <a:cxnLst/>
              <a:rect l="l" t="t" r="r" b="b"/>
              <a:pathLst>
                <a:path w="1935480" h="1332230">
                  <a:moveTo>
                    <a:pt x="0" y="0"/>
                  </a:moveTo>
                  <a:lnTo>
                    <a:pt x="1935107" y="0"/>
                  </a:lnTo>
                  <a:lnTo>
                    <a:pt x="1935107" y="1331742"/>
                  </a:lnTo>
                  <a:lnTo>
                    <a:pt x="0" y="1331742"/>
                  </a:lnTo>
                  <a:lnTo>
                    <a:pt x="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356429" y="242064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542293" y="0"/>
                  </a:moveTo>
                  <a:lnTo>
                    <a:pt x="63820" y="0"/>
                  </a:lnTo>
                  <a:lnTo>
                    <a:pt x="38978" y="5015"/>
                  </a:lnTo>
                  <a:lnTo>
                    <a:pt x="18692" y="18692"/>
                  </a:lnTo>
                  <a:lnTo>
                    <a:pt x="5015" y="38978"/>
                  </a:lnTo>
                  <a:lnTo>
                    <a:pt x="0" y="63820"/>
                  </a:lnTo>
                  <a:lnTo>
                    <a:pt x="0" y="168309"/>
                  </a:lnTo>
                  <a:lnTo>
                    <a:pt x="5015" y="193150"/>
                  </a:lnTo>
                  <a:lnTo>
                    <a:pt x="18692" y="213436"/>
                  </a:lnTo>
                  <a:lnTo>
                    <a:pt x="38978" y="227113"/>
                  </a:lnTo>
                  <a:lnTo>
                    <a:pt x="63820" y="232129"/>
                  </a:lnTo>
                  <a:lnTo>
                    <a:pt x="542293" y="232129"/>
                  </a:lnTo>
                  <a:lnTo>
                    <a:pt x="567135" y="227113"/>
                  </a:lnTo>
                  <a:lnTo>
                    <a:pt x="587421" y="213436"/>
                  </a:lnTo>
                  <a:lnTo>
                    <a:pt x="601098" y="193150"/>
                  </a:lnTo>
                  <a:lnTo>
                    <a:pt x="606113" y="168309"/>
                  </a:lnTo>
                  <a:lnTo>
                    <a:pt x="606113" y="63820"/>
                  </a:lnTo>
                  <a:lnTo>
                    <a:pt x="601098" y="38978"/>
                  </a:lnTo>
                  <a:lnTo>
                    <a:pt x="587421" y="18692"/>
                  </a:lnTo>
                  <a:lnTo>
                    <a:pt x="567135" y="5015"/>
                  </a:lnTo>
                  <a:lnTo>
                    <a:pt x="542293" y="0"/>
                  </a:lnTo>
                  <a:close/>
                </a:path>
              </a:pathLst>
            </a:custGeom>
            <a:solidFill>
              <a:srgbClr val="FEE2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356435" y="242064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63819" y="0"/>
                  </a:moveTo>
                  <a:lnTo>
                    <a:pt x="542295" y="0"/>
                  </a:lnTo>
                  <a:lnTo>
                    <a:pt x="567136" y="5015"/>
                  </a:lnTo>
                  <a:lnTo>
                    <a:pt x="587422" y="18692"/>
                  </a:lnTo>
                  <a:lnTo>
                    <a:pt x="601099" y="38978"/>
                  </a:lnTo>
                  <a:lnTo>
                    <a:pt x="606114" y="63819"/>
                  </a:lnTo>
                  <a:lnTo>
                    <a:pt x="606114" y="168308"/>
                  </a:lnTo>
                  <a:lnTo>
                    <a:pt x="601099" y="193150"/>
                  </a:lnTo>
                  <a:lnTo>
                    <a:pt x="587422" y="213435"/>
                  </a:lnTo>
                  <a:lnTo>
                    <a:pt x="567136" y="227113"/>
                  </a:lnTo>
                  <a:lnTo>
                    <a:pt x="542295" y="232128"/>
                  </a:lnTo>
                  <a:lnTo>
                    <a:pt x="63819" y="232128"/>
                  </a:lnTo>
                  <a:lnTo>
                    <a:pt x="38978" y="227113"/>
                  </a:lnTo>
                  <a:lnTo>
                    <a:pt x="18692" y="213435"/>
                  </a:lnTo>
                  <a:lnTo>
                    <a:pt x="5015" y="193150"/>
                  </a:lnTo>
                  <a:lnTo>
                    <a:pt x="0" y="168308"/>
                  </a:lnTo>
                  <a:lnTo>
                    <a:pt x="0" y="63819"/>
                  </a:lnTo>
                  <a:lnTo>
                    <a:pt x="5015" y="38978"/>
                  </a:lnTo>
                  <a:lnTo>
                    <a:pt x="18692" y="18692"/>
                  </a:lnTo>
                  <a:lnTo>
                    <a:pt x="38978" y="5015"/>
                  </a:lnTo>
                  <a:lnTo>
                    <a:pt x="63819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42922" y="4867486"/>
            <a:ext cx="1225125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  <a:tabLst>
                <a:tab pos="991422" algn="l"/>
              </a:tabLst>
            </a:pPr>
            <a:r>
              <a:rPr sz="1400" spc="-147" dirty="0">
                <a:latin typeface="Arial MT"/>
                <a:cs typeface="Arial MT"/>
              </a:rPr>
              <a:t>T-</a:t>
            </a:r>
            <a:r>
              <a:rPr sz="1400" spc="-13" dirty="0">
                <a:latin typeface="Arial MT"/>
                <a:cs typeface="Arial MT"/>
              </a:rPr>
              <a:t>Encoder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33" dirty="0">
                <a:latin typeface="Arial MT"/>
                <a:cs typeface="Arial MT"/>
              </a:rPr>
              <a:t>Nx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66696" y="3247044"/>
            <a:ext cx="491913" cy="24694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8419" marR="6773" indent="-42332">
              <a:spcBef>
                <a:spcPts val="167"/>
              </a:spcBef>
            </a:pPr>
            <a:r>
              <a:rPr sz="733" dirty="0">
                <a:latin typeface="Arial MT"/>
                <a:cs typeface="Arial MT"/>
              </a:rPr>
              <a:t>Multi-</a:t>
            </a:r>
            <a:r>
              <a:rPr sz="733" spc="-27" dirty="0">
                <a:latin typeface="Arial MT"/>
                <a:cs typeface="Arial MT"/>
              </a:rPr>
              <a:t>Head</a:t>
            </a:r>
            <a:r>
              <a:rPr sz="733" spc="667" dirty="0">
                <a:latin typeface="Arial MT"/>
                <a:cs typeface="Arial MT"/>
              </a:rPr>
              <a:t> </a:t>
            </a:r>
            <a:r>
              <a:rPr sz="733" spc="-13" dirty="0">
                <a:latin typeface="Arial MT"/>
                <a:cs typeface="Arial MT"/>
              </a:rPr>
              <a:t>Attention</a:t>
            </a:r>
            <a:endParaRPr sz="733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802229" y="2567781"/>
            <a:ext cx="821267" cy="322580"/>
            <a:chOff x="1351672" y="1925835"/>
            <a:chExt cx="615950" cy="241935"/>
          </a:xfrm>
        </p:grpSpPr>
        <p:sp>
          <p:nvSpPr>
            <p:cNvPr id="75" name="object 75"/>
            <p:cNvSpPr/>
            <p:nvPr/>
          </p:nvSpPr>
          <p:spPr>
            <a:xfrm>
              <a:off x="1356429" y="1930598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542293" y="0"/>
                  </a:moveTo>
                  <a:lnTo>
                    <a:pt x="63820" y="0"/>
                  </a:lnTo>
                  <a:lnTo>
                    <a:pt x="38978" y="5015"/>
                  </a:lnTo>
                  <a:lnTo>
                    <a:pt x="18692" y="18692"/>
                  </a:lnTo>
                  <a:lnTo>
                    <a:pt x="5015" y="38978"/>
                  </a:lnTo>
                  <a:lnTo>
                    <a:pt x="0" y="63820"/>
                  </a:lnTo>
                  <a:lnTo>
                    <a:pt x="0" y="168308"/>
                  </a:lnTo>
                  <a:lnTo>
                    <a:pt x="5015" y="193149"/>
                  </a:lnTo>
                  <a:lnTo>
                    <a:pt x="18692" y="213435"/>
                  </a:lnTo>
                  <a:lnTo>
                    <a:pt x="38978" y="227112"/>
                  </a:lnTo>
                  <a:lnTo>
                    <a:pt x="63820" y="232128"/>
                  </a:lnTo>
                  <a:lnTo>
                    <a:pt x="542293" y="232128"/>
                  </a:lnTo>
                  <a:lnTo>
                    <a:pt x="567135" y="227112"/>
                  </a:lnTo>
                  <a:lnTo>
                    <a:pt x="587421" y="213435"/>
                  </a:lnTo>
                  <a:lnTo>
                    <a:pt x="601098" y="193149"/>
                  </a:lnTo>
                  <a:lnTo>
                    <a:pt x="606113" y="168308"/>
                  </a:lnTo>
                  <a:lnTo>
                    <a:pt x="606113" y="63820"/>
                  </a:lnTo>
                  <a:lnTo>
                    <a:pt x="601098" y="38978"/>
                  </a:lnTo>
                  <a:lnTo>
                    <a:pt x="587421" y="18692"/>
                  </a:lnTo>
                  <a:lnTo>
                    <a:pt x="567135" y="5015"/>
                  </a:lnTo>
                  <a:lnTo>
                    <a:pt x="542293" y="0"/>
                  </a:lnTo>
                  <a:close/>
                </a:path>
              </a:pathLst>
            </a:custGeom>
            <a:solidFill>
              <a:srgbClr val="DBE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356435" y="1930597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63819" y="0"/>
                  </a:moveTo>
                  <a:lnTo>
                    <a:pt x="542295" y="0"/>
                  </a:lnTo>
                  <a:lnTo>
                    <a:pt x="567136" y="5015"/>
                  </a:lnTo>
                  <a:lnTo>
                    <a:pt x="587422" y="18692"/>
                  </a:lnTo>
                  <a:lnTo>
                    <a:pt x="601099" y="38978"/>
                  </a:lnTo>
                  <a:lnTo>
                    <a:pt x="606114" y="63819"/>
                  </a:lnTo>
                  <a:lnTo>
                    <a:pt x="606114" y="168308"/>
                  </a:lnTo>
                  <a:lnTo>
                    <a:pt x="601099" y="193150"/>
                  </a:lnTo>
                  <a:lnTo>
                    <a:pt x="587422" y="213436"/>
                  </a:lnTo>
                  <a:lnTo>
                    <a:pt x="567136" y="227113"/>
                  </a:lnTo>
                  <a:lnTo>
                    <a:pt x="542295" y="232128"/>
                  </a:lnTo>
                  <a:lnTo>
                    <a:pt x="63819" y="232128"/>
                  </a:lnTo>
                  <a:lnTo>
                    <a:pt x="38978" y="227113"/>
                  </a:lnTo>
                  <a:lnTo>
                    <a:pt x="18692" y="213436"/>
                  </a:lnTo>
                  <a:lnTo>
                    <a:pt x="5015" y="193150"/>
                  </a:lnTo>
                  <a:lnTo>
                    <a:pt x="0" y="168308"/>
                  </a:lnTo>
                  <a:lnTo>
                    <a:pt x="0" y="63819"/>
                  </a:lnTo>
                  <a:lnTo>
                    <a:pt x="5015" y="38978"/>
                  </a:lnTo>
                  <a:lnTo>
                    <a:pt x="18692" y="18692"/>
                  </a:lnTo>
                  <a:lnTo>
                    <a:pt x="38978" y="5015"/>
                  </a:lnTo>
                  <a:lnTo>
                    <a:pt x="63819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1961588" y="2593645"/>
            <a:ext cx="502920" cy="24694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12604" marR="6773" indent="-96518">
              <a:spcBef>
                <a:spcPts val="167"/>
              </a:spcBef>
            </a:pPr>
            <a:r>
              <a:rPr sz="733" spc="-13" dirty="0">
                <a:latin typeface="Arial MT"/>
                <a:cs typeface="Arial MT"/>
              </a:rPr>
              <a:t>Information</a:t>
            </a:r>
            <a:r>
              <a:rPr sz="733" spc="667" dirty="0">
                <a:latin typeface="Arial MT"/>
                <a:cs typeface="Arial MT"/>
              </a:rPr>
              <a:t> </a:t>
            </a:r>
            <a:r>
              <a:rPr sz="733" spc="-13" dirty="0">
                <a:latin typeface="Arial MT"/>
                <a:cs typeface="Arial MT"/>
              </a:rPr>
              <a:t>Fusion</a:t>
            </a:r>
            <a:endParaRPr sz="733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04766" y="6108505"/>
            <a:ext cx="631612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dirty="0">
                <a:latin typeface="Arial MT"/>
                <a:cs typeface="Arial MT"/>
              </a:rPr>
              <a:t>Token</a:t>
            </a:r>
            <a:r>
              <a:rPr sz="867" spc="-53" dirty="0">
                <a:latin typeface="Arial MT"/>
                <a:cs typeface="Arial MT"/>
              </a:rPr>
              <a:t> </a:t>
            </a:r>
            <a:r>
              <a:rPr sz="867" spc="-13" dirty="0">
                <a:latin typeface="Arial MT"/>
                <a:cs typeface="Arial MT"/>
              </a:rPr>
              <a:t>Input</a:t>
            </a:r>
            <a:endParaRPr sz="867">
              <a:latin typeface="Arial MT"/>
              <a:cs typeface="Arial MT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041968" y="3221179"/>
            <a:ext cx="821267" cy="322580"/>
            <a:chOff x="2281476" y="2415884"/>
            <a:chExt cx="615950" cy="241935"/>
          </a:xfrm>
        </p:grpSpPr>
        <p:sp>
          <p:nvSpPr>
            <p:cNvPr id="80" name="object 80"/>
            <p:cNvSpPr/>
            <p:nvPr/>
          </p:nvSpPr>
          <p:spPr>
            <a:xfrm>
              <a:off x="2286233" y="242064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542293" y="0"/>
                  </a:moveTo>
                  <a:lnTo>
                    <a:pt x="63820" y="0"/>
                  </a:lnTo>
                  <a:lnTo>
                    <a:pt x="38978" y="5015"/>
                  </a:lnTo>
                  <a:lnTo>
                    <a:pt x="18692" y="18692"/>
                  </a:lnTo>
                  <a:lnTo>
                    <a:pt x="5015" y="38978"/>
                  </a:lnTo>
                  <a:lnTo>
                    <a:pt x="0" y="63820"/>
                  </a:lnTo>
                  <a:lnTo>
                    <a:pt x="0" y="168309"/>
                  </a:lnTo>
                  <a:lnTo>
                    <a:pt x="5015" y="193150"/>
                  </a:lnTo>
                  <a:lnTo>
                    <a:pt x="18692" y="213436"/>
                  </a:lnTo>
                  <a:lnTo>
                    <a:pt x="38978" y="227113"/>
                  </a:lnTo>
                  <a:lnTo>
                    <a:pt x="63820" y="232129"/>
                  </a:lnTo>
                  <a:lnTo>
                    <a:pt x="542293" y="232129"/>
                  </a:lnTo>
                  <a:lnTo>
                    <a:pt x="567135" y="227113"/>
                  </a:lnTo>
                  <a:lnTo>
                    <a:pt x="587421" y="213436"/>
                  </a:lnTo>
                  <a:lnTo>
                    <a:pt x="601098" y="193150"/>
                  </a:lnTo>
                  <a:lnTo>
                    <a:pt x="606113" y="168309"/>
                  </a:lnTo>
                  <a:lnTo>
                    <a:pt x="606113" y="63820"/>
                  </a:lnTo>
                  <a:lnTo>
                    <a:pt x="601098" y="38978"/>
                  </a:lnTo>
                  <a:lnTo>
                    <a:pt x="587421" y="18692"/>
                  </a:lnTo>
                  <a:lnTo>
                    <a:pt x="567135" y="5015"/>
                  </a:lnTo>
                  <a:lnTo>
                    <a:pt x="542293" y="0"/>
                  </a:lnTo>
                  <a:close/>
                </a:path>
              </a:pathLst>
            </a:custGeom>
            <a:solidFill>
              <a:srgbClr val="F2F4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286239" y="2420646"/>
              <a:ext cx="606425" cy="232410"/>
            </a:xfrm>
            <a:custGeom>
              <a:avLst/>
              <a:gdLst/>
              <a:ahLst/>
              <a:cxnLst/>
              <a:rect l="l" t="t" r="r" b="b"/>
              <a:pathLst>
                <a:path w="606425" h="232410">
                  <a:moveTo>
                    <a:pt x="63819" y="0"/>
                  </a:moveTo>
                  <a:lnTo>
                    <a:pt x="542295" y="0"/>
                  </a:lnTo>
                  <a:lnTo>
                    <a:pt x="567136" y="5015"/>
                  </a:lnTo>
                  <a:lnTo>
                    <a:pt x="587422" y="18692"/>
                  </a:lnTo>
                  <a:lnTo>
                    <a:pt x="601099" y="38978"/>
                  </a:lnTo>
                  <a:lnTo>
                    <a:pt x="606114" y="63819"/>
                  </a:lnTo>
                  <a:lnTo>
                    <a:pt x="606114" y="168308"/>
                  </a:lnTo>
                  <a:lnTo>
                    <a:pt x="601099" y="193150"/>
                  </a:lnTo>
                  <a:lnTo>
                    <a:pt x="587422" y="213435"/>
                  </a:lnTo>
                  <a:lnTo>
                    <a:pt x="567136" y="227113"/>
                  </a:lnTo>
                  <a:lnTo>
                    <a:pt x="542295" y="232128"/>
                  </a:lnTo>
                  <a:lnTo>
                    <a:pt x="63819" y="232128"/>
                  </a:lnTo>
                  <a:lnTo>
                    <a:pt x="38978" y="227113"/>
                  </a:lnTo>
                  <a:lnTo>
                    <a:pt x="18692" y="213435"/>
                  </a:lnTo>
                  <a:lnTo>
                    <a:pt x="5015" y="193150"/>
                  </a:lnTo>
                  <a:lnTo>
                    <a:pt x="0" y="168308"/>
                  </a:lnTo>
                  <a:lnTo>
                    <a:pt x="0" y="63819"/>
                  </a:lnTo>
                  <a:lnTo>
                    <a:pt x="5015" y="38978"/>
                  </a:lnTo>
                  <a:lnTo>
                    <a:pt x="18692" y="18692"/>
                  </a:lnTo>
                  <a:lnTo>
                    <a:pt x="38978" y="5015"/>
                  </a:lnTo>
                  <a:lnTo>
                    <a:pt x="63819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3206433" y="3247044"/>
            <a:ext cx="491913" cy="24694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8419" marR="6773" indent="-42332">
              <a:spcBef>
                <a:spcPts val="167"/>
              </a:spcBef>
            </a:pPr>
            <a:r>
              <a:rPr sz="733" dirty="0">
                <a:latin typeface="Arial MT"/>
                <a:cs typeface="Arial MT"/>
              </a:rPr>
              <a:t>Multi-</a:t>
            </a:r>
            <a:r>
              <a:rPr sz="733" spc="-27" dirty="0">
                <a:latin typeface="Arial MT"/>
                <a:cs typeface="Arial MT"/>
              </a:rPr>
              <a:t>Head</a:t>
            </a:r>
            <a:r>
              <a:rPr sz="733" spc="667" dirty="0">
                <a:latin typeface="Arial MT"/>
                <a:cs typeface="Arial MT"/>
              </a:rPr>
              <a:t> </a:t>
            </a:r>
            <a:r>
              <a:rPr sz="733" spc="-13" dirty="0">
                <a:latin typeface="Arial MT"/>
                <a:cs typeface="Arial MT"/>
              </a:rPr>
              <a:t>Attention</a:t>
            </a:r>
            <a:endParaRPr sz="733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907193" y="3550740"/>
            <a:ext cx="1863513" cy="907627"/>
            <a:chOff x="1430394" y="2663055"/>
            <a:chExt cx="1397635" cy="680720"/>
          </a:xfrm>
        </p:grpSpPr>
        <p:sp>
          <p:nvSpPr>
            <p:cNvPr id="84" name="object 84"/>
            <p:cNvSpPr/>
            <p:nvPr/>
          </p:nvSpPr>
          <p:spPr>
            <a:xfrm>
              <a:off x="1659492" y="2713859"/>
              <a:ext cx="0" cy="625475"/>
            </a:xfrm>
            <a:custGeom>
              <a:avLst/>
              <a:gdLst/>
              <a:ahLst/>
              <a:cxnLst/>
              <a:rect l="l" t="t" r="r" b="b"/>
              <a:pathLst>
                <a:path h="625475">
                  <a:moveTo>
                    <a:pt x="0" y="625116"/>
                  </a:moveTo>
                  <a:lnTo>
                    <a:pt x="0" y="270580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8523" y="2663259"/>
              <a:ext cx="250994" cy="121063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1451567" y="2711580"/>
              <a:ext cx="257810" cy="68580"/>
            </a:xfrm>
            <a:custGeom>
              <a:avLst/>
              <a:gdLst/>
              <a:ahLst/>
              <a:cxnLst/>
              <a:rect l="l" t="t" r="r" b="b"/>
              <a:pathLst>
                <a:path w="257810" h="68580">
                  <a:moveTo>
                    <a:pt x="257631" y="68184"/>
                  </a:moveTo>
                  <a:lnTo>
                    <a:pt x="185150" y="68184"/>
                  </a:lnTo>
                  <a:lnTo>
                    <a:pt x="54702" y="68184"/>
                  </a:lnTo>
                  <a:lnTo>
                    <a:pt x="33410" y="63885"/>
                  </a:lnTo>
                  <a:lnTo>
                    <a:pt x="16022" y="52162"/>
                  </a:lnTo>
                  <a:lnTo>
                    <a:pt x="4299" y="34774"/>
                  </a:lnTo>
                  <a:lnTo>
                    <a:pt x="0" y="13481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435152" y="2667819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1"/>
                  </a:lnTo>
                  <a:lnTo>
                    <a:pt x="32821" y="43761"/>
                  </a:lnTo>
                  <a:lnTo>
                    <a:pt x="1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35156" y="266781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2"/>
                  </a:lnTo>
                  <a:lnTo>
                    <a:pt x="32821" y="43762"/>
                  </a:lnTo>
                  <a:lnTo>
                    <a:pt x="1641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86716" y="2711580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h="577850">
                  <a:moveTo>
                    <a:pt x="0" y="577564"/>
                  </a:moveTo>
                  <a:lnTo>
                    <a:pt x="0" y="264203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5747" y="2663259"/>
              <a:ext cx="262071" cy="10901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371115" y="2711580"/>
              <a:ext cx="251460" cy="56515"/>
            </a:xfrm>
            <a:custGeom>
              <a:avLst/>
              <a:gdLst/>
              <a:ahLst/>
              <a:cxnLst/>
              <a:rect l="l" t="t" r="r" b="b"/>
              <a:pathLst>
                <a:path w="251460" h="56514">
                  <a:moveTo>
                    <a:pt x="250939" y="56133"/>
                  </a:moveTo>
                  <a:lnTo>
                    <a:pt x="178458" y="56133"/>
                  </a:lnTo>
                  <a:lnTo>
                    <a:pt x="54702" y="56133"/>
                  </a:lnTo>
                  <a:lnTo>
                    <a:pt x="33408" y="51834"/>
                  </a:lnTo>
                  <a:lnTo>
                    <a:pt x="16021" y="40111"/>
                  </a:lnTo>
                  <a:lnTo>
                    <a:pt x="4298" y="22723"/>
                  </a:lnTo>
                  <a:lnTo>
                    <a:pt x="0" y="1430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354698" y="2667819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1"/>
                  </a:lnTo>
                  <a:lnTo>
                    <a:pt x="32821" y="43761"/>
                  </a:lnTo>
                  <a:lnTo>
                    <a:pt x="1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354704" y="266781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2"/>
                  </a:lnTo>
                  <a:lnTo>
                    <a:pt x="32821" y="43762"/>
                  </a:lnTo>
                  <a:lnTo>
                    <a:pt x="1641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146631" y="4403326"/>
            <a:ext cx="612140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dirty="0">
                <a:latin typeface="Arial MT"/>
                <a:cs typeface="Arial MT"/>
              </a:rPr>
              <a:t>Entity</a:t>
            </a:r>
            <a:r>
              <a:rPr sz="867" spc="47" dirty="0">
                <a:latin typeface="Arial MT"/>
                <a:cs typeface="Arial MT"/>
              </a:rPr>
              <a:t> </a:t>
            </a:r>
            <a:r>
              <a:rPr sz="867" spc="-13" dirty="0">
                <a:latin typeface="Arial MT"/>
                <a:cs typeface="Arial MT"/>
              </a:rPr>
              <a:t>Input</a:t>
            </a:r>
            <a:endParaRPr sz="867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2184425" y="1926976"/>
            <a:ext cx="1278467" cy="1303867"/>
            <a:chOff x="1638319" y="1445232"/>
            <a:chExt cx="958850" cy="977900"/>
          </a:xfrm>
        </p:grpSpPr>
        <p:sp>
          <p:nvSpPr>
            <p:cNvPr id="96" name="object 96"/>
            <p:cNvSpPr/>
            <p:nvPr/>
          </p:nvSpPr>
          <p:spPr>
            <a:xfrm>
              <a:off x="1659492" y="2223810"/>
              <a:ext cx="0" cy="194945"/>
            </a:xfrm>
            <a:custGeom>
              <a:avLst/>
              <a:gdLst/>
              <a:ahLst/>
              <a:cxnLst/>
              <a:rect l="l" t="t" r="r" b="b"/>
              <a:pathLst>
                <a:path h="194944">
                  <a:moveTo>
                    <a:pt x="0" y="194556"/>
                  </a:moveTo>
                  <a:lnTo>
                    <a:pt x="0" y="67875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643076" y="218004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1"/>
                  </a:lnTo>
                  <a:lnTo>
                    <a:pt x="32821" y="43761"/>
                  </a:lnTo>
                  <a:lnTo>
                    <a:pt x="1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643081" y="218004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4">
                  <a:moveTo>
                    <a:pt x="16410" y="0"/>
                  </a:moveTo>
                  <a:lnTo>
                    <a:pt x="0" y="43762"/>
                  </a:lnTo>
                  <a:lnTo>
                    <a:pt x="32821" y="43762"/>
                  </a:lnTo>
                  <a:lnTo>
                    <a:pt x="1641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659492" y="1493757"/>
              <a:ext cx="932815" cy="915669"/>
            </a:xfrm>
            <a:custGeom>
              <a:avLst/>
              <a:gdLst/>
              <a:ahLst/>
              <a:cxnLst/>
              <a:rect l="l" t="t" r="r" b="b"/>
              <a:pathLst>
                <a:path w="932814" h="915669">
                  <a:moveTo>
                    <a:pt x="932379" y="915173"/>
                  </a:moveTo>
                  <a:lnTo>
                    <a:pt x="932379" y="805484"/>
                  </a:lnTo>
                  <a:lnTo>
                    <a:pt x="0" y="805484"/>
                  </a:lnTo>
                  <a:lnTo>
                    <a:pt x="36468" y="805484"/>
                  </a:lnTo>
                  <a:lnTo>
                    <a:pt x="0" y="805484"/>
                  </a:lnTo>
                </a:path>
                <a:path w="932814" h="915669">
                  <a:moveTo>
                    <a:pt x="0" y="434560"/>
                  </a:moveTo>
                  <a:lnTo>
                    <a:pt x="0" y="247049"/>
                  </a:lnTo>
                  <a:lnTo>
                    <a:pt x="0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643076" y="1449995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16410" y="0"/>
                  </a:moveTo>
                  <a:lnTo>
                    <a:pt x="0" y="43761"/>
                  </a:lnTo>
                  <a:lnTo>
                    <a:pt x="32821" y="43761"/>
                  </a:lnTo>
                  <a:lnTo>
                    <a:pt x="16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643081" y="1449995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16410" y="0"/>
                  </a:moveTo>
                  <a:lnTo>
                    <a:pt x="0" y="43762"/>
                  </a:lnTo>
                  <a:lnTo>
                    <a:pt x="32821" y="43762"/>
                  </a:lnTo>
                  <a:lnTo>
                    <a:pt x="1641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121626" y="2919970"/>
            <a:ext cx="1256453" cy="23083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933">
              <a:spcBef>
                <a:spcPts val="120"/>
              </a:spcBef>
            </a:pPr>
            <a:r>
              <a:rPr sz="1400" spc="-13" dirty="0">
                <a:latin typeface="Arial MT"/>
                <a:cs typeface="Arial MT"/>
              </a:rPr>
              <a:t>K-</a:t>
            </a:r>
            <a:r>
              <a:rPr sz="1400" dirty="0">
                <a:latin typeface="Arial MT"/>
                <a:cs typeface="Arial MT"/>
              </a:rPr>
              <a:t>Encoder</a:t>
            </a:r>
            <a:r>
              <a:rPr sz="1400" spc="180" dirty="0">
                <a:latin typeface="Arial MT"/>
                <a:cs typeface="Arial MT"/>
              </a:rPr>
              <a:t>  </a:t>
            </a:r>
            <a:r>
              <a:rPr sz="1400" spc="-33" dirty="0">
                <a:latin typeface="Arial MT"/>
                <a:cs typeface="Arial MT"/>
              </a:rPr>
              <a:t>Mx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859843" y="1710058"/>
            <a:ext cx="721360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dirty="0">
                <a:latin typeface="Arial MT"/>
                <a:cs typeface="Arial MT"/>
              </a:rPr>
              <a:t>Token</a:t>
            </a:r>
            <a:r>
              <a:rPr sz="867" spc="-53" dirty="0">
                <a:latin typeface="Arial MT"/>
                <a:cs typeface="Arial MT"/>
              </a:rPr>
              <a:t> </a:t>
            </a:r>
            <a:r>
              <a:rPr sz="867" spc="-13" dirty="0">
                <a:latin typeface="Arial MT"/>
                <a:cs typeface="Arial MT"/>
              </a:rPr>
              <a:t>Output</a:t>
            </a:r>
            <a:endParaRPr sz="867">
              <a:latin typeface="Arial MT"/>
              <a:cs typeface="Arial MT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2206307" y="1948195"/>
            <a:ext cx="1278467" cy="479213"/>
            <a:chOff x="1654730" y="1461146"/>
            <a:chExt cx="958850" cy="359410"/>
          </a:xfrm>
        </p:grpSpPr>
        <p:sp>
          <p:nvSpPr>
            <p:cNvPr id="105" name="object 105"/>
            <p:cNvSpPr/>
            <p:nvPr/>
          </p:nvSpPr>
          <p:spPr>
            <a:xfrm>
              <a:off x="1659492" y="1509670"/>
              <a:ext cx="932815" cy="306070"/>
            </a:xfrm>
            <a:custGeom>
              <a:avLst/>
              <a:gdLst/>
              <a:ahLst/>
              <a:cxnLst/>
              <a:rect l="l" t="t" r="r" b="b"/>
              <a:pathLst>
                <a:path w="932814" h="306069">
                  <a:moveTo>
                    <a:pt x="0" y="306050"/>
                  </a:moveTo>
                  <a:lnTo>
                    <a:pt x="72481" y="306050"/>
                  </a:lnTo>
                  <a:lnTo>
                    <a:pt x="932379" y="306050"/>
                  </a:lnTo>
                  <a:lnTo>
                    <a:pt x="932379" y="0"/>
                  </a:lnTo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75459" y="146590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16409" y="0"/>
                  </a:moveTo>
                  <a:lnTo>
                    <a:pt x="0" y="43761"/>
                  </a:lnTo>
                  <a:lnTo>
                    <a:pt x="32820" y="43761"/>
                  </a:lnTo>
                  <a:lnTo>
                    <a:pt x="164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575461" y="1465908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16410" y="0"/>
                  </a:moveTo>
                  <a:lnTo>
                    <a:pt x="0" y="43762"/>
                  </a:lnTo>
                  <a:lnTo>
                    <a:pt x="32821" y="43762"/>
                  </a:lnTo>
                  <a:lnTo>
                    <a:pt x="16410" y="0"/>
                  </a:lnTo>
                  <a:close/>
                </a:path>
              </a:pathLst>
            </a:custGeom>
            <a:ln w="91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3101707" y="1735299"/>
            <a:ext cx="701887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dirty="0">
                <a:latin typeface="Arial MT"/>
                <a:cs typeface="Arial MT"/>
              </a:rPr>
              <a:t>Entity</a:t>
            </a:r>
            <a:r>
              <a:rPr sz="867" spc="47" dirty="0">
                <a:latin typeface="Arial MT"/>
                <a:cs typeface="Arial MT"/>
              </a:rPr>
              <a:t> </a:t>
            </a:r>
            <a:r>
              <a:rPr sz="867" spc="-13" dirty="0">
                <a:latin typeface="Arial MT"/>
                <a:cs typeface="Arial MT"/>
              </a:rPr>
              <a:t>Output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920195" y="3479924"/>
            <a:ext cx="284480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0799">
              <a:spcBef>
                <a:spcPts val="140"/>
              </a:spcBef>
            </a:pPr>
            <a:r>
              <a:rPr sz="2400" i="1" spc="-1219" baseline="-30092" dirty="0">
                <a:latin typeface="Arial"/>
                <a:cs typeface="Arial"/>
              </a:rPr>
              <a:t>e</a:t>
            </a:r>
            <a:r>
              <a:rPr sz="2400" spc="-100" baseline="-30092" dirty="0">
                <a:latin typeface="Arial MT"/>
                <a:cs typeface="Arial MT"/>
              </a:rPr>
              <a:t>˜</a:t>
            </a:r>
            <a:r>
              <a:rPr sz="1133" spc="20" dirty="0">
                <a:latin typeface="Tahoma"/>
                <a:cs typeface="Tahoma"/>
              </a:rPr>
              <a:t>(</a:t>
            </a:r>
            <a:r>
              <a:rPr sz="1133" i="1" spc="20" dirty="0">
                <a:latin typeface="Calibri"/>
                <a:cs typeface="Calibri"/>
              </a:rPr>
              <a:t>i</a:t>
            </a:r>
            <a:r>
              <a:rPr sz="1133" spc="20" dirty="0">
                <a:latin typeface="Tahoma"/>
                <a:cs typeface="Tahoma"/>
              </a:rPr>
              <a:t>)</a:t>
            </a:r>
            <a:endParaRPr sz="1133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015847" y="3701898"/>
            <a:ext cx="87207" cy="1905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133" spc="-207" dirty="0">
                <a:latin typeface="Tahoma"/>
                <a:cs typeface="Tahoma"/>
              </a:rPr>
              <a:t>1</a:t>
            </a:r>
            <a:endParaRPr sz="1133">
              <a:latin typeface="Tahoma"/>
              <a:cs typeface="Tahom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9594481" y="5688617"/>
            <a:ext cx="1646767" cy="155662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867" dirty="0">
                <a:latin typeface="Arial MT"/>
                <a:cs typeface="Arial MT"/>
              </a:rPr>
              <a:t>Bob</a:t>
            </a:r>
            <a:r>
              <a:rPr sz="867" spc="47" dirty="0">
                <a:latin typeface="Arial MT"/>
                <a:cs typeface="Arial MT"/>
              </a:rPr>
              <a:t> </a:t>
            </a:r>
            <a:r>
              <a:rPr sz="867" dirty="0">
                <a:latin typeface="Arial MT"/>
                <a:cs typeface="Arial MT"/>
              </a:rPr>
              <a:t>Dylan</a:t>
            </a:r>
            <a:r>
              <a:rPr sz="867" spc="253" dirty="0">
                <a:latin typeface="Arial MT"/>
                <a:cs typeface="Arial MT"/>
              </a:rPr>
              <a:t>  </a:t>
            </a:r>
            <a:r>
              <a:rPr sz="867" dirty="0">
                <a:latin typeface="Arial MT"/>
                <a:cs typeface="Arial MT"/>
              </a:rPr>
              <a:t>Blowin’</a:t>
            </a:r>
            <a:r>
              <a:rPr sz="867" spc="20" dirty="0">
                <a:latin typeface="Arial MT"/>
                <a:cs typeface="Arial MT"/>
              </a:rPr>
              <a:t> </a:t>
            </a:r>
            <a:r>
              <a:rPr sz="867" dirty="0">
                <a:latin typeface="Arial MT"/>
                <a:cs typeface="Arial MT"/>
              </a:rPr>
              <a:t>in</a:t>
            </a:r>
            <a:r>
              <a:rPr sz="867" spc="47" dirty="0">
                <a:latin typeface="Arial MT"/>
                <a:cs typeface="Arial MT"/>
              </a:rPr>
              <a:t> </a:t>
            </a:r>
            <a:r>
              <a:rPr sz="867" dirty="0">
                <a:latin typeface="Arial MT"/>
                <a:cs typeface="Arial MT"/>
              </a:rPr>
              <a:t>the</a:t>
            </a:r>
            <a:r>
              <a:rPr sz="867" spc="53" dirty="0">
                <a:latin typeface="Arial MT"/>
                <a:cs typeface="Arial MT"/>
              </a:rPr>
              <a:t> </a:t>
            </a:r>
            <a:r>
              <a:rPr sz="867" spc="-27" dirty="0">
                <a:latin typeface="Arial MT"/>
                <a:cs typeface="Arial MT"/>
              </a:rPr>
              <a:t>Wind</a:t>
            </a:r>
            <a:endParaRPr sz="867">
              <a:latin typeface="Arial MT"/>
              <a:cs typeface="Arial MT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429015" y="2143406"/>
            <a:ext cx="684107" cy="170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00" spc="-13" dirty="0">
                <a:latin typeface="Arial MT"/>
                <a:cs typeface="Arial MT"/>
              </a:rPr>
              <a:t>Aggregator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426298" y="4161626"/>
            <a:ext cx="712893" cy="1709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00" spc="-13" dirty="0">
                <a:latin typeface="Arial MT"/>
                <a:cs typeface="Arial MT"/>
              </a:rPr>
              <a:t>Transformer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846364" y="2719205"/>
            <a:ext cx="746760" cy="185586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1067" spc="-13" dirty="0">
                <a:latin typeface="Arial MT"/>
                <a:cs typeface="Arial MT"/>
              </a:rPr>
              <a:t>Aggregator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3984524" y="2138561"/>
            <a:ext cx="819573" cy="2987040"/>
          </a:xfrm>
          <a:custGeom>
            <a:avLst/>
            <a:gdLst/>
            <a:ahLst/>
            <a:cxnLst/>
            <a:rect l="l" t="t" r="r" b="b"/>
            <a:pathLst>
              <a:path w="614679" h="2240279">
                <a:moveTo>
                  <a:pt x="3236" y="0"/>
                </a:moveTo>
                <a:lnTo>
                  <a:pt x="614589" y="427176"/>
                </a:lnTo>
              </a:path>
              <a:path w="614679" h="2240279">
                <a:moveTo>
                  <a:pt x="0" y="1325649"/>
                </a:moveTo>
                <a:lnTo>
                  <a:pt x="614589" y="2239720"/>
                </a:lnTo>
              </a:path>
            </a:pathLst>
          </a:custGeom>
          <a:ln w="911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1475225" y="6325008"/>
            <a:ext cx="1483360" cy="215508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267" dirty="0">
                <a:latin typeface="Times New Roman"/>
                <a:cs typeface="Times New Roman"/>
              </a:rPr>
              <a:t>(a)</a:t>
            </a:r>
            <a:r>
              <a:rPr sz="1267" spc="47" dirty="0">
                <a:latin typeface="Times New Roman"/>
                <a:cs typeface="Times New Roman"/>
              </a:rPr>
              <a:t> </a:t>
            </a:r>
            <a:r>
              <a:rPr sz="1267" dirty="0">
                <a:latin typeface="Times New Roman"/>
                <a:cs typeface="Times New Roman"/>
              </a:rPr>
              <a:t>Model</a:t>
            </a:r>
            <a:r>
              <a:rPr sz="1267" spc="-20" dirty="0">
                <a:latin typeface="Times New Roman"/>
                <a:cs typeface="Times New Roman"/>
              </a:rPr>
              <a:t> </a:t>
            </a:r>
            <a:r>
              <a:rPr sz="1267" spc="-13" dirty="0">
                <a:latin typeface="Times New Roman"/>
                <a:cs typeface="Times New Roman"/>
              </a:rPr>
              <a:t>Achitecture</a:t>
            </a:r>
            <a:endParaRPr sz="1267" dirty="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>
            <a:spLocks noGrp="1"/>
          </p:cNvSpPr>
          <p:nvPr>
            <p:ph type="title"/>
          </p:nvPr>
        </p:nvSpPr>
        <p:spPr>
          <a:xfrm>
            <a:off x="266699" y="-110420"/>
            <a:ext cx="11658601" cy="12322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ERNIE:</a:t>
            </a:r>
            <a:r>
              <a:rPr spc="-47" dirty="0"/>
              <a:t> </a:t>
            </a:r>
            <a:r>
              <a:rPr dirty="0"/>
              <a:t>Enhanced</a:t>
            </a:r>
            <a:r>
              <a:rPr spc="-33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Representation</a:t>
            </a:r>
            <a:r>
              <a:rPr spc="-33" dirty="0"/>
              <a:t> </a:t>
            </a:r>
            <a:r>
              <a:rPr dirty="0"/>
              <a:t>with</a:t>
            </a:r>
            <a:r>
              <a:rPr spc="-33" dirty="0"/>
              <a:t> </a:t>
            </a:r>
            <a:r>
              <a:rPr spc="-13" dirty="0"/>
              <a:t>Informative </a:t>
            </a:r>
            <a:r>
              <a:rPr dirty="0"/>
              <a:t>Entities</a:t>
            </a:r>
            <a:endParaRPr sz="26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94454" y="1519259"/>
            <a:ext cx="10624820" cy="1726969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75911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75911" algn="l"/>
              </a:tabLst>
            </a:pPr>
            <a:r>
              <a:rPr sz="2400" dirty="0">
                <a:latin typeface="Calibri"/>
                <a:cs typeface="Calibri"/>
              </a:rPr>
              <a:t>Pretrain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13" dirty="0">
                <a:latin typeface="Calibri"/>
                <a:cs typeface="Calibri"/>
              </a:rPr>
              <a:t> tasks:</a:t>
            </a:r>
            <a:endParaRPr sz="2400">
              <a:latin typeface="Calibri"/>
              <a:cs typeface="Calibri"/>
            </a:endParaRPr>
          </a:p>
          <a:p>
            <a:pPr marL="718802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18802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Masked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language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model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next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sentence prediction </a:t>
            </a:r>
            <a:r>
              <a:rPr sz="2400" dirty="0">
                <a:latin typeface="Calibri"/>
                <a:cs typeface="Calibri"/>
              </a:rPr>
              <a:t>(i.e., BERT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tasks)</a:t>
            </a:r>
            <a:endParaRPr sz="2400">
              <a:latin typeface="Calibri"/>
              <a:cs typeface="Calibri"/>
            </a:endParaRPr>
          </a:p>
          <a:p>
            <a:pPr marL="719649" marR="23706" lvl="1" indent="-228594">
              <a:lnSpc>
                <a:spcPts val="2787"/>
              </a:lnSpc>
              <a:spcBef>
                <a:spcPts val="780"/>
              </a:spcBef>
              <a:buClr>
                <a:srgbClr val="007C92"/>
              </a:buClr>
              <a:buFont typeface="Times New Roman"/>
              <a:buChar char="•"/>
              <a:tabLst>
                <a:tab pos="719649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Knowledge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pretraining task</a:t>
            </a:r>
            <a:r>
              <a:rPr sz="2400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(dEA</a:t>
            </a:r>
            <a:r>
              <a:rPr sz="2400" baseline="23148" dirty="0">
                <a:solidFill>
                  <a:srgbClr val="3A87FF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):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randomly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token-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alignments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 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entities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3" dirty="0">
                <a:latin typeface="Calibri"/>
                <a:cs typeface="Calibri"/>
              </a:rPr>
              <a:t>sequence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5301" y="6376290"/>
            <a:ext cx="99051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[1]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dEA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named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denoising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autoencoder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Vincent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al.,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ICML</a:t>
            </a:r>
            <a:r>
              <a:rPr sz="1600" spc="-13" dirty="0">
                <a:latin typeface="Calibri"/>
                <a:cs typeface="Calibri"/>
              </a:rPr>
              <a:t> 2008.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6699" y="-110420"/>
            <a:ext cx="11658601" cy="12322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ERNIE:</a:t>
            </a:r>
            <a:r>
              <a:rPr spc="-47" dirty="0"/>
              <a:t> </a:t>
            </a:r>
            <a:r>
              <a:rPr dirty="0"/>
              <a:t>Enhanced</a:t>
            </a:r>
            <a:r>
              <a:rPr spc="-33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Representation</a:t>
            </a:r>
            <a:r>
              <a:rPr spc="-33" dirty="0"/>
              <a:t> </a:t>
            </a:r>
            <a:r>
              <a:rPr dirty="0"/>
              <a:t>with</a:t>
            </a:r>
            <a:r>
              <a:rPr spc="-33" dirty="0"/>
              <a:t> </a:t>
            </a:r>
            <a:r>
              <a:rPr spc="-13" dirty="0"/>
              <a:t>Informative </a:t>
            </a:r>
            <a:r>
              <a:rPr dirty="0"/>
              <a:t>Entities</a:t>
            </a:r>
            <a:endParaRPr sz="2667" dirty="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70E81B-4700-2170-813A-34DB45A64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456" y="3611773"/>
            <a:ext cx="5398165" cy="21116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22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944877" y="3336544"/>
            <a:ext cx="7476913" cy="2392680"/>
            <a:chOff x="2208657" y="2502408"/>
            <a:chExt cx="5607685" cy="1794510"/>
          </a:xfrm>
        </p:grpSpPr>
        <p:sp>
          <p:nvSpPr>
            <p:cNvPr id="4" name="object 4"/>
            <p:cNvSpPr/>
            <p:nvPr/>
          </p:nvSpPr>
          <p:spPr>
            <a:xfrm>
              <a:off x="2208657" y="4290531"/>
              <a:ext cx="5607685" cy="0"/>
            </a:xfrm>
            <a:custGeom>
              <a:avLst/>
              <a:gdLst/>
              <a:ahLst/>
              <a:cxnLst/>
              <a:rect l="l" t="t" r="r" b="b"/>
              <a:pathLst>
                <a:path w="5607684">
                  <a:moveTo>
                    <a:pt x="0" y="0"/>
                  </a:moveTo>
                  <a:lnTo>
                    <a:pt x="1893951" y="0"/>
                  </a:lnTo>
                </a:path>
                <a:path w="5607684">
                  <a:moveTo>
                    <a:pt x="2695575" y="0"/>
                  </a:moveTo>
                  <a:lnTo>
                    <a:pt x="2911983" y="0"/>
                  </a:lnTo>
                </a:path>
                <a:path w="5607684">
                  <a:moveTo>
                    <a:pt x="3713606" y="0"/>
                  </a:moveTo>
                  <a:lnTo>
                    <a:pt x="3930015" y="0"/>
                  </a:lnTo>
                </a:path>
                <a:path w="5607684">
                  <a:moveTo>
                    <a:pt x="4728591" y="0"/>
                  </a:moveTo>
                  <a:lnTo>
                    <a:pt x="5607198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08657" y="4295294"/>
              <a:ext cx="5607685" cy="0"/>
            </a:xfrm>
            <a:custGeom>
              <a:avLst/>
              <a:gdLst/>
              <a:ahLst/>
              <a:cxnLst/>
              <a:rect l="l" t="t" r="r" b="b"/>
              <a:pathLst>
                <a:path w="5607684">
                  <a:moveTo>
                    <a:pt x="0" y="0"/>
                  </a:moveTo>
                  <a:lnTo>
                    <a:pt x="5607198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08657" y="3727704"/>
              <a:ext cx="1894205" cy="0"/>
            </a:xfrm>
            <a:custGeom>
              <a:avLst/>
              <a:gdLst/>
              <a:ahLst/>
              <a:cxnLst/>
              <a:rect l="l" t="t" r="r" b="b"/>
              <a:pathLst>
                <a:path w="1894204">
                  <a:moveTo>
                    <a:pt x="0" y="0"/>
                  </a:moveTo>
                  <a:lnTo>
                    <a:pt x="875919" y="0"/>
                  </a:lnTo>
                </a:path>
                <a:path w="1894204">
                  <a:moveTo>
                    <a:pt x="1677543" y="0"/>
                  </a:moveTo>
                  <a:lnTo>
                    <a:pt x="189395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4576" y="3474719"/>
              <a:ext cx="802005" cy="817244"/>
            </a:xfrm>
            <a:custGeom>
              <a:avLst/>
              <a:gdLst/>
              <a:ahLst/>
              <a:cxnLst/>
              <a:rect l="l" t="t" r="r" b="b"/>
              <a:pathLst>
                <a:path w="802004" h="817245">
                  <a:moveTo>
                    <a:pt x="801624" y="0"/>
                  </a:moveTo>
                  <a:lnTo>
                    <a:pt x="0" y="0"/>
                  </a:lnTo>
                  <a:lnTo>
                    <a:pt x="0" y="816863"/>
                  </a:lnTo>
                  <a:lnTo>
                    <a:pt x="801624" y="816863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006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08657" y="2593848"/>
              <a:ext cx="5607685" cy="1134110"/>
            </a:xfrm>
            <a:custGeom>
              <a:avLst/>
              <a:gdLst/>
              <a:ahLst/>
              <a:cxnLst/>
              <a:rect l="l" t="t" r="r" b="b"/>
              <a:pathLst>
                <a:path w="5607684" h="1134110">
                  <a:moveTo>
                    <a:pt x="2695575" y="1133856"/>
                  </a:moveTo>
                  <a:lnTo>
                    <a:pt x="2911983" y="1133856"/>
                  </a:lnTo>
                </a:path>
                <a:path w="5607684" h="1134110">
                  <a:moveTo>
                    <a:pt x="0" y="566928"/>
                  </a:moveTo>
                  <a:lnTo>
                    <a:pt x="1893951" y="566928"/>
                  </a:lnTo>
                </a:path>
                <a:path w="5607684" h="1134110">
                  <a:moveTo>
                    <a:pt x="2695575" y="566928"/>
                  </a:moveTo>
                  <a:lnTo>
                    <a:pt x="5607198" y="566928"/>
                  </a:lnTo>
                </a:path>
                <a:path w="5607684" h="1134110">
                  <a:moveTo>
                    <a:pt x="0" y="0"/>
                  </a:moveTo>
                  <a:lnTo>
                    <a:pt x="1893951" y="0"/>
                  </a:lnTo>
                </a:path>
                <a:path w="5607684" h="1134110">
                  <a:moveTo>
                    <a:pt x="2695575" y="0"/>
                  </a:moveTo>
                  <a:lnTo>
                    <a:pt x="560719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02608" y="2502408"/>
              <a:ext cx="802005" cy="1789430"/>
            </a:xfrm>
            <a:custGeom>
              <a:avLst/>
              <a:gdLst/>
              <a:ahLst/>
              <a:cxnLst/>
              <a:rect l="l" t="t" r="r" b="b"/>
              <a:pathLst>
                <a:path w="802004" h="1789429">
                  <a:moveTo>
                    <a:pt x="801624" y="0"/>
                  </a:moveTo>
                  <a:lnTo>
                    <a:pt x="0" y="0"/>
                  </a:lnTo>
                  <a:lnTo>
                    <a:pt x="0" y="1789175"/>
                  </a:lnTo>
                  <a:lnTo>
                    <a:pt x="801624" y="1789175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007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22264" y="3727704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>
                  <a:moveTo>
                    <a:pt x="0" y="0"/>
                  </a:moveTo>
                  <a:lnTo>
                    <a:pt x="216408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0639" y="3221736"/>
              <a:ext cx="802005" cy="1069975"/>
            </a:xfrm>
            <a:custGeom>
              <a:avLst/>
              <a:gdLst/>
              <a:ahLst/>
              <a:cxnLst/>
              <a:rect l="l" t="t" r="r" b="b"/>
              <a:pathLst>
                <a:path w="802004" h="1069975">
                  <a:moveTo>
                    <a:pt x="801624" y="0"/>
                  </a:moveTo>
                  <a:lnTo>
                    <a:pt x="0" y="0"/>
                  </a:lnTo>
                  <a:lnTo>
                    <a:pt x="0" y="1069847"/>
                  </a:lnTo>
                  <a:lnTo>
                    <a:pt x="801624" y="1069847"/>
                  </a:lnTo>
                  <a:lnTo>
                    <a:pt x="801624" y="0"/>
                  </a:lnTo>
                  <a:close/>
                </a:path>
              </a:pathLst>
            </a:custGeom>
            <a:solidFill>
              <a:srgbClr val="6998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7247" y="3727704"/>
              <a:ext cx="878840" cy="0"/>
            </a:xfrm>
            <a:custGeom>
              <a:avLst/>
              <a:gdLst/>
              <a:ahLst/>
              <a:cxnLst/>
              <a:rect l="l" t="t" r="r" b="b"/>
              <a:pathLst>
                <a:path w="878840">
                  <a:moveTo>
                    <a:pt x="0" y="0"/>
                  </a:moveTo>
                  <a:lnTo>
                    <a:pt x="878607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8672" y="3267455"/>
              <a:ext cx="798830" cy="1024255"/>
            </a:xfrm>
            <a:custGeom>
              <a:avLst/>
              <a:gdLst/>
              <a:ahLst/>
              <a:cxnLst/>
              <a:rect l="l" t="t" r="r" b="b"/>
              <a:pathLst>
                <a:path w="798829" h="1024254">
                  <a:moveTo>
                    <a:pt x="798576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798576" y="1024127"/>
                  </a:lnTo>
                  <a:lnTo>
                    <a:pt x="798576" y="0"/>
                  </a:lnTo>
                  <a:close/>
                </a:path>
              </a:pathLst>
            </a:custGeom>
            <a:solidFill>
              <a:srgbClr val="ADC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944877" y="2702964"/>
            <a:ext cx="7476913" cy="0"/>
          </a:xfrm>
          <a:custGeom>
            <a:avLst/>
            <a:gdLst/>
            <a:ahLst/>
            <a:cxnLst/>
            <a:rect l="l" t="t" r="r" b="b"/>
            <a:pathLst>
              <a:path w="5607684">
                <a:moveTo>
                  <a:pt x="0" y="0"/>
                </a:moveTo>
                <a:lnTo>
                  <a:pt x="5607198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1388" y="1592412"/>
            <a:ext cx="9879753" cy="436048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6933" marR="6773">
              <a:lnSpc>
                <a:spcPts val="2787"/>
              </a:lnSpc>
              <a:spcBef>
                <a:spcPts val="300"/>
              </a:spcBef>
            </a:pPr>
            <a:r>
              <a:rPr sz="2400" dirty="0">
                <a:latin typeface="Calibri"/>
                <a:cs typeface="Calibri"/>
              </a:rPr>
              <a:t>Additional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 pretraining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 the most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 of </a:t>
            </a:r>
            <a:r>
              <a:rPr sz="2400" spc="-33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pretrained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13" dirty="0">
                <a:latin typeface="Calibri"/>
                <a:cs typeface="Calibri"/>
              </a:rPr>
              <a:t> embeddings.</a:t>
            </a:r>
            <a:endParaRPr sz="2400" dirty="0">
              <a:latin typeface="Calibri"/>
              <a:cs typeface="Calibri"/>
            </a:endParaRPr>
          </a:p>
          <a:p>
            <a:pPr marL="1775416">
              <a:spcBef>
                <a:spcPts val="900"/>
              </a:spcBef>
            </a:pP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90</a:t>
            </a:r>
            <a:endParaRPr sz="2667" dirty="0">
              <a:latin typeface="Calibri"/>
              <a:cs typeface="Calibri"/>
            </a:endParaRPr>
          </a:p>
          <a:p>
            <a:pPr marL="1775416">
              <a:spcBef>
                <a:spcPts val="2753"/>
              </a:spcBef>
            </a:pP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88</a:t>
            </a:r>
            <a:endParaRPr sz="2667" dirty="0">
              <a:latin typeface="Calibri"/>
              <a:cs typeface="Calibri"/>
            </a:endParaRPr>
          </a:p>
          <a:p>
            <a:pPr marL="1775416">
              <a:spcBef>
                <a:spcPts val="2753"/>
              </a:spcBef>
            </a:pP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86</a:t>
            </a:r>
            <a:endParaRPr sz="2667" dirty="0">
              <a:latin typeface="Calibri"/>
              <a:cs typeface="Calibri"/>
            </a:endParaRPr>
          </a:p>
          <a:p>
            <a:pPr marL="1775416">
              <a:spcBef>
                <a:spcPts val="2753"/>
              </a:spcBef>
            </a:pP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84</a:t>
            </a:r>
            <a:endParaRPr sz="2667" dirty="0">
              <a:latin typeface="Calibri"/>
              <a:cs typeface="Calibri"/>
            </a:endParaRPr>
          </a:p>
          <a:p>
            <a:pPr marL="1775416">
              <a:spcBef>
                <a:spcPts val="2753"/>
              </a:spcBef>
            </a:pP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82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5577" y="3550612"/>
            <a:ext cx="410433" cy="1855893"/>
          </a:xfrm>
          <a:prstGeom prst="rect">
            <a:avLst/>
          </a:prstGeom>
        </p:spPr>
        <p:txBody>
          <a:bodyPr vert="vert270" wrap="square" lIns="0" tIns="847" rIns="0" bIns="0" rtlCol="0">
            <a:spAutoFit/>
          </a:bodyPr>
          <a:lstStyle/>
          <a:p>
            <a:pPr marL="16933">
              <a:spcBef>
                <a:spcPts val="7"/>
              </a:spcBef>
            </a:pP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F1</a:t>
            </a:r>
            <a:r>
              <a:rPr sz="2667" spc="-1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on </a:t>
            </a:r>
            <a:r>
              <a:rPr sz="2667" spc="-13" dirty="0">
                <a:solidFill>
                  <a:srgbClr val="595959"/>
                </a:solidFill>
                <a:latin typeface="Calibri"/>
                <a:cs typeface="Calibri"/>
              </a:rPr>
              <a:t>FewRel</a:t>
            </a:r>
            <a:endParaRPr sz="2667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57453" y="6179393"/>
            <a:ext cx="186267" cy="186267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03" y="0"/>
                </a:moveTo>
                <a:lnTo>
                  <a:pt x="0" y="0"/>
                </a:lnTo>
                <a:lnTo>
                  <a:pt x="0" y="139502"/>
                </a:lnTo>
                <a:lnTo>
                  <a:pt x="139503" y="139502"/>
                </a:lnTo>
                <a:lnTo>
                  <a:pt x="139503" y="0"/>
                </a:lnTo>
                <a:close/>
              </a:path>
            </a:pathLst>
          </a:custGeom>
          <a:solidFill>
            <a:srgbClr val="0060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13176" y="6004560"/>
            <a:ext cx="7408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27" dirty="0">
                <a:solidFill>
                  <a:srgbClr val="595959"/>
                </a:solidFill>
                <a:latin typeface="Calibri"/>
                <a:cs typeface="Calibri"/>
              </a:rPr>
              <a:t>BERT</a:t>
            </a:r>
            <a:endParaRPr sz="2667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18241" y="6179393"/>
            <a:ext cx="186267" cy="186267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03" y="0"/>
                </a:moveTo>
                <a:lnTo>
                  <a:pt x="0" y="0"/>
                </a:lnTo>
                <a:lnTo>
                  <a:pt x="0" y="139502"/>
                </a:lnTo>
                <a:lnTo>
                  <a:pt x="139503" y="139502"/>
                </a:lnTo>
                <a:lnTo>
                  <a:pt x="139503" y="0"/>
                </a:lnTo>
                <a:close/>
              </a:path>
            </a:pathLst>
          </a:custGeom>
          <a:solidFill>
            <a:srgbClr val="0074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73964" y="6004560"/>
            <a:ext cx="86021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solidFill>
                  <a:srgbClr val="595959"/>
                </a:solidFill>
                <a:latin typeface="Calibri"/>
                <a:cs typeface="Calibri"/>
              </a:rPr>
              <a:t>ERNIE</a:t>
            </a:r>
            <a:endParaRPr sz="2667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99089" y="6179393"/>
            <a:ext cx="186267" cy="186267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03" y="0"/>
                </a:moveTo>
                <a:lnTo>
                  <a:pt x="0" y="0"/>
                </a:lnTo>
                <a:lnTo>
                  <a:pt x="0" y="139502"/>
                </a:lnTo>
                <a:lnTo>
                  <a:pt x="139503" y="139502"/>
                </a:lnTo>
                <a:lnTo>
                  <a:pt x="139503" y="0"/>
                </a:lnTo>
                <a:close/>
              </a:path>
            </a:pathLst>
          </a:custGeom>
          <a:solidFill>
            <a:srgbClr val="6998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54812" y="6004560"/>
            <a:ext cx="209719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2667" spc="-33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entity</a:t>
            </a:r>
            <a:r>
              <a:rPr sz="2667" spc="47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Calibri"/>
                <a:cs typeface="Calibri"/>
              </a:rPr>
              <a:t>embs</a:t>
            </a:r>
            <a:endParaRPr sz="2667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24791" y="6179393"/>
            <a:ext cx="186267" cy="186267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139503" y="0"/>
                </a:moveTo>
                <a:lnTo>
                  <a:pt x="0" y="0"/>
                </a:lnTo>
                <a:lnTo>
                  <a:pt x="0" y="139502"/>
                </a:lnTo>
                <a:lnTo>
                  <a:pt x="139503" y="139502"/>
                </a:lnTo>
                <a:lnTo>
                  <a:pt x="139503" y="0"/>
                </a:lnTo>
                <a:close/>
              </a:path>
            </a:pathLst>
          </a:custGeom>
          <a:solidFill>
            <a:srgbClr val="ADC2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0513" y="6004560"/>
            <a:ext cx="2609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2667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67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2667" spc="27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2667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66699" y="-110420"/>
            <a:ext cx="11658601" cy="12322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ERNIE:</a:t>
            </a:r>
            <a:r>
              <a:rPr spc="-47" dirty="0"/>
              <a:t> </a:t>
            </a:r>
            <a:r>
              <a:rPr dirty="0"/>
              <a:t>Enhanced</a:t>
            </a:r>
            <a:r>
              <a:rPr spc="-33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Representation</a:t>
            </a:r>
            <a:r>
              <a:rPr spc="-33" dirty="0"/>
              <a:t> </a:t>
            </a:r>
            <a:r>
              <a:rPr dirty="0"/>
              <a:t>with</a:t>
            </a:r>
            <a:r>
              <a:rPr spc="-33" dirty="0"/>
              <a:t> </a:t>
            </a:r>
            <a:r>
              <a:rPr spc="-13" dirty="0"/>
              <a:t>Informative </a:t>
            </a:r>
            <a:r>
              <a:rPr dirty="0"/>
              <a:t>Entities</a:t>
            </a:r>
            <a:endParaRPr sz="2667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23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587" y="1519259"/>
            <a:ext cx="11134512" cy="4414949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409776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spc="-13" dirty="0">
                <a:latin typeface="Calibri"/>
                <a:cs typeface="Calibri"/>
              </a:rPr>
              <a:t>Strengths:</a:t>
            </a:r>
            <a:endParaRPr sz="2400" dirty="0">
              <a:latin typeface="Calibri"/>
              <a:cs typeface="Calibri"/>
            </a:endParaRPr>
          </a:p>
          <a:p>
            <a:pPr marL="753514" marR="235367" lvl="1" indent="-228594">
              <a:lnSpc>
                <a:spcPts val="2813"/>
              </a:lnSpc>
              <a:spcBef>
                <a:spcPts val="727"/>
              </a:spcBef>
              <a:buClr>
                <a:srgbClr val="007C92"/>
              </a:buClr>
              <a:buFont typeface="Times New Roman"/>
              <a:buChar char="•"/>
              <a:tabLst>
                <a:tab pos="753514" algn="l"/>
              </a:tabLst>
            </a:pP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 through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fusion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layers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pretraining </a:t>
            </a:r>
            <a:r>
              <a:rPr sz="2400" spc="-27" dirty="0">
                <a:solidFill>
                  <a:srgbClr val="00B050"/>
                </a:solidFill>
                <a:latin typeface="Calibri"/>
                <a:cs typeface="Calibri"/>
              </a:rPr>
              <a:t>task</a:t>
            </a:r>
            <a:endParaRPr sz="2400" dirty="0">
              <a:latin typeface="Calibri"/>
              <a:cs typeface="Calibri"/>
            </a:endParaRPr>
          </a:p>
          <a:p>
            <a:pPr marL="752668" lvl="1" indent="-227748">
              <a:spcBef>
                <a:spcPts val="493"/>
              </a:spcBef>
              <a:buClr>
                <a:srgbClr val="007C92"/>
              </a:buClr>
              <a:buFont typeface="Times New Roman"/>
              <a:buChar char="•"/>
              <a:tabLst>
                <a:tab pos="752668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Improves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performance</a:t>
            </a:r>
            <a:r>
              <a:rPr sz="24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downstream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knowledge-</a:t>
            </a:r>
            <a:r>
              <a:rPr sz="2400" dirty="0">
                <a:latin typeface="Calibri"/>
                <a:cs typeface="Calibri"/>
              </a:rPr>
              <a:t>driven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  <a:p>
            <a:pPr lvl="1">
              <a:spcBef>
                <a:spcPts val="40"/>
              </a:spcBef>
              <a:buClr>
                <a:srgbClr val="007C92"/>
              </a:buClr>
              <a:buFont typeface="Times New Roman"/>
              <a:buChar char="•"/>
            </a:pPr>
            <a:endParaRPr sz="4267" dirty="0">
              <a:latin typeface="Calibri"/>
              <a:cs typeface="Calibri"/>
            </a:endParaRPr>
          </a:p>
          <a:p>
            <a:pPr marL="409776" indent="-342045"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latin typeface="Calibri"/>
                <a:cs typeface="Calibri"/>
              </a:rPr>
              <a:t>Remaining </a:t>
            </a:r>
            <a:r>
              <a:rPr sz="2400" spc="-13" dirty="0">
                <a:latin typeface="Calibri"/>
                <a:cs typeface="Calibri"/>
              </a:rPr>
              <a:t>challenges:</a:t>
            </a:r>
            <a:endParaRPr sz="2400" dirty="0">
              <a:latin typeface="Calibri"/>
              <a:cs typeface="Calibri"/>
            </a:endParaRPr>
          </a:p>
          <a:p>
            <a:pPr marL="752668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52668" algn="l"/>
              </a:tabLst>
            </a:pP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entities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annotated</a:t>
            </a:r>
            <a:r>
              <a:rPr sz="2400" spc="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input, even 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downstream </a:t>
            </a:r>
            <a:r>
              <a:rPr sz="2400" spc="-13" dirty="0"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  <a:p>
            <a:pPr marL="1096406" marR="57572" lvl="2" indent="-228594">
              <a:lnSpc>
                <a:spcPts val="2787"/>
              </a:lnSpc>
              <a:spcBef>
                <a:spcPts val="747"/>
              </a:spcBef>
              <a:buClr>
                <a:srgbClr val="8C1515"/>
              </a:buClr>
              <a:buFont typeface="Times New Roman"/>
              <a:buChar char="•"/>
              <a:tabLst>
                <a:tab pos="1096406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instance, “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Bob</a:t>
            </a:r>
            <a:r>
              <a:rPr sz="2400" u="sng" spc="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Dylan</a:t>
            </a:r>
            <a:r>
              <a:rPr sz="2400" dirty="0">
                <a:latin typeface="Calibri"/>
                <a:cs typeface="Calibri"/>
              </a:rPr>
              <a:t> wrote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Blowin’ in</a:t>
            </a:r>
            <a:r>
              <a:rPr sz="2400" u="sng" spc="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Wind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linked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input entities into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ERNIE</a:t>
            </a:r>
            <a:endParaRPr sz="2400" dirty="0">
              <a:latin typeface="Calibri"/>
              <a:cs typeface="Calibri"/>
            </a:endParaRPr>
          </a:p>
          <a:p>
            <a:pPr marL="752668" lvl="1" indent="-227748">
              <a:spcBef>
                <a:spcPts val="533"/>
              </a:spcBef>
              <a:buClr>
                <a:srgbClr val="007C92"/>
              </a:buClr>
              <a:buFont typeface="Times New Roman"/>
              <a:buChar char="•"/>
              <a:tabLst>
                <a:tab pos="752668" algn="l"/>
              </a:tabLst>
            </a:pPr>
            <a:r>
              <a:rPr sz="2400" dirty="0">
                <a:latin typeface="Calibri"/>
                <a:cs typeface="Calibri"/>
              </a:rPr>
              <a:t>Requires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further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(expensive) pretraining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33" dirty="0">
                <a:latin typeface="Calibri"/>
                <a:cs typeface="Calibri"/>
              </a:rPr>
              <a:t>LM</a:t>
            </a:r>
            <a:r>
              <a:rPr sz="2400" spc="-49" baseline="23148" dirty="0">
                <a:latin typeface="Calibri"/>
                <a:cs typeface="Calibri"/>
              </a:rPr>
              <a:t>1</a:t>
            </a:r>
            <a:endParaRPr sz="2400" baseline="23148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-110420"/>
            <a:ext cx="11658601" cy="12322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ERNIE:</a:t>
            </a:r>
            <a:r>
              <a:rPr spc="-47" dirty="0"/>
              <a:t> </a:t>
            </a:r>
            <a:r>
              <a:rPr dirty="0"/>
              <a:t>Enhanced</a:t>
            </a:r>
            <a:r>
              <a:rPr spc="-33" dirty="0"/>
              <a:t> </a:t>
            </a: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Representation</a:t>
            </a:r>
            <a:r>
              <a:rPr spc="-33" dirty="0"/>
              <a:t> </a:t>
            </a:r>
            <a:r>
              <a:rPr dirty="0"/>
              <a:t>with</a:t>
            </a:r>
            <a:r>
              <a:rPr spc="-33" dirty="0"/>
              <a:t> </a:t>
            </a:r>
            <a:r>
              <a:rPr spc="-13" dirty="0"/>
              <a:t>Informative </a:t>
            </a:r>
            <a:r>
              <a:rPr dirty="0"/>
              <a:t>Entities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5677" y="6279556"/>
            <a:ext cx="9420012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latin typeface="Calibri"/>
                <a:cs typeface="Calibri"/>
              </a:rPr>
              <a:t>[1]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Check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out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Poerner</a:t>
            </a:r>
            <a:r>
              <a:rPr sz="2133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133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133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133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33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2020</a:t>
            </a:r>
            <a:r>
              <a:rPr sz="2133" spc="-13" dirty="0">
                <a:solidFill>
                  <a:srgbClr val="4198B5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133" dirty="0">
                <a:latin typeface="Calibri"/>
                <a:cs typeface="Calibri"/>
              </a:rPr>
              <a:t>for</a:t>
            </a:r>
            <a:r>
              <a:rPr sz="2133" spc="-1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method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to</a:t>
            </a:r>
            <a:r>
              <a:rPr sz="2133" spc="-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avoid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more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LM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pretraining.</a:t>
            </a:r>
            <a:endParaRPr sz="2133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25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-15833"/>
            <a:ext cx="11658601" cy="1043085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Jointly</a:t>
            </a:r>
            <a:r>
              <a:rPr spc="-20" dirty="0"/>
              <a:t> </a:t>
            </a:r>
            <a:r>
              <a:rPr dirty="0"/>
              <a:t>learn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link</a:t>
            </a:r>
            <a:r>
              <a:rPr spc="-20" dirty="0"/>
              <a:t> </a:t>
            </a:r>
            <a:r>
              <a:rPr dirty="0"/>
              <a:t>entities</a:t>
            </a:r>
            <a:r>
              <a:rPr spc="-7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KnowBERT</a:t>
            </a:r>
            <a:r>
              <a:rPr spc="-33" dirty="0"/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Peters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 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5919" y="2112603"/>
            <a:ext cx="43290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600" baseline="10802" dirty="0">
                <a:latin typeface="Cambria Math"/>
                <a:cs typeface="Cambria Math"/>
              </a:rPr>
              <a:t>ℒ</a:t>
            </a:r>
            <a:r>
              <a:rPr sz="1733" dirty="0">
                <a:latin typeface="Cambria Math"/>
                <a:cs typeface="Cambria Math"/>
              </a:rPr>
              <a:t>𝐾𝑛𝑜w𝐵𝐸𝑅𝑇</a:t>
            </a:r>
            <a:r>
              <a:rPr sz="1733" spc="507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libri"/>
                <a:cs typeface="Calibri"/>
              </a:rPr>
              <a:t>=</a:t>
            </a:r>
            <a:r>
              <a:rPr sz="3600" spc="209" baseline="10802" dirty="0">
                <a:latin typeface="Calibri"/>
                <a:cs typeface="Calibri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ℒ</a:t>
            </a:r>
            <a:r>
              <a:rPr sz="1733" dirty="0">
                <a:latin typeface="Cambria Math"/>
                <a:cs typeface="Cambria Math"/>
              </a:rPr>
              <a:t>𝑁𝑆𝑃</a:t>
            </a:r>
            <a:r>
              <a:rPr sz="1733" spc="467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+</a:t>
            </a:r>
            <a:r>
              <a:rPr sz="3600" spc="200" baseline="10802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ℒ</a:t>
            </a:r>
            <a:r>
              <a:rPr sz="1733" dirty="0">
                <a:latin typeface="Cambria Math"/>
                <a:cs typeface="Cambria Math"/>
              </a:rPr>
              <a:t>𝑀𝐿𝑀</a:t>
            </a:r>
            <a:r>
              <a:rPr sz="1733" spc="467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+</a:t>
            </a:r>
            <a:r>
              <a:rPr sz="3600" spc="209" baseline="10802" dirty="0">
                <a:latin typeface="Cambria Math"/>
                <a:cs typeface="Cambria Math"/>
              </a:rPr>
              <a:t> </a:t>
            </a:r>
            <a:r>
              <a:rPr sz="3600" spc="-49" baseline="10802" dirty="0">
                <a:solidFill>
                  <a:srgbClr val="3A87FF"/>
                </a:solidFill>
                <a:latin typeface="Cambria Math"/>
                <a:cs typeface="Cambria Math"/>
              </a:rPr>
              <a:t>ℒ</a:t>
            </a:r>
            <a:r>
              <a:rPr sz="1733" spc="-33" dirty="0">
                <a:solidFill>
                  <a:srgbClr val="3A87FF"/>
                </a:solidFill>
                <a:latin typeface="Cambria Math"/>
                <a:cs typeface="Cambria Math"/>
              </a:rPr>
              <a:t>𝐸𝐿</a:t>
            </a:r>
            <a:endParaRPr sz="1733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2929467"/>
            <a:ext cx="10867812" cy="288166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downstream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entity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annotations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aren’t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required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133">
              <a:latin typeface="Calibri"/>
              <a:cs typeface="Calibri"/>
            </a:endParaRPr>
          </a:p>
          <a:p>
            <a:pPr marL="359824" marR="6773" indent="-342891">
              <a:lnSpc>
                <a:spcPct val="101099"/>
              </a:lnSpc>
              <a:spcBef>
                <a:spcPts val="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Learning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EL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may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better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encode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performance gains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downstream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60"/>
              </a:spcBef>
              <a:buClr>
                <a:srgbClr val="8C1515"/>
              </a:buClr>
              <a:buFont typeface="Times New Roman"/>
              <a:buChar char="•"/>
            </a:pPr>
            <a:endParaRPr sz="3400">
              <a:latin typeface="Calibri"/>
              <a:cs typeface="Calibri"/>
            </a:endParaRPr>
          </a:p>
          <a:p>
            <a:pPr marL="359824" marR="22859" indent="-342891">
              <a:lnSpc>
                <a:spcPts val="2813"/>
              </a:lnSpc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Like ERNIE,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KnowBERT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fusion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information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 a knowledge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30166" y="1662857"/>
            <a:ext cx="4202007" cy="1203959"/>
            <a:chOff x="5347624" y="1247142"/>
            <a:chExt cx="3151505" cy="902969"/>
          </a:xfrm>
        </p:grpSpPr>
        <p:sp>
          <p:nvSpPr>
            <p:cNvPr id="6" name="object 6"/>
            <p:cNvSpPr/>
            <p:nvPr/>
          </p:nvSpPr>
          <p:spPr>
            <a:xfrm>
              <a:off x="5352387" y="1516255"/>
              <a:ext cx="670560" cy="182880"/>
            </a:xfrm>
            <a:custGeom>
              <a:avLst/>
              <a:gdLst/>
              <a:ahLst/>
              <a:cxnLst/>
              <a:rect l="l" t="t" r="r" b="b"/>
              <a:pathLst>
                <a:path w="670560" h="182880">
                  <a:moveTo>
                    <a:pt x="0" y="182287"/>
                  </a:moveTo>
                  <a:lnTo>
                    <a:pt x="670274" y="0"/>
                  </a:lnTo>
                </a:path>
              </a:pathLst>
            </a:custGeom>
            <a:ln w="9525">
              <a:solidFill>
                <a:srgbClr val="3A87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22661" y="1247142"/>
              <a:ext cx="2476500" cy="902969"/>
            </a:xfrm>
            <a:custGeom>
              <a:avLst/>
              <a:gdLst/>
              <a:ahLst/>
              <a:cxnLst/>
              <a:rect l="l" t="t" r="r" b="b"/>
              <a:pathLst>
                <a:path w="2476500" h="902969">
                  <a:moveTo>
                    <a:pt x="2325975" y="0"/>
                  </a:moveTo>
                  <a:lnTo>
                    <a:pt x="150468" y="0"/>
                  </a:lnTo>
                  <a:lnTo>
                    <a:pt x="102908" y="7671"/>
                  </a:lnTo>
                  <a:lnTo>
                    <a:pt x="61603" y="29032"/>
                  </a:lnTo>
                  <a:lnTo>
                    <a:pt x="29031" y="61604"/>
                  </a:lnTo>
                  <a:lnTo>
                    <a:pt x="7670" y="102909"/>
                  </a:lnTo>
                  <a:lnTo>
                    <a:pt x="0" y="150469"/>
                  </a:lnTo>
                  <a:lnTo>
                    <a:pt x="0" y="752327"/>
                  </a:lnTo>
                  <a:lnTo>
                    <a:pt x="7670" y="799887"/>
                  </a:lnTo>
                  <a:lnTo>
                    <a:pt x="29031" y="841193"/>
                  </a:lnTo>
                  <a:lnTo>
                    <a:pt x="61603" y="873765"/>
                  </a:lnTo>
                  <a:lnTo>
                    <a:pt x="102908" y="895126"/>
                  </a:lnTo>
                  <a:lnTo>
                    <a:pt x="150468" y="902797"/>
                  </a:lnTo>
                  <a:lnTo>
                    <a:pt x="2325975" y="902797"/>
                  </a:lnTo>
                  <a:lnTo>
                    <a:pt x="2373535" y="895126"/>
                  </a:lnTo>
                  <a:lnTo>
                    <a:pt x="2414841" y="873765"/>
                  </a:lnTo>
                  <a:lnTo>
                    <a:pt x="2447413" y="841193"/>
                  </a:lnTo>
                  <a:lnTo>
                    <a:pt x="2468774" y="799887"/>
                  </a:lnTo>
                  <a:lnTo>
                    <a:pt x="2476445" y="752327"/>
                  </a:lnTo>
                  <a:lnTo>
                    <a:pt x="2476445" y="150469"/>
                  </a:lnTo>
                  <a:lnTo>
                    <a:pt x="2468774" y="102909"/>
                  </a:lnTo>
                  <a:lnTo>
                    <a:pt x="2447413" y="61604"/>
                  </a:lnTo>
                  <a:lnTo>
                    <a:pt x="2414841" y="29032"/>
                  </a:lnTo>
                  <a:lnTo>
                    <a:pt x="2373535" y="7671"/>
                  </a:lnTo>
                  <a:lnTo>
                    <a:pt x="2325975" y="0"/>
                  </a:lnTo>
                  <a:close/>
                </a:path>
              </a:pathLst>
            </a:custGeom>
            <a:solidFill>
              <a:srgbClr val="3A87FF">
                <a:alpha val="2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1387" y="1169754"/>
            <a:ext cx="10292927" cy="9198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idea: pretrain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integrated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entity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linker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(EL)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extension to </a:t>
            </a:r>
            <a:r>
              <a:rPr sz="2400" spc="-27" dirty="0">
                <a:latin typeface="Calibri"/>
                <a:cs typeface="Calibri"/>
              </a:rPr>
              <a:t>BERT</a:t>
            </a:r>
            <a:endParaRPr sz="2400">
              <a:latin typeface="Calibri"/>
              <a:cs typeface="Calibri"/>
            </a:endParaRPr>
          </a:p>
          <a:p>
            <a:pPr marR="6773" algn="r">
              <a:spcBef>
                <a:spcPts val="1607"/>
              </a:spcBef>
            </a:pPr>
            <a:r>
              <a:rPr sz="2133" dirty="0">
                <a:latin typeface="Calibri"/>
                <a:cs typeface="Calibri"/>
              </a:rPr>
              <a:t>Predict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over</a:t>
            </a:r>
            <a:r>
              <a:rPr sz="2133" spc="-1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set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of</a:t>
            </a:r>
            <a:r>
              <a:rPr sz="2133" spc="-27" dirty="0">
                <a:latin typeface="Calibri"/>
                <a:cs typeface="Calibri"/>
              </a:rPr>
              <a:t> hard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93961" y="2061125"/>
            <a:ext cx="2880360" cy="673881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 marR="6773">
              <a:lnSpc>
                <a:spcPct val="103699"/>
              </a:lnSpc>
              <a:spcBef>
                <a:spcPts val="33"/>
              </a:spcBef>
            </a:pPr>
            <a:r>
              <a:rPr sz="2133" dirty="0">
                <a:latin typeface="Calibri"/>
                <a:cs typeface="Calibri"/>
              </a:rPr>
              <a:t>candidates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(not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just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spc="-27" dirty="0">
                <a:latin typeface="Calibri"/>
                <a:cs typeface="Calibri"/>
              </a:rPr>
              <a:t>those </a:t>
            </a:r>
            <a:r>
              <a:rPr sz="2133" dirty="0">
                <a:latin typeface="Calibri"/>
                <a:cs typeface="Calibri"/>
              </a:rPr>
              <a:t>in</a:t>
            </a:r>
            <a:r>
              <a:rPr sz="2133" spc="-13" dirty="0">
                <a:latin typeface="Calibri"/>
                <a:cs typeface="Calibri"/>
              </a:rPr>
              <a:t> sentence)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4249" y="6007270"/>
            <a:ext cx="188214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corrupted</a:t>
            </a:r>
            <a:r>
              <a:rPr sz="2133" i="1" spc="-60" dirty="0">
                <a:latin typeface="Calibri"/>
                <a:cs typeface="Calibri"/>
              </a:rPr>
              <a:t> </a:t>
            </a:r>
            <a:r>
              <a:rPr sz="2133" i="1" spc="-13" dirty="0">
                <a:latin typeface="Calibri"/>
                <a:cs typeface="Calibri"/>
              </a:rPr>
              <a:t>tokens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26</a:t>
            </a:fld>
            <a:endParaRPr spc="-33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Techniques</a:t>
            </a:r>
            <a:r>
              <a:rPr spc="-33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4852" y="1169753"/>
            <a:ext cx="43831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Add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pretrained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851" y="1519258"/>
            <a:ext cx="1816947" cy="1011388"/>
          </a:xfrm>
          <a:prstGeom prst="rect">
            <a:avLst/>
          </a:prstGeom>
        </p:spPr>
        <p:txBody>
          <a:bodyPr vert="horz" wrap="square" lIns="0" tIns="143087" rIns="0" bIns="0" rtlCol="0">
            <a:spAutoFit/>
          </a:bodyPr>
          <a:lstStyle/>
          <a:p>
            <a:pPr marL="473275" indent="-456342">
              <a:spcBef>
                <a:spcPts val="112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ERNIE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98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KnowBERT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4851" y="2974171"/>
            <a:ext cx="3136900" cy="1495281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6933">
              <a:spcBef>
                <a:spcPts val="1120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Use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an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external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993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27" dirty="0">
                <a:latin typeface="Calibri"/>
                <a:cs typeface="Calibri"/>
              </a:rPr>
              <a:t>KGLM</a:t>
            </a:r>
            <a:endParaRPr sz="2400">
              <a:latin typeface="Calibri"/>
              <a:cs typeface="Calibri"/>
            </a:endParaRPr>
          </a:p>
          <a:p>
            <a:pPr marL="473275" indent="-456342">
              <a:spcBef>
                <a:spcPts val="867"/>
              </a:spcBef>
              <a:buClr>
                <a:srgbClr val="8C1515"/>
              </a:buClr>
              <a:buFont typeface="Arial MT"/>
              <a:buChar char="•"/>
              <a:tabLst>
                <a:tab pos="473275" algn="l"/>
              </a:tabLst>
            </a:pPr>
            <a:r>
              <a:rPr sz="2400" spc="-13" dirty="0">
                <a:latin typeface="Calibri"/>
                <a:cs typeface="Calibri"/>
              </a:rPr>
              <a:t>kNN-</a:t>
            </a:r>
            <a:r>
              <a:rPr sz="2400" spc="-33" dirty="0">
                <a:latin typeface="Calibri"/>
                <a:cs typeface="Calibri"/>
              </a:rPr>
              <a:t>LM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54851" y="5046811"/>
            <a:ext cx="31250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Modify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training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4852" y="5396314"/>
            <a:ext cx="5205305" cy="1011388"/>
          </a:xfrm>
          <a:prstGeom prst="rect">
            <a:avLst/>
          </a:prstGeom>
        </p:spPr>
        <p:txBody>
          <a:bodyPr vert="horz" wrap="square" lIns="0" tIns="143087" rIns="0" bIns="0" rtlCol="0">
            <a:spAutoFit/>
          </a:bodyPr>
          <a:lstStyle/>
          <a:p>
            <a:pPr marL="397077" indent="-380144">
              <a:spcBef>
                <a:spcPts val="1127"/>
              </a:spcBef>
              <a:buClr>
                <a:srgbClr val="8C1515"/>
              </a:buClr>
              <a:buFont typeface="Arial MT"/>
              <a:buChar char="•"/>
              <a:tabLst>
                <a:tab pos="397077" algn="l"/>
              </a:tabLst>
            </a:pPr>
            <a:r>
              <a:rPr sz="2400" spc="-27" dirty="0">
                <a:latin typeface="Calibri"/>
                <a:cs typeface="Calibri"/>
              </a:rPr>
              <a:t>WKLM</a:t>
            </a:r>
            <a:endParaRPr sz="2400">
              <a:latin typeface="Calibri"/>
              <a:cs typeface="Calibri"/>
            </a:endParaRPr>
          </a:p>
          <a:p>
            <a:pPr marL="397077" indent="-380144">
              <a:spcBef>
                <a:spcPts val="987"/>
              </a:spcBef>
              <a:buClr>
                <a:srgbClr val="8C1515"/>
              </a:buClr>
              <a:buFont typeface="Arial MT"/>
              <a:buChar char="•"/>
              <a:tabLst>
                <a:tab pos="397077" algn="l"/>
              </a:tabLst>
            </a:pP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(another!),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 </a:t>
            </a:r>
            <a:r>
              <a:rPr sz="2400" spc="-13" dirty="0">
                <a:latin typeface="Calibri"/>
                <a:cs typeface="Calibri"/>
              </a:rPr>
              <a:t>masking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32260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260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2260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1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1" y="200714"/>
                </a:lnTo>
                <a:lnTo>
                  <a:pt x="446378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2260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1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1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1" y="200715"/>
                </a:lnTo>
                <a:lnTo>
                  <a:pt x="446378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8" y="21480"/>
                </a:lnTo>
                <a:lnTo>
                  <a:pt x="438841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8C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1328" y="3349648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31328" y="371306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5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31328" y="4076481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0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5"/>
                </a:lnTo>
                <a:lnTo>
                  <a:pt x="2763" y="189535"/>
                </a:lnTo>
                <a:lnTo>
                  <a:pt x="10300" y="200714"/>
                </a:lnTo>
                <a:lnTo>
                  <a:pt x="21480" y="208251"/>
                </a:lnTo>
                <a:lnTo>
                  <a:pt x="35170" y="211015"/>
                </a:lnTo>
                <a:lnTo>
                  <a:pt x="413971" y="211015"/>
                </a:lnTo>
                <a:lnTo>
                  <a:pt x="427661" y="208251"/>
                </a:lnTo>
                <a:lnTo>
                  <a:pt x="438840" y="200714"/>
                </a:lnTo>
                <a:lnTo>
                  <a:pt x="446377" y="189535"/>
                </a:lnTo>
                <a:lnTo>
                  <a:pt x="449141" y="175845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0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31328" y="4431104"/>
            <a:ext cx="599440" cy="281939"/>
          </a:xfrm>
          <a:custGeom>
            <a:avLst/>
            <a:gdLst/>
            <a:ahLst/>
            <a:cxnLst/>
            <a:rect l="l" t="t" r="r" b="b"/>
            <a:pathLst>
              <a:path w="449580" h="211454">
                <a:moveTo>
                  <a:pt x="413971" y="0"/>
                </a:moveTo>
                <a:lnTo>
                  <a:pt x="35170" y="0"/>
                </a:lnTo>
                <a:lnTo>
                  <a:pt x="21480" y="2763"/>
                </a:lnTo>
                <a:lnTo>
                  <a:pt x="10300" y="10301"/>
                </a:lnTo>
                <a:lnTo>
                  <a:pt x="2763" y="21480"/>
                </a:lnTo>
                <a:lnTo>
                  <a:pt x="0" y="35170"/>
                </a:lnTo>
                <a:lnTo>
                  <a:pt x="0" y="175846"/>
                </a:lnTo>
                <a:lnTo>
                  <a:pt x="2763" y="189536"/>
                </a:lnTo>
                <a:lnTo>
                  <a:pt x="10300" y="200715"/>
                </a:lnTo>
                <a:lnTo>
                  <a:pt x="21480" y="208252"/>
                </a:lnTo>
                <a:lnTo>
                  <a:pt x="35170" y="211016"/>
                </a:lnTo>
                <a:lnTo>
                  <a:pt x="413971" y="211016"/>
                </a:lnTo>
                <a:lnTo>
                  <a:pt x="427661" y="208252"/>
                </a:lnTo>
                <a:lnTo>
                  <a:pt x="438840" y="200715"/>
                </a:lnTo>
                <a:lnTo>
                  <a:pt x="446377" y="189536"/>
                </a:lnTo>
                <a:lnTo>
                  <a:pt x="449141" y="175846"/>
                </a:lnTo>
                <a:lnTo>
                  <a:pt x="449141" y="35170"/>
                </a:lnTo>
                <a:lnTo>
                  <a:pt x="446377" y="21480"/>
                </a:lnTo>
                <a:lnTo>
                  <a:pt x="438840" y="10301"/>
                </a:lnTo>
                <a:lnTo>
                  <a:pt x="427661" y="2763"/>
                </a:lnTo>
                <a:lnTo>
                  <a:pt x="413971" y="0"/>
                </a:lnTo>
                <a:close/>
              </a:path>
            </a:pathLst>
          </a:custGeom>
          <a:solidFill>
            <a:srgbClr val="F6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35789" y="2926757"/>
            <a:ext cx="14300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717109" algn="l"/>
              </a:tabLst>
            </a:pPr>
            <a:r>
              <a:rPr sz="2133" i="1" spc="-27" dirty="0">
                <a:latin typeface="Calibri"/>
                <a:cs typeface="Calibri"/>
              </a:rPr>
              <a:t>keys</a:t>
            </a:r>
            <a:r>
              <a:rPr sz="2133" i="1" dirty="0">
                <a:latin typeface="Calibri"/>
                <a:cs typeface="Calibri"/>
              </a:rPr>
              <a:t>	</a:t>
            </a:r>
            <a:r>
              <a:rPr sz="2133" i="1" spc="-13" dirty="0">
                <a:latin typeface="Calibri"/>
                <a:cs typeface="Calibri"/>
              </a:rPr>
              <a:t>values</a:t>
            </a:r>
            <a:endParaRPr sz="2133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260" y="1524208"/>
            <a:ext cx="3337659" cy="58404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22102" y="2101764"/>
            <a:ext cx="129201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token</a:t>
            </a:r>
            <a:r>
              <a:rPr sz="2133" i="1" spc="-113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83839" y="2077380"/>
            <a:ext cx="13123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entity</a:t>
            </a:r>
            <a:r>
              <a:rPr sz="2133" i="1" spc="-40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55784" y="4963884"/>
            <a:ext cx="10046545" cy="1818640"/>
            <a:chOff x="641837" y="3722913"/>
            <a:chExt cx="7534909" cy="1363980"/>
          </a:xfrm>
        </p:grpSpPr>
        <p:sp>
          <p:nvSpPr>
            <p:cNvPr id="22" name="object 22"/>
            <p:cNvSpPr/>
            <p:nvPr/>
          </p:nvSpPr>
          <p:spPr>
            <a:xfrm>
              <a:off x="813092" y="4302442"/>
              <a:ext cx="927100" cy="211454"/>
            </a:xfrm>
            <a:custGeom>
              <a:avLst/>
              <a:gdLst/>
              <a:ahLst/>
              <a:cxnLst/>
              <a:rect l="l" t="t" r="r" b="b"/>
              <a:pathLst>
                <a:path w="927100" h="211454">
                  <a:moveTo>
                    <a:pt x="449148" y="35179"/>
                  </a:moveTo>
                  <a:lnTo>
                    <a:pt x="446379" y="21488"/>
                  </a:lnTo>
                  <a:lnTo>
                    <a:pt x="438848" y="10312"/>
                  </a:lnTo>
                  <a:lnTo>
                    <a:pt x="427659" y="2768"/>
                  </a:lnTo>
                  <a:lnTo>
                    <a:pt x="413969" y="0"/>
                  </a:lnTo>
                  <a:lnTo>
                    <a:pt x="35166" y="0"/>
                  </a:lnTo>
                  <a:lnTo>
                    <a:pt x="21475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75" y="208254"/>
                  </a:lnTo>
                  <a:lnTo>
                    <a:pt x="35166" y="211023"/>
                  </a:lnTo>
                  <a:lnTo>
                    <a:pt x="413969" y="211023"/>
                  </a:lnTo>
                  <a:lnTo>
                    <a:pt x="427659" y="208254"/>
                  </a:lnTo>
                  <a:lnTo>
                    <a:pt x="438848" y="200723"/>
                  </a:lnTo>
                  <a:lnTo>
                    <a:pt x="446379" y="189547"/>
                  </a:lnTo>
                  <a:lnTo>
                    <a:pt x="449148" y="175856"/>
                  </a:lnTo>
                  <a:lnTo>
                    <a:pt x="449148" y="35179"/>
                  </a:lnTo>
                  <a:close/>
                </a:path>
                <a:path w="927100" h="211454">
                  <a:moveTo>
                    <a:pt x="926858" y="35179"/>
                  </a:moveTo>
                  <a:lnTo>
                    <a:pt x="924090" y="21488"/>
                  </a:lnTo>
                  <a:lnTo>
                    <a:pt x="916559" y="10312"/>
                  </a:lnTo>
                  <a:lnTo>
                    <a:pt x="905383" y="2768"/>
                  </a:lnTo>
                  <a:lnTo>
                    <a:pt x="891692" y="0"/>
                  </a:lnTo>
                  <a:lnTo>
                    <a:pt x="512889" y="0"/>
                  </a:lnTo>
                  <a:lnTo>
                    <a:pt x="499198" y="2768"/>
                  </a:lnTo>
                  <a:lnTo>
                    <a:pt x="488010" y="10312"/>
                  </a:lnTo>
                  <a:lnTo>
                    <a:pt x="480479" y="21488"/>
                  </a:lnTo>
                  <a:lnTo>
                    <a:pt x="477710" y="35179"/>
                  </a:lnTo>
                  <a:lnTo>
                    <a:pt x="477710" y="175856"/>
                  </a:lnTo>
                  <a:lnTo>
                    <a:pt x="480479" y="189547"/>
                  </a:lnTo>
                  <a:lnTo>
                    <a:pt x="488010" y="200723"/>
                  </a:lnTo>
                  <a:lnTo>
                    <a:pt x="499198" y="208254"/>
                  </a:lnTo>
                  <a:lnTo>
                    <a:pt x="512889" y="211023"/>
                  </a:lnTo>
                  <a:lnTo>
                    <a:pt x="891692" y="211023"/>
                  </a:lnTo>
                  <a:lnTo>
                    <a:pt x="905383" y="208254"/>
                  </a:lnTo>
                  <a:lnTo>
                    <a:pt x="916559" y="200723"/>
                  </a:lnTo>
                  <a:lnTo>
                    <a:pt x="924090" y="189547"/>
                  </a:lnTo>
                  <a:lnTo>
                    <a:pt x="926858" y="175856"/>
                  </a:lnTo>
                  <a:lnTo>
                    <a:pt x="926858" y="35179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8158" y="4302442"/>
              <a:ext cx="449141" cy="2110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503" y="4302442"/>
              <a:ext cx="449141" cy="21101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13056" y="4302441"/>
              <a:ext cx="449580" cy="211454"/>
            </a:xfrm>
            <a:custGeom>
              <a:avLst/>
              <a:gdLst/>
              <a:ahLst/>
              <a:cxnLst/>
              <a:rect l="l" t="t" r="r" b="b"/>
              <a:pathLst>
                <a:path w="449580" h="211454">
                  <a:moveTo>
                    <a:pt x="413971" y="0"/>
                  </a:moveTo>
                  <a:lnTo>
                    <a:pt x="35168" y="0"/>
                  </a:lnTo>
                  <a:lnTo>
                    <a:pt x="21479" y="2763"/>
                  </a:lnTo>
                  <a:lnTo>
                    <a:pt x="10300" y="10301"/>
                  </a:lnTo>
                  <a:lnTo>
                    <a:pt x="2763" y="21480"/>
                  </a:lnTo>
                  <a:lnTo>
                    <a:pt x="0" y="35170"/>
                  </a:lnTo>
                  <a:lnTo>
                    <a:pt x="0" y="175845"/>
                  </a:lnTo>
                  <a:lnTo>
                    <a:pt x="2763" y="189535"/>
                  </a:lnTo>
                  <a:lnTo>
                    <a:pt x="10300" y="200714"/>
                  </a:lnTo>
                  <a:lnTo>
                    <a:pt x="21479" y="208252"/>
                  </a:lnTo>
                  <a:lnTo>
                    <a:pt x="35168" y="211016"/>
                  </a:lnTo>
                  <a:lnTo>
                    <a:pt x="413971" y="211016"/>
                  </a:lnTo>
                  <a:lnTo>
                    <a:pt x="427661" y="208252"/>
                  </a:lnTo>
                  <a:lnTo>
                    <a:pt x="438840" y="200714"/>
                  </a:lnTo>
                  <a:lnTo>
                    <a:pt x="446377" y="189535"/>
                  </a:lnTo>
                  <a:lnTo>
                    <a:pt x="449141" y="175845"/>
                  </a:lnTo>
                  <a:lnTo>
                    <a:pt x="449141" y="35170"/>
                  </a:lnTo>
                  <a:lnTo>
                    <a:pt x="446377" y="21480"/>
                  </a:lnTo>
                  <a:lnTo>
                    <a:pt x="438840" y="10301"/>
                  </a:lnTo>
                  <a:lnTo>
                    <a:pt x="427661" y="2763"/>
                  </a:lnTo>
                  <a:lnTo>
                    <a:pt x="413971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837" y="3722913"/>
              <a:ext cx="7534909" cy="1363980"/>
            </a:xfrm>
            <a:custGeom>
              <a:avLst/>
              <a:gdLst/>
              <a:ahLst/>
              <a:cxnLst/>
              <a:rect l="l" t="t" r="r" b="b"/>
              <a:pathLst>
                <a:path w="7534909" h="1363979">
                  <a:moveTo>
                    <a:pt x="7534888" y="0"/>
                  </a:moveTo>
                  <a:lnTo>
                    <a:pt x="0" y="0"/>
                  </a:lnTo>
                  <a:lnTo>
                    <a:pt x="0" y="1363436"/>
                  </a:lnTo>
                  <a:lnTo>
                    <a:pt x="7534888" y="1363436"/>
                  </a:lnTo>
                  <a:lnTo>
                    <a:pt x="7534888" y="0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406398" y="946393"/>
            <a:ext cx="10281073" cy="1822027"/>
          </a:xfrm>
          <a:custGeom>
            <a:avLst/>
            <a:gdLst/>
            <a:ahLst/>
            <a:cxnLst/>
            <a:rect l="l" t="t" r="r" b="b"/>
            <a:pathLst>
              <a:path w="7710805" h="1366520">
                <a:moveTo>
                  <a:pt x="7710196" y="0"/>
                </a:moveTo>
                <a:lnTo>
                  <a:pt x="0" y="0"/>
                </a:lnTo>
                <a:lnTo>
                  <a:pt x="0" y="1366069"/>
                </a:lnTo>
                <a:lnTo>
                  <a:pt x="7710196" y="1366069"/>
                </a:lnTo>
                <a:lnTo>
                  <a:pt x="7710196" y="0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27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Method</a:t>
            </a:r>
            <a:r>
              <a:rPr spc="-33" dirty="0"/>
              <a:t> </a:t>
            </a:r>
            <a:r>
              <a:rPr dirty="0"/>
              <a:t>2:</a:t>
            </a:r>
            <a:r>
              <a:rPr spc="-13" dirty="0"/>
              <a:t> </a:t>
            </a:r>
            <a:r>
              <a:rPr dirty="0"/>
              <a:t>Use</a:t>
            </a:r>
            <a:r>
              <a:rPr spc="-13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external</a:t>
            </a:r>
            <a:r>
              <a:rPr spc="-13" dirty="0"/>
              <a:t> 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169753"/>
            <a:ext cx="10815320" cy="501092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9824" marR="309026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 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encode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3" dirty="0">
                <a:latin typeface="Calibri"/>
                <a:cs typeface="Calibri"/>
              </a:rPr>
              <a:t>factual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KBs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60"/>
              </a:spcBef>
              <a:buClr>
                <a:srgbClr val="8C1515"/>
              </a:buClr>
              <a:buFont typeface="Times New Roman"/>
              <a:buChar char="•"/>
            </a:pPr>
            <a:endParaRPr sz="3133">
              <a:latin typeface="Calibri"/>
              <a:cs typeface="Calibri"/>
            </a:endParaRPr>
          </a:p>
          <a:p>
            <a:pPr marL="359824" marR="6773" indent="-342891">
              <a:lnSpc>
                <a:spcPct val="102200"/>
              </a:lnSpc>
              <a:spcBef>
                <a:spcPts val="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there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more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direct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13" dirty="0">
                <a:latin typeface="Calibri"/>
                <a:cs typeface="Calibri"/>
              </a:rPr>
              <a:t>provide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factual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knowledge?</a:t>
            </a:r>
            <a:endParaRPr sz="2400">
              <a:latin typeface="Calibri"/>
              <a:cs typeface="Calibri"/>
            </a:endParaRPr>
          </a:p>
          <a:p>
            <a:pPr marL="359824" marR="206582" indent="-342891">
              <a:lnSpc>
                <a:spcPts val="2813"/>
              </a:lnSpc>
              <a:spcBef>
                <a:spcPts val="72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Answer</a:t>
            </a:r>
            <a:r>
              <a:rPr sz="2400" dirty="0">
                <a:latin typeface="Calibri"/>
                <a:cs typeface="Calibri"/>
              </a:rPr>
              <a:t>: Yes! Give the model access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an external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key-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KG triples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information)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00">
              <a:latin typeface="Calibri"/>
              <a:cs typeface="Calibri"/>
            </a:endParaRPr>
          </a:p>
          <a:p>
            <a:pPr marL="358978" indent="-342045"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Advantages: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612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Can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better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support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injecting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updating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factual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  <a:p>
            <a:pPr marL="1044761" lvl="2" indent="-227748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Often without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more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pretraining!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More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interpretable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28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-323011"/>
            <a:ext cx="11658601" cy="165744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dirty="0"/>
              <a:t>Barack's</a:t>
            </a:r>
            <a:r>
              <a:rPr spc="-7" dirty="0"/>
              <a:t> </a:t>
            </a:r>
            <a:r>
              <a:rPr dirty="0"/>
              <a:t>Wife Hillary: Using</a:t>
            </a:r>
            <a:r>
              <a:rPr spc="-7" dirty="0"/>
              <a:t> </a:t>
            </a:r>
            <a:r>
              <a:rPr spc="-13" dirty="0"/>
              <a:t>Knowledge-</a:t>
            </a:r>
            <a:r>
              <a:rPr dirty="0"/>
              <a:t>Graphs</a:t>
            </a:r>
            <a:r>
              <a:rPr spc="7" dirty="0"/>
              <a:t> </a:t>
            </a:r>
            <a:r>
              <a:rPr dirty="0"/>
              <a:t>for </a:t>
            </a:r>
            <a:r>
              <a:rPr spc="-13" dirty="0"/>
              <a:t>Fact-Aware </a:t>
            </a:r>
            <a:r>
              <a:rPr dirty="0"/>
              <a:t>Language</a:t>
            </a:r>
            <a:r>
              <a:rPr spc="-40" dirty="0"/>
              <a:t> </a:t>
            </a:r>
            <a:r>
              <a:rPr dirty="0"/>
              <a:t>Modeling</a:t>
            </a:r>
            <a:r>
              <a:rPr spc="-33" dirty="0"/>
              <a:t> </a:t>
            </a:r>
            <a:r>
              <a:rPr dirty="0"/>
              <a:t>(KGLM)</a:t>
            </a:r>
            <a:r>
              <a:rPr spc="-20" dirty="0"/>
              <a:t> </a:t>
            </a:r>
            <a:r>
              <a:rPr sz="2667" dirty="0"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Logan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ACL</a:t>
            </a:r>
            <a:r>
              <a:rPr sz="2667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sz="2667" spc="-13" dirty="0"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7882" y="3431850"/>
            <a:ext cx="942340" cy="368300"/>
          </a:xfrm>
          <a:custGeom>
            <a:avLst/>
            <a:gdLst/>
            <a:ahLst/>
            <a:cxnLst/>
            <a:rect l="l" t="t" r="r" b="b"/>
            <a:pathLst>
              <a:path w="706755" h="276225">
                <a:moveTo>
                  <a:pt x="706208" y="0"/>
                </a:moveTo>
                <a:lnTo>
                  <a:pt x="689019" y="0"/>
                </a:lnTo>
                <a:lnTo>
                  <a:pt x="689019" y="276150"/>
                </a:lnTo>
                <a:lnTo>
                  <a:pt x="706208" y="276150"/>
                </a:lnTo>
                <a:lnTo>
                  <a:pt x="706208" y="0"/>
                </a:lnTo>
                <a:close/>
              </a:path>
              <a:path w="706755" h="276225">
                <a:moveTo>
                  <a:pt x="72548" y="0"/>
                </a:moveTo>
                <a:lnTo>
                  <a:pt x="29288" y="30115"/>
                </a:lnTo>
                <a:lnTo>
                  <a:pt x="10605" y="67460"/>
                </a:lnTo>
                <a:lnTo>
                  <a:pt x="1173" y="112778"/>
                </a:lnTo>
                <a:lnTo>
                  <a:pt x="0" y="138186"/>
                </a:lnTo>
                <a:lnTo>
                  <a:pt x="1173" y="163370"/>
                </a:lnTo>
                <a:lnTo>
                  <a:pt x="10605" y="208688"/>
                </a:lnTo>
                <a:lnTo>
                  <a:pt x="29288" y="246032"/>
                </a:lnTo>
                <a:lnTo>
                  <a:pt x="72548" y="276150"/>
                </a:lnTo>
                <a:lnTo>
                  <a:pt x="75338" y="266997"/>
                </a:lnTo>
                <a:lnTo>
                  <a:pt x="62652" y="260422"/>
                </a:lnTo>
                <a:lnTo>
                  <a:pt x="51605" y="250854"/>
                </a:lnTo>
                <a:lnTo>
                  <a:pt x="28350" y="204666"/>
                </a:lnTo>
                <a:lnTo>
                  <a:pt x="21401" y="162390"/>
                </a:lnTo>
                <a:lnTo>
                  <a:pt x="20537" y="138074"/>
                </a:lnTo>
                <a:lnTo>
                  <a:pt x="21401" y="113929"/>
                </a:lnTo>
                <a:lnTo>
                  <a:pt x="28350" y="71569"/>
                </a:lnTo>
                <a:lnTo>
                  <a:pt x="51605" y="25309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7521" y="1584281"/>
            <a:ext cx="9664700" cy="30769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2844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92844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idea: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condition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(KG)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267">
              <a:latin typeface="Calibri"/>
              <a:cs typeface="Calibri"/>
            </a:endParaRPr>
          </a:p>
          <a:p>
            <a:pPr marL="392844" indent="-342045">
              <a:buClr>
                <a:srgbClr val="8C1515"/>
              </a:buClr>
              <a:buFont typeface="Times New Roman"/>
              <a:buChar char="•"/>
              <a:tabLst>
                <a:tab pos="392844" algn="l"/>
              </a:tabLst>
            </a:pPr>
            <a:r>
              <a:rPr sz="2400" dirty="0">
                <a:latin typeface="Calibri"/>
                <a:cs typeface="Calibri"/>
              </a:rPr>
              <a:t>Recall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 </a:t>
            </a:r>
            <a:r>
              <a:rPr sz="2400" spc="-13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7"/>
              </a:spcBef>
              <a:buClr>
                <a:srgbClr val="8C1515"/>
              </a:buClr>
              <a:buFont typeface="Times New Roman"/>
              <a:buChar char="•"/>
            </a:pPr>
            <a:endParaRPr sz="3533">
              <a:latin typeface="Calibri"/>
              <a:cs typeface="Calibri"/>
            </a:endParaRPr>
          </a:p>
          <a:p>
            <a:pPr marL="1269968"/>
            <a:r>
              <a:rPr sz="2400" dirty="0">
                <a:latin typeface="Cambria Math"/>
                <a:cs typeface="Cambria Math"/>
              </a:rPr>
              <a:t>P</a:t>
            </a:r>
            <a:r>
              <a:rPr sz="2400" spc="65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00" baseline="27777" dirty="0">
                <a:latin typeface="Cambria Math"/>
                <a:cs typeface="Cambria Math"/>
              </a:rPr>
              <a:t>(𝑡+1)</a:t>
            </a:r>
            <a:r>
              <a:rPr sz="2600" spc="869" baseline="27777" dirty="0">
                <a:latin typeface="Cambria Math"/>
                <a:cs typeface="Cambria Math"/>
              </a:rPr>
              <a:t> </a:t>
            </a:r>
            <a:r>
              <a:rPr sz="2400" spc="73" dirty="0">
                <a:latin typeface="Cambria Math"/>
                <a:cs typeface="Cambria Math"/>
              </a:rPr>
              <a:t>𝑥</a:t>
            </a:r>
            <a:r>
              <a:rPr sz="2600" spc="109" baseline="27777" dirty="0">
                <a:latin typeface="Cambria Math"/>
                <a:cs typeface="Cambria Math"/>
              </a:rPr>
              <a:t>(𝑡)</a:t>
            </a:r>
            <a:r>
              <a:rPr sz="2400" spc="73" dirty="0">
                <a:latin typeface="Cambria Math"/>
                <a:cs typeface="Cambria Math"/>
              </a:rPr>
              <a:t>,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00" baseline="27777" dirty="0">
                <a:latin typeface="Cambria Math"/>
                <a:cs typeface="Cambria Math"/>
              </a:rPr>
              <a:t>(1)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00" baseline="27777" dirty="0">
                <a:latin typeface="Cambria Math"/>
                <a:cs typeface="Cambria Math"/>
              </a:rPr>
              <a:t>(1)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87" dirty="0">
                <a:latin typeface="Cambria Math"/>
                <a:cs typeface="Cambria Math"/>
              </a:rPr>
              <a:t> </a:t>
            </a:r>
            <a:r>
              <a:rPr sz="2400" spc="67" dirty="0">
                <a:latin typeface="Cambria Math"/>
                <a:cs typeface="Cambria Math"/>
              </a:rPr>
              <a:t>𝑥</a:t>
            </a:r>
            <a:r>
              <a:rPr sz="2600" spc="100" baseline="27777" dirty="0">
                <a:latin typeface="Cambria Math"/>
                <a:cs typeface="Cambria Math"/>
              </a:rPr>
              <a:t>(𝑡)</a:t>
            </a:r>
            <a:r>
              <a:rPr sz="2600" spc="489" baseline="2777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7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words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40"/>
              </a:spcBef>
            </a:pPr>
            <a:endParaRPr sz="3400">
              <a:latin typeface="Calibri"/>
              <a:cs typeface="Calibri"/>
            </a:endParaRPr>
          </a:p>
          <a:p>
            <a:pPr marL="392844" indent="-342045">
              <a:buClr>
                <a:srgbClr val="8C1515"/>
              </a:buClr>
              <a:buFont typeface="Times New Roman"/>
              <a:buChar char="•"/>
              <a:tabLst>
                <a:tab pos="392844" algn="l"/>
              </a:tabLst>
            </a:pPr>
            <a:r>
              <a:rPr sz="2400" dirty="0">
                <a:latin typeface="Calibri"/>
                <a:cs typeface="Calibri"/>
              </a:rPr>
              <a:t>Now,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next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 using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4687" y="5159049"/>
            <a:ext cx="1822027" cy="368300"/>
          </a:xfrm>
          <a:custGeom>
            <a:avLst/>
            <a:gdLst/>
            <a:ahLst/>
            <a:cxnLst/>
            <a:rect l="l" t="t" r="r" b="b"/>
            <a:pathLst>
              <a:path w="1366520" h="276225">
                <a:moveTo>
                  <a:pt x="1366227" y="0"/>
                </a:moveTo>
                <a:lnTo>
                  <a:pt x="1349038" y="0"/>
                </a:lnTo>
                <a:lnTo>
                  <a:pt x="1349038" y="276151"/>
                </a:lnTo>
                <a:lnTo>
                  <a:pt x="1366227" y="276151"/>
                </a:lnTo>
                <a:lnTo>
                  <a:pt x="1366227" y="0"/>
                </a:lnTo>
                <a:close/>
              </a:path>
              <a:path w="1366520" h="276225">
                <a:moveTo>
                  <a:pt x="72548" y="0"/>
                </a:moveTo>
                <a:lnTo>
                  <a:pt x="29288" y="30117"/>
                </a:lnTo>
                <a:lnTo>
                  <a:pt x="10605" y="67461"/>
                </a:lnTo>
                <a:lnTo>
                  <a:pt x="1173" y="112779"/>
                </a:lnTo>
                <a:lnTo>
                  <a:pt x="0" y="138187"/>
                </a:lnTo>
                <a:lnTo>
                  <a:pt x="1173" y="163371"/>
                </a:lnTo>
                <a:lnTo>
                  <a:pt x="10605" y="208690"/>
                </a:lnTo>
                <a:lnTo>
                  <a:pt x="29288" y="246034"/>
                </a:lnTo>
                <a:lnTo>
                  <a:pt x="72548" y="276151"/>
                </a:lnTo>
                <a:lnTo>
                  <a:pt x="75338" y="266998"/>
                </a:lnTo>
                <a:lnTo>
                  <a:pt x="62652" y="260423"/>
                </a:lnTo>
                <a:lnTo>
                  <a:pt x="51605" y="250855"/>
                </a:lnTo>
                <a:lnTo>
                  <a:pt x="28350" y="204668"/>
                </a:lnTo>
                <a:lnTo>
                  <a:pt x="21401" y="162391"/>
                </a:lnTo>
                <a:lnTo>
                  <a:pt x="20537" y="138075"/>
                </a:lnTo>
                <a:lnTo>
                  <a:pt x="21401" y="113930"/>
                </a:lnTo>
                <a:lnTo>
                  <a:pt x="28350" y="71570"/>
                </a:lnTo>
                <a:lnTo>
                  <a:pt x="51605" y="25310"/>
                </a:lnTo>
                <a:lnTo>
                  <a:pt x="75338" y="9153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1927" y="5153822"/>
            <a:ext cx="274155" cy="2039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6269" y="5153822"/>
            <a:ext cx="248332" cy="2039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88486" y="5153822"/>
            <a:ext cx="274157" cy="2039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93525" y="4998043"/>
            <a:ext cx="51468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600" baseline="-20061" dirty="0">
                <a:latin typeface="Cambria Math"/>
                <a:cs typeface="Cambria Math"/>
              </a:rPr>
              <a:t>P</a:t>
            </a:r>
            <a:r>
              <a:rPr sz="3600" spc="920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𝑥</a:t>
            </a:r>
            <a:r>
              <a:rPr sz="1733" dirty="0">
                <a:latin typeface="Cambria Math"/>
                <a:cs typeface="Cambria Math"/>
              </a:rPr>
              <a:t>(𝑡+1)</a:t>
            </a:r>
            <a:r>
              <a:rPr sz="3600" baseline="-20061" dirty="0">
                <a:latin typeface="Cambria Math"/>
                <a:cs typeface="Cambria Math"/>
              </a:rPr>
              <a:t>,</a:t>
            </a:r>
            <a:r>
              <a:rPr sz="3600" spc="-14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ℇ</a:t>
            </a:r>
            <a:r>
              <a:rPr sz="1733" dirty="0">
                <a:latin typeface="Cambria Math"/>
                <a:cs typeface="Cambria Math"/>
              </a:rPr>
              <a:t>(𝑡+1)</a:t>
            </a:r>
            <a:r>
              <a:rPr sz="1733" spc="540" dirty="0">
                <a:latin typeface="Cambria Math"/>
                <a:cs typeface="Cambria Math"/>
              </a:rPr>
              <a:t> </a:t>
            </a:r>
            <a:r>
              <a:rPr sz="3600" spc="109" baseline="-20061" dirty="0">
                <a:latin typeface="Cambria Math"/>
                <a:cs typeface="Cambria Math"/>
              </a:rPr>
              <a:t>𝑥</a:t>
            </a:r>
            <a:r>
              <a:rPr sz="1733" spc="73" dirty="0">
                <a:latin typeface="Cambria Math"/>
                <a:cs typeface="Cambria Math"/>
              </a:rPr>
              <a:t>(𝑡)</a:t>
            </a:r>
            <a:r>
              <a:rPr sz="3600" spc="109" baseline="-20061" dirty="0">
                <a:latin typeface="Cambria Math"/>
                <a:cs typeface="Cambria Math"/>
              </a:rPr>
              <a:t>,</a:t>
            </a:r>
            <a:r>
              <a:rPr sz="3600" spc="-14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…</a:t>
            </a:r>
            <a:r>
              <a:rPr sz="3600" spc="-160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,</a:t>
            </a:r>
            <a:r>
              <a:rPr sz="3600" spc="-160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𝑥</a:t>
            </a:r>
            <a:r>
              <a:rPr sz="3600" spc="589" baseline="-20061" dirty="0">
                <a:latin typeface="Cambria Math"/>
                <a:cs typeface="Cambria Math"/>
              </a:rPr>
              <a:t> </a:t>
            </a:r>
            <a:r>
              <a:rPr sz="1733" dirty="0">
                <a:latin typeface="Cambria Math"/>
                <a:cs typeface="Cambria Math"/>
              </a:rPr>
              <a:t>1</a:t>
            </a:r>
            <a:r>
              <a:rPr sz="1733" spc="507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,</a:t>
            </a:r>
            <a:r>
              <a:rPr sz="3600" spc="-14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ℇ</a:t>
            </a:r>
            <a:r>
              <a:rPr sz="3600" spc="369" baseline="-20061" dirty="0">
                <a:latin typeface="Cambria Math"/>
                <a:cs typeface="Cambria Math"/>
              </a:rPr>
              <a:t> </a:t>
            </a:r>
            <a:r>
              <a:rPr sz="1733" spc="73" dirty="0">
                <a:latin typeface="Cambria Math"/>
                <a:cs typeface="Cambria Math"/>
              </a:rPr>
              <a:t>𝑡</a:t>
            </a:r>
            <a:r>
              <a:rPr sz="1733" spc="540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,</a:t>
            </a:r>
            <a:r>
              <a:rPr sz="3600" spc="-14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…</a:t>
            </a:r>
            <a:r>
              <a:rPr sz="3600" spc="-16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,</a:t>
            </a:r>
            <a:r>
              <a:rPr sz="3600" spc="-149" baseline="-20061" dirty="0">
                <a:latin typeface="Cambria Math"/>
                <a:cs typeface="Cambria Math"/>
              </a:rPr>
              <a:t> </a:t>
            </a:r>
            <a:r>
              <a:rPr sz="3600" baseline="-20061" dirty="0">
                <a:latin typeface="Cambria Math"/>
                <a:cs typeface="Cambria Math"/>
              </a:rPr>
              <a:t>ℇ</a:t>
            </a:r>
            <a:r>
              <a:rPr sz="3600" spc="369" baseline="-20061" dirty="0">
                <a:latin typeface="Cambria Math"/>
                <a:cs typeface="Cambria Math"/>
              </a:rPr>
              <a:t> </a:t>
            </a:r>
            <a:r>
              <a:rPr sz="1733" spc="-67" dirty="0">
                <a:latin typeface="Cambria Math"/>
                <a:cs typeface="Cambria Math"/>
              </a:rPr>
              <a:t>1</a:t>
            </a:r>
            <a:endParaRPr sz="1733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29480" y="5107771"/>
            <a:ext cx="1608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99802" y="5644889"/>
            <a:ext cx="248332" cy="20390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96719" y="5599513"/>
            <a:ext cx="74743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1453690" algn="l"/>
              </a:tabLst>
            </a:pPr>
            <a:r>
              <a:rPr sz="2400" dirty="0">
                <a:latin typeface="Calibri"/>
                <a:cs typeface="Calibri"/>
              </a:rPr>
              <a:t>where </a:t>
            </a:r>
            <a:r>
              <a:rPr sz="2400" dirty="0">
                <a:latin typeface="Cambria Math"/>
                <a:cs typeface="Cambria Math"/>
              </a:rPr>
              <a:t>ℇ</a:t>
            </a:r>
            <a:r>
              <a:rPr sz="2400" spc="200" dirty="0">
                <a:latin typeface="Cambria Math"/>
                <a:cs typeface="Cambria Math"/>
              </a:rPr>
              <a:t> </a:t>
            </a:r>
            <a:r>
              <a:rPr sz="2600" spc="9" baseline="27777" dirty="0">
                <a:latin typeface="Cambria Math"/>
                <a:cs typeface="Cambria Math"/>
              </a:rPr>
              <a:t>𝑡</a:t>
            </a:r>
            <a:r>
              <a:rPr sz="2600" baseline="27777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KG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mentioned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timestep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𝑡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29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r>
              <a:rPr spc="-33" dirty="0"/>
              <a:t> </a:t>
            </a:r>
            <a:r>
              <a:rPr b="0" dirty="0">
                <a:latin typeface="Calibri"/>
                <a:cs typeface="Calibri"/>
              </a:rPr>
              <a:t>[</a:t>
            </a:r>
            <a:r>
              <a:rPr lang="en-US" sz="40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Logan</a:t>
            </a:r>
            <a:r>
              <a:rPr lang="en-US" sz="40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lang="en-US" sz="40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lang="en-US" sz="40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lang="en-US" sz="40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lang="en-US" sz="40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lang="en-US" sz="40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ACL</a:t>
            </a:r>
            <a:r>
              <a:rPr lang="en-US" sz="40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lang="en-US" sz="40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2019</a:t>
            </a:r>
            <a:r>
              <a:rPr spc="-13" dirty="0">
                <a:latin typeface="Calibri"/>
                <a:cs typeface="Calibri"/>
              </a:rPr>
              <a:t>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4186" y="2626361"/>
            <a:ext cx="2515447" cy="2679700"/>
            <a:chOff x="1945639" y="1969770"/>
            <a:chExt cx="1886585" cy="2009775"/>
          </a:xfrm>
        </p:grpSpPr>
        <p:sp>
          <p:nvSpPr>
            <p:cNvPr id="4" name="object 4"/>
            <p:cNvSpPr/>
            <p:nvPr/>
          </p:nvSpPr>
          <p:spPr>
            <a:xfrm>
              <a:off x="1945639" y="1969770"/>
              <a:ext cx="1651000" cy="12700"/>
            </a:xfrm>
            <a:custGeom>
              <a:avLst/>
              <a:gdLst/>
              <a:ahLst/>
              <a:cxnLst/>
              <a:rect l="l" t="t" r="r" b="b"/>
              <a:pathLst>
                <a:path w="1651000" h="12700">
                  <a:moveTo>
                    <a:pt x="1651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</a:pathLst>
            </a:custGeom>
            <a:solidFill>
              <a:srgbClr val="3A8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87120" y="3603142"/>
              <a:ext cx="1438910" cy="246379"/>
            </a:xfrm>
            <a:custGeom>
              <a:avLst/>
              <a:gdLst/>
              <a:ahLst/>
              <a:cxnLst/>
              <a:rect l="l" t="t" r="r" b="b"/>
              <a:pathLst>
                <a:path w="1438910" h="246379">
                  <a:moveTo>
                    <a:pt x="0" y="246359"/>
                  </a:moveTo>
                  <a:lnTo>
                    <a:pt x="0" y="49271"/>
                  </a:lnTo>
                  <a:lnTo>
                    <a:pt x="3858" y="30058"/>
                  </a:lnTo>
                  <a:lnTo>
                    <a:pt x="14395" y="14400"/>
                  </a:lnTo>
                  <a:lnTo>
                    <a:pt x="30052" y="3860"/>
                  </a:lnTo>
                  <a:lnTo>
                    <a:pt x="49272" y="0"/>
                  </a:lnTo>
                  <a:lnTo>
                    <a:pt x="1389469" y="0"/>
                  </a:lnTo>
                  <a:lnTo>
                    <a:pt x="1408682" y="3860"/>
                  </a:lnTo>
                  <a:lnTo>
                    <a:pt x="1424340" y="14400"/>
                  </a:lnTo>
                  <a:lnTo>
                    <a:pt x="1434880" y="30058"/>
                  </a:lnTo>
                  <a:lnTo>
                    <a:pt x="1438741" y="49271"/>
                  </a:lnTo>
                  <a:lnTo>
                    <a:pt x="1438741" y="246359"/>
                  </a:lnTo>
                </a:path>
              </a:pathLst>
            </a:custGeom>
            <a:ln w="12317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87120" y="3849502"/>
              <a:ext cx="1438910" cy="123189"/>
            </a:xfrm>
            <a:custGeom>
              <a:avLst/>
              <a:gdLst/>
              <a:ahLst/>
              <a:cxnLst/>
              <a:rect l="l" t="t" r="r" b="b"/>
              <a:pathLst>
                <a:path w="1438910" h="123189">
                  <a:moveTo>
                    <a:pt x="1389469" y="123179"/>
                  </a:moveTo>
                  <a:lnTo>
                    <a:pt x="49272" y="123179"/>
                  </a:lnTo>
                  <a:lnTo>
                    <a:pt x="30052" y="119321"/>
                  </a:lnTo>
                  <a:lnTo>
                    <a:pt x="14395" y="108784"/>
                  </a:lnTo>
                  <a:lnTo>
                    <a:pt x="3858" y="93127"/>
                  </a:lnTo>
                  <a:lnTo>
                    <a:pt x="0" y="73907"/>
                  </a:lnTo>
                  <a:lnTo>
                    <a:pt x="0" y="0"/>
                  </a:lnTo>
                  <a:lnTo>
                    <a:pt x="1438741" y="0"/>
                  </a:lnTo>
                  <a:lnTo>
                    <a:pt x="1438741" y="73907"/>
                  </a:lnTo>
                  <a:lnTo>
                    <a:pt x="1434880" y="93127"/>
                  </a:lnTo>
                  <a:lnTo>
                    <a:pt x="1424340" y="108784"/>
                  </a:lnTo>
                  <a:lnTo>
                    <a:pt x="1408682" y="119321"/>
                  </a:lnTo>
                  <a:lnTo>
                    <a:pt x="1389469" y="123179"/>
                  </a:lnTo>
                  <a:close/>
                </a:path>
              </a:pathLst>
            </a:custGeom>
            <a:solidFill>
              <a:srgbClr val="D95F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7120" y="3849502"/>
              <a:ext cx="1438910" cy="123189"/>
            </a:xfrm>
            <a:custGeom>
              <a:avLst/>
              <a:gdLst/>
              <a:ahLst/>
              <a:cxnLst/>
              <a:rect l="l" t="t" r="r" b="b"/>
              <a:pathLst>
                <a:path w="1438910" h="123189">
                  <a:moveTo>
                    <a:pt x="1438741" y="0"/>
                  </a:moveTo>
                  <a:lnTo>
                    <a:pt x="1438741" y="73907"/>
                  </a:lnTo>
                  <a:lnTo>
                    <a:pt x="1434880" y="93127"/>
                  </a:lnTo>
                  <a:lnTo>
                    <a:pt x="1424340" y="108784"/>
                  </a:lnTo>
                  <a:lnTo>
                    <a:pt x="1408682" y="119321"/>
                  </a:lnTo>
                  <a:lnTo>
                    <a:pt x="1389469" y="123179"/>
                  </a:lnTo>
                  <a:lnTo>
                    <a:pt x="49272" y="123179"/>
                  </a:lnTo>
                  <a:lnTo>
                    <a:pt x="30052" y="119321"/>
                  </a:lnTo>
                  <a:lnTo>
                    <a:pt x="14395" y="108784"/>
                  </a:lnTo>
                  <a:lnTo>
                    <a:pt x="3858" y="93127"/>
                  </a:lnTo>
                  <a:lnTo>
                    <a:pt x="0" y="73907"/>
                  </a:lnTo>
                  <a:lnTo>
                    <a:pt x="0" y="0"/>
                  </a:lnTo>
                </a:path>
              </a:pathLst>
            </a:custGeom>
            <a:ln w="12317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1387" y="5794587"/>
            <a:ext cx="82719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solidFill>
                  <a:srgbClr val="3A87FF"/>
                </a:solidFill>
                <a:latin typeface="Calibri"/>
                <a:cs typeface="Calibri"/>
              </a:rPr>
              <a:t>When</a:t>
            </a:r>
            <a:r>
              <a:rPr sz="2400" b="1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 the LM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use the local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KG</a:t>
            </a:r>
            <a:r>
              <a:rPr sz="2400" spc="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predict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the next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word</a:t>
            </a:r>
            <a:r>
              <a:rPr sz="2400" spc="-13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9177" y="4759275"/>
            <a:ext cx="1804247" cy="529270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67" spc="220" dirty="0">
                <a:solidFill>
                  <a:srgbClr val="D95F02"/>
                </a:solidFill>
                <a:latin typeface="Trebuchet MS"/>
                <a:cs typeface="Trebuchet MS"/>
              </a:rPr>
              <a:t>21</a:t>
            </a:r>
            <a:r>
              <a:rPr sz="2067" spc="27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67" spc="67" dirty="0">
                <a:solidFill>
                  <a:srgbClr val="D95F02"/>
                </a:solidFill>
                <a:latin typeface="Trebuchet MS"/>
                <a:cs typeface="Trebuchet MS"/>
              </a:rPr>
              <a:t>April</a:t>
            </a:r>
            <a:r>
              <a:rPr sz="2067" spc="33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67" spc="193" dirty="0">
                <a:solidFill>
                  <a:srgbClr val="D95F02"/>
                </a:solidFill>
                <a:latin typeface="Trebuchet MS"/>
                <a:cs typeface="Trebuchet MS"/>
              </a:rPr>
              <a:t>1989</a:t>
            </a:r>
            <a:endParaRPr sz="2067">
              <a:latin typeface="Trebuchet MS"/>
              <a:cs typeface="Trebuchet MS"/>
            </a:endParaRPr>
          </a:p>
          <a:p>
            <a:pPr marL="847" algn="ctr">
              <a:spcBef>
                <a:spcPts val="140"/>
              </a:spcBef>
            </a:pPr>
            <a:r>
              <a:rPr sz="1000" spc="60" dirty="0">
                <a:solidFill>
                  <a:srgbClr val="FFFFFF"/>
                </a:solidFill>
                <a:latin typeface="Trebuchet MS"/>
                <a:cs typeface="Trebuchet MS"/>
              </a:rPr>
              <a:t>Date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94785" y="4795723"/>
            <a:ext cx="2060787" cy="509693"/>
            <a:chOff x="4196089" y="3596792"/>
            <a:chExt cx="1545590" cy="382270"/>
          </a:xfrm>
        </p:grpSpPr>
        <p:sp>
          <p:nvSpPr>
            <p:cNvPr id="11" name="object 11"/>
            <p:cNvSpPr/>
            <p:nvPr/>
          </p:nvSpPr>
          <p:spPr>
            <a:xfrm>
              <a:off x="4202439" y="3603142"/>
              <a:ext cx="1532890" cy="246379"/>
            </a:xfrm>
            <a:custGeom>
              <a:avLst/>
              <a:gdLst/>
              <a:ahLst/>
              <a:cxnLst/>
              <a:rect l="l" t="t" r="r" b="b"/>
              <a:pathLst>
                <a:path w="1532889" h="246379">
                  <a:moveTo>
                    <a:pt x="0" y="246359"/>
                  </a:moveTo>
                  <a:lnTo>
                    <a:pt x="0" y="49271"/>
                  </a:lnTo>
                  <a:lnTo>
                    <a:pt x="3860" y="30058"/>
                  </a:lnTo>
                  <a:lnTo>
                    <a:pt x="14400" y="14400"/>
                  </a:lnTo>
                  <a:lnTo>
                    <a:pt x="30058" y="3860"/>
                  </a:lnTo>
                  <a:lnTo>
                    <a:pt x="49272" y="0"/>
                  </a:lnTo>
                  <a:lnTo>
                    <a:pt x="1483083" y="0"/>
                  </a:lnTo>
                  <a:lnTo>
                    <a:pt x="1502301" y="3860"/>
                  </a:lnTo>
                  <a:lnTo>
                    <a:pt x="1517959" y="14400"/>
                  </a:lnTo>
                  <a:lnTo>
                    <a:pt x="1528496" y="30058"/>
                  </a:lnTo>
                  <a:lnTo>
                    <a:pt x="1532355" y="49271"/>
                  </a:lnTo>
                  <a:lnTo>
                    <a:pt x="1532355" y="246359"/>
                  </a:lnTo>
                </a:path>
              </a:pathLst>
            </a:custGeom>
            <a:ln w="12317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02439" y="3849502"/>
              <a:ext cx="1532890" cy="123189"/>
            </a:xfrm>
            <a:custGeom>
              <a:avLst/>
              <a:gdLst/>
              <a:ahLst/>
              <a:cxnLst/>
              <a:rect l="l" t="t" r="r" b="b"/>
              <a:pathLst>
                <a:path w="1532889" h="123189">
                  <a:moveTo>
                    <a:pt x="1483083" y="123179"/>
                  </a:moveTo>
                  <a:lnTo>
                    <a:pt x="49272" y="123179"/>
                  </a:lnTo>
                  <a:lnTo>
                    <a:pt x="30058" y="119321"/>
                  </a:lnTo>
                  <a:lnTo>
                    <a:pt x="14400" y="108784"/>
                  </a:lnTo>
                  <a:lnTo>
                    <a:pt x="3860" y="93127"/>
                  </a:lnTo>
                  <a:lnTo>
                    <a:pt x="0" y="73907"/>
                  </a:lnTo>
                  <a:lnTo>
                    <a:pt x="0" y="0"/>
                  </a:lnTo>
                  <a:lnTo>
                    <a:pt x="1532355" y="0"/>
                  </a:lnTo>
                  <a:lnTo>
                    <a:pt x="1532355" y="73907"/>
                  </a:lnTo>
                  <a:lnTo>
                    <a:pt x="1528496" y="93127"/>
                  </a:lnTo>
                  <a:lnTo>
                    <a:pt x="1517959" y="108784"/>
                  </a:lnTo>
                  <a:lnTo>
                    <a:pt x="1502301" y="119321"/>
                  </a:lnTo>
                  <a:lnTo>
                    <a:pt x="1483083" y="123179"/>
                  </a:lnTo>
                  <a:close/>
                </a:path>
              </a:pathLst>
            </a:custGeom>
            <a:solidFill>
              <a:srgbClr val="E72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2439" y="3849502"/>
              <a:ext cx="1532890" cy="123189"/>
            </a:xfrm>
            <a:custGeom>
              <a:avLst/>
              <a:gdLst/>
              <a:ahLst/>
              <a:cxnLst/>
              <a:rect l="l" t="t" r="r" b="b"/>
              <a:pathLst>
                <a:path w="1532889" h="123189">
                  <a:moveTo>
                    <a:pt x="1532355" y="0"/>
                  </a:moveTo>
                  <a:lnTo>
                    <a:pt x="1532355" y="73907"/>
                  </a:lnTo>
                  <a:lnTo>
                    <a:pt x="1528496" y="93127"/>
                  </a:lnTo>
                  <a:lnTo>
                    <a:pt x="1517959" y="108784"/>
                  </a:lnTo>
                  <a:lnTo>
                    <a:pt x="1502301" y="119321"/>
                  </a:lnTo>
                  <a:lnTo>
                    <a:pt x="1483083" y="123179"/>
                  </a:lnTo>
                  <a:lnTo>
                    <a:pt x="49272" y="123179"/>
                  </a:lnTo>
                  <a:lnTo>
                    <a:pt x="30058" y="119321"/>
                  </a:lnTo>
                  <a:lnTo>
                    <a:pt x="14400" y="108784"/>
                  </a:lnTo>
                  <a:lnTo>
                    <a:pt x="3860" y="93127"/>
                  </a:lnTo>
                  <a:lnTo>
                    <a:pt x="0" y="73907"/>
                  </a:lnTo>
                  <a:lnTo>
                    <a:pt x="0" y="0"/>
                  </a:lnTo>
                </a:path>
              </a:pathLst>
            </a:custGeom>
            <a:ln w="12317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34767" y="4759275"/>
            <a:ext cx="1978660" cy="529270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67" spc="80" dirty="0">
                <a:solidFill>
                  <a:srgbClr val="E7298A"/>
                </a:solidFill>
                <a:latin typeface="Trebuchet MS"/>
                <a:cs typeface="Trebuchet MS"/>
              </a:rPr>
              <a:t>platform</a:t>
            </a:r>
            <a:r>
              <a:rPr sz="2067" spc="53" dirty="0">
                <a:solidFill>
                  <a:srgbClr val="E7298A"/>
                </a:solidFill>
                <a:latin typeface="Trebuchet MS"/>
                <a:cs typeface="Trebuchet MS"/>
              </a:rPr>
              <a:t> </a:t>
            </a:r>
            <a:r>
              <a:rPr sz="2067" spc="180" dirty="0">
                <a:solidFill>
                  <a:srgbClr val="E7298A"/>
                </a:solidFill>
                <a:latin typeface="Trebuchet MS"/>
                <a:cs typeface="Trebuchet MS"/>
              </a:rPr>
              <a:t>game</a:t>
            </a:r>
            <a:endParaRPr sz="2067">
              <a:latin typeface="Trebuchet MS"/>
              <a:cs typeface="Trebuchet MS"/>
            </a:endParaRPr>
          </a:p>
          <a:p>
            <a:pPr marL="847" algn="ctr">
              <a:spcBef>
                <a:spcPts val="140"/>
              </a:spcBef>
            </a:pPr>
            <a:r>
              <a:rPr sz="1000" spc="107" dirty="0">
                <a:solidFill>
                  <a:srgbClr val="FFFFFF"/>
                </a:solidFill>
                <a:latin typeface="Trebuchet MS"/>
                <a:cs typeface="Trebuchet MS"/>
              </a:rPr>
              <a:t>Q828322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16793" y="3206466"/>
            <a:ext cx="1357207" cy="509693"/>
            <a:chOff x="5187594" y="2404849"/>
            <a:chExt cx="1017905" cy="382270"/>
          </a:xfrm>
        </p:grpSpPr>
        <p:sp>
          <p:nvSpPr>
            <p:cNvPr id="16" name="object 16"/>
            <p:cNvSpPr/>
            <p:nvPr/>
          </p:nvSpPr>
          <p:spPr>
            <a:xfrm>
              <a:off x="5193944" y="2411199"/>
              <a:ext cx="1005205" cy="246379"/>
            </a:xfrm>
            <a:custGeom>
              <a:avLst/>
              <a:gdLst/>
              <a:ahLst/>
              <a:cxnLst/>
              <a:rect l="l" t="t" r="r" b="b"/>
              <a:pathLst>
                <a:path w="1005204" h="246380">
                  <a:moveTo>
                    <a:pt x="0" y="246359"/>
                  </a:moveTo>
                  <a:lnTo>
                    <a:pt x="0" y="49271"/>
                  </a:lnTo>
                  <a:lnTo>
                    <a:pt x="3860" y="30053"/>
                  </a:lnTo>
                  <a:lnTo>
                    <a:pt x="14399" y="14396"/>
                  </a:lnTo>
                  <a:lnTo>
                    <a:pt x="30057" y="3858"/>
                  </a:lnTo>
                  <a:lnTo>
                    <a:pt x="49272" y="0"/>
                  </a:lnTo>
                  <a:lnTo>
                    <a:pt x="955872" y="0"/>
                  </a:lnTo>
                  <a:lnTo>
                    <a:pt x="975085" y="3858"/>
                  </a:lnTo>
                  <a:lnTo>
                    <a:pt x="990743" y="14396"/>
                  </a:lnTo>
                  <a:lnTo>
                    <a:pt x="1001283" y="30053"/>
                  </a:lnTo>
                  <a:lnTo>
                    <a:pt x="1005144" y="49271"/>
                  </a:lnTo>
                  <a:lnTo>
                    <a:pt x="1005144" y="246359"/>
                  </a:lnTo>
                </a:path>
              </a:pathLst>
            </a:custGeom>
            <a:ln w="12317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3944" y="2657559"/>
              <a:ext cx="1005205" cy="123189"/>
            </a:xfrm>
            <a:custGeom>
              <a:avLst/>
              <a:gdLst/>
              <a:ahLst/>
              <a:cxnLst/>
              <a:rect l="l" t="t" r="r" b="b"/>
              <a:pathLst>
                <a:path w="1005204" h="123189">
                  <a:moveTo>
                    <a:pt x="955872" y="123179"/>
                  </a:moveTo>
                  <a:lnTo>
                    <a:pt x="49272" y="123179"/>
                  </a:lnTo>
                  <a:lnTo>
                    <a:pt x="30057" y="119319"/>
                  </a:lnTo>
                  <a:lnTo>
                    <a:pt x="14399" y="108778"/>
                  </a:lnTo>
                  <a:lnTo>
                    <a:pt x="3860" y="93121"/>
                  </a:lnTo>
                  <a:lnTo>
                    <a:pt x="0" y="73907"/>
                  </a:lnTo>
                  <a:lnTo>
                    <a:pt x="0" y="0"/>
                  </a:lnTo>
                  <a:lnTo>
                    <a:pt x="1005144" y="0"/>
                  </a:lnTo>
                  <a:lnTo>
                    <a:pt x="1005144" y="73907"/>
                  </a:lnTo>
                  <a:lnTo>
                    <a:pt x="1001283" y="93121"/>
                  </a:lnTo>
                  <a:lnTo>
                    <a:pt x="990743" y="108778"/>
                  </a:lnTo>
                  <a:lnTo>
                    <a:pt x="975085" y="119319"/>
                  </a:lnTo>
                  <a:lnTo>
                    <a:pt x="955872" y="123179"/>
                  </a:lnTo>
                  <a:close/>
                </a:path>
              </a:pathLst>
            </a:custGeom>
            <a:solidFill>
              <a:srgbClr val="66A6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93944" y="2657559"/>
              <a:ext cx="1005205" cy="123189"/>
            </a:xfrm>
            <a:custGeom>
              <a:avLst/>
              <a:gdLst/>
              <a:ahLst/>
              <a:cxnLst/>
              <a:rect l="l" t="t" r="r" b="b"/>
              <a:pathLst>
                <a:path w="1005204" h="123189">
                  <a:moveTo>
                    <a:pt x="1005144" y="0"/>
                  </a:moveTo>
                  <a:lnTo>
                    <a:pt x="1005144" y="73907"/>
                  </a:lnTo>
                  <a:lnTo>
                    <a:pt x="1001283" y="93121"/>
                  </a:lnTo>
                  <a:lnTo>
                    <a:pt x="990743" y="108778"/>
                  </a:lnTo>
                  <a:lnTo>
                    <a:pt x="975085" y="119319"/>
                  </a:lnTo>
                  <a:lnTo>
                    <a:pt x="955872" y="123179"/>
                  </a:lnTo>
                  <a:lnTo>
                    <a:pt x="49272" y="123179"/>
                  </a:lnTo>
                  <a:lnTo>
                    <a:pt x="30057" y="119319"/>
                  </a:lnTo>
                  <a:lnTo>
                    <a:pt x="14399" y="108778"/>
                  </a:lnTo>
                  <a:lnTo>
                    <a:pt x="3860" y="93121"/>
                  </a:lnTo>
                  <a:lnTo>
                    <a:pt x="0" y="73907"/>
                  </a:lnTo>
                  <a:lnTo>
                    <a:pt x="0" y="0"/>
                  </a:lnTo>
                </a:path>
              </a:pathLst>
            </a:custGeom>
            <a:ln w="12317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80740" y="3170002"/>
            <a:ext cx="1228513" cy="529270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67" spc="107" dirty="0">
                <a:solidFill>
                  <a:srgbClr val="66A61E"/>
                </a:solidFill>
                <a:latin typeface="Trebuchet MS"/>
                <a:cs typeface="Trebuchet MS"/>
              </a:rPr>
              <a:t>Nintendo</a:t>
            </a:r>
            <a:endParaRPr sz="2067">
              <a:latin typeface="Trebuchet MS"/>
              <a:cs typeface="Trebuchet MS"/>
            </a:endParaRPr>
          </a:p>
          <a:p>
            <a:pPr algn="ctr">
              <a:spcBef>
                <a:spcPts val="140"/>
              </a:spcBef>
            </a:pPr>
            <a:r>
              <a:rPr sz="1000" spc="107" dirty="0">
                <a:solidFill>
                  <a:srgbClr val="FFFFFF"/>
                </a:solidFill>
                <a:latin typeface="Trebuchet MS"/>
                <a:cs typeface="Trebuchet MS"/>
              </a:rPr>
              <a:t>Q8093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57559" y="3206466"/>
            <a:ext cx="2520527" cy="509693"/>
            <a:chOff x="2218169" y="2404849"/>
            <a:chExt cx="1890395" cy="382270"/>
          </a:xfrm>
        </p:grpSpPr>
        <p:sp>
          <p:nvSpPr>
            <p:cNvPr id="21" name="object 21"/>
            <p:cNvSpPr/>
            <p:nvPr/>
          </p:nvSpPr>
          <p:spPr>
            <a:xfrm>
              <a:off x="2224519" y="2411199"/>
              <a:ext cx="1877695" cy="246379"/>
            </a:xfrm>
            <a:custGeom>
              <a:avLst/>
              <a:gdLst/>
              <a:ahLst/>
              <a:cxnLst/>
              <a:rect l="l" t="t" r="r" b="b"/>
              <a:pathLst>
                <a:path w="1877695" h="246380">
                  <a:moveTo>
                    <a:pt x="0" y="246359"/>
                  </a:moveTo>
                  <a:lnTo>
                    <a:pt x="0" y="49271"/>
                  </a:lnTo>
                  <a:lnTo>
                    <a:pt x="3860" y="30053"/>
                  </a:lnTo>
                  <a:lnTo>
                    <a:pt x="14399" y="14396"/>
                  </a:lnTo>
                  <a:lnTo>
                    <a:pt x="30057" y="3858"/>
                  </a:lnTo>
                  <a:lnTo>
                    <a:pt x="49272" y="0"/>
                  </a:lnTo>
                  <a:lnTo>
                    <a:pt x="1827984" y="0"/>
                  </a:lnTo>
                  <a:lnTo>
                    <a:pt x="1847199" y="3858"/>
                  </a:lnTo>
                  <a:lnTo>
                    <a:pt x="1862857" y="14396"/>
                  </a:lnTo>
                  <a:lnTo>
                    <a:pt x="1873396" y="30053"/>
                  </a:lnTo>
                  <a:lnTo>
                    <a:pt x="1877256" y="49271"/>
                  </a:lnTo>
                  <a:lnTo>
                    <a:pt x="1877256" y="246359"/>
                  </a:lnTo>
                </a:path>
              </a:pathLst>
            </a:custGeom>
            <a:ln w="1231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24519" y="2657559"/>
              <a:ext cx="1877695" cy="123189"/>
            </a:xfrm>
            <a:custGeom>
              <a:avLst/>
              <a:gdLst/>
              <a:ahLst/>
              <a:cxnLst/>
              <a:rect l="l" t="t" r="r" b="b"/>
              <a:pathLst>
                <a:path w="1877695" h="123189">
                  <a:moveTo>
                    <a:pt x="1827984" y="123179"/>
                  </a:moveTo>
                  <a:lnTo>
                    <a:pt x="49272" y="123179"/>
                  </a:lnTo>
                  <a:lnTo>
                    <a:pt x="30057" y="119319"/>
                  </a:lnTo>
                  <a:lnTo>
                    <a:pt x="14399" y="108778"/>
                  </a:lnTo>
                  <a:lnTo>
                    <a:pt x="3860" y="93121"/>
                  </a:lnTo>
                  <a:lnTo>
                    <a:pt x="0" y="73907"/>
                  </a:lnTo>
                  <a:lnTo>
                    <a:pt x="0" y="0"/>
                  </a:lnTo>
                  <a:lnTo>
                    <a:pt x="1877256" y="0"/>
                  </a:lnTo>
                  <a:lnTo>
                    <a:pt x="1877256" y="73907"/>
                  </a:lnTo>
                  <a:lnTo>
                    <a:pt x="1873396" y="93121"/>
                  </a:lnTo>
                  <a:lnTo>
                    <a:pt x="1862857" y="108778"/>
                  </a:lnTo>
                  <a:lnTo>
                    <a:pt x="1847199" y="119319"/>
                  </a:lnTo>
                  <a:lnTo>
                    <a:pt x="1827984" y="123179"/>
                  </a:lnTo>
                  <a:close/>
                </a:path>
              </a:pathLst>
            </a:custGeom>
            <a:solidFill>
              <a:srgbClr val="1B9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24519" y="2657559"/>
              <a:ext cx="1877695" cy="123189"/>
            </a:xfrm>
            <a:custGeom>
              <a:avLst/>
              <a:gdLst/>
              <a:ahLst/>
              <a:cxnLst/>
              <a:rect l="l" t="t" r="r" b="b"/>
              <a:pathLst>
                <a:path w="1877695" h="123189">
                  <a:moveTo>
                    <a:pt x="1877256" y="0"/>
                  </a:moveTo>
                  <a:lnTo>
                    <a:pt x="1877256" y="73907"/>
                  </a:lnTo>
                  <a:lnTo>
                    <a:pt x="1873396" y="93121"/>
                  </a:lnTo>
                  <a:lnTo>
                    <a:pt x="1862857" y="108778"/>
                  </a:lnTo>
                  <a:lnTo>
                    <a:pt x="1847199" y="119319"/>
                  </a:lnTo>
                  <a:lnTo>
                    <a:pt x="1827984" y="123179"/>
                  </a:lnTo>
                  <a:lnTo>
                    <a:pt x="49272" y="123179"/>
                  </a:lnTo>
                  <a:lnTo>
                    <a:pt x="30057" y="119319"/>
                  </a:lnTo>
                  <a:lnTo>
                    <a:pt x="14399" y="108778"/>
                  </a:lnTo>
                  <a:lnTo>
                    <a:pt x="3860" y="93121"/>
                  </a:lnTo>
                  <a:lnTo>
                    <a:pt x="0" y="73907"/>
                  </a:lnTo>
                  <a:lnTo>
                    <a:pt x="0" y="0"/>
                  </a:lnTo>
                </a:path>
              </a:pathLst>
            </a:custGeom>
            <a:ln w="12317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46297" y="3170002"/>
            <a:ext cx="2340185" cy="529270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67" spc="160" dirty="0">
                <a:solidFill>
                  <a:srgbClr val="1B9E77"/>
                </a:solidFill>
                <a:latin typeface="Trebuchet MS"/>
                <a:cs typeface="Trebuchet MS"/>
              </a:rPr>
              <a:t>Super</a:t>
            </a:r>
            <a:r>
              <a:rPr sz="2067" spc="47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67" spc="127" dirty="0">
                <a:solidFill>
                  <a:srgbClr val="1B9E77"/>
                </a:solidFill>
                <a:latin typeface="Trebuchet MS"/>
                <a:cs typeface="Trebuchet MS"/>
              </a:rPr>
              <a:t>Mario</a:t>
            </a:r>
            <a:r>
              <a:rPr sz="2067" spc="47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67" spc="120" dirty="0">
                <a:solidFill>
                  <a:srgbClr val="1B9E77"/>
                </a:solidFill>
                <a:latin typeface="Trebuchet MS"/>
                <a:cs typeface="Trebuchet MS"/>
              </a:rPr>
              <a:t>Land</a:t>
            </a:r>
            <a:endParaRPr sz="2067">
              <a:latin typeface="Trebuchet MS"/>
              <a:cs typeface="Trebuchet MS"/>
            </a:endParaRPr>
          </a:p>
          <a:p>
            <a:pPr marL="1693" algn="ctr">
              <a:spcBef>
                <a:spcPts val="140"/>
              </a:spcBef>
            </a:pPr>
            <a:r>
              <a:rPr sz="1000" spc="107" dirty="0">
                <a:solidFill>
                  <a:srgbClr val="FFFFFF"/>
                </a:solidFill>
                <a:latin typeface="Trebuchet MS"/>
                <a:cs typeface="Trebuchet MS"/>
              </a:rPr>
              <a:t>Q647249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62958" y="3699184"/>
            <a:ext cx="4869180" cy="1606973"/>
            <a:chOff x="3722218" y="2774388"/>
            <a:chExt cx="3651885" cy="1205230"/>
          </a:xfrm>
        </p:grpSpPr>
        <p:sp>
          <p:nvSpPr>
            <p:cNvPr id="26" name="object 26"/>
            <p:cNvSpPr/>
            <p:nvPr/>
          </p:nvSpPr>
          <p:spPr>
            <a:xfrm>
              <a:off x="3728568" y="2780738"/>
              <a:ext cx="2545715" cy="831850"/>
            </a:xfrm>
            <a:custGeom>
              <a:avLst/>
              <a:gdLst/>
              <a:ahLst/>
              <a:cxnLst/>
              <a:rect l="l" t="t" r="r" b="b"/>
              <a:pathLst>
                <a:path w="2545715" h="831850">
                  <a:moveTo>
                    <a:pt x="0" y="0"/>
                  </a:moveTo>
                  <a:lnTo>
                    <a:pt x="2545558" y="831836"/>
                  </a:lnTo>
                </a:path>
              </a:pathLst>
            </a:custGeom>
            <a:ln w="12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96213" y="3566201"/>
              <a:ext cx="90170" cy="50800"/>
            </a:xfrm>
            <a:custGeom>
              <a:avLst/>
              <a:gdLst/>
              <a:ahLst/>
              <a:cxnLst/>
              <a:rect l="l" t="t" r="r" b="b"/>
              <a:pathLst>
                <a:path w="90170" h="50800">
                  <a:moveTo>
                    <a:pt x="15313" y="0"/>
                  </a:moveTo>
                  <a:lnTo>
                    <a:pt x="89619" y="50198"/>
                  </a:lnTo>
                  <a:lnTo>
                    <a:pt x="0" y="46840"/>
                  </a:lnTo>
                  <a:lnTo>
                    <a:pt x="31071" y="31066"/>
                  </a:lnTo>
                  <a:lnTo>
                    <a:pt x="153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96213" y="3566201"/>
              <a:ext cx="90170" cy="50800"/>
            </a:xfrm>
            <a:custGeom>
              <a:avLst/>
              <a:gdLst/>
              <a:ahLst/>
              <a:cxnLst/>
              <a:rect l="l" t="t" r="r" b="b"/>
              <a:pathLst>
                <a:path w="90170" h="50800">
                  <a:moveTo>
                    <a:pt x="31073" y="31070"/>
                  </a:moveTo>
                  <a:lnTo>
                    <a:pt x="0" y="46840"/>
                  </a:lnTo>
                  <a:lnTo>
                    <a:pt x="89619" y="50198"/>
                  </a:lnTo>
                  <a:lnTo>
                    <a:pt x="15313" y="0"/>
                  </a:lnTo>
                  <a:lnTo>
                    <a:pt x="31073" y="31070"/>
                  </a:lnTo>
                  <a:close/>
                </a:path>
              </a:pathLst>
            </a:custGeom>
            <a:ln w="6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53919" y="3603142"/>
              <a:ext cx="1113790" cy="246379"/>
            </a:xfrm>
            <a:custGeom>
              <a:avLst/>
              <a:gdLst/>
              <a:ahLst/>
              <a:cxnLst/>
              <a:rect l="l" t="t" r="r" b="b"/>
              <a:pathLst>
                <a:path w="1113790" h="246379">
                  <a:moveTo>
                    <a:pt x="1113539" y="246359"/>
                  </a:moveTo>
                  <a:lnTo>
                    <a:pt x="0" y="246359"/>
                  </a:lnTo>
                  <a:lnTo>
                    <a:pt x="0" y="49271"/>
                  </a:lnTo>
                  <a:lnTo>
                    <a:pt x="3860" y="30058"/>
                  </a:lnTo>
                  <a:lnTo>
                    <a:pt x="14400" y="14400"/>
                  </a:lnTo>
                  <a:lnTo>
                    <a:pt x="30058" y="3860"/>
                  </a:lnTo>
                  <a:lnTo>
                    <a:pt x="49272" y="0"/>
                  </a:lnTo>
                  <a:lnTo>
                    <a:pt x="1064267" y="0"/>
                  </a:lnTo>
                  <a:lnTo>
                    <a:pt x="1083487" y="3860"/>
                  </a:lnTo>
                  <a:lnTo>
                    <a:pt x="1099144" y="14400"/>
                  </a:lnTo>
                  <a:lnTo>
                    <a:pt x="1109681" y="30058"/>
                  </a:lnTo>
                  <a:lnTo>
                    <a:pt x="1113539" y="49271"/>
                  </a:lnTo>
                  <a:lnTo>
                    <a:pt x="1113539" y="246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53919" y="3603142"/>
              <a:ext cx="1113790" cy="246379"/>
            </a:xfrm>
            <a:custGeom>
              <a:avLst/>
              <a:gdLst/>
              <a:ahLst/>
              <a:cxnLst/>
              <a:rect l="l" t="t" r="r" b="b"/>
              <a:pathLst>
                <a:path w="1113790" h="246379">
                  <a:moveTo>
                    <a:pt x="0" y="246359"/>
                  </a:moveTo>
                  <a:lnTo>
                    <a:pt x="0" y="49271"/>
                  </a:lnTo>
                  <a:lnTo>
                    <a:pt x="3860" y="30058"/>
                  </a:lnTo>
                  <a:lnTo>
                    <a:pt x="14400" y="14400"/>
                  </a:lnTo>
                  <a:lnTo>
                    <a:pt x="30058" y="3860"/>
                  </a:lnTo>
                  <a:lnTo>
                    <a:pt x="49272" y="0"/>
                  </a:lnTo>
                  <a:lnTo>
                    <a:pt x="1064267" y="0"/>
                  </a:lnTo>
                  <a:lnTo>
                    <a:pt x="1083487" y="3860"/>
                  </a:lnTo>
                  <a:lnTo>
                    <a:pt x="1099144" y="14400"/>
                  </a:lnTo>
                  <a:lnTo>
                    <a:pt x="1109681" y="30058"/>
                  </a:lnTo>
                  <a:lnTo>
                    <a:pt x="1113539" y="49271"/>
                  </a:lnTo>
                  <a:lnTo>
                    <a:pt x="1113539" y="246359"/>
                  </a:lnTo>
                </a:path>
              </a:pathLst>
            </a:custGeom>
            <a:ln w="12317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53919" y="3849502"/>
              <a:ext cx="1113790" cy="123189"/>
            </a:xfrm>
            <a:custGeom>
              <a:avLst/>
              <a:gdLst/>
              <a:ahLst/>
              <a:cxnLst/>
              <a:rect l="l" t="t" r="r" b="b"/>
              <a:pathLst>
                <a:path w="1113790" h="123189">
                  <a:moveTo>
                    <a:pt x="1064267" y="123179"/>
                  </a:moveTo>
                  <a:lnTo>
                    <a:pt x="49272" y="123179"/>
                  </a:lnTo>
                  <a:lnTo>
                    <a:pt x="30058" y="119321"/>
                  </a:lnTo>
                  <a:lnTo>
                    <a:pt x="14400" y="108784"/>
                  </a:lnTo>
                  <a:lnTo>
                    <a:pt x="3860" y="93127"/>
                  </a:lnTo>
                  <a:lnTo>
                    <a:pt x="0" y="73907"/>
                  </a:lnTo>
                  <a:lnTo>
                    <a:pt x="0" y="0"/>
                  </a:lnTo>
                  <a:lnTo>
                    <a:pt x="1113539" y="0"/>
                  </a:lnTo>
                  <a:lnTo>
                    <a:pt x="1113539" y="73907"/>
                  </a:lnTo>
                  <a:lnTo>
                    <a:pt x="1109681" y="93127"/>
                  </a:lnTo>
                  <a:lnTo>
                    <a:pt x="1099144" y="108784"/>
                  </a:lnTo>
                  <a:lnTo>
                    <a:pt x="1083487" y="119321"/>
                  </a:lnTo>
                  <a:lnTo>
                    <a:pt x="1064267" y="123179"/>
                  </a:lnTo>
                  <a:close/>
                </a:path>
              </a:pathLst>
            </a:custGeom>
            <a:solidFill>
              <a:srgbClr val="A67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53919" y="3849502"/>
              <a:ext cx="1113790" cy="123189"/>
            </a:xfrm>
            <a:custGeom>
              <a:avLst/>
              <a:gdLst/>
              <a:ahLst/>
              <a:cxnLst/>
              <a:rect l="l" t="t" r="r" b="b"/>
              <a:pathLst>
                <a:path w="1113790" h="123189">
                  <a:moveTo>
                    <a:pt x="1113539" y="0"/>
                  </a:moveTo>
                  <a:lnTo>
                    <a:pt x="1113539" y="73907"/>
                  </a:lnTo>
                  <a:lnTo>
                    <a:pt x="1109681" y="93127"/>
                  </a:lnTo>
                  <a:lnTo>
                    <a:pt x="1099144" y="108784"/>
                  </a:lnTo>
                  <a:lnTo>
                    <a:pt x="1083487" y="119321"/>
                  </a:lnTo>
                  <a:lnTo>
                    <a:pt x="1064267" y="123179"/>
                  </a:lnTo>
                  <a:lnTo>
                    <a:pt x="49272" y="123179"/>
                  </a:lnTo>
                  <a:lnTo>
                    <a:pt x="30058" y="119321"/>
                  </a:lnTo>
                  <a:lnTo>
                    <a:pt x="14400" y="108784"/>
                  </a:lnTo>
                  <a:lnTo>
                    <a:pt x="3860" y="93127"/>
                  </a:lnTo>
                  <a:lnTo>
                    <a:pt x="0" y="73907"/>
                  </a:lnTo>
                  <a:lnTo>
                    <a:pt x="0" y="0"/>
                  </a:lnTo>
                </a:path>
              </a:pathLst>
            </a:custGeom>
            <a:ln w="12317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382646" y="4759275"/>
            <a:ext cx="1396153" cy="529270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67" spc="193" dirty="0">
                <a:solidFill>
                  <a:srgbClr val="A6761D"/>
                </a:solidFill>
                <a:latin typeface="Trebuchet MS"/>
                <a:cs typeface="Trebuchet MS"/>
              </a:rPr>
              <a:t>Game</a:t>
            </a:r>
            <a:r>
              <a:rPr sz="2067" spc="27" dirty="0">
                <a:solidFill>
                  <a:srgbClr val="A6761D"/>
                </a:solidFill>
                <a:latin typeface="Trebuchet MS"/>
                <a:cs typeface="Trebuchet MS"/>
              </a:rPr>
              <a:t> </a:t>
            </a:r>
            <a:r>
              <a:rPr sz="2067" spc="160" dirty="0">
                <a:solidFill>
                  <a:srgbClr val="A6761D"/>
                </a:solidFill>
                <a:latin typeface="Trebuchet MS"/>
                <a:cs typeface="Trebuchet MS"/>
              </a:rPr>
              <a:t>Boy</a:t>
            </a:r>
            <a:endParaRPr sz="2067">
              <a:latin typeface="Trebuchet MS"/>
              <a:cs typeface="Trebuchet MS"/>
            </a:endParaRPr>
          </a:p>
          <a:p>
            <a:pPr algn="ctr">
              <a:spcBef>
                <a:spcPts val="140"/>
              </a:spcBef>
            </a:pPr>
            <a:r>
              <a:rPr sz="1000" spc="107" dirty="0">
                <a:solidFill>
                  <a:srgbClr val="FFFFFF"/>
                </a:solidFill>
                <a:latin typeface="Trebuchet MS"/>
                <a:cs typeface="Trebuchet MS"/>
              </a:rPr>
              <a:t>Q186437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36132" y="3232930"/>
            <a:ext cx="170603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33"/>
              </a:lnSpc>
            </a:pPr>
            <a:r>
              <a:rPr sz="2067" spc="127" dirty="0">
                <a:solidFill>
                  <a:srgbClr val="E8AB02"/>
                </a:solidFill>
                <a:latin typeface="Trebuchet MS"/>
                <a:cs typeface="Trebuchet MS"/>
              </a:rPr>
              <a:t>launch</a:t>
            </a:r>
            <a:r>
              <a:rPr sz="2067" spc="27" dirty="0">
                <a:solidFill>
                  <a:srgbClr val="E8AB02"/>
                </a:solidFill>
                <a:latin typeface="Trebuchet MS"/>
                <a:cs typeface="Trebuchet MS"/>
              </a:rPr>
              <a:t> </a:t>
            </a:r>
            <a:r>
              <a:rPr sz="2067" spc="180" dirty="0">
                <a:solidFill>
                  <a:srgbClr val="E8AB02"/>
                </a:solidFill>
                <a:latin typeface="Trebuchet MS"/>
                <a:cs typeface="Trebuchet MS"/>
              </a:rPr>
              <a:t>game</a:t>
            </a:r>
            <a:endParaRPr sz="2067">
              <a:latin typeface="Trebuchet MS"/>
              <a:cs typeface="Trebuchet MS"/>
            </a:endParaRPr>
          </a:p>
          <a:p>
            <a:pPr marL="1693" algn="ctr">
              <a:spcBef>
                <a:spcPts val="140"/>
              </a:spcBef>
            </a:pPr>
            <a:r>
              <a:rPr sz="1000" spc="107" dirty="0">
                <a:solidFill>
                  <a:srgbClr val="FFFFFF"/>
                </a:solidFill>
                <a:latin typeface="Trebuchet MS"/>
                <a:cs typeface="Trebuchet MS"/>
              </a:rPr>
              <a:t>Q1425505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32986" y="3971228"/>
            <a:ext cx="1363133" cy="5666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39409" marR="6773" indent="-423323">
              <a:lnSpc>
                <a:spcPct val="104800"/>
              </a:lnSpc>
              <a:spcBef>
                <a:spcPts val="40"/>
              </a:spcBef>
            </a:pPr>
            <a:r>
              <a:rPr spc="87" dirty="0">
                <a:latin typeface="Cambria"/>
                <a:cs typeface="Cambria"/>
              </a:rPr>
              <a:t>Public</a:t>
            </a:r>
            <a:r>
              <a:rPr cap="small" spc="87" dirty="0">
                <a:latin typeface="Cambria"/>
                <a:cs typeface="Cambria"/>
              </a:rPr>
              <a:t>at</a:t>
            </a:r>
            <a:r>
              <a:rPr spc="87" dirty="0">
                <a:latin typeface="Cambria"/>
                <a:cs typeface="Cambria"/>
              </a:rPr>
              <a:t>ion </a:t>
            </a:r>
            <a:r>
              <a:rPr spc="-27" dirty="0">
                <a:latin typeface="Cambria"/>
                <a:cs typeface="Cambria"/>
              </a:rPr>
              <a:t>D</a:t>
            </a:r>
            <a:r>
              <a:rPr cap="small" spc="-27" dirty="0">
                <a:latin typeface="Cambria"/>
                <a:cs typeface="Cambria"/>
              </a:rPr>
              <a:t>at</a:t>
            </a:r>
            <a:r>
              <a:rPr spc="-27" dirty="0">
                <a:latin typeface="Cambria"/>
                <a:cs typeface="Cambria"/>
              </a:rPr>
              <a:t>e</a:t>
            </a:r>
            <a:endParaRPr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10181" y="4121738"/>
            <a:ext cx="63754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latin typeface="Cambria"/>
                <a:cs typeface="Cambria"/>
              </a:rPr>
              <a:t>gen</a:t>
            </a:r>
            <a:r>
              <a:rPr cap="small" spc="-13" dirty="0">
                <a:latin typeface="Cambria"/>
                <a:cs typeface="Cambria"/>
              </a:rPr>
              <a:t>r</a:t>
            </a:r>
            <a:r>
              <a:rPr spc="-13" dirty="0">
                <a:latin typeface="Cambria"/>
                <a:cs typeface="Cambria"/>
              </a:rPr>
              <a:t>e</a:t>
            </a:r>
            <a:endParaRPr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49301" y="3124690"/>
            <a:ext cx="1121833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93" dirty="0">
                <a:latin typeface="Cambria"/>
                <a:cs typeface="Cambria"/>
              </a:rPr>
              <a:t>publishe</a:t>
            </a:r>
            <a:r>
              <a:rPr cap="small" spc="93" dirty="0">
                <a:latin typeface="Cambria"/>
                <a:cs typeface="Cambria"/>
              </a:rPr>
              <a:t>r</a:t>
            </a:r>
            <a:endParaRPr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57505" y="3927585"/>
            <a:ext cx="1000760" cy="2949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pc="-13" dirty="0">
                <a:latin typeface="Cambria"/>
                <a:cs typeface="Cambria"/>
              </a:rPr>
              <a:t>pl</a:t>
            </a:r>
            <a:r>
              <a:rPr cap="small" spc="-13" dirty="0">
                <a:latin typeface="Cambria"/>
                <a:cs typeface="Cambria"/>
              </a:rPr>
              <a:t>atf</a:t>
            </a:r>
            <a:r>
              <a:rPr spc="-13" dirty="0">
                <a:latin typeface="Cambria"/>
                <a:cs typeface="Cambria"/>
              </a:rPr>
              <a:t>o</a:t>
            </a:r>
            <a:r>
              <a:rPr cap="small" spc="-13" dirty="0">
                <a:latin typeface="Cambria"/>
                <a:cs typeface="Cambria"/>
              </a:rPr>
              <a:t>r</a:t>
            </a:r>
            <a:r>
              <a:rPr spc="-13" dirty="0">
                <a:latin typeface="Cambria"/>
                <a:cs typeface="Cambria"/>
              </a:rPr>
              <a:t>m</a:t>
            </a:r>
            <a:endParaRPr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10044" y="3947968"/>
            <a:ext cx="1466427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7"/>
              </a:lnSpc>
            </a:pPr>
            <a:r>
              <a:rPr spc="-40" dirty="0">
                <a:latin typeface="Cambria"/>
                <a:cs typeface="Cambria"/>
              </a:rPr>
              <a:t>m</a:t>
            </a:r>
            <a:r>
              <a:rPr cap="small" spc="-40" dirty="0">
                <a:latin typeface="Cambria"/>
                <a:cs typeface="Cambria"/>
              </a:rPr>
              <a:t>a</a:t>
            </a:r>
            <a:r>
              <a:rPr spc="-40" dirty="0">
                <a:latin typeface="Cambria"/>
                <a:cs typeface="Cambria"/>
              </a:rPr>
              <a:t>nu</a:t>
            </a:r>
            <a:r>
              <a:rPr cap="small" spc="-40" dirty="0">
                <a:latin typeface="Cambria"/>
                <a:cs typeface="Cambria"/>
              </a:rPr>
              <a:t>fa</a:t>
            </a:r>
            <a:r>
              <a:rPr spc="-40" dirty="0">
                <a:latin typeface="Cambria"/>
                <a:cs typeface="Cambria"/>
              </a:rPr>
              <a:t>c</a:t>
            </a:r>
            <a:r>
              <a:rPr cap="small" spc="-40" dirty="0">
                <a:latin typeface="Cambria"/>
                <a:cs typeface="Cambria"/>
              </a:rPr>
              <a:t>t</a:t>
            </a:r>
            <a:r>
              <a:rPr spc="-40" dirty="0">
                <a:latin typeface="Cambria"/>
                <a:cs typeface="Cambria"/>
              </a:rPr>
              <a:t>u</a:t>
            </a:r>
            <a:r>
              <a:rPr cap="small" spc="-40" dirty="0">
                <a:latin typeface="Cambria"/>
                <a:cs typeface="Cambria"/>
              </a:rPr>
              <a:t>r</a:t>
            </a:r>
            <a:r>
              <a:rPr spc="-40" dirty="0">
                <a:latin typeface="Cambria"/>
                <a:cs typeface="Cambria"/>
              </a:rPr>
              <a:t>e</a:t>
            </a:r>
            <a:r>
              <a:rPr cap="small" spc="-40" dirty="0">
                <a:latin typeface="Cambria"/>
                <a:cs typeface="Cambria"/>
              </a:rPr>
              <a:t>r</a:t>
            </a:r>
            <a:endParaRPr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180459" y="2920135"/>
            <a:ext cx="6605693" cy="2388447"/>
            <a:chOff x="3135344" y="2190101"/>
            <a:chExt cx="4954270" cy="1791335"/>
          </a:xfrm>
        </p:grpSpPr>
        <p:sp>
          <p:nvSpPr>
            <p:cNvPr id="41" name="object 41"/>
            <p:cNvSpPr/>
            <p:nvPr/>
          </p:nvSpPr>
          <p:spPr>
            <a:xfrm>
              <a:off x="5869233" y="2756102"/>
              <a:ext cx="768985" cy="822960"/>
            </a:xfrm>
            <a:custGeom>
              <a:avLst/>
              <a:gdLst/>
              <a:ahLst/>
              <a:cxnLst/>
              <a:rect l="l" t="t" r="r" b="b"/>
              <a:pathLst>
                <a:path w="768984" h="822960">
                  <a:moveTo>
                    <a:pt x="0" y="0"/>
                  </a:moveTo>
                  <a:lnTo>
                    <a:pt x="768746" y="822403"/>
                  </a:lnTo>
                </a:path>
              </a:pathLst>
            </a:custGeom>
            <a:ln w="123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6430" y="3504611"/>
              <a:ext cx="83036" cy="8598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804537" y="3948046"/>
              <a:ext cx="12700" cy="33655"/>
            </a:xfrm>
            <a:custGeom>
              <a:avLst/>
              <a:gdLst/>
              <a:ahLst/>
              <a:cxnLst/>
              <a:rect l="l" t="t" r="r" b="b"/>
              <a:pathLst>
                <a:path w="12700" h="33654">
                  <a:moveTo>
                    <a:pt x="0" y="0"/>
                  </a:moveTo>
                  <a:lnTo>
                    <a:pt x="12318" y="0"/>
                  </a:lnTo>
                  <a:lnTo>
                    <a:pt x="12318" y="33119"/>
                  </a:lnTo>
                  <a:lnTo>
                    <a:pt x="0" y="33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63155" y="2765954"/>
              <a:ext cx="0" cy="822960"/>
            </a:xfrm>
            <a:custGeom>
              <a:avLst/>
              <a:gdLst/>
              <a:ahLst/>
              <a:cxnLst/>
              <a:rect l="l" t="t" r="r" b="b"/>
              <a:pathLst>
                <a:path h="822960">
                  <a:moveTo>
                    <a:pt x="0" y="0"/>
                  </a:moveTo>
                  <a:lnTo>
                    <a:pt x="0" y="822419"/>
                  </a:lnTo>
                </a:path>
              </a:pathLst>
            </a:custGeom>
            <a:ln w="123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38519" y="3514465"/>
              <a:ext cx="49530" cy="86360"/>
            </a:xfrm>
            <a:custGeom>
              <a:avLst/>
              <a:gdLst/>
              <a:ahLst/>
              <a:cxnLst/>
              <a:rect l="l" t="t" r="r" b="b"/>
              <a:pathLst>
                <a:path w="49530" h="86360">
                  <a:moveTo>
                    <a:pt x="49272" y="0"/>
                  </a:moveTo>
                  <a:lnTo>
                    <a:pt x="24636" y="86225"/>
                  </a:lnTo>
                  <a:lnTo>
                    <a:pt x="0" y="0"/>
                  </a:lnTo>
                  <a:lnTo>
                    <a:pt x="24636" y="24635"/>
                  </a:lnTo>
                  <a:lnTo>
                    <a:pt x="49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38519" y="3514465"/>
              <a:ext cx="49530" cy="86360"/>
            </a:xfrm>
            <a:custGeom>
              <a:avLst/>
              <a:gdLst/>
              <a:ahLst/>
              <a:cxnLst/>
              <a:rect l="l" t="t" r="r" b="b"/>
              <a:pathLst>
                <a:path w="49530" h="86360">
                  <a:moveTo>
                    <a:pt x="24636" y="24635"/>
                  </a:moveTo>
                  <a:lnTo>
                    <a:pt x="0" y="0"/>
                  </a:lnTo>
                  <a:lnTo>
                    <a:pt x="24636" y="86225"/>
                  </a:lnTo>
                  <a:lnTo>
                    <a:pt x="49272" y="0"/>
                  </a:lnTo>
                  <a:lnTo>
                    <a:pt x="24636" y="24635"/>
                  </a:lnTo>
                  <a:close/>
                </a:path>
              </a:pathLst>
            </a:custGeom>
            <a:ln w="6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01776" y="2595969"/>
              <a:ext cx="1092200" cy="0"/>
            </a:xfrm>
            <a:custGeom>
              <a:avLst/>
              <a:gdLst/>
              <a:ahLst/>
              <a:cxnLst/>
              <a:rect l="l" t="t" r="r" b="b"/>
              <a:pathLst>
                <a:path w="1092200">
                  <a:moveTo>
                    <a:pt x="0" y="0"/>
                  </a:moveTo>
                  <a:lnTo>
                    <a:pt x="1092167" y="0"/>
                  </a:lnTo>
                </a:path>
              </a:pathLst>
            </a:custGeom>
            <a:ln w="12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0036" y="2571333"/>
              <a:ext cx="86360" cy="49530"/>
            </a:xfrm>
            <a:custGeom>
              <a:avLst/>
              <a:gdLst/>
              <a:ahLst/>
              <a:cxnLst/>
              <a:rect l="l" t="t" r="r" b="b"/>
              <a:pathLst>
                <a:path w="86360" h="49530">
                  <a:moveTo>
                    <a:pt x="0" y="0"/>
                  </a:moveTo>
                  <a:lnTo>
                    <a:pt x="86226" y="24635"/>
                  </a:lnTo>
                  <a:lnTo>
                    <a:pt x="0" y="49271"/>
                  </a:lnTo>
                  <a:lnTo>
                    <a:pt x="24636" y="24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20036" y="2571333"/>
              <a:ext cx="86360" cy="49530"/>
            </a:xfrm>
            <a:custGeom>
              <a:avLst/>
              <a:gdLst/>
              <a:ahLst/>
              <a:cxnLst/>
              <a:rect l="l" t="t" r="r" b="b"/>
              <a:pathLst>
                <a:path w="86360" h="49530">
                  <a:moveTo>
                    <a:pt x="24636" y="24635"/>
                  </a:moveTo>
                  <a:lnTo>
                    <a:pt x="0" y="49271"/>
                  </a:lnTo>
                  <a:lnTo>
                    <a:pt x="86226" y="24635"/>
                  </a:lnTo>
                  <a:lnTo>
                    <a:pt x="0" y="0"/>
                  </a:lnTo>
                  <a:lnTo>
                    <a:pt x="24636" y="24635"/>
                  </a:lnTo>
                  <a:close/>
                </a:path>
              </a:pathLst>
            </a:custGeom>
            <a:ln w="6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43015" y="2765954"/>
              <a:ext cx="1245870" cy="822960"/>
            </a:xfrm>
            <a:custGeom>
              <a:avLst/>
              <a:gdLst/>
              <a:ahLst/>
              <a:cxnLst/>
              <a:rect l="l" t="t" r="r" b="b"/>
              <a:pathLst>
                <a:path w="1245870" h="822960">
                  <a:moveTo>
                    <a:pt x="0" y="0"/>
                  </a:moveTo>
                  <a:lnTo>
                    <a:pt x="1245733" y="822419"/>
                  </a:lnTo>
                </a:path>
              </a:pathLst>
            </a:custGeom>
            <a:ln w="12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0414" y="3524002"/>
              <a:ext cx="91687" cy="7423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55576" y="2190102"/>
              <a:ext cx="2233930" cy="1423670"/>
            </a:xfrm>
            <a:custGeom>
              <a:avLst/>
              <a:gdLst/>
              <a:ahLst/>
              <a:cxnLst/>
              <a:rect l="l" t="t" r="r" b="b"/>
              <a:pathLst>
                <a:path w="2233929" h="1423670">
                  <a:moveTo>
                    <a:pt x="1655648" y="740422"/>
                  </a:moveTo>
                  <a:lnTo>
                    <a:pt x="380758" y="740422"/>
                  </a:lnTo>
                  <a:lnTo>
                    <a:pt x="380758" y="927773"/>
                  </a:lnTo>
                  <a:lnTo>
                    <a:pt x="45415" y="581393"/>
                  </a:lnTo>
                  <a:lnTo>
                    <a:pt x="0" y="625360"/>
                  </a:lnTo>
                  <a:lnTo>
                    <a:pt x="380758" y="1018641"/>
                  </a:lnTo>
                  <a:lnTo>
                    <a:pt x="380758" y="1071753"/>
                  </a:lnTo>
                  <a:lnTo>
                    <a:pt x="432181" y="1071753"/>
                  </a:lnTo>
                  <a:lnTo>
                    <a:pt x="772464" y="1423225"/>
                  </a:lnTo>
                  <a:lnTo>
                    <a:pt x="817880" y="1379270"/>
                  </a:lnTo>
                  <a:lnTo>
                    <a:pt x="520153" y="1071753"/>
                  </a:lnTo>
                  <a:lnTo>
                    <a:pt x="1655648" y="1071753"/>
                  </a:lnTo>
                  <a:lnTo>
                    <a:pt x="1655648" y="740422"/>
                  </a:lnTo>
                  <a:close/>
                </a:path>
                <a:path w="2233929" h="1423670">
                  <a:moveTo>
                    <a:pt x="2233612" y="0"/>
                  </a:moveTo>
                  <a:lnTo>
                    <a:pt x="585787" y="0"/>
                  </a:lnTo>
                  <a:lnTo>
                    <a:pt x="585787" y="625360"/>
                  </a:lnTo>
                  <a:lnTo>
                    <a:pt x="2233612" y="625360"/>
                  </a:lnTo>
                  <a:lnTo>
                    <a:pt x="2233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77520" y="1096602"/>
            <a:ext cx="9889912" cy="1596164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92844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92844" algn="l"/>
              </a:tabLst>
            </a:pP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“local”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knowledge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graph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iterate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sequence</a:t>
            </a:r>
            <a:endParaRPr sz="2400">
              <a:latin typeface="Calibri"/>
              <a:cs typeface="Calibri"/>
            </a:endParaRPr>
          </a:p>
          <a:p>
            <a:pPr marL="735735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35735" algn="l"/>
              </a:tabLst>
            </a:pPr>
            <a:r>
              <a:rPr sz="2400" dirty="0">
                <a:latin typeface="Calibri"/>
                <a:cs typeface="Calibri"/>
              </a:rPr>
              <a:t>Local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KG: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 KG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 relevant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sequence</a:t>
            </a:r>
            <a:endParaRPr sz="2400">
              <a:latin typeface="Calibri"/>
              <a:cs typeface="Calibri"/>
            </a:endParaRPr>
          </a:p>
          <a:p>
            <a:pPr marL="2118307">
              <a:spcBef>
                <a:spcPts val="2460"/>
              </a:spcBef>
              <a:tabLst>
                <a:tab pos="9039634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Super Mario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Land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3600" u="sng" spc="540" baseline="7716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3600" b="1" i="1" u="sng" spc="-20" baseline="7716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Nintendo</a:t>
            </a:r>
            <a:r>
              <a:rPr sz="3600" b="1" i="1" u="sng" baseline="7716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5052" y="3158405"/>
            <a:ext cx="1883833" cy="99257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533"/>
              </a:lnSpc>
              <a:spcBef>
                <a:spcPts val="240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Assumes</a:t>
            </a:r>
            <a:r>
              <a:rPr sz="2133" spc="-2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entities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are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known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during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training!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331603" y="2654402"/>
            <a:ext cx="917787" cy="537633"/>
          </a:xfrm>
          <a:custGeom>
            <a:avLst/>
            <a:gdLst/>
            <a:ahLst/>
            <a:cxnLst/>
            <a:rect l="l" t="t" r="r" b="b"/>
            <a:pathLst>
              <a:path w="688339" h="403225">
                <a:moveTo>
                  <a:pt x="619944" y="34171"/>
                </a:moveTo>
                <a:lnTo>
                  <a:pt x="0" y="394482"/>
                </a:lnTo>
                <a:lnTo>
                  <a:pt x="4785" y="402717"/>
                </a:lnTo>
                <a:lnTo>
                  <a:pt x="624730" y="42407"/>
                </a:lnTo>
                <a:lnTo>
                  <a:pt x="619944" y="34171"/>
                </a:lnTo>
                <a:close/>
              </a:path>
              <a:path w="688339" h="403225">
                <a:moveTo>
                  <a:pt x="669984" y="27790"/>
                </a:moveTo>
                <a:lnTo>
                  <a:pt x="630924" y="27790"/>
                </a:lnTo>
                <a:lnTo>
                  <a:pt x="635709" y="36026"/>
                </a:lnTo>
                <a:lnTo>
                  <a:pt x="624730" y="42407"/>
                </a:lnTo>
                <a:lnTo>
                  <a:pt x="641482" y="71230"/>
                </a:lnTo>
                <a:lnTo>
                  <a:pt x="669984" y="27790"/>
                </a:lnTo>
                <a:close/>
              </a:path>
              <a:path w="688339" h="403225">
                <a:moveTo>
                  <a:pt x="630924" y="27790"/>
                </a:moveTo>
                <a:lnTo>
                  <a:pt x="619944" y="34171"/>
                </a:lnTo>
                <a:lnTo>
                  <a:pt x="624730" y="42407"/>
                </a:lnTo>
                <a:lnTo>
                  <a:pt x="635709" y="36026"/>
                </a:lnTo>
                <a:lnTo>
                  <a:pt x="630924" y="27790"/>
                </a:lnTo>
                <a:close/>
              </a:path>
              <a:path w="688339" h="403225">
                <a:moveTo>
                  <a:pt x="688218" y="0"/>
                </a:moveTo>
                <a:lnTo>
                  <a:pt x="603192" y="5349"/>
                </a:lnTo>
                <a:lnTo>
                  <a:pt x="619944" y="34171"/>
                </a:lnTo>
                <a:lnTo>
                  <a:pt x="630924" y="27790"/>
                </a:lnTo>
                <a:lnTo>
                  <a:pt x="669984" y="27790"/>
                </a:lnTo>
                <a:lnTo>
                  <a:pt x="688218" y="0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bject 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30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endParaRPr spc="-13" dirty="0"/>
          </a:p>
        </p:txBody>
      </p:sp>
      <p:sp>
        <p:nvSpPr>
          <p:cNvPr id="3" name="object 3"/>
          <p:cNvSpPr/>
          <p:nvPr/>
        </p:nvSpPr>
        <p:spPr>
          <a:xfrm>
            <a:off x="528320" y="1508759"/>
            <a:ext cx="2201333" cy="16933"/>
          </a:xfrm>
          <a:custGeom>
            <a:avLst/>
            <a:gdLst/>
            <a:ahLst/>
            <a:cxnLst/>
            <a:rect l="l" t="t" r="r" b="b"/>
            <a:pathLst>
              <a:path w="1651000" h="12700">
                <a:moveTo>
                  <a:pt x="1651000" y="0"/>
                </a:moveTo>
                <a:lnTo>
                  <a:pt x="0" y="0"/>
                </a:lnTo>
                <a:lnTo>
                  <a:pt x="0" y="12700"/>
                </a:lnTo>
                <a:lnTo>
                  <a:pt x="1651000" y="12700"/>
                </a:lnTo>
                <a:lnTo>
                  <a:pt x="1651000" y="0"/>
                </a:lnTo>
                <a:close/>
              </a:path>
            </a:pathLst>
          </a:custGeom>
          <a:solidFill>
            <a:srgbClr val="3A8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1388" y="1169754"/>
            <a:ext cx="5211233" cy="9198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Super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Mario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Land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485128">
              <a:spcBef>
                <a:spcPts val="1580"/>
              </a:spcBef>
              <a:tabLst>
                <a:tab pos="2897221" algn="l"/>
              </a:tabLst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New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 entity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	Not an</a:t>
            </a:r>
            <a:r>
              <a:rPr sz="2133" spc="-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7653" y="1508759"/>
            <a:ext cx="1676400" cy="16933"/>
          </a:xfrm>
          <a:custGeom>
            <a:avLst/>
            <a:gdLst/>
            <a:ahLst/>
            <a:cxnLst/>
            <a:rect l="l" t="t" r="r" b="b"/>
            <a:pathLst>
              <a:path w="1257300" h="12700">
                <a:moveTo>
                  <a:pt x="1257299" y="0"/>
                </a:moveTo>
                <a:lnTo>
                  <a:pt x="0" y="0"/>
                </a:lnTo>
                <a:lnTo>
                  <a:pt x="0" y="12700"/>
                </a:lnTo>
                <a:lnTo>
                  <a:pt x="1257299" y="12700"/>
                </a:lnTo>
                <a:lnTo>
                  <a:pt x="12572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32888" y="1169754"/>
            <a:ext cx="1109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387" y="5042748"/>
            <a:ext cx="9560560" cy="906231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LSTM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 state 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type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 next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 (3 </a:t>
            </a:r>
            <a:r>
              <a:rPr sz="2400" spc="-13" dirty="0">
                <a:latin typeface="Calibri"/>
                <a:cs typeface="Calibri"/>
              </a:rPr>
              <a:t>classes)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solidFill>
                  <a:srgbClr val="3A87FF"/>
                </a:solidFill>
                <a:latin typeface="Calibri"/>
                <a:cs typeface="Calibri"/>
              </a:rPr>
              <a:t>How</a:t>
            </a:r>
            <a:r>
              <a:rPr sz="2400" b="1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 in each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case?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85472" y="1569586"/>
            <a:ext cx="4312920" cy="1490133"/>
          </a:xfrm>
          <a:custGeom>
            <a:avLst/>
            <a:gdLst/>
            <a:ahLst/>
            <a:cxnLst/>
            <a:rect l="l" t="t" r="r" b="b"/>
            <a:pathLst>
              <a:path w="3234690" h="1117600">
                <a:moveTo>
                  <a:pt x="0" y="186210"/>
                </a:moveTo>
                <a:lnTo>
                  <a:pt x="6651" y="136708"/>
                </a:lnTo>
                <a:lnTo>
                  <a:pt x="25423" y="92226"/>
                </a:lnTo>
                <a:lnTo>
                  <a:pt x="54539" y="54539"/>
                </a:lnTo>
                <a:lnTo>
                  <a:pt x="92226" y="25423"/>
                </a:lnTo>
                <a:lnTo>
                  <a:pt x="136708" y="6651"/>
                </a:lnTo>
                <a:lnTo>
                  <a:pt x="186210" y="0"/>
                </a:lnTo>
                <a:lnTo>
                  <a:pt x="3047859" y="0"/>
                </a:lnTo>
                <a:lnTo>
                  <a:pt x="3097361" y="6651"/>
                </a:lnTo>
                <a:lnTo>
                  <a:pt x="3141842" y="25423"/>
                </a:lnTo>
                <a:lnTo>
                  <a:pt x="3179529" y="54539"/>
                </a:lnTo>
                <a:lnTo>
                  <a:pt x="3208645" y="92226"/>
                </a:lnTo>
                <a:lnTo>
                  <a:pt x="3227417" y="136708"/>
                </a:lnTo>
                <a:lnTo>
                  <a:pt x="3234069" y="186210"/>
                </a:lnTo>
                <a:lnTo>
                  <a:pt x="3234069" y="931037"/>
                </a:lnTo>
                <a:lnTo>
                  <a:pt x="3227417" y="980539"/>
                </a:lnTo>
                <a:lnTo>
                  <a:pt x="3208645" y="1025021"/>
                </a:lnTo>
                <a:lnTo>
                  <a:pt x="3179529" y="1062708"/>
                </a:lnTo>
                <a:lnTo>
                  <a:pt x="3141842" y="1091824"/>
                </a:lnTo>
                <a:lnTo>
                  <a:pt x="3097361" y="1110596"/>
                </a:lnTo>
                <a:lnTo>
                  <a:pt x="3047859" y="1117248"/>
                </a:lnTo>
                <a:lnTo>
                  <a:pt x="186210" y="1117248"/>
                </a:lnTo>
                <a:lnTo>
                  <a:pt x="136708" y="1110596"/>
                </a:lnTo>
                <a:lnTo>
                  <a:pt x="92226" y="1091824"/>
                </a:lnTo>
                <a:lnTo>
                  <a:pt x="54539" y="1062708"/>
                </a:lnTo>
                <a:lnTo>
                  <a:pt x="25423" y="1025021"/>
                </a:lnTo>
                <a:lnTo>
                  <a:pt x="6651" y="980539"/>
                </a:lnTo>
                <a:lnTo>
                  <a:pt x="0" y="931037"/>
                </a:lnTo>
                <a:lnTo>
                  <a:pt x="0" y="186210"/>
                </a:lnTo>
                <a:close/>
              </a:path>
            </a:pathLst>
          </a:custGeom>
          <a:ln w="12700">
            <a:solidFill>
              <a:srgbClr val="6100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63178" y="1626278"/>
            <a:ext cx="3766820" cy="13123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547"/>
              </a:lnSpc>
              <a:spcBef>
                <a:spcPts val="133"/>
              </a:spcBef>
            </a:pPr>
            <a:r>
              <a:rPr sz="2133" dirty="0">
                <a:latin typeface="Calibri"/>
                <a:cs typeface="Calibri"/>
              </a:rPr>
              <a:t>Classify: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Is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next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word…</a:t>
            </a:r>
            <a:endParaRPr sz="2133">
              <a:latin typeface="Calibri"/>
              <a:cs typeface="Calibri"/>
            </a:endParaRPr>
          </a:p>
          <a:p>
            <a:pPr marL="282780" indent="-265847">
              <a:lnSpc>
                <a:spcPts val="2547"/>
              </a:lnSpc>
              <a:buFont typeface="Calibri"/>
              <a:buAutoNum type="arabicPeriod"/>
              <a:tabLst>
                <a:tab pos="282780" algn="l"/>
              </a:tabLst>
            </a:pPr>
            <a:r>
              <a:rPr sz="2133" b="1" spc="-13" dirty="0">
                <a:latin typeface="Calibri"/>
                <a:cs typeface="Calibri"/>
              </a:rPr>
              <a:t>Related</a:t>
            </a:r>
            <a:r>
              <a:rPr sz="2133" b="1" spc="-4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entity</a:t>
            </a:r>
            <a:r>
              <a:rPr sz="2133" b="1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(in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local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spc="-33" dirty="0">
                <a:latin typeface="Calibri"/>
                <a:cs typeface="Calibri"/>
              </a:rPr>
              <a:t>KG)</a:t>
            </a:r>
            <a:endParaRPr sz="2133">
              <a:latin typeface="Calibri"/>
              <a:cs typeface="Calibri"/>
            </a:endParaRPr>
          </a:p>
          <a:p>
            <a:pPr marL="282780" indent="-265847">
              <a:lnSpc>
                <a:spcPts val="2547"/>
              </a:lnSpc>
              <a:spcBef>
                <a:spcPts val="127"/>
              </a:spcBef>
              <a:buFont typeface="Calibri"/>
              <a:buAutoNum type="arabicPeriod"/>
              <a:tabLst>
                <a:tab pos="282780" algn="l"/>
              </a:tabLst>
            </a:pPr>
            <a:r>
              <a:rPr sz="2133" b="1" dirty="0">
                <a:latin typeface="Calibri"/>
                <a:cs typeface="Calibri"/>
              </a:rPr>
              <a:t>New</a:t>
            </a:r>
            <a:r>
              <a:rPr sz="2133" b="1" spc="-27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entity</a:t>
            </a:r>
            <a:r>
              <a:rPr sz="2133" b="1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(not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in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local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spc="-33" dirty="0">
                <a:latin typeface="Calibri"/>
                <a:cs typeface="Calibri"/>
              </a:rPr>
              <a:t>KG)</a:t>
            </a:r>
            <a:endParaRPr sz="2133">
              <a:latin typeface="Calibri"/>
              <a:cs typeface="Calibri"/>
            </a:endParaRPr>
          </a:p>
          <a:p>
            <a:pPr marL="282780" indent="-265847">
              <a:lnSpc>
                <a:spcPts val="2547"/>
              </a:lnSpc>
              <a:buFont typeface="Calibri"/>
              <a:buAutoNum type="arabicPeriod"/>
              <a:tabLst>
                <a:tab pos="282780" algn="l"/>
              </a:tabLst>
            </a:pPr>
            <a:r>
              <a:rPr sz="2133" b="1" dirty="0">
                <a:latin typeface="Calibri"/>
                <a:cs typeface="Calibri"/>
              </a:rPr>
              <a:t>Not</a:t>
            </a:r>
            <a:r>
              <a:rPr sz="2133" b="1" spc="-13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an</a:t>
            </a:r>
            <a:r>
              <a:rPr sz="2133" b="1" spc="-7" dirty="0">
                <a:latin typeface="Calibri"/>
                <a:cs typeface="Calibri"/>
              </a:rPr>
              <a:t> </a:t>
            </a:r>
            <a:r>
              <a:rPr sz="2133" b="1" spc="-13" dirty="0">
                <a:latin typeface="Calibri"/>
                <a:cs typeface="Calibri"/>
              </a:rPr>
              <a:t>entity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088420" y="3083994"/>
            <a:ext cx="3417993" cy="1058333"/>
            <a:chOff x="6066314" y="2312995"/>
            <a:chExt cx="2563495" cy="793750"/>
          </a:xfrm>
        </p:grpSpPr>
        <p:sp>
          <p:nvSpPr>
            <p:cNvPr id="11" name="object 11"/>
            <p:cNvSpPr/>
            <p:nvPr/>
          </p:nvSpPr>
          <p:spPr>
            <a:xfrm>
              <a:off x="8013562" y="2312995"/>
              <a:ext cx="76200" cy="300355"/>
            </a:xfrm>
            <a:custGeom>
              <a:avLst/>
              <a:gdLst/>
              <a:ahLst/>
              <a:cxnLst/>
              <a:rect l="l" t="t" r="r" b="b"/>
              <a:pathLst>
                <a:path w="76200" h="300355">
                  <a:moveTo>
                    <a:pt x="42862" y="63500"/>
                  </a:moveTo>
                  <a:lnTo>
                    <a:pt x="33337" y="63500"/>
                  </a:lnTo>
                  <a:lnTo>
                    <a:pt x="33336" y="300131"/>
                  </a:lnTo>
                  <a:lnTo>
                    <a:pt x="42861" y="300131"/>
                  </a:lnTo>
                  <a:lnTo>
                    <a:pt x="42862" y="63500"/>
                  </a:lnTo>
                  <a:close/>
                </a:path>
                <a:path w="76200" h="300355">
                  <a:moveTo>
                    <a:pt x="38100" y="0"/>
                  </a:moveTo>
                  <a:lnTo>
                    <a:pt x="0" y="76200"/>
                  </a:lnTo>
                  <a:lnTo>
                    <a:pt x="33337" y="76200"/>
                  </a:lnTo>
                  <a:lnTo>
                    <a:pt x="33337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00355">
                  <a:moveTo>
                    <a:pt x="69850" y="63500"/>
                  </a:moveTo>
                  <a:lnTo>
                    <a:pt x="42862" y="63500"/>
                  </a:lnTo>
                  <a:lnTo>
                    <a:pt x="42862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84963" y="2617342"/>
              <a:ext cx="1709420" cy="487680"/>
            </a:xfrm>
            <a:custGeom>
              <a:avLst/>
              <a:gdLst/>
              <a:ahLst/>
              <a:cxnLst/>
              <a:rect l="l" t="t" r="r" b="b"/>
              <a:pathLst>
                <a:path w="1709420" h="487680">
                  <a:moveTo>
                    <a:pt x="285191" y="5105"/>
                  </a:moveTo>
                  <a:lnTo>
                    <a:pt x="0" y="5105"/>
                  </a:lnTo>
                  <a:lnTo>
                    <a:pt x="0" y="487311"/>
                  </a:lnTo>
                  <a:lnTo>
                    <a:pt x="285191" y="487311"/>
                  </a:lnTo>
                  <a:lnTo>
                    <a:pt x="285191" y="5105"/>
                  </a:lnTo>
                  <a:close/>
                </a:path>
                <a:path w="1709420" h="487680">
                  <a:moveTo>
                    <a:pt x="1709293" y="0"/>
                  </a:moveTo>
                  <a:lnTo>
                    <a:pt x="1424089" y="0"/>
                  </a:lnTo>
                  <a:lnTo>
                    <a:pt x="1424089" y="482206"/>
                  </a:lnTo>
                  <a:lnTo>
                    <a:pt x="1709293" y="482206"/>
                  </a:lnTo>
                  <a:lnTo>
                    <a:pt x="1709293" y="0"/>
                  </a:lnTo>
                  <a:close/>
                </a:path>
              </a:pathLst>
            </a:custGeom>
            <a:solidFill>
              <a:srgbClr val="610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70141" y="2827223"/>
              <a:ext cx="1147445" cy="81280"/>
            </a:xfrm>
            <a:custGeom>
              <a:avLst/>
              <a:gdLst/>
              <a:ahLst/>
              <a:cxnLst/>
              <a:rect l="l" t="t" r="r" b="b"/>
              <a:pathLst>
                <a:path w="1147445" h="81280">
                  <a:moveTo>
                    <a:pt x="435013" y="37858"/>
                  </a:moveTo>
                  <a:lnTo>
                    <a:pt x="425831" y="33299"/>
                  </a:lnTo>
                  <a:lnTo>
                    <a:pt x="358698" y="0"/>
                  </a:lnTo>
                  <a:lnTo>
                    <a:pt x="358800" y="33337"/>
                  </a:lnTo>
                  <a:lnTo>
                    <a:pt x="0" y="34505"/>
                  </a:lnTo>
                  <a:lnTo>
                    <a:pt x="25" y="44030"/>
                  </a:lnTo>
                  <a:lnTo>
                    <a:pt x="358838" y="42862"/>
                  </a:lnTo>
                  <a:lnTo>
                    <a:pt x="358940" y="76200"/>
                  </a:lnTo>
                  <a:lnTo>
                    <a:pt x="435013" y="37858"/>
                  </a:lnTo>
                  <a:close/>
                </a:path>
                <a:path w="1147445" h="81280">
                  <a:moveTo>
                    <a:pt x="1147064" y="42557"/>
                  </a:moveTo>
                  <a:lnTo>
                    <a:pt x="1137881" y="37998"/>
                  </a:lnTo>
                  <a:lnTo>
                    <a:pt x="1070749" y="4699"/>
                  </a:lnTo>
                  <a:lnTo>
                    <a:pt x="1070851" y="38049"/>
                  </a:lnTo>
                  <a:lnTo>
                    <a:pt x="712050" y="39204"/>
                  </a:lnTo>
                  <a:lnTo>
                    <a:pt x="712076" y="48729"/>
                  </a:lnTo>
                  <a:lnTo>
                    <a:pt x="1070876" y="47574"/>
                  </a:lnTo>
                  <a:lnTo>
                    <a:pt x="1070991" y="80899"/>
                  </a:lnTo>
                  <a:lnTo>
                    <a:pt x="1147064" y="42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97013" y="2623972"/>
              <a:ext cx="285750" cy="482600"/>
            </a:xfrm>
            <a:custGeom>
              <a:avLst/>
              <a:gdLst/>
              <a:ahLst/>
              <a:cxnLst/>
              <a:rect l="l" t="t" r="r" b="b"/>
              <a:pathLst>
                <a:path w="285750" h="482600">
                  <a:moveTo>
                    <a:pt x="285196" y="0"/>
                  </a:moveTo>
                  <a:lnTo>
                    <a:pt x="0" y="0"/>
                  </a:lnTo>
                  <a:lnTo>
                    <a:pt x="0" y="482205"/>
                  </a:lnTo>
                  <a:lnTo>
                    <a:pt x="285196" y="482205"/>
                  </a:lnTo>
                  <a:lnTo>
                    <a:pt x="285196" y="0"/>
                  </a:lnTo>
                  <a:close/>
                </a:path>
              </a:pathLst>
            </a:custGeom>
            <a:solidFill>
              <a:srgbClr val="610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66307" y="2819183"/>
              <a:ext cx="2563495" cy="83185"/>
            </a:xfrm>
            <a:custGeom>
              <a:avLst/>
              <a:gdLst/>
              <a:ahLst/>
              <a:cxnLst/>
              <a:rect l="l" t="t" r="r" b="b"/>
              <a:pathLst>
                <a:path w="2563495" h="83185">
                  <a:moveTo>
                    <a:pt x="435025" y="44488"/>
                  </a:moveTo>
                  <a:lnTo>
                    <a:pt x="425831" y="39928"/>
                  </a:lnTo>
                  <a:lnTo>
                    <a:pt x="358698" y="6629"/>
                  </a:lnTo>
                  <a:lnTo>
                    <a:pt x="358800" y="39966"/>
                  </a:lnTo>
                  <a:lnTo>
                    <a:pt x="0" y="41135"/>
                  </a:lnTo>
                  <a:lnTo>
                    <a:pt x="38" y="50660"/>
                  </a:lnTo>
                  <a:lnTo>
                    <a:pt x="358838" y="49491"/>
                  </a:lnTo>
                  <a:lnTo>
                    <a:pt x="358940" y="82829"/>
                  </a:lnTo>
                  <a:lnTo>
                    <a:pt x="435025" y="44488"/>
                  </a:lnTo>
                  <a:close/>
                </a:path>
                <a:path w="2563495" h="83185">
                  <a:moveTo>
                    <a:pt x="2562949" y="37846"/>
                  </a:moveTo>
                  <a:lnTo>
                    <a:pt x="2553766" y="33299"/>
                  </a:lnTo>
                  <a:lnTo>
                    <a:pt x="2486634" y="0"/>
                  </a:lnTo>
                  <a:lnTo>
                    <a:pt x="2486736" y="33337"/>
                  </a:lnTo>
                  <a:lnTo>
                    <a:pt x="2127935" y="34493"/>
                  </a:lnTo>
                  <a:lnTo>
                    <a:pt x="2127961" y="44018"/>
                  </a:lnTo>
                  <a:lnTo>
                    <a:pt x="2486761" y="42862"/>
                  </a:lnTo>
                  <a:lnTo>
                    <a:pt x="2486876" y="76200"/>
                  </a:lnTo>
                  <a:lnTo>
                    <a:pt x="2562949" y="37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731899" y="3498629"/>
            <a:ext cx="955040" cy="643467"/>
            <a:chOff x="5048924" y="2623972"/>
            <a:chExt cx="716280" cy="482600"/>
          </a:xfrm>
        </p:grpSpPr>
        <p:sp>
          <p:nvSpPr>
            <p:cNvPr id="17" name="object 17"/>
            <p:cNvSpPr/>
            <p:nvPr/>
          </p:nvSpPr>
          <p:spPr>
            <a:xfrm>
              <a:off x="5048924" y="2623972"/>
              <a:ext cx="285750" cy="482600"/>
            </a:xfrm>
            <a:custGeom>
              <a:avLst/>
              <a:gdLst/>
              <a:ahLst/>
              <a:cxnLst/>
              <a:rect l="l" t="t" r="r" b="b"/>
              <a:pathLst>
                <a:path w="285750" h="482600">
                  <a:moveTo>
                    <a:pt x="285196" y="0"/>
                  </a:moveTo>
                  <a:lnTo>
                    <a:pt x="0" y="0"/>
                  </a:lnTo>
                  <a:lnTo>
                    <a:pt x="0" y="482205"/>
                  </a:lnTo>
                  <a:lnTo>
                    <a:pt x="285196" y="482205"/>
                  </a:lnTo>
                  <a:lnTo>
                    <a:pt x="285196" y="0"/>
                  </a:lnTo>
                  <a:close/>
                </a:path>
              </a:pathLst>
            </a:custGeom>
            <a:solidFill>
              <a:srgbClr val="610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30029" y="2822122"/>
              <a:ext cx="435609" cy="76200"/>
            </a:xfrm>
            <a:custGeom>
              <a:avLst/>
              <a:gdLst/>
              <a:ahLst/>
              <a:cxnLst/>
              <a:rect l="l" t="t" r="r" b="b"/>
              <a:pathLst>
                <a:path w="435610" h="76200">
                  <a:moveTo>
                    <a:pt x="425833" y="33296"/>
                  </a:moveTo>
                  <a:lnTo>
                    <a:pt x="371505" y="33296"/>
                  </a:lnTo>
                  <a:lnTo>
                    <a:pt x="371537" y="42821"/>
                  </a:lnTo>
                  <a:lnTo>
                    <a:pt x="358836" y="42863"/>
                  </a:lnTo>
                  <a:lnTo>
                    <a:pt x="358945" y="76200"/>
                  </a:lnTo>
                  <a:lnTo>
                    <a:pt x="435020" y="37853"/>
                  </a:lnTo>
                  <a:lnTo>
                    <a:pt x="425833" y="33296"/>
                  </a:lnTo>
                  <a:close/>
                </a:path>
                <a:path w="435610" h="76200">
                  <a:moveTo>
                    <a:pt x="358805" y="33338"/>
                  </a:moveTo>
                  <a:lnTo>
                    <a:pt x="0" y="34502"/>
                  </a:lnTo>
                  <a:lnTo>
                    <a:pt x="31" y="44027"/>
                  </a:lnTo>
                  <a:lnTo>
                    <a:pt x="358836" y="42863"/>
                  </a:lnTo>
                  <a:lnTo>
                    <a:pt x="358805" y="33338"/>
                  </a:lnTo>
                  <a:close/>
                </a:path>
                <a:path w="435610" h="76200">
                  <a:moveTo>
                    <a:pt x="371505" y="33296"/>
                  </a:moveTo>
                  <a:lnTo>
                    <a:pt x="358805" y="33338"/>
                  </a:lnTo>
                  <a:lnTo>
                    <a:pt x="358836" y="42863"/>
                  </a:lnTo>
                  <a:lnTo>
                    <a:pt x="371537" y="42821"/>
                  </a:lnTo>
                  <a:lnTo>
                    <a:pt x="371505" y="33296"/>
                  </a:lnTo>
                  <a:close/>
                </a:path>
                <a:path w="435610" h="76200">
                  <a:moveTo>
                    <a:pt x="358697" y="0"/>
                  </a:moveTo>
                  <a:lnTo>
                    <a:pt x="358805" y="33338"/>
                  </a:lnTo>
                  <a:lnTo>
                    <a:pt x="425833" y="33296"/>
                  </a:lnTo>
                  <a:lnTo>
                    <a:pt x="358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909432" y="4258393"/>
            <a:ext cx="13021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spc="-13" dirty="0">
                <a:latin typeface="Calibri"/>
                <a:cs typeface="Calibri"/>
              </a:rPr>
              <a:t>developed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99171" y="4246201"/>
            <a:ext cx="32427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spc="-33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25797" y="4209627"/>
            <a:ext cx="7357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spc="-13" dirty="0">
                <a:latin typeface="Calibri"/>
                <a:cs typeface="Calibri"/>
              </a:rPr>
              <a:t>Super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37854" y="3522810"/>
            <a:ext cx="2446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10673" y="3510619"/>
            <a:ext cx="2446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85381" y="4051918"/>
            <a:ext cx="1519767" cy="495300"/>
            <a:chOff x="664035" y="3038938"/>
            <a:chExt cx="1139825" cy="371475"/>
          </a:xfrm>
        </p:grpSpPr>
        <p:sp>
          <p:nvSpPr>
            <p:cNvPr id="25" name="object 25"/>
            <p:cNvSpPr/>
            <p:nvPr/>
          </p:nvSpPr>
          <p:spPr>
            <a:xfrm>
              <a:off x="670068" y="3044971"/>
              <a:ext cx="1127760" cy="240029"/>
            </a:xfrm>
            <a:custGeom>
              <a:avLst/>
              <a:gdLst/>
              <a:ahLst/>
              <a:cxnLst/>
              <a:rect l="l" t="t" r="r" b="b"/>
              <a:pathLst>
                <a:path w="1127760" h="240029">
                  <a:moveTo>
                    <a:pt x="0" y="239422"/>
                  </a:moveTo>
                  <a:lnTo>
                    <a:pt x="0" y="47884"/>
                  </a:lnTo>
                  <a:lnTo>
                    <a:pt x="3022" y="29212"/>
                  </a:lnTo>
                  <a:lnTo>
                    <a:pt x="11277" y="13995"/>
                  </a:lnTo>
                  <a:lnTo>
                    <a:pt x="23544" y="3751"/>
                  </a:lnTo>
                  <a:lnTo>
                    <a:pt x="38602" y="0"/>
                  </a:lnTo>
                  <a:lnTo>
                    <a:pt x="1088589" y="0"/>
                  </a:lnTo>
                  <a:lnTo>
                    <a:pt x="1103641" y="3751"/>
                  </a:lnTo>
                  <a:lnTo>
                    <a:pt x="1115909" y="13995"/>
                  </a:lnTo>
                  <a:lnTo>
                    <a:pt x="1124166" y="29212"/>
                  </a:lnTo>
                  <a:lnTo>
                    <a:pt x="1127191" y="47884"/>
                  </a:lnTo>
                  <a:lnTo>
                    <a:pt x="1127191" y="239422"/>
                  </a:lnTo>
                </a:path>
              </a:pathLst>
            </a:custGeom>
            <a:ln w="11870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0068" y="3284393"/>
              <a:ext cx="1127760" cy="120014"/>
            </a:xfrm>
            <a:custGeom>
              <a:avLst/>
              <a:gdLst/>
              <a:ahLst/>
              <a:cxnLst/>
              <a:rect l="l" t="t" r="r" b="b"/>
              <a:pathLst>
                <a:path w="1127760" h="120014">
                  <a:moveTo>
                    <a:pt x="1088589" y="119711"/>
                  </a:moveTo>
                  <a:lnTo>
                    <a:pt x="38602" y="119711"/>
                  </a:lnTo>
                  <a:lnTo>
                    <a:pt x="23544" y="115961"/>
                  </a:lnTo>
                  <a:lnTo>
                    <a:pt x="11277" y="105721"/>
                  </a:lnTo>
                  <a:lnTo>
                    <a:pt x="3022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127191" y="0"/>
                  </a:lnTo>
                  <a:lnTo>
                    <a:pt x="1127191" y="71826"/>
                  </a:lnTo>
                  <a:lnTo>
                    <a:pt x="1124166" y="90505"/>
                  </a:lnTo>
                  <a:lnTo>
                    <a:pt x="1115909" y="105721"/>
                  </a:lnTo>
                  <a:lnTo>
                    <a:pt x="1103641" y="115961"/>
                  </a:lnTo>
                  <a:lnTo>
                    <a:pt x="1088589" y="119711"/>
                  </a:lnTo>
                  <a:close/>
                </a:path>
              </a:pathLst>
            </a:custGeom>
            <a:solidFill>
              <a:srgbClr val="D95F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068" y="3284393"/>
              <a:ext cx="1127760" cy="120014"/>
            </a:xfrm>
            <a:custGeom>
              <a:avLst/>
              <a:gdLst/>
              <a:ahLst/>
              <a:cxnLst/>
              <a:rect l="l" t="t" r="r" b="b"/>
              <a:pathLst>
                <a:path w="1127760" h="120014">
                  <a:moveTo>
                    <a:pt x="1127191" y="0"/>
                  </a:moveTo>
                  <a:lnTo>
                    <a:pt x="1127191" y="71826"/>
                  </a:lnTo>
                  <a:lnTo>
                    <a:pt x="1124166" y="90505"/>
                  </a:lnTo>
                  <a:lnTo>
                    <a:pt x="1115909" y="105721"/>
                  </a:lnTo>
                  <a:lnTo>
                    <a:pt x="1103641" y="115961"/>
                  </a:lnTo>
                  <a:lnTo>
                    <a:pt x="1088589" y="119711"/>
                  </a:lnTo>
                  <a:lnTo>
                    <a:pt x="38602" y="119711"/>
                  </a:lnTo>
                  <a:lnTo>
                    <a:pt x="23544" y="115961"/>
                  </a:lnTo>
                  <a:lnTo>
                    <a:pt x="11277" y="105721"/>
                  </a:lnTo>
                  <a:lnTo>
                    <a:pt x="3022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45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33905" y="4015834"/>
            <a:ext cx="1421553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dirty="0">
                <a:solidFill>
                  <a:srgbClr val="D95F02"/>
                </a:solidFill>
                <a:latin typeface="Trebuchet MS"/>
                <a:cs typeface="Trebuchet MS"/>
              </a:rPr>
              <a:t>21</a:t>
            </a:r>
            <a:r>
              <a:rPr sz="2000" spc="-147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00" spc="-113" dirty="0">
                <a:solidFill>
                  <a:srgbClr val="D95F02"/>
                </a:solidFill>
                <a:latin typeface="Trebuchet MS"/>
                <a:cs typeface="Trebuchet MS"/>
              </a:rPr>
              <a:t>April</a:t>
            </a:r>
            <a:r>
              <a:rPr sz="2000" spc="-93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D95F02"/>
                </a:solidFill>
                <a:latin typeface="Trebuchet MS"/>
                <a:cs typeface="Trebuchet MS"/>
              </a:rPr>
              <a:t>1989</a:t>
            </a:r>
            <a:endParaRPr sz="2000">
              <a:latin typeface="Trebuchet MS"/>
              <a:cs typeface="Trebuchet MS"/>
            </a:endParaRPr>
          </a:p>
          <a:p>
            <a:pPr marL="847" algn="ctr">
              <a:spcBef>
                <a:spcPts val="113"/>
              </a:spcBef>
            </a:pPr>
            <a:r>
              <a:rPr sz="1000" spc="-27" dirty="0">
                <a:solidFill>
                  <a:srgbClr val="FFFFFF"/>
                </a:solidFill>
                <a:latin typeface="Trebuchet MS"/>
                <a:cs typeface="Trebuchet MS"/>
              </a:rPr>
              <a:t>Date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81679" y="4051918"/>
            <a:ext cx="1617133" cy="495300"/>
            <a:chOff x="2086259" y="3038938"/>
            <a:chExt cx="1212850" cy="371475"/>
          </a:xfrm>
        </p:grpSpPr>
        <p:sp>
          <p:nvSpPr>
            <p:cNvPr id="30" name="object 30"/>
            <p:cNvSpPr/>
            <p:nvPr/>
          </p:nvSpPr>
          <p:spPr>
            <a:xfrm>
              <a:off x="2092291" y="3044971"/>
              <a:ext cx="1200785" cy="240029"/>
            </a:xfrm>
            <a:custGeom>
              <a:avLst/>
              <a:gdLst/>
              <a:ahLst/>
              <a:cxnLst/>
              <a:rect l="l" t="t" r="r" b="b"/>
              <a:pathLst>
                <a:path w="1200785" h="240029">
                  <a:moveTo>
                    <a:pt x="0" y="239422"/>
                  </a:move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1161931" y="0"/>
                  </a:lnTo>
                  <a:lnTo>
                    <a:pt x="1176988" y="3751"/>
                  </a:lnTo>
                  <a:lnTo>
                    <a:pt x="1189255" y="13995"/>
                  </a:lnTo>
                  <a:lnTo>
                    <a:pt x="1197510" y="29212"/>
                  </a:lnTo>
                  <a:lnTo>
                    <a:pt x="1200533" y="47884"/>
                  </a:lnTo>
                  <a:lnTo>
                    <a:pt x="1200533" y="239422"/>
                  </a:lnTo>
                </a:path>
              </a:pathLst>
            </a:custGeom>
            <a:ln w="11882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92291" y="3284393"/>
              <a:ext cx="1200785" cy="120014"/>
            </a:xfrm>
            <a:custGeom>
              <a:avLst/>
              <a:gdLst/>
              <a:ahLst/>
              <a:cxnLst/>
              <a:rect l="l" t="t" r="r" b="b"/>
              <a:pathLst>
                <a:path w="1200785" h="120014">
                  <a:moveTo>
                    <a:pt x="1161931" y="119711"/>
                  </a:move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200533" y="0"/>
                  </a:lnTo>
                  <a:lnTo>
                    <a:pt x="1200533" y="71826"/>
                  </a:lnTo>
                  <a:lnTo>
                    <a:pt x="1197510" y="90505"/>
                  </a:lnTo>
                  <a:lnTo>
                    <a:pt x="1189255" y="105721"/>
                  </a:lnTo>
                  <a:lnTo>
                    <a:pt x="1176988" y="115961"/>
                  </a:lnTo>
                  <a:lnTo>
                    <a:pt x="1161931" y="119711"/>
                  </a:lnTo>
                  <a:close/>
                </a:path>
              </a:pathLst>
            </a:custGeom>
            <a:solidFill>
              <a:srgbClr val="E72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92291" y="3284393"/>
              <a:ext cx="1200785" cy="120014"/>
            </a:xfrm>
            <a:custGeom>
              <a:avLst/>
              <a:gdLst/>
              <a:ahLst/>
              <a:cxnLst/>
              <a:rect l="l" t="t" r="r" b="b"/>
              <a:pathLst>
                <a:path w="1200785" h="120014">
                  <a:moveTo>
                    <a:pt x="1200533" y="0"/>
                  </a:moveTo>
                  <a:lnTo>
                    <a:pt x="1200533" y="71826"/>
                  </a:lnTo>
                  <a:lnTo>
                    <a:pt x="1197510" y="90505"/>
                  </a:lnTo>
                  <a:lnTo>
                    <a:pt x="1189255" y="105721"/>
                  </a:lnTo>
                  <a:lnTo>
                    <a:pt x="1176988" y="115961"/>
                  </a:lnTo>
                  <a:lnTo>
                    <a:pt x="1161931" y="119711"/>
                  </a:ln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48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810745" y="4015834"/>
            <a:ext cx="1557867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127" dirty="0">
                <a:solidFill>
                  <a:srgbClr val="E7298A"/>
                </a:solidFill>
                <a:latin typeface="Trebuchet MS"/>
                <a:cs typeface="Trebuchet MS"/>
              </a:rPr>
              <a:t>platform</a:t>
            </a:r>
            <a:r>
              <a:rPr sz="2000" spc="-53" dirty="0">
                <a:solidFill>
                  <a:srgbClr val="E7298A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E7298A"/>
                </a:solidFill>
                <a:latin typeface="Trebuchet MS"/>
                <a:cs typeface="Trebuchet MS"/>
              </a:rPr>
              <a:t>game</a:t>
            </a:r>
            <a:endParaRPr sz="2000">
              <a:latin typeface="Trebuchet MS"/>
              <a:cs typeface="Trebuchet MS"/>
            </a:endParaRPr>
          </a:p>
          <a:p>
            <a:pPr marL="847"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Q828322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17413" y="2507415"/>
            <a:ext cx="1066800" cy="495300"/>
            <a:chOff x="2863060" y="1880561"/>
            <a:chExt cx="800100" cy="371475"/>
          </a:xfrm>
        </p:grpSpPr>
        <p:sp>
          <p:nvSpPr>
            <p:cNvPr id="35" name="object 35"/>
            <p:cNvSpPr/>
            <p:nvPr/>
          </p:nvSpPr>
          <p:spPr>
            <a:xfrm>
              <a:off x="2869093" y="1886593"/>
              <a:ext cx="788035" cy="240029"/>
            </a:xfrm>
            <a:custGeom>
              <a:avLst/>
              <a:gdLst/>
              <a:ahLst/>
              <a:cxnLst/>
              <a:rect l="l" t="t" r="r" b="b"/>
              <a:pathLst>
                <a:path w="788035" h="240030">
                  <a:moveTo>
                    <a:pt x="0" y="239422"/>
                  </a:moveTo>
                  <a:lnTo>
                    <a:pt x="0" y="47884"/>
                  </a:lnTo>
                  <a:lnTo>
                    <a:pt x="3024" y="29207"/>
                  </a:lnTo>
                  <a:lnTo>
                    <a:pt x="11281" y="13990"/>
                  </a:lnTo>
                  <a:lnTo>
                    <a:pt x="23548" y="3750"/>
                  </a:lnTo>
                  <a:lnTo>
                    <a:pt x="38602" y="0"/>
                  </a:lnTo>
                  <a:lnTo>
                    <a:pt x="748884" y="0"/>
                  </a:lnTo>
                  <a:lnTo>
                    <a:pt x="763937" y="3750"/>
                  </a:lnTo>
                  <a:lnTo>
                    <a:pt x="776204" y="13990"/>
                  </a:lnTo>
                  <a:lnTo>
                    <a:pt x="784462" y="29207"/>
                  </a:lnTo>
                  <a:lnTo>
                    <a:pt x="787486" y="47884"/>
                  </a:lnTo>
                  <a:lnTo>
                    <a:pt x="787486" y="239422"/>
                  </a:lnTo>
                </a:path>
              </a:pathLst>
            </a:custGeom>
            <a:ln w="11774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69093" y="2126015"/>
              <a:ext cx="788035" cy="120014"/>
            </a:xfrm>
            <a:custGeom>
              <a:avLst/>
              <a:gdLst/>
              <a:ahLst/>
              <a:cxnLst/>
              <a:rect l="l" t="t" r="r" b="b"/>
              <a:pathLst>
                <a:path w="788035" h="120014">
                  <a:moveTo>
                    <a:pt x="748884" y="119711"/>
                  </a:move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787486" y="0"/>
                  </a:lnTo>
                  <a:lnTo>
                    <a:pt x="787486" y="71826"/>
                  </a:lnTo>
                  <a:lnTo>
                    <a:pt x="784462" y="90498"/>
                  </a:lnTo>
                  <a:lnTo>
                    <a:pt x="776204" y="105715"/>
                  </a:lnTo>
                  <a:lnTo>
                    <a:pt x="763937" y="115959"/>
                  </a:lnTo>
                  <a:lnTo>
                    <a:pt x="748884" y="119711"/>
                  </a:lnTo>
                  <a:close/>
                </a:path>
              </a:pathLst>
            </a:custGeom>
            <a:solidFill>
              <a:srgbClr val="66A6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69093" y="2126015"/>
              <a:ext cx="788035" cy="120014"/>
            </a:xfrm>
            <a:custGeom>
              <a:avLst/>
              <a:gdLst/>
              <a:ahLst/>
              <a:cxnLst/>
              <a:rect l="l" t="t" r="r" b="b"/>
              <a:pathLst>
                <a:path w="788035" h="120014">
                  <a:moveTo>
                    <a:pt x="787486" y="0"/>
                  </a:moveTo>
                  <a:lnTo>
                    <a:pt x="787486" y="71826"/>
                  </a:lnTo>
                  <a:lnTo>
                    <a:pt x="784462" y="90498"/>
                  </a:lnTo>
                  <a:lnTo>
                    <a:pt x="776204" y="105715"/>
                  </a:lnTo>
                  <a:lnTo>
                    <a:pt x="763937" y="115959"/>
                  </a:lnTo>
                  <a:lnTo>
                    <a:pt x="748884" y="119711"/>
                  </a:ln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18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865256" y="2471315"/>
            <a:ext cx="970280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73" dirty="0">
                <a:solidFill>
                  <a:srgbClr val="66A61E"/>
                </a:solidFill>
                <a:latin typeface="Trebuchet MS"/>
                <a:cs typeface="Trebuchet MS"/>
              </a:rPr>
              <a:t>Nintendo</a:t>
            </a:r>
            <a:endParaRPr sz="2000">
              <a:latin typeface="Trebuchet MS"/>
              <a:cs typeface="Trebuchet MS"/>
            </a:endParaRPr>
          </a:p>
          <a:p>
            <a:pPr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Q8093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15526" y="2507415"/>
            <a:ext cx="1977813" cy="495300"/>
            <a:chOff x="536644" y="1880561"/>
            <a:chExt cx="1483360" cy="371475"/>
          </a:xfrm>
        </p:grpSpPr>
        <p:sp>
          <p:nvSpPr>
            <p:cNvPr id="40" name="object 40"/>
            <p:cNvSpPr/>
            <p:nvPr/>
          </p:nvSpPr>
          <p:spPr>
            <a:xfrm>
              <a:off x="542677" y="1886593"/>
              <a:ext cx="1471295" cy="240029"/>
            </a:xfrm>
            <a:custGeom>
              <a:avLst/>
              <a:gdLst/>
              <a:ahLst/>
              <a:cxnLst/>
              <a:rect l="l" t="t" r="r" b="b"/>
              <a:pathLst>
                <a:path w="1471295" h="240030">
                  <a:moveTo>
                    <a:pt x="0" y="239422"/>
                  </a:moveTo>
                  <a:lnTo>
                    <a:pt x="0" y="47884"/>
                  </a:lnTo>
                  <a:lnTo>
                    <a:pt x="3024" y="29207"/>
                  </a:lnTo>
                  <a:lnTo>
                    <a:pt x="11281" y="13990"/>
                  </a:lnTo>
                  <a:lnTo>
                    <a:pt x="23548" y="3750"/>
                  </a:lnTo>
                  <a:lnTo>
                    <a:pt x="38602" y="0"/>
                  </a:lnTo>
                  <a:lnTo>
                    <a:pt x="1432146" y="0"/>
                  </a:lnTo>
                  <a:lnTo>
                    <a:pt x="1447200" y="3750"/>
                  </a:lnTo>
                  <a:lnTo>
                    <a:pt x="1459467" y="13990"/>
                  </a:lnTo>
                  <a:lnTo>
                    <a:pt x="1467725" y="29207"/>
                  </a:lnTo>
                  <a:lnTo>
                    <a:pt x="1470749" y="47884"/>
                  </a:lnTo>
                  <a:lnTo>
                    <a:pt x="1470749" y="239422"/>
                  </a:lnTo>
                </a:path>
              </a:pathLst>
            </a:custGeom>
            <a:ln w="11911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2677" y="2126015"/>
              <a:ext cx="1471295" cy="120014"/>
            </a:xfrm>
            <a:custGeom>
              <a:avLst/>
              <a:gdLst/>
              <a:ahLst/>
              <a:cxnLst/>
              <a:rect l="l" t="t" r="r" b="b"/>
              <a:pathLst>
                <a:path w="1471295" h="120014">
                  <a:moveTo>
                    <a:pt x="1432146" y="119711"/>
                  </a:move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470749" y="0"/>
                  </a:lnTo>
                  <a:lnTo>
                    <a:pt x="1470749" y="71826"/>
                  </a:lnTo>
                  <a:lnTo>
                    <a:pt x="1467725" y="90498"/>
                  </a:lnTo>
                  <a:lnTo>
                    <a:pt x="1459467" y="105715"/>
                  </a:lnTo>
                  <a:lnTo>
                    <a:pt x="1447200" y="115959"/>
                  </a:lnTo>
                  <a:lnTo>
                    <a:pt x="1432146" y="119711"/>
                  </a:lnTo>
                  <a:close/>
                </a:path>
              </a:pathLst>
            </a:custGeom>
            <a:solidFill>
              <a:srgbClr val="1B9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2677" y="2126015"/>
              <a:ext cx="1471295" cy="120014"/>
            </a:xfrm>
            <a:custGeom>
              <a:avLst/>
              <a:gdLst/>
              <a:ahLst/>
              <a:cxnLst/>
              <a:rect l="l" t="t" r="r" b="b"/>
              <a:pathLst>
                <a:path w="1471295" h="120014">
                  <a:moveTo>
                    <a:pt x="1470749" y="0"/>
                  </a:moveTo>
                  <a:lnTo>
                    <a:pt x="1470749" y="71826"/>
                  </a:lnTo>
                  <a:lnTo>
                    <a:pt x="1467725" y="90498"/>
                  </a:lnTo>
                  <a:lnTo>
                    <a:pt x="1459467" y="105715"/>
                  </a:lnTo>
                  <a:lnTo>
                    <a:pt x="1447200" y="115959"/>
                  </a:lnTo>
                  <a:lnTo>
                    <a:pt x="1432146" y="119711"/>
                  </a:ln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55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82791" y="2471315"/>
            <a:ext cx="1840653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67" dirty="0">
                <a:solidFill>
                  <a:srgbClr val="1B9E77"/>
                </a:solidFill>
                <a:latin typeface="Trebuchet MS"/>
                <a:cs typeface="Trebuchet MS"/>
              </a:rPr>
              <a:t>Super</a:t>
            </a:r>
            <a:r>
              <a:rPr sz="2000" spc="-93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00" spc="-87" dirty="0">
                <a:solidFill>
                  <a:srgbClr val="1B9E77"/>
                </a:solidFill>
                <a:latin typeface="Trebuchet MS"/>
                <a:cs typeface="Trebuchet MS"/>
              </a:rPr>
              <a:t>Mario</a:t>
            </a:r>
            <a:r>
              <a:rPr sz="2000" spc="-93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1B9E77"/>
                </a:solidFill>
                <a:latin typeface="Trebuchet MS"/>
                <a:cs typeface="Trebuchet MS"/>
              </a:rPr>
              <a:t>Land</a:t>
            </a:r>
            <a:endParaRPr sz="2000">
              <a:latin typeface="Trebuchet MS"/>
              <a:cs typeface="Trebuchet MS"/>
            </a:endParaRPr>
          </a:p>
          <a:p>
            <a:pPr marL="1693"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Q647249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86669" y="2986259"/>
            <a:ext cx="3817620" cy="1561253"/>
            <a:chOff x="1715001" y="2239694"/>
            <a:chExt cx="2863215" cy="1170940"/>
          </a:xfrm>
        </p:grpSpPr>
        <p:sp>
          <p:nvSpPr>
            <p:cNvPr id="45" name="object 45"/>
            <p:cNvSpPr/>
            <p:nvPr/>
          </p:nvSpPr>
          <p:spPr>
            <a:xfrm>
              <a:off x="1721034" y="2245726"/>
              <a:ext cx="1994535" cy="808990"/>
            </a:xfrm>
            <a:custGeom>
              <a:avLst/>
              <a:gdLst/>
              <a:ahLst/>
              <a:cxnLst/>
              <a:rect l="l" t="t" r="r" b="b"/>
              <a:pathLst>
                <a:path w="1994535" h="808989">
                  <a:moveTo>
                    <a:pt x="0" y="0"/>
                  </a:moveTo>
                  <a:lnTo>
                    <a:pt x="1994334" y="808411"/>
                  </a:lnTo>
                </a:path>
              </a:pathLst>
            </a:custGeom>
            <a:ln w="116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54326" y="3009070"/>
              <a:ext cx="70485" cy="48895"/>
            </a:xfrm>
            <a:custGeom>
              <a:avLst/>
              <a:gdLst/>
              <a:ahLst/>
              <a:cxnLst/>
              <a:rect l="l" t="t" r="r" b="b"/>
              <a:pathLst>
                <a:path w="70485" h="48894">
                  <a:moveTo>
                    <a:pt x="11997" y="0"/>
                  </a:moveTo>
                  <a:lnTo>
                    <a:pt x="70212" y="48785"/>
                  </a:lnTo>
                  <a:lnTo>
                    <a:pt x="0" y="45521"/>
                  </a:lnTo>
                  <a:lnTo>
                    <a:pt x="24343" y="30191"/>
                  </a:lnTo>
                  <a:lnTo>
                    <a:pt x="11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54326" y="3009070"/>
              <a:ext cx="70485" cy="48895"/>
            </a:xfrm>
            <a:custGeom>
              <a:avLst/>
              <a:gdLst/>
              <a:ahLst/>
              <a:cxnLst/>
              <a:rect l="l" t="t" r="r" b="b"/>
              <a:pathLst>
                <a:path w="70485" h="48894">
                  <a:moveTo>
                    <a:pt x="24344" y="30195"/>
                  </a:moveTo>
                  <a:lnTo>
                    <a:pt x="0" y="45521"/>
                  </a:lnTo>
                  <a:lnTo>
                    <a:pt x="70212" y="48785"/>
                  </a:lnTo>
                  <a:lnTo>
                    <a:pt x="11997" y="0"/>
                  </a:lnTo>
                  <a:lnTo>
                    <a:pt x="24344" y="30195"/>
                  </a:lnTo>
                  <a:close/>
                </a:path>
              </a:pathLst>
            </a:custGeom>
            <a:ln w="5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99537" y="3044971"/>
              <a:ext cx="872490" cy="240029"/>
            </a:xfrm>
            <a:custGeom>
              <a:avLst/>
              <a:gdLst/>
              <a:ahLst/>
              <a:cxnLst/>
              <a:rect l="l" t="t" r="r" b="b"/>
              <a:pathLst>
                <a:path w="872489" h="240029">
                  <a:moveTo>
                    <a:pt x="872410" y="239422"/>
                  </a:moveTo>
                  <a:lnTo>
                    <a:pt x="0" y="239422"/>
                  </a:ln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833807" y="0"/>
                  </a:lnTo>
                  <a:lnTo>
                    <a:pt x="848865" y="3751"/>
                  </a:lnTo>
                  <a:lnTo>
                    <a:pt x="861132" y="13995"/>
                  </a:lnTo>
                  <a:lnTo>
                    <a:pt x="869387" y="29212"/>
                  </a:lnTo>
                  <a:lnTo>
                    <a:pt x="872410" y="47884"/>
                  </a:lnTo>
                  <a:lnTo>
                    <a:pt x="872410" y="239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99537" y="3044971"/>
              <a:ext cx="872490" cy="240029"/>
            </a:xfrm>
            <a:custGeom>
              <a:avLst/>
              <a:gdLst/>
              <a:ahLst/>
              <a:cxnLst/>
              <a:rect l="l" t="t" r="r" b="b"/>
              <a:pathLst>
                <a:path w="872489" h="240029">
                  <a:moveTo>
                    <a:pt x="0" y="239422"/>
                  </a:move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833807" y="0"/>
                  </a:lnTo>
                  <a:lnTo>
                    <a:pt x="848865" y="3751"/>
                  </a:lnTo>
                  <a:lnTo>
                    <a:pt x="861132" y="13995"/>
                  </a:lnTo>
                  <a:lnTo>
                    <a:pt x="869387" y="29212"/>
                  </a:lnTo>
                  <a:lnTo>
                    <a:pt x="872410" y="47884"/>
                  </a:lnTo>
                  <a:lnTo>
                    <a:pt x="872410" y="239422"/>
                  </a:lnTo>
                </a:path>
              </a:pathLst>
            </a:custGeom>
            <a:ln w="11808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99537" y="3284393"/>
              <a:ext cx="872490" cy="120014"/>
            </a:xfrm>
            <a:custGeom>
              <a:avLst/>
              <a:gdLst/>
              <a:ahLst/>
              <a:cxnLst/>
              <a:rect l="l" t="t" r="r" b="b"/>
              <a:pathLst>
                <a:path w="872489" h="120014">
                  <a:moveTo>
                    <a:pt x="833807" y="119711"/>
                  </a:move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872410" y="0"/>
                  </a:lnTo>
                  <a:lnTo>
                    <a:pt x="872410" y="71826"/>
                  </a:lnTo>
                  <a:lnTo>
                    <a:pt x="869387" y="90505"/>
                  </a:lnTo>
                  <a:lnTo>
                    <a:pt x="861132" y="105721"/>
                  </a:lnTo>
                  <a:lnTo>
                    <a:pt x="848865" y="115961"/>
                  </a:lnTo>
                  <a:lnTo>
                    <a:pt x="833807" y="119711"/>
                  </a:lnTo>
                  <a:close/>
                </a:path>
              </a:pathLst>
            </a:custGeom>
            <a:solidFill>
              <a:srgbClr val="A67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99537" y="3284393"/>
              <a:ext cx="872490" cy="120014"/>
            </a:xfrm>
            <a:custGeom>
              <a:avLst/>
              <a:gdLst/>
              <a:ahLst/>
              <a:cxnLst/>
              <a:rect l="l" t="t" r="r" b="b"/>
              <a:pathLst>
                <a:path w="872489" h="120014">
                  <a:moveTo>
                    <a:pt x="872410" y="0"/>
                  </a:moveTo>
                  <a:lnTo>
                    <a:pt x="872410" y="71826"/>
                  </a:lnTo>
                  <a:lnTo>
                    <a:pt x="869387" y="90505"/>
                  </a:lnTo>
                  <a:lnTo>
                    <a:pt x="861132" y="105721"/>
                  </a:lnTo>
                  <a:lnTo>
                    <a:pt x="848865" y="115961"/>
                  </a:lnTo>
                  <a:lnTo>
                    <a:pt x="833807" y="119711"/>
                  </a:ln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28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63588" y="4015834"/>
            <a:ext cx="1100667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107" dirty="0">
                <a:solidFill>
                  <a:srgbClr val="A6761D"/>
                </a:solidFill>
                <a:latin typeface="Trebuchet MS"/>
                <a:cs typeface="Trebuchet MS"/>
              </a:rPr>
              <a:t>Game</a:t>
            </a:r>
            <a:r>
              <a:rPr sz="2000" spc="-53" dirty="0">
                <a:solidFill>
                  <a:srgbClr val="A6761D"/>
                </a:solidFill>
                <a:latin typeface="Trebuchet MS"/>
                <a:cs typeface="Trebuchet MS"/>
              </a:rPr>
              <a:t> </a:t>
            </a:r>
            <a:r>
              <a:rPr sz="2000" spc="-33" dirty="0">
                <a:solidFill>
                  <a:srgbClr val="A6761D"/>
                </a:solidFill>
                <a:latin typeface="Trebuchet MS"/>
                <a:cs typeface="Trebuchet MS"/>
              </a:rPr>
              <a:t>Boy</a:t>
            </a:r>
            <a:endParaRPr sz="2000">
              <a:latin typeface="Trebuchet MS"/>
              <a:cs typeface="Trebuchet MS"/>
            </a:endParaRPr>
          </a:p>
          <a:p>
            <a:pPr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Q186437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400887" y="2532949"/>
            <a:ext cx="133688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67"/>
              </a:lnSpc>
            </a:pPr>
            <a:r>
              <a:rPr sz="2000" spc="-100" dirty="0">
                <a:solidFill>
                  <a:srgbClr val="E8AB02"/>
                </a:solidFill>
                <a:latin typeface="Trebuchet MS"/>
                <a:cs typeface="Trebuchet MS"/>
              </a:rPr>
              <a:t>launch</a:t>
            </a:r>
            <a:r>
              <a:rPr sz="2000" spc="-27" dirty="0">
                <a:solidFill>
                  <a:srgbClr val="E8AB02"/>
                </a:solidFill>
                <a:latin typeface="Trebuchet MS"/>
                <a:cs typeface="Trebuchet MS"/>
              </a:rPr>
              <a:t> </a:t>
            </a:r>
            <a:r>
              <a:rPr sz="2000" spc="-67" dirty="0">
                <a:solidFill>
                  <a:srgbClr val="E8AB02"/>
                </a:solidFill>
                <a:latin typeface="Trebuchet MS"/>
                <a:cs typeface="Trebuchet MS"/>
              </a:rPr>
              <a:t>game</a:t>
            </a:r>
            <a:endParaRPr sz="2000">
              <a:latin typeface="Trebuchet MS"/>
              <a:cs typeface="Trebuchet MS"/>
            </a:endParaRPr>
          </a:p>
          <a:p>
            <a:pPr marL="1693" algn="ctr">
              <a:spcBef>
                <a:spcPts val="107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Q1425505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5672" y="3249979"/>
            <a:ext cx="1075267" cy="5504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47971" marR="6773" indent="-331885">
              <a:lnSpc>
                <a:spcPct val="105700"/>
              </a:lnSpc>
              <a:spcBef>
                <a:spcPts val="40"/>
              </a:spcBef>
            </a:pPr>
            <a:r>
              <a:rPr sz="1733" spc="-80" dirty="0">
                <a:latin typeface="Cambria"/>
                <a:cs typeface="Cambria"/>
              </a:rPr>
              <a:t>Public</a:t>
            </a:r>
            <a:r>
              <a:rPr sz="1733" cap="small" spc="-80" dirty="0">
                <a:latin typeface="Cambria"/>
                <a:cs typeface="Cambria"/>
              </a:rPr>
              <a:t>at</a:t>
            </a:r>
            <a:r>
              <a:rPr sz="1733" spc="-80" dirty="0">
                <a:latin typeface="Cambria"/>
                <a:cs typeface="Cambria"/>
              </a:rPr>
              <a:t>ion </a:t>
            </a:r>
            <a:r>
              <a:rPr sz="1733" spc="-27" dirty="0">
                <a:latin typeface="Cambria"/>
                <a:cs typeface="Cambria"/>
              </a:rPr>
              <a:t>D</a:t>
            </a:r>
            <a:r>
              <a:rPr sz="1733" cap="small" spc="-27" dirty="0">
                <a:latin typeface="Cambria"/>
                <a:cs typeface="Cambria"/>
              </a:rPr>
              <a:t>at</a:t>
            </a:r>
            <a:r>
              <a:rPr sz="1733" spc="-27" dirty="0">
                <a:latin typeface="Cambria"/>
                <a:cs typeface="Cambria"/>
              </a:rPr>
              <a:t>e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086372" y="3396250"/>
            <a:ext cx="50715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152" dirty="0">
                <a:latin typeface="Cambria"/>
                <a:cs typeface="Cambria"/>
              </a:rPr>
              <a:t>gen</a:t>
            </a:r>
            <a:r>
              <a:rPr sz="1733" cap="small" spc="-152" dirty="0">
                <a:latin typeface="Cambria"/>
                <a:cs typeface="Cambria"/>
              </a:rPr>
              <a:t>r</a:t>
            </a:r>
            <a:r>
              <a:rPr sz="1733" spc="-152" dirty="0">
                <a:latin typeface="Cambria"/>
                <a:cs typeface="Cambria"/>
              </a:rPr>
              <a:t>e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2132" y="2427279"/>
            <a:ext cx="88561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87" dirty="0">
                <a:latin typeface="Cambria"/>
                <a:cs typeface="Cambria"/>
              </a:rPr>
              <a:t>publishe</a:t>
            </a:r>
            <a:r>
              <a:rPr sz="1733" cap="small" spc="-87" dirty="0">
                <a:latin typeface="Cambria"/>
                <a:cs typeface="Cambria"/>
              </a:rPr>
              <a:t>r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55326" y="3207564"/>
            <a:ext cx="79163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167" dirty="0">
                <a:latin typeface="Cambria"/>
                <a:cs typeface="Cambria"/>
              </a:rPr>
              <a:t>pl</a:t>
            </a:r>
            <a:r>
              <a:rPr sz="1733" cap="small" spc="-167" dirty="0">
                <a:latin typeface="Cambria"/>
                <a:cs typeface="Cambria"/>
              </a:rPr>
              <a:t>atf</a:t>
            </a:r>
            <a:r>
              <a:rPr sz="1733" spc="-167" dirty="0">
                <a:latin typeface="Cambria"/>
                <a:cs typeface="Cambria"/>
              </a:rPr>
              <a:t>o</a:t>
            </a:r>
            <a:r>
              <a:rPr sz="1733" cap="small" spc="-167" dirty="0">
                <a:latin typeface="Cambria"/>
                <a:cs typeface="Cambria"/>
              </a:rPr>
              <a:t>r</a:t>
            </a:r>
            <a:r>
              <a:rPr sz="1733" spc="-167" dirty="0">
                <a:latin typeface="Cambria"/>
                <a:cs typeface="Cambria"/>
              </a:rPr>
              <a:t>m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88722" y="3227850"/>
            <a:ext cx="1136225" cy="266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33" spc="-207" dirty="0">
                <a:latin typeface="Cambria"/>
                <a:cs typeface="Cambria"/>
              </a:rPr>
              <a:t>m</a:t>
            </a:r>
            <a:r>
              <a:rPr sz="1733" cap="small" spc="-207" dirty="0">
                <a:latin typeface="Cambria"/>
                <a:cs typeface="Cambria"/>
              </a:rPr>
              <a:t>a</a:t>
            </a:r>
            <a:r>
              <a:rPr sz="1733" spc="-207" dirty="0">
                <a:latin typeface="Cambria"/>
                <a:cs typeface="Cambria"/>
              </a:rPr>
              <a:t>nu</a:t>
            </a:r>
            <a:r>
              <a:rPr sz="1733" cap="small" spc="-207" dirty="0">
                <a:latin typeface="Cambria"/>
                <a:cs typeface="Cambria"/>
              </a:rPr>
              <a:t>fa</a:t>
            </a:r>
            <a:r>
              <a:rPr sz="1733" spc="-207" dirty="0">
                <a:latin typeface="Cambria"/>
                <a:cs typeface="Cambria"/>
              </a:rPr>
              <a:t>c</a:t>
            </a:r>
            <a:r>
              <a:rPr sz="1733" cap="small" spc="-207" dirty="0">
                <a:latin typeface="Cambria"/>
                <a:cs typeface="Cambria"/>
              </a:rPr>
              <a:t>t</a:t>
            </a:r>
            <a:r>
              <a:rPr sz="1733" spc="-207" dirty="0">
                <a:latin typeface="Cambria"/>
                <a:cs typeface="Cambria"/>
              </a:rPr>
              <a:t>u</a:t>
            </a:r>
            <a:r>
              <a:rPr sz="1733" cap="small" spc="-207" dirty="0">
                <a:latin typeface="Cambria"/>
                <a:cs typeface="Cambria"/>
              </a:rPr>
              <a:t>r</a:t>
            </a:r>
            <a:r>
              <a:rPr sz="1733" spc="-207" dirty="0">
                <a:latin typeface="Cambria"/>
                <a:cs typeface="Cambria"/>
              </a:rPr>
              <a:t>e</a:t>
            </a:r>
            <a:r>
              <a:rPr sz="1733" cap="small" spc="-207" dirty="0">
                <a:latin typeface="Cambria"/>
                <a:cs typeface="Cambria"/>
              </a:rPr>
              <a:t>r</a:t>
            </a:r>
            <a:endParaRPr sz="1733">
              <a:latin typeface="Cambria"/>
              <a:cs typeface="Cambr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674935" y="2228961"/>
            <a:ext cx="5175672" cy="2321560"/>
            <a:chOff x="1256201" y="1671721"/>
            <a:chExt cx="3881754" cy="1741170"/>
          </a:xfrm>
        </p:grpSpPr>
        <p:sp>
          <p:nvSpPr>
            <p:cNvPr id="60" name="object 60"/>
            <p:cNvSpPr/>
            <p:nvPr/>
          </p:nvSpPr>
          <p:spPr>
            <a:xfrm>
              <a:off x="3398152" y="2221784"/>
              <a:ext cx="602615" cy="799465"/>
            </a:xfrm>
            <a:custGeom>
              <a:avLst/>
              <a:gdLst/>
              <a:ahLst/>
              <a:cxnLst/>
              <a:rect l="l" t="t" r="r" b="b"/>
              <a:pathLst>
                <a:path w="602614" h="799464">
                  <a:moveTo>
                    <a:pt x="0" y="0"/>
                  </a:moveTo>
                  <a:lnTo>
                    <a:pt x="602279" y="799244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4080" y="2949498"/>
              <a:ext cx="65646" cy="8299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30923" y="3380162"/>
              <a:ext cx="10160" cy="32384"/>
            </a:xfrm>
            <a:custGeom>
              <a:avLst/>
              <a:gdLst/>
              <a:ahLst/>
              <a:cxnLst/>
              <a:rect l="l" t="t" r="r" b="b"/>
              <a:pathLst>
                <a:path w="10160" h="32385">
                  <a:moveTo>
                    <a:pt x="0" y="0"/>
                  </a:moveTo>
                  <a:lnTo>
                    <a:pt x="9650" y="0"/>
                  </a:lnTo>
                  <a:lnTo>
                    <a:pt x="9650" y="32187"/>
                  </a:lnTo>
                  <a:lnTo>
                    <a:pt x="0" y="32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278058" y="2231358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59"/>
                  </a:lnTo>
                </a:path>
              </a:pathLst>
            </a:custGeom>
            <a:ln w="9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258756" y="2958791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4" h="83819">
                  <a:moveTo>
                    <a:pt x="38602" y="0"/>
                  </a:moveTo>
                  <a:lnTo>
                    <a:pt x="19301" y="83797"/>
                  </a:lnTo>
                  <a:lnTo>
                    <a:pt x="0" y="0"/>
                  </a:lnTo>
                  <a:lnTo>
                    <a:pt x="19301" y="23942"/>
                  </a:lnTo>
                  <a:lnTo>
                    <a:pt x="386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58756" y="2958791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4" h="83819">
                  <a:moveTo>
                    <a:pt x="19301" y="23942"/>
                  </a:moveTo>
                  <a:lnTo>
                    <a:pt x="0" y="0"/>
                  </a:lnTo>
                  <a:lnTo>
                    <a:pt x="19301" y="83797"/>
                  </a:lnTo>
                  <a:lnTo>
                    <a:pt x="38602" y="0"/>
                  </a:lnTo>
                  <a:lnTo>
                    <a:pt x="19301" y="23942"/>
                  </a:lnTo>
                  <a:close/>
                </a:path>
              </a:pathLst>
            </a:custGeom>
            <a:ln w="57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13426" y="2066160"/>
              <a:ext cx="855980" cy="0"/>
            </a:xfrm>
            <a:custGeom>
              <a:avLst/>
              <a:gdLst/>
              <a:ahLst/>
              <a:cxnLst/>
              <a:rect l="l" t="t" r="r" b="b"/>
              <a:pathLst>
                <a:path w="855980">
                  <a:moveTo>
                    <a:pt x="0" y="0"/>
                  </a:moveTo>
                  <a:lnTo>
                    <a:pt x="855666" y="0"/>
                  </a:lnTo>
                </a:path>
              </a:pathLst>
            </a:custGeom>
            <a:ln w="11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11189" y="2042218"/>
              <a:ext cx="67945" cy="48260"/>
            </a:xfrm>
            <a:custGeom>
              <a:avLst/>
              <a:gdLst/>
              <a:ahLst/>
              <a:cxnLst/>
              <a:rect l="l" t="t" r="r" b="b"/>
              <a:pathLst>
                <a:path w="67944" h="48260">
                  <a:moveTo>
                    <a:pt x="0" y="0"/>
                  </a:moveTo>
                  <a:lnTo>
                    <a:pt x="67554" y="23942"/>
                  </a:lnTo>
                  <a:lnTo>
                    <a:pt x="0" y="47884"/>
                  </a:lnTo>
                  <a:lnTo>
                    <a:pt x="19301" y="23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11189" y="2042218"/>
              <a:ext cx="67945" cy="48260"/>
            </a:xfrm>
            <a:custGeom>
              <a:avLst/>
              <a:gdLst/>
              <a:ahLst/>
              <a:cxnLst/>
              <a:rect l="l" t="t" r="r" b="b"/>
              <a:pathLst>
                <a:path w="67944" h="48260">
                  <a:moveTo>
                    <a:pt x="19301" y="23942"/>
                  </a:moveTo>
                  <a:lnTo>
                    <a:pt x="0" y="47884"/>
                  </a:lnTo>
                  <a:lnTo>
                    <a:pt x="67554" y="23942"/>
                  </a:lnTo>
                  <a:lnTo>
                    <a:pt x="0" y="0"/>
                  </a:lnTo>
                  <a:lnTo>
                    <a:pt x="19301" y="23942"/>
                  </a:lnTo>
                  <a:close/>
                </a:path>
              </a:pathLst>
            </a:custGeom>
            <a:ln w="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97315" y="2231358"/>
              <a:ext cx="975994" cy="799465"/>
            </a:xfrm>
            <a:custGeom>
              <a:avLst/>
              <a:gdLst/>
              <a:ahLst/>
              <a:cxnLst/>
              <a:rect l="l" t="t" r="r" b="b"/>
              <a:pathLst>
                <a:path w="975994" h="799464">
                  <a:moveTo>
                    <a:pt x="0" y="0"/>
                  </a:moveTo>
                  <a:lnTo>
                    <a:pt x="975978" y="799259"/>
                  </a:lnTo>
                </a:path>
              </a:pathLst>
            </a:custGeom>
            <a:ln w="110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1561" y="2968279"/>
              <a:ext cx="72554" cy="7170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403003" y="1671726"/>
              <a:ext cx="1734820" cy="1412875"/>
            </a:xfrm>
            <a:custGeom>
              <a:avLst/>
              <a:gdLst/>
              <a:ahLst/>
              <a:cxnLst/>
              <a:rect l="l" t="t" r="r" b="b"/>
              <a:pathLst>
                <a:path w="1734820" h="1412875">
                  <a:moveTo>
                    <a:pt x="1281569" y="719569"/>
                  </a:moveTo>
                  <a:lnTo>
                    <a:pt x="282765" y="719569"/>
                  </a:lnTo>
                  <a:lnTo>
                    <a:pt x="282765" y="905598"/>
                  </a:lnTo>
                  <a:lnTo>
                    <a:pt x="36029" y="589673"/>
                  </a:lnTo>
                  <a:lnTo>
                    <a:pt x="0" y="617816"/>
                  </a:lnTo>
                  <a:lnTo>
                    <a:pt x="282765" y="979881"/>
                  </a:lnTo>
                  <a:lnTo>
                    <a:pt x="282765" y="1041565"/>
                  </a:lnTo>
                  <a:lnTo>
                    <a:pt x="330936" y="1041565"/>
                  </a:lnTo>
                  <a:lnTo>
                    <a:pt x="620471" y="1412278"/>
                  </a:lnTo>
                  <a:lnTo>
                    <a:pt x="656501" y="1384134"/>
                  </a:lnTo>
                  <a:lnTo>
                    <a:pt x="388950" y="1041565"/>
                  </a:lnTo>
                  <a:lnTo>
                    <a:pt x="1281569" y="1041565"/>
                  </a:lnTo>
                  <a:lnTo>
                    <a:pt x="1281569" y="719569"/>
                  </a:lnTo>
                  <a:close/>
                </a:path>
                <a:path w="1734820" h="1412875">
                  <a:moveTo>
                    <a:pt x="1734388" y="0"/>
                  </a:moveTo>
                  <a:lnTo>
                    <a:pt x="443395" y="0"/>
                  </a:lnTo>
                  <a:lnTo>
                    <a:pt x="443395" y="607745"/>
                  </a:lnTo>
                  <a:lnTo>
                    <a:pt x="1734388" y="607745"/>
                  </a:lnTo>
                  <a:lnTo>
                    <a:pt x="173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791377" y="1736004"/>
            <a:ext cx="156972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Related</a:t>
            </a:r>
            <a:r>
              <a:rPr sz="2133" spc="-10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596820" y="1525190"/>
            <a:ext cx="4096173" cy="317500"/>
            <a:chOff x="1197615" y="1143892"/>
            <a:chExt cx="3072130" cy="238125"/>
          </a:xfrm>
        </p:grpSpPr>
        <p:sp>
          <p:nvSpPr>
            <p:cNvPr id="74" name="object 74"/>
            <p:cNvSpPr/>
            <p:nvPr/>
          </p:nvSpPr>
          <p:spPr>
            <a:xfrm>
              <a:off x="2092025" y="1148655"/>
              <a:ext cx="2172970" cy="162560"/>
            </a:xfrm>
            <a:custGeom>
              <a:avLst/>
              <a:gdLst/>
              <a:ahLst/>
              <a:cxnLst/>
              <a:rect l="l" t="t" r="r" b="b"/>
              <a:pathLst>
                <a:path w="2172970" h="162559">
                  <a:moveTo>
                    <a:pt x="2172768" y="0"/>
                  </a:moveTo>
                  <a:lnTo>
                    <a:pt x="2171706" y="31562"/>
                  </a:lnTo>
                  <a:lnTo>
                    <a:pt x="2168810" y="57337"/>
                  </a:lnTo>
                  <a:lnTo>
                    <a:pt x="2164514" y="74715"/>
                  </a:lnTo>
                  <a:lnTo>
                    <a:pt x="2159254" y="81087"/>
                  </a:lnTo>
                  <a:lnTo>
                    <a:pt x="1099897" y="81087"/>
                  </a:lnTo>
                  <a:lnTo>
                    <a:pt x="1094637" y="87459"/>
                  </a:lnTo>
                  <a:lnTo>
                    <a:pt x="1090341" y="104837"/>
                  </a:lnTo>
                  <a:lnTo>
                    <a:pt x="1087445" y="130612"/>
                  </a:lnTo>
                  <a:lnTo>
                    <a:pt x="1086384" y="162175"/>
                  </a:lnTo>
                  <a:lnTo>
                    <a:pt x="1085322" y="130612"/>
                  </a:lnTo>
                  <a:lnTo>
                    <a:pt x="1082426" y="104837"/>
                  </a:lnTo>
                  <a:lnTo>
                    <a:pt x="1078130" y="87459"/>
                  </a:lnTo>
                  <a:lnTo>
                    <a:pt x="1072871" y="81087"/>
                  </a:lnTo>
                  <a:lnTo>
                    <a:pt x="13513" y="81087"/>
                  </a:lnTo>
                  <a:lnTo>
                    <a:pt x="8253" y="74715"/>
                  </a:lnTo>
                  <a:lnTo>
                    <a:pt x="3957" y="57337"/>
                  </a:lnTo>
                  <a:lnTo>
                    <a:pt x="1061" y="3156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30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615" y="1148656"/>
              <a:ext cx="76199" cy="232882"/>
            </a:xfrm>
            <a:prstGeom prst="rect">
              <a:avLst/>
            </a:prstGeom>
          </p:spPr>
        </p:pic>
      </p:grpSp>
      <p:pic>
        <p:nvPicPr>
          <p:cNvPr id="76" name="object 7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2329" y="1531542"/>
            <a:ext cx="101600" cy="310509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5957146" y="1104729"/>
            <a:ext cx="12031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i="1" spc="-13" dirty="0">
                <a:solidFill>
                  <a:srgbClr val="00B050"/>
                </a:solidFill>
                <a:latin typeface="Calibri"/>
                <a:cs typeface="Calibri"/>
              </a:rPr>
              <a:t>Nintendo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6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31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endParaRPr spc="-13" dirty="0"/>
          </a:p>
        </p:txBody>
      </p:sp>
      <p:sp>
        <p:nvSpPr>
          <p:cNvPr id="3" name="object 3"/>
          <p:cNvSpPr/>
          <p:nvPr/>
        </p:nvSpPr>
        <p:spPr>
          <a:xfrm>
            <a:off x="528320" y="1508759"/>
            <a:ext cx="2201333" cy="16933"/>
          </a:xfrm>
          <a:custGeom>
            <a:avLst/>
            <a:gdLst/>
            <a:ahLst/>
            <a:cxnLst/>
            <a:rect l="l" t="t" r="r" b="b"/>
            <a:pathLst>
              <a:path w="1651000" h="12700">
                <a:moveTo>
                  <a:pt x="1651000" y="0"/>
                </a:moveTo>
                <a:lnTo>
                  <a:pt x="0" y="0"/>
                </a:lnTo>
                <a:lnTo>
                  <a:pt x="0" y="12700"/>
                </a:lnTo>
                <a:lnTo>
                  <a:pt x="1651000" y="12700"/>
                </a:lnTo>
                <a:lnTo>
                  <a:pt x="1651000" y="0"/>
                </a:lnTo>
                <a:close/>
              </a:path>
            </a:pathLst>
          </a:custGeom>
          <a:solidFill>
            <a:srgbClr val="3A8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8573" y="4718041"/>
            <a:ext cx="1519767" cy="495300"/>
            <a:chOff x="568929" y="3538530"/>
            <a:chExt cx="1139825" cy="371475"/>
          </a:xfrm>
        </p:grpSpPr>
        <p:sp>
          <p:nvSpPr>
            <p:cNvPr id="5" name="object 5"/>
            <p:cNvSpPr/>
            <p:nvPr/>
          </p:nvSpPr>
          <p:spPr>
            <a:xfrm>
              <a:off x="574962" y="3544562"/>
              <a:ext cx="1127760" cy="240029"/>
            </a:xfrm>
            <a:custGeom>
              <a:avLst/>
              <a:gdLst/>
              <a:ahLst/>
              <a:cxnLst/>
              <a:rect l="l" t="t" r="r" b="b"/>
              <a:pathLst>
                <a:path w="1127760" h="240029">
                  <a:moveTo>
                    <a:pt x="0" y="239422"/>
                  </a:moveTo>
                  <a:lnTo>
                    <a:pt x="0" y="47884"/>
                  </a:lnTo>
                  <a:lnTo>
                    <a:pt x="3022" y="29212"/>
                  </a:lnTo>
                  <a:lnTo>
                    <a:pt x="11277" y="13995"/>
                  </a:lnTo>
                  <a:lnTo>
                    <a:pt x="23544" y="3751"/>
                  </a:lnTo>
                  <a:lnTo>
                    <a:pt x="38602" y="0"/>
                  </a:lnTo>
                  <a:lnTo>
                    <a:pt x="1088589" y="0"/>
                  </a:lnTo>
                  <a:lnTo>
                    <a:pt x="1103641" y="3751"/>
                  </a:lnTo>
                  <a:lnTo>
                    <a:pt x="1115909" y="13995"/>
                  </a:lnTo>
                  <a:lnTo>
                    <a:pt x="1124166" y="29212"/>
                  </a:lnTo>
                  <a:lnTo>
                    <a:pt x="1127191" y="47884"/>
                  </a:lnTo>
                  <a:lnTo>
                    <a:pt x="1127191" y="239422"/>
                  </a:lnTo>
                </a:path>
              </a:pathLst>
            </a:custGeom>
            <a:ln w="11870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4962" y="3783984"/>
              <a:ext cx="1127760" cy="120014"/>
            </a:xfrm>
            <a:custGeom>
              <a:avLst/>
              <a:gdLst/>
              <a:ahLst/>
              <a:cxnLst/>
              <a:rect l="l" t="t" r="r" b="b"/>
              <a:pathLst>
                <a:path w="1127760" h="120014">
                  <a:moveTo>
                    <a:pt x="1088589" y="119711"/>
                  </a:moveTo>
                  <a:lnTo>
                    <a:pt x="38602" y="119711"/>
                  </a:lnTo>
                  <a:lnTo>
                    <a:pt x="23544" y="115961"/>
                  </a:lnTo>
                  <a:lnTo>
                    <a:pt x="11277" y="105721"/>
                  </a:lnTo>
                  <a:lnTo>
                    <a:pt x="3022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127191" y="0"/>
                  </a:lnTo>
                  <a:lnTo>
                    <a:pt x="1127191" y="71826"/>
                  </a:lnTo>
                  <a:lnTo>
                    <a:pt x="1124166" y="90505"/>
                  </a:lnTo>
                  <a:lnTo>
                    <a:pt x="1115909" y="105721"/>
                  </a:lnTo>
                  <a:lnTo>
                    <a:pt x="1103641" y="115961"/>
                  </a:lnTo>
                  <a:lnTo>
                    <a:pt x="1088589" y="119711"/>
                  </a:lnTo>
                  <a:close/>
                </a:path>
              </a:pathLst>
            </a:custGeom>
            <a:solidFill>
              <a:srgbClr val="D95F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962" y="3783984"/>
              <a:ext cx="1127760" cy="120014"/>
            </a:xfrm>
            <a:custGeom>
              <a:avLst/>
              <a:gdLst/>
              <a:ahLst/>
              <a:cxnLst/>
              <a:rect l="l" t="t" r="r" b="b"/>
              <a:pathLst>
                <a:path w="1127760" h="120014">
                  <a:moveTo>
                    <a:pt x="1127191" y="0"/>
                  </a:moveTo>
                  <a:lnTo>
                    <a:pt x="1127191" y="71826"/>
                  </a:lnTo>
                  <a:lnTo>
                    <a:pt x="1124166" y="90505"/>
                  </a:lnTo>
                  <a:lnTo>
                    <a:pt x="1115909" y="105721"/>
                  </a:lnTo>
                  <a:lnTo>
                    <a:pt x="1103641" y="115961"/>
                  </a:lnTo>
                  <a:lnTo>
                    <a:pt x="1088589" y="119711"/>
                  </a:lnTo>
                  <a:lnTo>
                    <a:pt x="38602" y="119711"/>
                  </a:lnTo>
                  <a:lnTo>
                    <a:pt x="23544" y="115961"/>
                  </a:lnTo>
                  <a:lnTo>
                    <a:pt x="11277" y="105721"/>
                  </a:lnTo>
                  <a:lnTo>
                    <a:pt x="3022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45">
              <a:solidFill>
                <a:srgbClr val="D95F0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7097" y="4681956"/>
            <a:ext cx="1421553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dirty="0">
                <a:solidFill>
                  <a:srgbClr val="D95F02"/>
                </a:solidFill>
                <a:latin typeface="Trebuchet MS"/>
                <a:cs typeface="Trebuchet MS"/>
              </a:rPr>
              <a:t>21</a:t>
            </a:r>
            <a:r>
              <a:rPr sz="2000" spc="-147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00" spc="-113" dirty="0">
                <a:solidFill>
                  <a:srgbClr val="D95F02"/>
                </a:solidFill>
                <a:latin typeface="Trebuchet MS"/>
                <a:cs typeface="Trebuchet MS"/>
              </a:rPr>
              <a:t>April</a:t>
            </a:r>
            <a:r>
              <a:rPr sz="2000" spc="-93" dirty="0">
                <a:solidFill>
                  <a:srgbClr val="D95F02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D95F02"/>
                </a:solidFill>
                <a:latin typeface="Trebuchet MS"/>
                <a:cs typeface="Trebuchet MS"/>
              </a:rPr>
              <a:t>1989</a:t>
            </a:r>
            <a:endParaRPr sz="2000">
              <a:latin typeface="Trebuchet MS"/>
              <a:cs typeface="Trebuchet MS"/>
            </a:endParaRPr>
          </a:p>
          <a:p>
            <a:pPr marL="847" algn="ctr">
              <a:spcBef>
                <a:spcPts val="113"/>
              </a:spcBef>
            </a:pPr>
            <a:r>
              <a:rPr sz="1000" spc="-27" dirty="0">
                <a:solidFill>
                  <a:srgbClr val="FFFFFF"/>
                </a:solidFill>
                <a:latin typeface="Trebuchet MS"/>
                <a:cs typeface="Trebuchet MS"/>
              </a:rPr>
              <a:t>Date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54871" y="4718041"/>
            <a:ext cx="1617133" cy="495300"/>
            <a:chOff x="1991153" y="3538530"/>
            <a:chExt cx="1212850" cy="371475"/>
          </a:xfrm>
        </p:grpSpPr>
        <p:sp>
          <p:nvSpPr>
            <p:cNvPr id="10" name="object 10"/>
            <p:cNvSpPr/>
            <p:nvPr/>
          </p:nvSpPr>
          <p:spPr>
            <a:xfrm>
              <a:off x="1997185" y="3544562"/>
              <a:ext cx="1200785" cy="240029"/>
            </a:xfrm>
            <a:custGeom>
              <a:avLst/>
              <a:gdLst/>
              <a:ahLst/>
              <a:cxnLst/>
              <a:rect l="l" t="t" r="r" b="b"/>
              <a:pathLst>
                <a:path w="1200785" h="240029">
                  <a:moveTo>
                    <a:pt x="0" y="239422"/>
                  </a:move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1161931" y="0"/>
                  </a:lnTo>
                  <a:lnTo>
                    <a:pt x="1176988" y="3751"/>
                  </a:lnTo>
                  <a:lnTo>
                    <a:pt x="1189255" y="13995"/>
                  </a:lnTo>
                  <a:lnTo>
                    <a:pt x="1197510" y="29212"/>
                  </a:lnTo>
                  <a:lnTo>
                    <a:pt x="1200533" y="47884"/>
                  </a:lnTo>
                  <a:lnTo>
                    <a:pt x="1200533" y="239422"/>
                  </a:lnTo>
                </a:path>
              </a:pathLst>
            </a:custGeom>
            <a:ln w="11882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97185" y="3783984"/>
              <a:ext cx="1200785" cy="120014"/>
            </a:xfrm>
            <a:custGeom>
              <a:avLst/>
              <a:gdLst/>
              <a:ahLst/>
              <a:cxnLst/>
              <a:rect l="l" t="t" r="r" b="b"/>
              <a:pathLst>
                <a:path w="1200785" h="120014">
                  <a:moveTo>
                    <a:pt x="1161931" y="119711"/>
                  </a:move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200533" y="0"/>
                  </a:lnTo>
                  <a:lnTo>
                    <a:pt x="1200533" y="71826"/>
                  </a:lnTo>
                  <a:lnTo>
                    <a:pt x="1197510" y="90505"/>
                  </a:lnTo>
                  <a:lnTo>
                    <a:pt x="1189255" y="105721"/>
                  </a:lnTo>
                  <a:lnTo>
                    <a:pt x="1176988" y="115961"/>
                  </a:lnTo>
                  <a:lnTo>
                    <a:pt x="1161931" y="119711"/>
                  </a:lnTo>
                  <a:close/>
                </a:path>
              </a:pathLst>
            </a:custGeom>
            <a:solidFill>
              <a:srgbClr val="E72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7185" y="3783984"/>
              <a:ext cx="1200785" cy="120014"/>
            </a:xfrm>
            <a:custGeom>
              <a:avLst/>
              <a:gdLst/>
              <a:ahLst/>
              <a:cxnLst/>
              <a:rect l="l" t="t" r="r" b="b"/>
              <a:pathLst>
                <a:path w="1200785" h="120014">
                  <a:moveTo>
                    <a:pt x="1200533" y="0"/>
                  </a:moveTo>
                  <a:lnTo>
                    <a:pt x="1200533" y="71826"/>
                  </a:lnTo>
                  <a:lnTo>
                    <a:pt x="1197510" y="90505"/>
                  </a:lnTo>
                  <a:lnTo>
                    <a:pt x="1189255" y="105721"/>
                  </a:lnTo>
                  <a:lnTo>
                    <a:pt x="1176988" y="115961"/>
                  </a:lnTo>
                  <a:lnTo>
                    <a:pt x="1161931" y="119711"/>
                  </a:ln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48">
              <a:solidFill>
                <a:srgbClr val="E729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83937" y="4681956"/>
            <a:ext cx="1557867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127" dirty="0">
                <a:solidFill>
                  <a:srgbClr val="E7298A"/>
                </a:solidFill>
                <a:latin typeface="Trebuchet MS"/>
                <a:cs typeface="Trebuchet MS"/>
              </a:rPr>
              <a:t>platform</a:t>
            </a:r>
            <a:r>
              <a:rPr sz="2000" spc="-53" dirty="0">
                <a:solidFill>
                  <a:srgbClr val="E7298A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E7298A"/>
                </a:solidFill>
                <a:latin typeface="Trebuchet MS"/>
                <a:cs typeface="Trebuchet MS"/>
              </a:rPr>
              <a:t>game</a:t>
            </a:r>
            <a:endParaRPr sz="2000">
              <a:latin typeface="Trebuchet MS"/>
              <a:cs typeface="Trebuchet MS"/>
            </a:endParaRPr>
          </a:p>
          <a:p>
            <a:pPr marL="847"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Q828322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0605" y="3173537"/>
            <a:ext cx="1066800" cy="495300"/>
            <a:chOff x="2767954" y="2380152"/>
            <a:chExt cx="800100" cy="371475"/>
          </a:xfrm>
        </p:grpSpPr>
        <p:sp>
          <p:nvSpPr>
            <p:cNvPr id="15" name="object 15"/>
            <p:cNvSpPr/>
            <p:nvPr/>
          </p:nvSpPr>
          <p:spPr>
            <a:xfrm>
              <a:off x="2773986" y="2386184"/>
              <a:ext cx="788035" cy="240029"/>
            </a:xfrm>
            <a:custGeom>
              <a:avLst/>
              <a:gdLst/>
              <a:ahLst/>
              <a:cxnLst/>
              <a:rect l="l" t="t" r="r" b="b"/>
              <a:pathLst>
                <a:path w="788035" h="240030">
                  <a:moveTo>
                    <a:pt x="0" y="239422"/>
                  </a:moveTo>
                  <a:lnTo>
                    <a:pt x="0" y="47884"/>
                  </a:lnTo>
                  <a:lnTo>
                    <a:pt x="3024" y="29207"/>
                  </a:lnTo>
                  <a:lnTo>
                    <a:pt x="11281" y="13990"/>
                  </a:lnTo>
                  <a:lnTo>
                    <a:pt x="23548" y="3750"/>
                  </a:lnTo>
                  <a:lnTo>
                    <a:pt x="38602" y="0"/>
                  </a:lnTo>
                  <a:lnTo>
                    <a:pt x="748884" y="0"/>
                  </a:lnTo>
                  <a:lnTo>
                    <a:pt x="763937" y="3750"/>
                  </a:lnTo>
                  <a:lnTo>
                    <a:pt x="776204" y="13990"/>
                  </a:lnTo>
                  <a:lnTo>
                    <a:pt x="784462" y="29207"/>
                  </a:lnTo>
                  <a:lnTo>
                    <a:pt x="787486" y="47884"/>
                  </a:lnTo>
                  <a:lnTo>
                    <a:pt x="787486" y="239422"/>
                  </a:lnTo>
                </a:path>
              </a:pathLst>
            </a:custGeom>
            <a:ln w="11774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73986" y="2625606"/>
              <a:ext cx="788035" cy="120014"/>
            </a:xfrm>
            <a:custGeom>
              <a:avLst/>
              <a:gdLst/>
              <a:ahLst/>
              <a:cxnLst/>
              <a:rect l="l" t="t" r="r" b="b"/>
              <a:pathLst>
                <a:path w="788035" h="120014">
                  <a:moveTo>
                    <a:pt x="748884" y="119711"/>
                  </a:move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787486" y="0"/>
                  </a:lnTo>
                  <a:lnTo>
                    <a:pt x="787486" y="71826"/>
                  </a:lnTo>
                  <a:lnTo>
                    <a:pt x="784462" y="90498"/>
                  </a:lnTo>
                  <a:lnTo>
                    <a:pt x="776204" y="105715"/>
                  </a:lnTo>
                  <a:lnTo>
                    <a:pt x="763937" y="115959"/>
                  </a:lnTo>
                  <a:lnTo>
                    <a:pt x="748884" y="119711"/>
                  </a:lnTo>
                  <a:close/>
                </a:path>
              </a:pathLst>
            </a:custGeom>
            <a:solidFill>
              <a:srgbClr val="66A6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73986" y="2625606"/>
              <a:ext cx="788035" cy="120014"/>
            </a:xfrm>
            <a:custGeom>
              <a:avLst/>
              <a:gdLst/>
              <a:ahLst/>
              <a:cxnLst/>
              <a:rect l="l" t="t" r="r" b="b"/>
              <a:pathLst>
                <a:path w="788035" h="120014">
                  <a:moveTo>
                    <a:pt x="787486" y="0"/>
                  </a:moveTo>
                  <a:lnTo>
                    <a:pt x="787486" y="71826"/>
                  </a:lnTo>
                  <a:lnTo>
                    <a:pt x="784462" y="90498"/>
                  </a:lnTo>
                  <a:lnTo>
                    <a:pt x="776204" y="105715"/>
                  </a:lnTo>
                  <a:lnTo>
                    <a:pt x="763937" y="115959"/>
                  </a:lnTo>
                  <a:lnTo>
                    <a:pt x="748884" y="119711"/>
                  </a:ln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18">
              <a:solidFill>
                <a:srgbClr val="66A6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38448" y="3137438"/>
            <a:ext cx="970280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73" dirty="0">
                <a:solidFill>
                  <a:srgbClr val="66A61E"/>
                </a:solidFill>
                <a:latin typeface="Trebuchet MS"/>
                <a:cs typeface="Trebuchet MS"/>
              </a:rPr>
              <a:t>Nintendo</a:t>
            </a:r>
            <a:endParaRPr sz="2000">
              <a:latin typeface="Trebuchet MS"/>
              <a:cs typeface="Trebuchet MS"/>
            </a:endParaRPr>
          </a:p>
          <a:p>
            <a:pPr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Q8093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8718" y="3173537"/>
            <a:ext cx="1977813" cy="495300"/>
            <a:chOff x="441538" y="2380152"/>
            <a:chExt cx="1483360" cy="371475"/>
          </a:xfrm>
        </p:grpSpPr>
        <p:sp>
          <p:nvSpPr>
            <p:cNvPr id="20" name="object 20"/>
            <p:cNvSpPr/>
            <p:nvPr/>
          </p:nvSpPr>
          <p:spPr>
            <a:xfrm>
              <a:off x="447571" y="2386184"/>
              <a:ext cx="1471295" cy="240029"/>
            </a:xfrm>
            <a:custGeom>
              <a:avLst/>
              <a:gdLst/>
              <a:ahLst/>
              <a:cxnLst/>
              <a:rect l="l" t="t" r="r" b="b"/>
              <a:pathLst>
                <a:path w="1471295" h="240030">
                  <a:moveTo>
                    <a:pt x="0" y="239422"/>
                  </a:moveTo>
                  <a:lnTo>
                    <a:pt x="0" y="47884"/>
                  </a:lnTo>
                  <a:lnTo>
                    <a:pt x="3024" y="29207"/>
                  </a:lnTo>
                  <a:lnTo>
                    <a:pt x="11281" y="13990"/>
                  </a:lnTo>
                  <a:lnTo>
                    <a:pt x="23548" y="3750"/>
                  </a:lnTo>
                  <a:lnTo>
                    <a:pt x="38602" y="0"/>
                  </a:lnTo>
                  <a:lnTo>
                    <a:pt x="1432146" y="0"/>
                  </a:lnTo>
                  <a:lnTo>
                    <a:pt x="1447200" y="3750"/>
                  </a:lnTo>
                  <a:lnTo>
                    <a:pt x="1459467" y="13990"/>
                  </a:lnTo>
                  <a:lnTo>
                    <a:pt x="1467725" y="29207"/>
                  </a:lnTo>
                  <a:lnTo>
                    <a:pt x="1470749" y="47884"/>
                  </a:lnTo>
                  <a:lnTo>
                    <a:pt x="1470749" y="239422"/>
                  </a:lnTo>
                </a:path>
              </a:pathLst>
            </a:custGeom>
            <a:ln w="11911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7571" y="2625606"/>
              <a:ext cx="1471295" cy="120014"/>
            </a:xfrm>
            <a:custGeom>
              <a:avLst/>
              <a:gdLst/>
              <a:ahLst/>
              <a:cxnLst/>
              <a:rect l="l" t="t" r="r" b="b"/>
              <a:pathLst>
                <a:path w="1471295" h="120014">
                  <a:moveTo>
                    <a:pt x="1432146" y="119711"/>
                  </a:move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1470749" y="0"/>
                  </a:lnTo>
                  <a:lnTo>
                    <a:pt x="1470749" y="71826"/>
                  </a:lnTo>
                  <a:lnTo>
                    <a:pt x="1467725" y="90498"/>
                  </a:lnTo>
                  <a:lnTo>
                    <a:pt x="1459467" y="105715"/>
                  </a:lnTo>
                  <a:lnTo>
                    <a:pt x="1447200" y="115959"/>
                  </a:lnTo>
                  <a:lnTo>
                    <a:pt x="1432146" y="119711"/>
                  </a:lnTo>
                  <a:close/>
                </a:path>
              </a:pathLst>
            </a:custGeom>
            <a:solidFill>
              <a:srgbClr val="1B9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7571" y="2625606"/>
              <a:ext cx="1471295" cy="120014"/>
            </a:xfrm>
            <a:custGeom>
              <a:avLst/>
              <a:gdLst/>
              <a:ahLst/>
              <a:cxnLst/>
              <a:rect l="l" t="t" r="r" b="b"/>
              <a:pathLst>
                <a:path w="1471295" h="120014">
                  <a:moveTo>
                    <a:pt x="1470749" y="0"/>
                  </a:moveTo>
                  <a:lnTo>
                    <a:pt x="1470749" y="71826"/>
                  </a:lnTo>
                  <a:lnTo>
                    <a:pt x="1467725" y="90498"/>
                  </a:lnTo>
                  <a:lnTo>
                    <a:pt x="1459467" y="105715"/>
                  </a:lnTo>
                  <a:lnTo>
                    <a:pt x="1447200" y="115959"/>
                  </a:lnTo>
                  <a:lnTo>
                    <a:pt x="1432146" y="119711"/>
                  </a:lnTo>
                  <a:lnTo>
                    <a:pt x="38602" y="119711"/>
                  </a:lnTo>
                  <a:lnTo>
                    <a:pt x="23548" y="115959"/>
                  </a:lnTo>
                  <a:lnTo>
                    <a:pt x="11281" y="105715"/>
                  </a:lnTo>
                  <a:lnTo>
                    <a:pt x="3024" y="90498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55">
              <a:solidFill>
                <a:srgbClr val="1B9E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5983" y="3137438"/>
            <a:ext cx="1840653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67" dirty="0">
                <a:solidFill>
                  <a:srgbClr val="1B9E77"/>
                </a:solidFill>
                <a:latin typeface="Trebuchet MS"/>
                <a:cs typeface="Trebuchet MS"/>
              </a:rPr>
              <a:t>Super</a:t>
            </a:r>
            <a:r>
              <a:rPr sz="2000" spc="-93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00" spc="-87" dirty="0">
                <a:solidFill>
                  <a:srgbClr val="1B9E77"/>
                </a:solidFill>
                <a:latin typeface="Trebuchet MS"/>
                <a:cs typeface="Trebuchet MS"/>
              </a:rPr>
              <a:t>Mario</a:t>
            </a:r>
            <a:r>
              <a:rPr sz="2000" spc="-93" dirty="0">
                <a:solidFill>
                  <a:srgbClr val="1B9E77"/>
                </a:solidFill>
                <a:latin typeface="Trebuchet MS"/>
                <a:cs typeface="Trebuchet MS"/>
              </a:rPr>
              <a:t> </a:t>
            </a:r>
            <a:r>
              <a:rPr sz="2000" spc="-27" dirty="0">
                <a:solidFill>
                  <a:srgbClr val="1B9E77"/>
                </a:solidFill>
                <a:latin typeface="Trebuchet MS"/>
                <a:cs typeface="Trebuchet MS"/>
              </a:rPr>
              <a:t>Land</a:t>
            </a:r>
            <a:endParaRPr sz="2000">
              <a:latin typeface="Trebuchet MS"/>
              <a:cs typeface="Trebuchet MS"/>
            </a:endParaRPr>
          </a:p>
          <a:p>
            <a:pPr marL="1693"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Q647249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159861" y="3652380"/>
            <a:ext cx="3817620" cy="1561253"/>
            <a:chOff x="1619895" y="2739285"/>
            <a:chExt cx="2863215" cy="1170940"/>
          </a:xfrm>
        </p:grpSpPr>
        <p:sp>
          <p:nvSpPr>
            <p:cNvPr id="25" name="object 25"/>
            <p:cNvSpPr/>
            <p:nvPr/>
          </p:nvSpPr>
          <p:spPr>
            <a:xfrm>
              <a:off x="1625928" y="2745318"/>
              <a:ext cx="1994535" cy="808990"/>
            </a:xfrm>
            <a:custGeom>
              <a:avLst/>
              <a:gdLst/>
              <a:ahLst/>
              <a:cxnLst/>
              <a:rect l="l" t="t" r="r" b="b"/>
              <a:pathLst>
                <a:path w="1994535" h="808989">
                  <a:moveTo>
                    <a:pt x="0" y="0"/>
                  </a:moveTo>
                  <a:lnTo>
                    <a:pt x="1994334" y="808411"/>
                  </a:lnTo>
                </a:path>
              </a:pathLst>
            </a:custGeom>
            <a:ln w="116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9220" y="3508661"/>
              <a:ext cx="70485" cy="48895"/>
            </a:xfrm>
            <a:custGeom>
              <a:avLst/>
              <a:gdLst/>
              <a:ahLst/>
              <a:cxnLst/>
              <a:rect l="l" t="t" r="r" b="b"/>
              <a:pathLst>
                <a:path w="70485" h="48895">
                  <a:moveTo>
                    <a:pt x="11997" y="0"/>
                  </a:moveTo>
                  <a:lnTo>
                    <a:pt x="70212" y="48785"/>
                  </a:lnTo>
                  <a:lnTo>
                    <a:pt x="0" y="45521"/>
                  </a:lnTo>
                  <a:lnTo>
                    <a:pt x="24343" y="30191"/>
                  </a:lnTo>
                  <a:lnTo>
                    <a:pt x="119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59220" y="3508661"/>
              <a:ext cx="70485" cy="48895"/>
            </a:xfrm>
            <a:custGeom>
              <a:avLst/>
              <a:gdLst/>
              <a:ahLst/>
              <a:cxnLst/>
              <a:rect l="l" t="t" r="r" b="b"/>
              <a:pathLst>
                <a:path w="70485" h="48895">
                  <a:moveTo>
                    <a:pt x="24344" y="30195"/>
                  </a:moveTo>
                  <a:lnTo>
                    <a:pt x="0" y="45521"/>
                  </a:lnTo>
                  <a:lnTo>
                    <a:pt x="70212" y="48785"/>
                  </a:lnTo>
                  <a:lnTo>
                    <a:pt x="11997" y="0"/>
                  </a:lnTo>
                  <a:lnTo>
                    <a:pt x="24344" y="30195"/>
                  </a:lnTo>
                  <a:close/>
                </a:path>
              </a:pathLst>
            </a:custGeom>
            <a:ln w="5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04431" y="3544562"/>
              <a:ext cx="872490" cy="240029"/>
            </a:xfrm>
            <a:custGeom>
              <a:avLst/>
              <a:gdLst/>
              <a:ahLst/>
              <a:cxnLst/>
              <a:rect l="l" t="t" r="r" b="b"/>
              <a:pathLst>
                <a:path w="872489" h="240029">
                  <a:moveTo>
                    <a:pt x="872410" y="239422"/>
                  </a:moveTo>
                  <a:lnTo>
                    <a:pt x="0" y="239422"/>
                  </a:ln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833807" y="0"/>
                  </a:lnTo>
                  <a:lnTo>
                    <a:pt x="848865" y="3751"/>
                  </a:lnTo>
                  <a:lnTo>
                    <a:pt x="861132" y="13995"/>
                  </a:lnTo>
                  <a:lnTo>
                    <a:pt x="869387" y="29212"/>
                  </a:lnTo>
                  <a:lnTo>
                    <a:pt x="872410" y="47884"/>
                  </a:lnTo>
                  <a:lnTo>
                    <a:pt x="872410" y="239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04431" y="3544562"/>
              <a:ext cx="872490" cy="240029"/>
            </a:xfrm>
            <a:custGeom>
              <a:avLst/>
              <a:gdLst/>
              <a:ahLst/>
              <a:cxnLst/>
              <a:rect l="l" t="t" r="r" b="b"/>
              <a:pathLst>
                <a:path w="872489" h="240029">
                  <a:moveTo>
                    <a:pt x="0" y="239422"/>
                  </a:moveTo>
                  <a:lnTo>
                    <a:pt x="0" y="47884"/>
                  </a:lnTo>
                  <a:lnTo>
                    <a:pt x="3024" y="29212"/>
                  </a:lnTo>
                  <a:lnTo>
                    <a:pt x="11282" y="13995"/>
                  </a:lnTo>
                  <a:lnTo>
                    <a:pt x="23549" y="3751"/>
                  </a:lnTo>
                  <a:lnTo>
                    <a:pt x="38602" y="0"/>
                  </a:lnTo>
                  <a:lnTo>
                    <a:pt x="833807" y="0"/>
                  </a:lnTo>
                  <a:lnTo>
                    <a:pt x="848865" y="3751"/>
                  </a:lnTo>
                  <a:lnTo>
                    <a:pt x="861132" y="13995"/>
                  </a:lnTo>
                  <a:lnTo>
                    <a:pt x="869387" y="29212"/>
                  </a:lnTo>
                  <a:lnTo>
                    <a:pt x="872410" y="47884"/>
                  </a:lnTo>
                  <a:lnTo>
                    <a:pt x="872410" y="239422"/>
                  </a:lnTo>
                </a:path>
              </a:pathLst>
            </a:custGeom>
            <a:ln w="11808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04431" y="3783984"/>
              <a:ext cx="872490" cy="120014"/>
            </a:xfrm>
            <a:custGeom>
              <a:avLst/>
              <a:gdLst/>
              <a:ahLst/>
              <a:cxnLst/>
              <a:rect l="l" t="t" r="r" b="b"/>
              <a:pathLst>
                <a:path w="872489" h="120014">
                  <a:moveTo>
                    <a:pt x="833807" y="119711"/>
                  </a:move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  <a:lnTo>
                    <a:pt x="872410" y="0"/>
                  </a:lnTo>
                  <a:lnTo>
                    <a:pt x="872410" y="71826"/>
                  </a:lnTo>
                  <a:lnTo>
                    <a:pt x="869387" y="90505"/>
                  </a:lnTo>
                  <a:lnTo>
                    <a:pt x="861132" y="105721"/>
                  </a:lnTo>
                  <a:lnTo>
                    <a:pt x="848865" y="115961"/>
                  </a:lnTo>
                  <a:lnTo>
                    <a:pt x="833807" y="119711"/>
                  </a:lnTo>
                  <a:close/>
                </a:path>
              </a:pathLst>
            </a:custGeom>
            <a:solidFill>
              <a:srgbClr val="A67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04431" y="3783984"/>
              <a:ext cx="872490" cy="120014"/>
            </a:xfrm>
            <a:custGeom>
              <a:avLst/>
              <a:gdLst/>
              <a:ahLst/>
              <a:cxnLst/>
              <a:rect l="l" t="t" r="r" b="b"/>
              <a:pathLst>
                <a:path w="872489" h="120014">
                  <a:moveTo>
                    <a:pt x="872410" y="0"/>
                  </a:moveTo>
                  <a:lnTo>
                    <a:pt x="872410" y="71826"/>
                  </a:lnTo>
                  <a:lnTo>
                    <a:pt x="869387" y="90505"/>
                  </a:lnTo>
                  <a:lnTo>
                    <a:pt x="861132" y="105721"/>
                  </a:lnTo>
                  <a:lnTo>
                    <a:pt x="848865" y="115961"/>
                  </a:lnTo>
                  <a:lnTo>
                    <a:pt x="833807" y="119711"/>
                  </a:lnTo>
                  <a:lnTo>
                    <a:pt x="38602" y="119711"/>
                  </a:lnTo>
                  <a:lnTo>
                    <a:pt x="23549" y="115961"/>
                  </a:lnTo>
                  <a:lnTo>
                    <a:pt x="11282" y="105721"/>
                  </a:lnTo>
                  <a:lnTo>
                    <a:pt x="3024" y="90505"/>
                  </a:lnTo>
                  <a:lnTo>
                    <a:pt x="0" y="71826"/>
                  </a:lnTo>
                  <a:lnTo>
                    <a:pt x="0" y="0"/>
                  </a:lnTo>
                </a:path>
              </a:pathLst>
            </a:custGeom>
            <a:ln w="11928">
              <a:solidFill>
                <a:srgbClr val="A676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36780" y="4681956"/>
            <a:ext cx="1100667" cy="518946"/>
          </a:xfrm>
          <a:prstGeom prst="rect">
            <a:avLst/>
          </a:prstGeom>
        </p:spPr>
        <p:txBody>
          <a:bodyPr vert="horz" wrap="square" lIns="0" tIns="44027" rIns="0" bIns="0" rtlCol="0">
            <a:spAutoFit/>
          </a:bodyPr>
          <a:lstStyle/>
          <a:p>
            <a:pPr algn="ctr">
              <a:spcBef>
                <a:spcPts val="347"/>
              </a:spcBef>
            </a:pPr>
            <a:r>
              <a:rPr sz="2000" spc="-107" dirty="0">
                <a:solidFill>
                  <a:srgbClr val="A6761D"/>
                </a:solidFill>
                <a:latin typeface="Trebuchet MS"/>
                <a:cs typeface="Trebuchet MS"/>
              </a:rPr>
              <a:t>Game</a:t>
            </a:r>
            <a:r>
              <a:rPr sz="2000" spc="-53" dirty="0">
                <a:solidFill>
                  <a:srgbClr val="A6761D"/>
                </a:solidFill>
                <a:latin typeface="Trebuchet MS"/>
                <a:cs typeface="Trebuchet MS"/>
              </a:rPr>
              <a:t> </a:t>
            </a:r>
            <a:r>
              <a:rPr sz="2000" spc="-33" dirty="0">
                <a:solidFill>
                  <a:srgbClr val="A6761D"/>
                </a:solidFill>
                <a:latin typeface="Trebuchet MS"/>
                <a:cs typeface="Trebuchet MS"/>
              </a:rPr>
              <a:t>Boy</a:t>
            </a:r>
            <a:endParaRPr sz="2000">
              <a:latin typeface="Trebuchet MS"/>
              <a:cs typeface="Trebuchet MS"/>
            </a:endParaRPr>
          </a:p>
          <a:p>
            <a:pPr algn="ctr">
              <a:spcBef>
                <a:spcPts val="113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Q186437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74079" y="3199071"/>
            <a:ext cx="1336887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67"/>
              </a:lnSpc>
            </a:pPr>
            <a:r>
              <a:rPr sz="2000" spc="-100" dirty="0">
                <a:solidFill>
                  <a:srgbClr val="E8AB02"/>
                </a:solidFill>
                <a:latin typeface="Trebuchet MS"/>
                <a:cs typeface="Trebuchet MS"/>
              </a:rPr>
              <a:t>launch</a:t>
            </a:r>
            <a:r>
              <a:rPr sz="2000" spc="-27" dirty="0">
                <a:solidFill>
                  <a:srgbClr val="E8AB02"/>
                </a:solidFill>
                <a:latin typeface="Trebuchet MS"/>
                <a:cs typeface="Trebuchet MS"/>
              </a:rPr>
              <a:t> </a:t>
            </a:r>
            <a:r>
              <a:rPr sz="2000" spc="-67" dirty="0">
                <a:solidFill>
                  <a:srgbClr val="E8AB02"/>
                </a:solidFill>
                <a:latin typeface="Trebuchet MS"/>
                <a:cs typeface="Trebuchet MS"/>
              </a:rPr>
              <a:t>game</a:t>
            </a:r>
            <a:endParaRPr sz="2000">
              <a:latin typeface="Trebuchet MS"/>
              <a:cs typeface="Trebuchet MS"/>
            </a:endParaRPr>
          </a:p>
          <a:p>
            <a:pPr marL="1693" algn="ctr">
              <a:spcBef>
                <a:spcPts val="107"/>
              </a:spcBef>
            </a:pPr>
            <a:r>
              <a:rPr sz="1000" spc="-13" dirty="0">
                <a:solidFill>
                  <a:srgbClr val="FFFFFF"/>
                </a:solidFill>
                <a:latin typeface="Trebuchet MS"/>
                <a:cs typeface="Trebuchet MS"/>
              </a:rPr>
              <a:t>Q1425505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8864" y="3916102"/>
            <a:ext cx="1075267" cy="5504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47971" marR="6773" indent="-331885">
              <a:lnSpc>
                <a:spcPct val="105700"/>
              </a:lnSpc>
              <a:spcBef>
                <a:spcPts val="40"/>
              </a:spcBef>
            </a:pPr>
            <a:r>
              <a:rPr sz="1733" spc="-80" dirty="0">
                <a:latin typeface="Cambria"/>
                <a:cs typeface="Cambria"/>
              </a:rPr>
              <a:t>Public</a:t>
            </a:r>
            <a:r>
              <a:rPr sz="1733" cap="small" spc="-80" dirty="0">
                <a:latin typeface="Cambria"/>
                <a:cs typeface="Cambria"/>
              </a:rPr>
              <a:t>at</a:t>
            </a:r>
            <a:r>
              <a:rPr sz="1733" spc="-80" dirty="0">
                <a:latin typeface="Cambria"/>
                <a:cs typeface="Cambria"/>
              </a:rPr>
              <a:t>ion </a:t>
            </a:r>
            <a:r>
              <a:rPr sz="1733" spc="-27" dirty="0">
                <a:latin typeface="Cambria"/>
                <a:cs typeface="Cambria"/>
              </a:rPr>
              <a:t>D</a:t>
            </a:r>
            <a:r>
              <a:rPr sz="1733" cap="small" spc="-27" dirty="0">
                <a:latin typeface="Cambria"/>
                <a:cs typeface="Cambria"/>
              </a:rPr>
              <a:t>at</a:t>
            </a:r>
            <a:r>
              <a:rPr sz="1733" spc="-27" dirty="0">
                <a:latin typeface="Cambria"/>
                <a:cs typeface="Cambria"/>
              </a:rPr>
              <a:t>e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59564" y="4062372"/>
            <a:ext cx="50715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152" dirty="0">
                <a:latin typeface="Cambria"/>
                <a:cs typeface="Cambria"/>
              </a:rPr>
              <a:t>gen</a:t>
            </a:r>
            <a:r>
              <a:rPr sz="1733" cap="small" spc="-152" dirty="0">
                <a:latin typeface="Cambria"/>
                <a:cs typeface="Cambria"/>
              </a:rPr>
              <a:t>r</a:t>
            </a:r>
            <a:r>
              <a:rPr sz="1733" spc="-152" dirty="0">
                <a:latin typeface="Cambria"/>
                <a:cs typeface="Cambria"/>
              </a:rPr>
              <a:t>e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95324" y="3093402"/>
            <a:ext cx="88561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87" dirty="0">
                <a:latin typeface="Cambria"/>
                <a:cs typeface="Cambria"/>
              </a:rPr>
              <a:t>publishe</a:t>
            </a:r>
            <a:r>
              <a:rPr sz="1733" cap="small" spc="-87" dirty="0">
                <a:latin typeface="Cambria"/>
                <a:cs typeface="Cambria"/>
              </a:rPr>
              <a:t>r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28518" y="3873687"/>
            <a:ext cx="791633" cy="28719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1733" spc="-167" dirty="0">
                <a:latin typeface="Cambria"/>
                <a:cs typeface="Cambria"/>
              </a:rPr>
              <a:t>pl</a:t>
            </a:r>
            <a:r>
              <a:rPr sz="1733" cap="small" spc="-167" dirty="0">
                <a:latin typeface="Cambria"/>
                <a:cs typeface="Cambria"/>
              </a:rPr>
              <a:t>atf</a:t>
            </a:r>
            <a:r>
              <a:rPr sz="1733" spc="-167" dirty="0">
                <a:latin typeface="Cambria"/>
                <a:cs typeface="Cambria"/>
              </a:rPr>
              <a:t>o</a:t>
            </a:r>
            <a:r>
              <a:rPr sz="1733" cap="small" spc="-167" dirty="0">
                <a:latin typeface="Cambria"/>
                <a:cs typeface="Cambria"/>
              </a:rPr>
              <a:t>r</a:t>
            </a:r>
            <a:r>
              <a:rPr sz="1733" spc="-167" dirty="0">
                <a:latin typeface="Cambria"/>
                <a:cs typeface="Cambria"/>
              </a:rPr>
              <a:t>m</a:t>
            </a:r>
            <a:endParaRPr sz="1733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61914" y="3893973"/>
            <a:ext cx="1136225" cy="266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33" spc="-207" dirty="0">
                <a:latin typeface="Cambria"/>
                <a:cs typeface="Cambria"/>
              </a:rPr>
              <a:t>m</a:t>
            </a:r>
            <a:r>
              <a:rPr sz="1733" cap="small" spc="-207" dirty="0">
                <a:latin typeface="Cambria"/>
                <a:cs typeface="Cambria"/>
              </a:rPr>
              <a:t>a</a:t>
            </a:r>
            <a:r>
              <a:rPr sz="1733" spc="-207" dirty="0">
                <a:latin typeface="Cambria"/>
                <a:cs typeface="Cambria"/>
              </a:rPr>
              <a:t>nu</a:t>
            </a:r>
            <a:r>
              <a:rPr sz="1733" cap="small" spc="-207" dirty="0">
                <a:latin typeface="Cambria"/>
                <a:cs typeface="Cambria"/>
              </a:rPr>
              <a:t>fa</a:t>
            </a:r>
            <a:r>
              <a:rPr sz="1733" spc="-207" dirty="0">
                <a:latin typeface="Cambria"/>
                <a:cs typeface="Cambria"/>
              </a:rPr>
              <a:t>c</a:t>
            </a:r>
            <a:r>
              <a:rPr sz="1733" cap="small" spc="-207" dirty="0">
                <a:latin typeface="Cambria"/>
                <a:cs typeface="Cambria"/>
              </a:rPr>
              <a:t>t</a:t>
            </a:r>
            <a:r>
              <a:rPr sz="1733" spc="-207" dirty="0">
                <a:latin typeface="Cambria"/>
                <a:cs typeface="Cambria"/>
              </a:rPr>
              <a:t>u</a:t>
            </a:r>
            <a:r>
              <a:rPr sz="1733" cap="small" spc="-207" dirty="0">
                <a:latin typeface="Cambria"/>
                <a:cs typeface="Cambria"/>
              </a:rPr>
              <a:t>r</a:t>
            </a:r>
            <a:r>
              <a:rPr sz="1733" spc="-207" dirty="0">
                <a:latin typeface="Cambria"/>
                <a:cs typeface="Cambria"/>
              </a:rPr>
              <a:t>e</a:t>
            </a:r>
            <a:r>
              <a:rPr sz="1733" cap="small" spc="-207" dirty="0">
                <a:latin typeface="Cambria"/>
                <a:cs typeface="Cambria"/>
              </a:rPr>
              <a:t>r</a:t>
            </a:r>
            <a:endParaRPr sz="1733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47725" y="2895083"/>
            <a:ext cx="10477500" cy="2380827"/>
            <a:chOff x="1160793" y="2171312"/>
            <a:chExt cx="7858125" cy="1785620"/>
          </a:xfrm>
        </p:grpSpPr>
        <p:sp>
          <p:nvSpPr>
            <p:cNvPr id="40" name="object 40"/>
            <p:cNvSpPr/>
            <p:nvPr/>
          </p:nvSpPr>
          <p:spPr>
            <a:xfrm>
              <a:off x="3303046" y="2721375"/>
              <a:ext cx="602615" cy="799465"/>
            </a:xfrm>
            <a:custGeom>
              <a:avLst/>
              <a:gdLst/>
              <a:ahLst/>
              <a:cxnLst/>
              <a:rect l="l" t="t" r="r" b="b"/>
              <a:pathLst>
                <a:path w="602614" h="799464">
                  <a:moveTo>
                    <a:pt x="0" y="0"/>
                  </a:moveTo>
                  <a:lnTo>
                    <a:pt x="602279" y="799244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8974" y="3449090"/>
              <a:ext cx="65646" cy="8299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035816" y="3879753"/>
              <a:ext cx="10160" cy="32384"/>
            </a:xfrm>
            <a:custGeom>
              <a:avLst/>
              <a:gdLst/>
              <a:ahLst/>
              <a:cxnLst/>
              <a:rect l="l" t="t" r="r" b="b"/>
              <a:pathLst>
                <a:path w="10160" h="32385">
                  <a:moveTo>
                    <a:pt x="0" y="0"/>
                  </a:moveTo>
                  <a:lnTo>
                    <a:pt x="9650" y="0"/>
                  </a:lnTo>
                  <a:lnTo>
                    <a:pt x="9650" y="32187"/>
                  </a:lnTo>
                  <a:lnTo>
                    <a:pt x="0" y="32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82952" y="2730949"/>
              <a:ext cx="0" cy="799465"/>
            </a:xfrm>
            <a:custGeom>
              <a:avLst/>
              <a:gdLst/>
              <a:ahLst/>
              <a:cxnLst/>
              <a:rect l="l" t="t" r="r" b="b"/>
              <a:pathLst>
                <a:path h="799464">
                  <a:moveTo>
                    <a:pt x="0" y="0"/>
                  </a:moveTo>
                  <a:lnTo>
                    <a:pt x="0" y="799259"/>
                  </a:lnTo>
                </a:path>
              </a:pathLst>
            </a:custGeom>
            <a:ln w="9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63650" y="3458382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4" h="83820">
                  <a:moveTo>
                    <a:pt x="38602" y="0"/>
                  </a:moveTo>
                  <a:lnTo>
                    <a:pt x="19301" y="83797"/>
                  </a:lnTo>
                  <a:lnTo>
                    <a:pt x="0" y="0"/>
                  </a:lnTo>
                  <a:lnTo>
                    <a:pt x="19301" y="23942"/>
                  </a:lnTo>
                  <a:lnTo>
                    <a:pt x="386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63650" y="3458382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4" h="83820">
                  <a:moveTo>
                    <a:pt x="19301" y="23942"/>
                  </a:moveTo>
                  <a:lnTo>
                    <a:pt x="0" y="0"/>
                  </a:lnTo>
                  <a:lnTo>
                    <a:pt x="19301" y="83797"/>
                  </a:lnTo>
                  <a:lnTo>
                    <a:pt x="38602" y="0"/>
                  </a:lnTo>
                  <a:lnTo>
                    <a:pt x="19301" y="23942"/>
                  </a:lnTo>
                  <a:close/>
                </a:path>
              </a:pathLst>
            </a:custGeom>
            <a:ln w="57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18320" y="2565751"/>
              <a:ext cx="855980" cy="0"/>
            </a:xfrm>
            <a:custGeom>
              <a:avLst/>
              <a:gdLst/>
              <a:ahLst/>
              <a:cxnLst/>
              <a:rect l="l" t="t" r="r" b="b"/>
              <a:pathLst>
                <a:path w="855980">
                  <a:moveTo>
                    <a:pt x="0" y="0"/>
                  </a:moveTo>
                  <a:lnTo>
                    <a:pt x="855666" y="0"/>
                  </a:lnTo>
                </a:path>
              </a:pathLst>
            </a:custGeom>
            <a:ln w="11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16083" y="2541809"/>
              <a:ext cx="67945" cy="48260"/>
            </a:xfrm>
            <a:custGeom>
              <a:avLst/>
              <a:gdLst/>
              <a:ahLst/>
              <a:cxnLst/>
              <a:rect l="l" t="t" r="r" b="b"/>
              <a:pathLst>
                <a:path w="67944" h="48260">
                  <a:moveTo>
                    <a:pt x="0" y="0"/>
                  </a:moveTo>
                  <a:lnTo>
                    <a:pt x="67554" y="23942"/>
                  </a:lnTo>
                  <a:lnTo>
                    <a:pt x="0" y="47884"/>
                  </a:lnTo>
                  <a:lnTo>
                    <a:pt x="19301" y="23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16083" y="2541809"/>
              <a:ext cx="67945" cy="48260"/>
            </a:xfrm>
            <a:custGeom>
              <a:avLst/>
              <a:gdLst/>
              <a:ahLst/>
              <a:cxnLst/>
              <a:rect l="l" t="t" r="r" b="b"/>
              <a:pathLst>
                <a:path w="67944" h="48260">
                  <a:moveTo>
                    <a:pt x="19301" y="23942"/>
                  </a:moveTo>
                  <a:lnTo>
                    <a:pt x="0" y="47884"/>
                  </a:lnTo>
                  <a:lnTo>
                    <a:pt x="67554" y="23942"/>
                  </a:lnTo>
                  <a:lnTo>
                    <a:pt x="0" y="0"/>
                  </a:lnTo>
                  <a:lnTo>
                    <a:pt x="19301" y="23942"/>
                  </a:lnTo>
                  <a:close/>
                </a:path>
              </a:pathLst>
            </a:custGeom>
            <a:ln w="55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02209" y="2730949"/>
              <a:ext cx="975994" cy="799465"/>
            </a:xfrm>
            <a:custGeom>
              <a:avLst/>
              <a:gdLst/>
              <a:ahLst/>
              <a:cxnLst/>
              <a:rect l="l" t="t" r="r" b="b"/>
              <a:pathLst>
                <a:path w="975994" h="799464">
                  <a:moveTo>
                    <a:pt x="0" y="0"/>
                  </a:moveTo>
                  <a:lnTo>
                    <a:pt x="975978" y="799259"/>
                  </a:lnTo>
                </a:path>
              </a:pathLst>
            </a:custGeom>
            <a:ln w="110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6455" y="3467870"/>
              <a:ext cx="72554" cy="7170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307892" y="2171318"/>
              <a:ext cx="1734820" cy="1412875"/>
            </a:xfrm>
            <a:custGeom>
              <a:avLst/>
              <a:gdLst/>
              <a:ahLst/>
              <a:cxnLst/>
              <a:rect l="l" t="t" r="r" b="b"/>
              <a:pathLst>
                <a:path w="1734820" h="1412875">
                  <a:moveTo>
                    <a:pt x="1281582" y="719569"/>
                  </a:moveTo>
                  <a:lnTo>
                    <a:pt x="282765" y="719569"/>
                  </a:lnTo>
                  <a:lnTo>
                    <a:pt x="282765" y="905598"/>
                  </a:lnTo>
                  <a:lnTo>
                    <a:pt x="36029" y="589673"/>
                  </a:lnTo>
                  <a:lnTo>
                    <a:pt x="0" y="617816"/>
                  </a:lnTo>
                  <a:lnTo>
                    <a:pt x="282765" y="979881"/>
                  </a:lnTo>
                  <a:lnTo>
                    <a:pt x="282765" y="1041565"/>
                  </a:lnTo>
                  <a:lnTo>
                    <a:pt x="330936" y="1041565"/>
                  </a:lnTo>
                  <a:lnTo>
                    <a:pt x="620471" y="1412278"/>
                  </a:lnTo>
                  <a:lnTo>
                    <a:pt x="656501" y="1384134"/>
                  </a:lnTo>
                  <a:lnTo>
                    <a:pt x="388950" y="1041565"/>
                  </a:lnTo>
                  <a:lnTo>
                    <a:pt x="1281582" y="1041565"/>
                  </a:lnTo>
                  <a:lnTo>
                    <a:pt x="1281582" y="719569"/>
                  </a:lnTo>
                  <a:close/>
                </a:path>
                <a:path w="1734820" h="1412875">
                  <a:moveTo>
                    <a:pt x="1734388" y="0"/>
                  </a:moveTo>
                  <a:lnTo>
                    <a:pt x="443395" y="0"/>
                  </a:lnTo>
                  <a:lnTo>
                    <a:pt x="443395" y="607745"/>
                  </a:lnTo>
                  <a:lnTo>
                    <a:pt x="1734388" y="607745"/>
                  </a:lnTo>
                  <a:lnTo>
                    <a:pt x="1734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86558" y="2526719"/>
              <a:ext cx="4225925" cy="1423670"/>
            </a:xfrm>
            <a:custGeom>
              <a:avLst/>
              <a:gdLst/>
              <a:ahLst/>
              <a:cxnLst/>
              <a:rect l="l" t="t" r="r" b="b"/>
              <a:pathLst>
                <a:path w="4225925" h="1423670">
                  <a:moveTo>
                    <a:pt x="0" y="237212"/>
                  </a:moveTo>
                  <a:lnTo>
                    <a:pt x="4819" y="189405"/>
                  </a:lnTo>
                  <a:lnTo>
                    <a:pt x="18641" y="144878"/>
                  </a:lnTo>
                  <a:lnTo>
                    <a:pt x="40511" y="104584"/>
                  </a:lnTo>
                  <a:lnTo>
                    <a:pt x="69477" y="69477"/>
                  </a:lnTo>
                  <a:lnTo>
                    <a:pt x="104584" y="40512"/>
                  </a:lnTo>
                  <a:lnTo>
                    <a:pt x="144878" y="18641"/>
                  </a:lnTo>
                  <a:lnTo>
                    <a:pt x="189405" y="4819"/>
                  </a:lnTo>
                  <a:lnTo>
                    <a:pt x="237211" y="0"/>
                  </a:lnTo>
                  <a:lnTo>
                    <a:pt x="3988344" y="0"/>
                  </a:lnTo>
                  <a:lnTo>
                    <a:pt x="4036150" y="4819"/>
                  </a:lnTo>
                  <a:lnTo>
                    <a:pt x="4080677" y="18641"/>
                  </a:lnTo>
                  <a:lnTo>
                    <a:pt x="4120970" y="40512"/>
                  </a:lnTo>
                  <a:lnTo>
                    <a:pt x="4156077" y="69477"/>
                  </a:lnTo>
                  <a:lnTo>
                    <a:pt x="4185043" y="104584"/>
                  </a:lnTo>
                  <a:lnTo>
                    <a:pt x="4206913" y="144878"/>
                  </a:lnTo>
                  <a:lnTo>
                    <a:pt x="4220735" y="189405"/>
                  </a:lnTo>
                  <a:lnTo>
                    <a:pt x="4225555" y="237212"/>
                  </a:lnTo>
                  <a:lnTo>
                    <a:pt x="4225555" y="1186043"/>
                  </a:lnTo>
                  <a:lnTo>
                    <a:pt x="4220735" y="1233849"/>
                  </a:lnTo>
                  <a:lnTo>
                    <a:pt x="4206913" y="1278376"/>
                  </a:lnTo>
                  <a:lnTo>
                    <a:pt x="4185043" y="1318670"/>
                  </a:lnTo>
                  <a:lnTo>
                    <a:pt x="4156077" y="1353777"/>
                  </a:lnTo>
                  <a:lnTo>
                    <a:pt x="4120970" y="1382742"/>
                  </a:lnTo>
                  <a:lnTo>
                    <a:pt x="4080677" y="1404613"/>
                  </a:lnTo>
                  <a:lnTo>
                    <a:pt x="4036150" y="1418435"/>
                  </a:lnTo>
                  <a:lnTo>
                    <a:pt x="3988344" y="1423255"/>
                  </a:lnTo>
                  <a:lnTo>
                    <a:pt x="237211" y="1423255"/>
                  </a:lnTo>
                  <a:lnTo>
                    <a:pt x="189405" y="1418435"/>
                  </a:lnTo>
                  <a:lnTo>
                    <a:pt x="144878" y="1404613"/>
                  </a:lnTo>
                  <a:lnTo>
                    <a:pt x="104584" y="1382742"/>
                  </a:lnTo>
                  <a:lnTo>
                    <a:pt x="69477" y="1353777"/>
                  </a:lnTo>
                  <a:lnTo>
                    <a:pt x="40511" y="1318670"/>
                  </a:lnTo>
                  <a:lnTo>
                    <a:pt x="18641" y="1278376"/>
                  </a:lnTo>
                  <a:lnTo>
                    <a:pt x="4819" y="1233849"/>
                  </a:lnTo>
                  <a:lnTo>
                    <a:pt x="0" y="1186043"/>
                  </a:lnTo>
                  <a:lnTo>
                    <a:pt x="0" y="237212"/>
                  </a:lnTo>
                  <a:close/>
                </a:path>
              </a:pathLst>
            </a:custGeom>
            <a:ln w="12700">
              <a:solidFill>
                <a:srgbClr val="610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705853" y="3467268"/>
            <a:ext cx="98636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spc="-13" dirty="0">
                <a:latin typeface="Calibri"/>
                <a:cs typeface="Calibri"/>
              </a:rPr>
              <a:t>Example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79701" y="3772069"/>
            <a:ext cx="5144347" cy="134902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6933">
              <a:spcBef>
                <a:spcPts val="260"/>
              </a:spcBef>
            </a:pPr>
            <a:r>
              <a:rPr sz="2133" b="1" spc="-33" dirty="0">
                <a:latin typeface="Calibri"/>
                <a:cs typeface="Calibri"/>
              </a:rPr>
              <a:t>Top</a:t>
            </a:r>
            <a:r>
              <a:rPr sz="2133" b="1" spc="-53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scoring</a:t>
            </a:r>
            <a:r>
              <a:rPr sz="2133" b="1" spc="-4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parent</a:t>
            </a:r>
            <a:r>
              <a:rPr sz="2133" b="1" spc="-4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entity:</a:t>
            </a:r>
            <a:r>
              <a:rPr sz="2133" b="1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“Super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Mario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Land”</a:t>
            </a:r>
            <a:endParaRPr sz="2133">
              <a:latin typeface="Calibri"/>
              <a:cs typeface="Calibri"/>
            </a:endParaRPr>
          </a:p>
          <a:p>
            <a:pPr marL="16933">
              <a:lnSpc>
                <a:spcPts val="2547"/>
              </a:lnSpc>
              <a:spcBef>
                <a:spcPts val="127"/>
              </a:spcBef>
            </a:pPr>
            <a:r>
              <a:rPr sz="2133" b="1" spc="-33" dirty="0">
                <a:latin typeface="Calibri"/>
                <a:cs typeface="Calibri"/>
              </a:rPr>
              <a:t>Top</a:t>
            </a:r>
            <a:r>
              <a:rPr sz="2133" b="1" spc="-6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scoring</a:t>
            </a:r>
            <a:r>
              <a:rPr sz="2133" b="1" spc="-60" dirty="0">
                <a:latin typeface="Calibri"/>
                <a:cs typeface="Calibri"/>
              </a:rPr>
              <a:t> </a:t>
            </a:r>
            <a:r>
              <a:rPr sz="2133" b="1" dirty="0">
                <a:latin typeface="Calibri"/>
                <a:cs typeface="Calibri"/>
              </a:rPr>
              <a:t>relation:</a:t>
            </a:r>
            <a:r>
              <a:rPr sz="2133" b="1" spc="-8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“publisher”</a:t>
            </a:r>
            <a:endParaRPr sz="2133">
              <a:latin typeface="Calibri"/>
              <a:cs typeface="Calibri"/>
            </a:endParaRPr>
          </a:p>
          <a:p>
            <a:pPr marL="16933" marR="246374">
              <a:lnSpc>
                <a:spcPts val="2533"/>
              </a:lnSpc>
              <a:spcBef>
                <a:spcPts val="93"/>
              </a:spcBef>
            </a:pPr>
            <a:r>
              <a:rPr sz="2133" spc="-13" dirty="0">
                <a:latin typeface="Calibri"/>
                <a:cs typeface="Calibri"/>
              </a:rPr>
              <a:t>-</a:t>
            </a:r>
            <a:r>
              <a:rPr sz="2133" dirty="0">
                <a:latin typeface="Calibri"/>
                <a:cs typeface="Calibri"/>
              </a:rPr>
              <a:t>&gt;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Next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entity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is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spc="-27" dirty="0">
                <a:latin typeface="Calibri"/>
                <a:cs typeface="Calibri"/>
              </a:rPr>
              <a:t>“Nintendo”,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due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to</a:t>
            </a:r>
            <a:r>
              <a:rPr sz="2133" spc="-1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KG</a:t>
            </a:r>
            <a:r>
              <a:rPr sz="2133" spc="-13" dirty="0">
                <a:latin typeface="Calibri"/>
                <a:cs typeface="Calibri"/>
              </a:rPr>
              <a:t> triple </a:t>
            </a:r>
            <a:r>
              <a:rPr sz="2133" dirty="0">
                <a:latin typeface="Calibri"/>
                <a:cs typeface="Calibri"/>
              </a:rPr>
              <a:t>(Super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Mario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Land,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i="1" spc="-13" dirty="0">
                <a:latin typeface="Calibri"/>
                <a:cs typeface="Calibri"/>
              </a:rPr>
              <a:t>publisher,</a:t>
            </a:r>
            <a:r>
              <a:rPr sz="2133" i="1" spc="-2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Nintendo).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485751" y="3252951"/>
            <a:ext cx="440267" cy="1377525"/>
          </a:xfrm>
          <a:custGeom>
            <a:avLst/>
            <a:gdLst/>
            <a:ahLst/>
            <a:cxnLst/>
            <a:rect l="l" t="t" r="r" b="b"/>
            <a:pathLst>
              <a:path w="330200" h="1033145">
                <a:moveTo>
                  <a:pt x="54369" y="963056"/>
                </a:moveTo>
                <a:lnTo>
                  <a:pt x="0" y="1028645"/>
                </a:lnTo>
                <a:lnTo>
                  <a:pt x="85093" y="1032788"/>
                </a:lnTo>
                <a:lnTo>
                  <a:pt x="73805" y="1007168"/>
                </a:lnTo>
                <a:lnTo>
                  <a:pt x="60487" y="1007168"/>
                </a:lnTo>
                <a:lnTo>
                  <a:pt x="55732" y="998915"/>
                </a:lnTo>
                <a:lnTo>
                  <a:pt x="67246" y="992281"/>
                </a:lnTo>
                <a:lnTo>
                  <a:pt x="54369" y="963056"/>
                </a:lnTo>
                <a:close/>
              </a:path>
              <a:path w="330200" h="1033145">
                <a:moveTo>
                  <a:pt x="67246" y="992281"/>
                </a:moveTo>
                <a:lnTo>
                  <a:pt x="55732" y="998915"/>
                </a:lnTo>
                <a:lnTo>
                  <a:pt x="60487" y="1007168"/>
                </a:lnTo>
                <a:lnTo>
                  <a:pt x="71109" y="1001048"/>
                </a:lnTo>
                <a:lnTo>
                  <a:pt x="67246" y="992281"/>
                </a:lnTo>
                <a:close/>
              </a:path>
              <a:path w="330200" h="1033145">
                <a:moveTo>
                  <a:pt x="71109" y="1001048"/>
                </a:moveTo>
                <a:lnTo>
                  <a:pt x="60487" y="1007168"/>
                </a:lnTo>
                <a:lnTo>
                  <a:pt x="73805" y="1007168"/>
                </a:lnTo>
                <a:lnTo>
                  <a:pt x="71109" y="1001048"/>
                </a:lnTo>
                <a:close/>
              </a:path>
              <a:path w="330200" h="1033145">
                <a:moveTo>
                  <a:pt x="72691" y="989143"/>
                </a:moveTo>
                <a:lnTo>
                  <a:pt x="67246" y="992281"/>
                </a:lnTo>
                <a:lnTo>
                  <a:pt x="71109" y="1001048"/>
                </a:lnTo>
                <a:lnTo>
                  <a:pt x="78587" y="996739"/>
                </a:lnTo>
                <a:lnTo>
                  <a:pt x="85552" y="989611"/>
                </a:lnTo>
                <a:lnTo>
                  <a:pt x="72233" y="989611"/>
                </a:lnTo>
                <a:lnTo>
                  <a:pt x="72691" y="989143"/>
                </a:lnTo>
                <a:close/>
              </a:path>
              <a:path w="330200" h="1033145">
                <a:moveTo>
                  <a:pt x="73262" y="988814"/>
                </a:moveTo>
                <a:lnTo>
                  <a:pt x="72691" y="989143"/>
                </a:lnTo>
                <a:lnTo>
                  <a:pt x="72233" y="989611"/>
                </a:lnTo>
                <a:lnTo>
                  <a:pt x="73262" y="988814"/>
                </a:lnTo>
                <a:close/>
              </a:path>
              <a:path w="330200" h="1033145">
                <a:moveTo>
                  <a:pt x="86332" y="988814"/>
                </a:moveTo>
                <a:lnTo>
                  <a:pt x="73262" y="988814"/>
                </a:lnTo>
                <a:lnTo>
                  <a:pt x="72233" y="989611"/>
                </a:lnTo>
                <a:lnTo>
                  <a:pt x="85552" y="989611"/>
                </a:lnTo>
                <a:lnTo>
                  <a:pt x="86332" y="988814"/>
                </a:lnTo>
                <a:close/>
              </a:path>
              <a:path w="330200" h="1033145">
                <a:moveTo>
                  <a:pt x="99400" y="974467"/>
                </a:moveTo>
                <a:lnTo>
                  <a:pt x="87034" y="974467"/>
                </a:lnTo>
                <a:lnTo>
                  <a:pt x="86777" y="974751"/>
                </a:lnTo>
                <a:lnTo>
                  <a:pt x="72691" y="989143"/>
                </a:lnTo>
                <a:lnTo>
                  <a:pt x="73262" y="988814"/>
                </a:lnTo>
                <a:lnTo>
                  <a:pt x="86332" y="988814"/>
                </a:lnTo>
                <a:lnTo>
                  <a:pt x="93981" y="980987"/>
                </a:lnTo>
                <a:lnTo>
                  <a:pt x="99400" y="974467"/>
                </a:lnTo>
                <a:close/>
              </a:path>
              <a:path w="330200" h="1033145">
                <a:moveTo>
                  <a:pt x="86899" y="974604"/>
                </a:moveTo>
                <a:lnTo>
                  <a:pt x="86756" y="974751"/>
                </a:lnTo>
                <a:lnTo>
                  <a:pt x="86899" y="974604"/>
                </a:lnTo>
                <a:close/>
              </a:path>
              <a:path w="330200" h="1033145">
                <a:moveTo>
                  <a:pt x="113137" y="957158"/>
                </a:moveTo>
                <a:lnTo>
                  <a:pt x="101399" y="957158"/>
                </a:lnTo>
                <a:lnTo>
                  <a:pt x="86899" y="974604"/>
                </a:lnTo>
                <a:lnTo>
                  <a:pt x="87034" y="974467"/>
                </a:lnTo>
                <a:lnTo>
                  <a:pt x="99400" y="974467"/>
                </a:lnTo>
                <a:lnTo>
                  <a:pt x="108876" y="963056"/>
                </a:lnTo>
                <a:lnTo>
                  <a:pt x="113137" y="957158"/>
                </a:lnTo>
                <a:close/>
              </a:path>
              <a:path w="330200" h="1033145">
                <a:moveTo>
                  <a:pt x="126905" y="937465"/>
                </a:moveTo>
                <a:lnTo>
                  <a:pt x="115615" y="937465"/>
                </a:lnTo>
                <a:lnTo>
                  <a:pt x="101297" y="957281"/>
                </a:lnTo>
                <a:lnTo>
                  <a:pt x="113137" y="957158"/>
                </a:lnTo>
                <a:lnTo>
                  <a:pt x="123416" y="942931"/>
                </a:lnTo>
                <a:lnTo>
                  <a:pt x="126905" y="937465"/>
                </a:lnTo>
                <a:close/>
              </a:path>
              <a:path w="330200" h="1033145">
                <a:moveTo>
                  <a:pt x="140595" y="915484"/>
                </a:moveTo>
                <a:lnTo>
                  <a:pt x="129635" y="915484"/>
                </a:lnTo>
                <a:lnTo>
                  <a:pt x="115524" y="937592"/>
                </a:lnTo>
                <a:lnTo>
                  <a:pt x="126905" y="937465"/>
                </a:lnTo>
                <a:lnTo>
                  <a:pt x="137727" y="920509"/>
                </a:lnTo>
                <a:lnTo>
                  <a:pt x="140595" y="915484"/>
                </a:lnTo>
                <a:close/>
              </a:path>
              <a:path w="330200" h="1033145">
                <a:moveTo>
                  <a:pt x="154128" y="891312"/>
                </a:moveTo>
                <a:lnTo>
                  <a:pt x="143419" y="891312"/>
                </a:lnTo>
                <a:lnTo>
                  <a:pt x="129572" y="915583"/>
                </a:lnTo>
                <a:lnTo>
                  <a:pt x="140595" y="915484"/>
                </a:lnTo>
                <a:lnTo>
                  <a:pt x="151744" y="895944"/>
                </a:lnTo>
                <a:lnTo>
                  <a:pt x="154128" y="891312"/>
                </a:lnTo>
                <a:close/>
              </a:path>
              <a:path w="330200" h="1033145">
                <a:moveTo>
                  <a:pt x="167440" y="865049"/>
                </a:moveTo>
                <a:lnTo>
                  <a:pt x="156931" y="865049"/>
                </a:lnTo>
                <a:lnTo>
                  <a:pt x="143375" y="891390"/>
                </a:lnTo>
                <a:lnTo>
                  <a:pt x="154128" y="891312"/>
                </a:lnTo>
                <a:lnTo>
                  <a:pt x="165441" y="869326"/>
                </a:lnTo>
                <a:lnTo>
                  <a:pt x="167440" y="865049"/>
                </a:lnTo>
                <a:close/>
              </a:path>
              <a:path w="330200" h="1033145">
                <a:moveTo>
                  <a:pt x="180483" y="836789"/>
                </a:moveTo>
                <a:lnTo>
                  <a:pt x="170131" y="836789"/>
                </a:lnTo>
                <a:lnTo>
                  <a:pt x="156887" y="865134"/>
                </a:lnTo>
                <a:lnTo>
                  <a:pt x="167440" y="865049"/>
                </a:lnTo>
                <a:lnTo>
                  <a:pt x="178795" y="840747"/>
                </a:lnTo>
                <a:lnTo>
                  <a:pt x="180483" y="836789"/>
                </a:lnTo>
                <a:close/>
              </a:path>
              <a:path w="330200" h="1033145">
                <a:moveTo>
                  <a:pt x="193212" y="806631"/>
                </a:moveTo>
                <a:lnTo>
                  <a:pt x="182989" y="806631"/>
                </a:lnTo>
                <a:lnTo>
                  <a:pt x="170101" y="836854"/>
                </a:lnTo>
                <a:lnTo>
                  <a:pt x="180483" y="836789"/>
                </a:lnTo>
                <a:lnTo>
                  <a:pt x="191780" y="810299"/>
                </a:lnTo>
                <a:lnTo>
                  <a:pt x="193212" y="806631"/>
                </a:lnTo>
                <a:close/>
              </a:path>
              <a:path w="330200" h="1033145">
                <a:moveTo>
                  <a:pt x="205587" y="774670"/>
                </a:moveTo>
                <a:lnTo>
                  <a:pt x="195470" y="774670"/>
                </a:lnTo>
                <a:lnTo>
                  <a:pt x="182965" y="806688"/>
                </a:lnTo>
                <a:lnTo>
                  <a:pt x="193212" y="806631"/>
                </a:lnTo>
                <a:lnTo>
                  <a:pt x="204367" y="778074"/>
                </a:lnTo>
                <a:lnTo>
                  <a:pt x="205587" y="774670"/>
                </a:lnTo>
                <a:close/>
              </a:path>
              <a:path w="330200" h="1033145">
                <a:moveTo>
                  <a:pt x="217571" y="741005"/>
                </a:moveTo>
                <a:lnTo>
                  <a:pt x="207543" y="741005"/>
                </a:lnTo>
                <a:lnTo>
                  <a:pt x="195447" y="774730"/>
                </a:lnTo>
                <a:lnTo>
                  <a:pt x="205587" y="774670"/>
                </a:lnTo>
                <a:lnTo>
                  <a:pt x="216529" y="744164"/>
                </a:lnTo>
                <a:lnTo>
                  <a:pt x="217571" y="741005"/>
                </a:lnTo>
                <a:close/>
              </a:path>
              <a:path w="330200" h="1033145">
                <a:moveTo>
                  <a:pt x="229127" y="705731"/>
                </a:moveTo>
                <a:lnTo>
                  <a:pt x="219176" y="705731"/>
                </a:lnTo>
                <a:lnTo>
                  <a:pt x="207533" y="741034"/>
                </a:lnTo>
                <a:lnTo>
                  <a:pt x="217571" y="741005"/>
                </a:lnTo>
                <a:lnTo>
                  <a:pt x="228239" y="708660"/>
                </a:lnTo>
                <a:lnTo>
                  <a:pt x="229127" y="705731"/>
                </a:lnTo>
                <a:close/>
              </a:path>
              <a:path w="330200" h="1033145">
                <a:moveTo>
                  <a:pt x="240224" y="668942"/>
                </a:moveTo>
                <a:lnTo>
                  <a:pt x="230337" y="668942"/>
                </a:lnTo>
                <a:lnTo>
                  <a:pt x="219141" y="705837"/>
                </a:lnTo>
                <a:lnTo>
                  <a:pt x="229127" y="705731"/>
                </a:lnTo>
                <a:lnTo>
                  <a:pt x="239467" y="671656"/>
                </a:lnTo>
                <a:lnTo>
                  <a:pt x="240224" y="668942"/>
                </a:lnTo>
                <a:close/>
              </a:path>
              <a:path w="330200" h="1033145">
                <a:moveTo>
                  <a:pt x="250828" y="630734"/>
                </a:moveTo>
                <a:lnTo>
                  <a:pt x="240996" y="630734"/>
                </a:lnTo>
                <a:lnTo>
                  <a:pt x="230315" y="669014"/>
                </a:lnTo>
                <a:lnTo>
                  <a:pt x="240224" y="668942"/>
                </a:lnTo>
                <a:lnTo>
                  <a:pt x="250184" y="633246"/>
                </a:lnTo>
                <a:lnTo>
                  <a:pt x="250828" y="630734"/>
                </a:lnTo>
                <a:close/>
              </a:path>
              <a:path w="330200" h="1033145">
                <a:moveTo>
                  <a:pt x="260906" y="591204"/>
                </a:moveTo>
                <a:lnTo>
                  <a:pt x="251123" y="591204"/>
                </a:lnTo>
                <a:lnTo>
                  <a:pt x="240996" y="630735"/>
                </a:lnTo>
                <a:lnTo>
                  <a:pt x="250828" y="630734"/>
                </a:lnTo>
                <a:lnTo>
                  <a:pt x="260362" y="593521"/>
                </a:lnTo>
                <a:lnTo>
                  <a:pt x="260906" y="591204"/>
                </a:lnTo>
                <a:close/>
              </a:path>
              <a:path w="330200" h="1033145">
                <a:moveTo>
                  <a:pt x="270407" y="550444"/>
                </a:moveTo>
                <a:lnTo>
                  <a:pt x="260687" y="550444"/>
                </a:lnTo>
                <a:lnTo>
                  <a:pt x="251113" y="591241"/>
                </a:lnTo>
                <a:lnTo>
                  <a:pt x="260906" y="591204"/>
                </a:lnTo>
                <a:lnTo>
                  <a:pt x="269976" y="552554"/>
                </a:lnTo>
                <a:lnTo>
                  <a:pt x="270407" y="550444"/>
                </a:lnTo>
                <a:close/>
              </a:path>
              <a:path w="330200" h="1033145">
                <a:moveTo>
                  <a:pt x="287667" y="465579"/>
                </a:moveTo>
                <a:lnTo>
                  <a:pt x="278015" y="465579"/>
                </a:lnTo>
                <a:lnTo>
                  <a:pt x="260676" y="550492"/>
                </a:lnTo>
                <a:lnTo>
                  <a:pt x="270407" y="550444"/>
                </a:lnTo>
                <a:lnTo>
                  <a:pt x="287365" y="467398"/>
                </a:lnTo>
                <a:lnTo>
                  <a:pt x="287667" y="465579"/>
                </a:lnTo>
                <a:close/>
              </a:path>
              <a:path w="330200" h="1033145">
                <a:moveTo>
                  <a:pt x="302321" y="376984"/>
                </a:moveTo>
                <a:lnTo>
                  <a:pt x="292719" y="376984"/>
                </a:lnTo>
                <a:lnTo>
                  <a:pt x="277999" y="465660"/>
                </a:lnTo>
                <a:lnTo>
                  <a:pt x="287667" y="465579"/>
                </a:lnTo>
                <a:lnTo>
                  <a:pt x="302130" y="378460"/>
                </a:lnTo>
                <a:lnTo>
                  <a:pt x="302321" y="376984"/>
                </a:lnTo>
                <a:close/>
              </a:path>
              <a:path w="330200" h="1033145">
                <a:moveTo>
                  <a:pt x="314134" y="285371"/>
                </a:moveTo>
                <a:lnTo>
                  <a:pt x="304571" y="285371"/>
                </a:lnTo>
                <a:lnTo>
                  <a:pt x="292703" y="377081"/>
                </a:lnTo>
                <a:lnTo>
                  <a:pt x="302321" y="376984"/>
                </a:lnTo>
                <a:lnTo>
                  <a:pt x="314027" y="286509"/>
                </a:lnTo>
                <a:lnTo>
                  <a:pt x="314134" y="285371"/>
                </a:lnTo>
                <a:close/>
              </a:path>
              <a:path w="330200" h="1033145">
                <a:moveTo>
                  <a:pt x="322866" y="191498"/>
                </a:moveTo>
                <a:lnTo>
                  <a:pt x="313330" y="191498"/>
                </a:lnTo>
                <a:lnTo>
                  <a:pt x="304559" y="285462"/>
                </a:lnTo>
                <a:lnTo>
                  <a:pt x="314134" y="285371"/>
                </a:lnTo>
                <a:lnTo>
                  <a:pt x="322821" y="192298"/>
                </a:lnTo>
                <a:lnTo>
                  <a:pt x="322866" y="191498"/>
                </a:lnTo>
                <a:close/>
              </a:path>
              <a:path w="330200" h="1033145">
                <a:moveTo>
                  <a:pt x="328282" y="96122"/>
                </a:moveTo>
                <a:lnTo>
                  <a:pt x="318758" y="96122"/>
                </a:lnTo>
                <a:lnTo>
                  <a:pt x="313319" y="191611"/>
                </a:lnTo>
                <a:lnTo>
                  <a:pt x="322866" y="191498"/>
                </a:lnTo>
                <a:lnTo>
                  <a:pt x="328273" y="96574"/>
                </a:lnTo>
                <a:lnTo>
                  <a:pt x="328282" y="96122"/>
                </a:lnTo>
                <a:close/>
              </a:path>
              <a:path w="330200" h="1033145">
                <a:moveTo>
                  <a:pt x="320619" y="0"/>
                </a:moveTo>
                <a:lnTo>
                  <a:pt x="318754" y="96199"/>
                </a:lnTo>
                <a:lnTo>
                  <a:pt x="328282" y="96122"/>
                </a:lnTo>
                <a:lnTo>
                  <a:pt x="330141" y="184"/>
                </a:lnTo>
                <a:lnTo>
                  <a:pt x="320619" y="0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11388" y="1169753"/>
            <a:ext cx="11520593" cy="19475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Super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Mario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Land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spc="-13" dirty="0">
                <a:solidFill>
                  <a:srgbClr val="3A87FF"/>
                </a:solidFill>
                <a:uFill>
                  <a:solidFill>
                    <a:srgbClr val="3A87FF"/>
                  </a:solidFill>
                </a:uFill>
                <a:latin typeface="Calibri"/>
                <a:cs typeface="Calibri"/>
              </a:rPr>
              <a:t>Nintendo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85128">
              <a:spcBef>
                <a:spcPts val="1673"/>
              </a:spcBef>
              <a:tabLst>
                <a:tab pos="2897221" algn="l"/>
                <a:tab pos="5105272" algn="l"/>
              </a:tabLst>
            </a:pP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New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 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Not an</a:t>
            </a:r>
            <a:r>
              <a:rPr sz="3200" spc="-9" baseline="1736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Related</a:t>
            </a:r>
            <a:r>
              <a:rPr sz="2133" spc="-11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endParaRPr sz="2133">
              <a:latin typeface="Calibri"/>
              <a:cs typeface="Calibri"/>
            </a:endParaRPr>
          </a:p>
          <a:p>
            <a:pPr>
              <a:spcBef>
                <a:spcPts val="27"/>
              </a:spcBef>
            </a:pPr>
            <a:endParaRPr sz="2667">
              <a:latin typeface="Calibri"/>
              <a:cs typeface="Calibri"/>
            </a:endParaRPr>
          </a:p>
          <a:p>
            <a:pPr marL="16933">
              <a:lnSpc>
                <a:spcPts val="2519"/>
              </a:lnSpc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Related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(in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local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KG)</a:t>
            </a:r>
            <a:endParaRPr sz="2400">
              <a:latin typeface="Calibri"/>
              <a:cs typeface="Calibri"/>
            </a:endParaRPr>
          </a:p>
          <a:p>
            <a:pPr marL="6564889">
              <a:lnSpc>
                <a:spcPts val="2200"/>
              </a:lnSpc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KG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triple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=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(parent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entity,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relation,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tail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entity)</a:t>
            </a:r>
            <a:endParaRPr sz="2133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596820" y="1525190"/>
            <a:ext cx="4096173" cy="317500"/>
            <a:chOff x="1197615" y="1143892"/>
            <a:chExt cx="3072130" cy="238125"/>
          </a:xfrm>
        </p:grpSpPr>
        <p:sp>
          <p:nvSpPr>
            <p:cNvPr id="58" name="object 58"/>
            <p:cNvSpPr/>
            <p:nvPr/>
          </p:nvSpPr>
          <p:spPr>
            <a:xfrm>
              <a:off x="2092025" y="1148655"/>
              <a:ext cx="2172970" cy="162560"/>
            </a:xfrm>
            <a:custGeom>
              <a:avLst/>
              <a:gdLst/>
              <a:ahLst/>
              <a:cxnLst/>
              <a:rect l="l" t="t" r="r" b="b"/>
              <a:pathLst>
                <a:path w="2172970" h="162559">
                  <a:moveTo>
                    <a:pt x="2172768" y="0"/>
                  </a:moveTo>
                  <a:lnTo>
                    <a:pt x="2171706" y="31562"/>
                  </a:lnTo>
                  <a:lnTo>
                    <a:pt x="2168810" y="57337"/>
                  </a:lnTo>
                  <a:lnTo>
                    <a:pt x="2164514" y="74715"/>
                  </a:lnTo>
                  <a:lnTo>
                    <a:pt x="2159254" y="81087"/>
                  </a:lnTo>
                  <a:lnTo>
                    <a:pt x="1099897" y="81087"/>
                  </a:lnTo>
                  <a:lnTo>
                    <a:pt x="1094637" y="87459"/>
                  </a:lnTo>
                  <a:lnTo>
                    <a:pt x="1090341" y="104837"/>
                  </a:lnTo>
                  <a:lnTo>
                    <a:pt x="1087445" y="130612"/>
                  </a:lnTo>
                  <a:lnTo>
                    <a:pt x="1086384" y="162175"/>
                  </a:lnTo>
                  <a:lnTo>
                    <a:pt x="1085322" y="130612"/>
                  </a:lnTo>
                  <a:lnTo>
                    <a:pt x="1082426" y="104837"/>
                  </a:lnTo>
                  <a:lnTo>
                    <a:pt x="1078130" y="87459"/>
                  </a:lnTo>
                  <a:lnTo>
                    <a:pt x="1072871" y="81087"/>
                  </a:lnTo>
                  <a:lnTo>
                    <a:pt x="13513" y="81087"/>
                  </a:lnTo>
                  <a:lnTo>
                    <a:pt x="8253" y="74715"/>
                  </a:lnTo>
                  <a:lnTo>
                    <a:pt x="3957" y="57337"/>
                  </a:lnTo>
                  <a:lnTo>
                    <a:pt x="1061" y="3156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30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615" y="1148656"/>
              <a:ext cx="76199" cy="232882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1280" y="1543162"/>
            <a:ext cx="101600" cy="3105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32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endParaRPr spc="-13" dirty="0"/>
          </a:p>
        </p:txBody>
      </p:sp>
      <p:sp>
        <p:nvSpPr>
          <p:cNvPr id="3" name="object 3"/>
          <p:cNvSpPr/>
          <p:nvPr/>
        </p:nvSpPr>
        <p:spPr>
          <a:xfrm>
            <a:off x="528320" y="1508759"/>
            <a:ext cx="2201333" cy="16933"/>
          </a:xfrm>
          <a:custGeom>
            <a:avLst/>
            <a:gdLst/>
            <a:ahLst/>
            <a:cxnLst/>
            <a:rect l="l" t="t" r="r" b="b"/>
            <a:pathLst>
              <a:path w="1651000" h="12700">
                <a:moveTo>
                  <a:pt x="1651000" y="0"/>
                </a:moveTo>
                <a:lnTo>
                  <a:pt x="0" y="0"/>
                </a:lnTo>
                <a:lnTo>
                  <a:pt x="0" y="12700"/>
                </a:lnTo>
                <a:lnTo>
                  <a:pt x="1651000" y="12700"/>
                </a:lnTo>
                <a:lnTo>
                  <a:pt x="1651000" y="0"/>
                </a:lnTo>
                <a:close/>
              </a:path>
            </a:pathLst>
          </a:custGeom>
          <a:solidFill>
            <a:srgbClr val="3A8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36743" y="3871379"/>
            <a:ext cx="475827" cy="282787"/>
          </a:xfrm>
          <a:custGeom>
            <a:avLst/>
            <a:gdLst/>
            <a:ahLst/>
            <a:cxnLst/>
            <a:rect l="l" t="t" r="r" b="b"/>
            <a:pathLst>
              <a:path w="356869" h="212089">
                <a:moveTo>
                  <a:pt x="288725" y="0"/>
                </a:moveTo>
                <a:lnTo>
                  <a:pt x="285711" y="8595"/>
                </a:lnTo>
                <a:lnTo>
                  <a:pt x="297968" y="13914"/>
                </a:lnTo>
                <a:lnTo>
                  <a:pt x="308509" y="21277"/>
                </a:lnTo>
                <a:lnTo>
                  <a:pt x="329913" y="55409"/>
                </a:lnTo>
                <a:lnTo>
                  <a:pt x="336945" y="104811"/>
                </a:lnTo>
                <a:lnTo>
                  <a:pt x="336160" y="123487"/>
                </a:lnTo>
                <a:lnTo>
                  <a:pt x="324388" y="169217"/>
                </a:lnTo>
                <a:lnTo>
                  <a:pt x="298111" y="197806"/>
                </a:lnTo>
                <a:lnTo>
                  <a:pt x="286045" y="203150"/>
                </a:lnTo>
                <a:lnTo>
                  <a:pt x="288725" y="211745"/>
                </a:lnTo>
                <a:lnTo>
                  <a:pt x="329180" y="187708"/>
                </a:lnTo>
                <a:lnTo>
                  <a:pt x="351902" y="143335"/>
                </a:lnTo>
                <a:lnTo>
                  <a:pt x="356256" y="105928"/>
                </a:lnTo>
                <a:lnTo>
                  <a:pt x="355164" y="86516"/>
                </a:lnTo>
                <a:lnTo>
                  <a:pt x="338787" y="37114"/>
                </a:lnTo>
                <a:lnTo>
                  <a:pt x="304076" y="5542"/>
                </a:lnTo>
                <a:lnTo>
                  <a:pt x="288725" y="0"/>
                </a:lnTo>
                <a:close/>
              </a:path>
              <a:path w="35686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3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7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02540" y="3828479"/>
            <a:ext cx="1141307" cy="368300"/>
          </a:xfrm>
          <a:custGeom>
            <a:avLst/>
            <a:gdLst/>
            <a:ahLst/>
            <a:cxnLst/>
            <a:rect l="l" t="t" r="r" b="b"/>
            <a:pathLst>
              <a:path w="855979" h="276225">
                <a:moveTo>
                  <a:pt x="783064" y="0"/>
                </a:moveTo>
                <a:lnTo>
                  <a:pt x="780273" y="9152"/>
                </a:lnTo>
                <a:lnTo>
                  <a:pt x="792959" y="15731"/>
                </a:lnTo>
                <a:lnTo>
                  <a:pt x="804007" y="25310"/>
                </a:lnTo>
                <a:lnTo>
                  <a:pt x="827262" y="71570"/>
                </a:lnTo>
                <a:lnTo>
                  <a:pt x="834211" y="113930"/>
                </a:lnTo>
                <a:lnTo>
                  <a:pt x="835079" y="138187"/>
                </a:lnTo>
                <a:lnTo>
                  <a:pt x="834211" y="162391"/>
                </a:lnTo>
                <a:lnTo>
                  <a:pt x="827262" y="204668"/>
                </a:lnTo>
                <a:lnTo>
                  <a:pt x="804007" y="250854"/>
                </a:lnTo>
                <a:lnTo>
                  <a:pt x="780273" y="266998"/>
                </a:lnTo>
                <a:lnTo>
                  <a:pt x="783064" y="276151"/>
                </a:lnTo>
                <a:lnTo>
                  <a:pt x="826323" y="246034"/>
                </a:lnTo>
                <a:lnTo>
                  <a:pt x="845006" y="208689"/>
                </a:lnTo>
                <a:lnTo>
                  <a:pt x="854438" y="163371"/>
                </a:lnTo>
                <a:lnTo>
                  <a:pt x="855617" y="138075"/>
                </a:lnTo>
                <a:lnTo>
                  <a:pt x="854438" y="112779"/>
                </a:lnTo>
                <a:lnTo>
                  <a:pt x="845006" y="67461"/>
                </a:lnTo>
                <a:lnTo>
                  <a:pt x="826323" y="30117"/>
                </a:lnTo>
                <a:lnTo>
                  <a:pt x="799479" y="6397"/>
                </a:lnTo>
                <a:lnTo>
                  <a:pt x="783064" y="0"/>
                </a:lnTo>
                <a:close/>
              </a:path>
              <a:path w="855979" h="276225">
                <a:moveTo>
                  <a:pt x="72548" y="0"/>
                </a:moveTo>
                <a:lnTo>
                  <a:pt x="29288" y="30117"/>
                </a:lnTo>
                <a:lnTo>
                  <a:pt x="10605" y="67461"/>
                </a:lnTo>
                <a:lnTo>
                  <a:pt x="1173" y="112779"/>
                </a:lnTo>
                <a:lnTo>
                  <a:pt x="0" y="138187"/>
                </a:lnTo>
                <a:lnTo>
                  <a:pt x="1173" y="163371"/>
                </a:lnTo>
                <a:lnTo>
                  <a:pt x="10605" y="208689"/>
                </a:lnTo>
                <a:lnTo>
                  <a:pt x="29288" y="246034"/>
                </a:lnTo>
                <a:lnTo>
                  <a:pt x="72548" y="276151"/>
                </a:lnTo>
                <a:lnTo>
                  <a:pt x="75338" y="266998"/>
                </a:lnTo>
                <a:lnTo>
                  <a:pt x="62652" y="260423"/>
                </a:lnTo>
                <a:lnTo>
                  <a:pt x="51605" y="250854"/>
                </a:lnTo>
                <a:lnTo>
                  <a:pt x="28350" y="204668"/>
                </a:lnTo>
                <a:lnTo>
                  <a:pt x="21401" y="162391"/>
                </a:lnTo>
                <a:lnTo>
                  <a:pt x="20537" y="138075"/>
                </a:lnTo>
                <a:lnTo>
                  <a:pt x="21401" y="113930"/>
                </a:lnTo>
                <a:lnTo>
                  <a:pt x="28350" y="71570"/>
                </a:lnTo>
                <a:lnTo>
                  <a:pt x="51605" y="25310"/>
                </a:lnTo>
                <a:lnTo>
                  <a:pt x="75338" y="9152"/>
                </a:lnTo>
                <a:lnTo>
                  <a:pt x="72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3654" y="1169754"/>
            <a:ext cx="11297073" cy="42930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4665">
              <a:spcBef>
                <a:spcPts val="133"/>
              </a:spcBef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Super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Mario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Land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spc="-13" dirty="0">
                <a:solidFill>
                  <a:srgbClr val="3A87FF"/>
                </a:solidFill>
                <a:uFill>
                  <a:solidFill>
                    <a:srgbClr val="3A87FF"/>
                  </a:solidFill>
                </a:uFill>
                <a:latin typeface="Calibri"/>
                <a:cs typeface="Calibri"/>
              </a:rPr>
              <a:t>Nintendo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52860">
              <a:spcBef>
                <a:spcPts val="1673"/>
              </a:spcBef>
              <a:tabLst>
                <a:tab pos="2964953" algn="l"/>
                <a:tab pos="5173004" algn="l"/>
              </a:tabLst>
            </a:pP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New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 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Not an</a:t>
            </a:r>
            <a:r>
              <a:rPr sz="3200" spc="-9" baseline="1736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Related</a:t>
            </a:r>
            <a:r>
              <a:rPr sz="2133" spc="-11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endParaRPr sz="2133" dirty="0">
              <a:latin typeface="Calibri"/>
              <a:cs typeface="Calibri"/>
            </a:endParaRPr>
          </a:p>
          <a:p>
            <a:pPr>
              <a:spcBef>
                <a:spcPts val="27"/>
              </a:spcBef>
            </a:pPr>
            <a:endParaRPr sz="2667" dirty="0">
              <a:latin typeface="Calibri"/>
              <a:cs typeface="Calibri"/>
            </a:endParaRPr>
          </a:p>
          <a:p>
            <a:pPr marL="84665"/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Related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(in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local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KG)</a:t>
            </a:r>
            <a:endParaRPr sz="2400" dirty="0">
              <a:latin typeface="Calibri"/>
              <a:cs typeface="Calibri"/>
            </a:endParaRPr>
          </a:p>
          <a:p>
            <a:pPr marL="427556" marR="463115" indent="-342891">
              <a:lnSpc>
                <a:spcPts val="2813"/>
              </a:lnSpc>
              <a:spcBef>
                <a:spcPts val="727"/>
              </a:spcBef>
              <a:buClr>
                <a:srgbClr val="8C1515"/>
              </a:buClr>
              <a:buFont typeface="Times New Roman"/>
              <a:buChar char="•"/>
              <a:tabLst>
                <a:tab pos="427556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top-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scoring parent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and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relation in the local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KG</a:t>
            </a:r>
            <a:r>
              <a:rPr sz="2400" spc="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 the LSTM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state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embeddings</a:t>
            </a:r>
            <a:endParaRPr sz="2400" dirty="0">
              <a:latin typeface="Calibri"/>
              <a:cs typeface="Calibri"/>
            </a:endParaRPr>
          </a:p>
          <a:p>
            <a:pPr marL="770447" marR="108371" lvl="1" indent="-228594">
              <a:lnSpc>
                <a:spcPct val="106700"/>
              </a:lnSpc>
              <a:spcBef>
                <a:spcPts val="720"/>
              </a:spcBef>
              <a:buClr>
                <a:srgbClr val="007C92"/>
              </a:buClr>
              <a:buFont typeface="Times New Roman"/>
              <a:buChar char="•"/>
              <a:tabLst>
                <a:tab pos="770447" algn="l"/>
                <a:tab pos="1578994" algn="l"/>
              </a:tabLst>
            </a:pP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13" dirty="0">
                <a:latin typeface="Cambria Math"/>
                <a:cs typeface="Cambria Math"/>
              </a:rPr>
              <a:t> </a:t>
            </a:r>
            <a:r>
              <a:rPr sz="2400" spc="-33" dirty="0">
                <a:latin typeface="Cambria Math"/>
                <a:cs typeface="Cambria Math"/>
              </a:rPr>
              <a:t>𝑝</a:t>
            </a:r>
            <a:r>
              <a:rPr sz="2600" spc="-49" baseline="-14957" dirty="0">
                <a:latin typeface="Cambria Math"/>
                <a:cs typeface="Cambria Math"/>
              </a:rPr>
              <a:t>𝑡</a:t>
            </a:r>
            <a:r>
              <a:rPr sz="2600" baseline="-14957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Cambria Math"/>
                <a:cs typeface="Cambria Math"/>
              </a:rPr>
              <a:t>softmax</a:t>
            </a:r>
            <a:r>
              <a:rPr sz="2400" spc="5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00" baseline="-14957" dirty="0">
                <a:latin typeface="Cambria Math"/>
                <a:cs typeface="Cambria Math"/>
              </a:rPr>
              <a:t>𝒑</a:t>
            </a:r>
            <a:r>
              <a:rPr lang="en-US" sz="2600" spc="289" baseline="-14957" dirty="0">
                <a:latin typeface="Cambria Math"/>
                <a:cs typeface="Cambria Math"/>
              </a:rPr>
              <a:t> . </a:t>
            </a:r>
            <a:r>
              <a:rPr sz="2400" dirty="0">
                <a:latin typeface="Cambria Math"/>
                <a:cs typeface="Cambria Math"/>
              </a:rPr>
              <a:t>𝒉</a:t>
            </a:r>
            <a:r>
              <a:rPr sz="2600" baseline="-14957" dirty="0">
                <a:latin typeface="Cambria Math"/>
                <a:cs typeface="Cambria Math"/>
              </a:rPr>
              <a:t>𝒕</a:t>
            </a:r>
            <a:r>
              <a:rPr sz="2600" spc="300" baseline="-14957" dirty="0">
                <a:latin typeface="Cambria Math"/>
                <a:cs typeface="Cambria Math"/>
              </a:rPr>
              <a:t> 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 </a:t>
            </a:r>
            <a:r>
              <a:rPr sz="2400" dirty="0">
                <a:latin typeface="Cambria Math"/>
                <a:cs typeface="Cambria Math"/>
              </a:rPr>
              <a:t>𝑝</a:t>
            </a:r>
            <a:r>
              <a:rPr sz="2600" baseline="-14957" dirty="0">
                <a:latin typeface="Cambria Math"/>
                <a:cs typeface="Cambria Math"/>
              </a:rPr>
              <a:t>𝑡</a:t>
            </a:r>
            <a:r>
              <a:rPr sz="2600" spc="460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“parent”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entity,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r>
              <a:rPr sz="2600" baseline="-14957" dirty="0">
                <a:latin typeface="Cambria Math"/>
                <a:cs typeface="Cambria Math"/>
              </a:rPr>
              <a:t>𝒑</a:t>
            </a:r>
            <a:r>
              <a:rPr sz="2600" spc="38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corresponding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embedding, 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𝒉</a:t>
            </a:r>
            <a:r>
              <a:rPr sz="2600" baseline="-14957" dirty="0">
                <a:latin typeface="Cambria Math"/>
                <a:cs typeface="Cambria Math"/>
              </a:rPr>
              <a:t>𝒕</a:t>
            </a:r>
            <a:r>
              <a:rPr sz="2600" spc="38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is 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LSTM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hidden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  <a:p>
            <a:pPr marL="426709" indent="-342045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1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entity:</a:t>
            </a:r>
            <a:r>
              <a:rPr sz="2400" b="1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tail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entity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triple 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(top parent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 relation,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entity)</a:t>
            </a:r>
            <a:endParaRPr sz="2400" dirty="0">
              <a:latin typeface="Calibri"/>
              <a:cs typeface="Calibri"/>
            </a:endParaRPr>
          </a:p>
          <a:p>
            <a:pPr marL="426709" indent="-342045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word: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 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vocabulary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expanded 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entity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aliases</a:t>
            </a:r>
            <a:r>
              <a:rPr sz="2400" spc="-20" baseline="23148" dirty="0">
                <a:solidFill>
                  <a:srgbClr val="3A87FF"/>
                </a:solidFill>
                <a:latin typeface="Calibri"/>
                <a:cs typeface="Calibri"/>
              </a:rPr>
              <a:t>1</a:t>
            </a:r>
            <a:endParaRPr sz="2400" baseline="23148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96820" y="1525190"/>
            <a:ext cx="4096173" cy="317500"/>
            <a:chOff x="1197615" y="1143892"/>
            <a:chExt cx="3072130" cy="238125"/>
          </a:xfrm>
        </p:grpSpPr>
        <p:sp>
          <p:nvSpPr>
            <p:cNvPr id="8" name="object 8"/>
            <p:cNvSpPr/>
            <p:nvPr/>
          </p:nvSpPr>
          <p:spPr>
            <a:xfrm>
              <a:off x="2092025" y="1148655"/>
              <a:ext cx="2172970" cy="162560"/>
            </a:xfrm>
            <a:custGeom>
              <a:avLst/>
              <a:gdLst/>
              <a:ahLst/>
              <a:cxnLst/>
              <a:rect l="l" t="t" r="r" b="b"/>
              <a:pathLst>
                <a:path w="2172970" h="162559">
                  <a:moveTo>
                    <a:pt x="2172768" y="0"/>
                  </a:moveTo>
                  <a:lnTo>
                    <a:pt x="2171706" y="31562"/>
                  </a:lnTo>
                  <a:lnTo>
                    <a:pt x="2168810" y="57337"/>
                  </a:lnTo>
                  <a:lnTo>
                    <a:pt x="2164514" y="74715"/>
                  </a:lnTo>
                  <a:lnTo>
                    <a:pt x="2159254" y="81087"/>
                  </a:lnTo>
                  <a:lnTo>
                    <a:pt x="1099897" y="81087"/>
                  </a:lnTo>
                  <a:lnTo>
                    <a:pt x="1094637" y="87459"/>
                  </a:lnTo>
                  <a:lnTo>
                    <a:pt x="1090341" y="104837"/>
                  </a:lnTo>
                  <a:lnTo>
                    <a:pt x="1087445" y="130612"/>
                  </a:lnTo>
                  <a:lnTo>
                    <a:pt x="1086384" y="162175"/>
                  </a:lnTo>
                  <a:lnTo>
                    <a:pt x="1085322" y="130612"/>
                  </a:lnTo>
                  <a:lnTo>
                    <a:pt x="1082426" y="104837"/>
                  </a:lnTo>
                  <a:lnTo>
                    <a:pt x="1078130" y="87459"/>
                  </a:lnTo>
                  <a:lnTo>
                    <a:pt x="1072871" y="81087"/>
                  </a:lnTo>
                  <a:lnTo>
                    <a:pt x="13513" y="81087"/>
                  </a:lnTo>
                  <a:lnTo>
                    <a:pt x="8253" y="74715"/>
                  </a:lnTo>
                  <a:lnTo>
                    <a:pt x="3957" y="57337"/>
                  </a:lnTo>
                  <a:lnTo>
                    <a:pt x="1061" y="3156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30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615" y="1148656"/>
              <a:ext cx="76199" cy="23288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1280" y="1543162"/>
            <a:ext cx="101600" cy="31051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63989" y="6292522"/>
            <a:ext cx="8564033" cy="331651"/>
          </a:xfrm>
          <a:prstGeom prst="rect">
            <a:avLst/>
          </a:prstGeom>
        </p:spPr>
        <p:txBody>
          <a:bodyPr vert="horz" wrap="square" lIns="0" tIns="3387" rIns="0" bIns="0" rtlCol="0">
            <a:spAutoFit/>
          </a:bodyPr>
          <a:lstStyle/>
          <a:p>
            <a:pPr marL="16933">
              <a:spcBef>
                <a:spcPts val="27"/>
              </a:spcBef>
            </a:pPr>
            <a:r>
              <a:rPr sz="2133" dirty="0">
                <a:latin typeface="Calibri"/>
                <a:cs typeface="Calibri"/>
              </a:rPr>
              <a:t>[1]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Phrases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that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could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refer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to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Nintendo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(e.g.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Nintendo,</a:t>
            </a:r>
            <a:r>
              <a:rPr sz="2133" spc="-4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Nintendo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Co.,</a:t>
            </a:r>
            <a:r>
              <a:rPr sz="2133" spc="-40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Koppai)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33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endParaRPr spc="-13" dirty="0"/>
          </a:p>
        </p:txBody>
      </p:sp>
      <p:sp>
        <p:nvSpPr>
          <p:cNvPr id="3" name="object 3"/>
          <p:cNvSpPr/>
          <p:nvPr/>
        </p:nvSpPr>
        <p:spPr>
          <a:xfrm>
            <a:off x="528320" y="1508759"/>
            <a:ext cx="2201333" cy="16933"/>
          </a:xfrm>
          <a:custGeom>
            <a:avLst/>
            <a:gdLst/>
            <a:ahLst/>
            <a:cxnLst/>
            <a:rect l="l" t="t" r="r" b="b"/>
            <a:pathLst>
              <a:path w="1651000" h="12700">
                <a:moveTo>
                  <a:pt x="1651000" y="0"/>
                </a:moveTo>
                <a:lnTo>
                  <a:pt x="0" y="0"/>
                </a:lnTo>
                <a:lnTo>
                  <a:pt x="0" y="12700"/>
                </a:lnTo>
                <a:lnTo>
                  <a:pt x="1651000" y="12700"/>
                </a:lnTo>
                <a:lnTo>
                  <a:pt x="1651000" y="0"/>
                </a:lnTo>
                <a:close/>
              </a:path>
            </a:pathLst>
          </a:custGeom>
          <a:solidFill>
            <a:srgbClr val="3A8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1387" y="1169754"/>
            <a:ext cx="10928773" cy="51647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Super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Mario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Land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spc="-13" dirty="0">
                <a:solidFill>
                  <a:srgbClr val="3A87FF"/>
                </a:solidFill>
                <a:uFill>
                  <a:solidFill>
                    <a:srgbClr val="3A87FF"/>
                  </a:solidFill>
                </a:uFill>
                <a:latin typeface="Calibri"/>
                <a:cs typeface="Calibri"/>
              </a:rPr>
              <a:t>Nintendo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85128">
              <a:spcBef>
                <a:spcPts val="1673"/>
              </a:spcBef>
              <a:tabLst>
                <a:tab pos="2897221" algn="l"/>
                <a:tab pos="5105272" algn="l"/>
              </a:tabLst>
            </a:pP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New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 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Not an</a:t>
            </a:r>
            <a:r>
              <a:rPr sz="3200" spc="-9" baseline="1736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3200" spc="-20" baseline="1736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r>
              <a:rPr sz="3200" baseline="1736" dirty="0">
                <a:solidFill>
                  <a:srgbClr val="FF30EE"/>
                </a:solidFill>
                <a:latin typeface="Calibri"/>
                <a:cs typeface="Calibri"/>
              </a:rPr>
              <a:t>	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Related</a:t>
            </a:r>
            <a:r>
              <a:rPr sz="2133" spc="-11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endParaRPr sz="2133">
              <a:latin typeface="Calibri"/>
              <a:cs typeface="Calibri"/>
            </a:endParaRPr>
          </a:p>
          <a:p>
            <a:pPr>
              <a:spcBef>
                <a:spcPts val="27"/>
              </a:spcBef>
            </a:pPr>
            <a:endParaRPr sz="2667">
              <a:latin typeface="Calibri"/>
              <a:cs typeface="Calibri"/>
            </a:endParaRPr>
          </a:p>
          <a:p>
            <a:pPr marL="16933"/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New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(not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in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local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KG)</a:t>
            </a:r>
            <a:endParaRPr sz="2400">
              <a:latin typeface="Calibri"/>
              <a:cs typeface="Calibri"/>
            </a:endParaRPr>
          </a:p>
          <a:p>
            <a:pPr marL="359824" marR="99904" indent="-342891">
              <a:lnSpc>
                <a:spcPts val="2813"/>
              </a:lnSpc>
              <a:spcBef>
                <a:spcPts val="72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top-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scoring entity in the full KG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 the LSTM hidden state 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pretrained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0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entity:</a:t>
            </a:r>
            <a:r>
              <a:rPr sz="2400" b="1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directly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top-scoring</a:t>
            </a:r>
            <a:r>
              <a:rPr sz="2400" spc="-13" dirty="0">
                <a:latin typeface="Calibri"/>
                <a:cs typeface="Calibri"/>
              </a:rPr>
              <a:t> entity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6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word: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 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vocabulary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expanded 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entity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aliases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40"/>
              </a:spcBef>
              <a:buClr>
                <a:srgbClr val="8C1515"/>
              </a:buClr>
              <a:buFont typeface="Times New Roman"/>
              <a:buChar char="•"/>
            </a:pPr>
            <a:endParaRPr sz="3267">
              <a:latin typeface="Calibri"/>
              <a:cs typeface="Calibri"/>
            </a:endParaRPr>
          </a:p>
          <a:p>
            <a:pPr marL="16933"/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Not</a:t>
            </a:r>
            <a:r>
              <a:rPr sz="2400" b="1" spc="-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an</a:t>
            </a:r>
            <a:r>
              <a:rPr sz="2400" b="1" spc="-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612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None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word: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token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standard </a:t>
            </a:r>
            <a:r>
              <a:rPr sz="2400" spc="-13" dirty="0">
                <a:latin typeface="Calibri"/>
                <a:cs typeface="Calibri"/>
              </a:rPr>
              <a:t>vocabulary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96820" y="1525190"/>
            <a:ext cx="4096173" cy="317500"/>
            <a:chOff x="1197615" y="1143892"/>
            <a:chExt cx="3072130" cy="238125"/>
          </a:xfrm>
        </p:grpSpPr>
        <p:sp>
          <p:nvSpPr>
            <p:cNvPr id="6" name="object 6"/>
            <p:cNvSpPr/>
            <p:nvPr/>
          </p:nvSpPr>
          <p:spPr>
            <a:xfrm>
              <a:off x="2092025" y="1148655"/>
              <a:ext cx="2172970" cy="162560"/>
            </a:xfrm>
            <a:custGeom>
              <a:avLst/>
              <a:gdLst/>
              <a:ahLst/>
              <a:cxnLst/>
              <a:rect l="l" t="t" r="r" b="b"/>
              <a:pathLst>
                <a:path w="2172970" h="162559">
                  <a:moveTo>
                    <a:pt x="2172768" y="0"/>
                  </a:moveTo>
                  <a:lnTo>
                    <a:pt x="2171706" y="31562"/>
                  </a:lnTo>
                  <a:lnTo>
                    <a:pt x="2168810" y="57337"/>
                  </a:lnTo>
                  <a:lnTo>
                    <a:pt x="2164514" y="74715"/>
                  </a:lnTo>
                  <a:lnTo>
                    <a:pt x="2159254" y="81087"/>
                  </a:lnTo>
                  <a:lnTo>
                    <a:pt x="1099897" y="81087"/>
                  </a:lnTo>
                  <a:lnTo>
                    <a:pt x="1094637" y="87459"/>
                  </a:lnTo>
                  <a:lnTo>
                    <a:pt x="1090341" y="104837"/>
                  </a:lnTo>
                  <a:lnTo>
                    <a:pt x="1087445" y="130612"/>
                  </a:lnTo>
                  <a:lnTo>
                    <a:pt x="1086384" y="162175"/>
                  </a:lnTo>
                  <a:lnTo>
                    <a:pt x="1085322" y="130612"/>
                  </a:lnTo>
                  <a:lnTo>
                    <a:pt x="1082426" y="104837"/>
                  </a:lnTo>
                  <a:lnTo>
                    <a:pt x="1078130" y="87459"/>
                  </a:lnTo>
                  <a:lnTo>
                    <a:pt x="1072871" y="81087"/>
                  </a:lnTo>
                  <a:lnTo>
                    <a:pt x="13513" y="81087"/>
                  </a:lnTo>
                  <a:lnTo>
                    <a:pt x="8253" y="74715"/>
                  </a:lnTo>
                  <a:lnTo>
                    <a:pt x="3957" y="57337"/>
                  </a:lnTo>
                  <a:lnTo>
                    <a:pt x="1061" y="3156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FF30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615" y="1148656"/>
              <a:ext cx="76199" cy="23288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1280" y="1543162"/>
            <a:ext cx="101600" cy="31051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0084" y="5822642"/>
            <a:ext cx="314113" cy="314113"/>
            <a:chOff x="1770062" y="4366981"/>
            <a:chExt cx="235585" cy="235585"/>
          </a:xfrm>
        </p:grpSpPr>
        <p:sp>
          <p:nvSpPr>
            <p:cNvPr id="3" name="object 3"/>
            <p:cNvSpPr/>
            <p:nvPr/>
          </p:nvSpPr>
          <p:spPr>
            <a:xfrm>
              <a:off x="1773631" y="437054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338" y="0"/>
                  </a:moveTo>
                  <a:lnTo>
                    <a:pt x="0" y="0"/>
                  </a:lnTo>
                  <a:lnTo>
                    <a:pt x="0" y="228338"/>
                  </a:lnTo>
                  <a:lnTo>
                    <a:pt x="228338" y="228338"/>
                  </a:lnTo>
                  <a:lnTo>
                    <a:pt x="22833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73630" y="437054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338" y="0"/>
                  </a:lnTo>
                  <a:lnTo>
                    <a:pt x="228338" y="228338"/>
                  </a:lnTo>
                  <a:lnTo>
                    <a:pt x="0" y="228338"/>
                  </a:lnTo>
                  <a:lnTo>
                    <a:pt x="0" y="0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360084" y="4489238"/>
            <a:ext cx="314113" cy="314113"/>
            <a:chOff x="1770062" y="3366928"/>
            <a:chExt cx="235585" cy="235585"/>
          </a:xfrm>
        </p:grpSpPr>
        <p:sp>
          <p:nvSpPr>
            <p:cNvPr id="6" name="object 6"/>
            <p:cNvSpPr/>
            <p:nvPr/>
          </p:nvSpPr>
          <p:spPr>
            <a:xfrm>
              <a:off x="1773631" y="33704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338" y="0"/>
                  </a:moveTo>
                  <a:lnTo>
                    <a:pt x="0" y="0"/>
                  </a:lnTo>
                  <a:lnTo>
                    <a:pt x="0" y="228338"/>
                  </a:lnTo>
                  <a:lnTo>
                    <a:pt x="228338" y="228338"/>
                  </a:lnTo>
                  <a:lnTo>
                    <a:pt x="228338" y="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3630" y="33704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338" y="0"/>
                  </a:lnTo>
                  <a:lnTo>
                    <a:pt x="228338" y="228338"/>
                  </a:lnTo>
                  <a:lnTo>
                    <a:pt x="0" y="228338"/>
                  </a:lnTo>
                  <a:lnTo>
                    <a:pt x="0" y="0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223147" y="2523145"/>
            <a:ext cx="1598507" cy="571500"/>
          </a:xfrm>
          <a:custGeom>
            <a:avLst/>
            <a:gdLst/>
            <a:ahLst/>
            <a:cxnLst/>
            <a:rect l="l" t="t" r="r" b="b"/>
            <a:pathLst>
              <a:path w="1198880" h="428625">
                <a:moveTo>
                  <a:pt x="1190930" y="0"/>
                </a:moveTo>
                <a:lnTo>
                  <a:pt x="7849" y="0"/>
                </a:lnTo>
                <a:lnTo>
                  <a:pt x="0" y="7849"/>
                </a:lnTo>
                <a:lnTo>
                  <a:pt x="0" y="17839"/>
                </a:lnTo>
                <a:lnTo>
                  <a:pt x="0" y="419930"/>
                </a:lnTo>
                <a:lnTo>
                  <a:pt x="7849" y="428136"/>
                </a:lnTo>
                <a:lnTo>
                  <a:pt x="1190930" y="428136"/>
                </a:lnTo>
                <a:lnTo>
                  <a:pt x="1198778" y="419930"/>
                </a:lnTo>
                <a:lnTo>
                  <a:pt x="1198778" y="7849"/>
                </a:lnTo>
                <a:lnTo>
                  <a:pt x="1190930" y="0"/>
                </a:lnTo>
                <a:close/>
              </a:path>
            </a:pathLst>
          </a:custGeom>
          <a:solidFill>
            <a:srgbClr val="C92D39">
              <a:alpha val="2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666" y="1236727"/>
            <a:ext cx="9538197" cy="24033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835789" y="4627192"/>
            <a:ext cx="1082040" cy="54187"/>
            <a:chOff x="2126842" y="3470394"/>
            <a:chExt cx="811530" cy="40640"/>
          </a:xfrm>
        </p:grpSpPr>
        <p:sp>
          <p:nvSpPr>
            <p:cNvPr id="11" name="object 11"/>
            <p:cNvSpPr/>
            <p:nvPr/>
          </p:nvSpPr>
          <p:spPr>
            <a:xfrm>
              <a:off x="2126842" y="3490730"/>
              <a:ext cx="753745" cy="0"/>
            </a:xfrm>
            <a:custGeom>
              <a:avLst/>
              <a:gdLst/>
              <a:ahLst/>
              <a:cxnLst/>
              <a:rect l="l" t="t" r="r" b="b"/>
              <a:pathLst>
                <a:path w="753744">
                  <a:moveTo>
                    <a:pt x="3567" y="0"/>
                  </a:moveTo>
                  <a:lnTo>
                    <a:pt x="753161" y="0"/>
                  </a:lnTo>
                </a:path>
                <a:path w="753744">
                  <a:moveTo>
                    <a:pt x="3924" y="0"/>
                  </a:moveTo>
                  <a:lnTo>
                    <a:pt x="0" y="0"/>
                  </a:lnTo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3571" y="3473963"/>
              <a:ext cx="51435" cy="33655"/>
            </a:xfrm>
            <a:custGeom>
              <a:avLst/>
              <a:gdLst/>
              <a:ahLst/>
              <a:cxnLst/>
              <a:rect l="l" t="t" r="r" b="b"/>
              <a:pathLst>
                <a:path w="51435" h="33654">
                  <a:moveTo>
                    <a:pt x="0" y="0"/>
                  </a:moveTo>
                  <a:lnTo>
                    <a:pt x="0" y="33180"/>
                  </a:lnTo>
                  <a:lnTo>
                    <a:pt x="51019" y="16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3571" y="3473962"/>
              <a:ext cx="51435" cy="33655"/>
            </a:xfrm>
            <a:custGeom>
              <a:avLst/>
              <a:gdLst/>
              <a:ahLst/>
              <a:cxnLst/>
              <a:rect l="l" t="t" r="r" b="b"/>
              <a:pathLst>
                <a:path w="51435" h="33654">
                  <a:moveTo>
                    <a:pt x="51019" y="16768"/>
                  </a:moveTo>
                  <a:lnTo>
                    <a:pt x="0" y="33180"/>
                  </a:lnTo>
                  <a:lnTo>
                    <a:pt x="0" y="0"/>
                  </a:lnTo>
                  <a:lnTo>
                    <a:pt x="51019" y="16768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911903" y="2768133"/>
            <a:ext cx="653627" cy="58420"/>
            <a:chOff x="2183927" y="2076099"/>
            <a:chExt cx="490220" cy="43815"/>
          </a:xfrm>
        </p:grpSpPr>
        <p:sp>
          <p:nvSpPr>
            <p:cNvPr id="15" name="object 15"/>
            <p:cNvSpPr/>
            <p:nvPr/>
          </p:nvSpPr>
          <p:spPr>
            <a:xfrm>
              <a:off x="2183927" y="2097863"/>
              <a:ext cx="428625" cy="0"/>
            </a:xfrm>
            <a:custGeom>
              <a:avLst/>
              <a:gdLst/>
              <a:ahLst/>
              <a:cxnLst/>
              <a:rect l="l" t="t" r="r" b="b"/>
              <a:pathLst>
                <a:path w="428625">
                  <a:moveTo>
                    <a:pt x="5351" y="0"/>
                  </a:moveTo>
                  <a:lnTo>
                    <a:pt x="428492" y="0"/>
                  </a:lnTo>
                </a:path>
                <a:path w="428625">
                  <a:moveTo>
                    <a:pt x="5708" y="0"/>
                  </a:moveTo>
                  <a:lnTo>
                    <a:pt x="0" y="0"/>
                  </a:lnTo>
                </a:path>
              </a:pathLst>
            </a:custGeom>
            <a:ln w="10703">
              <a:solidFill>
                <a:srgbClr val="C92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17771" y="2081452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19">
                  <a:moveTo>
                    <a:pt x="0" y="0"/>
                  </a:moveTo>
                  <a:lnTo>
                    <a:pt x="0" y="32823"/>
                  </a:lnTo>
                  <a:lnTo>
                    <a:pt x="50662" y="16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17770" y="2081451"/>
              <a:ext cx="50800" cy="33020"/>
            </a:xfrm>
            <a:custGeom>
              <a:avLst/>
              <a:gdLst/>
              <a:ahLst/>
              <a:cxnLst/>
              <a:rect l="l" t="t" r="r" b="b"/>
              <a:pathLst>
                <a:path w="50800" h="33019">
                  <a:moveTo>
                    <a:pt x="50662" y="16411"/>
                  </a:moveTo>
                  <a:lnTo>
                    <a:pt x="0" y="32823"/>
                  </a:lnTo>
                  <a:lnTo>
                    <a:pt x="0" y="0"/>
                  </a:lnTo>
                  <a:lnTo>
                    <a:pt x="50662" y="16411"/>
                  </a:lnTo>
                  <a:close/>
                </a:path>
              </a:pathLst>
            </a:custGeom>
            <a:ln w="10703">
              <a:solidFill>
                <a:srgbClr val="C92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835789" y="5960596"/>
            <a:ext cx="1283547" cy="57573"/>
            <a:chOff x="2126842" y="4470447"/>
            <a:chExt cx="962660" cy="43180"/>
          </a:xfrm>
        </p:grpSpPr>
        <p:sp>
          <p:nvSpPr>
            <p:cNvPr id="19" name="object 19"/>
            <p:cNvSpPr/>
            <p:nvPr/>
          </p:nvSpPr>
          <p:spPr>
            <a:xfrm>
              <a:off x="2126842" y="4491854"/>
              <a:ext cx="904875" cy="0"/>
            </a:xfrm>
            <a:custGeom>
              <a:avLst/>
              <a:gdLst/>
              <a:ahLst/>
              <a:cxnLst/>
              <a:rect l="l" t="t" r="r" b="b"/>
              <a:pathLst>
                <a:path w="904875">
                  <a:moveTo>
                    <a:pt x="3567" y="0"/>
                  </a:moveTo>
                  <a:lnTo>
                    <a:pt x="904435" y="0"/>
                  </a:lnTo>
                </a:path>
                <a:path w="904875">
                  <a:moveTo>
                    <a:pt x="3924" y="0"/>
                  </a:moveTo>
                  <a:lnTo>
                    <a:pt x="0" y="0"/>
                  </a:lnTo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34846" y="4474015"/>
              <a:ext cx="51435" cy="36195"/>
            </a:xfrm>
            <a:custGeom>
              <a:avLst/>
              <a:gdLst/>
              <a:ahLst/>
              <a:cxnLst/>
              <a:rect l="l" t="t" r="r" b="b"/>
              <a:pathLst>
                <a:path w="51435" h="36195">
                  <a:moveTo>
                    <a:pt x="0" y="0"/>
                  </a:moveTo>
                  <a:lnTo>
                    <a:pt x="0" y="35677"/>
                  </a:lnTo>
                  <a:lnTo>
                    <a:pt x="51019" y="178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34845" y="4474015"/>
              <a:ext cx="51435" cy="36195"/>
            </a:xfrm>
            <a:custGeom>
              <a:avLst/>
              <a:gdLst/>
              <a:ahLst/>
              <a:cxnLst/>
              <a:rect l="l" t="t" r="r" b="b"/>
              <a:pathLst>
                <a:path w="51435" h="36195">
                  <a:moveTo>
                    <a:pt x="51019" y="17838"/>
                  </a:moveTo>
                  <a:lnTo>
                    <a:pt x="0" y="35677"/>
                  </a:lnTo>
                  <a:lnTo>
                    <a:pt x="0" y="0"/>
                  </a:lnTo>
                  <a:lnTo>
                    <a:pt x="51019" y="17838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724752" y="4619580"/>
            <a:ext cx="918633" cy="54187"/>
            <a:chOff x="4293563" y="3464685"/>
            <a:chExt cx="688975" cy="40640"/>
          </a:xfrm>
        </p:grpSpPr>
        <p:sp>
          <p:nvSpPr>
            <p:cNvPr id="23" name="object 23"/>
            <p:cNvSpPr/>
            <p:nvPr/>
          </p:nvSpPr>
          <p:spPr>
            <a:xfrm>
              <a:off x="4293563" y="3484665"/>
              <a:ext cx="631825" cy="0"/>
            </a:xfrm>
            <a:custGeom>
              <a:avLst/>
              <a:gdLst/>
              <a:ahLst/>
              <a:cxnLst/>
              <a:rect l="l" t="t" r="r" b="b"/>
              <a:pathLst>
                <a:path w="631825">
                  <a:moveTo>
                    <a:pt x="3567" y="0"/>
                  </a:moveTo>
                  <a:lnTo>
                    <a:pt x="631499" y="0"/>
                  </a:lnTo>
                </a:path>
                <a:path w="631825">
                  <a:moveTo>
                    <a:pt x="3567" y="0"/>
                  </a:moveTo>
                  <a:lnTo>
                    <a:pt x="0" y="0"/>
                  </a:lnTo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28632" y="3468254"/>
              <a:ext cx="50165" cy="33655"/>
            </a:xfrm>
            <a:custGeom>
              <a:avLst/>
              <a:gdLst/>
              <a:ahLst/>
              <a:cxnLst/>
              <a:rect l="l" t="t" r="r" b="b"/>
              <a:pathLst>
                <a:path w="50164" h="33654">
                  <a:moveTo>
                    <a:pt x="0" y="0"/>
                  </a:moveTo>
                  <a:lnTo>
                    <a:pt x="0" y="33180"/>
                  </a:lnTo>
                  <a:lnTo>
                    <a:pt x="49949" y="16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28631" y="3468253"/>
              <a:ext cx="50165" cy="33655"/>
            </a:xfrm>
            <a:custGeom>
              <a:avLst/>
              <a:gdLst/>
              <a:ahLst/>
              <a:cxnLst/>
              <a:rect l="l" t="t" r="r" b="b"/>
              <a:pathLst>
                <a:path w="50164" h="33654">
                  <a:moveTo>
                    <a:pt x="49949" y="16411"/>
                  </a:moveTo>
                  <a:lnTo>
                    <a:pt x="0" y="33180"/>
                  </a:lnTo>
                  <a:lnTo>
                    <a:pt x="0" y="0"/>
                  </a:lnTo>
                  <a:lnTo>
                    <a:pt x="49949" y="16411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845382" y="2596879"/>
            <a:ext cx="773853" cy="58420"/>
            <a:chOff x="6634036" y="1947659"/>
            <a:chExt cx="580390" cy="43815"/>
          </a:xfrm>
        </p:grpSpPr>
        <p:sp>
          <p:nvSpPr>
            <p:cNvPr id="27" name="object 27"/>
            <p:cNvSpPr/>
            <p:nvPr/>
          </p:nvSpPr>
          <p:spPr>
            <a:xfrm>
              <a:off x="6634036" y="1969422"/>
              <a:ext cx="517525" cy="0"/>
            </a:xfrm>
            <a:custGeom>
              <a:avLst/>
              <a:gdLst/>
              <a:ahLst/>
              <a:cxnLst/>
              <a:rect l="l" t="t" r="r" b="b"/>
              <a:pathLst>
                <a:path w="517525">
                  <a:moveTo>
                    <a:pt x="7135" y="0"/>
                  </a:moveTo>
                  <a:lnTo>
                    <a:pt x="517330" y="0"/>
                  </a:lnTo>
                </a:path>
                <a:path w="517525">
                  <a:moveTo>
                    <a:pt x="7135" y="0"/>
                  </a:moveTo>
                  <a:lnTo>
                    <a:pt x="0" y="0"/>
                  </a:lnTo>
                </a:path>
              </a:pathLst>
            </a:custGeom>
            <a:ln w="10703">
              <a:solidFill>
                <a:srgbClr val="C92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58503" y="1953011"/>
              <a:ext cx="50165" cy="33020"/>
            </a:xfrm>
            <a:custGeom>
              <a:avLst/>
              <a:gdLst/>
              <a:ahLst/>
              <a:cxnLst/>
              <a:rect l="l" t="t" r="r" b="b"/>
              <a:pathLst>
                <a:path w="50165" h="33019">
                  <a:moveTo>
                    <a:pt x="0" y="0"/>
                  </a:moveTo>
                  <a:lnTo>
                    <a:pt x="0" y="32824"/>
                  </a:lnTo>
                  <a:lnTo>
                    <a:pt x="49949" y="16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D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58502" y="1953010"/>
              <a:ext cx="50165" cy="33020"/>
            </a:xfrm>
            <a:custGeom>
              <a:avLst/>
              <a:gdLst/>
              <a:ahLst/>
              <a:cxnLst/>
              <a:rect l="l" t="t" r="r" b="b"/>
              <a:pathLst>
                <a:path w="50165" h="33019">
                  <a:moveTo>
                    <a:pt x="49949" y="16411"/>
                  </a:moveTo>
                  <a:lnTo>
                    <a:pt x="0" y="32823"/>
                  </a:lnTo>
                  <a:lnTo>
                    <a:pt x="0" y="0"/>
                  </a:lnTo>
                  <a:lnTo>
                    <a:pt x="49949" y="16411"/>
                  </a:lnTo>
                  <a:close/>
                </a:path>
              </a:pathLst>
            </a:custGeom>
            <a:ln w="10703">
              <a:solidFill>
                <a:srgbClr val="C92D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360084" y="2632557"/>
            <a:ext cx="314113" cy="314113"/>
            <a:chOff x="1770062" y="1974417"/>
            <a:chExt cx="235585" cy="235585"/>
          </a:xfrm>
        </p:grpSpPr>
        <p:sp>
          <p:nvSpPr>
            <p:cNvPr id="31" name="object 31"/>
            <p:cNvSpPr/>
            <p:nvPr/>
          </p:nvSpPr>
          <p:spPr>
            <a:xfrm>
              <a:off x="1773631" y="197798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338" y="0"/>
                  </a:moveTo>
                  <a:lnTo>
                    <a:pt x="0" y="0"/>
                  </a:lnTo>
                  <a:lnTo>
                    <a:pt x="0" y="228338"/>
                  </a:lnTo>
                  <a:lnTo>
                    <a:pt x="228338" y="228338"/>
                  </a:lnTo>
                  <a:lnTo>
                    <a:pt x="22833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3630" y="197798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338" y="0"/>
                  </a:lnTo>
                  <a:lnTo>
                    <a:pt x="228338" y="228338"/>
                  </a:lnTo>
                  <a:lnTo>
                    <a:pt x="0" y="228338"/>
                  </a:lnTo>
                  <a:lnTo>
                    <a:pt x="0" y="0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8867" y="1735851"/>
            <a:ext cx="5288876" cy="369528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33551" y="2087526"/>
            <a:ext cx="1372563" cy="1682444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4262763" y="4044103"/>
            <a:ext cx="228600" cy="83820"/>
          </a:xfrm>
          <a:custGeom>
            <a:avLst/>
            <a:gdLst/>
            <a:ahLst/>
            <a:cxnLst/>
            <a:rect l="l" t="t" r="r" b="b"/>
            <a:pathLst>
              <a:path w="171450" h="62864">
                <a:moveTo>
                  <a:pt x="57035" y="62674"/>
                </a:moveTo>
                <a:lnTo>
                  <a:pt x="50444" y="44919"/>
                </a:lnTo>
                <a:lnTo>
                  <a:pt x="47879" y="37998"/>
                </a:lnTo>
                <a:lnTo>
                  <a:pt x="39344" y="15036"/>
                </a:lnTo>
                <a:lnTo>
                  <a:pt x="39344" y="37998"/>
                </a:lnTo>
                <a:lnTo>
                  <a:pt x="17830" y="37998"/>
                </a:lnTo>
                <a:lnTo>
                  <a:pt x="23418" y="22377"/>
                </a:lnTo>
                <a:lnTo>
                  <a:pt x="26111" y="14566"/>
                </a:lnTo>
                <a:lnTo>
                  <a:pt x="28613" y="6692"/>
                </a:lnTo>
                <a:lnTo>
                  <a:pt x="31267" y="14655"/>
                </a:lnTo>
                <a:lnTo>
                  <a:pt x="33959" y="22491"/>
                </a:lnTo>
                <a:lnTo>
                  <a:pt x="39344" y="37998"/>
                </a:lnTo>
                <a:lnTo>
                  <a:pt x="39344" y="15036"/>
                </a:lnTo>
                <a:lnTo>
                  <a:pt x="36245" y="6692"/>
                </a:lnTo>
                <a:lnTo>
                  <a:pt x="33769" y="0"/>
                </a:lnTo>
                <a:lnTo>
                  <a:pt x="23685" y="0"/>
                </a:lnTo>
                <a:lnTo>
                  <a:pt x="0" y="62674"/>
                </a:lnTo>
                <a:lnTo>
                  <a:pt x="9105" y="62674"/>
                </a:lnTo>
                <a:lnTo>
                  <a:pt x="15468" y="44919"/>
                </a:lnTo>
                <a:lnTo>
                  <a:pt x="41617" y="44919"/>
                </a:lnTo>
                <a:lnTo>
                  <a:pt x="48031" y="62674"/>
                </a:lnTo>
                <a:lnTo>
                  <a:pt x="57035" y="62674"/>
                </a:lnTo>
                <a:close/>
              </a:path>
              <a:path w="171450" h="62864">
                <a:moveTo>
                  <a:pt x="114134" y="62674"/>
                </a:moveTo>
                <a:lnTo>
                  <a:pt x="107543" y="44919"/>
                </a:lnTo>
                <a:lnTo>
                  <a:pt x="104965" y="37998"/>
                </a:lnTo>
                <a:lnTo>
                  <a:pt x="96431" y="15011"/>
                </a:lnTo>
                <a:lnTo>
                  <a:pt x="96431" y="37998"/>
                </a:lnTo>
                <a:lnTo>
                  <a:pt x="74917" y="37998"/>
                </a:lnTo>
                <a:lnTo>
                  <a:pt x="80505" y="22377"/>
                </a:lnTo>
                <a:lnTo>
                  <a:pt x="83197" y="14566"/>
                </a:lnTo>
                <a:lnTo>
                  <a:pt x="85699" y="6692"/>
                </a:lnTo>
                <a:lnTo>
                  <a:pt x="88353" y="14655"/>
                </a:lnTo>
                <a:lnTo>
                  <a:pt x="91046" y="22491"/>
                </a:lnTo>
                <a:lnTo>
                  <a:pt x="96431" y="37998"/>
                </a:lnTo>
                <a:lnTo>
                  <a:pt x="96431" y="15011"/>
                </a:lnTo>
                <a:lnTo>
                  <a:pt x="93345" y="6692"/>
                </a:lnTo>
                <a:lnTo>
                  <a:pt x="90855" y="0"/>
                </a:lnTo>
                <a:lnTo>
                  <a:pt x="80772" y="0"/>
                </a:lnTo>
                <a:lnTo>
                  <a:pt x="57086" y="62674"/>
                </a:lnTo>
                <a:lnTo>
                  <a:pt x="66192" y="62674"/>
                </a:lnTo>
                <a:lnTo>
                  <a:pt x="72555" y="44919"/>
                </a:lnTo>
                <a:lnTo>
                  <a:pt x="98704" y="44919"/>
                </a:lnTo>
                <a:lnTo>
                  <a:pt x="105117" y="62674"/>
                </a:lnTo>
                <a:lnTo>
                  <a:pt x="114134" y="62674"/>
                </a:lnTo>
                <a:close/>
              </a:path>
              <a:path w="171450" h="62864">
                <a:moveTo>
                  <a:pt x="171221" y="62674"/>
                </a:moveTo>
                <a:lnTo>
                  <a:pt x="164630" y="44919"/>
                </a:lnTo>
                <a:lnTo>
                  <a:pt x="162064" y="37998"/>
                </a:lnTo>
                <a:lnTo>
                  <a:pt x="153517" y="14998"/>
                </a:lnTo>
                <a:lnTo>
                  <a:pt x="153517" y="37998"/>
                </a:lnTo>
                <a:lnTo>
                  <a:pt x="132016" y="37998"/>
                </a:lnTo>
                <a:lnTo>
                  <a:pt x="137591" y="22377"/>
                </a:lnTo>
                <a:lnTo>
                  <a:pt x="140296" y="14566"/>
                </a:lnTo>
                <a:lnTo>
                  <a:pt x="142786" y="6692"/>
                </a:lnTo>
                <a:lnTo>
                  <a:pt x="145440" y="14655"/>
                </a:lnTo>
                <a:lnTo>
                  <a:pt x="148145" y="22491"/>
                </a:lnTo>
                <a:lnTo>
                  <a:pt x="153517" y="37998"/>
                </a:lnTo>
                <a:lnTo>
                  <a:pt x="153517" y="14998"/>
                </a:lnTo>
                <a:lnTo>
                  <a:pt x="150431" y="6692"/>
                </a:lnTo>
                <a:lnTo>
                  <a:pt x="147942" y="0"/>
                </a:lnTo>
                <a:lnTo>
                  <a:pt x="137871" y="0"/>
                </a:lnTo>
                <a:lnTo>
                  <a:pt x="114173" y="62674"/>
                </a:lnTo>
                <a:lnTo>
                  <a:pt x="123278" y="62674"/>
                </a:lnTo>
                <a:lnTo>
                  <a:pt x="129641" y="44919"/>
                </a:lnTo>
                <a:lnTo>
                  <a:pt x="155803" y="44919"/>
                </a:lnTo>
                <a:lnTo>
                  <a:pt x="162204" y="62674"/>
                </a:lnTo>
                <a:lnTo>
                  <a:pt x="171221" y="62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4579395" y="4044102"/>
            <a:ext cx="261620" cy="85513"/>
            <a:chOff x="3434546" y="3033076"/>
            <a:chExt cx="196215" cy="64135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4546" y="3033076"/>
              <a:ext cx="154966" cy="6359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619474" y="3081851"/>
              <a:ext cx="11430" cy="13970"/>
            </a:xfrm>
            <a:custGeom>
              <a:avLst/>
              <a:gdLst/>
              <a:ahLst/>
              <a:cxnLst/>
              <a:rect l="l" t="t" r="r" b="b"/>
              <a:pathLst>
                <a:path w="11429" h="13969">
                  <a:moveTo>
                    <a:pt x="10916" y="0"/>
                  </a:moveTo>
                  <a:lnTo>
                    <a:pt x="0" y="0"/>
                  </a:lnTo>
                  <a:lnTo>
                    <a:pt x="0" y="13888"/>
                  </a:lnTo>
                  <a:lnTo>
                    <a:pt x="10916" y="13888"/>
                  </a:lnTo>
                  <a:lnTo>
                    <a:pt x="10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91544" y="4651704"/>
            <a:ext cx="295376" cy="111608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4579395" y="4653006"/>
            <a:ext cx="261620" cy="85513"/>
            <a:chOff x="3434546" y="3489754"/>
            <a:chExt cx="196215" cy="64135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4546" y="3489754"/>
              <a:ext cx="154966" cy="6359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19474" y="3538528"/>
              <a:ext cx="11430" cy="13970"/>
            </a:xfrm>
            <a:custGeom>
              <a:avLst/>
              <a:gdLst/>
              <a:ahLst/>
              <a:cxnLst/>
              <a:rect l="l" t="t" r="r" b="b"/>
              <a:pathLst>
                <a:path w="11429" h="13970">
                  <a:moveTo>
                    <a:pt x="10916" y="0"/>
                  </a:moveTo>
                  <a:lnTo>
                    <a:pt x="0" y="0"/>
                  </a:lnTo>
                  <a:lnTo>
                    <a:pt x="0" y="13889"/>
                  </a:lnTo>
                  <a:lnTo>
                    <a:pt x="10916" y="13889"/>
                  </a:lnTo>
                  <a:lnTo>
                    <a:pt x="109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4673717" y="5022491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8"/>
                </a:lnTo>
                <a:lnTo>
                  <a:pt x="10915" y="13888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749839" y="5022491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8"/>
                </a:lnTo>
                <a:lnTo>
                  <a:pt x="10915" y="13888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25959" y="5022491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8"/>
                </a:lnTo>
                <a:lnTo>
                  <a:pt x="10915" y="13888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73717" y="4413587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9"/>
                </a:lnTo>
                <a:lnTo>
                  <a:pt x="10915" y="13889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49839" y="4413587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9"/>
                </a:lnTo>
                <a:lnTo>
                  <a:pt x="10915" y="13889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25959" y="4413587"/>
            <a:ext cx="15240" cy="18627"/>
          </a:xfrm>
          <a:custGeom>
            <a:avLst/>
            <a:gdLst/>
            <a:ahLst/>
            <a:cxnLst/>
            <a:rect l="l" t="t" r="r" b="b"/>
            <a:pathLst>
              <a:path w="11429" h="13970">
                <a:moveTo>
                  <a:pt x="10915" y="0"/>
                </a:moveTo>
                <a:lnTo>
                  <a:pt x="0" y="0"/>
                </a:lnTo>
                <a:lnTo>
                  <a:pt x="0" y="13889"/>
                </a:lnTo>
                <a:lnTo>
                  <a:pt x="10915" y="13889"/>
                </a:lnTo>
                <a:lnTo>
                  <a:pt x="109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91173" y="5261908"/>
            <a:ext cx="419003" cy="11030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26109" y="5260609"/>
            <a:ext cx="145180" cy="8609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78175" y="3926322"/>
            <a:ext cx="1215901" cy="1403964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9976133" y="2371994"/>
            <a:ext cx="63500" cy="70273"/>
          </a:xfrm>
          <a:custGeom>
            <a:avLst/>
            <a:gdLst/>
            <a:ahLst/>
            <a:cxnLst/>
            <a:rect l="l" t="t" r="r" b="b"/>
            <a:pathLst>
              <a:path w="47625" h="52705">
                <a:moveTo>
                  <a:pt x="45801" y="6456"/>
                </a:moveTo>
                <a:lnTo>
                  <a:pt x="33863" y="6456"/>
                </a:lnTo>
                <a:lnTo>
                  <a:pt x="37419" y="8964"/>
                </a:lnTo>
                <a:lnTo>
                  <a:pt x="37440" y="15608"/>
                </a:lnTo>
                <a:lnTo>
                  <a:pt x="37161" y="17604"/>
                </a:lnTo>
                <a:lnTo>
                  <a:pt x="36558" y="20624"/>
                </a:lnTo>
                <a:lnTo>
                  <a:pt x="16814" y="20902"/>
                </a:lnTo>
                <a:lnTo>
                  <a:pt x="10218" y="22435"/>
                </a:lnTo>
                <a:lnTo>
                  <a:pt x="2043" y="28289"/>
                </a:lnTo>
                <a:lnTo>
                  <a:pt x="0" y="32655"/>
                </a:lnTo>
                <a:lnTo>
                  <a:pt x="0" y="46452"/>
                </a:lnTo>
                <a:lnTo>
                  <a:pt x="6363" y="52444"/>
                </a:lnTo>
                <a:lnTo>
                  <a:pt x="24340" y="51934"/>
                </a:lnTo>
                <a:lnTo>
                  <a:pt x="27964" y="48356"/>
                </a:lnTo>
                <a:lnTo>
                  <a:pt x="29641" y="45940"/>
                </a:lnTo>
                <a:lnTo>
                  <a:pt x="12308" y="45940"/>
                </a:lnTo>
                <a:lnTo>
                  <a:pt x="8779" y="42597"/>
                </a:lnTo>
                <a:lnTo>
                  <a:pt x="35443" y="26385"/>
                </a:lnTo>
                <a:lnTo>
                  <a:pt x="44143" y="26385"/>
                </a:lnTo>
                <a:lnTo>
                  <a:pt x="45183" y="21159"/>
                </a:lnTo>
                <a:lnTo>
                  <a:pt x="45746" y="14446"/>
                </a:lnTo>
                <a:lnTo>
                  <a:pt x="45801" y="6456"/>
                </a:lnTo>
                <a:close/>
              </a:path>
              <a:path w="47625" h="52705">
                <a:moveTo>
                  <a:pt x="41142" y="41667"/>
                </a:moveTo>
                <a:lnTo>
                  <a:pt x="32887" y="41667"/>
                </a:lnTo>
                <a:lnTo>
                  <a:pt x="31772" y="48125"/>
                </a:lnTo>
                <a:lnTo>
                  <a:pt x="34328" y="51748"/>
                </a:lnTo>
                <a:lnTo>
                  <a:pt x="42828" y="51748"/>
                </a:lnTo>
                <a:lnTo>
                  <a:pt x="44825" y="51516"/>
                </a:lnTo>
                <a:lnTo>
                  <a:pt x="46870" y="51004"/>
                </a:lnTo>
                <a:lnTo>
                  <a:pt x="47422" y="46591"/>
                </a:lnTo>
                <a:lnTo>
                  <a:pt x="44361" y="46591"/>
                </a:lnTo>
                <a:lnTo>
                  <a:pt x="40692" y="46080"/>
                </a:lnTo>
                <a:lnTo>
                  <a:pt x="40992" y="42597"/>
                </a:lnTo>
                <a:lnTo>
                  <a:pt x="41142" y="41667"/>
                </a:lnTo>
                <a:close/>
              </a:path>
              <a:path w="47625" h="52705">
                <a:moveTo>
                  <a:pt x="47520" y="45802"/>
                </a:moveTo>
                <a:lnTo>
                  <a:pt x="44361" y="46591"/>
                </a:lnTo>
                <a:lnTo>
                  <a:pt x="47422" y="46591"/>
                </a:lnTo>
                <a:lnTo>
                  <a:pt x="47520" y="45802"/>
                </a:lnTo>
                <a:close/>
              </a:path>
              <a:path w="47625" h="52705">
                <a:moveTo>
                  <a:pt x="44143" y="26385"/>
                </a:moveTo>
                <a:lnTo>
                  <a:pt x="35443" y="26385"/>
                </a:lnTo>
                <a:lnTo>
                  <a:pt x="34188" y="32191"/>
                </a:lnTo>
                <a:lnTo>
                  <a:pt x="32237" y="39856"/>
                </a:lnTo>
                <a:lnTo>
                  <a:pt x="26338" y="45615"/>
                </a:lnTo>
                <a:lnTo>
                  <a:pt x="12308" y="45940"/>
                </a:lnTo>
                <a:lnTo>
                  <a:pt x="29641" y="45940"/>
                </a:lnTo>
                <a:lnTo>
                  <a:pt x="32609" y="41667"/>
                </a:lnTo>
                <a:lnTo>
                  <a:pt x="41142" y="41667"/>
                </a:lnTo>
                <a:lnTo>
                  <a:pt x="42136" y="35503"/>
                </a:lnTo>
                <a:lnTo>
                  <a:pt x="43764" y="28289"/>
                </a:lnTo>
                <a:lnTo>
                  <a:pt x="44143" y="26385"/>
                </a:lnTo>
                <a:close/>
              </a:path>
              <a:path w="47625" h="52705">
                <a:moveTo>
                  <a:pt x="38276" y="0"/>
                </a:moveTo>
                <a:lnTo>
                  <a:pt x="16814" y="232"/>
                </a:lnTo>
                <a:lnTo>
                  <a:pt x="10218" y="3994"/>
                </a:lnTo>
                <a:lnTo>
                  <a:pt x="7432" y="13100"/>
                </a:lnTo>
                <a:lnTo>
                  <a:pt x="15701" y="14446"/>
                </a:lnTo>
                <a:lnTo>
                  <a:pt x="17512" y="8964"/>
                </a:lnTo>
                <a:lnTo>
                  <a:pt x="20763" y="6456"/>
                </a:lnTo>
                <a:lnTo>
                  <a:pt x="45801" y="6456"/>
                </a:lnTo>
                <a:lnTo>
                  <a:pt x="45801" y="4784"/>
                </a:lnTo>
                <a:lnTo>
                  <a:pt x="38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73373" y="2652910"/>
            <a:ext cx="165928" cy="9327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36801" y="3261814"/>
            <a:ext cx="206196" cy="118236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9943034" y="3644629"/>
            <a:ext cx="85513" cy="14393"/>
          </a:xfrm>
          <a:custGeom>
            <a:avLst/>
            <a:gdLst/>
            <a:ahLst/>
            <a:cxnLst/>
            <a:rect l="l" t="t" r="r" b="b"/>
            <a:pathLst>
              <a:path w="64134" h="10794">
                <a:moveTo>
                  <a:pt x="11049" y="0"/>
                </a:moveTo>
                <a:lnTo>
                  <a:pt x="1993" y="0"/>
                </a:lnTo>
                <a:lnTo>
                  <a:pt x="0" y="10172"/>
                </a:lnTo>
                <a:lnTo>
                  <a:pt x="9055" y="10172"/>
                </a:lnTo>
                <a:lnTo>
                  <a:pt x="11049" y="0"/>
                </a:lnTo>
                <a:close/>
              </a:path>
              <a:path w="64134" h="10794">
                <a:moveTo>
                  <a:pt x="37477" y="0"/>
                </a:moveTo>
                <a:lnTo>
                  <a:pt x="28422" y="0"/>
                </a:lnTo>
                <a:lnTo>
                  <a:pt x="26428" y="10172"/>
                </a:lnTo>
                <a:lnTo>
                  <a:pt x="35483" y="10172"/>
                </a:lnTo>
                <a:lnTo>
                  <a:pt x="37477" y="0"/>
                </a:lnTo>
                <a:close/>
              </a:path>
              <a:path w="64134" h="10794">
                <a:moveTo>
                  <a:pt x="63919" y="0"/>
                </a:moveTo>
                <a:lnTo>
                  <a:pt x="54851" y="0"/>
                </a:lnTo>
                <a:lnTo>
                  <a:pt x="52857" y="10172"/>
                </a:lnTo>
                <a:lnTo>
                  <a:pt x="61912" y="10172"/>
                </a:lnTo>
                <a:lnTo>
                  <a:pt x="639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1576084" y="2647910"/>
            <a:ext cx="687493" cy="110913"/>
            <a:chOff x="1182063" y="1985932"/>
            <a:chExt cx="515620" cy="83185"/>
          </a:xfrm>
        </p:grpSpPr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2063" y="1985932"/>
              <a:ext cx="389914" cy="8292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11017" y="1994564"/>
              <a:ext cx="86321" cy="73064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54119" y="2825536"/>
            <a:ext cx="495323" cy="13647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12361" y="2825537"/>
            <a:ext cx="356796" cy="137775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1468812" y="4505066"/>
            <a:ext cx="800947" cy="110913"/>
            <a:chOff x="1101609" y="3378799"/>
            <a:chExt cx="600710" cy="83185"/>
          </a:xfrm>
        </p:grpSpPr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01609" y="3378799"/>
              <a:ext cx="377890" cy="8169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1695" y="3378924"/>
              <a:ext cx="88172" cy="8157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645140" y="3399454"/>
              <a:ext cx="57150" cy="62865"/>
            </a:xfrm>
            <a:custGeom>
              <a:avLst/>
              <a:gdLst/>
              <a:ahLst/>
              <a:cxnLst/>
              <a:rect l="l" t="t" r="r" b="b"/>
              <a:pathLst>
                <a:path w="57150" h="62864">
                  <a:moveTo>
                    <a:pt x="48217" y="48709"/>
                  </a:moveTo>
                  <a:lnTo>
                    <a:pt x="38845" y="48709"/>
                  </a:lnTo>
                  <a:lnTo>
                    <a:pt x="38229" y="58883"/>
                  </a:lnTo>
                  <a:lnTo>
                    <a:pt x="47477" y="62274"/>
                  </a:lnTo>
                  <a:lnTo>
                    <a:pt x="57034" y="59500"/>
                  </a:lnTo>
                  <a:lnTo>
                    <a:pt x="57034" y="54875"/>
                  </a:lnTo>
                  <a:lnTo>
                    <a:pt x="50561" y="54875"/>
                  </a:lnTo>
                  <a:lnTo>
                    <a:pt x="48094" y="51175"/>
                  </a:lnTo>
                  <a:lnTo>
                    <a:pt x="48217" y="48709"/>
                  </a:lnTo>
                  <a:close/>
                </a:path>
                <a:path w="57150" h="62864">
                  <a:moveTo>
                    <a:pt x="44373" y="7399"/>
                  </a:moveTo>
                  <a:lnTo>
                    <a:pt x="35763" y="7399"/>
                  </a:lnTo>
                  <a:lnTo>
                    <a:pt x="39462" y="13256"/>
                  </a:lnTo>
                  <a:lnTo>
                    <a:pt x="38536" y="24046"/>
                  </a:lnTo>
                  <a:lnTo>
                    <a:pt x="24408" y="24306"/>
                  </a:lnTo>
                  <a:lnTo>
                    <a:pt x="11985" y="26358"/>
                  </a:lnTo>
                  <a:lnTo>
                    <a:pt x="3203" y="32110"/>
                  </a:lnTo>
                  <a:lnTo>
                    <a:pt x="0" y="43469"/>
                  </a:lnTo>
                  <a:lnTo>
                    <a:pt x="0" y="54568"/>
                  </a:lnTo>
                  <a:lnTo>
                    <a:pt x="6783" y="60733"/>
                  </a:lnTo>
                  <a:lnTo>
                    <a:pt x="29288" y="61349"/>
                  </a:lnTo>
                  <a:lnTo>
                    <a:pt x="34221" y="55184"/>
                  </a:lnTo>
                  <a:lnTo>
                    <a:pt x="35322" y="53642"/>
                  </a:lnTo>
                  <a:lnTo>
                    <a:pt x="13873" y="53642"/>
                  </a:lnTo>
                  <a:lnTo>
                    <a:pt x="10173" y="49635"/>
                  </a:lnTo>
                  <a:lnTo>
                    <a:pt x="10173" y="43469"/>
                  </a:lnTo>
                  <a:lnTo>
                    <a:pt x="12741" y="35598"/>
                  </a:lnTo>
                  <a:lnTo>
                    <a:pt x="19384" y="32062"/>
                  </a:lnTo>
                  <a:lnTo>
                    <a:pt x="28512" y="31069"/>
                  </a:lnTo>
                  <a:lnTo>
                    <a:pt x="38536" y="30829"/>
                  </a:lnTo>
                  <a:lnTo>
                    <a:pt x="48402" y="30829"/>
                  </a:lnTo>
                  <a:lnTo>
                    <a:pt x="48402" y="19730"/>
                  </a:lnTo>
                  <a:lnTo>
                    <a:pt x="46884" y="10925"/>
                  </a:lnTo>
                  <a:lnTo>
                    <a:pt x="44373" y="7399"/>
                  </a:lnTo>
                  <a:close/>
                </a:path>
                <a:path w="57150" h="62864">
                  <a:moveTo>
                    <a:pt x="57034" y="53334"/>
                  </a:moveTo>
                  <a:lnTo>
                    <a:pt x="50561" y="54875"/>
                  </a:lnTo>
                  <a:lnTo>
                    <a:pt x="57034" y="54875"/>
                  </a:lnTo>
                  <a:lnTo>
                    <a:pt x="57034" y="53334"/>
                  </a:lnTo>
                  <a:close/>
                </a:path>
                <a:path w="57150" h="62864">
                  <a:moveTo>
                    <a:pt x="48402" y="30829"/>
                  </a:moveTo>
                  <a:lnTo>
                    <a:pt x="38536" y="30829"/>
                  </a:lnTo>
                  <a:lnTo>
                    <a:pt x="37814" y="40116"/>
                  </a:lnTo>
                  <a:lnTo>
                    <a:pt x="34375" y="47091"/>
                  </a:lnTo>
                  <a:lnTo>
                    <a:pt x="28392" y="51638"/>
                  </a:lnTo>
                  <a:lnTo>
                    <a:pt x="20039" y="53642"/>
                  </a:lnTo>
                  <a:lnTo>
                    <a:pt x="35322" y="53642"/>
                  </a:lnTo>
                  <a:lnTo>
                    <a:pt x="38845" y="48709"/>
                  </a:lnTo>
                  <a:lnTo>
                    <a:pt x="48217" y="48709"/>
                  </a:lnTo>
                  <a:lnTo>
                    <a:pt x="48298" y="47091"/>
                  </a:lnTo>
                  <a:lnTo>
                    <a:pt x="48402" y="30829"/>
                  </a:lnTo>
                  <a:close/>
                </a:path>
                <a:path w="57150" h="62864">
                  <a:moveTo>
                    <a:pt x="26205" y="0"/>
                  </a:moveTo>
                  <a:lnTo>
                    <a:pt x="17168" y="900"/>
                  </a:lnTo>
                  <a:lnTo>
                    <a:pt x="10097" y="3737"/>
                  </a:lnTo>
                  <a:lnTo>
                    <a:pt x="5222" y="8713"/>
                  </a:lnTo>
                  <a:lnTo>
                    <a:pt x="2774" y="16031"/>
                  </a:lnTo>
                  <a:lnTo>
                    <a:pt x="12948" y="16955"/>
                  </a:lnTo>
                  <a:lnTo>
                    <a:pt x="13257" y="9556"/>
                  </a:lnTo>
                  <a:lnTo>
                    <a:pt x="18498" y="7707"/>
                  </a:lnTo>
                  <a:lnTo>
                    <a:pt x="25897" y="7399"/>
                  </a:lnTo>
                  <a:lnTo>
                    <a:pt x="44373" y="7399"/>
                  </a:lnTo>
                  <a:lnTo>
                    <a:pt x="42506" y="4778"/>
                  </a:lnTo>
                  <a:lnTo>
                    <a:pt x="35526" y="1175"/>
                  </a:lnTo>
                  <a:lnTo>
                    <a:pt x="262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1576085" y="4682693"/>
            <a:ext cx="693420" cy="138007"/>
            <a:chOff x="1182063" y="3512019"/>
            <a:chExt cx="520065" cy="103505"/>
          </a:xfrm>
        </p:grpSpPr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2063" y="3516027"/>
              <a:ext cx="212722" cy="7768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34270" y="3512019"/>
              <a:ext cx="267597" cy="103331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1846237" y="5843813"/>
            <a:ext cx="414867" cy="105833"/>
            <a:chOff x="1384678" y="4382859"/>
            <a:chExt cx="311150" cy="79375"/>
          </a:xfrm>
        </p:grpSpPr>
        <p:pic>
          <p:nvPicPr>
            <p:cNvPr id="69" name="object 6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84678" y="4382859"/>
              <a:ext cx="162161" cy="7768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583410" y="4399508"/>
              <a:ext cx="112395" cy="62865"/>
            </a:xfrm>
            <a:custGeom>
              <a:avLst/>
              <a:gdLst/>
              <a:ahLst/>
              <a:cxnLst/>
              <a:rect l="l" t="t" r="r" b="b"/>
              <a:pathLst>
                <a:path w="112394" h="62864">
                  <a:moveTo>
                    <a:pt x="57035" y="53340"/>
                  </a:moveTo>
                  <a:lnTo>
                    <a:pt x="50558" y="54876"/>
                  </a:lnTo>
                  <a:lnTo>
                    <a:pt x="48094" y="51181"/>
                  </a:lnTo>
                  <a:lnTo>
                    <a:pt x="48221" y="48717"/>
                  </a:lnTo>
                  <a:lnTo>
                    <a:pt x="48298" y="47091"/>
                  </a:lnTo>
                  <a:lnTo>
                    <a:pt x="48399" y="30835"/>
                  </a:lnTo>
                  <a:lnTo>
                    <a:pt x="48399" y="19735"/>
                  </a:lnTo>
                  <a:lnTo>
                    <a:pt x="26212" y="0"/>
                  </a:lnTo>
                  <a:lnTo>
                    <a:pt x="17170" y="901"/>
                  </a:lnTo>
                  <a:lnTo>
                    <a:pt x="10096" y="3746"/>
                  </a:lnTo>
                  <a:lnTo>
                    <a:pt x="5219" y="8724"/>
                  </a:lnTo>
                  <a:lnTo>
                    <a:pt x="2781" y="16040"/>
                  </a:lnTo>
                  <a:lnTo>
                    <a:pt x="12954" y="16967"/>
                  </a:lnTo>
                  <a:lnTo>
                    <a:pt x="13258" y="9563"/>
                  </a:lnTo>
                  <a:lnTo>
                    <a:pt x="18503" y="7708"/>
                  </a:lnTo>
                  <a:lnTo>
                    <a:pt x="25895" y="7404"/>
                  </a:lnTo>
                  <a:lnTo>
                    <a:pt x="35763" y="7404"/>
                  </a:lnTo>
                  <a:lnTo>
                    <a:pt x="39458" y="13258"/>
                  </a:lnTo>
                  <a:lnTo>
                    <a:pt x="38544" y="24053"/>
                  </a:lnTo>
                  <a:lnTo>
                    <a:pt x="38544" y="30835"/>
                  </a:lnTo>
                  <a:lnTo>
                    <a:pt x="37820" y="40119"/>
                  </a:lnTo>
                  <a:lnTo>
                    <a:pt x="34378" y="47091"/>
                  </a:lnTo>
                  <a:lnTo>
                    <a:pt x="28397" y="51638"/>
                  </a:lnTo>
                  <a:lnTo>
                    <a:pt x="20040" y="53644"/>
                  </a:lnTo>
                  <a:lnTo>
                    <a:pt x="13881" y="53644"/>
                  </a:lnTo>
                  <a:lnTo>
                    <a:pt x="10172" y="49644"/>
                  </a:lnTo>
                  <a:lnTo>
                    <a:pt x="10172" y="43472"/>
                  </a:lnTo>
                  <a:lnTo>
                    <a:pt x="12738" y="35598"/>
                  </a:lnTo>
                  <a:lnTo>
                    <a:pt x="19380" y="32067"/>
                  </a:lnTo>
                  <a:lnTo>
                    <a:pt x="28511" y="31076"/>
                  </a:lnTo>
                  <a:lnTo>
                    <a:pt x="38544" y="30835"/>
                  </a:lnTo>
                  <a:lnTo>
                    <a:pt x="38544" y="24053"/>
                  </a:lnTo>
                  <a:lnTo>
                    <a:pt x="24409" y="24307"/>
                  </a:lnTo>
                  <a:lnTo>
                    <a:pt x="11988" y="26365"/>
                  </a:lnTo>
                  <a:lnTo>
                    <a:pt x="3200" y="32118"/>
                  </a:lnTo>
                  <a:lnTo>
                    <a:pt x="0" y="43472"/>
                  </a:lnTo>
                  <a:lnTo>
                    <a:pt x="0" y="54571"/>
                  </a:lnTo>
                  <a:lnTo>
                    <a:pt x="6781" y="60744"/>
                  </a:lnTo>
                  <a:lnTo>
                    <a:pt x="29286" y="61353"/>
                  </a:lnTo>
                  <a:lnTo>
                    <a:pt x="34226" y="55194"/>
                  </a:lnTo>
                  <a:lnTo>
                    <a:pt x="35318" y="53644"/>
                  </a:lnTo>
                  <a:lnTo>
                    <a:pt x="38849" y="48717"/>
                  </a:lnTo>
                  <a:lnTo>
                    <a:pt x="38227" y="58889"/>
                  </a:lnTo>
                  <a:lnTo>
                    <a:pt x="47472" y="62280"/>
                  </a:lnTo>
                  <a:lnTo>
                    <a:pt x="57035" y="59512"/>
                  </a:lnTo>
                  <a:lnTo>
                    <a:pt x="57035" y="54876"/>
                  </a:lnTo>
                  <a:lnTo>
                    <a:pt x="57035" y="53340"/>
                  </a:lnTo>
                  <a:close/>
                </a:path>
                <a:path w="112394" h="62864">
                  <a:moveTo>
                    <a:pt x="111836" y="20434"/>
                  </a:moveTo>
                  <a:lnTo>
                    <a:pt x="107264" y="5448"/>
                  </a:lnTo>
                  <a:lnTo>
                    <a:pt x="93103" y="0"/>
                  </a:lnTo>
                  <a:lnTo>
                    <a:pt x="83235" y="317"/>
                  </a:lnTo>
                  <a:lnTo>
                    <a:pt x="77685" y="4318"/>
                  </a:lnTo>
                  <a:lnTo>
                    <a:pt x="74295" y="11099"/>
                  </a:lnTo>
                  <a:lnTo>
                    <a:pt x="73367" y="8636"/>
                  </a:lnTo>
                  <a:lnTo>
                    <a:pt x="73990" y="4318"/>
                  </a:lnTo>
                  <a:lnTo>
                    <a:pt x="73685" y="1244"/>
                  </a:lnTo>
                  <a:lnTo>
                    <a:pt x="64439" y="1244"/>
                  </a:lnTo>
                  <a:lnTo>
                    <a:pt x="64744" y="59817"/>
                  </a:lnTo>
                  <a:lnTo>
                    <a:pt x="74612" y="59817"/>
                  </a:lnTo>
                  <a:lnTo>
                    <a:pt x="74409" y="26250"/>
                  </a:lnTo>
                  <a:lnTo>
                    <a:pt x="78206" y="13208"/>
                  </a:lnTo>
                  <a:lnTo>
                    <a:pt x="89712" y="7708"/>
                  </a:lnTo>
                  <a:lnTo>
                    <a:pt x="99275" y="7404"/>
                  </a:lnTo>
                  <a:lnTo>
                    <a:pt x="101739" y="12954"/>
                  </a:lnTo>
                  <a:lnTo>
                    <a:pt x="101739" y="59817"/>
                  </a:lnTo>
                  <a:lnTo>
                    <a:pt x="111607" y="59817"/>
                  </a:lnTo>
                  <a:lnTo>
                    <a:pt x="111836" y="20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1345899" y="6016098"/>
            <a:ext cx="915247" cy="138007"/>
            <a:chOff x="1009424" y="4512073"/>
            <a:chExt cx="686435" cy="103505"/>
          </a:xfrm>
        </p:grpSpPr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9424" y="4512073"/>
              <a:ext cx="267598" cy="10333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17425" y="4512073"/>
              <a:ext cx="377890" cy="81697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63313" y="1736327"/>
            <a:ext cx="96092" cy="150323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596377" y="5908270"/>
            <a:ext cx="194564" cy="190281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4923655" y="5927310"/>
            <a:ext cx="184573" cy="86359"/>
          </a:xfrm>
          <a:custGeom>
            <a:avLst/>
            <a:gdLst/>
            <a:ahLst/>
            <a:cxnLst/>
            <a:rect l="l" t="t" r="r" b="b"/>
            <a:pathLst>
              <a:path w="138429" h="64770">
                <a:moveTo>
                  <a:pt x="138430" y="46380"/>
                </a:moveTo>
                <a:lnTo>
                  <a:pt x="0" y="46380"/>
                </a:lnTo>
                <a:lnTo>
                  <a:pt x="0" y="64211"/>
                </a:lnTo>
                <a:lnTo>
                  <a:pt x="138430" y="64211"/>
                </a:lnTo>
                <a:lnTo>
                  <a:pt x="138430" y="46380"/>
                </a:lnTo>
                <a:close/>
              </a:path>
              <a:path w="138429" h="64770">
                <a:moveTo>
                  <a:pt x="138430" y="0"/>
                </a:moveTo>
                <a:lnTo>
                  <a:pt x="0" y="0"/>
                </a:lnTo>
                <a:lnTo>
                  <a:pt x="0" y="14262"/>
                </a:lnTo>
                <a:lnTo>
                  <a:pt x="138430" y="14262"/>
                </a:lnTo>
                <a:lnTo>
                  <a:pt x="13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225737" y="5865457"/>
            <a:ext cx="206932" cy="209311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724752" y="5946326"/>
            <a:ext cx="918633" cy="52493"/>
            <a:chOff x="4293563" y="4459744"/>
            <a:chExt cx="688975" cy="39370"/>
          </a:xfrm>
        </p:grpSpPr>
        <p:sp>
          <p:nvSpPr>
            <p:cNvPr id="79" name="object 79"/>
            <p:cNvSpPr/>
            <p:nvPr/>
          </p:nvSpPr>
          <p:spPr>
            <a:xfrm>
              <a:off x="4293563" y="4481150"/>
              <a:ext cx="631825" cy="0"/>
            </a:xfrm>
            <a:custGeom>
              <a:avLst/>
              <a:gdLst/>
              <a:ahLst/>
              <a:cxnLst/>
              <a:rect l="l" t="t" r="r" b="b"/>
              <a:pathLst>
                <a:path w="631825">
                  <a:moveTo>
                    <a:pt x="3567" y="0"/>
                  </a:moveTo>
                  <a:lnTo>
                    <a:pt x="631499" y="0"/>
                  </a:lnTo>
                </a:path>
                <a:path w="631825">
                  <a:moveTo>
                    <a:pt x="3567" y="0"/>
                  </a:moveTo>
                  <a:lnTo>
                    <a:pt x="0" y="0"/>
                  </a:lnTo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928632" y="4463312"/>
              <a:ext cx="50165" cy="32384"/>
            </a:xfrm>
            <a:custGeom>
              <a:avLst/>
              <a:gdLst/>
              <a:ahLst/>
              <a:cxnLst/>
              <a:rect l="l" t="t" r="r" b="b"/>
              <a:pathLst>
                <a:path w="50164" h="32385">
                  <a:moveTo>
                    <a:pt x="0" y="0"/>
                  </a:moveTo>
                  <a:lnTo>
                    <a:pt x="0" y="32110"/>
                  </a:lnTo>
                  <a:lnTo>
                    <a:pt x="49949" y="17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928631" y="4463311"/>
              <a:ext cx="50165" cy="32384"/>
            </a:xfrm>
            <a:custGeom>
              <a:avLst/>
              <a:gdLst/>
              <a:ahLst/>
              <a:cxnLst/>
              <a:rect l="l" t="t" r="r" b="b"/>
              <a:pathLst>
                <a:path w="50164" h="32385">
                  <a:moveTo>
                    <a:pt x="49949" y="17838"/>
                  </a:moveTo>
                  <a:lnTo>
                    <a:pt x="0" y="32110"/>
                  </a:lnTo>
                  <a:lnTo>
                    <a:pt x="0" y="0"/>
                  </a:lnTo>
                  <a:lnTo>
                    <a:pt x="49949" y="17838"/>
                  </a:lnTo>
                  <a:close/>
                </a:path>
              </a:pathLst>
            </a:custGeom>
            <a:ln w="7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8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785543" y="5809927"/>
            <a:ext cx="1325799" cy="315403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10602179" y="3987277"/>
            <a:ext cx="27093" cy="70273"/>
          </a:xfrm>
          <a:custGeom>
            <a:avLst/>
            <a:gdLst/>
            <a:ahLst/>
            <a:cxnLst/>
            <a:rect l="l" t="t" r="r" b="b"/>
            <a:pathLst>
              <a:path w="20320" h="52705">
                <a:moveTo>
                  <a:pt x="11653" y="0"/>
                </a:moveTo>
                <a:lnTo>
                  <a:pt x="7120" y="0"/>
                </a:lnTo>
                <a:lnTo>
                  <a:pt x="5179" y="9279"/>
                </a:lnTo>
                <a:lnTo>
                  <a:pt x="0" y="9279"/>
                </a:lnTo>
                <a:lnTo>
                  <a:pt x="0" y="14244"/>
                </a:lnTo>
                <a:lnTo>
                  <a:pt x="4747" y="14244"/>
                </a:lnTo>
                <a:lnTo>
                  <a:pt x="4747" y="51149"/>
                </a:lnTo>
                <a:lnTo>
                  <a:pt x="12733" y="52227"/>
                </a:lnTo>
                <a:lnTo>
                  <a:pt x="19855" y="50069"/>
                </a:lnTo>
                <a:lnTo>
                  <a:pt x="19855" y="44890"/>
                </a:lnTo>
                <a:lnTo>
                  <a:pt x="15538" y="46400"/>
                </a:lnTo>
                <a:lnTo>
                  <a:pt x="11221" y="45321"/>
                </a:lnTo>
                <a:lnTo>
                  <a:pt x="11653" y="40142"/>
                </a:lnTo>
                <a:lnTo>
                  <a:pt x="11653" y="14244"/>
                </a:lnTo>
                <a:lnTo>
                  <a:pt x="19207" y="14244"/>
                </a:lnTo>
                <a:lnTo>
                  <a:pt x="19207" y="9279"/>
                </a:lnTo>
                <a:lnTo>
                  <a:pt x="11653" y="9279"/>
                </a:lnTo>
                <a:lnTo>
                  <a:pt x="116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4" name="object 8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182117" y="1736803"/>
            <a:ext cx="166496" cy="146992"/>
          </a:xfrm>
          <a:prstGeom prst="rect">
            <a:avLst/>
          </a:prstGeom>
        </p:spPr>
      </p:pic>
      <p:sp>
        <p:nvSpPr>
          <p:cNvPr id="85" name="object 85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endParaRPr spc="-13" dirty="0">
              <a:latin typeface="Calibri"/>
              <a:cs typeface="Calibri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4883150"/>
            <a:ext cx="22542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34</a:t>
            </a:fld>
            <a:endParaRPr spc="-3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34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587" y="1051898"/>
            <a:ext cx="11051540" cy="29486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09776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latin typeface="Calibri"/>
                <a:cs typeface="Calibri"/>
              </a:rPr>
              <a:t>Outperforms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AWD-</a:t>
            </a:r>
            <a:r>
              <a:rPr sz="2400" dirty="0">
                <a:latin typeface="Calibri"/>
                <a:cs typeface="Calibri"/>
              </a:rPr>
              <a:t>LSTM</a:t>
            </a:r>
            <a:r>
              <a:rPr sz="2400" baseline="23148" dirty="0">
                <a:latin typeface="Calibri"/>
                <a:cs typeface="Calibri"/>
              </a:rPr>
              <a:t>1</a:t>
            </a:r>
            <a:r>
              <a:rPr sz="2400" spc="279" baseline="2314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 a fact completion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60"/>
              </a:spcBef>
              <a:buClr>
                <a:srgbClr val="8C1515"/>
              </a:buClr>
              <a:buFont typeface="Times New Roman"/>
              <a:buChar char="•"/>
            </a:pPr>
            <a:endParaRPr sz="3400">
              <a:latin typeface="Calibri"/>
              <a:cs typeface="Calibri"/>
            </a:endParaRPr>
          </a:p>
          <a:p>
            <a:pPr marL="410623" marR="40639" indent="-342891">
              <a:lnSpc>
                <a:spcPts val="2813"/>
              </a:lnSpc>
              <a:buClr>
                <a:srgbClr val="8C1515"/>
              </a:buClr>
              <a:buFont typeface="Times New Roman"/>
              <a:buChar char="•"/>
              <a:tabLst>
                <a:tab pos="410623" algn="l"/>
              </a:tabLst>
            </a:pPr>
            <a:r>
              <a:rPr sz="2400" dirty="0">
                <a:latin typeface="Calibri"/>
                <a:cs typeface="Calibri"/>
              </a:rPr>
              <a:t>Qualitatively, compared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13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2,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KGLM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tends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predict more specific tokens </a:t>
            </a:r>
            <a:r>
              <a:rPr sz="2400" spc="-13" dirty="0">
                <a:latin typeface="Calibri"/>
                <a:cs typeface="Calibri"/>
              </a:rPr>
              <a:t>(GPT-</a:t>
            </a:r>
            <a:r>
              <a:rPr sz="2400" spc="-67" dirty="0">
                <a:latin typeface="Calibri"/>
                <a:cs typeface="Calibri"/>
              </a:rPr>
              <a:t>2 </a:t>
            </a:r>
            <a:r>
              <a:rPr sz="2400" dirty="0">
                <a:latin typeface="Calibri"/>
                <a:cs typeface="Calibri"/>
              </a:rPr>
              <a:t>predicts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 popular,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generic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tokens)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47"/>
              </a:spcBef>
              <a:buClr>
                <a:srgbClr val="8C1515"/>
              </a:buClr>
              <a:buFont typeface="Times New Roman"/>
              <a:buChar char="•"/>
            </a:pPr>
            <a:endParaRPr sz="3200">
              <a:latin typeface="Calibri"/>
              <a:cs typeface="Calibri"/>
            </a:endParaRPr>
          </a:p>
          <a:p>
            <a:pPr marL="409776" indent="-342045"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Supports modifying/updating</a:t>
            </a:r>
            <a:r>
              <a:rPr sz="2400" spc="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facts!</a:t>
            </a:r>
            <a:endParaRPr sz="2400">
              <a:latin typeface="Calibri"/>
              <a:cs typeface="Calibri"/>
            </a:endParaRPr>
          </a:p>
          <a:p>
            <a:pPr marL="752668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52668" algn="l"/>
              </a:tabLst>
            </a:pPr>
            <a:r>
              <a:rPr sz="2400" dirty="0">
                <a:latin typeface="Calibri"/>
                <a:cs typeface="Calibri"/>
              </a:rPr>
              <a:t>Modifying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 a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 change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predictions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588" y="4412828"/>
            <a:ext cx="4952153" cy="1767343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6933">
              <a:spcBef>
                <a:spcPts val="740"/>
              </a:spcBef>
              <a:tabLst>
                <a:tab pos="4856359" algn="l"/>
              </a:tabLst>
            </a:pPr>
            <a:r>
              <a:rPr sz="2400" dirty="0">
                <a:latin typeface="Calibri"/>
                <a:cs typeface="Calibri"/>
              </a:rPr>
              <a:t>Barack Obama was born on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spc="-67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6933">
              <a:spcBef>
                <a:spcPts val="607"/>
              </a:spcBef>
            </a:pPr>
            <a:r>
              <a:rPr sz="2400" b="1" dirty="0">
                <a:latin typeface="Calibri"/>
                <a:cs typeface="Calibri"/>
              </a:rPr>
              <a:t>KG</a:t>
            </a:r>
            <a:r>
              <a:rPr sz="2400" b="1" spc="7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triples:</a:t>
            </a:r>
            <a:endParaRPr sz="2400" dirty="0">
              <a:latin typeface="Calibri"/>
              <a:cs typeface="Calibri"/>
            </a:endParaRPr>
          </a:p>
          <a:p>
            <a:pPr marL="16933" marR="45719">
              <a:lnSpc>
                <a:spcPct val="120000"/>
              </a:lnSpc>
            </a:pPr>
            <a:r>
              <a:rPr sz="2400" dirty="0">
                <a:latin typeface="Calibri"/>
                <a:cs typeface="Calibri"/>
              </a:rPr>
              <a:t>(Barack Obama,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birthDate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1961-08-</a:t>
            </a:r>
            <a:r>
              <a:rPr sz="2400" spc="-33" dirty="0">
                <a:latin typeface="Calibri"/>
                <a:cs typeface="Calibri"/>
              </a:rPr>
              <a:t>04) </a:t>
            </a:r>
            <a:r>
              <a:rPr sz="2400" dirty="0">
                <a:latin typeface="Calibri"/>
                <a:cs typeface="Calibri"/>
              </a:rPr>
              <a:t>(Barack Obama,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birthDate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2013-03-</a:t>
            </a:r>
            <a:r>
              <a:rPr sz="2400" spc="-33" dirty="0">
                <a:solidFill>
                  <a:srgbClr val="C00000"/>
                </a:solidFill>
                <a:latin typeface="Calibri"/>
                <a:cs typeface="Calibri"/>
              </a:rPr>
              <a:t>21</a:t>
            </a:r>
            <a:r>
              <a:rPr sz="2400" spc="-33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6587" y="4859867"/>
            <a:ext cx="3985260" cy="1832190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16933">
              <a:spcBef>
                <a:spcPts val="707"/>
              </a:spcBef>
            </a:pPr>
            <a:r>
              <a:rPr sz="2400" b="1" dirty="0">
                <a:latin typeface="Calibri"/>
                <a:cs typeface="Calibri"/>
              </a:rPr>
              <a:t>Most</a:t>
            </a:r>
            <a:r>
              <a:rPr sz="2400" b="1" spc="-2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likely</a:t>
            </a:r>
            <a:r>
              <a:rPr sz="2400" b="1" spc="-2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next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word: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573"/>
              </a:spcBef>
            </a:pPr>
            <a:r>
              <a:rPr sz="2400" dirty="0">
                <a:latin typeface="Calibri"/>
                <a:cs typeface="Calibri"/>
              </a:rPr>
              <a:t>“August”,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“4”,</a:t>
            </a:r>
            <a:r>
              <a:rPr sz="2400" spc="-13" dirty="0">
                <a:latin typeface="Calibri"/>
                <a:cs typeface="Calibri"/>
              </a:rPr>
              <a:t> “1961”</a:t>
            </a:r>
            <a:endParaRPr sz="2400">
              <a:latin typeface="Calibri"/>
              <a:cs typeface="Calibri"/>
            </a:endParaRPr>
          </a:p>
          <a:p>
            <a:pPr marL="16933">
              <a:spcBef>
                <a:spcPts val="579"/>
              </a:spcBef>
            </a:pPr>
            <a:r>
              <a:rPr sz="2400" dirty="0">
                <a:latin typeface="Calibri"/>
                <a:cs typeface="Calibri"/>
              </a:rPr>
              <a:t>“March”,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“21”,</a:t>
            </a:r>
            <a:r>
              <a:rPr sz="2400" spc="-13" dirty="0">
                <a:latin typeface="Calibri"/>
                <a:cs typeface="Calibri"/>
              </a:rPr>
              <a:t> “2013”</a:t>
            </a:r>
            <a:endParaRPr sz="2400">
              <a:latin typeface="Calibri"/>
              <a:cs typeface="Calibri"/>
            </a:endParaRPr>
          </a:p>
          <a:p>
            <a:pPr marL="1407971">
              <a:spcBef>
                <a:spcPts val="1493"/>
              </a:spcBef>
            </a:pPr>
            <a:r>
              <a:rPr sz="1867" dirty="0">
                <a:latin typeface="Calibri"/>
                <a:cs typeface="Calibri"/>
              </a:rPr>
              <a:t>[1]</a:t>
            </a:r>
            <a:r>
              <a:rPr sz="1867" spc="-20" dirty="0">
                <a:latin typeface="Calibri"/>
                <a:cs typeface="Calibri"/>
              </a:rPr>
              <a:t> </a:t>
            </a:r>
            <a:r>
              <a:rPr sz="18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Merity</a:t>
            </a:r>
            <a:r>
              <a:rPr sz="18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18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18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18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18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18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ICLR</a:t>
            </a:r>
            <a:r>
              <a:rPr sz="18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1867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2018</a:t>
            </a:r>
            <a:endParaRPr sz="1867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KGLM</a:t>
            </a:r>
            <a:r>
              <a:rPr spc="-33" dirty="0"/>
              <a:t> </a:t>
            </a:r>
            <a:r>
              <a:rPr b="0" dirty="0">
                <a:latin typeface="Calibri"/>
                <a:cs typeface="Calibri"/>
              </a:rPr>
              <a:t>[</a:t>
            </a:r>
            <a:r>
              <a:rPr b="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Logan</a:t>
            </a:r>
            <a:r>
              <a:rPr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b="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b="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b="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ACL</a:t>
            </a:r>
            <a:r>
              <a:rPr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2019</a:t>
            </a:r>
            <a:r>
              <a:rPr spc="-13" dirty="0">
                <a:latin typeface="Calibri"/>
                <a:cs typeface="Calibri"/>
              </a:rPr>
              <a:t>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Nearest</a:t>
            </a:r>
            <a:r>
              <a:rPr spc="-13" dirty="0"/>
              <a:t> </a:t>
            </a:r>
            <a:r>
              <a:rPr dirty="0"/>
              <a:t>Neighbor</a:t>
            </a:r>
            <a:r>
              <a:rPr spc="-27" dirty="0"/>
              <a:t>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Models</a:t>
            </a:r>
            <a:r>
              <a:rPr spc="-13" dirty="0"/>
              <a:t> (kNN-</a:t>
            </a:r>
            <a:r>
              <a:rPr spc="-33" dirty="0"/>
              <a:t>LM)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635" y="1070976"/>
            <a:ext cx="11020212" cy="4858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007C92"/>
                </a:solidFill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Khandelwal</a:t>
            </a:r>
            <a:r>
              <a:rPr sz="2667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ICLR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2020</a:t>
            </a:r>
            <a:r>
              <a:rPr sz="2667" spc="-13" dirty="0">
                <a:solidFill>
                  <a:srgbClr val="007C92"/>
                </a:solidFill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  <a:p>
            <a:pPr marL="359824" marR="410623" indent="-342891">
              <a:lnSpc>
                <a:spcPts val="2813"/>
              </a:lnSpc>
              <a:spcBef>
                <a:spcPts val="198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idea: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learning similarities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between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text sequences</a:t>
            </a:r>
            <a:r>
              <a:rPr sz="2400" spc="-3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word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00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  <a:tab pos="6067908" algn="l"/>
                <a:tab pos="9562014" algn="l"/>
              </a:tabLst>
            </a:pPr>
            <a:r>
              <a:rPr sz="2400" dirty="0">
                <a:latin typeface="Calibri"/>
                <a:cs typeface="Calibri"/>
              </a:rPr>
              <a:t>Example: </a:t>
            </a:r>
            <a:r>
              <a:rPr sz="2400" i="1" dirty="0">
                <a:latin typeface="Calibri"/>
                <a:cs typeface="Calibri"/>
              </a:rPr>
              <a:t>“Dickens is the author of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i="1" dirty="0">
                <a:latin typeface="Calibri"/>
                <a:cs typeface="Calibri"/>
              </a:rPr>
              <a:t>”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≈</a:t>
            </a:r>
            <a:r>
              <a:rPr sz="2400" spc="553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Calibri"/>
                <a:cs typeface="Calibri"/>
              </a:rPr>
              <a:t>“Dickens </a:t>
            </a:r>
            <a:r>
              <a:rPr sz="2400" i="1" spc="-13" dirty="0">
                <a:latin typeface="Calibri"/>
                <a:cs typeface="Calibri"/>
              </a:rPr>
              <a:t>wrote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i="1" spc="-67" dirty="0">
                <a:latin typeface="Calibri"/>
                <a:cs typeface="Calibri"/>
              </a:rPr>
              <a:t>”</a:t>
            </a:r>
            <a:endParaRPr sz="2400" dirty="0">
              <a:latin typeface="Calibri"/>
              <a:cs typeface="Calibri"/>
            </a:endParaRPr>
          </a:p>
          <a:p>
            <a:pPr marL="702716" marR="6773" lvl="1" indent="-228594">
              <a:lnSpc>
                <a:spcPct val="102200"/>
              </a:lnSpc>
              <a:spcBef>
                <a:spcPts val="512"/>
              </a:spcBef>
              <a:buClr>
                <a:srgbClr val="007C92"/>
              </a:buClr>
              <a:buFont typeface="Times New Roman"/>
              <a:buChar char="•"/>
              <a:tabLst>
                <a:tab pos="702716" algn="l"/>
              </a:tabLst>
            </a:pPr>
            <a:r>
              <a:rPr sz="2400" dirty="0">
                <a:latin typeface="Calibri"/>
                <a:cs typeface="Calibri"/>
              </a:rPr>
              <a:t>Qualitatively,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researchers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 this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 for</a:t>
            </a:r>
            <a:r>
              <a:rPr sz="2400" spc="-13" dirty="0">
                <a:latin typeface="Calibri"/>
                <a:cs typeface="Calibri"/>
              </a:rPr>
              <a:t> “long-</a:t>
            </a:r>
            <a:r>
              <a:rPr sz="2400" dirty="0">
                <a:latin typeface="Calibri"/>
                <a:cs typeface="Calibri"/>
              </a:rPr>
              <a:t>tail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patterns”,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rare </a:t>
            </a:r>
            <a:r>
              <a:rPr sz="2400" spc="-13" dirty="0">
                <a:latin typeface="Calibri"/>
                <a:cs typeface="Calibri"/>
              </a:rPr>
              <a:t>facts</a:t>
            </a:r>
            <a:endParaRPr sz="2400" dirty="0">
              <a:latin typeface="Calibri"/>
              <a:cs typeface="Calibri"/>
            </a:endParaRPr>
          </a:p>
          <a:p>
            <a:pPr marL="358978" indent="-342045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 all representations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 nearest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neighbor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datastore!</a:t>
            </a:r>
            <a:endParaRPr sz="2400" dirty="0">
              <a:latin typeface="Calibri"/>
              <a:cs typeface="Calibri"/>
            </a:endParaRPr>
          </a:p>
          <a:p>
            <a:pPr marL="358978" indent="-342045">
              <a:spcBef>
                <a:spcPts val="6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inference:</a:t>
            </a:r>
            <a:endParaRPr sz="2400" dirty="0">
              <a:latin typeface="Calibri"/>
              <a:cs typeface="Calibri"/>
            </a:endParaRPr>
          </a:p>
          <a:p>
            <a:pPr marL="816166" indent="-456342">
              <a:spcBef>
                <a:spcPts val="579"/>
              </a:spcBef>
              <a:buClr>
                <a:srgbClr val="007C92"/>
              </a:buClr>
              <a:buAutoNum type="arabicPeriod"/>
              <a:tabLst>
                <a:tab pos="816166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i="1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datastore</a:t>
            </a:r>
            <a:endParaRPr sz="2400" dirty="0">
              <a:latin typeface="Calibri"/>
              <a:cs typeface="Calibri"/>
            </a:endParaRPr>
          </a:p>
          <a:p>
            <a:pPr marL="816166" indent="-456342">
              <a:spcBef>
                <a:spcPts val="573"/>
              </a:spcBef>
              <a:buClr>
                <a:srgbClr val="007C92"/>
              </a:buClr>
              <a:buAutoNum type="arabicPeriod"/>
              <a:tabLst>
                <a:tab pos="816166" algn="l"/>
              </a:tabLst>
            </a:pPr>
            <a:r>
              <a:rPr sz="2400" dirty="0">
                <a:latin typeface="Calibri"/>
                <a:cs typeface="Calibri"/>
              </a:rPr>
              <a:t>Retrieve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word) 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i="1" dirty="0">
                <a:latin typeface="Calibri"/>
                <a:cs typeface="Calibri"/>
              </a:rPr>
              <a:t>k</a:t>
            </a:r>
            <a:r>
              <a:rPr sz="2400" i="1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sequences</a:t>
            </a:r>
            <a:endParaRPr sz="2400" dirty="0">
              <a:latin typeface="Calibri"/>
              <a:cs typeface="Calibri"/>
            </a:endParaRPr>
          </a:p>
          <a:p>
            <a:pPr marL="816166" indent="-456342">
              <a:spcBef>
                <a:spcPts val="447"/>
              </a:spcBef>
              <a:buClr>
                <a:srgbClr val="007C92"/>
              </a:buClr>
              <a:buAutoNum type="arabicPeriod"/>
              <a:tabLst>
                <a:tab pos="816166" algn="l"/>
              </a:tabLst>
            </a:pPr>
            <a:r>
              <a:rPr sz="2400" dirty="0">
                <a:latin typeface="Calibri"/>
                <a:cs typeface="Calibri"/>
              </a:rPr>
              <a:t>Combine the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kNN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probabilities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and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LM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probabilities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final </a:t>
            </a:r>
            <a:r>
              <a:rPr sz="2400" spc="-13" dirty="0">
                <a:latin typeface="Calibri"/>
                <a:cs typeface="Calibri"/>
              </a:rPr>
              <a:t>prediction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35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20955" y="5929849"/>
            <a:ext cx="645160" cy="282787"/>
          </a:xfrm>
          <a:custGeom>
            <a:avLst/>
            <a:gdLst/>
            <a:ahLst/>
            <a:cxnLst/>
            <a:rect l="l" t="t" r="r" b="b"/>
            <a:pathLst>
              <a:path w="483870" h="212089">
                <a:moveTo>
                  <a:pt x="252061" y="2007"/>
                </a:moveTo>
                <a:lnTo>
                  <a:pt x="234872" y="2007"/>
                </a:lnTo>
                <a:lnTo>
                  <a:pt x="234872" y="209734"/>
                </a:lnTo>
                <a:lnTo>
                  <a:pt x="252061" y="209734"/>
                </a:lnTo>
                <a:lnTo>
                  <a:pt x="252061" y="2007"/>
                </a:lnTo>
                <a:close/>
              </a:path>
              <a:path w="483870" h="212089">
                <a:moveTo>
                  <a:pt x="416043" y="0"/>
                </a:moveTo>
                <a:lnTo>
                  <a:pt x="413029" y="8594"/>
                </a:lnTo>
                <a:lnTo>
                  <a:pt x="425286" y="13914"/>
                </a:lnTo>
                <a:lnTo>
                  <a:pt x="435827" y="21277"/>
                </a:lnTo>
                <a:lnTo>
                  <a:pt x="457230" y="55409"/>
                </a:lnTo>
                <a:lnTo>
                  <a:pt x="464262" y="104812"/>
                </a:lnTo>
                <a:lnTo>
                  <a:pt x="463477" y="123487"/>
                </a:lnTo>
                <a:lnTo>
                  <a:pt x="451705" y="169217"/>
                </a:lnTo>
                <a:lnTo>
                  <a:pt x="425428" y="197806"/>
                </a:lnTo>
                <a:lnTo>
                  <a:pt x="413363" y="203150"/>
                </a:lnTo>
                <a:lnTo>
                  <a:pt x="416043" y="211745"/>
                </a:lnTo>
                <a:lnTo>
                  <a:pt x="456498" y="187708"/>
                </a:lnTo>
                <a:lnTo>
                  <a:pt x="479220" y="143335"/>
                </a:lnTo>
                <a:lnTo>
                  <a:pt x="483574" y="105928"/>
                </a:lnTo>
                <a:lnTo>
                  <a:pt x="482482" y="86516"/>
                </a:lnTo>
                <a:lnTo>
                  <a:pt x="466105" y="37113"/>
                </a:lnTo>
                <a:lnTo>
                  <a:pt x="431394" y="5542"/>
                </a:lnTo>
                <a:lnTo>
                  <a:pt x="416043" y="0"/>
                </a:lnTo>
                <a:close/>
              </a:path>
              <a:path w="48387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2249" y="5929849"/>
            <a:ext cx="645160" cy="282787"/>
          </a:xfrm>
          <a:custGeom>
            <a:avLst/>
            <a:gdLst/>
            <a:ahLst/>
            <a:cxnLst/>
            <a:rect l="l" t="t" r="r" b="b"/>
            <a:pathLst>
              <a:path w="483870" h="212089">
                <a:moveTo>
                  <a:pt x="252061" y="2007"/>
                </a:moveTo>
                <a:lnTo>
                  <a:pt x="234872" y="2007"/>
                </a:lnTo>
                <a:lnTo>
                  <a:pt x="234872" y="209734"/>
                </a:lnTo>
                <a:lnTo>
                  <a:pt x="252061" y="209734"/>
                </a:lnTo>
                <a:lnTo>
                  <a:pt x="252061" y="2007"/>
                </a:lnTo>
                <a:close/>
              </a:path>
              <a:path w="483870" h="212089">
                <a:moveTo>
                  <a:pt x="416043" y="0"/>
                </a:moveTo>
                <a:lnTo>
                  <a:pt x="413029" y="8594"/>
                </a:lnTo>
                <a:lnTo>
                  <a:pt x="425286" y="13914"/>
                </a:lnTo>
                <a:lnTo>
                  <a:pt x="435827" y="21277"/>
                </a:lnTo>
                <a:lnTo>
                  <a:pt x="457230" y="55409"/>
                </a:lnTo>
                <a:lnTo>
                  <a:pt x="464262" y="104812"/>
                </a:lnTo>
                <a:lnTo>
                  <a:pt x="463477" y="123487"/>
                </a:lnTo>
                <a:lnTo>
                  <a:pt x="451705" y="169217"/>
                </a:lnTo>
                <a:lnTo>
                  <a:pt x="425428" y="197806"/>
                </a:lnTo>
                <a:lnTo>
                  <a:pt x="413363" y="203150"/>
                </a:lnTo>
                <a:lnTo>
                  <a:pt x="416043" y="211745"/>
                </a:lnTo>
                <a:lnTo>
                  <a:pt x="456498" y="187708"/>
                </a:lnTo>
                <a:lnTo>
                  <a:pt x="479219" y="143335"/>
                </a:lnTo>
                <a:lnTo>
                  <a:pt x="483572" y="105928"/>
                </a:lnTo>
                <a:lnTo>
                  <a:pt x="482481" y="86516"/>
                </a:lnTo>
                <a:lnTo>
                  <a:pt x="466103" y="37113"/>
                </a:lnTo>
                <a:lnTo>
                  <a:pt x="431394" y="5542"/>
                </a:lnTo>
                <a:lnTo>
                  <a:pt x="416043" y="0"/>
                </a:lnTo>
                <a:close/>
              </a:path>
              <a:path w="48387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63331" y="5929849"/>
            <a:ext cx="645160" cy="282787"/>
          </a:xfrm>
          <a:custGeom>
            <a:avLst/>
            <a:gdLst/>
            <a:ahLst/>
            <a:cxnLst/>
            <a:rect l="l" t="t" r="r" b="b"/>
            <a:pathLst>
              <a:path w="483870" h="212089">
                <a:moveTo>
                  <a:pt x="252061" y="2007"/>
                </a:moveTo>
                <a:lnTo>
                  <a:pt x="234872" y="2007"/>
                </a:lnTo>
                <a:lnTo>
                  <a:pt x="234872" y="209734"/>
                </a:lnTo>
                <a:lnTo>
                  <a:pt x="252061" y="209734"/>
                </a:lnTo>
                <a:lnTo>
                  <a:pt x="252061" y="2007"/>
                </a:lnTo>
                <a:close/>
              </a:path>
              <a:path w="483870" h="212089">
                <a:moveTo>
                  <a:pt x="416041" y="0"/>
                </a:moveTo>
                <a:lnTo>
                  <a:pt x="413028" y="8594"/>
                </a:lnTo>
                <a:lnTo>
                  <a:pt x="425285" y="13914"/>
                </a:lnTo>
                <a:lnTo>
                  <a:pt x="435827" y="21277"/>
                </a:lnTo>
                <a:lnTo>
                  <a:pt x="457230" y="55409"/>
                </a:lnTo>
                <a:lnTo>
                  <a:pt x="464262" y="104812"/>
                </a:lnTo>
                <a:lnTo>
                  <a:pt x="463477" y="123487"/>
                </a:lnTo>
                <a:lnTo>
                  <a:pt x="451704" y="169217"/>
                </a:lnTo>
                <a:lnTo>
                  <a:pt x="425428" y="197806"/>
                </a:lnTo>
                <a:lnTo>
                  <a:pt x="413363" y="203150"/>
                </a:lnTo>
                <a:lnTo>
                  <a:pt x="416041" y="211745"/>
                </a:lnTo>
                <a:lnTo>
                  <a:pt x="456497" y="187708"/>
                </a:lnTo>
                <a:lnTo>
                  <a:pt x="479219" y="143335"/>
                </a:lnTo>
                <a:lnTo>
                  <a:pt x="483572" y="105928"/>
                </a:lnTo>
                <a:lnTo>
                  <a:pt x="482481" y="86516"/>
                </a:lnTo>
                <a:lnTo>
                  <a:pt x="466103" y="37113"/>
                </a:lnTo>
                <a:lnTo>
                  <a:pt x="431393" y="5542"/>
                </a:lnTo>
                <a:lnTo>
                  <a:pt x="416041" y="0"/>
                </a:lnTo>
                <a:close/>
              </a:path>
              <a:path w="48387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47534" y="5626059"/>
            <a:ext cx="7756313" cy="997774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50799">
              <a:spcBef>
                <a:spcPts val="1560"/>
              </a:spcBef>
              <a:tabLst>
                <a:tab pos="1029521" algn="l"/>
                <a:tab pos="2983579" algn="l"/>
              </a:tabLst>
            </a:pP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1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272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	=</a:t>
            </a:r>
            <a:r>
              <a:rPr sz="2400" spc="6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𝜆𝑃</a:t>
            </a:r>
            <a:r>
              <a:rPr sz="2600" baseline="-17094" dirty="0">
                <a:latin typeface="Cambria Math"/>
                <a:cs typeface="Cambria Math"/>
              </a:rPr>
              <a:t>𝑘𝑁𝑁</a:t>
            </a:r>
            <a:r>
              <a:rPr sz="2600" spc="260" baseline="-17094" dirty="0">
                <a:latin typeface="Cambria Math"/>
                <a:cs typeface="Cambria Math"/>
              </a:rPr>
              <a:t> 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267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𝑥</a:t>
            </a:r>
            <a:r>
              <a:rPr sz="2400" dirty="0">
                <a:latin typeface="Cambria Math"/>
                <a:cs typeface="Cambria Math"/>
              </a:rPr>
              <a:t>	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(1</a:t>
            </a:r>
            <a:r>
              <a:rPr sz="2400" spc="-1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𝜆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600" baseline="-17094" dirty="0">
                <a:latin typeface="Cambria Math"/>
                <a:cs typeface="Cambria Math"/>
              </a:rPr>
              <a:t>𝐿𝑀</a:t>
            </a:r>
            <a:r>
              <a:rPr sz="2600" spc="260" baseline="-17094" dirty="0">
                <a:latin typeface="Cambria Math"/>
                <a:cs typeface="Cambria Math"/>
              </a:rPr>
              <a:t> 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240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𝑥</a:t>
            </a:r>
            <a:endParaRPr sz="2400" dirty="0">
              <a:latin typeface="Cambria Math"/>
              <a:cs typeface="Cambria Math"/>
            </a:endParaRPr>
          </a:p>
          <a:p>
            <a:pPr marL="4625223">
              <a:spcBef>
                <a:spcPts val="1107"/>
              </a:spcBef>
            </a:pPr>
            <a:r>
              <a:rPr sz="1867" dirty="0">
                <a:latin typeface="Calibri"/>
                <a:cs typeface="Calibri"/>
              </a:rPr>
              <a:t>[1]</a:t>
            </a:r>
            <a:r>
              <a:rPr sz="1867" spc="-13" dirty="0">
                <a:latin typeface="Calibri"/>
                <a:cs typeface="Calibri"/>
              </a:rPr>
              <a:t> </a:t>
            </a:r>
            <a:r>
              <a:rPr sz="1867" dirty="0">
                <a:latin typeface="Cambria Math"/>
                <a:cs typeface="Cambria Math"/>
              </a:rPr>
              <a:t>𝜆</a:t>
            </a:r>
            <a:r>
              <a:rPr sz="1867" spc="33" dirty="0">
                <a:latin typeface="Cambria Math"/>
                <a:cs typeface="Cambria Math"/>
              </a:rPr>
              <a:t> </a:t>
            </a:r>
            <a:r>
              <a:rPr sz="1867" dirty="0">
                <a:latin typeface="Calibri"/>
                <a:cs typeface="Calibri"/>
              </a:rPr>
              <a:t>is</a:t>
            </a:r>
            <a:r>
              <a:rPr sz="1867" spc="-7" dirty="0">
                <a:latin typeface="Calibri"/>
                <a:cs typeface="Calibri"/>
              </a:rPr>
              <a:t> </a:t>
            </a:r>
            <a:r>
              <a:rPr sz="1867" dirty="0">
                <a:latin typeface="Calibri"/>
                <a:cs typeface="Calibri"/>
              </a:rPr>
              <a:t>a tuned</a:t>
            </a:r>
            <a:r>
              <a:rPr sz="1867" spc="-7" dirty="0">
                <a:latin typeface="Calibri"/>
                <a:cs typeface="Calibri"/>
              </a:rPr>
              <a:t> </a:t>
            </a:r>
            <a:r>
              <a:rPr sz="1867" spc="-13" dirty="0">
                <a:latin typeface="Calibri"/>
                <a:cs typeface="Calibri"/>
              </a:rPr>
              <a:t>hyperparameter</a:t>
            </a:r>
            <a:endParaRPr sz="1867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1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37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b="0" dirty="0">
                <a:latin typeface="Calibri"/>
                <a:cs typeface="Calibri"/>
              </a:rPr>
              <a:t>More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recent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takes:</a:t>
            </a:r>
            <a:r>
              <a:rPr spc="-33" dirty="0">
                <a:latin typeface="Calibri"/>
                <a:cs typeface="Calibri"/>
              </a:rPr>
              <a:t> </a:t>
            </a:r>
            <a:r>
              <a:rPr dirty="0"/>
              <a:t>Nearest</a:t>
            </a:r>
            <a:r>
              <a:rPr spc="-13" dirty="0"/>
              <a:t> </a:t>
            </a:r>
            <a:r>
              <a:rPr dirty="0"/>
              <a:t>Neighbor</a:t>
            </a:r>
            <a:r>
              <a:rPr spc="-27" dirty="0"/>
              <a:t> </a:t>
            </a:r>
            <a:r>
              <a:rPr dirty="0"/>
              <a:t>Language</a:t>
            </a:r>
            <a:r>
              <a:rPr spc="-20" dirty="0"/>
              <a:t> </a:t>
            </a:r>
            <a:r>
              <a:rPr dirty="0"/>
              <a:t>Models</a:t>
            </a:r>
            <a:r>
              <a:rPr spc="-13" dirty="0"/>
              <a:t> (kNN-</a:t>
            </a:r>
            <a:r>
              <a:rPr spc="-33" dirty="0"/>
              <a:t>LM)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87932" y="2875519"/>
            <a:ext cx="1579033" cy="1931247"/>
            <a:chOff x="2540948" y="2156639"/>
            <a:chExt cx="1184275" cy="1448435"/>
          </a:xfrm>
        </p:grpSpPr>
        <p:sp>
          <p:nvSpPr>
            <p:cNvPr id="5" name="object 5"/>
            <p:cNvSpPr/>
            <p:nvPr/>
          </p:nvSpPr>
          <p:spPr>
            <a:xfrm>
              <a:off x="2545393" y="2584618"/>
              <a:ext cx="1175385" cy="1016000"/>
            </a:xfrm>
            <a:custGeom>
              <a:avLst/>
              <a:gdLst/>
              <a:ahLst/>
              <a:cxnLst/>
              <a:rect l="l" t="t" r="r" b="b"/>
              <a:pathLst>
                <a:path w="1175385" h="1016000">
                  <a:moveTo>
                    <a:pt x="1174843" y="0"/>
                  </a:moveTo>
                  <a:lnTo>
                    <a:pt x="0" y="0"/>
                  </a:lnTo>
                  <a:lnTo>
                    <a:pt x="0" y="1015400"/>
                  </a:lnTo>
                  <a:lnTo>
                    <a:pt x="1174843" y="1015400"/>
                  </a:lnTo>
                  <a:lnTo>
                    <a:pt x="1174843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45393" y="2584618"/>
              <a:ext cx="1175385" cy="1016000"/>
            </a:xfrm>
            <a:custGeom>
              <a:avLst/>
              <a:gdLst/>
              <a:ahLst/>
              <a:cxnLst/>
              <a:rect l="l" t="t" r="r" b="b"/>
              <a:pathLst>
                <a:path w="1175385" h="1016000">
                  <a:moveTo>
                    <a:pt x="0" y="0"/>
                  </a:moveTo>
                  <a:lnTo>
                    <a:pt x="1174843" y="0"/>
                  </a:lnTo>
                  <a:lnTo>
                    <a:pt x="1174843" y="1015400"/>
                  </a:lnTo>
                  <a:lnTo>
                    <a:pt x="0" y="1015400"/>
                  </a:lnTo>
                  <a:lnTo>
                    <a:pt x="0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45393" y="2156639"/>
              <a:ext cx="1166495" cy="436880"/>
            </a:xfrm>
            <a:custGeom>
              <a:avLst/>
              <a:gdLst/>
              <a:ahLst/>
              <a:cxnLst/>
              <a:rect l="l" t="t" r="r" b="b"/>
              <a:pathLst>
                <a:path w="1166495" h="436880">
                  <a:moveTo>
                    <a:pt x="1166451" y="0"/>
                  </a:moveTo>
                  <a:lnTo>
                    <a:pt x="0" y="0"/>
                  </a:lnTo>
                  <a:lnTo>
                    <a:pt x="0" y="436370"/>
                  </a:lnTo>
                  <a:lnTo>
                    <a:pt x="1166451" y="436370"/>
                  </a:lnTo>
                  <a:lnTo>
                    <a:pt x="11664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387931" y="5051446"/>
            <a:ext cx="1567180" cy="952500"/>
            <a:chOff x="2540948" y="3788584"/>
            <a:chExt cx="1175385" cy="714375"/>
          </a:xfrm>
        </p:grpSpPr>
        <p:sp>
          <p:nvSpPr>
            <p:cNvPr id="9" name="object 9"/>
            <p:cNvSpPr/>
            <p:nvPr/>
          </p:nvSpPr>
          <p:spPr>
            <a:xfrm>
              <a:off x="2545393" y="4229399"/>
              <a:ext cx="1166495" cy="268605"/>
            </a:xfrm>
            <a:custGeom>
              <a:avLst/>
              <a:gdLst/>
              <a:ahLst/>
              <a:cxnLst/>
              <a:rect l="l" t="t" r="r" b="b"/>
              <a:pathLst>
                <a:path w="1166495" h="268604">
                  <a:moveTo>
                    <a:pt x="1166451" y="0"/>
                  </a:moveTo>
                  <a:lnTo>
                    <a:pt x="0" y="0"/>
                  </a:lnTo>
                  <a:lnTo>
                    <a:pt x="0" y="268535"/>
                  </a:lnTo>
                  <a:lnTo>
                    <a:pt x="1166451" y="268535"/>
                  </a:lnTo>
                  <a:lnTo>
                    <a:pt x="1166451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45393" y="3793029"/>
              <a:ext cx="1166495" cy="705485"/>
            </a:xfrm>
            <a:custGeom>
              <a:avLst/>
              <a:gdLst/>
              <a:ahLst/>
              <a:cxnLst/>
              <a:rect l="l" t="t" r="r" b="b"/>
              <a:pathLst>
                <a:path w="1166495" h="705485">
                  <a:moveTo>
                    <a:pt x="0" y="436370"/>
                  </a:moveTo>
                  <a:lnTo>
                    <a:pt x="1166452" y="436370"/>
                  </a:lnTo>
                  <a:lnTo>
                    <a:pt x="1166452" y="704906"/>
                  </a:lnTo>
                  <a:lnTo>
                    <a:pt x="0" y="704906"/>
                  </a:lnTo>
                  <a:lnTo>
                    <a:pt x="0" y="436370"/>
                  </a:lnTo>
                  <a:close/>
                </a:path>
                <a:path w="1166495" h="705485">
                  <a:moveTo>
                    <a:pt x="0" y="0"/>
                  </a:moveTo>
                  <a:lnTo>
                    <a:pt x="1166452" y="0"/>
                  </a:lnTo>
                  <a:lnTo>
                    <a:pt x="1166452" y="436370"/>
                  </a:lnTo>
                  <a:lnTo>
                    <a:pt x="0" y="436370"/>
                  </a:lnTo>
                  <a:lnTo>
                    <a:pt x="0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11992" y="2869926"/>
          <a:ext cx="2909147" cy="1924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660"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Training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Contexts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Targets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Shakespeare</a:t>
                      </a:r>
                      <a:r>
                        <a:rPr sz="14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20" dirty="0">
                          <a:latin typeface="Arial"/>
                          <a:cs typeface="Arial"/>
                        </a:rPr>
                        <a:t>wrote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Dickens</a:t>
                      </a:r>
                      <a:r>
                        <a:rPr sz="14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latin typeface="Arial"/>
                          <a:cs typeface="Arial"/>
                        </a:rPr>
                        <a:t>is the</a:t>
                      </a:r>
                      <a:r>
                        <a:rPr sz="140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latin typeface="Arial"/>
                          <a:cs typeface="Arial"/>
                        </a:rPr>
                        <a:t>author </a:t>
                      </a:r>
                      <a:r>
                        <a:rPr sz="1400" i="1" spc="-25" dirty="0">
                          <a:latin typeface="Arial"/>
                          <a:cs typeface="Arial"/>
                        </a:rPr>
                        <a:t>of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Oliver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latin typeface="Arial"/>
                          <a:cs typeface="Arial"/>
                        </a:rPr>
                        <a:t>Bard’s</a:t>
                      </a:r>
                      <a:r>
                        <a:rPr sz="14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latin typeface="Arial"/>
                          <a:cs typeface="Arial"/>
                        </a:rPr>
                        <a:t>famous</a:t>
                      </a:r>
                      <a:r>
                        <a:rPr sz="14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20" dirty="0">
                          <a:latin typeface="Arial"/>
                          <a:cs typeface="Arial"/>
                        </a:rPr>
                        <a:t>play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Shakespeare</a:t>
                      </a:r>
                      <a:r>
                        <a:rPr sz="14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10" dirty="0">
                          <a:latin typeface="Arial"/>
                          <a:cs typeface="Arial"/>
                        </a:rPr>
                        <a:t>authored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393859" y="2875520"/>
            <a:ext cx="1567180" cy="227412"/>
          </a:xfrm>
          <a:prstGeom prst="rect">
            <a:avLst/>
          </a:prstGeom>
          <a:ln w="8391">
            <a:solidFill>
              <a:srgbClr val="000000"/>
            </a:solidFill>
          </a:ln>
        </p:spPr>
        <p:txBody>
          <a:bodyPr vert="horz" wrap="square" lIns="0" tIns="11853" rIns="0" bIns="0" rtlCol="0">
            <a:spAutoFit/>
          </a:bodyPr>
          <a:lstStyle/>
          <a:p>
            <a:pPr marL="76198">
              <a:spcBef>
                <a:spcPts val="93"/>
              </a:spcBef>
            </a:pPr>
            <a:r>
              <a:rPr sz="1400" b="1" spc="-13" dirty="0">
                <a:latin typeface="Arial"/>
                <a:cs typeface="Arial"/>
              </a:rPr>
              <a:t>Representations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9553" y="3457348"/>
            <a:ext cx="973667" cy="1288750"/>
          </a:xfrm>
          <a:prstGeom prst="rect">
            <a:avLst/>
          </a:prstGeom>
          <a:solidFill>
            <a:srgbClr val="BFFFBF"/>
          </a:solidFill>
          <a:ln w="8391">
            <a:solidFill>
              <a:srgbClr val="000000"/>
            </a:solidFill>
          </a:ln>
        </p:spPr>
        <p:txBody>
          <a:bodyPr vert="horz" wrap="square" lIns="0" tIns="86359" rIns="0" bIns="0" rtlCol="0">
            <a:spAutoFit/>
          </a:bodyPr>
          <a:lstStyle/>
          <a:p>
            <a:pPr algn="ctr">
              <a:spcBef>
                <a:spcPts val="679"/>
              </a:spcBef>
            </a:pPr>
            <a:r>
              <a:rPr sz="1400" i="1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algn="ctr">
              <a:spcBef>
                <a:spcPts val="260"/>
              </a:spcBef>
            </a:pPr>
            <a:r>
              <a:rPr sz="1400" i="1" spc="-33" dirty="0">
                <a:latin typeface="Arial"/>
                <a:cs typeface="Arial"/>
              </a:rPr>
              <a:t>100</a:t>
            </a:r>
            <a:endParaRPr sz="1400">
              <a:latin typeface="Arial"/>
              <a:cs typeface="Arial"/>
            </a:endParaRPr>
          </a:p>
          <a:p>
            <a:pPr algn="ctr">
              <a:spcBef>
                <a:spcPts val="260"/>
              </a:spcBef>
            </a:pPr>
            <a:r>
              <a:rPr sz="1400" i="1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  <a:p>
            <a:pPr marL="397077" marR="386917" algn="ctr">
              <a:lnSpc>
                <a:spcPct val="115599"/>
              </a:lnSpc>
            </a:pPr>
            <a:r>
              <a:rPr sz="1400" i="1" spc="-67" dirty="0">
                <a:latin typeface="Arial"/>
                <a:cs typeface="Arial"/>
              </a:rPr>
              <a:t>… 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9553" y="2875520"/>
            <a:ext cx="973667" cy="227412"/>
          </a:xfrm>
          <a:prstGeom prst="rect">
            <a:avLst/>
          </a:prstGeom>
          <a:ln w="8391">
            <a:solidFill>
              <a:srgbClr val="000000"/>
            </a:solidFill>
          </a:ln>
        </p:spPr>
        <p:txBody>
          <a:bodyPr vert="horz" wrap="square" lIns="0" tIns="11853" rIns="0" bIns="0" rtlCol="0">
            <a:spAutoFit/>
          </a:bodyPr>
          <a:lstStyle/>
          <a:p>
            <a:pPr marL="61805">
              <a:spcBef>
                <a:spcPts val="93"/>
              </a:spcBef>
            </a:pPr>
            <a:r>
              <a:rPr sz="1400" b="1" spc="-13" dirty="0">
                <a:latin typeface="Arial"/>
                <a:cs typeface="Arial"/>
              </a:rPr>
              <a:t>Distances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8591144" y="2903493"/>
          <a:ext cx="1297940" cy="139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Normalization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170142" y="2869926"/>
          <a:ext cx="1305559" cy="1431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660"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Nearest</a:t>
                      </a:r>
                      <a:r>
                        <a:rPr sz="1400" b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50" dirty="0">
                          <a:latin typeface="Arial"/>
                          <a:cs typeface="Arial"/>
                        </a:rPr>
                        <a:t>k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F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BFF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 row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3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0459705" y="2914681"/>
          <a:ext cx="1297940" cy="11413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787"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Aggregation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887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6319779" y="3656861"/>
            <a:ext cx="902547" cy="1003300"/>
            <a:chOff x="4739834" y="2742645"/>
            <a:chExt cx="676910" cy="752475"/>
          </a:xfrm>
        </p:grpSpPr>
        <p:sp>
          <p:nvSpPr>
            <p:cNvPr id="19" name="object 19"/>
            <p:cNvSpPr/>
            <p:nvPr/>
          </p:nvSpPr>
          <p:spPr>
            <a:xfrm>
              <a:off x="4744030" y="2793876"/>
              <a:ext cx="621030" cy="697230"/>
            </a:xfrm>
            <a:custGeom>
              <a:avLst/>
              <a:gdLst/>
              <a:ahLst/>
              <a:cxnLst/>
              <a:rect l="l" t="t" r="r" b="b"/>
              <a:pathLst>
                <a:path w="621029" h="697229">
                  <a:moveTo>
                    <a:pt x="0" y="697050"/>
                  </a:moveTo>
                  <a:lnTo>
                    <a:pt x="62045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2647" y="2742645"/>
              <a:ext cx="73932" cy="7338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44030" y="2760845"/>
              <a:ext cx="585470" cy="155575"/>
            </a:xfrm>
            <a:custGeom>
              <a:avLst/>
              <a:gdLst/>
              <a:ahLst/>
              <a:cxnLst/>
              <a:rect l="l" t="t" r="r" b="b"/>
              <a:pathLst>
                <a:path w="585470" h="155575">
                  <a:moveTo>
                    <a:pt x="0" y="0"/>
                  </a:moveTo>
                  <a:lnTo>
                    <a:pt x="585124" y="155539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20342" y="2892802"/>
              <a:ext cx="71755" cy="47625"/>
            </a:xfrm>
            <a:custGeom>
              <a:avLst/>
              <a:gdLst/>
              <a:ahLst/>
              <a:cxnLst/>
              <a:rect l="l" t="t" r="r" b="b"/>
              <a:pathLst>
                <a:path w="71754" h="47625">
                  <a:moveTo>
                    <a:pt x="17623" y="0"/>
                  </a:moveTo>
                  <a:lnTo>
                    <a:pt x="0" y="47165"/>
                  </a:lnTo>
                  <a:lnTo>
                    <a:pt x="71699" y="47080"/>
                  </a:lnTo>
                  <a:lnTo>
                    <a:pt x="176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0343" y="2892802"/>
              <a:ext cx="71755" cy="47625"/>
            </a:xfrm>
            <a:custGeom>
              <a:avLst/>
              <a:gdLst/>
              <a:ahLst/>
              <a:cxnLst/>
              <a:rect l="l" t="t" r="r" b="b"/>
              <a:pathLst>
                <a:path w="71754" h="47625">
                  <a:moveTo>
                    <a:pt x="71699" y="47081"/>
                  </a:moveTo>
                  <a:lnTo>
                    <a:pt x="17623" y="0"/>
                  </a:lnTo>
                  <a:lnTo>
                    <a:pt x="0" y="47165"/>
                  </a:lnTo>
                  <a:lnTo>
                    <a:pt x="71699" y="47081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44030" y="3104906"/>
              <a:ext cx="588645" cy="7620"/>
            </a:xfrm>
            <a:custGeom>
              <a:avLst/>
              <a:gdLst/>
              <a:ahLst/>
              <a:cxnLst/>
              <a:rect l="l" t="t" r="r" b="b"/>
              <a:pathLst>
                <a:path w="588645" h="7619">
                  <a:moveTo>
                    <a:pt x="0" y="0"/>
                  </a:moveTo>
                  <a:lnTo>
                    <a:pt x="588267" y="7353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1983" y="3087086"/>
              <a:ext cx="67945" cy="50800"/>
            </a:xfrm>
            <a:custGeom>
              <a:avLst/>
              <a:gdLst/>
              <a:ahLst/>
              <a:cxnLst/>
              <a:rect l="l" t="t" r="r" b="b"/>
              <a:pathLst>
                <a:path w="67945" h="50800">
                  <a:moveTo>
                    <a:pt x="628" y="0"/>
                  </a:moveTo>
                  <a:lnTo>
                    <a:pt x="0" y="50346"/>
                  </a:lnTo>
                  <a:lnTo>
                    <a:pt x="67442" y="26012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1983" y="3087086"/>
              <a:ext cx="67945" cy="50800"/>
            </a:xfrm>
            <a:custGeom>
              <a:avLst/>
              <a:gdLst/>
              <a:ahLst/>
              <a:cxnLst/>
              <a:rect l="l" t="t" r="r" b="b"/>
              <a:pathLst>
                <a:path w="67945" h="50800">
                  <a:moveTo>
                    <a:pt x="67442" y="26012"/>
                  </a:moveTo>
                  <a:lnTo>
                    <a:pt x="629" y="0"/>
                  </a:lnTo>
                  <a:lnTo>
                    <a:pt x="0" y="50346"/>
                  </a:lnTo>
                  <a:lnTo>
                    <a:pt x="67442" y="26012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8864" y="3155245"/>
            <a:ext cx="1167117" cy="29091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6249" y="3212469"/>
            <a:ext cx="1127504" cy="1678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2171" y="3211189"/>
            <a:ext cx="125316" cy="89511"/>
          </a:xfrm>
          <a:prstGeom prst="rect">
            <a:avLst/>
          </a:prstGeom>
        </p:spPr>
      </p:pic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11992" y="5051778"/>
          <a:ext cx="2908300" cy="940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660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Context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Target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7"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Shakespeare’s</a:t>
                      </a:r>
                      <a:r>
                        <a:rPr sz="14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20" dirty="0">
                          <a:latin typeface="Arial"/>
                          <a:cs typeface="Arial"/>
                        </a:rPr>
                        <a:t>play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?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51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3501481" y="5051628"/>
            <a:ext cx="1340273" cy="23339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00" b="1" spc="-13" dirty="0">
                <a:latin typeface="Arial"/>
                <a:cs typeface="Arial"/>
              </a:rPr>
              <a:t>Representation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26477" y="3166434"/>
            <a:ext cx="1565487" cy="1606127"/>
            <a:chOff x="2794857" y="2374825"/>
            <a:chExt cx="1174115" cy="1204595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99727" y="2374825"/>
              <a:ext cx="484138" cy="1258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62196" y="2727278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95185" y="2702231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3" y="31828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95185" y="2702231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62196" y="2903504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95185" y="2878457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3" y="31828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95185" y="2878458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49608" y="3096514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82596" y="3071468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2"/>
                  </a:lnTo>
                  <a:lnTo>
                    <a:pt x="69334" y="31827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2597" y="3071468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62196" y="3490926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95185" y="346587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3" y="31828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95185" y="346587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99053" y="3423792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29">
                  <a:moveTo>
                    <a:pt x="583606" y="0"/>
                  </a:moveTo>
                  <a:lnTo>
                    <a:pt x="75525" y="0"/>
                  </a:lnTo>
                  <a:lnTo>
                    <a:pt x="46127" y="5935"/>
                  </a:lnTo>
                  <a:lnTo>
                    <a:pt x="22120" y="22120"/>
                  </a:lnTo>
                  <a:lnTo>
                    <a:pt x="5935" y="46127"/>
                  </a:lnTo>
                  <a:lnTo>
                    <a:pt x="0" y="75525"/>
                  </a:lnTo>
                  <a:lnTo>
                    <a:pt x="5935" y="104923"/>
                  </a:lnTo>
                  <a:lnTo>
                    <a:pt x="22120" y="128930"/>
                  </a:lnTo>
                  <a:lnTo>
                    <a:pt x="46127" y="145116"/>
                  </a:lnTo>
                  <a:lnTo>
                    <a:pt x="75525" y="151051"/>
                  </a:lnTo>
                  <a:lnTo>
                    <a:pt x="583606" y="151051"/>
                  </a:lnTo>
                  <a:lnTo>
                    <a:pt x="613004" y="145116"/>
                  </a:lnTo>
                  <a:lnTo>
                    <a:pt x="637011" y="128930"/>
                  </a:lnTo>
                  <a:lnTo>
                    <a:pt x="653197" y="104923"/>
                  </a:lnTo>
                  <a:lnTo>
                    <a:pt x="659132" y="75525"/>
                  </a:lnTo>
                  <a:lnTo>
                    <a:pt x="653197" y="46127"/>
                  </a:lnTo>
                  <a:lnTo>
                    <a:pt x="637011" y="22120"/>
                  </a:lnTo>
                  <a:lnTo>
                    <a:pt x="613004" y="5935"/>
                  </a:lnTo>
                  <a:lnTo>
                    <a:pt x="58360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99053" y="3423792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29">
                  <a:moveTo>
                    <a:pt x="75525" y="0"/>
                  </a:moveTo>
                  <a:lnTo>
                    <a:pt x="583606" y="0"/>
                  </a:lnTo>
                  <a:lnTo>
                    <a:pt x="613005" y="5935"/>
                  </a:lnTo>
                  <a:lnTo>
                    <a:pt x="637011" y="22120"/>
                  </a:lnTo>
                  <a:lnTo>
                    <a:pt x="653197" y="46127"/>
                  </a:lnTo>
                  <a:lnTo>
                    <a:pt x="659132" y="75525"/>
                  </a:lnTo>
                  <a:lnTo>
                    <a:pt x="653197" y="104923"/>
                  </a:lnTo>
                  <a:lnTo>
                    <a:pt x="637011" y="128930"/>
                  </a:lnTo>
                  <a:lnTo>
                    <a:pt x="613005" y="145116"/>
                  </a:lnTo>
                  <a:lnTo>
                    <a:pt x="583606" y="151051"/>
                  </a:lnTo>
                  <a:lnTo>
                    <a:pt x="75525" y="151051"/>
                  </a:lnTo>
                  <a:lnTo>
                    <a:pt x="46127" y="145116"/>
                  </a:lnTo>
                  <a:lnTo>
                    <a:pt x="22120" y="128930"/>
                  </a:lnTo>
                  <a:lnTo>
                    <a:pt x="5935" y="104923"/>
                  </a:lnTo>
                  <a:lnTo>
                    <a:pt x="0" y="75525"/>
                  </a:lnTo>
                  <a:lnTo>
                    <a:pt x="5935" y="46127"/>
                  </a:lnTo>
                  <a:lnTo>
                    <a:pt x="22120" y="22120"/>
                  </a:lnTo>
                  <a:lnTo>
                    <a:pt x="46127" y="5935"/>
                  </a:lnTo>
                  <a:lnTo>
                    <a:pt x="7552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9187" y="3433328"/>
              <a:ext cx="131979" cy="13197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80238" y="3433328"/>
              <a:ext cx="131979" cy="1319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31290" y="3433328"/>
              <a:ext cx="131979" cy="1319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82341" y="3433328"/>
              <a:ext cx="131979" cy="13197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809351" y="2622080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583608" y="0"/>
                  </a:moveTo>
                  <a:lnTo>
                    <a:pt x="75525" y="0"/>
                  </a:lnTo>
                  <a:lnTo>
                    <a:pt x="46128" y="5935"/>
                  </a:lnTo>
                  <a:lnTo>
                    <a:pt x="22121" y="22120"/>
                  </a:lnTo>
                  <a:lnTo>
                    <a:pt x="5935" y="46127"/>
                  </a:lnTo>
                  <a:lnTo>
                    <a:pt x="0" y="75525"/>
                  </a:lnTo>
                  <a:lnTo>
                    <a:pt x="5935" y="104923"/>
                  </a:lnTo>
                  <a:lnTo>
                    <a:pt x="22121" y="128930"/>
                  </a:lnTo>
                  <a:lnTo>
                    <a:pt x="46128" y="145116"/>
                  </a:lnTo>
                  <a:lnTo>
                    <a:pt x="75525" y="151051"/>
                  </a:lnTo>
                  <a:lnTo>
                    <a:pt x="583608" y="151051"/>
                  </a:lnTo>
                  <a:lnTo>
                    <a:pt x="613006" y="145116"/>
                  </a:lnTo>
                  <a:lnTo>
                    <a:pt x="637012" y="128930"/>
                  </a:lnTo>
                  <a:lnTo>
                    <a:pt x="653198" y="104923"/>
                  </a:lnTo>
                  <a:lnTo>
                    <a:pt x="659133" y="75525"/>
                  </a:lnTo>
                  <a:lnTo>
                    <a:pt x="653198" y="46127"/>
                  </a:lnTo>
                  <a:lnTo>
                    <a:pt x="637012" y="22120"/>
                  </a:lnTo>
                  <a:lnTo>
                    <a:pt x="613006" y="5935"/>
                  </a:lnTo>
                  <a:lnTo>
                    <a:pt x="58360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09351" y="2622080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75525" y="0"/>
                  </a:moveTo>
                  <a:lnTo>
                    <a:pt x="583607" y="0"/>
                  </a:lnTo>
                  <a:lnTo>
                    <a:pt x="613005" y="5935"/>
                  </a:lnTo>
                  <a:lnTo>
                    <a:pt x="637012" y="22120"/>
                  </a:lnTo>
                  <a:lnTo>
                    <a:pt x="653198" y="46127"/>
                  </a:lnTo>
                  <a:lnTo>
                    <a:pt x="659133" y="75525"/>
                  </a:lnTo>
                  <a:lnTo>
                    <a:pt x="653198" y="104923"/>
                  </a:lnTo>
                  <a:lnTo>
                    <a:pt x="637012" y="128930"/>
                  </a:lnTo>
                  <a:lnTo>
                    <a:pt x="613005" y="145116"/>
                  </a:lnTo>
                  <a:lnTo>
                    <a:pt x="583607" y="151051"/>
                  </a:lnTo>
                  <a:lnTo>
                    <a:pt x="75525" y="151051"/>
                  </a:lnTo>
                  <a:lnTo>
                    <a:pt x="46127" y="145116"/>
                  </a:lnTo>
                  <a:lnTo>
                    <a:pt x="22121" y="128930"/>
                  </a:lnTo>
                  <a:lnTo>
                    <a:pt x="5935" y="104923"/>
                  </a:lnTo>
                  <a:lnTo>
                    <a:pt x="0" y="75525"/>
                  </a:lnTo>
                  <a:lnTo>
                    <a:pt x="5935" y="46127"/>
                  </a:lnTo>
                  <a:lnTo>
                    <a:pt x="22121" y="22120"/>
                  </a:lnTo>
                  <a:lnTo>
                    <a:pt x="46127" y="5935"/>
                  </a:lnTo>
                  <a:lnTo>
                    <a:pt x="7552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39486" y="2631616"/>
              <a:ext cx="131979" cy="13197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90537" y="2631616"/>
              <a:ext cx="131979" cy="13197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41588" y="2631616"/>
              <a:ext cx="131979" cy="13197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2640" y="2631616"/>
              <a:ext cx="131979" cy="1319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809351" y="2844761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583608" y="0"/>
                  </a:moveTo>
                  <a:lnTo>
                    <a:pt x="75525" y="0"/>
                  </a:lnTo>
                  <a:lnTo>
                    <a:pt x="46128" y="5935"/>
                  </a:lnTo>
                  <a:lnTo>
                    <a:pt x="22121" y="22121"/>
                  </a:lnTo>
                  <a:lnTo>
                    <a:pt x="5935" y="46128"/>
                  </a:lnTo>
                  <a:lnTo>
                    <a:pt x="0" y="75526"/>
                  </a:lnTo>
                  <a:lnTo>
                    <a:pt x="5935" y="104924"/>
                  </a:lnTo>
                  <a:lnTo>
                    <a:pt x="22121" y="128931"/>
                  </a:lnTo>
                  <a:lnTo>
                    <a:pt x="46128" y="145117"/>
                  </a:lnTo>
                  <a:lnTo>
                    <a:pt x="75525" y="151052"/>
                  </a:lnTo>
                  <a:lnTo>
                    <a:pt x="583608" y="151052"/>
                  </a:lnTo>
                  <a:lnTo>
                    <a:pt x="613006" y="145117"/>
                  </a:lnTo>
                  <a:lnTo>
                    <a:pt x="637012" y="128931"/>
                  </a:lnTo>
                  <a:lnTo>
                    <a:pt x="653198" y="104924"/>
                  </a:lnTo>
                  <a:lnTo>
                    <a:pt x="659133" y="75526"/>
                  </a:lnTo>
                  <a:lnTo>
                    <a:pt x="653198" y="46128"/>
                  </a:lnTo>
                  <a:lnTo>
                    <a:pt x="637012" y="22121"/>
                  </a:lnTo>
                  <a:lnTo>
                    <a:pt x="613006" y="5935"/>
                  </a:lnTo>
                  <a:lnTo>
                    <a:pt x="58360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09351" y="2844762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75525" y="0"/>
                  </a:moveTo>
                  <a:lnTo>
                    <a:pt x="583607" y="0"/>
                  </a:lnTo>
                  <a:lnTo>
                    <a:pt x="613005" y="5935"/>
                  </a:lnTo>
                  <a:lnTo>
                    <a:pt x="637012" y="22120"/>
                  </a:lnTo>
                  <a:lnTo>
                    <a:pt x="653198" y="46127"/>
                  </a:lnTo>
                  <a:lnTo>
                    <a:pt x="659133" y="75525"/>
                  </a:lnTo>
                  <a:lnTo>
                    <a:pt x="653198" y="104923"/>
                  </a:lnTo>
                  <a:lnTo>
                    <a:pt x="637012" y="128930"/>
                  </a:lnTo>
                  <a:lnTo>
                    <a:pt x="613005" y="145116"/>
                  </a:lnTo>
                  <a:lnTo>
                    <a:pt x="583607" y="151051"/>
                  </a:lnTo>
                  <a:lnTo>
                    <a:pt x="75525" y="151051"/>
                  </a:lnTo>
                  <a:lnTo>
                    <a:pt x="46127" y="145116"/>
                  </a:lnTo>
                  <a:lnTo>
                    <a:pt x="22121" y="128930"/>
                  </a:lnTo>
                  <a:lnTo>
                    <a:pt x="5935" y="104923"/>
                  </a:lnTo>
                  <a:lnTo>
                    <a:pt x="0" y="75525"/>
                  </a:lnTo>
                  <a:lnTo>
                    <a:pt x="5935" y="46127"/>
                  </a:lnTo>
                  <a:lnTo>
                    <a:pt x="22121" y="22120"/>
                  </a:lnTo>
                  <a:lnTo>
                    <a:pt x="46127" y="5935"/>
                  </a:lnTo>
                  <a:lnTo>
                    <a:pt x="7552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9486" y="2854298"/>
              <a:ext cx="131979" cy="13197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0537" y="2854298"/>
              <a:ext cx="131979" cy="13197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41588" y="2854298"/>
              <a:ext cx="131979" cy="13197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92640" y="2854298"/>
              <a:ext cx="131979" cy="13197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809351" y="3054555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583608" y="0"/>
                  </a:moveTo>
                  <a:lnTo>
                    <a:pt x="75525" y="0"/>
                  </a:lnTo>
                  <a:lnTo>
                    <a:pt x="46128" y="5935"/>
                  </a:lnTo>
                  <a:lnTo>
                    <a:pt x="22121" y="22120"/>
                  </a:lnTo>
                  <a:lnTo>
                    <a:pt x="5935" y="46127"/>
                  </a:lnTo>
                  <a:lnTo>
                    <a:pt x="0" y="75525"/>
                  </a:lnTo>
                  <a:lnTo>
                    <a:pt x="5935" y="104923"/>
                  </a:lnTo>
                  <a:lnTo>
                    <a:pt x="22121" y="128930"/>
                  </a:lnTo>
                  <a:lnTo>
                    <a:pt x="46128" y="145116"/>
                  </a:lnTo>
                  <a:lnTo>
                    <a:pt x="75525" y="151051"/>
                  </a:lnTo>
                  <a:lnTo>
                    <a:pt x="583608" y="151051"/>
                  </a:lnTo>
                  <a:lnTo>
                    <a:pt x="613006" y="145116"/>
                  </a:lnTo>
                  <a:lnTo>
                    <a:pt x="637012" y="128930"/>
                  </a:lnTo>
                  <a:lnTo>
                    <a:pt x="653198" y="104923"/>
                  </a:lnTo>
                  <a:lnTo>
                    <a:pt x="659133" y="75525"/>
                  </a:lnTo>
                  <a:lnTo>
                    <a:pt x="653198" y="46127"/>
                  </a:lnTo>
                  <a:lnTo>
                    <a:pt x="637012" y="22120"/>
                  </a:lnTo>
                  <a:lnTo>
                    <a:pt x="613006" y="5935"/>
                  </a:lnTo>
                  <a:lnTo>
                    <a:pt x="58360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09351" y="3054556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30">
                  <a:moveTo>
                    <a:pt x="75525" y="0"/>
                  </a:moveTo>
                  <a:lnTo>
                    <a:pt x="583607" y="0"/>
                  </a:lnTo>
                  <a:lnTo>
                    <a:pt x="613005" y="5935"/>
                  </a:lnTo>
                  <a:lnTo>
                    <a:pt x="637012" y="22120"/>
                  </a:lnTo>
                  <a:lnTo>
                    <a:pt x="653198" y="46127"/>
                  </a:lnTo>
                  <a:lnTo>
                    <a:pt x="659133" y="75525"/>
                  </a:lnTo>
                  <a:lnTo>
                    <a:pt x="653198" y="104923"/>
                  </a:lnTo>
                  <a:lnTo>
                    <a:pt x="637012" y="128930"/>
                  </a:lnTo>
                  <a:lnTo>
                    <a:pt x="613005" y="145116"/>
                  </a:lnTo>
                  <a:lnTo>
                    <a:pt x="583607" y="151051"/>
                  </a:lnTo>
                  <a:lnTo>
                    <a:pt x="75525" y="151051"/>
                  </a:lnTo>
                  <a:lnTo>
                    <a:pt x="46127" y="145116"/>
                  </a:lnTo>
                  <a:lnTo>
                    <a:pt x="22121" y="128930"/>
                  </a:lnTo>
                  <a:lnTo>
                    <a:pt x="5935" y="104923"/>
                  </a:lnTo>
                  <a:lnTo>
                    <a:pt x="0" y="75525"/>
                  </a:lnTo>
                  <a:lnTo>
                    <a:pt x="5935" y="46127"/>
                  </a:lnTo>
                  <a:lnTo>
                    <a:pt x="22121" y="22120"/>
                  </a:lnTo>
                  <a:lnTo>
                    <a:pt x="46127" y="5935"/>
                  </a:lnTo>
                  <a:lnTo>
                    <a:pt x="7552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9486" y="3064091"/>
              <a:ext cx="131979" cy="13197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90537" y="3064091"/>
              <a:ext cx="131979" cy="13197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41588" y="3064091"/>
              <a:ext cx="131979" cy="13197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2640" y="3064091"/>
              <a:ext cx="131979" cy="131979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3739876" y="4882492"/>
            <a:ext cx="2164080" cy="1043093"/>
            <a:chOff x="2804907" y="3661869"/>
            <a:chExt cx="1623060" cy="782320"/>
          </a:xfrm>
        </p:grpSpPr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10056" y="4011214"/>
              <a:ext cx="426041" cy="12587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728629" y="3733448"/>
              <a:ext cx="671830" cy="622300"/>
            </a:xfrm>
            <a:custGeom>
              <a:avLst/>
              <a:gdLst/>
              <a:ahLst/>
              <a:cxnLst/>
              <a:rect l="l" t="t" r="r" b="b"/>
              <a:pathLst>
                <a:path w="671829" h="622300">
                  <a:moveTo>
                    <a:pt x="0" y="621827"/>
                  </a:moveTo>
                  <a:lnTo>
                    <a:pt x="671339" y="621827"/>
                  </a:lnTo>
                  <a:lnTo>
                    <a:pt x="669618" y="344900"/>
                  </a:lnTo>
                  <a:lnTo>
                    <a:pt x="669618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73072" y="3666313"/>
              <a:ext cx="50800" cy="67310"/>
            </a:xfrm>
            <a:custGeom>
              <a:avLst/>
              <a:gdLst/>
              <a:ahLst/>
              <a:cxnLst/>
              <a:rect l="l" t="t" r="r" b="b"/>
              <a:pathLst>
                <a:path w="50800" h="67310">
                  <a:moveTo>
                    <a:pt x="25175" y="0"/>
                  </a:moveTo>
                  <a:lnTo>
                    <a:pt x="0" y="67134"/>
                  </a:lnTo>
                  <a:lnTo>
                    <a:pt x="50350" y="67134"/>
                  </a:lnTo>
                  <a:lnTo>
                    <a:pt x="251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373072" y="3666314"/>
              <a:ext cx="50800" cy="67310"/>
            </a:xfrm>
            <a:custGeom>
              <a:avLst/>
              <a:gdLst/>
              <a:ahLst/>
              <a:cxnLst/>
              <a:rect l="l" t="t" r="r" b="b"/>
              <a:pathLst>
                <a:path w="50800" h="67310">
                  <a:moveTo>
                    <a:pt x="25175" y="0"/>
                  </a:moveTo>
                  <a:lnTo>
                    <a:pt x="0" y="67133"/>
                  </a:lnTo>
                  <a:lnTo>
                    <a:pt x="50350" y="67133"/>
                  </a:lnTo>
                  <a:lnTo>
                    <a:pt x="2517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09351" y="4288141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29">
                  <a:moveTo>
                    <a:pt x="583608" y="0"/>
                  </a:moveTo>
                  <a:lnTo>
                    <a:pt x="75525" y="0"/>
                  </a:lnTo>
                  <a:lnTo>
                    <a:pt x="46128" y="5935"/>
                  </a:lnTo>
                  <a:lnTo>
                    <a:pt x="22121" y="22120"/>
                  </a:lnTo>
                  <a:lnTo>
                    <a:pt x="5935" y="46127"/>
                  </a:lnTo>
                  <a:lnTo>
                    <a:pt x="0" y="75525"/>
                  </a:lnTo>
                  <a:lnTo>
                    <a:pt x="5935" y="104923"/>
                  </a:lnTo>
                  <a:lnTo>
                    <a:pt x="22121" y="128930"/>
                  </a:lnTo>
                  <a:lnTo>
                    <a:pt x="46128" y="145116"/>
                  </a:lnTo>
                  <a:lnTo>
                    <a:pt x="75525" y="151051"/>
                  </a:lnTo>
                  <a:lnTo>
                    <a:pt x="583608" y="151051"/>
                  </a:lnTo>
                  <a:lnTo>
                    <a:pt x="613006" y="145116"/>
                  </a:lnTo>
                  <a:lnTo>
                    <a:pt x="637012" y="128930"/>
                  </a:lnTo>
                  <a:lnTo>
                    <a:pt x="653198" y="104923"/>
                  </a:lnTo>
                  <a:lnTo>
                    <a:pt x="659133" y="75525"/>
                  </a:lnTo>
                  <a:lnTo>
                    <a:pt x="653198" y="46127"/>
                  </a:lnTo>
                  <a:lnTo>
                    <a:pt x="637012" y="22120"/>
                  </a:lnTo>
                  <a:lnTo>
                    <a:pt x="613006" y="5935"/>
                  </a:lnTo>
                  <a:lnTo>
                    <a:pt x="58360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809352" y="4288142"/>
              <a:ext cx="659130" cy="151130"/>
            </a:xfrm>
            <a:custGeom>
              <a:avLst/>
              <a:gdLst/>
              <a:ahLst/>
              <a:cxnLst/>
              <a:rect l="l" t="t" r="r" b="b"/>
              <a:pathLst>
                <a:path w="659129" h="151129">
                  <a:moveTo>
                    <a:pt x="75525" y="0"/>
                  </a:moveTo>
                  <a:lnTo>
                    <a:pt x="583607" y="0"/>
                  </a:lnTo>
                  <a:lnTo>
                    <a:pt x="613005" y="5935"/>
                  </a:lnTo>
                  <a:lnTo>
                    <a:pt x="637012" y="22120"/>
                  </a:lnTo>
                  <a:lnTo>
                    <a:pt x="653198" y="46127"/>
                  </a:lnTo>
                  <a:lnTo>
                    <a:pt x="659133" y="75525"/>
                  </a:lnTo>
                  <a:lnTo>
                    <a:pt x="653198" y="104923"/>
                  </a:lnTo>
                  <a:lnTo>
                    <a:pt x="637012" y="128930"/>
                  </a:lnTo>
                  <a:lnTo>
                    <a:pt x="613005" y="145116"/>
                  </a:lnTo>
                  <a:lnTo>
                    <a:pt x="583607" y="151051"/>
                  </a:lnTo>
                  <a:lnTo>
                    <a:pt x="75525" y="151051"/>
                  </a:lnTo>
                  <a:lnTo>
                    <a:pt x="46127" y="145116"/>
                  </a:lnTo>
                  <a:lnTo>
                    <a:pt x="22121" y="128930"/>
                  </a:lnTo>
                  <a:lnTo>
                    <a:pt x="5935" y="104923"/>
                  </a:lnTo>
                  <a:lnTo>
                    <a:pt x="0" y="75525"/>
                  </a:lnTo>
                  <a:lnTo>
                    <a:pt x="5935" y="46127"/>
                  </a:lnTo>
                  <a:lnTo>
                    <a:pt x="22121" y="22120"/>
                  </a:lnTo>
                  <a:lnTo>
                    <a:pt x="46127" y="5935"/>
                  </a:lnTo>
                  <a:lnTo>
                    <a:pt x="75525" y="0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39486" y="4297677"/>
              <a:ext cx="131979" cy="13197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90537" y="4297677"/>
              <a:ext cx="131979" cy="13197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41588" y="4297677"/>
              <a:ext cx="131979" cy="13197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2640" y="4297677"/>
              <a:ext cx="131979" cy="131979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9889068" y="3590506"/>
            <a:ext cx="572345" cy="566420"/>
            <a:chOff x="7416800" y="2692879"/>
            <a:chExt cx="429259" cy="424815"/>
          </a:xfrm>
        </p:grpSpPr>
        <p:sp>
          <p:nvSpPr>
            <p:cNvPr id="82" name="object 82"/>
            <p:cNvSpPr/>
            <p:nvPr/>
          </p:nvSpPr>
          <p:spPr>
            <a:xfrm>
              <a:off x="7420995" y="2787218"/>
              <a:ext cx="354965" cy="326390"/>
            </a:xfrm>
            <a:custGeom>
              <a:avLst/>
              <a:gdLst/>
              <a:ahLst/>
              <a:cxnLst/>
              <a:rect l="l" t="t" r="r" b="b"/>
              <a:pathLst>
                <a:path w="354965" h="326389">
                  <a:moveTo>
                    <a:pt x="0" y="326080"/>
                  </a:moveTo>
                  <a:lnTo>
                    <a:pt x="354433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55614" y="2741367"/>
              <a:ext cx="76661" cy="6978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437779" y="2903504"/>
              <a:ext cx="337185" cy="0"/>
            </a:xfrm>
            <a:custGeom>
              <a:avLst/>
              <a:gdLst/>
              <a:ahLst/>
              <a:cxnLst/>
              <a:rect l="l" t="t" r="r" b="b"/>
              <a:pathLst>
                <a:path w="337184">
                  <a:moveTo>
                    <a:pt x="0" y="0"/>
                  </a:moveTo>
                  <a:lnTo>
                    <a:pt x="336936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772169" y="2878457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3" y="31828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772173" y="2878458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2" y="31828"/>
                  </a:moveTo>
                  <a:lnTo>
                    <a:pt x="5085" y="0"/>
                  </a:lnTo>
                  <a:lnTo>
                    <a:pt x="0" y="50093"/>
                  </a:lnTo>
                  <a:lnTo>
                    <a:pt x="69332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37779" y="2722203"/>
              <a:ext cx="337185" cy="13970"/>
            </a:xfrm>
            <a:custGeom>
              <a:avLst/>
              <a:gdLst/>
              <a:ahLst/>
              <a:cxnLst/>
              <a:rect l="l" t="t" r="r" b="b"/>
              <a:pathLst>
                <a:path w="337184" h="13969">
                  <a:moveTo>
                    <a:pt x="0" y="13466"/>
                  </a:moveTo>
                  <a:lnTo>
                    <a:pt x="336659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772904" y="2697074"/>
              <a:ext cx="68580" cy="50800"/>
            </a:xfrm>
            <a:custGeom>
              <a:avLst/>
              <a:gdLst/>
              <a:ahLst/>
              <a:cxnLst/>
              <a:rect l="l" t="t" r="r" b="b"/>
              <a:pathLst>
                <a:path w="68579" h="50800">
                  <a:moveTo>
                    <a:pt x="3075" y="0"/>
                  </a:moveTo>
                  <a:lnTo>
                    <a:pt x="0" y="50256"/>
                  </a:lnTo>
                  <a:lnTo>
                    <a:pt x="68545" y="29229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772903" y="2697075"/>
              <a:ext cx="68580" cy="50800"/>
            </a:xfrm>
            <a:custGeom>
              <a:avLst/>
              <a:gdLst/>
              <a:ahLst/>
              <a:cxnLst/>
              <a:rect l="l" t="t" r="r" b="b"/>
              <a:pathLst>
                <a:path w="68579" h="50800">
                  <a:moveTo>
                    <a:pt x="68552" y="29228"/>
                  </a:moveTo>
                  <a:lnTo>
                    <a:pt x="3079" y="0"/>
                  </a:lnTo>
                  <a:lnTo>
                    <a:pt x="0" y="50256"/>
                  </a:lnTo>
                  <a:lnTo>
                    <a:pt x="68552" y="292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8317012" y="3608570"/>
            <a:ext cx="276013" cy="78740"/>
            <a:chOff x="6237759" y="2706427"/>
            <a:chExt cx="207010" cy="59055"/>
          </a:xfrm>
        </p:grpSpPr>
        <p:sp>
          <p:nvSpPr>
            <p:cNvPr id="91" name="object 91"/>
            <p:cNvSpPr/>
            <p:nvPr/>
          </p:nvSpPr>
          <p:spPr>
            <a:xfrm>
              <a:off x="6237759" y="2735670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370747" y="2710623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4" y="31827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70748" y="2710623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8317012" y="3843538"/>
            <a:ext cx="276013" cy="78740"/>
            <a:chOff x="6237759" y="2882653"/>
            <a:chExt cx="207010" cy="59055"/>
          </a:xfrm>
        </p:grpSpPr>
        <p:sp>
          <p:nvSpPr>
            <p:cNvPr id="95" name="object 95"/>
            <p:cNvSpPr/>
            <p:nvPr/>
          </p:nvSpPr>
          <p:spPr>
            <a:xfrm>
              <a:off x="6237759" y="2911896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531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370747" y="288684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4" y="31827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370748" y="288684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471954" y="4100886"/>
            <a:ext cx="104140" cy="78740"/>
            <a:chOff x="6353965" y="3075664"/>
            <a:chExt cx="78105" cy="59055"/>
          </a:xfrm>
        </p:grpSpPr>
        <p:sp>
          <p:nvSpPr>
            <p:cNvPr id="99" name="object 99"/>
            <p:cNvSpPr/>
            <p:nvPr/>
          </p:nvSpPr>
          <p:spPr>
            <a:xfrm>
              <a:off x="6358161" y="307985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6" y="0"/>
                  </a:moveTo>
                  <a:lnTo>
                    <a:pt x="0" y="50093"/>
                  </a:lnTo>
                  <a:lnTo>
                    <a:pt x="69333" y="31828"/>
                  </a:lnTo>
                  <a:lnTo>
                    <a:pt x="5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358161" y="3079859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3" y="31828"/>
                  </a:moveTo>
                  <a:lnTo>
                    <a:pt x="5086" y="0"/>
                  </a:lnTo>
                  <a:lnTo>
                    <a:pt x="0" y="50093"/>
                  </a:lnTo>
                  <a:lnTo>
                    <a:pt x="69333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1" name="object 10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8120" y="5393042"/>
            <a:ext cx="100043" cy="89511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52707" y="3200001"/>
            <a:ext cx="105456" cy="100700"/>
          </a:xfrm>
          <a:prstGeom prst="rect">
            <a:avLst/>
          </a:prstGeom>
        </p:spPr>
      </p:pic>
      <p:graphicFrame>
        <p:nvGraphicFramePr>
          <p:cNvPr id="103" name="object 103"/>
          <p:cNvGraphicFramePr>
            <a:graphicFrameLocks noGrp="1"/>
          </p:cNvGraphicFramePr>
          <p:nvPr/>
        </p:nvGraphicFramePr>
        <p:xfrm>
          <a:off x="10470894" y="4591418"/>
          <a:ext cx="1297940" cy="139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Interpolation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4" name="object 10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65999" y="4900396"/>
            <a:ext cx="1127503" cy="167835"/>
          </a:xfrm>
          <a:prstGeom prst="rect">
            <a:avLst/>
          </a:prstGeom>
        </p:spPr>
      </p:pic>
      <p:graphicFrame>
        <p:nvGraphicFramePr>
          <p:cNvPr id="105" name="object 105"/>
          <p:cNvGraphicFramePr>
            <a:graphicFrameLocks noGrp="1"/>
          </p:cNvGraphicFramePr>
          <p:nvPr/>
        </p:nvGraphicFramePr>
        <p:xfrm>
          <a:off x="8591144" y="4596430"/>
          <a:ext cx="1297940" cy="139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3">
                <a:tc gridSpan="2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Classification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Macbeth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5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10" dirty="0">
                          <a:latin typeface="Arial"/>
                          <a:cs typeface="Arial"/>
                        </a:rPr>
                        <a:t>Hamlet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spc="-25" dirty="0">
                          <a:latin typeface="Arial"/>
                          <a:cs typeface="Arial"/>
                        </a:rPr>
                        <a:t>0.2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BF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…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1853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6" name="object 106"/>
          <p:cNvGrpSpPr/>
          <p:nvPr/>
        </p:nvGrpSpPr>
        <p:grpSpPr>
          <a:xfrm>
            <a:off x="5838653" y="5767873"/>
            <a:ext cx="2754207" cy="78740"/>
            <a:chOff x="4378989" y="4325904"/>
            <a:chExt cx="2065655" cy="59055"/>
          </a:xfrm>
        </p:grpSpPr>
        <p:sp>
          <p:nvSpPr>
            <p:cNvPr id="107" name="object 107"/>
            <p:cNvSpPr/>
            <p:nvPr/>
          </p:nvSpPr>
          <p:spPr>
            <a:xfrm>
              <a:off x="4378989" y="4355276"/>
              <a:ext cx="1993900" cy="0"/>
            </a:xfrm>
            <a:custGeom>
              <a:avLst/>
              <a:gdLst/>
              <a:ahLst/>
              <a:cxnLst/>
              <a:rect l="l" t="t" r="r" b="b"/>
              <a:pathLst>
                <a:path w="1993900">
                  <a:moveTo>
                    <a:pt x="0" y="0"/>
                  </a:moveTo>
                  <a:lnTo>
                    <a:pt x="218185" y="0"/>
                  </a:lnTo>
                  <a:lnTo>
                    <a:pt x="1993877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372866" y="4330100"/>
              <a:ext cx="67310" cy="50800"/>
            </a:xfrm>
            <a:custGeom>
              <a:avLst/>
              <a:gdLst/>
              <a:ahLst/>
              <a:cxnLst/>
              <a:rect l="l" t="t" r="r" b="b"/>
              <a:pathLst>
                <a:path w="67310" h="50800">
                  <a:moveTo>
                    <a:pt x="0" y="0"/>
                  </a:moveTo>
                  <a:lnTo>
                    <a:pt x="0" y="50350"/>
                  </a:lnTo>
                  <a:lnTo>
                    <a:pt x="67134" y="25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372867" y="4330100"/>
              <a:ext cx="67310" cy="50800"/>
            </a:xfrm>
            <a:custGeom>
              <a:avLst/>
              <a:gdLst/>
              <a:ahLst/>
              <a:cxnLst/>
              <a:rect l="l" t="t" r="r" b="b"/>
              <a:pathLst>
                <a:path w="67310" h="50800">
                  <a:moveTo>
                    <a:pt x="67133" y="25175"/>
                  </a:moveTo>
                  <a:lnTo>
                    <a:pt x="0" y="0"/>
                  </a:lnTo>
                  <a:lnTo>
                    <a:pt x="0" y="50350"/>
                  </a:lnTo>
                  <a:lnTo>
                    <a:pt x="67133" y="25175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9939417" y="5533075"/>
            <a:ext cx="544407" cy="78740"/>
            <a:chOff x="7454562" y="4149806"/>
            <a:chExt cx="408305" cy="59055"/>
          </a:xfrm>
        </p:grpSpPr>
        <p:sp>
          <p:nvSpPr>
            <p:cNvPr id="111" name="object 111"/>
            <p:cNvSpPr/>
            <p:nvPr/>
          </p:nvSpPr>
          <p:spPr>
            <a:xfrm>
              <a:off x="7454562" y="4179049"/>
              <a:ext cx="337185" cy="0"/>
            </a:xfrm>
            <a:custGeom>
              <a:avLst/>
              <a:gdLst/>
              <a:ahLst/>
              <a:cxnLst/>
              <a:rect l="l" t="t" r="r" b="b"/>
              <a:pathLst>
                <a:path w="337184">
                  <a:moveTo>
                    <a:pt x="0" y="0"/>
                  </a:moveTo>
                  <a:lnTo>
                    <a:pt x="336936" y="0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788953" y="4154002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5085" y="0"/>
                  </a:moveTo>
                  <a:lnTo>
                    <a:pt x="0" y="50092"/>
                  </a:lnTo>
                  <a:lnTo>
                    <a:pt x="69333" y="31827"/>
                  </a:lnTo>
                  <a:lnTo>
                    <a:pt x="50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788956" y="4154002"/>
              <a:ext cx="69850" cy="50165"/>
            </a:xfrm>
            <a:custGeom>
              <a:avLst/>
              <a:gdLst/>
              <a:ahLst/>
              <a:cxnLst/>
              <a:rect l="l" t="t" r="r" b="b"/>
              <a:pathLst>
                <a:path w="69850" h="50164">
                  <a:moveTo>
                    <a:pt x="69332" y="31828"/>
                  </a:moveTo>
                  <a:lnTo>
                    <a:pt x="5085" y="0"/>
                  </a:lnTo>
                  <a:lnTo>
                    <a:pt x="0" y="50093"/>
                  </a:lnTo>
                  <a:lnTo>
                    <a:pt x="69332" y="31828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11086287" y="4083929"/>
            <a:ext cx="78740" cy="533400"/>
            <a:chOff x="8314715" y="3062947"/>
            <a:chExt cx="59055" cy="400050"/>
          </a:xfrm>
        </p:grpSpPr>
        <p:sp>
          <p:nvSpPr>
            <p:cNvPr id="115" name="object 115"/>
            <p:cNvSpPr/>
            <p:nvPr/>
          </p:nvSpPr>
          <p:spPr>
            <a:xfrm>
              <a:off x="8344086" y="3062947"/>
              <a:ext cx="0" cy="328295"/>
            </a:xfrm>
            <a:custGeom>
              <a:avLst/>
              <a:gdLst/>
              <a:ahLst/>
              <a:cxnLst/>
              <a:rect l="l" t="t" r="r" b="b"/>
              <a:pathLst>
                <a:path h="328295">
                  <a:moveTo>
                    <a:pt x="0" y="0"/>
                  </a:moveTo>
                  <a:lnTo>
                    <a:pt x="0" y="328117"/>
                  </a:lnTo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318911" y="3391065"/>
              <a:ext cx="50800" cy="67310"/>
            </a:xfrm>
            <a:custGeom>
              <a:avLst/>
              <a:gdLst/>
              <a:ahLst/>
              <a:cxnLst/>
              <a:rect l="l" t="t" r="r" b="b"/>
              <a:pathLst>
                <a:path w="50800" h="67310">
                  <a:moveTo>
                    <a:pt x="50350" y="0"/>
                  </a:moveTo>
                  <a:lnTo>
                    <a:pt x="0" y="0"/>
                  </a:lnTo>
                  <a:lnTo>
                    <a:pt x="25175" y="67133"/>
                  </a:lnTo>
                  <a:lnTo>
                    <a:pt x="503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318911" y="3391064"/>
              <a:ext cx="50800" cy="67310"/>
            </a:xfrm>
            <a:custGeom>
              <a:avLst/>
              <a:gdLst/>
              <a:ahLst/>
              <a:cxnLst/>
              <a:rect l="l" t="t" r="r" b="b"/>
              <a:pathLst>
                <a:path w="50800" h="67310">
                  <a:moveTo>
                    <a:pt x="25175" y="67133"/>
                  </a:moveTo>
                  <a:lnTo>
                    <a:pt x="50350" y="0"/>
                  </a:lnTo>
                  <a:lnTo>
                    <a:pt x="0" y="0"/>
                  </a:lnTo>
                  <a:lnTo>
                    <a:pt x="25175" y="67133"/>
                  </a:lnTo>
                  <a:close/>
                </a:path>
              </a:pathLst>
            </a:custGeom>
            <a:ln w="8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8" name="object 11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421648" y="3166433"/>
            <a:ext cx="800441" cy="1678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38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Techniques</a:t>
            </a:r>
            <a:r>
              <a:rPr spc="-33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9035" y="1201272"/>
            <a:ext cx="7882467" cy="329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2205">
              <a:lnSpc>
                <a:spcPts val="2767"/>
              </a:lnSpc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Add</a:t>
            </a:r>
            <a:r>
              <a:rPr sz="2400" b="1" spc="-4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pretrained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entity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3532205">
              <a:spcBef>
                <a:spcPts val="860"/>
              </a:spcBef>
              <a:tabLst>
                <a:tab pos="3989394" algn="l"/>
              </a:tabLst>
            </a:pPr>
            <a:r>
              <a:rPr sz="2400" spc="-67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	</a:t>
            </a:r>
            <a:r>
              <a:rPr sz="2400" spc="-13" dirty="0">
                <a:latin typeface="Calibri"/>
                <a:cs typeface="Calibri"/>
              </a:rPr>
              <a:t>ERNIE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260"/>
              </a:spcBef>
              <a:tabLst>
                <a:tab pos="1761023" algn="l"/>
                <a:tab pos="3532205" algn="l"/>
                <a:tab pos="3989394" algn="l"/>
              </a:tabLst>
            </a:pPr>
            <a:r>
              <a:rPr sz="3200" i="1" baseline="-5208" dirty="0">
                <a:latin typeface="Calibri"/>
                <a:cs typeface="Calibri"/>
              </a:rPr>
              <a:t>token</a:t>
            </a:r>
            <a:r>
              <a:rPr sz="3200" i="1" spc="-169" baseline="-5208" dirty="0">
                <a:latin typeface="Calibri"/>
                <a:cs typeface="Calibri"/>
              </a:rPr>
              <a:t> </a:t>
            </a:r>
            <a:r>
              <a:rPr sz="3200" i="1" spc="-40" baseline="-5208" dirty="0">
                <a:latin typeface="Calibri"/>
                <a:cs typeface="Calibri"/>
              </a:rPr>
              <a:t>embs</a:t>
            </a:r>
            <a:r>
              <a:rPr sz="3200" i="1" baseline="-5208" dirty="0">
                <a:latin typeface="Calibri"/>
                <a:cs typeface="Calibri"/>
              </a:rPr>
              <a:t>	</a:t>
            </a:r>
            <a:r>
              <a:rPr sz="2133" i="1" dirty="0">
                <a:latin typeface="Calibri"/>
                <a:cs typeface="Calibri"/>
              </a:rPr>
              <a:t>entity</a:t>
            </a:r>
            <a:r>
              <a:rPr sz="2133" i="1" spc="-40" dirty="0">
                <a:latin typeface="Calibri"/>
                <a:cs typeface="Calibri"/>
              </a:rPr>
              <a:t> </a:t>
            </a:r>
            <a:r>
              <a:rPr sz="2133" i="1" spc="-27" dirty="0">
                <a:latin typeface="Calibri"/>
                <a:cs typeface="Calibri"/>
              </a:rPr>
              <a:t>embs</a:t>
            </a:r>
            <a:r>
              <a:rPr sz="2133" i="1" dirty="0">
                <a:latin typeface="Calibri"/>
                <a:cs typeface="Calibri"/>
              </a:rPr>
              <a:t>	</a:t>
            </a:r>
            <a:r>
              <a:rPr sz="3600" spc="-100" baseline="-16975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r>
              <a:rPr sz="3600" baseline="-16975" dirty="0">
                <a:solidFill>
                  <a:srgbClr val="8C1515"/>
                </a:solidFill>
                <a:latin typeface="Arial MT"/>
                <a:cs typeface="Arial MT"/>
              </a:rPr>
              <a:t>	</a:t>
            </a:r>
            <a:r>
              <a:rPr sz="3600" spc="-20" baseline="-16975" dirty="0">
                <a:latin typeface="Calibri"/>
                <a:cs typeface="Calibri"/>
              </a:rPr>
              <a:t>KnowBERT</a:t>
            </a:r>
            <a:endParaRPr sz="3600" baseline="-16975">
              <a:latin typeface="Calibri"/>
              <a:cs typeface="Calibri"/>
            </a:endParaRPr>
          </a:p>
          <a:p>
            <a:pPr>
              <a:spcBef>
                <a:spcPts val="67"/>
              </a:spcBef>
            </a:pPr>
            <a:endParaRPr sz="4400">
              <a:latin typeface="Calibri"/>
              <a:cs typeface="Calibri"/>
            </a:endParaRPr>
          </a:p>
          <a:p>
            <a:pPr marL="712876">
              <a:tabLst>
                <a:tab pos="1413051" algn="l"/>
                <a:tab pos="3532205" algn="l"/>
              </a:tabLst>
            </a:pPr>
            <a:r>
              <a:rPr sz="3200" i="1" spc="-40" baseline="41666" dirty="0">
                <a:latin typeface="Calibri"/>
                <a:cs typeface="Calibri"/>
              </a:rPr>
              <a:t>keys</a:t>
            </a:r>
            <a:r>
              <a:rPr sz="3200" i="1" baseline="41666" dirty="0">
                <a:latin typeface="Calibri"/>
                <a:cs typeface="Calibri"/>
              </a:rPr>
              <a:t>	</a:t>
            </a:r>
            <a:r>
              <a:rPr sz="3200" i="1" spc="-20" baseline="43402" dirty="0">
                <a:latin typeface="Calibri"/>
                <a:cs typeface="Calibri"/>
              </a:rPr>
              <a:t>values</a:t>
            </a:r>
            <a:r>
              <a:rPr sz="3200" i="1" baseline="43402" dirty="0"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Use</a:t>
            </a:r>
            <a:r>
              <a:rPr sz="2400" b="1" spc="-5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an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external</a:t>
            </a:r>
            <a:r>
              <a:rPr sz="2400" b="1" spc="-33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007C92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3532205">
              <a:spcBef>
                <a:spcPts val="993"/>
              </a:spcBef>
              <a:tabLst>
                <a:tab pos="3989394" algn="l"/>
              </a:tabLst>
            </a:pPr>
            <a:r>
              <a:rPr sz="2400" spc="-67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	</a:t>
            </a:r>
            <a:r>
              <a:rPr sz="2400" spc="-27" dirty="0">
                <a:latin typeface="Calibri"/>
                <a:cs typeface="Calibri"/>
              </a:rPr>
              <a:t>KGLM</a:t>
            </a:r>
            <a:endParaRPr sz="2400">
              <a:latin typeface="Calibri"/>
              <a:cs typeface="Calibri"/>
            </a:endParaRPr>
          </a:p>
          <a:p>
            <a:pPr marL="3532205">
              <a:spcBef>
                <a:spcPts val="860"/>
              </a:spcBef>
              <a:tabLst>
                <a:tab pos="3989394" algn="l"/>
              </a:tabLst>
            </a:pPr>
            <a:r>
              <a:rPr sz="2400" spc="-67" dirty="0">
                <a:solidFill>
                  <a:srgbClr val="8C1515"/>
                </a:solidFill>
                <a:latin typeface="Arial MT"/>
                <a:cs typeface="Arial MT"/>
              </a:rPr>
              <a:t>•</a:t>
            </a:r>
            <a:r>
              <a:rPr sz="2400" dirty="0">
                <a:solidFill>
                  <a:srgbClr val="8C1515"/>
                </a:solidFill>
                <a:latin typeface="Arial MT"/>
                <a:cs typeface="Arial MT"/>
              </a:rPr>
              <a:t>	</a:t>
            </a:r>
            <a:r>
              <a:rPr sz="2400" spc="-13" dirty="0">
                <a:latin typeface="Calibri"/>
                <a:cs typeface="Calibri"/>
              </a:rPr>
              <a:t>kNN-</a:t>
            </a:r>
            <a:r>
              <a:rPr sz="2400" spc="-33" dirty="0">
                <a:latin typeface="Calibri"/>
                <a:cs typeface="Calibri"/>
              </a:rPr>
              <a:t>LM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851" y="5046811"/>
            <a:ext cx="31250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Modify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the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C92"/>
                </a:solidFill>
                <a:latin typeface="Calibri"/>
                <a:cs typeface="Calibri"/>
              </a:rPr>
              <a:t>training</a:t>
            </a:r>
            <a:r>
              <a:rPr sz="2400" b="1" spc="-20" dirty="0">
                <a:solidFill>
                  <a:srgbClr val="007C92"/>
                </a:solidFill>
                <a:latin typeface="Calibri"/>
                <a:cs typeface="Calibri"/>
              </a:rPr>
              <a:t> </a:t>
            </a:r>
            <a:r>
              <a:rPr sz="2400" b="1" spc="-27" dirty="0">
                <a:solidFill>
                  <a:srgbClr val="007C92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4852" y="5396314"/>
            <a:ext cx="5205305" cy="1011388"/>
          </a:xfrm>
          <a:prstGeom prst="rect">
            <a:avLst/>
          </a:prstGeom>
        </p:spPr>
        <p:txBody>
          <a:bodyPr vert="horz" wrap="square" lIns="0" tIns="143087" rIns="0" bIns="0" rtlCol="0">
            <a:spAutoFit/>
          </a:bodyPr>
          <a:lstStyle/>
          <a:p>
            <a:pPr marL="397077" indent="-380144">
              <a:spcBef>
                <a:spcPts val="1127"/>
              </a:spcBef>
              <a:buClr>
                <a:srgbClr val="8C1515"/>
              </a:buClr>
              <a:buFont typeface="Arial MT"/>
              <a:buChar char="•"/>
              <a:tabLst>
                <a:tab pos="397077" algn="l"/>
              </a:tabLst>
            </a:pPr>
            <a:r>
              <a:rPr sz="2400" spc="-27" dirty="0">
                <a:latin typeface="Calibri"/>
                <a:cs typeface="Calibri"/>
              </a:rPr>
              <a:t>WKLM</a:t>
            </a:r>
            <a:endParaRPr sz="2400">
              <a:latin typeface="Calibri"/>
              <a:cs typeface="Calibri"/>
            </a:endParaRPr>
          </a:p>
          <a:p>
            <a:pPr marL="397077" indent="-380144">
              <a:spcBef>
                <a:spcPts val="987"/>
              </a:spcBef>
              <a:buClr>
                <a:srgbClr val="8C1515"/>
              </a:buClr>
              <a:buFont typeface="Arial MT"/>
              <a:buChar char="•"/>
              <a:tabLst>
                <a:tab pos="397077" algn="l"/>
              </a:tabLst>
            </a:pP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(another!),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 </a:t>
            </a:r>
            <a:r>
              <a:rPr sz="2400" spc="-13" dirty="0">
                <a:latin typeface="Calibri"/>
                <a:cs typeface="Calibri"/>
              </a:rPr>
              <a:t>masking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7261" y="1524208"/>
            <a:ext cx="3338407" cy="3188547"/>
            <a:chOff x="755445" y="1143156"/>
            <a:chExt cx="2503805" cy="2391410"/>
          </a:xfrm>
        </p:grpSpPr>
        <p:sp>
          <p:nvSpPr>
            <p:cNvPr id="7" name="object 7"/>
            <p:cNvSpPr/>
            <p:nvPr/>
          </p:nvSpPr>
          <p:spPr>
            <a:xfrm>
              <a:off x="1524190" y="2512237"/>
              <a:ext cx="449580" cy="1022350"/>
            </a:xfrm>
            <a:custGeom>
              <a:avLst/>
              <a:gdLst/>
              <a:ahLst/>
              <a:cxnLst/>
              <a:rect l="l" t="t" r="r" b="b"/>
              <a:pathLst>
                <a:path w="449580" h="1022350">
                  <a:moveTo>
                    <a:pt x="449135" y="846264"/>
                  </a:moveTo>
                  <a:lnTo>
                    <a:pt x="446379" y="832573"/>
                  </a:lnTo>
                  <a:lnTo>
                    <a:pt x="438835" y="821397"/>
                  </a:lnTo>
                  <a:lnTo>
                    <a:pt x="427659" y="813866"/>
                  </a:lnTo>
                  <a:lnTo>
                    <a:pt x="413969" y="811098"/>
                  </a:lnTo>
                  <a:lnTo>
                    <a:pt x="35166" y="811098"/>
                  </a:lnTo>
                  <a:lnTo>
                    <a:pt x="21475" y="813866"/>
                  </a:lnTo>
                  <a:lnTo>
                    <a:pt x="10299" y="821397"/>
                  </a:lnTo>
                  <a:lnTo>
                    <a:pt x="2768" y="832573"/>
                  </a:lnTo>
                  <a:lnTo>
                    <a:pt x="0" y="846264"/>
                  </a:lnTo>
                  <a:lnTo>
                    <a:pt x="0" y="986942"/>
                  </a:lnTo>
                  <a:lnTo>
                    <a:pt x="2768" y="1000633"/>
                  </a:lnTo>
                  <a:lnTo>
                    <a:pt x="10299" y="1011809"/>
                  </a:lnTo>
                  <a:lnTo>
                    <a:pt x="21475" y="1019352"/>
                  </a:lnTo>
                  <a:lnTo>
                    <a:pt x="35166" y="1022108"/>
                  </a:lnTo>
                  <a:lnTo>
                    <a:pt x="413969" y="1022108"/>
                  </a:lnTo>
                  <a:lnTo>
                    <a:pt x="427659" y="1019352"/>
                  </a:lnTo>
                  <a:lnTo>
                    <a:pt x="438835" y="1011809"/>
                  </a:lnTo>
                  <a:lnTo>
                    <a:pt x="446379" y="1000633"/>
                  </a:lnTo>
                  <a:lnTo>
                    <a:pt x="449135" y="986942"/>
                  </a:lnTo>
                  <a:lnTo>
                    <a:pt x="449135" y="846264"/>
                  </a:lnTo>
                  <a:close/>
                </a:path>
                <a:path w="449580" h="1022350">
                  <a:moveTo>
                    <a:pt x="449135" y="580301"/>
                  </a:moveTo>
                  <a:lnTo>
                    <a:pt x="446379" y="566610"/>
                  </a:lnTo>
                  <a:lnTo>
                    <a:pt x="438835" y="555434"/>
                  </a:lnTo>
                  <a:lnTo>
                    <a:pt x="427659" y="547890"/>
                  </a:lnTo>
                  <a:lnTo>
                    <a:pt x="413969" y="545134"/>
                  </a:lnTo>
                  <a:lnTo>
                    <a:pt x="35166" y="545134"/>
                  </a:lnTo>
                  <a:lnTo>
                    <a:pt x="21475" y="547890"/>
                  </a:lnTo>
                  <a:lnTo>
                    <a:pt x="10299" y="555434"/>
                  </a:lnTo>
                  <a:lnTo>
                    <a:pt x="2768" y="566610"/>
                  </a:lnTo>
                  <a:lnTo>
                    <a:pt x="0" y="580301"/>
                  </a:lnTo>
                  <a:lnTo>
                    <a:pt x="0" y="720979"/>
                  </a:lnTo>
                  <a:lnTo>
                    <a:pt x="2768" y="734669"/>
                  </a:lnTo>
                  <a:lnTo>
                    <a:pt x="10299" y="745845"/>
                  </a:lnTo>
                  <a:lnTo>
                    <a:pt x="21475" y="753376"/>
                  </a:lnTo>
                  <a:lnTo>
                    <a:pt x="35166" y="756145"/>
                  </a:lnTo>
                  <a:lnTo>
                    <a:pt x="413969" y="756145"/>
                  </a:lnTo>
                  <a:lnTo>
                    <a:pt x="427659" y="753376"/>
                  </a:lnTo>
                  <a:lnTo>
                    <a:pt x="438835" y="745845"/>
                  </a:lnTo>
                  <a:lnTo>
                    <a:pt x="446379" y="734669"/>
                  </a:lnTo>
                  <a:lnTo>
                    <a:pt x="449135" y="720979"/>
                  </a:lnTo>
                  <a:lnTo>
                    <a:pt x="449135" y="580301"/>
                  </a:lnTo>
                  <a:close/>
                </a:path>
                <a:path w="449580" h="1022350">
                  <a:moveTo>
                    <a:pt x="449135" y="307733"/>
                  </a:moveTo>
                  <a:lnTo>
                    <a:pt x="446379" y="294043"/>
                  </a:lnTo>
                  <a:lnTo>
                    <a:pt x="438835" y="282867"/>
                  </a:lnTo>
                  <a:lnTo>
                    <a:pt x="427659" y="275336"/>
                  </a:lnTo>
                  <a:lnTo>
                    <a:pt x="413969" y="272567"/>
                  </a:lnTo>
                  <a:lnTo>
                    <a:pt x="35166" y="272567"/>
                  </a:lnTo>
                  <a:lnTo>
                    <a:pt x="21475" y="275336"/>
                  </a:lnTo>
                  <a:lnTo>
                    <a:pt x="10299" y="282867"/>
                  </a:lnTo>
                  <a:lnTo>
                    <a:pt x="2768" y="294043"/>
                  </a:lnTo>
                  <a:lnTo>
                    <a:pt x="0" y="307733"/>
                  </a:lnTo>
                  <a:lnTo>
                    <a:pt x="0" y="448411"/>
                  </a:lnTo>
                  <a:lnTo>
                    <a:pt x="2768" y="462102"/>
                  </a:lnTo>
                  <a:lnTo>
                    <a:pt x="10299" y="473278"/>
                  </a:lnTo>
                  <a:lnTo>
                    <a:pt x="21475" y="480822"/>
                  </a:lnTo>
                  <a:lnTo>
                    <a:pt x="35166" y="483577"/>
                  </a:lnTo>
                  <a:lnTo>
                    <a:pt x="413969" y="483577"/>
                  </a:lnTo>
                  <a:lnTo>
                    <a:pt x="427659" y="480822"/>
                  </a:lnTo>
                  <a:lnTo>
                    <a:pt x="438835" y="473278"/>
                  </a:lnTo>
                  <a:lnTo>
                    <a:pt x="446379" y="462102"/>
                  </a:lnTo>
                  <a:lnTo>
                    <a:pt x="449135" y="448411"/>
                  </a:lnTo>
                  <a:lnTo>
                    <a:pt x="449135" y="307733"/>
                  </a:lnTo>
                  <a:close/>
                </a:path>
                <a:path w="449580" h="1022350">
                  <a:moveTo>
                    <a:pt x="449135" y="35179"/>
                  </a:moveTo>
                  <a:lnTo>
                    <a:pt x="446379" y="21488"/>
                  </a:lnTo>
                  <a:lnTo>
                    <a:pt x="438835" y="10312"/>
                  </a:lnTo>
                  <a:lnTo>
                    <a:pt x="427659" y="2768"/>
                  </a:lnTo>
                  <a:lnTo>
                    <a:pt x="413969" y="0"/>
                  </a:lnTo>
                  <a:lnTo>
                    <a:pt x="35166" y="0"/>
                  </a:lnTo>
                  <a:lnTo>
                    <a:pt x="21475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75" y="208254"/>
                  </a:lnTo>
                  <a:lnTo>
                    <a:pt x="35166" y="211023"/>
                  </a:lnTo>
                  <a:lnTo>
                    <a:pt x="413969" y="211023"/>
                  </a:lnTo>
                  <a:lnTo>
                    <a:pt x="427659" y="208254"/>
                  </a:lnTo>
                  <a:lnTo>
                    <a:pt x="438835" y="200723"/>
                  </a:lnTo>
                  <a:lnTo>
                    <a:pt x="446379" y="189547"/>
                  </a:lnTo>
                  <a:lnTo>
                    <a:pt x="449135" y="175856"/>
                  </a:lnTo>
                  <a:lnTo>
                    <a:pt x="449135" y="35179"/>
                  </a:lnTo>
                  <a:close/>
                </a:path>
              </a:pathLst>
            </a:custGeom>
            <a:solidFill>
              <a:srgbClr val="8C15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48484" y="2512237"/>
              <a:ext cx="449580" cy="1022350"/>
            </a:xfrm>
            <a:custGeom>
              <a:avLst/>
              <a:gdLst/>
              <a:ahLst/>
              <a:cxnLst/>
              <a:rect l="l" t="t" r="r" b="b"/>
              <a:pathLst>
                <a:path w="449580" h="1022350">
                  <a:moveTo>
                    <a:pt x="449148" y="846264"/>
                  </a:moveTo>
                  <a:lnTo>
                    <a:pt x="446379" y="832573"/>
                  </a:lnTo>
                  <a:lnTo>
                    <a:pt x="438848" y="821397"/>
                  </a:lnTo>
                  <a:lnTo>
                    <a:pt x="427672" y="813866"/>
                  </a:lnTo>
                  <a:lnTo>
                    <a:pt x="413981" y="811098"/>
                  </a:lnTo>
                  <a:lnTo>
                    <a:pt x="35179" y="811098"/>
                  </a:lnTo>
                  <a:lnTo>
                    <a:pt x="21488" y="813866"/>
                  </a:lnTo>
                  <a:lnTo>
                    <a:pt x="10299" y="821397"/>
                  </a:lnTo>
                  <a:lnTo>
                    <a:pt x="2768" y="832573"/>
                  </a:lnTo>
                  <a:lnTo>
                    <a:pt x="0" y="846264"/>
                  </a:lnTo>
                  <a:lnTo>
                    <a:pt x="0" y="986942"/>
                  </a:lnTo>
                  <a:lnTo>
                    <a:pt x="2768" y="1000633"/>
                  </a:lnTo>
                  <a:lnTo>
                    <a:pt x="10299" y="1011809"/>
                  </a:lnTo>
                  <a:lnTo>
                    <a:pt x="21488" y="1019352"/>
                  </a:lnTo>
                  <a:lnTo>
                    <a:pt x="35179" y="1022108"/>
                  </a:lnTo>
                  <a:lnTo>
                    <a:pt x="413981" y="1022108"/>
                  </a:lnTo>
                  <a:lnTo>
                    <a:pt x="427672" y="1019352"/>
                  </a:lnTo>
                  <a:lnTo>
                    <a:pt x="438848" y="1011809"/>
                  </a:lnTo>
                  <a:lnTo>
                    <a:pt x="446379" y="1000633"/>
                  </a:lnTo>
                  <a:lnTo>
                    <a:pt x="449148" y="986942"/>
                  </a:lnTo>
                  <a:lnTo>
                    <a:pt x="449148" y="846264"/>
                  </a:lnTo>
                  <a:close/>
                </a:path>
                <a:path w="449580" h="1022350">
                  <a:moveTo>
                    <a:pt x="449148" y="580301"/>
                  </a:moveTo>
                  <a:lnTo>
                    <a:pt x="446379" y="566610"/>
                  </a:lnTo>
                  <a:lnTo>
                    <a:pt x="438848" y="555434"/>
                  </a:lnTo>
                  <a:lnTo>
                    <a:pt x="427672" y="547890"/>
                  </a:lnTo>
                  <a:lnTo>
                    <a:pt x="413981" y="545134"/>
                  </a:lnTo>
                  <a:lnTo>
                    <a:pt x="35179" y="545134"/>
                  </a:lnTo>
                  <a:lnTo>
                    <a:pt x="21488" y="547890"/>
                  </a:lnTo>
                  <a:lnTo>
                    <a:pt x="10299" y="555434"/>
                  </a:lnTo>
                  <a:lnTo>
                    <a:pt x="2768" y="566610"/>
                  </a:lnTo>
                  <a:lnTo>
                    <a:pt x="0" y="580301"/>
                  </a:lnTo>
                  <a:lnTo>
                    <a:pt x="0" y="720979"/>
                  </a:lnTo>
                  <a:lnTo>
                    <a:pt x="2768" y="734669"/>
                  </a:lnTo>
                  <a:lnTo>
                    <a:pt x="10299" y="745845"/>
                  </a:lnTo>
                  <a:lnTo>
                    <a:pt x="21488" y="753376"/>
                  </a:lnTo>
                  <a:lnTo>
                    <a:pt x="35179" y="756145"/>
                  </a:lnTo>
                  <a:lnTo>
                    <a:pt x="413981" y="756145"/>
                  </a:lnTo>
                  <a:lnTo>
                    <a:pt x="427672" y="753376"/>
                  </a:lnTo>
                  <a:lnTo>
                    <a:pt x="438848" y="745845"/>
                  </a:lnTo>
                  <a:lnTo>
                    <a:pt x="446379" y="734669"/>
                  </a:lnTo>
                  <a:lnTo>
                    <a:pt x="449148" y="720979"/>
                  </a:lnTo>
                  <a:lnTo>
                    <a:pt x="449148" y="580301"/>
                  </a:lnTo>
                  <a:close/>
                </a:path>
                <a:path w="449580" h="1022350">
                  <a:moveTo>
                    <a:pt x="449148" y="307733"/>
                  </a:moveTo>
                  <a:lnTo>
                    <a:pt x="446379" y="294043"/>
                  </a:lnTo>
                  <a:lnTo>
                    <a:pt x="438848" y="282867"/>
                  </a:lnTo>
                  <a:lnTo>
                    <a:pt x="427672" y="275336"/>
                  </a:lnTo>
                  <a:lnTo>
                    <a:pt x="413981" y="272567"/>
                  </a:lnTo>
                  <a:lnTo>
                    <a:pt x="35179" y="272567"/>
                  </a:lnTo>
                  <a:lnTo>
                    <a:pt x="21488" y="275336"/>
                  </a:lnTo>
                  <a:lnTo>
                    <a:pt x="10299" y="282867"/>
                  </a:lnTo>
                  <a:lnTo>
                    <a:pt x="2768" y="294043"/>
                  </a:lnTo>
                  <a:lnTo>
                    <a:pt x="0" y="307733"/>
                  </a:lnTo>
                  <a:lnTo>
                    <a:pt x="0" y="448411"/>
                  </a:lnTo>
                  <a:lnTo>
                    <a:pt x="2768" y="462102"/>
                  </a:lnTo>
                  <a:lnTo>
                    <a:pt x="10299" y="473278"/>
                  </a:lnTo>
                  <a:lnTo>
                    <a:pt x="21488" y="480822"/>
                  </a:lnTo>
                  <a:lnTo>
                    <a:pt x="35179" y="483577"/>
                  </a:lnTo>
                  <a:lnTo>
                    <a:pt x="413981" y="483577"/>
                  </a:lnTo>
                  <a:lnTo>
                    <a:pt x="427672" y="480822"/>
                  </a:lnTo>
                  <a:lnTo>
                    <a:pt x="438848" y="473278"/>
                  </a:lnTo>
                  <a:lnTo>
                    <a:pt x="446379" y="462102"/>
                  </a:lnTo>
                  <a:lnTo>
                    <a:pt x="449148" y="448411"/>
                  </a:lnTo>
                  <a:lnTo>
                    <a:pt x="449148" y="307733"/>
                  </a:lnTo>
                  <a:close/>
                </a:path>
                <a:path w="449580" h="1022350">
                  <a:moveTo>
                    <a:pt x="449148" y="35179"/>
                  </a:moveTo>
                  <a:lnTo>
                    <a:pt x="446379" y="21488"/>
                  </a:lnTo>
                  <a:lnTo>
                    <a:pt x="438848" y="10312"/>
                  </a:lnTo>
                  <a:lnTo>
                    <a:pt x="427672" y="2768"/>
                  </a:lnTo>
                  <a:lnTo>
                    <a:pt x="413981" y="0"/>
                  </a:lnTo>
                  <a:lnTo>
                    <a:pt x="35179" y="0"/>
                  </a:lnTo>
                  <a:lnTo>
                    <a:pt x="21488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88" y="208254"/>
                  </a:lnTo>
                  <a:lnTo>
                    <a:pt x="35179" y="211023"/>
                  </a:lnTo>
                  <a:lnTo>
                    <a:pt x="413981" y="211023"/>
                  </a:lnTo>
                  <a:lnTo>
                    <a:pt x="427672" y="208254"/>
                  </a:lnTo>
                  <a:lnTo>
                    <a:pt x="438848" y="200723"/>
                  </a:lnTo>
                  <a:lnTo>
                    <a:pt x="446379" y="189547"/>
                  </a:lnTo>
                  <a:lnTo>
                    <a:pt x="449148" y="175856"/>
                  </a:lnTo>
                  <a:lnTo>
                    <a:pt x="449148" y="35179"/>
                  </a:lnTo>
                  <a:close/>
                </a:path>
              </a:pathLst>
            </a:custGeom>
            <a:solidFill>
              <a:srgbClr val="F6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445" y="1143156"/>
              <a:ext cx="2503244" cy="43803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84132" y="5736589"/>
            <a:ext cx="3132667" cy="281939"/>
            <a:chOff x="813099" y="4302442"/>
            <a:chExt cx="2349500" cy="211454"/>
          </a:xfrm>
        </p:grpSpPr>
        <p:sp>
          <p:nvSpPr>
            <p:cNvPr id="11" name="object 11"/>
            <p:cNvSpPr/>
            <p:nvPr/>
          </p:nvSpPr>
          <p:spPr>
            <a:xfrm>
              <a:off x="813092" y="4302442"/>
              <a:ext cx="927100" cy="211454"/>
            </a:xfrm>
            <a:custGeom>
              <a:avLst/>
              <a:gdLst/>
              <a:ahLst/>
              <a:cxnLst/>
              <a:rect l="l" t="t" r="r" b="b"/>
              <a:pathLst>
                <a:path w="927100" h="211454">
                  <a:moveTo>
                    <a:pt x="449148" y="35179"/>
                  </a:moveTo>
                  <a:lnTo>
                    <a:pt x="446379" y="21488"/>
                  </a:lnTo>
                  <a:lnTo>
                    <a:pt x="438848" y="10312"/>
                  </a:lnTo>
                  <a:lnTo>
                    <a:pt x="427659" y="2768"/>
                  </a:lnTo>
                  <a:lnTo>
                    <a:pt x="413969" y="0"/>
                  </a:lnTo>
                  <a:lnTo>
                    <a:pt x="35166" y="0"/>
                  </a:lnTo>
                  <a:lnTo>
                    <a:pt x="21475" y="2768"/>
                  </a:lnTo>
                  <a:lnTo>
                    <a:pt x="10299" y="10312"/>
                  </a:lnTo>
                  <a:lnTo>
                    <a:pt x="2768" y="21488"/>
                  </a:lnTo>
                  <a:lnTo>
                    <a:pt x="0" y="35179"/>
                  </a:lnTo>
                  <a:lnTo>
                    <a:pt x="0" y="175856"/>
                  </a:lnTo>
                  <a:lnTo>
                    <a:pt x="2768" y="189547"/>
                  </a:lnTo>
                  <a:lnTo>
                    <a:pt x="10299" y="200723"/>
                  </a:lnTo>
                  <a:lnTo>
                    <a:pt x="21475" y="208254"/>
                  </a:lnTo>
                  <a:lnTo>
                    <a:pt x="35166" y="211023"/>
                  </a:lnTo>
                  <a:lnTo>
                    <a:pt x="413969" y="211023"/>
                  </a:lnTo>
                  <a:lnTo>
                    <a:pt x="427659" y="208254"/>
                  </a:lnTo>
                  <a:lnTo>
                    <a:pt x="438848" y="200723"/>
                  </a:lnTo>
                  <a:lnTo>
                    <a:pt x="446379" y="189547"/>
                  </a:lnTo>
                  <a:lnTo>
                    <a:pt x="449148" y="175856"/>
                  </a:lnTo>
                  <a:lnTo>
                    <a:pt x="449148" y="35179"/>
                  </a:lnTo>
                  <a:close/>
                </a:path>
                <a:path w="927100" h="211454">
                  <a:moveTo>
                    <a:pt x="926858" y="35179"/>
                  </a:moveTo>
                  <a:lnTo>
                    <a:pt x="924090" y="21488"/>
                  </a:lnTo>
                  <a:lnTo>
                    <a:pt x="916559" y="10312"/>
                  </a:lnTo>
                  <a:lnTo>
                    <a:pt x="905383" y="2768"/>
                  </a:lnTo>
                  <a:lnTo>
                    <a:pt x="891692" y="0"/>
                  </a:lnTo>
                  <a:lnTo>
                    <a:pt x="512889" y="0"/>
                  </a:lnTo>
                  <a:lnTo>
                    <a:pt x="499198" y="2768"/>
                  </a:lnTo>
                  <a:lnTo>
                    <a:pt x="488010" y="10312"/>
                  </a:lnTo>
                  <a:lnTo>
                    <a:pt x="480479" y="21488"/>
                  </a:lnTo>
                  <a:lnTo>
                    <a:pt x="477710" y="35179"/>
                  </a:lnTo>
                  <a:lnTo>
                    <a:pt x="477710" y="175856"/>
                  </a:lnTo>
                  <a:lnTo>
                    <a:pt x="480479" y="189547"/>
                  </a:lnTo>
                  <a:lnTo>
                    <a:pt x="488010" y="200723"/>
                  </a:lnTo>
                  <a:lnTo>
                    <a:pt x="499198" y="208254"/>
                  </a:lnTo>
                  <a:lnTo>
                    <a:pt x="512889" y="211023"/>
                  </a:lnTo>
                  <a:lnTo>
                    <a:pt x="891692" y="211023"/>
                  </a:lnTo>
                  <a:lnTo>
                    <a:pt x="905383" y="208254"/>
                  </a:lnTo>
                  <a:lnTo>
                    <a:pt x="916559" y="200723"/>
                  </a:lnTo>
                  <a:lnTo>
                    <a:pt x="924090" y="189547"/>
                  </a:lnTo>
                  <a:lnTo>
                    <a:pt x="926858" y="175856"/>
                  </a:lnTo>
                  <a:lnTo>
                    <a:pt x="926858" y="35179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8158" y="4302442"/>
              <a:ext cx="449141" cy="211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503" y="4302442"/>
              <a:ext cx="449141" cy="211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13056" y="4302442"/>
              <a:ext cx="449580" cy="211454"/>
            </a:xfrm>
            <a:custGeom>
              <a:avLst/>
              <a:gdLst/>
              <a:ahLst/>
              <a:cxnLst/>
              <a:rect l="l" t="t" r="r" b="b"/>
              <a:pathLst>
                <a:path w="449580" h="211454">
                  <a:moveTo>
                    <a:pt x="413971" y="0"/>
                  </a:moveTo>
                  <a:lnTo>
                    <a:pt x="35168" y="0"/>
                  </a:lnTo>
                  <a:lnTo>
                    <a:pt x="21479" y="2763"/>
                  </a:lnTo>
                  <a:lnTo>
                    <a:pt x="10300" y="10301"/>
                  </a:lnTo>
                  <a:lnTo>
                    <a:pt x="2763" y="21480"/>
                  </a:lnTo>
                  <a:lnTo>
                    <a:pt x="0" y="35170"/>
                  </a:lnTo>
                  <a:lnTo>
                    <a:pt x="0" y="175845"/>
                  </a:lnTo>
                  <a:lnTo>
                    <a:pt x="2763" y="189535"/>
                  </a:lnTo>
                  <a:lnTo>
                    <a:pt x="10300" y="200714"/>
                  </a:lnTo>
                  <a:lnTo>
                    <a:pt x="21479" y="208252"/>
                  </a:lnTo>
                  <a:lnTo>
                    <a:pt x="35168" y="211016"/>
                  </a:lnTo>
                  <a:lnTo>
                    <a:pt x="413971" y="211016"/>
                  </a:lnTo>
                  <a:lnTo>
                    <a:pt x="427661" y="208252"/>
                  </a:lnTo>
                  <a:lnTo>
                    <a:pt x="438840" y="200714"/>
                  </a:lnTo>
                  <a:lnTo>
                    <a:pt x="446377" y="189535"/>
                  </a:lnTo>
                  <a:lnTo>
                    <a:pt x="449141" y="175845"/>
                  </a:lnTo>
                  <a:lnTo>
                    <a:pt x="449141" y="35170"/>
                  </a:lnTo>
                  <a:lnTo>
                    <a:pt x="446377" y="21480"/>
                  </a:lnTo>
                  <a:lnTo>
                    <a:pt x="438840" y="10301"/>
                  </a:lnTo>
                  <a:lnTo>
                    <a:pt x="427661" y="2763"/>
                  </a:lnTo>
                  <a:lnTo>
                    <a:pt x="413971" y="0"/>
                  </a:lnTo>
                  <a:close/>
                </a:path>
              </a:pathLst>
            </a:custGeom>
            <a:solidFill>
              <a:srgbClr val="007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06398" y="946393"/>
            <a:ext cx="10281073" cy="4018280"/>
          </a:xfrm>
          <a:custGeom>
            <a:avLst/>
            <a:gdLst/>
            <a:ahLst/>
            <a:cxnLst/>
            <a:rect l="l" t="t" r="r" b="b"/>
            <a:pathLst>
              <a:path w="7710805" h="3013710">
                <a:moveTo>
                  <a:pt x="7710196" y="0"/>
                </a:moveTo>
                <a:lnTo>
                  <a:pt x="0" y="0"/>
                </a:lnTo>
                <a:lnTo>
                  <a:pt x="0" y="3013118"/>
                </a:lnTo>
                <a:lnTo>
                  <a:pt x="7710196" y="3013118"/>
                </a:lnTo>
                <a:lnTo>
                  <a:pt x="7710196" y="0"/>
                </a:lnTo>
                <a:close/>
              </a:path>
            </a:pathLst>
          </a:custGeom>
          <a:solidFill>
            <a:srgbClr val="FFFFFF">
              <a:alpha val="7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14249" y="6007270"/>
            <a:ext cx="188214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dirty="0">
                <a:latin typeface="Calibri"/>
                <a:cs typeface="Calibri"/>
              </a:rPr>
              <a:t>corrupted</a:t>
            </a:r>
            <a:r>
              <a:rPr sz="2133" i="1" spc="-60" dirty="0">
                <a:latin typeface="Calibri"/>
                <a:cs typeface="Calibri"/>
              </a:rPr>
              <a:t> </a:t>
            </a:r>
            <a:r>
              <a:rPr sz="2133" i="1" spc="-13" dirty="0">
                <a:latin typeface="Calibri"/>
                <a:cs typeface="Calibri"/>
              </a:rPr>
              <a:t>tokens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39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Method</a:t>
            </a:r>
            <a:r>
              <a:rPr spc="-27" dirty="0"/>
              <a:t> </a:t>
            </a:r>
            <a:r>
              <a:rPr dirty="0"/>
              <a:t>3:</a:t>
            </a:r>
            <a:r>
              <a:rPr spc="-20" dirty="0"/>
              <a:t> </a:t>
            </a:r>
            <a:r>
              <a:rPr dirty="0"/>
              <a:t>Modify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training</a:t>
            </a:r>
            <a:r>
              <a:rPr spc="-20" dirty="0"/>
              <a:t> </a:t>
            </a:r>
            <a:r>
              <a:rPr spc="-27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7" y="1169753"/>
            <a:ext cx="10929620" cy="419281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9824" marR="6773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incorporated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explicitly</a:t>
            </a:r>
            <a:r>
              <a:rPr sz="2400" spc="-20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 </a:t>
            </a:r>
            <a:r>
              <a:rPr sz="2400" spc="-13" dirty="0">
                <a:latin typeface="Calibri"/>
                <a:cs typeface="Calibri"/>
              </a:rPr>
              <a:t>embeddings </a:t>
            </a:r>
            <a:r>
              <a:rPr sz="2400" dirty="0">
                <a:latin typeface="Calibri"/>
                <a:cs typeface="Calibri"/>
              </a:rPr>
              <a:t>and/or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 </a:t>
            </a:r>
            <a:r>
              <a:rPr sz="2400" spc="-13" dirty="0">
                <a:latin typeface="Calibri"/>
                <a:cs typeface="Calibri"/>
              </a:rPr>
              <a:t>memory.</a:t>
            </a:r>
            <a:endParaRPr sz="2400" dirty="0">
              <a:latin typeface="Calibri"/>
              <a:cs typeface="Calibri"/>
            </a:endParaRPr>
          </a:p>
          <a:p>
            <a:pPr marL="359824" marR="315797" indent="-342891">
              <a:lnSpc>
                <a:spcPts val="2813"/>
              </a:lnSpc>
              <a:spcBef>
                <a:spcPts val="2633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 knowledge also be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incorporated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implicitly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unstructured text?</a:t>
            </a:r>
            <a:endParaRPr sz="2400" dirty="0">
              <a:latin typeface="Calibri"/>
              <a:cs typeface="Calibri"/>
            </a:endParaRPr>
          </a:p>
          <a:p>
            <a:pPr marL="359824" marR="564713" indent="-342891">
              <a:lnSpc>
                <a:spcPct val="102200"/>
              </a:lnSpc>
              <a:spcBef>
                <a:spcPts val="42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Answer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Yes!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corrupt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data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introduce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require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factual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knowledge.</a:t>
            </a:r>
            <a:endParaRPr sz="2400" dirty="0">
              <a:latin typeface="Calibri"/>
              <a:cs typeface="Calibri"/>
            </a:endParaRPr>
          </a:p>
          <a:p>
            <a:pPr marL="358978" indent="-342045">
              <a:spcBef>
                <a:spcPts val="246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Advantages: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No</a:t>
            </a:r>
            <a:r>
              <a:rPr sz="2400" spc="-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additional</a:t>
            </a:r>
            <a:r>
              <a:rPr sz="2400" spc="-3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memory/computation</a:t>
            </a:r>
            <a:r>
              <a:rPr sz="2400" spc="-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requirements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No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modification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architecture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required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40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-42838"/>
            <a:ext cx="11658601" cy="1097095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>
              <a:lnSpc>
                <a:spcPct val="100800"/>
              </a:lnSpc>
              <a:spcBef>
                <a:spcPts val="100"/>
              </a:spcBef>
            </a:pPr>
            <a:r>
              <a:rPr sz="3600" dirty="0"/>
              <a:t>Pretrained</a:t>
            </a:r>
            <a:r>
              <a:rPr sz="3600" spc="-47" dirty="0"/>
              <a:t> </a:t>
            </a:r>
            <a:r>
              <a:rPr sz="3600" dirty="0"/>
              <a:t>Encyclopedia:</a:t>
            </a:r>
            <a:r>
              <a:rPr sz="3600" spc="-33" dirty="0"/>
              <a:t> </a:t>
            </a:r>
            <a:r>
              <a:rPr sz="3600" dirty="0"/>
              <a:t>Weakly</a:t>
            </a:r>
            <a:r>
              <a:rPr sz="3600" spc="-40" dirty="0"/>
              <a:t> </a:t>
            </a:r>
            <a:r>
              <a:rPr sz="3600" dirty="0"/>
              <a:t>Supervised</a:t>
            </a:r>
            <a:r>
              <a:rPr sz="3600" spc="-40" dirty="0"/>
              <a:t> </a:t>
            </a:r>
            <a:r>
              <a:rPr sz="3600" spc="-13" dirty="0"/>
              <a:t>Knowledge- </a:t>
            </a:r>
            <a:r>
              <a:rPr sz="3600" dirty="0"/>
              <a:t>Pretrained</a:t>
            </a:r>
            <a:r>
              <a:rPr sz="3600" spc="-47" dirty="0"/>
              <a:t> </a:t>
            </a:r>
            <a:r>
              <a:rPr sz="3600" dirty="0"/>
              <a:t>Language</a:t>
            </a:r>
            <a:r>
              <a:rPr sz="3600" spc="-20" dirty="0"/>
              <a:t> </a:t>
            </a:r>
            <a:r>
              <a:rPr sz="3600" dirty="0"/>
              <a:t>Model</a:t>
            </a:r>
            <a:r>
              <a:rPr sz="3600" spc="-33" dirty="0"/>
              <a:t> </a:t>
            </a:r>
            <a:r>
              <a:rPr sz="3600" dirty="0"/>
              <a:t>(WKLM)</a:t>
            </a:r>
            <a:r>
              <a:rPr sz="3600" spc="-20" dirty="0"/>
              <a:t> </a:t>
            </a:r>
            <a:r>
              <a:rPr sz="2400" dirty="0">
                <a:latin typeface="Calibri"/>
                <a:cs typeface="Calibri"/>
              </a:rPr>
              <a:t>[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Xiong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ICLR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2020</a:t>
            </a:r>
            <a:r>
              <a:rPr sz="2400" spc="-13" dirty="0">
                <a:latin typeface="Calibri"/>
                <a:cs typeface="Calibri"/>
              </a:rPr>
              <a:t>]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8" y="1515195"/>
            <a:ext cx="11078633" cy="23401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8978" indent="-342045">
              <a:spcBef>
                <a:spcPts val="13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idea: train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false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knowledge</a:t>
            </a:r>
            <a:endParaRPr sz="2400">
              <a:latin typeface="Calibri"/>
              <a:cs typeface="Calibri"/>
            </a:endParaRPr>
          </a:p>
          <a:p>
            <a:pPr marL="359824" marR="6773" indent="-342891">
              <a:lnSpc>
                <a:spcPct val="102200"/>
              </a:lnSpc>
              <a:spcBef>
                <a:spcPts val="236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Replace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mentions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 with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mentions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27" dirty="0">
                <a:solidFill>
                  <a:srgbClr val="3A87FF"/>
                </a:solidFill>
                <a:latin typeface="Calibri"/>
                <a:cs typeface="Calibri"/>
              </a:rPr>
              <a:t>same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type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negative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knowledge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statements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Model predicts if entity 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 </a:t>
            </a:r>
            <a:r>
              <a:rPr sz="2400" spc="-33" dirty="0">
                <a:latin typeface="Calibri"/>
                <a:cs typeface="Calibri"/>
              </a:rPr>
              <a:t>not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612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13" dirty="0">
                <a:latin typeface="Calibri"/>
                <a:cs typeface="Calibri"/>
              </a:rPr>
              <a:t>Type-</a:t>
            </a:r>
            <a:r>
              <a:rPr sz="2400" dirty="0">
                <a:latin typeface="Calibri"/>
                <a:cs typeface="Calibri"/>
              </a:rPr>
              <a:t>constraint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intended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enforce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linguistically correct </a:t>
            </a:r>
            <a:r>
              <a:rPr sz="2400" spc="-13" dirty="0">
                <a:latin typeface="Calibri"/>
                <a:cs typeface="Calibri"/>
              </a:rPr>
              <a:t>sentences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4563195"/>
            <a:ext cx="34247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dirty="0">
                <a:latin typeface="Calibri"/>
                <a:cs typeface="Calibri"/>
              </a:rPr>
              <a:t>True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knowledge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alibri"/>
                <a:cs typeface="Calibri"/>
              </a:rPr>
              <a:t>statement: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8188" y="4563195"/>
            <a:ext cx="51553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sng" dirty="0">
                <a:solidFill>
                  <a:srgbClr val="00B050"/>
                </a:solidFill>
                <a:uFill>
                  <a:solidFill>
                    <a:srgbClr val="00B050"/>
                  </a:solidFill>
                </a:uFill>
                <a:latin typeface="Calibri"/>
                <a:cs typeface="Calibri"/>
              </a:rPr>
              <a:t>J.K.</a:t>
            </a:r>
            <a:r>
              <a:rPr sz="2400" u="sng" spc="-20" dirty="0">
                <a:solidFill>
                  <a:srgbClr val="00B050"/>
                </a:solidFill>
                <a:uFill>
                  <a:solidFill>
                    <a:srgbClr val="00B05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B050"/>
                </a:solidFill>
                <a:uFill>
                  <a:solidFill>
                    <a:srgbClr val="00B050"/>
                  </a:solidFill>
                </a:uFill>
                <a:latin typeface="Calibri"/>
                <a:cs typeface="Calibri"/>
              </a:rPr>
              <a:t>Rowling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author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Harry 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Potter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387" y="5441019"/>
            <a:ext cx="39759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i="1" dirty="0">
                <a:latin typeface="Calibri"/>
                <a:cs typeface="Calibri"/>
              </a:rPr>
              <a:t>Negative</a:t>
            </a:r>
            <a:r>
              <a:rPr sz="2400" i="1" spc="-3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knowledge</a:t>
            </a:r>
            <a:r>
              <a:rPr sz="2400" i="1" spc="-27" dirty="0">
                <a:latin typeface="Calibri"/>
                <a:cs typeface="Calibri"/>
              </a:rPr>
              <a:t> </a:t>
            </a:r>
            <a:r>
              <a:rPr sz="2400" i="1" spc="-13" dirty="0">
                <a:latin typeface="Calibri"/>
                <a:cs typeface="Calibri"/>
              </a:rPr>
              <a:t>statement: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8188" y="5441019"/>
            <a:ext cx="53839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J.R.R.</a:t>
            </a:r>
            <a:r>
              <a:rPr sz="2400" u="sng" spc="-27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Tolkien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author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Harry</a:t>
            </a:r>
            <a:r>
              <a:rPr sz="2400"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Potter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38948" y="5016835"/>
            <a:ext cx="469053" cy="469053"/>
          </a:xfrm>
          <a:custGeom>
            <a:avLst/>
            <a:gdLst/>
            <a:ahLst/>
            <a:cxnLst/>
            <a:rect l="l" t="t" r="r" b="b"/>
            <a:pathLst>
              <a:path w="351789" h="351789">
                <a:moveTo>
                  <a:pt x="263768" y="0"/>
                </a:moveTo>
                <a:lnTo>
                  <a:pt x="87923" y="0"/>
                </a:lnTo>
                <a:lnTo>
                  <a:pt x="87923" y="175846"/>
                </a:lnTo>
                <a:lnTo>
                  <a:pt x="0" y="175846"/>
                </a:lnTo>
                <a:lnTo>
                  <a:pt x="175845" y="351692"/>
                </a:lnTo>
                <a:lnTo>
                  <a:pt x="351692" y="175846"/>
                </a:lnTo>
                <a:lnTo>
                  <a:pt x="263768" y="175846"/>
                </a:lnTo>
                <a:lnTo>
                  <a:pt x="263768" y="0"/>
                </a:lnTo>
                <a:close/>
              </a:path>
            </a:pathLst>
          </a:custGeom>
          <a:solidFill>
            <a:srgbClr val="61005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WKL</a:t>
            </a:r>
            <a:r>
              <a:rPr lang="en-US" dirty="0"/>
              <a:t>M</a:t>
            </a:r>
            <a:endParaRPr spc="-13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4883150"/>
            <a:ext cx="22542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41</a:t>
            </a:fld>
            <a:endParaRPr spc="-33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703" y="1256793"/>
            <a:ext cx="10063479" cy="52059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5875" y="2193643"/>
            <a:ext cx="384387" cy="282787"/>
          </a:xfrm>
          <a:custGeom>
            <a:avLst/>
            <a:gdLst/>
            <a:ahLst/>
            <a:cxnLst/>
            <a:rect l="l" t="t" r="r" b="b"/>
            <a:pathLst>
              <a:path w="288289" h="212089">
                <a:moveTo>
                  <a:pt x="288066" y="2007"/>
                </a:moveTo>
                <a:lnTo>
                  <a:pt x="270877" y="2007"/>
                </a:lnTo>
                <a:lnTo>
                  <a:pt x="270877" y="209734"/>
                </a:lnTo>
                <a:lnTo>
                  <a:pt x="288066" y="209734"/>
                </a:lnTo>
                <a:lnTo>
                  <a:pt x="288066" y="2007"/>
                </a:lnTo>
                <a:close/>
              </a:path>
              <a:path w="28828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67401" y="2193643"/>
            <a:ext cx="384387" cy="282787"/>
          </a:xfrm>
          <a:custGeom>
            <a:avLst/>
            <a:gdLst/>
            <a:ahLst/>
            <a:cxnLst/>
            <a:rect l="l" t="t" r="r" b="b"/>
            <a:pathLst>
              <a:path w="288290" h="212089">
                <a:moveTo>
                  <a:pt x="288065" y="2007"/>
                </a:moveTo>
                <a:lnTo>
                  <a:pt x="270875" y="2007"/>
                </a:lnTo>
                <a:lnTo>
                  <a:pt x="270875" y="209734"/>
                </a:lnTo>
                <a:lnTo>
                  <a:pt x="288065" y="209734"/>
                </a:lnTo>
                <a:lnTo>
                  <a:pt x="288065" y="2007"/>
                </a:lnTo>
                <a:close/>
              </a:path>
              <a:path w="28829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587" y="1116921"/>
            <a:ext cx="11044767" cy="475457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410623" marR="327652" indent="-342891">
              <a:lnSpc>
                <a:spcPts val="2813"/>
              </a:lnSpc>
              <a:spcBef>
                <a:spcPts val="280"/>
              </a:spcBef>
              <a:buClr>
                <a:srgbClr val="8C1515"/>
              </a:buClr>
              <a:buFont typeface="Times New Roman"/>
              <a:buChar char="•"/>
              <a:tabLst>
                <a:tab pos="410623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replacement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false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mentions</a:t>
            </a:r>
            <a:endParaRPr sz="2400" dirty="0">
              <a:latin typeface="Calibri"/>
              <a:cs typeface="Calibri"/>
            </a:endParaRPr>
          </a:p>
          <a:p>
            <a:pPr marL="251454" algn="ctr">
              <a:spcBef>
                <a:spcPts val="1967"/>
              </a:spcBef>
              <a:tabLst>
                <a:tab pos="3588930" algn="l"/>
                <a:tab pos="7760353" algn="l"/>
              </a:tabLst>
            </a:pPr>
            <a:r>
              <a:rPr sz="2400" spc="80" dirty="0">
                <a:latin typeface="Cambria Math"/>
                <a:cs typeface="Cambria Math"/>
              </a:rPr>
              <a:t>ℒ</a:t>
            </a:r>
            <a:r>
              <a:rPr sz="2600" spc="119" baseline="-14957" dirty="0">
                <a:latin typeface="Cambria Math"/>
                <a:cs typeface="Cambria Math"/>
              </a:rPr>
              <a:t>𝑒𝑛𝑡𝑅𝑒𝑝</a:t>
            </a:r>
            <a:r>
              <a:rPr sz="2600" spc="669" baseline="-149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 </a:t>
            </a:r>
            <a:r>
              <a:rPr sz="2400" dirty="0">
                <a:latin typeface="Cambria Math"/>
                <a:cs typeface="Cambria Math"/>
              </a:rPr>
              <a:t>𝕝</a:t>
            </a:r>
            <a:r>
              <a:rPr sz="2600" baseline="-19230" dirty="0">
                <a:latin typeface="Cambria Math"/>
                <a:cs typeface="Cambria Math"/>
              </a:rPr>
              <a:t>𝑒∈ℇ</a:t>
            </a:r>
            <a:r>
              <a:rPr sz="1467" dirty="0">
                <a:latin typeface="Cambria Math"/>
                <a:cs typeface="Cambria Math"/>
              </a:rPr>
              <a:t>+</a:t>
            </a:r>
            <a:r>
              <a:rPr sz="1467" spc="660" dirty="0">
                <a:latin typeface="Cambria Math"/>
                <a:cs typeface="Cambria Math"/>
              </a:rPr>
              <a:t> </a:t>
            </a:r>
            <a:r>
              <a:rPr sz="2400" spc="-13" dirty="0">
                <a:latin typeface="Cambria Math"/>
                <a:cs typeface="Cambria Math"/>
              </a:rPr>
              <a:t>log</a:t>
            </a:r>
            <a:r>
              <a:rPr sz="2400" spc="-11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67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𝑒</a:t>
            </a:r>
            <a:r>
              <a:rPr sz="2400" dirty="0">
                <a:latin typeface="Cambria Math"/>
                <a:cs typeface="Cambria Math"/>
              </a:rPr>
              <a:t>	𝐶)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2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(1</a:t>
            </a:r>
            <a:r>
              <a:rPr sz="2400" spc="579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579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𝕝</a:t>
            </a:r>
            <a:r>
              <a:rPr sz="2600" baseline="-19230" dirty="0">
                <a:latin typeface="Cambria Math"/>
                <a:cs typeface="Cambria Math"/>
              </a:rPr>
              <a:t>𝑒∈ℇ</a:t>
            </a:r>
            <a:r>
              <a:rPr sz="1467" dirty="0">
                <a:latin typeface="Cambria Math"/>
                <a:cs typeface="Cambria Math"/>
              </a:rPr>
              <a:t>+</a:t>
            </a:r>
            <a:r>
              <a:rPr sz="1467" spc="23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-11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log(1</a:t>
            </a:r>
            <a:r>
              <a:rPr sz="2400" spc="5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0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45" dirty="0">
                <a:latin typeface="Cambria Math"/>
                <a:cs typeface="Cambria Math"/>
              </a:rPr>
              <a:t> </a:t>
            </a:r>
            <a:r>
              <a:rPr sz="2400" spc="-67" dirty="0">
                <a:latin typeface="Cambria Math"/>
                <a:cs typeface="Cambria Math"/>
              </a:rPr>
              <a:t>𝑒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33" dirty="0">
                <a:latin typeface="Cambria Math"/>
                <a:cs typeface="Cambria Math"/>
              </a:rPr>
              <a:t>𝐶))</a:t>
            </a:r>
            <a:endParaRPr sz="2400" dirty="0">
              <a:latin typeface="Cambria Math"/>
              <a:cs typeface="Cambria Math"/>
            </a:endParaRPr>
          </a:p>
          <a:p>
            <a:pPr marL="67732">
              <a:spcBef>
                <a:spcPts val="2593"/>
              </a:spcBef>
            </a:pPr>
            <a:r>
              <a:rPr sz="2400" dirty="0">
                <a:latin typeface="Calibri"/>
                <a:cs typeface="Calibri"/>
              </a:rPr>
              <a:t>where 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 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context, 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ℇ</a:t>
            </a:r>
            <a:r>
              <a:rPr sz="2600" baseline="27777" dirty="0">
                <a:latin typeface="Cambria Math"/>
                <a:cs typeface="Cambria Math"/>
              </a:rPr>
              <a:t>+</a:t>
            </a:r>
            <a:r>
              <a:rPr sz="2600" spc="379" baseline="27777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represents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true 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mention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60"/>
              </a:spcBef>
            </a:pPr>
            <a:endParaRPr sz="3200" dirty="0">
              <a:latin typeface="Calibri"/>
              <a:cs typeface="Calibri"/>
            </a:endParaRPr>
          </a:p>
          <a:p>
            <a:pPr marL="410623" marR="40639" indent="-342891">
              <a:lnSpc>
                <a:spcPct val="102200"/>
              </a:lnSpc>
              <a:buClr>
                <a:srgbClr val="8C1515"/>
              </a:buClr>
              <a:buFont typeface="Times New Roman"/>
              <a:buChar char="•"/>
              <a:tabLst>
                <a:tab pos="410623" algn="l"/>
              </a:tabLst>
            </a:pP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standard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masked language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(MLM)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replacement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loss.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60"/>
              </a:spcBef>
              <a:buClr>
                <a:srgbClr val="8C1515"/>
              </a:buClr>
              <a:buFont typeface="Times New Roman"/>
              <a:buChar char="•"/>
            </a:pPr>
            <a:endParaRPr sz="2467" dirty="0">
              <a:latin typeface="Calibri"/>
              <a:cs typeface="Calibri"/>
            </a:endParaRPr>
          </a:p>
          <a:p>
            <a:pPr marL="693403" algn="ctr">
              <a:spcBef>
                <a:spcPts val="7"/>
              </a:spcBef>
            </a:pPr>
            <a:r>
              <a:rPr sz="3600" baseline="10802" dirty="0">
                <a:latin typeface="Cambria Math"/>
                <a:cs typeface="Cambria Math"/>
              </a:rPr>
              <a:t>ℒ</a:t>
            </a:r>
            <a:r>
              <a:rPr sz="1733" dirty="0">
                <a:latin typeface="Cambria Math"/>
                <a:cs typeface="Cambria Math"/>
              </a:rPr>
              <a:t>𝖶𝐾𝐿𝑀</a:t>
            </a:r>
            <a:r>
              <a:rPr sz="1733" spc="433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libri"/>
                <a:cs typeface="Calibri"/>
              </a:rPr>
              <a:t>=</a:t>
            </a:r>
            <a:r>
              <a:rPr sz="3600" spc="160" baseline="10802" dirty="0">
                <a:latin typeface="Calibri"/>
                <a:cs typeface="Calibri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ℒ</a:t>
            </a:r>
            <a:r>
              <a:rPr sz="1733" dirty="0">
                <a:latin typeface="Cambria Math"/>
                <a:cs typeface="Cambria Math"/>
              </a:rPr>
              <a:t>𝑀𝐿𝑀</a:t>
            </a:r>
            <a:r>
              <a:rPr sz="1733" spc="427" dirty="0">
                <a:latin typeface="Cambria Math"/>
                <a:cs typeface="Cambria Math"/>
              </a:rPr>
              <a:t> </a:t>
            </a:r>
            <a:r>
              <a:rPr sz="3600" baseline="10802" dirty="0">
                <a:latin typeface="Cambria Math"/>
                <a:cs typeface="Cambria Math"/>
              </a:rPr>
              <a:t>+</a:t>
            </a:r>
            <a:r>
              <a:rPr sz="3600" spc="160" baseline="10802" dirty="0">
                <a:latin typeface="Cambria Math"/>
                <a:cs typeface="Cambria Math"/>
              </a:rPr>
              <a:t> </a:t>
            </a:r>
            <a:r>
              <a:rPr sz="3600" spc="100" baseline="10802" dirty="0">
                <a:latin typeface="Cambria Math"/>
                <a:cs typeface="Cambria Math"/>
              </a:rPr>
              <a:t>ℒ</a:t>
            </a:r>
            <a:r>
              <a:rPr sz="1733" spc="67" dirty="0">
                <a:latin typeface="Cambria Math"/>
                <a:cs typeface="Cambria Math"/>
              </a:rPr>
              <a:t>𝑒𝑛𝑡𝑅𝑒𝑝</a:t>
            </a:r>
            <a:endParaRPr sz="1733" dirty="0">
              <a:latin typeface="Cambria Math"/>
              <a:cs typeface="Cambria Math"/>
            </a:endParaRPr>
          </a:p>
          <a:p>
            <a:pPr marL="409776" indent="-342045">
              <a:spcBef>
                <a:spcPts val="2240"/>
              </a:spcBef>
              <a:buClr>
                <a:srgbClr val="8C1515"/>
              </a:buClr>
              <a:buFont typeface="Times New Roman"/>
              <a:buChar char="•"/>
              <a:tabLst>
                <a:tab pos="409776" algn="l"/>
              </a:tabLst>
            </a:pPr>
            <a:r>
              <a:rPr sz="2400" dirty="0">
                <a:latin typeface="Calibri"/>
                <a:cs typeface="Calibri"/>
              </a:rPr>
              <a:t>MLM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token-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level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entRep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entity-level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42</a:t>
            </a:fld>
            <a:endParaRPr spc="-33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WKLM</a:t>
            </a:r>
            <a:endParaRPr spc="-13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387" y="962490"/>
            <a:ext cx="7647940" cy="2249334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8978" indent="-342045">
              <a:spcBef>
                <a:spcPts val="740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GPT-</a:t>
            </a:r>
            <a:r>
              <a:rPr sz="2400" dirty="0">
                <a:latin typeface="Calibri"/>
                <a:cs typeface="Calibri"/>
              </a:rPr>
              <a:t>2 in fact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completion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6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 a downstream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(entity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typing)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Ablation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experiments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MLM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essential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downstream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13" dirty="0">
                <a:latin typeface="Calibri"/>
                <a:cs typeface="Calibri"/>
              </a:rPr>
              <a:t> performance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WKLM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outperforms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longer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loss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7687" y="3685104"/>
          <a:ext cx="10996502" cy="19778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6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6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SQuAD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(F1)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TriviaQA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(F1)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Quasar-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(F1)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FIGER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(acc)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WKLM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91.3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56.7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49.9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60.21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WKLM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w/o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MLM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87.6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52.5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48.1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58.44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BERT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1M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Updates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91.1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56.3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48.2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54.17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43</a:t>
            </a:fld>
            <a:endParaRPr spc="-33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WKLM</a:t>
            </a:r>
            <a:endParaRPr spc="-13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4955" y="5743110"/>
            <a:ext cx="4656667" cy="67197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533"/>
              </a:lnSpc>
              <a:spcBef>
                <a:spcPts val="240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Much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worse</a:t>
            </a:r>
            <a:r>
              <a:rPr sz="2133" spc="-4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training</a:t>
            </a:r>
            <a:r>
              <a:rPr sz="2133" spc="-5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for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27" dirty="0">
                <a:solidFill>
                  <a:srgbClr val="FF30EE"/>
                </a:solidFill>
                <a:latin typeface="Calibri"/>
                <a:cs typeface="Calibri"/>
              </a:rPr>
              <a:t>longer,</a:t>
            </a:r>
            <a:r>
              <a:rPr sz="2133" spc="-4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compared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to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using</a:t>
            </a:r>
            <a:r>
              <a:rPr sz="2133" spc="-4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the</a:t>
            </a:r>
            <a:r>
              <a:rPr sz="2133" spc="-4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entity</a:t>
            </a:r>
            <a:r>
              <a:rPr sz="2133" spc="-40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replacement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27" dirty="0">
                <a:solidFill>
                  <a:srgbClr val="FF30EE"/>
                </a:solidFill>
                <a:latin typeface="Calibri"/>
                <a:cs typeface="Calibri"/>
              </a:rPr>
              <a:t>loss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14183" y="5337151"/>
            <a:ext cx="1182792" cy="773853"/>
          </a:xfrm>
          <a:custGeom>
            <a:avLst/>
            <a:gdLst/>
            <a:ahLst/>
            <a:cxnLst/>
            <a:rect l="l" t="t" r="r" b="b"/>
            <a:pathLst>
              <a:path w="887095" h="580389">
                <a:moveTo>
                  <a:pt x="674297" y="569118"/>
                </a:moveTo>
                <a:lnTo>
                  <a:pt x="653219" y="570640"/>
                </a:lnTo>
                <a:lnTo>
                  <a:pt x="653905" y="580140"/>
                </a:lnTo>
                <a:lnTo>
                  <a:pt x="675634" y="578571"/>
                </a:lnTo>
                <a:lnTo>
                  <a:pt x="697482" y="573937"/>
                </a:lnTo>
                <a:lnTo>
                  <a:pt x="711148" y="569186"/>
                </a:lnTo>
                <a:lnTo>
                  <a:pt x="673977" y="569186"/>
                </a:lnTo>
                <a:lnTo>
                  <a:pt x="674297" y="569118"/>
                </a:lnTo>
                <a:close/>
              </a:path>
              <a:path w="887095" h="580389">
                <a:moveTo>
                  <a:pt x="674622" y="569095"/>
                </a:moveTo>
                <a:lnTo>
                  <a:pt x="674297" y="569118"/>
                </a:lnTo>
                <a:lnTo>
                  <a:pt x="673977" y="569186"/>
                </a:lnTo>
                <a:lnTo>
                  <a:pt x="674622" y="569095"/>
                </a:lnTo>
                <a:close/>
              </a:path>
              <a:path w="887095" h="580389">
                <a:moveTo>
                  <a:pt x="711410" y="569095"/>
                </a:moveTo>
                <a:lnTo>
                  <a:pt x="674622" y="569095"/>
                </a:lnTo>
                <a:lnTo>
                  <a:pt x="673977" y="569186"/>
                </a:lnTo>
                <a:lnTo>
                  <a:pt x="711148" y="569186"/>
                </a:lnTo>
                <a:lnTo>
                  <a:pt x="711410" y="569095"/>
                </a:lnTo>
                <a:close/>
              </a:path>
              <a:path w="887095" h="580389">
                <a:moveTo>
                  <a:pt x="694920" y="564743"/>
                </a:moveTo>
                <a:lnTo>
                  <a:pt x="674297" y="569118"/>
                </a:lnTo>
                <a:lnTo>
                  <a:pt x="674622" y="569095"/>
                </a:lnTo>
                <a:lnTo>
                  <a:pt x="711410" y="569095"/>
                </a:lnTo>
                <a:lnTo>
                  <a:pt x="718925" y="566482"/>
                </a:lnTo>
                <a:lnTo>
                  <a:pt x="722328" y="564842"/>
                </a:lnTo>
                <a:lnTo>
                  <a:pt x="694637" y="564842"/>
                </a:lnTo>
                <a:lnTo>
                  <a:pt x="694920" y="564743"/>
                </a:lnTo>
                <a:close/>
              </a:path>
              <a:path w="887095" h="580389">
                <a:moveTo>
                  <a:pt x="695213" y="564681"/>
                </a:moveTo>
                <a:lnTo>
                  <a:pt x="694920" y="564743"/>
                </a:lnTo>
                <a:lnTo>
                  <a:pt x="694637" y="564842"/>
                </a:lnTo>
                <a:lnTo>
                  <a:pt x="695213" y="564681"/>
                </a:lnTo>
                <a:close/>
              </a:path>
              <a:path w="887095" h="580389">
                <a:moveTo>
                  <a:pt x="722661" y="564681"/>
                </a:moveTo>
                <a:lnTo>
                  <a:pt x="695213" y="564681"/>
                </a:lnTo>
                <a:lnTo>
                  <a:pt x="694637" y="564842"/>
                </a:lnTo>
                <a:lnTo>
                  <a:pt x="722328" y="564842"/>
                </a:lnTo>
                <a:lnTo>
                  <a:pt x="722661" y="564681"/>
                </a:lnTo>
                <a:close/>
              </a:path>
              <a:path w="887095" h="580389">
                <a:moveTo>
                  <a:pt x="737405" y="557575"/>
                </a:moveTo>
                <a:lnTo>
                  <a:pt x="715539" y="557575"/>
                </a:lnTo>
                <a:lnTo>
                  <a:pt x="715035" y="557783"/>
                </a:lnTo>
                <a:lnTo>
                  <a:pt x="694920" y="564743"/>
                </a:lnTo>
                <a:lnTo>
                  <a:pt x="695213" y="564681"/>
                </a:lnTo>
                <a:lnTo>
                  <a:pt x="722661" y="564681"/>
                </a:lnTo>
                <a:lnTo>
                  <a:pt x="737405" y="557575"/>
                </a:lnTo>
                <a:close/>
              </a:path>
              <a:path w="887095" h="580389">
                <a:moveTo>
                  <a:pt x="715280" y="557665"/>
                </a:moveTo>
                <a:lnTo>
                  <a:pt x="714940" y="557783"/>
                </a:lnTo>
                <a:lnTo>
                  <a:pt x="715280" y="557665"/>
                </a:lnTo>
                <a:close/>
              </a:path>
              <a:path w="887095" h="580389">
                <a:moveTo>
                  <a:pt x="715539" y="557575"/>
                </a:moveTo>
                <a:lnTo>
                  <a:pt x="715280" y="557665"/>
                </a:lnTo>
                <a:lnTo>
                  <a:pt x="715035" y="557783"/>
                </a:lnTo>
                <a:lnTo>
                  <a:pt x="715539" y="557575"/>
                </a:lnTo>
                <a:close/>
              </a:path>
              <a:path w="887095" h="580389">
                <a:moveTo>
                  <a:pt x="753496" y="547952"/>
                </a:moveTo>
                <a:lnTo>
                  <a:pt x="735434" y="547952"/>
                </a:lnTo>
                <a:lnTo>
                  <a:pt x="734997" y="548191"/>
                </a:lnTo>
                <a:lnTo>
                  <a:pt x="715280" y="557665"/>
                </a:lnTo>
                <a:lnTo>
                  <a:pt x="715539" y="557575"/>
                </a:lnTo>
                <a:lnTo>
                  <a:pt x="737405" y="557575"/>
                </a:lnTo>
                <a:lnTo>
                  <a:pt x="739794" y="556424"/>
                </a:lnTo>
                <a:lnTo>
                  <a:pt x="753496" y="547952"/>
                </a:lnTo>
                <a:close/>
              </a:path>
              <a:path w="887095" h="580389">
                <a:moveTo>
                  <a:pt x="735209" y="548060"/>
                </a:moveTo>
                <a:lnTo>
                  <a:pt x="734937" y="548191"/>
                </a:lnTo>
                <a:lnTo>
                  <a:pt x="735209" y="548060"/>
                </a:lnTo>
                <a:close/>
              </a:path>
              <a:path w="887095" h="580389">
                <a:moveTo>
                  <a:pt x="735434" y="547952"/>
                </a:moveTo>
                <a:lnTo>
                  <a:pt x="735209" y="548060"/>
                </a:lnTo>
                <a:lnTo>
                  <a:pt x="734997" y="548191"/>
                </a:lnTo>
                <a:lnTo>
                  <a:pt x="735434" y="547952"/>
                </a:lnTo>
                <a:close/>
              </a:path>
              <a:path w="887095" h="580389">
                <a:moveTo>
                  <a:pt x="770424" y="535992"/>
                </a:moveTo>
                <a:lnTo>
                  <a:pt x="754726" y="535992"/>
                </a:lnTo>
                <a:lnTo>
                  <a:pt x="754348" y="536253"/>
                </a:lnTo>
                <a:lnTo>
                  <a:pt x="735209" y="548060"/>
                </a:lnTo>
                <a:lnTo>
                  <a:pt x="735434" y="547952"/>
                </a:lnTo>
                <a:lnTo>
                  <a:pt x="753496" y="547952"/>
                </a:lnTo>
                <a:lnTo>
                  <a:pt x="759931" y="543973"/>
                </a:lnTo>
                <a:lnTo>
                  <a:pt x="770424" y="535992"/>
                </a:lnTo>
                <a:close/>
              </a:path>
              <a:path w="887095" h="580389">
                <a:moveTo>
                  <a:pt x="754531" y="536113"/>
                </a:moveTo>
                <a:lnTo>
                  <a:pt x="754306" y="536253"/>
                </a:lnTo>
                <a:lnTo>
                  <a:pt x="754531" y="536113"/>
                </a:lnTo>
                <a:close/>
              </a:path>
              <a:path w="887095" h="580389">
                <a:moveTo>
                  <a:pt x="787333" y="521884"/>
                </a:moveTo>
                <a:lnTo>
                  <a:pt x="773240" y="521884"/>
                </a:lnTo>
                <a:lnTo>
                  <a:pt x="772911" y="522158"/>
                </a:lnTo>
                <a:lnTo>
                  <a:pt x="754531" y="536113"/>
                </a:lnTo>
                <a:lnTo>
                  <a:pt x="754726" y="535992"/>
                </a:lnTo>
                <a:lnTo>
                  <a:pt x="770424" y="535992"/>
                </a:lnTo>
                <a:lnTo>
                  <a:pt x="779178" y="529335"/>
                </a:lnTo>
                <a:lnTo>
                  <a:pt x="787333" y="521884"/>
                </a:lnTo>
                <a:close/>
              </a:path>
              <a:path w="887095" h="580389">
                <a:moveTo>
                  <a:pt x="773071" y="522012"/>
                </a:moveTo>
                <a:lnTo>
                  <a:pt x="772879" y="522158"/>
                </a:lnTo>
                <a:lnTo>
                  <a:pt x="773071" y="522012"/>
                </a:lnTo>
                <a:close/>
              </a:path>
              <a:path w="887095" h="580389">
                <a:moveTo>
                  <a:pt x="803734" y="505816"/>
                </a:moveTo>
                <a:lnTo>
                  <a:pt x="790798" y="505816"/>
                </a:lnTo>
                <a:lnTo>
                  <a:pt x="790510" y="506103"/>
                </a:lnTo>
                <a:lnTo>
                  <a:pt x="773071" y="522012"/>
                </a:lnTo>
                <a:lnTo>
                  <a:pt x="773240" y="521884"/>
                </a:lnTo>
                <a:lnTo>
                  <a:pt x="787333" y="521884"/>
                </a:lnTo>
                <a:lnTo>
                  <a:pt x="797373" y="512711"/>
                </a:lnTo>
                <a:lnTo>
                  <a:pt x="803734" y="505816"/>
                </a:lnTo>
                <a:close/>
              </a:path>
              <a:path w="887095" h="580389">
                <a:moveTo>
                  <a:pt x="790646" y="505955"/>
                </a:moveTo>
                <a:lnTo>
                  <a:pt x="790484" y="506103"/>
                </a:lnTo>
                <a:lnTo>
                  <a:pt x="790646" y="505955"/>
                </a:lnTo>
                <a:close/>
              </a:path>
              <a:path w="887095" h="580389">
                <a:moveTo>
                  <a:pt x="819289" y="487985"/>
                </a:moveTo>
                <a:lnTo>
                  <a:pt x="807225" y="487985"/>
                </a:lnTo>
                <a:lnTo>
                  <a:pt x="806971" y="488284"/>
                </a:lnTo>
                <a:lnTo>
                  <a:pt x="790646" y="505955"/>
                </a:lnTo>
                <a:lnTo>
                  <a:pt x="790798" y="505816"/>
                </a:lnTo>
                <a:lnTo>
                  <a:pt x="803734" y="505816"/>
                </a:lnTo>
                <a:lnTo>
                  <a:pt x="814359" y="494300"/>
                </a:lnTo>
                <a:lnTo>
                  <a:pt x="819289" y="487985"/>
                </a:lnTo>
                <a:close/>
              </a:path>
              <a:path w="887095" h="580389">
                <a:moveTo>
                  <a:pt x="807090" y="488132"/>
                </a:moveTo>
                <a:lnTo>
                  <a:pt x="806950" y="488284"/>
                </a:lnTo>
                <a:lnTo>
                  <a:pt x="807090" y="488132"/>
                </a:lnTo>
                <a:close/>
              </a:path>
              <a:path w="887095" h="580389">
                <a:moveTo>
                  <a:pt x="833732" y="468588"/>
                </a:moveTo>
                <a:lnTo>
                  <a:pt x="822349" y="468588"/>
                </a:lnTo>
                <a:lnTo>
                  <a:pt x="822124" y="468901"/>
                </a:lnTo>
                <a:lnTo>
                  <a:pt x="807090" y="488132"/>
                </a:lnTo>
                <a:lnTo>
                  <a:pt x="807225" y="487985"/>
                </a:lnTo>
                <a:lnTo>
                  <a:pt x="819289" y="487985"/>
                </a:lnTo>
                <a:lnTo>
                  <a:pt x="829975" y="474298"/>
                </a:lnTo>
                <a:lnTo>
                  <a:pt x="833732" y="468588"/>
                </a:lnTo>
                <a:close/>
              </a:path>
              <a:path w="887095" h="580389">
                <a:moveTo>
                  <a:pt x="822228" y="468743"/>
                </a:moveTo>
                <a:lnTo>
                  <a:pt x="822104" y="468901"/>
                </a:lnTo>
                <a:lnTo>
                  <a:pt x="822228" y="468743"/>
                </a:lnTo>
                <a:close/>
              </a:path>
              <a:path w="887095" h="580389">
                <a:moveTo>
                  <a:pt x="846836" y="447824"/>
                </a:moveTo>
                <a:lnTo>
                  <a:pt x="835992" y="447824"/>
                </a:lnTo>
                <a:lnTo>
                  <a:pt x="835794" y="448154"/>
                </a:lnTo>
                <a:lnTo>
                  <a:pt x="822228" y="468743"/>
                </a:lnTo>
                <a:lnTo>
                  <a:pt x="822349" y="468588"/>
                </a:lnTo>
                <a:lnTo>
                  <a:pt x="833732" y="468588"/>
                </a:lnTo>
                <a:lnTo>
                  <a:pt x="844055" y="452899"/>
                </a:lnTo>
                <a:lnTo>
                  <a:pt x="846836" y="447824"/>
                </a:lnTo>
                <a:close/>
              </a:path>
              <a:path w="887095" h="580389">
                <a:moveTo>
                  <a:pt x="835888" y="447983"/>
                </a:moveTo>
                <a:lnTo>
                  <a:pt x="835775" y="448154"/>
                </a:lnTo>
                <a:lnTo>
                  <a:pt x="835888" y="447983"/>
                </a:lnTo>
                <a:close/>
              </a:path>
              <a:path w="887095" h="580389">
                <a:moveTo>
                  <a:pt x="858398" y="425894"/>
                </a:moveTo>
                <a:lnTo>
                  <a:pt x="847989" y="425894"/>
                </a:lnTo>
                <a:lnTo>
                  <a:pt x="847816" y="426244"/>
                </a:lnTo>
                <a:lnTo>
                  <a:pt x="835888" y="447983"/>
                </a:lnTo>
                <a:lnTo>
                  <a:pt x="835992" y="447824"/>
                </a:lnTo>
                <a:lnTo>
                  <a:pt x="846836" y="447824"/>
                </a:lnTo>
                <a:lnTo>
                  <a:pt x="856437" y="430298"/>
                </a:lnTo>
                <a:lnTo>
                  <a:pt x="858398" y="425894"/>
                </a:lnTo>
                <a:close/>
              </a:path>
              <a:path w="887095" h="580389">
                <a:moveTo>
                  <a:pt x="847900" y="426055"/>
                </a:moveTo>
                <a:lnTo>
                  <a:pt x="847797" y="426244"/>
                </a:lnTo>
                <a:lnTo>
                  <a:pt x="847900" y="426055"/>
                </a:lnTo>
                <a:close/>
              </a:path>
              <a:path w="887095" h="580389">
                <a:moveTo>
                  <a:pt x="868233" y="402997"/>
                </a:moveTo>
                <a:lnTo>
                  <a:pt x="858169" y="402997"/>
                </a:lnTo>
                <a:lnTo>
                  <a:pt x="858020" y="403373"/>
                </a:lnTo>
                <a:lnTo>
                  <a:pt x="847900" y="426055"/>
                </a:lnTo>
                <a:lnTo>
                  <a:pt x="847989" y="425894"/>
                </a:lnTo>
                <a:lnTo>
                  <a:pt x="858398" y="425894"/>
                </a:lnTo>
                <a:lnTo>
                  <a:pt x="866952" y="406688"/>
                </a:lnTo>
                <a:lnTo>
                  <a:pt x="868233" y="402997"/>
                </a:lnTo>
                <a:close/>
              </a:path>
              <a:path w="887095" h="580389">
                <a:moveTo>
                  <a:pt x="858087" y="403182"/>
                </a:moveTo>
                <a:lnTo>
                  <a:pt x="858002" y="403373"/>
                </a:lnTo>
                <a:lnTo>
                  <a:pt x="858087" y="403182"/>
                </a:lnTo>
                <a:close/>
              </a:path>
              <a:path w="887095" h="580389">
                <a:moveTo>
                  <a:pt x="876163" y="379337"/>
                </a:moveTo>
                <a:lnTo>
                  <a:pt x="866364" y="379337"/>
                </a:lnTo>
                <a:lnTo>
                  <a:pt x="866242" y="379742"/>
                </a:lnTo>
                <a:lnTo>
                  <a:pt x="858087" y="403182"/>
                </a:lnTo>
                <a:lnTo>
                  <a:pt x="858169" y="402997"/>
                </a:lnTo>
                <a:lnTo>
                  <a:pt x="868233" y="402997"/>
                </a:lnTo>
                <a:lnTo>
                  <a:pt x="875431" y="382261"/>
                </a:lnTo>
                <a:lnTo>
                  <a:pt x="876163" y="379337"/>
                </a:lnTo>
                <a:close/>
              </a:path>
              <a:path w="887095" h="580389">
                <a:moveTo>
                  <a:pt x="866291" y="379549"/>
                </a:moveTo>
                <a:lnTo>
                  <a:pt x="866224" y="379742"/>
                </a:lnTo>
                <a:lnTo>
                  <a:pt x="866291" y="379549"/>
                </a:lnTo>
                <a:close/>
              </a:path>
              <a:path w="887095" h="580389">
                <a:moveTo>
                  <a:pt x="882025" y="355114"/>
                </a:moveTo>
                <a:lnTo>
                  <a:pt x="872411" y="355114"/>
                </a:lnTo>
                <a:lnTo>
                  <a:pt x="872322" y="355552"/>
                </a:lnTo>
                <a:lnTo>
                  <a:pt x="866291" y="379549"/>
                </a:lnTo>
                <a:lnTo>
                  <a:pt x="866364" y="379337"/>
                </a:lnTo>
                <a:lnTo>
                  <a:pt x="876163" y="379337"/>
                </a:lnTo>
                <a:lnTo>
                  <a:pt x="881705" y="357211"/>
                </a:lnTo>
                <a:lnTo>
                  <a:pt x="882025" y="355114"/>
                </a:lnTo>
                <a:close/>
              </a:path>
              <a:path w="887095" h="580389">
                <a:moveTo>
                  <a:pt x="872354" y="355340"/>
                </a:moveTo>
                <a:lnTo>
                  <a:pt x="872301" y="355552"/>
                </a:lnTo>
                <a:lnTo>
                  <a:pt x="872354" y="355340"/>
                </a:lnTo>
                <a:close/>
              </a:path>
              <a:path w="887095" h="580389">
                <a:moveTo>
                  <a:pt x="885660" y="330529"/>
                </a:moveTo>
                <a:lnTo>
                  <a:pt x="876146" y="330529"/>
                </a:lnTo>
                <a:lnTo>
                  <a:pt x="876098" y="331001"/>
                </a:lnTo>
                <a:lnTo>
                  <a:pt x="872354" y="355340"/>
                </a:lnTo>
                <a:lnTo>
                  <a:pt x="872411" y="355114"/>
                </a:lnTo>
                <a:lnTo>
                  <a:pt x="882025" y="355114"/>
                </a:lnTo>
                <a:lnTo>
                  <a:pt x="885597" y="331733"/>
                </a:lnTo>
                <a:lnTo>
                  <a:pt x="885660" y="330529"/>
                </a:lnTo>
                <a:close/>
              </a:path>
              <a:path w="887095" h="580389">
                <a:moveTo>
                  <a:pt x="876110" y="330765"/>
                </a:moveTo>
                <a:lnTo>
                  <a:pt x="876074" y="331001"/>
                </a:lnTo>
                <a:lnTo>
                  <a:pt x="876110" y="330765"/>
                </a:lnTo>
                <a:close/>
              </a:path>
              <a:path w="887095" h="580389">
                <a:moveTo>
                  <a:pt x="886926" y="305781"/>
                </a:moveTo>
                <a:lnTo>
                  <a:pt x="877408" y="305781"/>
                </a:lnTo>
                <a:lnTo>
                  <a:pt x="877426" y="306509"/>
                </a:lnTo>
                <a:lnTo>
                  <a:pt x="876110" y="330765"/>
                </a:lnTo>
                <a:lnTo>
                  <a:pt x="876146" y="330529"/>
                </a:lnTo>
                <a:lnTo>
                  <a:pt x="885660" y="330529"/>
                </a:lnTo>
                <a:lnTo>
                  <a:pt x="886909" y="306509"/>
                </a:lnTo>
                <a:lnTo>
                  <a:pt x="886926" y="305781"/>
                </a:lnTo>
                <a:close/>
              </a:path>
              <a:path w="887095" h="580389">
                <a:moveTo>
                  <a:pt x="877389" y="306146"/>
                </a:moveTo>
                <a:lnTo>
                  <a:pt x="877370" y="306509"/>
                </a:lnTo>
                <a:lnTo>
                  <a:pt x="877389" y="306146"/>
                </a:lnTo>
                <a:close/>
              </a:path>
              <a:path w="887095" h="580389">
                <a:moveTo>
                  <a:pt x="885721" y="293887"/>
                </a:moveTo>
                <a:lnTo>
                  <a:pt x="876147" y="293887"/>
                </a:lnTo>
                <a:lnTo>
                  <a:pt x="876325" y="294776"/>
                </a:lnTo>
                <a:lnTo>
                  <a:pt x="877389" y="306146"/>
                </a:lnTo>
                <a:lnTo>
                  <a:pt x="877408" y="305781"/>
                </a:lnTo>
                <a:lnTo>
                  <a:pt x="886926" y="305781"/>
                </a:lnTo>
                <a:lnTo>
                  <a:pt x="885721" y="293887"/>
                </a:lnTo>
                <a:close/>
              </a:path>
              <a:path w="887095" h="580389">
                <a:moveTo>
                  <a:pt x="876193" y="294336"/>
                </a:moveTo>
                <a:lnTo>
                  <a:pt x="876237" y="294776"/>
                </a:lnTo>
                <a:lnTo>
                  <a:pt x="876193" y="294336"/>
                </a:lnTo>
                <a:close/>
              </a:path>
              <a:path w="887095" h="580389">
                <a:moveTo>
                  <a:pt x="876147" y="293887"/>
                </a:moveTo>
                <a:lnTo>
                  <a:pt x="876193" y="294336"/>
                </a:lnTo>
                <a:lnTo>
                  <a:pt x="876325" y="294776"/>
                </a:lnTo>
                <a:lnTo>
                  <a:pt x="876147" y="293887"/>
                </a:lnTo>
                <a:close/>
              </a:path>
              <a:path w="887095" h="580389">
                <a:moveTo>
                  <a:pt x="882487" y="282179"/>
                </a:moveTo>
                <a:lnTo>
                  <a:pt x="872542" y="282179"/>
                </a:lnTo>
                <a:lnTo>
                  <a:pt x="872835" y="282920"/>
                </a:lnTo>
                <a:lnTo>
                  <a:pt x="876193" y="294336"/>
                </a:lnTo>
                <a:lnTo>
                  <a:pt x="876147" y="293887"/>
                </a:lnTo>
                <a:lnTo>
                  <a:pt x="885721" y="293887"/>
                </a:lnTo>
                <a:lnTo>
                  <a:pt x="885578" y="292473"/>
                </a:lnTo>
                <a:lnTo>
                  <a:pt x="882487" y="282179"/>
                </a:lnTo>
                <a:close/>
              </a:path>
              <a:path w="887095" h="580389">
                <a:moveTo>
                  <a:pt x="872655" y="282556"/>
                </a:moveTo>
                <a:lnTo>
                  <a:pt x="872764" y="282920"/>
                </a:lnTo>
                <a:lnTo>
                  <a:pt x="872655" y="282556"/>
                </a:lnTo>
                <a:close/>
              </a:path>
              <a:path w="887095" h="580389">
                <a:moveTo>
                  <a:pt x="872542" y="282179"/>
                </a:moveTo>
                <a:lnTo>
                  <a:pt x="872655" y="282556"/>
                </a:lnTo>
                <a:lnTo>
                  <a:pt x="872835" y="282920"/>
                </a:lnTo>
                <a:lnTo>
                  <a:pt x="872542" y="282179"/>
                </a:lnTo>
                <a:close/>
              </a:path>
              <a:path w="887095" h="580389">
                <a:moveTo>
                  <a:pt x="877255" y="270372"/>
                </a:moveTo>
                <a:lnTo>
                  <a:pt x="866628" y="270372"/>
                </a:lnTo>
                <a:lnTo>
                  <a:pt x="866969" y="270953"/>
                </a:lnTo>
                <a:lnTo>
                  <a:pt x="872655" y="282556"/>
                </a:lnTo>
                <a:lnTo>
                  <a:pt x="872542" y="282179"/>
                </a:lnTo>
                <a:lnTo>
                  <a:pt x="882487" y="282179"/>
                </a:lnTo>
                <a:lnTo>
                  <a:pt x="881550" y="279056"/>
                </a:lnTo>
                <a:lnTo>
                  <a:pt x="877255" y="270372"/>
                </a:lnTo>
                <a:close/>
              </a:path>
              <a:path w="887095" h="580389">
                <a:moveTo>
                  <a:pt x="866778" y="270675"/>
                </a:moveTo>
                <a:lnTo>
                  <a:pt x="866916" y="270953"/>
                </a:lnTo>
                <a:lnTo>
                  <a:pt x="866778" y="270675"/>
                </a:lnTo>
                <a:close/>
              </a:path>
              <a:path w="887095" h="580389">
                <a:moveTo>
                  <a:pt x="866628" y="270372"/>
                </a:moveTo>
                <a:lnTo>
                  <a:pt x="866778" y="270675"/>
                </a:lnTo>
                <a:lnTo>
                  <a:pt x="866969" y="270953"/>
                </a:lnTo>
                <a:lnTo>
                  <a:pt x="866628" y="270372"/>
                </a:lnTo>
                <a:close/>
              </a:path>
              <a:path w="887095" h="580389">
                <a:moveTo>
                  <a:pt x="869968" y="258479"/>
                </a:moveTo>
                <a:lnTo>
                  <a:pt x="858422" y="258479"/>
                </a:lnTo>
                <a:lnTo>
                  <a:pt x="858763" y="258919"/>
                </a:lnTo>
                <a:lnTo>
                  <a:pt x="866778" y="270675"/>
                </a:lnTo>
                <a:lnTo>
                  <a:pt x="866628" y="270372"/>
                </a:lnTo>
                <a:lnTo>
                  <a:pt x="877255" y="270372"/>
                </a:lnTo>
                <a:lnTo>
                  <a:pt x="875017" y="265847"/>
                </a:lnTo>
                <a:lnTo>
                  <a:pt x="869968" y="258479"/>
                </a:lnTo>
                <a:close/>
              </a:path>
              <a:path w="887095" h="580389">
                <a:moveTo>
                  <a:pt x="858580" y="258710"/>
                </a:moveTo>
                <a:lnTo>
                  <a:pt x="858724" y="258919"/>
                </a:lnTo>
                <a:lnTo>
                  <a:pt x="858580" y="258710"/>
                </a:lnTo>
                <a:close/>
              </a:path>
              <a:path w="887095" h="580389">
                <a:moveTo>
                  <a:pt x="858422" y="258479"/>
                </a:moveTo>
                <a:lnTo>
                  <a:pt x="858580" y="258710"/>
                </a:lnTo>
                <a:lnTo>
                  <a:pt x="858763" y="258919"/>
                </a:lnTo>
                <a:lnTo>
                  <a:pt x="858422" y="258479"/>
                </a:lnTo>
                <a:close/>
              </a:path>
              <a:path w="887095" h="580389">
                <a:moveTo>
                  <a:pt x="860601" y="246544"/>
                </a:moveTo>
                <a:lnTo>
                  <a:pt x="847954" y="246544"/>
                </a:lnTo>
                <a:lnTo>
                  <a:pt x="848273" y="246875"/>
                </a:lnTo>
                <a:lnTo>
                  <a:pt x="858580" y="258710"/>
                </a:lnTo>
                <a:lnTo>
                  <a:pt x="858422" y="258479"/>
                </a:lnTo>
                <a:lnTo>
                  <a:pt x="869968" y="258479"/>
                </a:lnTo>
                <a:lnTo>
                  <a:pt x="866122" y="252864"/>
                </a:lnTo>
                <a:lnTo>
                  <a:pt x="860601" y="246544"/>
                </a:lnTo>
                <a:close/>
              </a:path>
              <a:path w="887095" h="580389">
                <a:moveTo>
                  <a:pt x="848108" y="246719"/>
                </a:moveTo>
                <a:lnTo>
                  <a:pt x="848244" y="246875"/>
                </a:lnTo>
                <a:lnTo>
                  <a:pt x="848108" y="246719"/>
                </a:lnTo>
                <a:close/>
              </a:path>
              <a:path w="887095" h="580389">
                <a:moveTo>
                  <a:pt x="849165" y="234623"/>
                </a:moveTo>
                <a:lnTo>
                  <a:pt x="835284" y="234623"/>
                </a:lnTo>
                <a:lnTo>
                  <a:pt x="835572" y="234874"/>
                </a:lnTo>
                <a:lnTo>
                  <a:pt x="848108" y="246719"/>
                </a:lnTo>
                <a:lnTo>
                  <a:pt x="847954" y="246544"/>
                </a:lnTo>
                <a:lnTo>
                  <a:pt x="860601" y="246544"/>
                </a:lnTo>
                <a:lnTo>
                  <a:pt x="854976" y="240105"/>
                </a:lnTo>
                <a:lnTo>
                  <a:pt x="849165" y="234623"/>
                </a:lnTo>
                <a:close/>
              </a:path>
              <a:path w="887095" h="580389">
                <a:moveTo>
                  <a:pt x="835420" y="234752"/>
                </a:moveTo>
                <a:lnTo>
                  <a:pt x="835549" y="234874"/>
                </a:lnTo>
                <a:lnTo>
                  <a:pt x="835420" y="234752"/>
                </a:lnTo>
                <a:close/>
              </a:path>
              <a:path w="887095" h="580389">
                <a:moveTo>
                  <a:pt x="835704" y="222769"/>
                </a:moveTo>
                <a:lnTo>
                  <a:pt x="820482" y="222769"/>
                </a:lnTo>
                <a:lnTo>
                  <a:pt x="820738" y="222961"/>
                </a:lnTo>
                <a:lnTo>
                  <a:pt x="835420" y="234752"/>
                </a:lnTo>
                <a:lnTo>
                  <a:pt x="835284" y="234623"/>
                </a:lnTo>
                <a:lnTo>
                  <a:pt x="849165" y="234623"/>
                </a:lnTo>
                <a:lnTo>
                  <a:pt x="841681" y="227563"/>
                </a:lnTo>
                <a:lnTo>
                  <a:pt x="835704" y="222769"/>
                </a:lnTo>
                <a:close/>
              </a:path>
              <a:path w="887095" h="580389">
                <a:moveTo>
                  <a:pt x="820601" y="222865"/>
                </a:moveTo>
                <a:lnTo>
                  <a:pt x="820738" y="222961"/>
                </a:lnTo>
                <a:lnTo>
                  <a:pt x="820601" y="222865"/>
                </a:lnTo>
                <a:close/>
              </a:path>
              <a:path w="887095" h="580389">
                <a:moveTo>
                  <a:pt x="820280" y="211029"/>
                </a:moveTo>
                <a:lnTo>
                  <a:pt x="803629" y="211029"/>
                </a:lnTo>
                <a:lnTo>
                  <a:pt x="803855" y="211177"/>
                </a:lnTo>
                <a:lnTo>
                  <a:pt x="820601" y="222865"/>
                </a:lnTo>
                <a:lnTo>
                  <a:pt x="835704" y="222769"/>
                </a:lnTo>
                <a:lnTo>
                  <a:pt x="826317" y="215239"/>
                </a:lnTo>
                <a:lnTo>
                  <a:pt x="820280" y="211029"/>
                </a:lnTo>
                <a:close/>
              </a:path>
              <a:path w="887095" h="580389">
                <a:moveTo>
                  <a:pt x="803742" y="211108"/>
                </a:moveTo>
                <a:close/>
              </a:path>
              <a:path w="887095" h="580389">
                <a:moveTo>
                  <a:pt x="802968" y="199443"/>
                </a:moveTo>
                <a:lnTo>
                  <a:pt x="784809" y="199443"/>
                </a:lnTo>
                <a:lnTo>
                  <a:pt x="785009" y="199560"/>
                </a:lnTo>
                <a:lnTo>
                  <a:pt x="803742" y="211108"/>
                </a:lnTo>
                <a:lnTo>
                  <a:pt x="820280" y="211029"/>
                </a:lnTo>
                <a:lnTo>
                  <a:pt x="808967" y="203139"/>
                </a:lnTo>
                <a:lnTo>
                  <a:pt x="802968" y="199443"/>
                </a:lnTo>
                <a:close/>
              </a:path>
              <a:path w="887095" h="580389">
                <a:moveTo>
                  <a:pt x="784907" y="199504"/>
                </a:moveTo>
                <a:close/>
              </a:path>
              <a:path w="887095" h="580389">
                <a:moveTo>
                  <a:pt x="783850" y="188048"/>
                </a:moveTo>
                <a:lnTo>
                  <a:pt x="764105" y="188048"/>
                </a:lnTo>
                <a:lnTo>
                  <a:pt x="764283" y="188141"/>
                </a:lnTo>
                <a:lnTo>
                  <a:pt x="784907" y="199504"/>
                </a:lnTo>
                <a:lnTo>
                  <a:pt x="802968" y="199443"/>
                </a:lnTo>
                <a:lnTo>
                  <a:pt x="789706" y="191273"/>
                </a:lnTo>
                <a:lnTo>
                  <a:pt x="783850" y="188048"/>
                </a:lnTo>
                <a:close/>
              </a:path>
              <a:path w="887095" h="580389">
                <a:moveTo>
                  <a:pt x="764203" y="188101"/>
                </a:moveTo>
                <a:close/>
              </a:path>
              <a:path w="887095" h="580389">
                <a:moveTo>
                  <a:pt x="763014" y="176875"/>
                </a:moveTo>
                <a:lnTo>
                  <a:pt x="741602" y="176875"/>
                </a:lnTo>
                <a:lnTo>
                  <a:pt x="741762" y="176951"/>
                </a:lnTo>
                <a:lnTo>
                  <a:pt x="764203" y="188101"/>
                </a:lnTo>
                <a:lnTo>
                  <a:pt x="783850" y="188048"/>
                </a:lnTo>
                <a:lnTo>
                  <a:pt x="768611" y="179655"/>
                </a:lnTo>
                <a:lnTo>
                  <a:pt x="763014" y="176875"/>
                </a:lnTo>
                <a:close/>
              </a:path>
              <a:path w="887095" h="580389">
                <a:moveTo>
                  <a:pt x="741687" y="176918"/>
                </a:moveTo>
                <a:close/>
              </a:path>
              <a:path w="887095" h="580389">
                <a:moveTo>
                  <a:pt x="740553" y="165957"/>
                </a:moveTo>
                <a:lnTo>
                  <a:pt x="717386" y="165957"/>
                </a:lnTo>
                <a:lnTo>
                  <a:pt x="717530" y="166019"/>
                </a:lnTo>
                <a:lnTo>
                  <a:pt x="741687" y="176918"/>
                </a:lnTo>
                <a:lnTo>
                  <a:pt x="763014" y="176875"/>
                </a:lnTo>
                <a:lnTo>
                  <a:pt x="745760" y="168305"/>
                </a:lnTo>
                <a:lnTo>
                  <a:pt x="740553" y="165957"/>
                </a:lnTo>
                <a:close/>
              </a:path>
              <a:path w="887095" h="580389">
                <a:moveTo>
                  <a:pt x="717465" y="165993"/>
                </a:moveTo>
                <a:close/>
              </a:path>
              <a:path w="887095" h="580389">
                <a:moveTo>
                  <a:pt x="716562" y="155321"/>
                </a:moveTo>
                <a:lnTo>
                  <a:pt x="691537" y="155321"/>
                </a:lnTo>
                <a:lnTo>
                  <a:pt x="691671" y="155373"/>
                </a:lnTo>
                <a:lnTo>
                  <a:pt x="717465" y="165993"/>
                </a:lnTo>
                <a:lnTo>
                  <a:pt x="740553" y="165957"/>
                </a:lnTo>
                <a:lnTo>
                  <a:pt x="721229" y="157241"/>
                </a:lnTo>
                <a:lnTo>
                  <a:pt x="716562" y="155321"/>
                </a:lnTo>
                <a:close/>
              </a:path>
              <a:path w="887095" h="580389">
                <a:moveTo>
                  <a:pt x="691597" y="155345"/>
                </a:moveTo>
                <a:close/>
              </a:path>
              <a:path w="887095" h="580389">
                <a:moveTo>
                  <a:pt x="691144" y="144995"/>
                </a:moveTo>
                <a:lnTo>
                  <a:pt x="664143" y="144995"/>
                </a:lnTo>
                <a:lnTo>
                  <a:pt x="691597" y="155345"/>
                </a:lnTo>
                <a:lnTo>
                  <a:pt x="716562" y="155321"/>
                </a:lnTo>
                <a:lnTo>
                  <a:pt x="695097" y="146485"/>
                </a:lnTo>
                <a:lnTo>
                  <a:pt x="691144" y="144995"/>
                </a:lnTo>
                <a:close/>
              </a:path>
              <a:path w="887095" h="580389">
                <a:moveTo>
                  <a:pt x="664204" y="145018"/>
                </a:moveTo>
                <a:close/>
              </a:path>
              <a:path w="887095" h="580389">
                <a:moveTo>
                  <a:pt x="664401" y="135006"/>
                </a:moveTo>
                <a:lnTo>
                  <a:pt x="635284" y="135006"/>
                </a:lnTo>
                <a:lnTo>
                  <a:pt x="664204" y="145018"/>
                </a:lnTo>
                <a:lnTo>
                  <a:pt x="691144" y="144995"/>
                </a:lnTo>
                <a:lnTo>
                  <a:pt x="667443" y="136059"/>
                </a:lnTo>
                <a:lnTo>
                  <a:pt x="664401" y="135006"/>
                </a:lnTo>
                <a:close/>
              </a:path>
              <a:path w="887095" h="580389">
                <a:moveTo>
                  <a:pt x="635346" y="135028"/>
                </a:moveTo>
                <a:close/>
              </a:path>
              <a:path w="887095" h="580389">
                <a:moveTo>
                  <a:pt x="636444" y="125381"/>
                </a:moveTo>
                <a:lnTo>
                  <a:pt x="605043" y="125381"/>
                </a:lnTo>
                <a:lnTo>
                  <a:pt x="635346" y="135028"/>
                </a:lnTo>
                <a:lnTo>
                  <a:pt x="664401" y="135006"/>
                </a:lnTo>
                <a:lnTo>
                  <a:pt x="638343" y="125986"/>
                </a:lnTo>
                <a:lnTo>
                  <a:pt x="636444" y="125381"/>
                </a:lnTo>
                <a:close/>
              </a:path>
              <a:path w="887095" h="580389">
                <a:moveTo>
                  <a:pt x="605088" y="125395"/>
                </a:moveTo>
                <a:close/>
              </a:path>
              <a:path w="887095" h="580389">
                <a:moveTo>
                  <a:pt x="607392" y="116145"/>
                </a:moveTo>
                <a:lnTo>
                  <a:pt x="573504" y="116145"/>
                </a:lnTo>
                <a:lnTo>
                  <a:pt x="605088" y="125395"/>
                </a:lnTo>
                <a:lnTo>
                  <a:pt x="636444" y="125381"/>
                </a:lnTo>
                <a:lnTo>
                  <a:pt x="607392" y="116145"/>
                </a:lnTo>
                <a:close/>
              </a:path>
              <a:path w="887095" h="580389">
                <a:moveTo>
                  <a:pt x="573568" y="116164"/>
                </a:moveTo>
                <a:close/>
              </a:path>
              <a:path w="887095" h="580389">
                <a:moveTo>
                  <a:pt x="577273" y="107324"/>
                </a:moveTo>
                <a:lnTo>
                  <a:pt x="540745" y="107324"/>
                </a:lnTo>
                <a:lnTo>
                  <a:pt x="540886" y="107360"/>
                </a:lnTo>
                <a:lnTo>
                  <a:pt x="573568" y="116164"/>
                </a:lnTo>
                <a:lnTo>
                  <a:pt x="607392" y="116145"/>
                </a:lnTo>
                <a:lnTo>
                  <a:pt x="577273" y="107324"/>
                </a:lnTo>
                <a:close/>
              </a:path>
              <a:path w="887095" h="580389">
                <a:moveTo>
                  <a:pt x="540816" y="107343"/>
                </a:moveTo>
                <a:close/>
              </a:path>
              <a:path w="887095" h="580389">
                <a:moveTo>
                  <a:pt x="513205" y="91018"/>
                </a:moveTo>
                <a:lnTo>
                  <a:pt x="471860" y="91018"/>
                </a:lnTo>
                <a:lnTo>
                  <a:pt x="472036" y="91056"/>
                </a:lnTo>
                <a:lnTo>
                  <a:pt x="540816" y="107343"/>
                </a:lnTo>
                <a:lnTo>
                  <a:pt x="577273" y="107324"/>
                </a:lnTo>
                <a:lnTo>
                  <a:pt x="576130" y="106989"/>
                </a:lnTo>
                <a:lnTo>
                  <a:pt x="543152" y="98108"/>
                </a:lnTo>
                <a:lnTo>
                  <a:pt x="513205" y="91018"/>
                </a:lnTo>
                <a:close/>
              </a:path>
              <a:path w="887095" h="580389">
                <a:moveTo>
                  <a:pt x="471953" y="91040"/>
                </a:moveTo>
                <a:close/>
              </a:path>
              <a:path w="887095" h="580389">
                <a:moveTo>
                  <a:pt x="448389" y="76687"/>
                </a:moveTo>
                <a:lnTo>
                  <a:pt x="399133" y="76687"/>
                </a:lnTo>
                <a:lnTo>
                  <a:pt x="399300" y="76717"/>
                </a:lnTo>
                <a:lnTo>
                  <a:pt x="471953" y="91040"/>
                </a:lnTo>
                <a:lnTo>
                  <a:pt x="513205" y="91018"/>
                </a:lnTo>
                <a:lnTo>
                  <a:pt x="473966" y="81728"/>
                </a:lnTo>
                <a:lnTo>
                  <a:pt x="448389" y="76687"/>
                </a:lnTo>
                <a:close/>
              </a:path>
              <a:path w="887095" h="580389">
                <a:moveTo>
                  <a:pt x="399217" y="76704"/>
                </a:moveTo>
                <a:close/>
              </a:path>
              <a:path w="887095" h="580389">
                <a:moveTo>
                  <a:pt x="383371" y="64518"/>
                </a:moveTo>
                <a:lnTo>
                  <a:pt x="323166" y="64518"/>
                </a:lnTo>
                <a:lnTo>
                  <a:pt x="323329" y="64541"/>
                </a:lnTo>
                <a:lnTo>
                  <a:pt x="399217" y="76704"/>
                </a:lnTo>
                <a:lnTo>
                  <a:pt x="448389" y="76687"/>
                </a:lnTo>
                <a:lnTo>
                  <a:pt x="400892" y="67325"/>
                </a:lnTo>
                <a:lnTo>
                  <a:pt x="383371" y="64518"/>
                </a:lnTo>
                <a:close/>
              </a:path>
              <a:path w="887095" h="580389">
                <a:moveTo>
                  <a:pt x="76899" y="0"/>
                </a:moveTo>
                <a:lnTo>
                  <a:pt x="0" y="36667"/>
                </a:lnTo>
                <a:lnTo>
                  <a:pt x="75473" y="76186"/>
                </a:lnTo>
                <a:lnTo>
                  <a:pt x="76097" y="42854"/>
                </a:lnTo>
                <a:lnTo>
                  <a:pt x="63399" y="42617"/>
                </a:lnTo>
                <a:lnTo>
                  <a:pt x="63578" y="33094"/>
                </a:lnTo>
                <a:lnTo>
                  <a:pt x="76280" y="33094"/>
                </a:lnTo>
                <a:lnTo>
                  <a:pt x="76899" y="0"/>
                </a:lnTo>
                <a:close/>
              </a:path>
              <a:path w="887095" h="580389">
                <a:moveTo>
                  <a:pt x="323249" y="64531"/>
                </a:moveTo>
                <a:close/>
              </a:path>
              <a:path w="887095" h="580389">
                <a:moveTo>
                  <a:pt x="321468" y="54710"/>
                </a:moveTo>
                <a:lnTo>
                  <a:pt x="244610" y="54710"/>
                </a:lnTo>
                <a:lnTo>
                  <a:pt x="244773" y="54727"/>
                </a:lnTo>
                <a:lnTo>
                  <a:pt x="323249" y="64531"/>
                </a:lnTo>
                <a:lnTo>
                  <a:pt x="383371" y="64518"/>
                </a:lnTo>
                <a:lnTo>
                  <a:pt x="324591" y="55100"/>
                </a:lnTo>
                <a:lnTo>
                  <a:pt x="321468" y="54710"/>
                </a:lnTo>
                <a:close/>
              </a:path>
              <a:path w="887095" h="580389">
                <a:moveTo>
                  <a:pt x="244690" y="54720"/>
                </a:moveTo>
                <a:close/>
              </a:path>
              <a:path w="887095" h="580389">
                <a:moveTo>
                  <a:pt x="263426" y="47461"/>
                </a:moveTo>
                <a:lnTo>
                  <a:pt x="164117" y="47461"/>
                </a:lnTo>
                <a:lnTo>
                  <a:pt x="164283" y="47473"/>
                </a:lnTo>
                <a:lnTo>
                  <a:pt x="244690" y="54720"/>
                </a:lnTo>
                <a:lnTo>
                  <a:pt x="321468" y="54710"/>
                </a:lnTo>
                <a:lnTo>
                  <a:pt x="263426" y="47461"/>
                </a:lnTo>
                <a:close/>
              </a:path>
              <a:path w="887095" h="580389">
                <a:moveTo>
                  <a:pt x="164196" y="47468"/>
                </a:moveTo>
                <a:close/>
              </a:path>
              <a:path w="887095" h="580389">
                <a:moveTo>
                  <a:pt x="220402" y="42968"/>
                </a:moveTo>
                <a:lnTo>
                  <a:pt x="82334" y="42968"/>
                </a:lnTo>
                <a:lnTo>
                  <a:pt x="82506" y="42974"/>
                </a:lnTo>
                <a:lnTo>
                  <a:pt x="164196" y="47468"/>
                </a:lnTo>
                <a:lnTo>
                  <a:pt x="263426" y="47461"/>
                </a:lnTo>
                <a:lnTo>
                  <a:pt x="245710" y="45248"/>
                </a:lnTo>
                <a:lnTo>
                  <a:pt x="220402" y="42968"/>
                </a:lnTo>
                <a:close/>
              </a:path>
              <a:path w="887095" h="580389">
                <a:moveTo>
                  <a:pt x="82420" y="42973"/>
                </a:moveTo>
                <a:close/>
              </a:path>
              <a:path w="887095" h="580389">
                <a:moveTo>
                  <a:pt x="76275" y="33331"/>
                </a:moveTo>
                <a:lnTo>
                  <a:pt x="76097" y="42854"/>
                </a:lnTo>
                <a:lnTo>
                  <a:pt x="82420" y="42973"/>
                </a:lnTo>
                <a:lnTo>
                  <a:pt x="220402" y="42968"/>
                </a:lnTo>
                <a:lnTo>
                  <a:pt x="164889" y="37967"/>
                </a:lnTo>
                <a:lnTo>
                  <a:pt x="82770" y="33453"/>
                </a:lnTo>
                <a:lnTo>
                  <a:pt x="76275" y="33331"/>
                </a:lnTo>
                <a:close/>
              </a:path>
              <a:path w="887095" h="580389">
                <a:moveTo>
                  <a:pt x="63578" y="33094"/>
                </a:moveTo>
                <a:lnTo>
                  <a:pt x="63399" y="42617"/>
                </a:lnTo>
                <a:lnTo>
                  <a:pt x="76097" y="42854"/>
                </a:lnTo>
                <a:lnTo>
                  <a:pt x="76275" y="33331"/>
                </a:lnTo>
                <a:lnTo>
                  <a:pt x="63578" y="33094"/>
                </a:lnTo>
                <a:close/>
              </a:path>
              <a:path w="887095" h="580389">
                <a:moveTo>
                  <a:pt x="76280" y="33094"/>
                </a:moveTo>
                <a:lnTo>
                  <a:pt x="63578" y="33094"/>
                </a:lnTo>
                <a:lnTo>
                  <a:pt x="76275" y="33331"/>
                </a:lnTo>
                <a:lnTo>
                  <a:pt x="76280" y="33094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51202" y="5775622"/>
            <a:ext cx="29574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Much</a:t>
            </a:r>
            <a:r>
              <a:rPr sz="2133" spc="-4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worse</a:t>
            </a:r>
            <a:r>
              <a:rPr sz="2133" spc="-2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without</a:t>
            </a:r>
            <a:r>
              <a:rPr sz="2133" spc="-2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MLM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36126" y="4821543"/>
            <a:ext cx="569807" cy="1017693"/>
          </a:xfrm>
          <a:custGeom>
            <a:avLst/>
            <a:gdLst/>
            <a:ahLst/>
            <a:cxnLst/>
            <a:rect l="l" t="t" r="r" b="b"/>
            <a:pathLst>
              <a:path w="427354" h="763270">
                <a:moveTo>
                  <a:pt x="425582" y="693282"/>
                </a:moveTo>
                <a:lnTo>
                  <a:pt x="416055" y="693282"/>
                </a:lnTo>
                <a:lnTo>
                  <a:pt x="416062" y="693442"/>
                </a:lnTo>
                <a:lnTo>
                  <a:pt x="417267" y="762859"/>
                </a:lnTo>
                <a:lnTo>
                  <a:pt x="426791" y="762694"/>
                </a:lnTo>
                <a:lnTo>
                  <a:pt x="425582" y="693282"/>
                </a:lnTo>
                <a:close/>
              </a:path>
              <a:path w="427354" h="763270">
                <a:moveTo>
                  <a:pt x="416056" y="693336"/>
                </a:moveTo>
                <a:close/>
              </a:path>
              <a:path w="427354" h="763270">
                <a:moveTo>
                  <a:pt x="422070" y="624408"/>
                </a:moveTo>
                <a:lnTo>
                  <a:pt x="412532" y="624408"/>
                </a:lnTo>
                <a:lnTo>
                  <a:pt x="412542" y="624563"/>
                </a:lnTo>
                <a:lnTo>
                  <a:pt x="416056" y="693336"/>
                </a:lnTo>
                <a:lnTo>
                  <a:pt x="425582" y="693282"/>
                </a:lnTo>
                <a:lnTo>
                  <a:pt x="422070" y="624408"/>
                </a:lnTo>
                <a:close/>
              </a:path>
              <a:path w="427354" h="763270">
                <a:moveTo>
                  <a:pt x="412537" y="624493"/>
                </a:moveTo>
                <a:close/>
              </a:path>
              <a:path w="427354" h="763270">
                <a:moveTo>
                  <a:pt x="416409" y="556618"/>
                </a:moveTo>
                <a:lnTo>
                  <a:pt x="406850" y="556618"/>
                </a:lnTo>
                <a:lnTo>
                  <a:pt x="406866" y="556769"/>
                </a:lnTo>
                <a:lnTo>
                  <a:pt x="412537" y="624493"/>
                </a:lnTo>
                <a:lnTo>
                  <a:pt x="422070" y="624408"/>
                </a:lnTo>
                <a:lnTo>
                  <a:pt x="422041" y="623845"/>
                </a:lnTo>
                <a:lnTo>
                  <a:pt x="416409" y="556618"/>
                </a:lnTo>
                <a:close/>
              </a:path>
              <a:path w="427354" h="763270">
                <a:moveTo>
                  <a:pt x="406857" y="556692"/>
                </a:moveTo>
                <a:close/>
              </a:path>
              <a:path w="427354" h="763270">
                <a:moveTo>
                  <a:pt x="408752" y="490457"/>
                </a:moveTo>
                <a:lnTo>
                  <a:pt x="399163" y="490457"/>
                </a:lnTo>
                <a:lnTo>
                  <a:pt x="399183" y="490610"/>
                </a:lnTo>
                <a:lnTo>
                  <a:pt x="406857" y="556692"/>
                </a:lnTo>
                <a:lnTo>
                  <a:pt x="416409" y="556618"/>
                </a:lnTo>
                <a:lnTo>
                  <a:pt x="416336" y="555746"/>
                </a:lnTo>
                <a:lnTo>
                  <a:pt x="408752" y="490457"/>
                </a:lnTo>
                <a:close/>
              </a:path>
              <a:path w="427354" h="763270">
                <a:moveTo>
                  <a:pt x="399172" y="490530"/>
                </a:moveTo>
                <a:close/>
              </a:path>
              <a:path w="427354" h="763270">
                <a:moveTo>
                  <a:pt x="399257" y="426475"/>
                </a:moveTo>
                <a:lnTo>
                  <a:pt x="389627" y="426475"/>
                </a:lnTo>
                <a:lnTo>
                  <a:pt x="389653" y="426631"/>
                </a:lnTo>
                <a:lnTo>
                  <a:pt x="399172" y="490530"/>
                </a:lnTo>
                <a:lnTo>
                  <a:pt x="408752" y="490457"/>
                </a:lnTo>
                <a:lnTo>
                  <a:pt x="408616" y="489282"/>
                </a:lnTo>
                <a:lnTo>
                  <a:pt x="399257" y="426475"/>
                </a:lnTo>
                <a:close/>
              </a:path>
              <a:path w="427354" h="763270">
                <a:moveTo>
                  <a:pt x="389636" y="426534"/>
                </a:moveTo>
                <a:close/>
              </a:path>
              <a:path w="427354" h="763270">
                <a:moveTo>
                  <a:pt x="388081" y="365218"/>
                </a:moveTo>
                <a:lnTo>
                  <a:pt x="378397" y="365218"/>
                </a:lnTo>
                <a:lnTo>
                  <a:pt x="378430" y="365383"/>
                </a:lnTo>
                <a:lnTo>
                  <a:pt x="389636" y="426534"/>
                </a:lnTo>
                <a:lnTo>
                  <a:pt x="399257" y="426475"/>
                </a:lnTo>
                <a:lnTo>
                  <a:pt x="399036" y="424992"/>
                </a:lnTo>
                <a:lnTo>
                  <a:pt x="388081" y="365218"/>
                </a:lnTo>
                <a:close/>
              </a:path>
              <a:path w="427354" h="763270">
                <a:moveTo>
                  <a:pt x="378414" y="365309"/>
                </a:moveTo>
                <a:close/>
              </a:path>
              <a:path w="427354" h="763270">
                <a:moveTo>
                  <a:pt x="375381" y="307235"/>
                </a:moveTo>
                <a:lnTo>
                  <a:pt x="365627" y="307235"/>
                </a:lnTo>
                <a:lnTo>
                  <a:pt x="365671" y="307415"/>
                </a:lnTo>
                <a:lnTo>
                  <a:pt x="378414" y="365309"/>
                </a:lnTo>
                <a:lnTo>
                  <a:pt x="388081" y="365218"/>
                </a:lnTo>
                <a:lnTo>
                  <a:pt x="387751" y="363417"/>
                </a:lnTo>
                <a:lnTo>
                  <a:pt x="375381" y="307235"/>
                </a:lnTo>
                <a:close/>
              </a:path>
              <a:path w="427354" h="763270">
                <a:moveTo>
                  <a:pt x="365647" y="307326"/>
                </a:moveTo>
                <a:close/>
              </a:path>
              <a:path w="427354" h="763270">
                <a:moveTo>
                  <a:pt x="361323" y="253076"/>
                </a:moveTo>
                <a:lnTo>
                  <a:pt x="351478" y="253076"/>
                </a:lnTo>
                <a:lnTo>
                  <a:pt x="351519" y="253225"/>
                </a:lnTo>
                <a:lnTo>
                  <a:pt x="365647" y="307326"/>
                </a:lnTo>
                <a:lnTo>
                  <a:pt x="375381" y="307235"/>
                </a:lnTo>
                <a:lnTo>
                  <a:pt x="374910" y="305097"/>
                </a:lnTo>
                <a:lnTo>
                  <a:pt x="361323" y="253076"/>
                </a:lnTo>
                <a:close/>
              </a:path>
              <a:path w="427354" h="763270">
                <a:moveTo>
                  <a:pt x="351503" y="253172"/>
                </a:moveTo>
                <a:close/>
              </a:path>
              <a:path w="427354" h="763270">
                <a:moveTo>
                  <a:pt x="353883" y="227655"/>
                </a:moveTo>
                <a:lnTo>
                  <a:pt x="343950" y="227655"/>
                </a:lnTo>
                <a:lnTo>
                  <a:pt x="351503" y="253172"/>
                </a:lnTo>
                <a:lnTo>
                  <a:pt x="361323" y="253076"/>
                </a:lnTo>
                <a:lnTo>
                  <a:pt x="360674" y="250595"/>
                </a:lnTo>
                <a:lnTo>
                  <a:pt x="353883" y="227655"/>
                </a:lnTo>
                <a:close/>
              </a:path>
              <a:path w="427354" h="763270">
                <a:moveTo>
                  <a:pt x="343970" y="227722"/>
                </a:moveTo>
                <a:close/>
              </a:path>
              <a:path w="427354" h="763270">
                <a:moveTo>
                  <a:pt x="346130" y="203349"/>
                </a:moveTo>
                <a:lnTo>
                  <a:pt x="336123" y="203349"/>
                </a:lnTo>
                <a:lnTo>
                  <a:pt x="343970" y="227722"/>
                </a:lnTo>
                <a:lnTo>
                  <a:pt x="353883" y="227655"/>
                </a:lnTo>
                <a:lnTo>
                  <a:pt x="353067" y="224897"/>
                </a:lnTo>
                <a:lnTo>
                  <a:pt x="346130" y="203349"/>
                </a:lnTo>
                <a:close/>
              </a:path>
              <a:path w="427354" h="763270">
                <a:moveTo>
                  <a:pt x="336136" y="203389"/>
                </a:moveTo>
                <a:close/>
              </a:path>
              <a:path w="427354" h="763270">
                <a:moveTo>
                  <a:pt x="338126" y="180276"/>
                </a:moveTo>
                <a:lnTo>
                  <a:pt x="328033" y="180276"/>
                </a:lnTo>
                <a:lnTo>
                  <a:pt x="328079" y="180403"/>
                </a:lnTo>
                <a:lnTo>
                  <a:pt x="336136" y="203389"/>
                </a:lnTo>
                <a:lnTo>
                  <a:pt x="346130" y="203349"/>
                </a:lnTo>
                <a:lnTo>
                  <a:pt x="345172" y="200371"/>
                </a:lnTo>
                <a:lnTo>
                  <a:pt x="338126" y="180276"/>
                </a:lnTo>
                <a:close/>
              </a:path>
              <a:path w="427354" h="763270">
                <a:moveTo>
                  <a:pt x="328064" y="180366"/>
                </a:moveTo>
                <a:close/>
              </a:path>
              <a:path w="427354" h="763270">
                <a:moveTo>
                  <a:pt x="329896" y="158507"/>
                </a:moveTo>
                <a:lnTo>
                  <a:pt x="319698" y="158507"/>
                </a:lnTo>
                <a:lnTo>
                  <a:pt x="319754" y="158647"/>
                </a:lnTo>
                <a:lnTo>
                  <a:pt x="328064" y="180366"/>
                </a:lnTo>
                <a:lnTo>
                  <a:pt x="338126" y="180276"/>
                </a:lnTo>
                <a:lnTo>
                  <a:pt x="336999" y="177062"/>
                </a:lnTo>
                <a:lnTo>
                  <a:pt x="329896" y="158507"/>
                </a:lnTo>
                <a:close/>
              </a:path>
              <a:path w="427354" h="763270">
                <a:moveTo>
                  <a:pt x="319726" y="158581"/>
                </a:moveTo>
                <a:close/>
              </a:path>
              <a:path w="427354" h="763270">
                <a:moveTo>
                  <a:pt x="321469" y="138111"/>
                </a:moveTo>
                <a:lnTo>
                  <a:pt x="311141" y="138111"/>
                </a:lnTo>
                <a:lnTo>
                  <a:pt x="311209" y="138266"/>
                </a:lnTo>
                <a:lnTo>
                  <a:pt x="319726" y="158581"/>
                </a:lnTo>
                <a:lnTo>
                  <a:pt x="329896" y="158507"/>
                </a:lnTo>
                <a:lnTo>
                  <a:pt x="328566" y="155032"/>
                </a:lnTo>
                <a:lnTo>
                  <a:pt x="321469" y="138111"/>
                </a:lnTo>
                <a:close/>
              </a:path>
              <a:path w="427354" h="763270">
                <a:moveTo>
                  <a:pt x="311170" y="138181"/>
                </a:moveTo>
                <a:close/>
              </a:path>
              <a:path w="427354" h="763270">
                <a:moveTo>
                  <a:pt x="312875" y="119160"/>
                </a:moveTo>
                <a:lnTo>
                  <a:pt x="302383" y="119160"/>
                </a:lnTo>
                <a:lnTo>
                  <a:pt x="302468" y="119334"/>
                </a:lnTo>
                <a:lnTo>
                  <a:pt x="311170" y="138181"/>
                </a:lnTo>
                <a:lnTo>
                  <a:pt x="321469" y="138111"/>
                </a:lnTo>
                <a:lnTo>
                  <a:pt x="319891" y="134349"/>
                </a:lnTo>
                <a:lnTo>
                  <a:pt x="312875" y="119160"/>
                </a:lnTo>
                <a:close/>
              </a:path>
              <a:path w="427354" h="763270">
                <a:moveTo>
                  <a:pt x="302420" y="119240"/>
                </a:moveTo>
                <a:close/>
              </a:path>
              <a:path w="427354" h="763270">
                <a:moveTo>
                  <a:pt x="304150" y="101723"/>
                </a:moveTo>
                <a:lnTo>
                  <a:pt x="293450" y="101723"/>
                </a:lnTo>
                <a:lnTo>
                  <a:pt x="293556" y="101920"/>
                </a:lnTo>
                <a:lnTo>
                  <a:pt x="302420" y="119240"/>
                </a:lnTo>
                <a:lnTo>
                  <a:pt x="312875" y="119160"/>
                </a:lnTo>
                <a:lnTo>
                  <a:pt x="310989" y="115078"/>
                </a:lnTo>
                <a:lnTo>
                  <a:pt x="304150" y="101723"/>
                </a:lnTo>
                <a:close/>
              </a:path>
              <a:path w="427354" h="763270">
                <a:moveTo>
                  <a:pt x="293501" y="101823"/>
                </a:moveTo>
                <a:close/>
              </a:path>
              <a:path w="427354" h="763270">
                <a:moveTo>
                  <a:pt x="295341" y="85874"/>
                </a:moveTo>
                <a:lnTo>
                  <a:pt x="284363" y="85874"/>
                </a:lnTo>
                <a:lnTo>
                  <a:pt x="284500" y="86099"/>
                </a:lnTo>
                <a:lnTo>
                  <a:pt x="293501" y="101823"/>
                </a:lnTo>
                <a:lnTo>
                  <a:pt x="304150" y="101723"/>
                </a:lnTo>
                <a:lnTo>
                  <a:pt x="301876" y="97281"/>
                </a:lnTo>
                <a:lnTo>
                  <a:pt x="295341" y="85874"/>
                </a:lnTo>
                <a:close/>
              </a:path>
              <a:path w="427354" h="763270">
                <a:moveTo>
                  <a:pt x="284428" y="85988"/>
                </a:moveTo>
                <a:close/>
              </a:path>
              <a:path w="427354" h="763270">
                <a:moveTo>
                  <a:pt x="286506" y="71686"/>
                </a:moveTo>
                <a:lnTo>
                  <a:pt x="275153" y="71686"/>
                </a:lnTo>
                <a:lnTo>
                  <a:pt x="275330" y="71942"/>
                </a:lnTo>
                <a:lnTo>
                  <a:pt x="284428" y="85988"/>
                </a:lnTo>
                <a:lnTo>
                  <a:pt x="295341" y="85874"/>
                </a:lnTo>
                <a:lnTo>
                  <a:pt x="292563" y="81025"/>
                </a:lnTo>
                <a:lnTo>
                  <a:pt x="286506" y="71686"/>
                </a:lnTo>
                <a:close/>
              </a:path>
              <a:path w="427354" h="763270">
                <a:moveTo>
                  <a:pt x="275243" y="71825"/>
                </a:moveTo>
                <a:close/>
              </a:path>
              <a:path w="427354" h="763270">
                <a:moveTo>
                  <a:pt x="277732" y="59231"/>
                </a:moveTo>
                <a:lnTo>
                  <a:pt x="265849" y="59231"/>
                </a:lnTo>
                <a:lnTo>
                  <a:pt x="266086" y="59524"/>
                </a:lnTo>
                <a:lnTo>
                  <a:pt x="275243" y="71825"/>
                </a:lnTo>
                <a:lnTo>
                  <a:pt x="275153" y="71686"/>
                </a:lnTo>
                <a:lnTo>
                  <a:pt x="286506" y="71686"/>
                </a:lnTo>
                <a:lnTo>
                  <a:pt x="283060" y="66372"/>
                </a:lnTo>
                <a:lnTo>
                  <a:pt x="277732" y="59231"/>
                </a:lnTo>
                <a:close/>
              </a:path>
              <a:path w="427354" h="763270">
                <a:moveTo>
                  <a:pt x="51560" y="0"/>
                </a:moveTo>
                <a:lnTo>
                  <a:pt x="0" y="67819"/>
                </a:lnTo>
                <a:lnTo>
                  <a:pt x="85191" y="68376"/>
                </a:lnTo>
                <a:lnTo>
                  <a:pt x="73349" y="44300"/>
                </a:lnTo>
                <a:lnTo>
                  <a:pt x="58520" y="44300"/>
                </a:lnTo>
                <a:lnTo>
                  <a:pt x="55440" y="35286"/>
                </a:lnTo>
                <a:lnTo>
                  <a:pt x="66977" y="31344"/>
                </a:lnTo>
                <a:lnTo>
                  <a:pt x="51560" y="0"/>
                </a:lnTo>
                <a:close/>
              </a:path>
              <a:path w="427354" h="763270">
                <a:moveTo>
                  <a:pt x="265961" y="59382"/>
                </a:moveTo>
                <a:lnTo>
                  <a:pt x="266067" y="59524"/>
                </a:lnTo>
                <a:lnTo>
                  <a:pt x="265961" y="59382"/>
                </a:lnTo>
                <a:close/>
              </a:path>
              <a:path w="427354" h="763270">
                <a:moveTo>
                  <a:pt x="269158" y="48582"/>
                </a:moveTo>
                <a:lnTo>
                  <a:pt x="256487" y="48582"/>
                </a:lnTo>
                <a:lnTo>
                  <a:pt x="256807" y="48912"/>
                </a:lnTo>
                <a:lnTo>
                  <a:pt x="265961" y="59382"/>
                </a:lnTo>
                <a:lnTo>
                  <a:pt x="265849" y="59231"/>
                </a:lnTo>
                <a:lnTo>
                  <a:pt x="277732" y="59231"/>
                </a:lnTo>
                <a:lnTo>
                  <a:pt x="273371" y="53385"/>
                </a:lnTo>
                <a:lnTo>
                  <a:pt x="269158" y="48582"/>
                </a:lnTo>
                <a:close/>
              </a:path>
              <a:path w="427354" h="763270">
                <a:moveTo>
                  <a:pt x="256635" y="48750"/>
                </a:moveTo>
                <a:lnTo>
                  <a:pt x="256777" y="48912"/>
                </a:lnTo>
                <a:lnTo>
                  <a:pt x="256635" y="48750"/>
                </a:lnTo>
                <a:close/>
              </a:path>
              <a:path w="427354" h="763270">
                <a:moveTo>
                  <a:pt x="261026" y="39808"/>
                </a:moveTo>
                <a:lnTo>
                  <a:pt x="247112" y="39808"/>
                </a:lnTo>
                <a:lnTo>
                  <a:pt x="247548" y="40170"/>
                </a:lnTo>
                <a:lnTo>
                  <a:pt x="256635" y="48750"/>
                </a:lnTo>
                <a:lnTo>
                  <a:pt x="256487" y="48582"/>
                </a:lnTo>
                <a:lnTo>
                  <a:pt x="269158" y="48582"/>
                </a:lnTo>
                <a:lnTo>
                  <a:pt x="263497" y="42128"/>
                </a:lnTo>
                <a:lnTo>
                  <a:pt x="261026" y="39808"/>
                </a:lnTo>
                <a:close/>
              </a:path>
              <a:path w="427354" h="763270">
                <a:moveTo>
                  <a:pt x="66977" y="31344"/>
                </a:moveTo>
                <a:lnTo>
                  <a:pt x="55440" y="35286"/>
                </a:lnTo>
                <a:lnTo>
                  <a:pt x="58520" y="44300"/>
                </a:lnTo>
                <a:lnTo>
                  <a:pt x="71107" y="39998"/>
                </a:lnTo>
                <a:lnTo>
                  <a:pt x="71140" y="39808"/>
                </a:lnTo>
                <a:lnTo>
                  <a:pt x="66977" y="31344"/>
                </a:lnTo>
                <a:close/>
              </a:path>
              <a:path w="427354" h="763270">
                <a:moveTo>
                  <a:pt x="71215" y="39961"/>
                </a:moveTo>
                <a:lnTo>
                  <a:pt x="58520" y="44300"/>
                </a:lnTo>
                <a:lnTo>
                  <a:pt x="73349" y="44300"/>
                </a:lnTo>
                <a:lnTo>
                  <a:pt x="71215" y="39961"/>
                </a:lnTo>
                <a:close/>
              </a:path>
              <a:path w="427354" h="763270">
                <a:moveTo>
                  <a:pt x="247315" y="39998"/>
                </a:moveTo>
                <a:lnTo>
                  <a:pt x="247498" y="40170"/>
                </a:lnTo>
                <a:lnTo>
                  <a:pt x="247315" y="39998"/>
                </a:lnTo>
                <a:close/>
              </a:path>
              <a:path w="427354" h="763270">
                <a:moveTo>
                  <a:pt x="247112" y="39808"/>
                </a:moveTo>
                <a:lnTo>
                  <a:pt x="247315" y="39998"/>
                </a:lnTo>
                <a:lnTo>
                  <a:pt x="247548" y="40170"/>
                </a:lnTo>
                <a:lnTo>
                  <a:pt x="247112" y="39808"/>
                </a:lnTo>
                <a:close/>
              </a:path>
              <a:path w="427354" h="763270">
                <a:moveTo>
                  <a:pt x="253746" y="32970"/>
                </a:moveTo>
                <a:lnTo>
                  <a:pt x="237775" y="32970"/>
                </a:lnTo>
                <a:lnTo>
                  <a:pt x="238365" y="33341"/>
                </a:lnTo>
                <a:lnTo>
                  <a:pt x="247315" y="39998"/>
                </a:lnTo>
                <a:lnTo>
                  <a:pt x="247112" y="39808"/>
                </a:lnTo>
                <a:lnTo>
                  <a:pt x="261026" y="39808"/>
                </a:lnTo>
                <a:lnTo>
                  <a:pt x="253746" y="32970"/>
                </a:lnTo>
                <a:close/>
              </a:path>
              <a:path w="427354" h="763270">
                <a:moveTo>
                  <a:pt x="211207" y="14875"/>
                </a:moveTo>
                <a:lnTo>
                  <a:pt x="171399" y="15970"/>
                </a:lnTo>
                <a:lnTo>
                  <a:pt x="133027" y="19047"/>
                </a:lnTo>
                <a:lnTo>
                  <a:pt x="80178" y="26833"/>
                </a:lnTo>
                <a:lnTo>
                  <a:pt x="66977" y="31344"/>
                </a:lnTo>
                <a:lnTo>
                  <a:pt x="71215" y="39961"/>
                </a:lnTo>
                <a:lnTo>
                  <a:pt x="82371" y="36149"/>
                </a:lnTo>
                <a:lnTo>
                  <a:pt x="82200" y="36149"/>
                </a:lnTo>
                <a:lnTo>
                  <a:pt x="82910" y="35965"/>
                </a:lnTo>
                <a:lnTo>
                  <a:pt x="83240" y="35965"/>
                </a:lnTo>
                <a:lnTo>
                  <a:pt x="98532" y="33257"/>
                </a:lnTo>
                <a:lnTo>
                  <a:pt x="133961" y="28531"/>
                </a:lnTo>
                <a:lnTo>
                  <a:pt x="171861" y="25487"/>
                </a:lnTo>
                <a:lnTo>
                  <a:pt x="210824" y="24414"/>
                </a:lnTo>
                <a:lnTo>
                  <a:pt x="210498" y="24378"/>
                </a:lnTo>
                <a:lnTo>
                  <a:pt x="241798" y="24378"/>
                </a:lnTo>
                <a:lnTo>
                  <a:pt x="232634" y="19505"/>
                </a:lnTo>
                <a:lnTo>
                  <a:pt x="221902" y="16040"/>
                </a:lnTo>
                <a:lnTo>
                  <a:pt x="211207" y="14875"/>
                </a:lnTo>
                <a:close/>
              </a:path>
              <a:path w="427354" h="763270">
                <a:moveTo>
                  <a:pt x="82910" y="35965"/>
                </a:moveTo>
                <a:lnTo>
                  <a:pt x="82200" y="36149"/>
                </a:lnTo>
                <a:lnTo>
                  <a:pt x="82555" y="36086"/>
                </a:lnTo>
                <a:lnTo>
                  <a:pt x="82910" y="35965"/>
                </a:lnTo>
                <a:close/>
              </a:path>
              <a:path w="427354" h="763270">
                <a:moveTo>
                  <a:pt x="82555" y="36086"/>
                </a:moveTo>
                <a:lnTo>
                  <a:pt x="82200" y="36149"/>
                </a:lnTo>
                <a:lnTo>
                  <a:pt x="82371" y="36149"/>
                </a:lnTo>
                <a:lnTo>
                  <a:pt x="82555" y="36086"/>
                </a:lnTo>
                <a:close/>
              </a:path>
              <a:path w="427354" h="763270">
                <a:moveTo>
                  <a:pt x="83240" y="35965"/>
                </a:moveTo>
                <a:lnTo>
                  <a:pt x="82910" y="35965"/>
                </a:lnTo>
                <a:lnTo>
                  <a:pt x="82555" y="36086"/>
                </a:lnTo>
                <a:lnTo>
                  <a:pt x="83240" y="35965"/>
                </a:lnTo>
                <a:close/>
              </a:path>
              <a:path w="427354" h="763270">
                <a:moveTo>
                  <a:pt x="238055" y="33176"/>
                </a:moveTo>
                <a:lnTo>
                  <a:pt x="238279" y="33341"/>
                </a:lnTo>
                <a:lnTo>
                  <a:pt x="238055" y="33176"/>
                </a:lnTo>
                <a:close/>
              </a:path>
              <a:path w="427354" h="763270">
                <a:moveTo>
                  <a:pt x="237775" y="32970"/>
                </a:moveTo>
                <a:lnTo>
                  <a:pt x="238207" y="33257"/>
                </a:lnTo>
                <a:lnTo>
                  <a:pt x="238365" y="33341"/>
                </a:lnTo>
                <a:lnTo>
                  <a:pt x="237775" y="32970"/>
                </a:lnTo>
                <a:close/>
              </a:path>
              <a:path w="427354" h="763270">
                <a:moveTo>
                  <a:pt x="247240" y="28112"/>
                </a:moveTo>
                <a:lnTo>
                  <a:pt x="228535" y="28112"/>
                </a:lnTo>
                <a:lnTo>
                  <a:pt x="229307" y="28440"/>
                </a:lnTo>
                <a:lnTo>
                  <a:pt x="238055" y="33176"/>
                </a:lnTo>
                <a:lnTo>
                  <a:pt x="237775" y="32970"/>
                </a:lnTo>
                <a:lnTo>
                  <a:pt x="253746" y="32970"/>
                </a:lnTo>
                <a:lnTo>
                  <a:pt x="253427" y="32670"/>
                </a:lnTo>
                <a:lnTo>
                  <a:pt x="247685" y="28440"/>
                </a:lnTo>
                <a:lnTo>
                  <a:pt x="229307" y="28440"/>
                </a:lnTo>
                <a:lnTo>
                  <a:pt x="228909" y="28312"/>
                </a:lnTo>
                <a:lnTo>
                  <a:pt x="247511" y="28312"/>
                </a:lnTo>
                <a:lnTo>
                  <a:pt x="247240" y="28112"/>
                </a:lnTo>
                <a:close/>
              </a:path>
              <a:path w="427354" h="763270">
                <a:moveTo>
                  <a:pt x="228535" y="28112"/>
                </a:moveTo>
                <a:lnTo>
                  <a:pt x="228909" y="28312"/>
                </a:lnTo>
                <a:lnTo>
                  <a:pt x="229307" y="28440"/>
                </a:lnTo>
                <a:lnTo>
                  <a:pt x="228535" y="28112"/>
                </a:lnTo>
                <a:close/>
              </a:path>
              <a:path w="427354" h="763270">
                <a:moveTo>
                  <a:pt x="243360" y="25253"/>
                </a:moveTo>
                <a:lnTo>
                  <a:pt x="219439" y="25253"/>
                </a:lnTo>
                <a:lnTo>
                  <a:pt x="220386" y="25457"/>
                </a:lnTo>
                <a:lnTo>
                  <a:pt x="220068" y="25457"/>
                </a:lnTo>
                <a:lnTo>
                  <a:pt x="228909" y="28312"/>
                </a:lnTo>
                <a:lnTo>
                  <a:pt x="228535" y="28112"/>
                </a:lnTo>
                <a:lnTo>
                  <a:pt x="247240" y="28112"/>
                </a:lnTo>
                <a:lnTo>
                  <a:pt x="243636" y="25457"/>
                </a:lnTo>
                <a:lnTo>
                  <a:pt x="220386" y="25457"/>
                </a:lnTo>
                <a:lnTo>
                  <a:pt x="219906" y="25404"/>
                </a:lnTo>
                <a:lnTo>
                  <a:pt x="243565" y="25404"/>
                </a:lnTo>
                <a:lnTo>
                  <a:pt x="243360" y="25253"/>
                </a:lnTo>
                <a:close/>
              </a:path>
              <a:path w="427354" h="763270">
                <a:moveTo>
                  <a:pt x="219439" y="25253"/>
                </a:moveTo>
                <a:lnTo>
                  <a:pt x="219906" y="25404"/>
                </a:lnTo>
                <a:lnTo>
                  <a:pt x="220386" y="25457"/>
                </a:lnTo>
                <a:lnTo>
                  <a:pt x="219439" y="25253"/>
                </a:lnTo>
                <a:close/>
              </a:path>
              <a:path w="427354" h="763270">
                <a:moveTo>
                  <a:pt x="241798" y="24378"/>
                </a:moveTo>
                <a:lnTo>
                  <a:pt x="210498" y="24378"/>
                </a:lnTo>
                <a:lnTo>
                  <a:pt x="211145" y="24405"/>
                </a:lnTo>
                <a:lnTo>
                  <a:pt x="210824" y="24414"/>
                </a:lnTo>
                <a:lnTo>
                  <a:pt x="219906" y="25404"/>
                </a:lnTo>
                <a:lnTo>
                  <a:pt x="219439" y="25253"/>
                </a:lnTo>
                <a:lnTo>
                  <a:pt x="243360" y="25253"/>
                </a:lnTo>
                <a:lnTo>
                  <a:pt x="243145" y="25095"/>
                </a:lnTo>
                <a:lnTo>
                  <a:pt x="241798" y="24378"/>
                </a:lnTo>
                <a:close/>
              </a:path>
              <a:path w="427354" h="763270">
                <a:moveTo>
                  <a:pt x="210498" y="24378"/>
                </a:moveTo>
                <a:lnTo>
                  <a:pt x="210824" y="24414"/>
                </a:lnTo>
                <a:lnTo>
                  <a:pt x="211145" y="24405"/>
                </a:lnTo>
                <a:lnTo>
                  <a:pt x="210498" y="24378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2590" y="4799438"/>
            <a:ext cx="580812" cy="1120140"/>
          </a:xfrm>
          <a:custGeom>
            <a:avLst/>
            <a:gdLst/>
            <a:ahLst/>
            <a:cxnLst/>
            <a:rect l="l" t="t" r="r" b="b"/>
            <a:pathLst>
              <a:path w="435610" h="840104">
                <a:moveTo>
                  <a:pt x="219994" y="0"/>
                </a:moveTo>
                <a:lnTo>
                  <a:pt x="176771" y="20006"/>
                </a:lnTo>
                <a:lnTo>
                  <a:pt x="146593" y="57776"/>
                </a:lnTo>
                <a:lnTo>
                  <a:pt x="127420" y="92431"/>
                </a:lnTo>
                <a:lnTo>
                  <a:pt x="109054" y="134010"/>
                </a:lnTo>
                <a:lnTo>
                  <a:pt x="91610" y="181940"/>
                </a:lnTo>
                <a:lnTo>
                  <a:pt x="75220" y="235630"/>
                </a:lnTo>
                <a:lnTo>
                  <a:pt x="60032" y="294486"/>
                </a:lnTo>
                <a:lnTo>
                  <a:pt x="39836" y="391139"/>
                </a:lnTo>
                <a:lnTo>
                  <a:pt x="28319" y="460273"/>
                </a:lnTo>
                <a:lnTo>
                  <a:pt x="18545" y="532458"/>
                </a:lnTo>
                <a:lnTo>
                  <a:pt x="10667" y="607086"/>
                </a:lnTo>
                <a:lnTo>
                  <a:pt x="4846" y="683549"/>
                </a:lnTo>
                <a:lnTo>
                  <a:pt x="1231" y="761608"/>
                </a:lnTo>
                <a:lnTo>
                  <a:pt x="0" y="839470"/>
                </a:lnTo>
                <a:lnTo>
                  <a:pt x="9523" y="839620"/>
                </a:lnTo>
                <a:lnTo>
                  <a:pt x="10757" y="761608"/>
                </a:lnTo>
                <a:lnTo>
                  <a:pt x="14350" y="684202"/>
                </a:lnTo>
                <a:lnTo>
                  <a:pt x="20150" y="608017"/>
                </a:lnTo>
                <a:lnTo>
                  <a:pt x="27995" y="533667"/>
                </a:lnTo>
                <a:lnTo>
                  <a:pt x="37730" y="461766"/>
                </a:lnTo>
                <a:lnTo>
                  <a:pt x="49193" y="392932"/>
                </a:lnTo>
                <a:lnTo>
                  <a:pt x="62234" y="327736"/>
                </a:lnTo>
                <a:lnTo>
                  <a:pt x="69290" y="296731"/>
                </a:lnTo>
                <a:lnTo>
                  <a:pt x="76678" y="266877"/>
                </a:lnTo>
                <a:lnTo>
                  <a:pt x="84378" y="238254"/>
                </a:lnTo>
                <a:lnTo>
                  <a:pt x="92368" y="210939"/>
                </a:lnTo>
                <a:lnTo>
                  <a:pt x="100628" y="185009"/>
                </a:lnTo>
                <a:lnTo>
                  <a:pt x="109137" y="160545"/>
                </a:lnTo>
                <a:lnTo>
                  <a:pt x="117870" y="137624"/>
                </a:lnTo>
                <a:lnTo>
                  <a:pt x="126808" y="116328"/>
                </a:lnTo>
                <a:lnTo>
                  <a:pt x="135922" y="96735"/>
                </a:lnTo>
                <a:lnTo>
                  <a:pt x="145187" y="78931"/>
                </a:lnTo>
                <a:lnTo>
                  <a:pt x="154573" y="62995"/>
                </a:lnTo>
                <a:lnTo>
                  <a:pt x="164040" y="49013"/>
                </a:lnTo>
                <a:lnTo>
                  <a:pt x="173548" y="37064"/>
                </a:lnTo>
                <a:lnTo>
                  <a:pt x="173822" y="36722"/>
                </a:lnTo>
                <a:lnTo>
                  <a:pt x="183042" y="27223"/>
                </a:lnTo>
                <a:lnTo>
                  <a:pt x="183417" y="26836"/>
                </a:lnTo>
                <a:lnTo>
                  <a:pt x="192462" y="19546"/>
                </a:lnTo>
                <a:lnTo>
                  <a:pt x="192970" y="19135"/>
                </a:lnTo>
                <a:lnTo>
                  <a:pt x="201765" y="14052"/>
                </a:lnTo>
                <a:lnTo>
                  <a:pt x="201599" y="14052"/>
                </a:lnTo>
                <a:lnTo>
                  <a:pt x="202410" y="13675"/>
                </a:lnTo>
                <a:lnTo>
                  <a:pt x="202661" y="13675"/>
                </a:lnTo>
                <a:lnTo>
                  <a:pt x="210994" y="10713"/>
                </a:lnTo>
                <a:lnTo>
                  <a:pt x="210646" y="10713"/>
                </a:lnTo>
                <a:lnTo>
                  <a:pt x="211673" y="10472"/>
                </a:lnTo>
                <a:lnTo>
                  <a:pt x="212658" y="10472"/>
                </a:lnTo>
                <a:lnTo>
                  <a:pt x="220351" y="9549"/>
                </a:lnTo>
                <a:lnTo>
                  <a:pt x="219961" y="9532"/>
                </a:lnTo>
                <a:lnTo>
                  <a:pt x="220739" y="9503"/>
                </a:lnTo>
                <a:lnTo>
                  <a:pt x="312051" y="9503"/>
                </a:lnTo>
                <a:lnTo>
                  <a:pt x="300080" y="6920"/>
                </a:lnTo>
                <a:lnTo>
                  <a:pt x="260766" y="1814"/>
                </a:lnTo>
                <a:lnTo>
                  <a:pt x="219994" y="0"/>
                </a:lnTo>
                <a:close/>
              </a:path>
              <a:path w="435610" h="840104">
                <a:moveTo>
                  <a:pt x="374032" y="38954"/>
                </a:moveTo>
                <a:lnTo>
                  <a:pt x="353306" y="62301"/>
                </a:lnTo>
                <a:lnTo>
                  <a:pt x="435584" y="84397"/>
                </a:lnTo>
                <a:lnTo>
                  <a:pt x="420302" y="46261"/>
                </a:lnTo>
                <a:lnTo>
                  <a:pt x="385546" y="46261"/>
                </a:lnTo>
                <a:lnTo>
                  <a:pt x="374032" y="38954"/>
                </a:lnTo>
                <a:close/>
              </a:path>
              <a:path w="435610" h="840104">
                <a:moveTo>
                  <a:pt x="164142" y="48863"/>
                </a:moveTo>
                <a:lnTo>
                  <a:pt x="164023" y="49013"/>
                </a:lnTo>
                <a:lnTo>
                  <a:pt x="164142" y="48863"/>
                </a:lnTo>
                <a:close/>
              </a:path>
              <a:path w="435610" h="840104">
                <a:moveTo>
                  <a:pt x="164258" y="48717"/>
                </a:moveTo>
                <a:lnTo>
                  <a:pt x="164142" y="48863"/>
                </a:lnTo>
                <a:lnTo>
                  <a:pt x="164258" y="48717"/>
                </a:lnTo>
                <a:close/>
              </a:path>
              <a:path w="435610" h="840104">
                <a:moveTo>
                  <a:pt x="380438" y="31738"/>
                </a:moveTo>
                <a:lnTo>
                  <a:pt x="374032" y="38954"/>
                </a:lnTo>
                <a:lnTo>
                  <a:pt x="385546" y="46261"/>
                </a:lnTo>
                <a:lnTo>
                  <a:pt x="390650" y="38219"/>
                </a:lnTo>
                <a:lnTo>
                  <a:pt x="380438" y="31738"/>
                </a:lnTo>
                <a:close/>
              </a:path>
              <a:path w="435610" h="840104">
                <a:moveTo>
                  <a:pt x="403895" y="5316"/>
                </a:moveTo>
                <a:lnTo>
                  <a:pt x="380438" y="31738"/>
                </a:lnTo>
                <a:lnTo>
                  <a:pt x="390650" y="38219"/>
                </a:lnTo>
                <a:lnTo>
                  <a:pt x="385546" y="46261"/>
                </a:lnTo>
                <a:lnTo>
                  <a:pt x="420302" y="46261"/>
                </a:lnTo>
                <a:lnTo>
                  <a:pt x="403895" y="5316"/>
                </a:lnTo>
                <a:close/>
              </a:path>
              <a:path w="435610" h="840104">
                <a:moveTo>
                  <a:pt x="366198" y="33982"/>
                </a:moveTo>
                <a:lnTo>
                  <a:pt x="374032" y="38954"/>
                </a:lnTo>
                <a:lnTo>
                  <a:pt x="378284" y="34165"/>
                </a:lnTo>
                <a:lnTo>
                  <a:pt x="366736" y="34165"/>
                </a:lnTo>
                <a:lnTo>
                  <a:pt x="366198" y="33982"/>
                </a:lnTo>
                <a:close/>
              </a:path>
              <a:path w="435610" h="840104">
                <a:moveTo>
                  <a:pt x="173684" y="36895"/>
                </a:moveTo>
                <a:lnTo>
                  <a:pt x="173520" y="37064"/>
                </a:lnTo>
                <a:lnTo>
                  <a:pt x="173684" y="36895"/>
                </a:lnTo>
                <a:close/>
              </a:path>
              <a:path w="435610" h="840104">
                <a:moveTo>
                  <a:pt x="173851" y="36722"/>
                </a:moveTo>
                <a:lnTo>
                  <a:pt x="173684" y="36895"/>
                </a:lnTo>
                <a:lnTo>
                  <a:pt x="173851" y="36722"/>
                </a:lnTo>
                <a:close/>
              </a:path>
              <a:path w="435610" h="840104">
                <a:moveTo>
                  <a:pt x="365718" y="33677"/>
                </a:moveTo>
                <a:lnTo>
                  <a:pt x="366198" y="33982"/>
                </a:lnTo>
                <a:lnTo>
                  <a:pt x="366736" y="34165"/>
                </a:lnTo>
                <a:lnTo>
                  <a:pt x="365718" y="33677"/>
                </a:lnTo>
                <a:close/>
              </a:path>
              <a:path w="435610" h="840104">
                <a:moveTo>
                  <a:pt x="378717" y="33677"/>
                </a:moveTo>
                <a:lnTo>
                  <a:pt x="365718" y="33677"/>
                </a:lnTo>
                <a:lnTo>
                  <a:pt x="366736" y="34165"/>
                </a:lnTo>
                <a:lnTo>
                  <a:pt x="378284" y="34165"/>
                </a:lnTo>
                <a:lnTo>
                  <a:pt x="378717" y="33677"/>
                </a:lnTo>
                <a:close/>
              </a:path>
              <a:path w="435610" h="840104">
                <a:moveTo>
                  <a:pt x="375824" y="28811"/>
                </a:moveTo>
                <a:lnTo>
                  <a:pt x="350984" y="28811"/>
                </a:lnTo>
                <a:lnTo>
                  <a:pt x="351205" y="28879"/>
                </a:lnTo>
                <a:lnTo>
                  <a:pt x="366198" y="33982"/>
                </a:lnTo>
                <a:lnTo>
                  <a:pt x="365718" y="33677"/>
                </a:lnTo>
                <a:lnTo>
                  <a:pt x="378717" y="33677"/>
                </a:lnTo>
                <a:lnTo>
                  <a:pt x="380438" y="31738"/>
                </a:lnTo>
                <a:lnTo>
                  <a:pt x="375824" y="28811"/>
                </a:lnTo>
                <a:close/>
              </a:path>
              <a:path w="435610" h="840104">
                <a:moveTo>
                  <a:pt x="351083" y="28844"/>
                </a:moveTo>
                <a:close/>
              </a:path>
              <a:path w="435610" h="840104">
                <a:moveTo>
                  <a:pt x="366568" y="24048"/>
                </a:moveTo>
                <a:lnTo>
                  <a:pt x="334350" y="24048"/>
                </a:lnTo>
                <a:lnTo>
                  <a:pt x="334658" y="24126"/>
                </a:lnTo>
                <a:lnTo>
                  <a:pt x="351083" y="28844"/>
                </a:lnTo>
                <a:lnTo>
                  <a:pt x="375824" y="28811"/>
                </a:lnTo>
                <a:lnTo>
                  <a:pt x="370340" y="25331"/>
                </a:lnTo>
                <a:lnTo>
                  <a:pt x="366568" y="24048"/>
                </a:lnTo>
                <a:close/>
              </a:path>
              <a:path w="435610" h="840104">
                <a:moveTo>
                  <a:pt x="183417" y="26836"/>
                </a:moveTo>
                <a:lnTo>
                  <a:pt x="182994" y="27223"/>
                </a:lnTo>
                <a:lnTo>
                  <a:pt x="183217" y="27042"/>
                </a:lnTo>
                <a:lnTo>
                  <a:pt x="183417" y="26836"/>
                </a:lnTo>
                <a:close/>
              </a:path>
              <a:path w="435610" h="840104">
                <a:moveTo>
                  <a:pt x="183217" y="27042"/>
                </a:moveTo>
                <a:lnTo>
                  <a:pt x="182994" y="27223"/>
                </a:lnTo>
                <a:lnTo>
                  <a:pt x="183217" y="27042"/>
                </a:lnTo>
                <a:close/>
              </a:path>
              <a:path w="435610" h="840104">
                <a:moveTo>
                  <a:pt x="183472" y="26836"/>
                </a:moveTo>
                <a:lnTo>
                  <a:pt x="183217" y="27042"/>
                </a:lnTo>
                <a:lnTo>
                  <a:pt x="183472" y="26836"/>
                </a:lnTo>
                <a:close/>
              </a:path>
              <a:path w="435610" h="840104">
                <a:moveTo>
                  <a:pt x="334503" y="24092"/>
                </a:moveTo>
                <a:lnTo>
                  <a:pt x="334658" y="24126"/>
                </a:lnTo>
                <a:lnTo>
                  <a:pt x="334503" y="24092"/>
                </a:lnTo>
                <a:close/>
              </a:path>
              <a:path w="435610" h="840104">
                <a:moveTo>
                  <a:pt x="341790" y="16272"/>
                </a:moveTo>
                <a:lnTo>
                  <a:pt x="298265" y="16272"/>
                </a:lnTo>
                <a:lnTo>
                  <a:pt x="298657" y="16339"/>
                </a:lnTo>
                <a:lnTo>
                  <a:pt x="334503" y="24092"/>
                </a:lnTo>
                <a:lnTo>
                  <a:pt x="334350" y="24048"/>
                </a:lnTo>
                <a:lnTo>
                  <a:pt x="366568" y="24048"/>
                </a:lnTo>
                <a:lnTo>
                  <a:pt x="353941" y="19754"/>
                </a:lnTo>
                <a:lnTo>
                  <a:pt x="341790" y="16272"/>
                </a:lnTo>
                <a:close/>
              </a:path>
              <a:path w="435610" h="840104">
                <a:moveTo>
                  <a:pt x="192970" y="19135"/>
                </a:moveTo>
                <a:lnTo>
                  <a:pt x="192375" y="19546"/>
                </a:lnTo>
                <a:lnTo>
                  <a:pt x="192687" y="19363"/>
                </a:lnTo>
                <a:lnTo>
                  <a:pt x="192970" y="19135"/>
                </a:lnTo>
                <a:close/>
              </a:path>
              <a:path w="435610" h="840104">
                <a:moveTo>
                  <a:pt x="192687" y="19363"/>
                </a:moveTo>
                <a:lnTo>
                  <a:pt x="192375" y="19546"/>
                </a:lnTo>
                <a:lnTo>
                  <a:pt x="192687" y="19363"/>
                </a:lnTo>
                <a:close/>
              </a:path>
              <a:path w="435610" h="840104">
                <a:moveTo>
                  <a:pt x="193079" y="19135"/>
                </a:moveTo>
                <a:lnTo>
                  <a:pt x="192687" y="19363"/>
                </a:lnTo>
                <a:lnTo>
                  <a:pt x="193079" y="19135"/>
                </a:lnTo>
                <a:close/>
              </a:path>
              <a:path w="435610" h="840104">
                <a:moveTo>
                  <a:pt x="298458" y="16313"/>
                </a:moveTo>
                <a:lnTo>
                  <a:pt x="298657" y="16339"/>
                </a:lnTo>
                <a:lnTo>
                  <a:pt x="298458" y="16313"/>
                </a:lnTo>
                <a:close/>
              </a:path>
              <a:path w="435610" h="840104">
                <a:moveTo>
                  <a:pt x="320314" y="11286"/>
                </a:moveTo>
                <a:lnTo>
                  <a:pt x="259740" y="11286"/>
                </a:lnTo>
                <a:lnTo>
                  <a:pt x="260141" y="11320"/>
                </a:lnTo>
                <a:lnTo>
                  <a:pt x="260004" y="11320"/>
                </a:lnTo>
                <a:lnTo>
                  <a:pt x="298458" y="16313"/>
                </a:lnTo>
                <a:lnTo>
                  <a:pt x="298265" y="16272"/>
                </a:lnTo>
                <a:lnTo>
                  <a:pt x="341790" y="16272"/>
                </a:lnTo>
                <a:lnTo>
                  <a:pt x="336823" y="14848"/>
                </a:lnTo>
                <a:lnTo>
                  <a:pt x="320473" y="11320"/>
                </a:lnTo>
                <a:lnTo>
                  <a:pt x="259932" y="11311"/>
                </a:lnTo>
                <a:lnTo>
                  <a:pt x="320430" y="11311"/>
                </a:lnTo>
                <a:close/>
              </a:path>
              <a:path w="435610" h="840104">
                <a:moveTo>
                  <a:pt x="202410" y="13675"/>
                </a:moveTo>
                <a:lnTo>
                  <a:pt x="201599" y="14052"/>
                </a:lnTo>
                <a:lnTo>
                  <a:pt x="202021" y="13902"/>
                </a:lnTo>
                <a:lnTo>
                  <a:pt x="202410" y="13675"/>
                </a:lnTo>
                <a:close/>
              </a:path>
              <a:path w="435610" h="840104">
                <a:moveTo>
                  <a:pt x="202021" y="13902"/>
                </a:moveTo>
                <a:lnTo>
                  <a:pt x="201599" y="14052"/>
                </a:lnTo>
                <a:lnTo>
                  <a:pt x="201765" y="14052"/>
                </a:lnTo>
                <a:lnTo>
                  <a:pt x="202021" y="13902"/>
                </a:lnTo>
                <a:close/>
              </a:path>
              <a:path w="435610" h="840104">
                <a:moveTo>
                  <a:pt x="202661" y="13675"/>
                </a:moveTo>
                <a:lnTo>
                  <a:pt x="202410" y="13675"/>
                </a:lnTo>
                <a:lnTo>
                  <a:pt x="202021" y="13902"/>
                </a:lnTo>
                <a:lnTo>
                  <a:pt x="202661" y="13675"/>
                </a:lnTo>
                <a:close/>
              </a:path>
              <a:path w="435610" h="840104">
                <a:moveTo>
                  <a:pt x="312051" y="9503"/>
                </a:moveTo>
                <a:lnTo>
                  <a:pt x="220739" y="9503"/>
                </a:lnTo>
                <a:lnTo>
                  <a:pt x="220351" y="9549"/>
                </a:lnTo>
                <a:lnTo>
                  <a:pt x="259932" y="11311"/>
                </a:lnTo>
                <a:lnTo>
                  <a:pt x="259740" y="11286"/>
                </a:lnTo>
                <a:lnTo>
                  <a:pt x="320314" y="11286"/>
                </a:lnTo>
                <a:lnTo>
                  <a:pt x="312051" y="9503"/>
                </a:lnTo>
                <a:close/>
              </a:path>
              <a:path w="435610" h="840104">
                <a:moveTo>
                  <a:pt x="211673" y="10472"/>
                </a:moveTo>
                <a:lnTo>
                  <a:pt x="210646" y="10713"/>
                </a:lnTo>
                <a:lnTo>
                  <a:pt x="211171" y="10650"/>
                </a:lnTo>
                <a:lnTo>
                  <a:pt x="211673" y="10472"/>
                </a:lnTo>
                <a:close/>
              </a:path>
              <a:path w="435610" h="840104">
                <a:moveTo>
                  <a:pt x="211171" y="10650"/>
                </a:moveTo>
                <a:lnTo>
                  <a:pt x="210646" y="10713"/>
                </a:lnTo>
                <a:lnTo>
                  <a:pt x="210994" y="10713"/>
                </a:lnTo>
                <a:lnTo>
                  <a:pt x="211171" y="10650"/>
                </a:lnTo>
                <a:close/>
              </a:path>
              <a:path w="435610" h="840104">
                <a:moveTo>
                  <a:pt x="212658" y="10472"/>
                </a:moveTo>
                <a:lnTo>
                  <a:pt x="211673" y="10472"/>
                </a:lnTo>
                <a:lnTo>
                  <a:pt x="211171" y="10650"/>
                </a:lnTo>
                <a:lnTo>
                  <a:pt x="212658" y="10472"/>
                </a:lnTo>
                <a:close/>
              </a:path>
              <a:path w="435610" h="840104">
                <a:moveTo>
                  <a:pt x="220739" y="9503"/>
                </a:moveTo>
                <a:lnTo>
                  <a:pt x="219961" y="9532"/>
                </a:lnTo>
                <a:lnTo>
                  <a:pt x="220351" y="9549"/>
                </a:lnTo>
                <a:lnTo>
                  <a:pt x="220739" y="9503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Learn</a:t>
            </a:r>
            <a:r>
              <a:rPr spc="-47" dirty="0"/>
              <a:t> </a:t>
            </a:r>
            <a:r>
              <a:rPr dirty="0"/>
              <a:t>inductive</a:t>
            </a:r>
            <a:r>
              <a:rPr spc="-27" dirty="0"/>
              <a:t> </a:t>
            </a:r>
            <a:r>
              <a:rPr dirty="0"/>
              <a:t>biases</a:t>
            </a:r>
            <a:r>
              <a:rPr spc="-20" dirty="0"/>
              <a:t> </a:t>
            </a:r>
            <a:r>
              <a:rPr dirty="0"/>
              <a:t>through</a:t>
            </a:r>
            <a:r>
              <a:rPr spc="-27" dirty="0"/>
              <a:t> </a:t>
            </a:r>
            <a:r>
              <a:rPr spc="-13" dirty="0"/>
              <a:t>masking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43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2585" y="2389294"/>
            <a:ext cx="10193867" cy="16933"/>
          </a:xfrm>
          <a:custGeom>
            <a:avLst/>
            <a:gdLst/>
            <a:ahLst/>
            <a:cxnLst/>
            <a:rect l="l" t="t" r="r" b="b"/>
            <a:pathLst>
              <a:path w="7645400" h="12700">
                <a:moveTo>
                  <a:pt x="7645400" y="0"/>
                </a:moveTo>
                <a:lnTo>
                  <a:pt x="0" y="0"/>
                </a:lnTo>
                <a:lnTo>
                  <a:pt x="0" y="12700"/>
                </a:lnTo>
                <a:lnTo>
                  <a:pt x="7645400" y="12700"/>
                </a:lnTo>
                <a:lnTo>
                  <a:pt x="7645400" y="0"/>
                </a:lnTo>
                <a:close/>
              </a:path>
            </a:pathLst>
          </a:custGeom>
          <a:solidFill>
            <a:srgbClr val="4198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654" y="1096602"/>
            <a:ext cx="11101493" cy="5045378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426709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encourage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learn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factual knowledge by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 clever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masking?</a:t>
            </a:r>
            <a:endParaRPr sz="2400" dirty="0">
              <a:latin typeface="Calibri"/>
              <a:cs typeface="Calibri"/>
            </a:endParaRPr>
          </a:p>
          <a:p>
            <a:pPr marL="426709" indent="-342045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dirty="0">
                <a:latin typeface="Calibri"/>
                <a:cs typeface="Calibri"/>
              </a:rPr>
              <a:t>Thread in several</a:t>
            </a:r>
            <a:r>
              <a:rPr sz="2400" spc="-13" dirty="0">
                <a:latin typeface="Calibri"/>
                <a:cs typeface="Calibri"/>
              </a:rPr>
              <a:t> works:</a:t>
            </a:r>
            <a:endParaRPr sz="2400" dirty="0">
              <a:latin typeface="Calibri"/>
              <a:cs typeface="Calibri"/>
            </a:endParaRPr>
          </a:p>
          <a:p>
            <a:pPr marL="770447" marR="110911" lvl="1" indent="-228594">
              <a:lnSpc>
                <a:spcPts val="2787"/>
              </a:lnSpc>
              <a:spcBef>
                <a:spcPts val="773"/>
              </a:spcBef>
              <a:buClr>
                <a:srgbClr val="007C92"/>
              </a:buClr>
              <a:buFont typeface="Times New Roman"/>
              <a:buChar char="•"/>
              <a:tabLst>
                <a:tab pos="770447" algn="l"/>
              </a:tabLst>
            </a:pP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ERNIE</a:t>
            </a:r>
            <a:r>
              <a:rPr sz="2400" baseline="23148" dirty="0">
                <a:solidFill>
                  <a:srgbClr val="4198B5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Enhanced</a:t>
            </a:r>
            <a:r>
              <a:rPr sz="2400" spc="-7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Representation through</a:t>
            </a:r>
            <a:r>
              <a:rPr sz="2400" spc="-7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Knowledge Integration,</a:t>
            </a:r>
            <a:r>
              <a:rPr sz="2400" spc="-13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Sun et</a:t>
            </a:r>
            <a:r>
              <a:rPr sz="2400" spc="-20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198B5"/>
                </a:solidFill>
                <a:latin typeface="Calibri"/>
                <a:cs typeface="Calibri"/>
              </a:rPr>
              <a:t>al.,</a:t>
            </a:r>
            <a:r>
              <a:rPr sz="2400" spc="-7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4198B5"/>
                </a:solidFill>
                <a:latin typeface="Calibri"/>
                <a:cs typeface="Calibri"/>
              </a:rPr>
              <a:t>arXiv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2019</a:t>
            </a:r>
            <a:endParaRPr sz="2400" dirty="0">
              <a:latin typeface="Calibri"/>
              <a:cs typeface="Calibri"/>
            </a:endParaRPr>
          </a:p>
          <a:p>
            <a:pPr marL="1113339" marR="232828" lvl="2" indent="-228594">
              <a:lnSpc>
                <a:spcPct val="101099"/>
              </a:lnSpc>
              <a:spcBef>
                <a:spcPts val="500"/>
              </a:spcBef>
              <a:buClr>
                <a:srgbClr val="8C1515"/>
              </a:buClr>
              <a:buFont typeface="Times New Roman"/>
              <a:buChar char="•"/>
              <a:tabLst>
                <a:tab pos="1113339" algn="l"/>
              </a:tabLst>
            </a:pPr>
            <a:r>
              <a:rPr sz="2400" dirty="0">
                <a:latin typeface="Calibri"/>
                <a:cs typeface="Calibri"/>
              </a:rPr>
              <a:t>Shows improvements on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downstream Chinese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NLP tasks with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phrase-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level </a:t>
            </a:r>
            <a:r>
              <a:rPr sz="2400" spc="-33" dirty="0">
                <a:latin typeface="Calibri"/>
                <a:cs typeface="Calibri"/>
              </a:rPr>
              <a:t>and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entity-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level</a:t>
            </a:r>
            <a:r>
              <a:rPr sz="2400" spc="6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masking</a:t>
            </a:r>
            <a:endParaRPr sz="2400" dirty="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Clr>
                <a:srgbClr val="8C1515"/>
              </a:buClr>
              <a:buFont typeface="Times New Roman"/>
              <a:buChar char="•"/>
            </a:pPr>
            <a:endParaRPr sz="3467" dirty="0">
              <a:latin typeface="Calibri"/>
              <a:cs typeface="Calibri"/>
            </a:endParaRPr>
          </a:p>
          <a:p>
            <a:pPr marL="770447" marR="365751" lvl="1" indent="-228594">
              <a:lnSpc>
                <a:spcPts val="2787"/>
              </a:lnSpc>
              <a:buClr>
                <a:srgbClr val="007C92"/>
              </a:buClr>
              <a:buFont typeface="Times New Roman"/>
              <a:buChar char="•"/>
              <a:tabLst>
                <a:tab pos="770447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How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Much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Knowledge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Can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You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Pack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Into the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Parameters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of a Language</a:t>
            </a:r>
            <a:r>
              <a:rPr sz="2400" u="sng" spc="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Model?,</a:t>
            </a:r>
            <a:r>
              <a:rPr sz="2400" spc="-13" dirty="0">
                <a:solidFill>
                  <a:srgbClr val="4198B5"/>
                </a:solid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Roberts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EMNLP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endParaRPr sz="2400" dirty="0">
              <a:latin typeface="Calibri"/>
              <a:cs typeface="Calibri"/>
            </a:endParaRPr>
          </a:p>
          <a:p>
            <a:pPr marL="1113339" marR="331885" lvl="2" indent="-228594">
              <a:lnSpc>
                <a:spcPct val="101099"/>
              </a:lnSpc>
              <a:spcBef>
                <a:spcPts val="500"/>
              </a:spcBef>
              <a:buClr>
                <a:srgbClr val="8C1515"/>
              </a:buClr>
              <a:buFont typeface="Times New Roman"/>
              <a:buChar char="•"/>
              <a:tabLst>
                <a:tab pos="1113339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“salient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span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masking”</a:t>
            </a:r>
            <a:r>
              <a:rPr sz="2400" spc="-2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Guu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ICML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spans </a:t>
            </a:r>
            <a:r>
              <a:rPr sz="2400" dirty="0">
                <a:latin typeface="Calibri"/>
                <a:cs typeface="Calibri"/>
              </a:rPr>
              <a:t>(i.e.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3" dirty="0">
                <a:latin typeface="Calibri"/>
                <a:cs typeface="Calibri"/>
              </a:rPr>
              <a:t>dates)</a:t>
            </a:r>
            <a:endParaRPr sz="2400" dirty="0">
              <a:latin typeface="Calibri"/>
              <a:cs typeface="Calibri"/>
            </a:endParaRPr>
          </a:p>
          <a:p>
            <a:pPr marL="1112492" lvl="2" indent="-227748">
              <a:spcBef>
                <a:spcPts val="607"/>
              </a:spcBef>
              <a:buClr>
                <a:srgbClr val="8C1515"/>
              </a:buClr>
              <a:buFont typeface="Times New Roman"/>
              <a:buChar char="•"/>
              <a:tabLst>
                <a:tab pos="1112492" algn="l"/>
              </a:tabLst>
            </a:pP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T5 performance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QA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9077" y="6257881"/>
            <a:ext cx="36762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[1]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Yes,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paper!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1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45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0799">
              <a:spcBef>
                <a:spcPts val="133"/>
              </a:spcBef>
            </a:pPr>
            <a:r>
              <a:rPr dirty="0"/>
              <a:t>ERNIE</a:t>
            </a:r>
            <a:r>
              <a:rPr sz="3200" baseline="24305" dirty="0"/>
              <a:t>1</a:t>
            </a:r>
            <a:r>
              <a:rPr sz="3200" dirty="0"/>
              <a:t>:</a:t>
            </a:r>
            <a:r>
              <a:rPr sz="3200" spc="-47" dirty="0"/>
              <a:t> </a:t>
            </a:r>
            <a:r>
              <a:rPr sz="3200" dirty="0"/>
              <a:t>Enhanced</a:t>
            </a:r>
            <a:r>
              <a:rPr sz="3200" spc="-40" dirty="0"/>
              <a:t> </a:t>
            </a:r>
            <a:r>
              <a:rPr sz="3200" dirty="0"/>
              <a:t>Representation</a:t>
            </a:r>
            <a:r>
              <a:rPr sz="3200" spc="-40" dirty="0"/>
              <a:t> </a:t>
            </a:r>
            <a:r>
              <a:rPr sz="3200" dirty="0"/>
              <a:t>through</a:t>
            </a:r>
            <a:r>
              <a:rPr sz="3200" spc="-40" dirty="0"/>
              <a:t> </a:t>
            </a:r>
            <a:r>
              <a:rPr sz="3200" dirty="0"/>
              <a:t>Knowledge</a:t>
            </a:r>
            <a:r>
              <a:rPr sz="3200" spc="-27" dirty="0"/>
              <a:t> </a:t>
            </a:r>
            <a:r>
              <a:rPr sz="3200" spc="-13" dirty="0"/>
              <a:t>Integration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84572" y="451985"/>
            <a:ext cx="3126740" cy="945686"/>
          </a:xfrm>
          <a:prstGeom prst="rect">
            <a:avLst/>
          </a:prstGeom>
        </p:spPr>
        <p:txBody>
          <a:bodyPr vert="horz" wrap="square" lIns="0" tIns="126153" rIns="0" bIns="0" rtlCol="0">
            <a:spAutoFit/>
          </a:bodyPr>
          <a:lstStyle/>
          <a:p>
            <a:pPr marL="16933">
              <a:spcBef>
                <a:spcPts val="993"/>
              </a:spcBef>
            </a:pPr>
            <a:r>
              <a:rPr sz="2667" dirty="0">
                <a:solidFill>
                  <a:srgbClr val="007C92"/>
                </a:solidFill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Sun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 al.,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arXiv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2019</a:t>
            </a:r>
            <a:r>
              <a:rPr sz="2667" spc="-13" dirty="0">
                <a:solidFill>
                  <a:srgbClr val="007C92"/>
                </a:solidFill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  <a:p>
            <a:pPr marL="1889713">
              <a:spcBef>
                <a:spcPts val="713"/>
              </a:spcBef>
            </a:pPr>
            <a:r>
              <a:rPr sz="2067" b="1" spc="-27" dirty="0">
                <a:latin typeface="Arial"/>
                <a:cs typeface="Arial"/>
              </a:rPr>
              <a:t>BERT</a:t>
            </a:r>
            <a:endParaRPr sz="2067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39873" y="5454650"/>
            <a:ext cx="9101667" cy="789093"/>
            <a:chOff x="1154905" y="4090987"/>
            <a:chExt cx="6826250" cy="591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4399359"/>
              <a:ext cx="100012" cy="2416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2256" y="4399359"/>
              <a:ext cx="91677" cy="2416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1793" y="4407693"/>
              <a:ext cx="91677" cy="2416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8856" y="4407693"/>
              <a:ext cx="91677" cy="2333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0652" y="4407693"/>
              <a:ext cx="91678" cy="2416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55717" y="4407693"/>
              <a:ext cx="91678" cy="2416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54905" y="4090987"/>
              <a:ext cx="6826250" cy="275590"/>
            </a:xfrm>
            <a:custGeom>
              <a:avLst/>
              <a:gdLst/>
              <a:ahLst/>
              <a:cxnLst/>
              <a:rect l="l" t="t" r="r" b="b"/>
              <a:pathLst>
                <a:path w="6826250" h="275589">
                  <a:moveTo>
                    <a:pt x="6790082" y="0"/>
                  </a:moveTo>
                  <a:lnTo>
                    <a:pt x="35771" y="0"/>
                  </a:lnTo>
                  <a:lnTo>
                    <a:pt x="21847" y="2811"/>
                  </a:lnTo>
                  <a:lnTo>
                    <a:pt x="10477" y="10477"/>
                  </a:lnTo>
                  <a:lnTo>
                    <a:pt x="2811" y="21848"/>
                  </a:lnTo>
                  <a:lnTo>
                    <a:pt x="0" y="35772"/>
                  </a:lnTo>
                  <a:lnTo>
                    <a:pt x="0" y="239261"/>
                  </a:lnTo>
                  <a:lnTo>
                    <a:pt x="2811" y="253186"/>
                  </a:lnTo>
                  <a:lnTo>
                    <a:pt x="10477" y="264556"/>
                  </a:lnTo>
                  <a:lnTo>
                    <a:pt x="21847" y="272223"/>
                  </a:lnTo>
                  <a:lnTo>
                    <a:pt x="35771" y="275034"/>
                  </a:lnTo>
                  <a:lnTo>
                    <a:pt x="6790082" y="275034"/>
                  </a:lnTo>
                  <a:lnTo>
                    <a:pt x="6804005" y="272223"/>
                  </a:lnTo>
                  <a:lnTo>
                    <a:pt x="6815375" y="264556"/>
                  </a:lnTo>
                  <a:lnTo>
                    <a:pt x="6823041" y="253186"/>
                  </a:lnTo>
                  <a:lnTo>
                    <a:pt x="6825852" y="239261"/>
                  </a:lnTo>
                  <a:lnTo>
                    <a:pt x="6825852" y="35772"/>
                  </a:lnTo>
                  <a:lnTo>
                    <a:pt x="6823041" y="21848"/>
                  </a:lnTo>
                  <a:lnTo>
                    <a:pt x="6815375" y="10477"/>
                  </a:lnTo>
                  <a:lnTo>
                    <a:pt x="6804005" y="2811"/>
                  </a:lnTo>
                  <a:lnTo>
                    <a:pt x="6790082" y="0"/>
                  </a:lnTo>
                  <a:close/>
                </a:path>
              </a:pathLst>
            </a:custGeom>
            <a:solidFill>
              <a:srgbClr val="D9D9D9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9927" y="4441031"/>
              <a:ext cx="91678" cy="2416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9996" y="4416028"/>
              <a:ext cx="91678" cy="2416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0058" y="4416028"/>
              <a:ext cx="91678" cy="24169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13659" y="4416028"/>
              <a:ext cx="91678" cy="2416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7058" y="4416028"/>
              <a:ext cx="91678" cy="24169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0258" y="4416028"/>
              <a:ext cx="91678" cy="24169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8524" y="4416028"/>
              <a:ext cx="91677" cy="24169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539874" y="2420936"/>
            <a:ext cx="9134687" cy="789093"/>
            <a:chOff x="1154905" y="1815702"/>
            <a:chExt cx="6851015" cy="59182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2125" y="2132408"/>
              <a:ext cx="100012" cy="24169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2256" y="2132408"/>
              <a:ext cx="91677" cy="24169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9996" y="2140743"/>
              <a:ext cx="91678" cy="2416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21793" y="2140743"/>
              <a:ext cx="91677" cy="2333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8524" y="2140743"/>
              <a:ext cx="91677" cy="2416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0258" y="2140743"/>
              <a:ext cx="91678" cy="2416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7058" y="2140743"/>
              <a:ext cx="91678" cy="24169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8856" y="2132408"/>
              <a:ext cx="91677" cy="2416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0652" y="2140743"/>
              <a:ext cx="91678" cy="2416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55717" y="2140743"/>
              <a:ext cx="91678" cy="24169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154905" y="1815702"/>
              <a:ext cx="6851015" cy="283845"/>
            </a:xfrm>
            <a:custGeom>
              <a:avLst/>
              <a:gdLst/>
              <a:ahLst/>
              <a:cxnLst/>
              <a:rect l="l" t="t" r="r" b="b"/>
              <a:pathLst>
                <a:path w="6851015" h="283844">
                  <a:moveTo>
                    <a:pt x="6814002" y="0"/>
                  </a:moveTo>
                  <a:lnTo>
                    <a:pt x="36854" y="0"/>
                  </a:lnTo>
                  <a:lnTo>
                    <a:pt x="22508" y="2896"/>
                  </a:lnTo>
                  <a:lnTo>
                    <a:pt x="10794" y="10794"/>
                  </a:lnTo>
                  <a:lnTo>
                    <a:pt x="2896" y="22509"/>
                  </a:lnTo>
                  <a:lnTo>
                    <a:pt x="0" y="36855"/>
                  </a:lnTo>
                  <a:lnTo>
                    <a:pt x="0" y="246514"/>
                  </a:lnTo>
                  <a:lnTo>
                    <a:pt x="2896" y="260860"/>
                  </a:lnTo>
                  <a:lnTo>
                    <a:pt x="10794" y="272574"/>
                  </a:lnTo>
                  <a:lnTo>
                    <a:pt x="22508" y="280472"/>
                  </a:lnTo>
                  <a:lnTo>
                    <a:pt x="36854" y="283368"/>
                  </a:lnTo>
                  <a:lnTo>
                    <a:pt x="6814002" y="283368"/>
                  </a:lnTo>
                  <a:lnTo>
                    <a:pt x="6828347" y="280472"/>
                  </a:lnTo>
                  <a:lnTo>
                    <a:pt x="6840061" y="272574"/>
                  </a:lnTo>
                  <a:lnTo>
                    <a:pt x="6847959" y="260860"/>
                  </a:lnTo>
                  <a:lnTo>
                    <a:pt x="6850855" y="246514"/>
                  </a:lnTo>
                  <a:lnTo>
                    <a:pt x="6850855" y="36855"/>
                  </a:lnTo>
                  <a:lnTo>
                    <a:pt x="6847959" y="22509"/>
                  </a:lnTo>
                  <a:lnTo>
                    <a:pt x="6840061" y="10794"/>
                  </a:lnTo>
                  <a:lnTo>
                    <a:pt x="6828347" y="2896"/>
                  </a:lnTo>
                  <a:lnTo>
                    <a:pt x="6814002" y="0"/>
                  </a:lnTo>
                  <a:close/>
                </a:path>
              </a:pathLst>
            </a:custGeom>
            <a:solidFill>
              <a:srgbClr val="D9D9D9">
                <a:alpha val="8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80058" y="2149077"/>
              <a:ext cx="91678" cy="23336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13659" y="2149077"/>
              <a:ext cx="91678" cy="24169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9927" y="2165746"/>
              <a:ext cx="91678" cy="24169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465087" y="2494297"/>
            <a:ext cx="12429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b="1" dirty="0">
                <a:latin typeface="Tahoma"/>
                <a:cs typeface="Tahoma"/>
              </a:rPr>
              <a:t>Tfa</a:t>
            </a:r>
            <a:r>
              <a:rPr sz="1400" b="1" spc="-207" dirty="0">
                <a:latin typeface="Tahoma"/>
                <a:cs typeface="Tahoma"/>
              </a:rPr>
              <a:t> </a:t>
            </a:r>
            <a:r>
              <a:rPr sz="1400" b="1" spc="-53" dirty="0">
                <a:latin typeface="Tahoma"/>
                <a:cs typeface="Tahoma"/>
              </a:rPr>
              <a:t>n</a:t>
            </a:r>
            <a:r>
              <a:rPr sz="1400" b="1" spc="-193" dirty="0">
                <a:latin typeface="Tahoma"/>
                <a:cs typeface="Tahoma"/>
              </a:rPr>
              <a:t> s</a:t>
            </a:r>
            <a:r>
              <a:rPr sz="1400" b="1" spc="-233" dirty="0">
                <a:latin typeface="Tahoma"/>
                <a:cs typeface="Tahoma"/>
              </a:rPr>
              <a:t> </a:t>
            </a:r>
            <a:r>
              <a:rPr sz="1400" b="1" spc="-107" dirty="0">
                <a:latin typeface="Tahoma"/>
                <a:cs typeface="Tahoma"/>
              </a:rPr>
              <a:t>f</a:t>
            </a:r>
            <a:r>
              <a:rPr sz="1400" b="1" spc="-213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Ofm</a:t>
            </a:r>
            <a:r>
              <a:rPr sz="1400" b="1" spc="-213" dirty="0">
                <a:latin typeface="Tahoma"/>
                <a:cs typeface="Tahoma"/>
              </a:rPr>
              <a:t> </a:t>
            </a:r>
            <a:r>
              <a:rPr sz="1400" b="1" spc="-33" dirty="0">
                <a:latin typeface="Tahoma"/>
                <a:cs typeface="Tahoma"/>
              </a:rPr>
              <a:t>ef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92651" y="4185247"/>
            <a:ext cx="833120" cy="339474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16933">
              <a:spcBef>
                <a:spcPts val="167"/>
              </a:spcBef>
            </a:pPr>
            <a:r>
              <a:rPr sz="2067" b="1" spc="-13" dirty="0">
                <a:latin typeface="Arial"/>
                <a:cs typeface="Arial"/>
              </a:rPr>
              <a:t>ERNIE</a:t>
            </a:r>
            <a:endParaRPr sz="2067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228850" y="31654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334922" y="3212017"/>
            <a:ext cx="39370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27" dirty="0">
                <a:solidFill>
                  <a:srgbClr val="0D0D0D"/>
                </a:solidFill>
                <a:latin typeface="Tahoma"/>
                <a:cs typeface="Tahoma"/>
              </a:rPr>
              <a:t>POttef</a:t>
            </a:r>
            <a:endParaRPr sz="933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17825" y="31654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169908" y="3212017"/>
            <a:ext cx="10160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93" dirty="0">
                <a:solidFill>
                  <a:srgbClr val="0D0D0D"/>
                </a:solidFill>
                <a:latin typeface="Tahoma"/>
                <a:cs typeface="Tahoma"/>
              </a:rPr>
              <a:t>is</a:t>
            </a:r>
            <a:endParaRPr sz="933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40225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5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480085" y="3207558"/>
            <a:ext cx="336972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53" dirty="0">
                <a:solidFill>
                  <a:srgbClr val="0D0D0D"/>
                </a:solidFill>
                <a:latin typeface="Tahoma"/>
                <a:cs typeface="Tahoma"/>
              </a:rPr>
              <a:t>sefies</a:t>
            </a:r>
            <a:endParaRPr sz="933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40311" y="31654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6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131254" y="3215439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751511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826844" y="3207558"/>
            <a:ext cx="47752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fantasy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473825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5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604753" y="3207558"/>
            <a:ext cx="3589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nOvel</a:t>
            </a:r>
            <a:endParaRPr sz="933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173911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259789" y="3200731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874001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5" y="0"/>
                </a:lnTo>
                <a:lnTo>
                  <a:pt x="21208" y="2729"/>
                </a:lnTo>
                <a:lnTo>
                  <a:pt x="10170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0" y="198188"/>
                </a:lnTo>
                <a:lnTo>
                  <a:pt x="21208" y="205631"/>
                </a:lnTo>
                <a:lnTo>
                  <a:pt x="34725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5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081482" y="3200731"/>
            <a:ext cx="1938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0D0D0D"/>
                </a:solidFill>
                <a:latin typeface="Tahoma"/>
                <a:cs typeface="Tahoma"/>
              </a:rPr>
              <a:t>by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574086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814248" y="3207557"/>
            <a:ext cx="12022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0D0D0D"/>
                </a:solidFill>
                <a:latin typeface="Tahoma"/>
                <a:cs typeface="Tahoma"/>
              </a:rPr>
              <a:t>J·</a:t>
            </a:r>
            <a:endParaRPr sz="933">
              <a:latin typeface="Tahoma"/>
              <a:cs typeface="Tahom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263062" y="31543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9348049" y="3200731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974262" y="3165476"/>
            <a:ext cx="700193" cy="278553"/>
          </a:xfrm>
          <a:custGeom>
            <a:avLst/>
            <a:gdLst/>
            <a:ahLst/>
            <a:cxnLst/>
            <a:rect l="l" t="t" r="r" b="b"/>
            <a:pathLst>
              <a:path w="525145" h="208914">
                <a:moveTo>
                  <a:pt x="490339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90339" y="208358"/>
                </a:lnTo>
                <a:lnTo>
                  <a:pt x="503856" y="205629"/>
                </a:lnTo>
                <a:lnTo>
                  <a:pt x="514894" y="198187"/>
                </a:lnTo>
                <a:lnTo>
                  <a:pt x="522336" y="187149"/>
                </a:lnTo>
                <a:lnTo>
                  <a:pt x="525064" y="173631"/>
                </a:lnTo>
                <a:lnTo>
                  <a:pt x="525064" y="34726"/>
                </a:lnTo>
                <a:lnTo>
                  <a:pt x="522336" y="21209"/>
                </a:lnTo>
                <a:lnTo>
                  <a:pt x="514894" y="10171"/>
                </a:lnTo>
                <a:lnTo>
                  <a:pt x="503856" y="2728"/>
                </a:lnTo>
                <a:lnTo>
                  <a:pt x="49033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0069139" y="3214431"/>
            <a:ext cx="49445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ROwlin</a:t>
            </a:r>
            <a:r>
              <a:rPr sz="933" b="1" dirty="0">
                <a:solidFill>
                  <a:srgbClr val="0D0D0D"/>
                </a:solidFill>
                <a:latin typeface="Tahoma"/>
                <a:cs typeface="Tahoma"/>
              </a:rPr>
              <a:t> </a:t>
            </a:r>
            <a:endParaRPr sz="933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54068" y="5524210"/>
            <a:ext cx="1242907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spc="87" dirty="0">
                <a:latin typeface="Tahoma"/>
                <a:cs typeface="Tahoma"/>
              </a:rPr>
              <a:t>Tra</a:t>
            </a:r>
            <a:r>
              <a:rPr sz="1400" spc="-253" dirty="0">
                <a:latin typeface="Tahoma"/>
                <a:cs typeface="Tahoma"/>
              </a:rPr>
              <a:t> </a:t>
            </a:r>
            <a:r>
              <a:rPr sz="1400" spc="67" dirty="0">
                <a:latin typeface="Tahoma"/>
                <a:cs typeface="Tahoma"/>
              </a:rPr>
              <a:t>n</a:t>
            </a:r>
            <a:r>
              <a:rPr sz="1400" spc="-240" dirty="0">
                <a:latin typeface="Tahoma"/>
                <a:cs typeface="Tahoma"/>
              </a:rPr>
              <a:t> </a:t>
            </a:r>
            <a:r>
              <a:rPr sz="1400" spc="-100" dirty="0">
                <a:latin typeface="Tahoma"/>
                <a:cs typeface="Tahoma"/>
              </a:rPr>
              <a:t>s</a:t>
            </a:r>
            <a:r>
              <a:rPr sz="1400" spc="-280" dirty="0">
                <a:latin typeface="Tahoma"/>
                <a:cs typeface="Tahoma"/>
              </a:rPr>
              <a:t> </a:t>
            </a:r>
            <a:r>
              <a:rPr sz="1400" spc="-13" dirty="0">
                <a:latin typeface="Tahoma"/>
                <a:cs typeface="Tahoma"/>
              </a:rPr>
              <a:t>f</a:t>
            </a:r>
            <a:r>
              <a:rPr sz="1400" spc="-260" dirty="0">
                <a:latin typeface="Tahoma"/>
                <a:cs typeface="Tahoma"/>
              </a:rPr>
              <a:t> </a:t>
            </a:r>
            <a:r>
              <a:rPr sz="1400" spc="120" dirty="0">
                <a:latin typeface="Tahoma"/>
                <a:cs typeface="Tahoma"/>
              </a:rPr>
              <a:t>Ormer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517650" y="6199187"/>
            <a:ext cx="634153" cy="266700"/>
          </a:xfrm>
          <a:custGeom>
            <a:avLst/>
            <a:gdLst/>
            <a:ahLst/>
            <a:cxnLst/>
            <a:rect l="l" t="t" r="r" b="b"/>
            <a:pathLst>
              <a:path w="475615" h="200025">
                <a:moveTo>
                  <a:pt x="441720" y="0"/>
                </a:moveTo>
                <a:lnTo>
                  <a:pt x="33338" y="0"/>
                </a:lnTo>
                <a:lnTo>
                  <a:pt x="20361" y="2619"/>
                </a:lnTo>
                <a:lnTo>
                  <a:pt x="9764" y="9764"/>
                </a:lnTo>
                <a:lnTo>
                  <a:pt x="2619" y="20361"/>
                </a:lnTo>
                <a:lnTo>
                  <a:pt x="0" y="33338"/>
                </a:lnTo>
                <a:lnTo>
                  <a:pt x="0" y="166686"/>
                </a:lnTo>
                <a:lnTo>
                  <a:pt x="2619" y="179663"/>
                </a:lnTo>
                <a:lnTo>
                  <a:pt x="9764" y="190260"/>
                </a:lnTo>
                <a:lnTo>
                  <a:pt x="20361" y="197405"/>
                </a:lnTo>
                <a:lnTo>
                  <a:pt x="33338" y="200024"/>
                </a:lnTo>
                <a:lnTo>
                  <a:pt x="441720" y="200024"/>
                </a:lnTo>
                <a:lnTo>
                  <a:pt x="454697" y="197405"/>
                </a:lnTo>
                <a:lnTo>
                  <a:pt x="465294" y="190260"/>
                </a:lnTo>
                <a:lnTo>
                  <a:pt x="472439" y="179663"/>
                </a:lnTo>
                <a:lnTo>
                  <a:pt x="475059" y="166686"/>
                </a:lnTo>
                <a:lnTo>
                  <a:pt x="475059" y="33338"/>
                </a:lnTo>
                <a:lnTo>
                  <a:pt x="472439" y="20361"/>
                </a:lnTo>
                <a:lnTo>
                  <a:pt x="465294" y="9764"/>
                </a:lnTo>
                <a:lnTo>
                  <a:pt x="454697" y="2619"/>
                </a:lnTo>
                <a:lnTo>
                  <a:pt x="441720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54968" y="6241931"/>
            <a:ext cx="34459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Haffy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228850" y="6199187"/>
            <a:ext cx="622300" cy="266700"/>
          </a:xfrm>
          <a:custGeom>
            <a:avLst/>
            <a:gdLst/>
            <a:ahLst/>
            <a:cxnLst/>
            <a:rect l="l" t="t" r="r" b="b"/>
            <a:pathLst>
              <a:path w="466725" h="200025">
                <a:moveTo>
                  <a:pt x="433387" y="0"/>
                </a:moveTo>
                <a:lnTo>
                  <a:pt x="33337" y="0"/>
                </a:lnTo>
                <a:lnTo>
                  <a:pt x="20360" y="2619"/>
                </a:lnTo>
                <a:lnTo>
                  <a:pt x="9764" y="9764"/>
                </a:lnTo>
                <a:lnTo>
                  <a:pt x="2619" y="20361"/>
                </a:lnTo>
                <a:lnTo>
                  <a:pt x="0" y="33337"/>
                </a:lnTo>
                <a:lnTo>
                  <a:pt x="0" y="166687"/>
                </a:lnTo>
                <a:lnTo>
                  <a:pt x="2619" y="179663"/>
                </a:lnTo>
                <a:lnTo>
                  <a:pt x="9764" y="190260"/>
                </a:lnTo>
                <a:lnTo>
                  <a:pt x="20360" y="197405"/>
                </a:lnTo>
                <a:lnTo>
                  <a:pt x="33337" y="200024"/>
                </a:lnTo>
                <a:lnTo>
                  <a:pt x="433387" y="200024"/>
                </a:lnTo>
                <a:lnTo>
                  <a:pt x="446363" y="197405"/>
                </a:lnTo>
                <a:lnTo>
                  <a:pt x="456960" y="190260"/>
                </a:lnTo>
                <a:lnTo>
                  <a:pt x="464105" y="179663"/>
                </a:lnTo>
                <a:lnTo>
                  <a:pt x="466725" y="166687"/>
                </a:lnTo>
                <a:lnTo>
                  <a:pt x="466725" y="33337"/>
                </a:lnTo>
                <a:lnTo>
                  <a:pt x="464105" y="20361"/>
                </a:lnTo>
                <a:lnTo>
                  <a:pt x="456960" y="9764"/>
                </a:lnTo>
                <a:lnTo>
                  <a:pt x="446363" y="2619"/>
                </a:lnTo>
                <a:lnTo>
                  <a:pt x="433387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334922" y="6241931"/>
            <a:ext cx="39370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27" dirty="0">
                <a:solidFill>
                  <a:srgbClr val="0D0D0D"/>
                </a:solidFill>
                <a:latin typeface="Tahoma"/>
                <a:cs typeface="Tahoma"/>
              </a:rPr>
              <a:t>POttef</a:t>
            </a:r>
            <a:endParaRPr sz="933">
              <a:latin typeface="Tahoma"/>
              <a:cs typeface="Tahom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17825" y="6199187"/>
            <a:ext cx="622300" cy="266700"/>
          </a:xfrm>
          <a:custGeom>
            <a:avLst/>
            <a:gdLst/>
            <a:ahLst/>
            <a:cxnLst/>
            <a:rect l="l" t="t" r="r" b="b"/>
            <a:pathLst>
              <a:path w="466725" h="200025">
                <a:moveTo>
                  <a:pt x="433387" y="0"/>
                </a:moveTo>
                <a:lnTo>
                  <a:pt x="33337" y="0"/>
                </a:lnTo>
                <a:lnTo>
                  <a:pt x="20360" y="2619"/>
                </a:lnTo>
                <a:lnTo>
                  <a:pt x="9764" y="9764"/>
                </a:lnTo>
                <a:lnTo>
                  <a:pt x="2619" y="20361"/>
                </a:lnTo>
                <a:lnTo>
                  <a:pt x="0" y="33337"/>
                </a:lnTo>
                <a:lnTo>
                  <a:pt x="0" y="166687"/>
                </a:lnTo>
                <a:lnTo>
                  <a:pt x="2619" y="179663"/>
                </a:lnTo>
                <a:lnTo>
                  <a:pt x="9764" y="190260"/>
                </a:lnTo>
                <a:lnTo>
                  <a:pt x="20360" y="197405"/>
                </a:lnTo>
                <a:lnTo>
                  <a:pt x="33337" y="200024"/>
                </a:lnTo>
                <a:lnTo>
                  <a:pt x="433387" y="200024"/>
                </a:lnTo>
                <a:lnTo>
                  <a:pt x="446363" y="197405"/>
                </a:lnTo>
                <a:lnTo>
                  <a:pt x="456960" y="190260"/>
                </a:lnTo>
                <a:lnTo>
                  <a:pt x="464105" y="179663"/>
                </a:lnTo>
                <a:lnTo>
                  <a:pt x="466725" y="166687"/>
                </a:lnTo>
                <a:lnTo>
                  <a:pt x="466725" y="33337"/>
                </a:lnTo>
                <a:lnTo>
                  <a:pt x="464105" y="20361"/>
                </a:lnTo>
                <a:lnTo>
                  <a:pt x="456960" y="9764"/>
                </a:lnTo>
                <a:lnTo>
                  <a:pt x="446363" y="2619"/>
                </a:lnTo>
                <a:lnTo>
                  <a:pt x="433387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3169908" y="6241931"/>
            <a:ext cx="10160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93" dirty="0">
                <a:solidFill>
                  <a:srgbClr val="0D0D0D"/>
                </a:solidFill>
                <a:latin typeface="Tahoma"/>
                <a:cs typeface="Tahoma"/>
              </a:rPr>
              <a:t>is</a:t>
            </a:r>
            <a:endParaRPr sz="933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751511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6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26844" y="6237473"/>
            <a:ext cx="477520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fantasy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473825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5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604753" y="6237473"/>
            <a:ext cx="3589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0D0D0D"/>
                </a:solidFill>
                <a:latin typeface="Tahoma"/>
                <a:cs typeface="Tahoma"/>
              </a:rPr>
              <a:t>nOvel</a:t>
            </a:r>
            <a:endParaRPr sz="933">
              <a:latin typeface="Tahoma"/>
              <a:cs typeface="Tahom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173911" y="61769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6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259789" y="6230645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FFFFF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874001" y="6176962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5" y="0"/>
                </a:lnTo>
                <a:lnTo>
                  <a:pt x="21208" y="2729"/>
                </a:lnTo>
                <a:lnTo>
                  <a:pt x="10170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0" y="198188"/>
                </a:lnTo>
                <a:lnTo>
                  <a:pt x="21208" y="205630"/>
                </a:lnTo>
                <a:lnTo>
                  <a:pt x="34725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5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8081482" y="6230645"/>
            <a:ext cx="1938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0D0D0D"/>
                </a:solidFill>
                <a:latin typeface="Tahoma"/>
                <a:cs typeface="Tahoma"/>
              </a:rPr>
              <a:t>by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985375" y="6188076"/>
            <a:ext cx="656167" cy="278553"/>
          </a:xfrm>
          <a:custGeom>
            <a:avLst/>
            <a:gdLst/>
            <a:ahLst/>
            <a:cxnLst/>
            <a:rect l="l" t="t" r="r" b="b"/>
            <a:pathLst>
              <a:path w="492125" h="208914">
                <a:moveTo>
                  <a:pt x="457000" y="0"/>
                </a:moveTo>
                <a:lnTo>
                  <a:pt x="34725" y="0"/>
                </a:lnTo>
                <a:lnTo>
                  <a:pt x="21208" y="2729"/>
                </a:lnTo>
                <a:lnTo>
                  <a:pt x="10170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0" y="198188"/>
                </a:lnTo>
                <a:lnTo>
                  <a:pt x="21208" y="205630"/>
                </a:lnTo>
                <a:lnTo>
                  <a:pt x="34725" y="208359"/>
                </a:lnTo>
                <a:lnTo>
                  <a:pt x="457000" y="208359"/>
                </a:lnTo>
                <a:lnTo>
                  <a:pt x="470518" y="205630"/>
                </a:lnTo>
                <a:lnTo>
                  <a:pt x="481556" y="198188"/>
                </a:lnTo>
                <a:lnTo>
                  <a:pt x="488998" y="187149"/>
                </a:lnTo>
                <a:lnTo>
                  <a:pt x="491727" y="173632"/>
                </a:lnTo>
                <a:lnTo>
                  <a:pt x="491727" y="34727"/>
                </a:lnTo>
                <a:lnTo>
                  <a:pt x="488998" y="21209"/>
                </a:lnTo>
                <a:lnTo>
                  <a:pt x="481556" y="10171"/>
                </a:lnTo>
                <a:lnTo>
                  <a:pt x="470518" y="2729"/>
                </a:lnTo>
                <a:lnTo>
                  <a:pt x="457000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0092882" y="6237473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9285286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6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9372126" y="6240771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574086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6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8665683" y="6240163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029201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5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118710" y="6237498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329111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6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420599" y="6240798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629025" y="61880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7"/>
                </a:lnTo>
                <a:lnTo>
                  <a:pt x="0" y="173632"/>
                </a:lnTo>
                <a:lnTo>
                  <a:pt x="2728" y="187149"/>
                </a:lnTo>
                <a:lnTo>
                  <a:pt x="10171" y="198188"/>
                </a:lnTo>
                <a:lnTo>
                  <a:pt x="21209" y="205630"/>
                </a:lnTo>
                <a:lnTo>
                  <a:pt x="34726" y="208359"/>
                </a:lnTo>
                <a:lnTo>
                  <a:pt x="431998" y="208359"/>
                </a:lnTo>
                <a:lnTo>
                  <a:pt x="445515" y="205630"/>
                </a:lnTo>
                <a:lnTo>
                  <a:pt x="456553" y="198188"/>
                </a:lnTo>
                <a:lnTo>
                  <a:pt x="463995" y="187149"/>
                </a:lnTo>
                <a:lnTo>
                  <a:pt x="466725" y="173632"/>
                </a:lnTo>
                <a:lnTo>
                  <a:pt x="466725" y="34727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3714159" y="6240189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029201" y="4699001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5263146" y="4749573"/>
            <a:ext cx="14816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67" dirty="0">
                <a:solidFill>
                  <a:srgbClr val="F7F7F7"/>
                </a:solidFill>
                <a:latin typeface="Tahoma"/>
                <a:cs typeface="Tahoma"/>
              </a:rPr>
              <a:t>Of</a:t>
            </a:r>
            <a:endParaRPr sz="933">
              <a:latin typeface="Tahoma"/>
              <a:cs typeface="Tahom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329111" y="4710111"/>
            <a:ext cx="622300" cy="266700"/>
          </a:xfrm>
          <a:custGeom>
            <a:avLst/>
            <a:gdLst/>
            <a:ahLst/>
            <a:cxnLst/>
            <a:rect l="l" t="t" r="r" b="b"/>
            <a:pathLst>
              <a:path w="466725" h="200025">
                <a:moveTo>
                  <a:pt x="433387" y="0"/>
                </a:moveTo>
                <a:lnTo>
                  <a:pt x="33337" y="0"/>
                </a:lnTo>
                <a:lnTo>
                  <a:pt x="20361" y="2619"/>
                </a:lnTo>
                <a:lnTo>
                  <a:pt x="9764" y="9764"/>
                </a:lnTo>
                <a:lnTo>
                  <a:pt x="2619" y="20361"/>
                </a:lnTo>
                <a:lnTo>
                  <a:pt x="0" y="33338"/>
                </a:lnTo>
                <a:lnTo>
                  <a:pt x="0" y="166687"/>
                </a:lnTo>
                <a:lnTo>
                  <a:pt x="2619" y="179664"/>
                </a:lnTo>
                <a:lnTo>
                  <a:pt x="9764" y="190260"/>
                </a:lnTo>
                <a:lnTo>
                  <a:pt x="20361" y="197405"/>
                </a:lnTo>
                <a:lnTo>
                  <a:pt x="33337" y="200024"/>
                </a:lnTo>
                <a:lnTo>
                  <a:pt x="433387" y="200024"/>
                </a:lnTo>
                <a:lnTo>
                  <a:pt x="446363" y="197405"/>
                </a:lnTo>
                <a:lnTo>
                  <a:pt x="456960" y="190260"/>
                </a:lnTo>
                <a:lnTo>
                  <a:pt x="464105" y="179664"/>
                </a:lnTo>
                <a:lnTo>
                  <a:pt x="466725" y="166687"/>
                </a:lnTo>
                <a:lnTo>
                  <a:pt x="466725" y="33338"/>
                </a:lnTo>
                <a:lnTo>
                  <a:pt x="464105" y="20361"/>
                </a:lnTo>
                <a:lnTo>
                  <a:pt x="456960" y="9764"/>
                </a:lnTo>
                <a:lnTo>
                  <a:pt x="446363" y="2619"/>
                </a:lnTo>
                <a:lnTo>
                  <a:pt x="433387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476135" y="4752873"/>
            <a:ext cx="336972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53" dirty="0">
                <a:solidFill>
                  <a:srgbClr val="F7F7F7"/>
                </a:solidFill>
                <a:latin typeface="Tahoma"/>
                <a:cs typeface="Tahoma"/>
              </a:rPr>
              <a:t>sefies</a:t>
            </a:r>
            <a:endParaRPr sz="933">
              <a:latin typeface="Tahoma"/>
              <a:cs typeface="Tahoma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629025" y="4699001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869707" y="4752264"/>
            <a:ext cx="1176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93" dirty="0">
                <a:solidFill>
                  <a:srgbClr val="F7F7F7"/>
                </a:solidFill>
                <a:latin typeface="Tahoma"/>
                <a:cs typeface="Tahoma"/>
              </a:rPr>
              <a:t>a</a:t>
            </a:r>
            <a:endParaRPr sz="933">
              <a:latin typeface="Tahoma"/>
              <a:cs typeface="Tahoma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9952036" y="4732337"/>
            <a:ext cx="689187" cy="278553"/>
          </a:xfrm>
          <a:custGeom>
            <a:avLst/>
            <a:gdLst/>
            <a:ahLst/>
            <a:cxnLst/>
            <a:rect l="l" t="t" r="r" b="b"/>
            <a:pathLst>
              <a:path w="516890" h="208914">
                <a:moveTo>
                  <a:pt x="482003" y="0"/>
                </a:moveTo>
                <a:lnTo>
                  <a:pt x="34728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10"/>
                </a:lnTo>
                <a:lnTo>
                  <a:pt x="0" y="34728"/>
                </a:lnTo>
                <a:lnTo>
                  <a:pt x="0" y="173631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8" y="208360"/>
                </a:lnTo>
                <a:lnTo>
                  <a:pt x="482003" y="208360"/>
                </a:lnTo>
                <a:lnTo>
                  <a:pt x="495521" y="205631"/>
                </a:lnTo>
                <a:lnTo>
                  <a:pt x="506559" y="198188"/>
                </a:lnTo>
                <a:lnTo>
                  <a:pt x="514002" y="187150"/>
                </a:lnTo>
                <a:lnTo>
                  <a:pt x="516731" y="173631"/>
                </a:lnTo>
                <a:lnTo>
                  <a:pt x="516731" y="34728"/>
                </a:lnTo>
                <a:lnTo>
                  <a:pt x="514002" y="21210"/>
                </a:lnTo>
                <a:lnTo>
                  <a:pt x="506559" y="10171"/>
                </a:lnTo>
                <a:lnTo>
                  <a:pt x="495521" y="2729"/>
                </a:lnTo>
                <a:lnTo>
                  <a:pt x="482003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0055771" y="4778990"/>
            <a:ext cx="49445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F7F7F7"/>
                </a:solidFill>
                <a:latin typeface="Tahoma"/>
                <a:cs typeface="Tahoma"/>
              </a:rPr>
              <a:t>ROwlin</a:t>
            </a:r>
            <a:r>
              <a:rPr sz="933" b="1" dirty="0">
                <a:solidFill>
                  <a:srgbClr val="F7F7F7"/>
                </a:solidFill>
                <a:latin typeface="Tahoma"/>
                <a:cs typeface="Tahoma"/>
              </a:rPr>
              <a:t> </a:t>
            </a:r>
            <a:endParaRPr sz="933">
              <a:latin typeface="Tahoma"/>
              <a:cs typeface="Tahoma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263062" y="4732337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9490901" y="4782291"/>
            <a:ext cx="151552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K·</a:t>
            </a:r>
            <a:endParaRPr sz="933">
              <a:latin typeface="Tahoma"/>
              <a:cs typeface="Tahoma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8551862" y="4732337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9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50"/>
                </a:lnTo>
                <a:lnTo>
                  <a:pt x="10171" y="198188"/>
                </a:lnTo>
                <a:lnTo>
                  <a:pt x="21209" y="205631"/>
                </a:lnTo>
                <a:lnTo>
                  <a:pt x="34726" y="208360"/>
                </a:lnTo>
                <a:lnTo>
                  <a:pt x="431998" y="208360"/>
                </a:lnTo>
                <a:lnTo>
                  <a:pt x="445515" y="205631"/>
                </a:lnTo>
                <a:lnTo>
                  <a:pt x="456553" y="198188"/>
                </a:lnTo>
                <a:lnTo>
                  <a:pt x="463996" y="187150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6" y="21209"/>
                </a:lnTo>
                <a:lnTo>
                  <a:pt x="456553" y="10171"/>
                </a:lnTo>
                <a:lnTo>
                  <a:pt x="445515" y="2729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795575" y="4781681"/>
            <a:ext cx="12022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J·</a:t>
            </a:r>
            <a:endParaRPr sz="933">
              <a:latin typeface="Tahoma"/>
              <a:cs typeface="Tahoma"/>
            </a:endParaRPr>
          </a:p>
        </p:txBody>
      </p:sp>
      <p:pic>
        <p:nvPicPr>
          <p:cNvPr id="97" name="object 9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06925" y="5054600"/>
            <a:ext cx="122236" cy="322261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295901" y="5065711"/>
            <a:ext cx="122236" cy="311151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95725" y="5065711"/>
            <a:ext cx="122236" cy="322263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7173911" y="4732336"/>
            <a:ext cx="3167380" cy="678179"/>
            <a:chOff x="5380433" y="3549252"/>
            <a:chExt cx="2375535" cy="508634"/>
          </a:xfrm>
        </p:grpSpPr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7321" y="3807618"/>
              <a:ext cx="91678" cy="241696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4052" y="3815952"/>
              <a:ext cx="91677" cy="233363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2255" y="3815952"/>
              <a:ext cx="91677" cy="24169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380433" y="3549252"/>
              <a:ext cx="466725" cy="208915"/>
            </a:xfrm>
            <a:custGeom>
              <a:avLst/>
              <a:gdLst/>
              <a:ahLst/>
              <a:cxnLst/>
              <a:rect l="l" t="t" r="r" b="b"/>
              <a:pathLst>
                <a:path w="466725" h="208914">
                  <a:moveTo>
                    <a:pt x="431998" y="0"/>
                  </a:moveTo>
                  <a:lnTo>
                    <a:pt x="34726" y="0"/>
                  </a:lnTo>
                  <a:lnTo>
                    <a:pt x="21209" y="2729"/>
                  </a:lnTo>
                  <a:lnTo>
                    <a:pt x="10171" y="10171"/>
                  </a:lnTo>
                  <a:lnTo>
                    <a:pt x="2728" y="21209"/>
                  </a:lnTo>
                  <a:lnTo>
                    <a:pt x="0" y="34726"/>
                  </a:lnTo>
                  <a:lnTo>
                    <a:pt x="0" y="173633"/>
                  </a:lnTo>
                  <a:lnTo>
                    <a:pt x="2728" y="187150"/>
                  </a:lnTo>
                  <a:lnTo>
                    <a:pt x="10171" y="198188"/>
                  </a:lnTo>
                  <a:lnTo>
                    <a:pt x="21209" y="205631"/>
                  </a:lnTo>
                  <a:lnTo>
                    <a:pt x="34726" y="208360"/>
                  </a:lnTo>
                  <a:lnTo>
                    <a:pt x="431998" y="208360"/>
                  </a:lnTo>
                  <a:lnTo>
                    <a:pt x="445515" y="205631"/>
                  </a:lnTo>
                  <a:lnTo>
                    <a:pt x="456553" y="198188"/>
                  </a:lnTo>
                  <a:lnTo>
                    <a:pt x="463996" y="187150"/>
                  </a:lnTo>
                  <a:lnTo>
                    <a:pt x="466725" y="173633"/>
                  </a:lnTo>
                  <a:lnTo>
                    <a:pt x="466725" y="34726"/>
                  </a:lnTo>
                  <a:lnTo>
                    <a:pt x="463996" y="21209"/>
                  </a:lnTo>
                  <a:lnTo>
                    <a:pt x="456553" y="10171"/>
                  </a:lnTo>
                  <a:lnTo>
                    <a:pt x="445515" y="2729"/>
                  </a:lnTo>
                  <a:lnTo>
                    <a:pt x="431998" y="0"/>
                  </a:lnTo>
                  <a:close/>
                </a:path>
              </a:pathLst>
            </a:custGeom>
            <a:solidFill>
              <a:srgbClr val="18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5029201" y="1698625"/>
            <a:ext cx="622300" cy="656167"/>
            <a:chOff x="3771900" y="1273968"/>
            <a:chExt cx="466725" cy="492125"/>
          </a:xfrm>
        </p:grpSpPr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0258" y="1524000"/>
              <a:ext cx="91678" cy="241696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771900" y="1273968"/>
              <a:ext cx="466725" cy="208915"/>
            </a:xfrm>
            <a:custGeom>
              <a:avLst/>
              <a:gdLst/>
              <a:ahLst/>
              <a:cxnLst/>
              <a:rect l="l" t="t" r="r" b="b"/>
              <a:pathLst>
                <a:path w="466725" h="208915">
                  <a:moveTo>
                    <a:pt x="431998" y="0"/>
                  </a:moveTo>
                  <a:lnTo>
                    <a:pt x="34726" y="0"/>
                  </a:lnTo>
                  <a:lnTo>
                    <a:pt x="21209" y="2728"/>
                  </a:lnTo>
                  <a:lnTo>
                    <a:pt x="10171" y="10171"/>
                  </a:lnTo>
                  <a:lnTo>
                    <a:pt x="2728" y="21209"/>
                  </a:lnTo>
                  <a:lnTo>
                    <a:pt x="0" y="34726"/>
                  </a:lnTo>
                  <a:lnTo>
                    <a:pt x="0" y="173633"/>
                  </a:lnTo>
                  <a:lnTo>
                    <a:pt x="2728" y="187149"/>
                  </a:lnTo>
                  <a:lnTo>
                    <a:pt x="10171" y="198187"/>
                  </a:lnTo>
                  <a:lnTo>
                    <a:pt x="21209" y="205629"/>
                  </a:lnTo>
                  <a:lnTo>
                    <a:pt x="34726" y="208358"/>
                  </a:lnTo>
                  <a:lnTo>
                    <a:pt x="431998" y="208358"/>
                  </a:lnTo>
                  <a:lnTo>
                    <a:pt x="445515" y="205629"/>
                  </a:lnTo>
                  <a:lnTo>
                    <a:pt x="456553" y="198187"/>
                  </a:lnTo>
                  <a:lnTo>
                    <a:pt x="463995" y="187149"/>
                  </a:lnTo>
                  <a:lnTo>
                    <a:pt x="466725" y="173633"/>
                  </a:lnTo>
                  <a:lnTo>
                    <a:pt x="466725" y="34726"/>
                  </a:lnTo>
                  <a:lnTo>
                    <a:pt x="463995" y="21209"/>
                  </a:lnTo>
                  <a:lnTo>
                    <a:pt x="456553" y="10171"/>
                  </a:lnTo>
                  <a:lnTo>
                    <a:pt x="445515" y="2728"/>
                  </a:lnTo>
                  <a:lnTo>
                    <a:pt x="431998" y="0"/>
                  </a:lnTo>
                  <a:close/>
                </a:path>
              </a:pathLst>
            </a:custGeom>
            <a:solidFill>
              <a:srgbClr val="18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5263145" y="1747445"/>
            <a:ext cx="14816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67" dirty="0">
                <a:solidFill>
                  <a:srgbClr val="F7F7F7"/>
                </a:solidFill>
                <a:latin typeface="Tahoma"/>
                <a:cs typeface="Tahoma"/>
              </a:rPr>
              <a:t>Of</a:t>
            </a:r>
            <a:endParaRPr sz="933">
              <a:latin typeface="Tahoma"/>
              <a:cs typeface="Tahoma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7185025" y="1698625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5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3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3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184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7272650" y="1742535"/>
            <a:ext cx="43095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40" dirty="0">
                <a:solidFill>
                  <a:srgbClr val="F7F7F7"/>
                </a:solidFill>
                <a:latin typeface="Tahoma"/>
                <a:cs typeface="Tahoma"/>
              </a:rPr>
              <a:t>wfitten</a:t>
            </a:r>
            <a:endParaRPr sz="933">
              <a:latin typeface="Tahoma"/>
              <a:cs typeface="Tahom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7429500" y="1698624"/>
            <a:ext cx="2445173" cy="667173"/>
            <a:chOff x="5572125" y="1273968"/>
            <a:chExt cx="1833880" cy="500380"/>
          </a:xfrm>
        </p:grpSpPr>
        <p:pic>
          <p:nvPicPr>
            <p:cNvPr id="112" name="object 1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1532333"/>
              <a:ext cx="100012" cy="24169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938962" y="1273968"/>
              <a:ext cx="466725" cy="208915"/>
            </a:xfrm>
            <a:custGeom>
              <a:avLst/>
              <a:gdLst/>
              <a:ahLst/>
              <a:cxnLst/>
              <a:rect l="l" t="t" r="r" b="b"/>
              <a:pathLst>
                <a:path w="466725" h="208915">
                  <a:moveTo>
                    <a:pt x="431998" y="0"/>
                  </a:moveTo>
                  <a:lnTo>
                    <a:pt x="34725" y="0"/>
                  </a:lnTo>
                  <a:lnTo>
                    <a:pt x="21208" y="2728"/>
                  </a:lnTo>
                  <a:lnTo>
                    <a:pt x="10170" y="10171"/>
                  </a:lnTo>
                  <a:lnTo>
                    <a:pt x="2728" y="21209"/>
                  </a:lnTo>
                  <a:lnTo>
                    <a:pt x="0" y="34726"/>
                  </a:lnTo>
                  <a:lnTo>
                    <a:pt x="0" y="173633"/>
                  </a:lnTo>
                  <a:lnTo>
                    <a:pt x="2728" y="187149"/>
                  </a:lnTo>
                  <a:lnTo>
                    <a:pt x="10170" y="198187"/>
                  </a:lnTo>
                  <a:lnTo>
                    <a:pt x="21208" y="205629"/>
                  </a:lnTo>
                  <a:lnTo>
                    <a:pt x="34725" y="208358"/>
                  </a:lnTo>
                  <a:lnTo>
                    <a:pt x="431998" y="208358"/>
                  </a:lnTo>
                  <a:lnTo>
                    <a:pt x="445515" y="205629"/>
                  </a:lnTo>
                  <a:lnTo>
                    <a:pt x="456553" y="198187"/>
                  </a:lnTo>
                  <a:lnTo>
                    <a:pt x="463995" y="187149"/>
                  </a:lnTo>
                  <a:lnTo>
                    <a:pt x="466725" y="173633"/>
                  </a:lnTo>
                  <a:lnTo>
                    <a:pt x="466725" y="34726"/>
                  </a:lnTo>
                  <a:lnTo>
                    <a:pt x="463995" y="21209"/>
                  </a:lnTo>
                  <a:lnTo>
                    <a:pt x="456553" y="10171"/>
                  </a:lnTo>
                  <a:lnTo>
                    <a:pt x="445515" y="2728"/>
                  </a:lnTo>
                  <a:lnTo>
                    <a:pt x="431998" y="0"/>
                  </a:lnTo>
                  <a:close/>
                </a:path>
              </a:pathLst>
            </a:custGeom>
            <a:solidFill>
              <a:srgbClr val="18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9482864" y="1742534"/>
            <a:ext cx="151552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K·</a:t>
            </a:r>
            <a:endParaRPr sz="933">
              <a:latin typeface="Tahoma"/>
              <a:cs typeface="Tahoma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1539874" y="1698624"/>
            <a:ext cx="8101753" cy="645160"/>
            <a:chOff x="1154905" y="1273968"/>
            <a:chExt cx="6076315" cy="483870"/>
          </a:xfrm>
        </p:grpSpPr>
        <p:pic>
          <p:nvPicPr>
            <p:cNvPr id="116" name="object 1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38987" y="1523999"/>
              <a:ext cx="91677" cy="233362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154905" y="1273968"/>
              <a:ext cx="466725" cy="208915"/>
            </a:xfrm>
            <a:custGeom>
              <a:avLst/>
              <a:gdLst/>
              <a:ahLst/>
              <a:cxnLst/>
              <a:rect l="l" t="t" r="r" b="b"/>
              <a:pathLst>
                <a:path w="466725" h="208915">
                  <a:moveTo>
                    <a:pt x="431997" y="0"/>
                  </a:moveTo>
                  <a:lnTo>
                    <a:pt x="34727" y="0"/>
                  </a:lnTo>
                  <a:lnTo>
                    <a:pt x="21209" y="2728"/>
                  </a:lnTo>
                  <a:lnTo>
                    <a:pt x="10171" y="10171"/>
                  </a:lnTo>
                  <a:lnTo>
                    <a:pt x="2729" y="21209"/>
                  </a:lnTo>
                  <a:lnTo>
                    <a:pt x="0" y="34726"/>
                  </a:lnTo>
                  <a:lnTo>
                    <a:pt x="0" y="173633"/>
                  </a:lnTo>
                  <a:lnTo>
                    <a:pt x="2729" y="187149"/>
                  </a:lnTo>
                  <a:lnTo>
                    <a:pt x="10171" y="198187"/>
                  </a:lnTo>
                  <a:lnTo>
                    <a:pt x="21209" y="205629"/>
                  </a:lnTo>
                  <a:lnTo>
                    <a:pt x="34727" y="208358"/>
                  </a:lnTo>
                  <a:lnTo>
                    <a:pt x="431997" y="208358"/>
                  </a:lnTo>
                  <a:lnTo>
                    <a:pt x="445514" y="205629"/>
                  </a:lnTo>
                  <a:lnTo>
                    <a:pt x="456553" y="198187"/>
                  </a:lnTo>
                  <a:lnTo>
                    <a:pt x="463996" y="187149"/>
                  </a:lnTo>
                  <a:lnTo>
                    <a:pt x="466725" y="173633"/>
                  </a:lnTo>
                  <a:lnTo>
                    <a:pt x="466725" y="34726"/>
                  </a:lnTo>
                  <a:lnTo>
                    <a:pt x="463996" y="21209"/>
                  </a:lnTo>
                  <a:lnTo>
                    <a:pt x="456553" y="10171"/>
                  </a:lnTo>
                  <a:lnTo>
                    <a:pt x="445514" y="2728"/>
                  </a:lnTo>
                  <a:lnTo>
                    <a:pt x="431997" y="0"/>
                  </a:lnTo>
                  <a:close/>
                </a:path>
              </a:pathLst>
            </a:custGeom>
            <a:solidFill>
              <a:srgbClr val="18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1674669" y="1742534"/>
            <a:ext cx="34459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13" dirty="0">
                <a:solidFill>
                  <a:srgbClr val="FFFFFF"/>
                </a:solidFill>
                <a:latin typeface="Tahoma"/>
                <a:cs typeface="Tahoma"/>
              </a:rPr>
              <a:t>Haffy</a:t>
            </a:r>
            <a:endParaRPr sz="933">
              <a:latin typeface="Tahoma"/>
              <a:cs typeface="Tahoma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3629025" y="3165476"/>
            <a:ext cx="622300" cy="278553"/>
          </a:xfrm>
          <a:custGeom>
            <a:avLst/>
            <a:gdLst/>
            <a:ahLst/>
            <a:cxnLst/>
            <a:rect l="l" t="t" r="r" b="b"/>
            <a:pathLst>
              <a:path w="466725" h="208914">
                <a:moveTo>
                  <a:pt x="431998" y="0"/>
                </a:moveTo>
                <a:lnTo>
                  <a:pt x="34726" y="0"/>
                </a:lnTo>
                <a:lnTo>
                  <a:pt x="21209" y="2728"/>
                </a:lnTo>
                <a:lnTo>
                  <a:pt x="10171" y="10171"/>
                </a:lnTo>
                <a:lnTo>
                  <a:pt x="2728" y="21209"/>
                </a:lnTo>
                <a:lnTo>
                  <a:pt x="0" y="34726"/>
                </a:lnTo>
                <a:lnTo>
                  <a:pt x="0" y="173631"/>
                </a:lnTo>
                <a:lnTo>
                  <a:pt x="2728" y="187149"/>
                </a:lnTo>
                <a:lnTo>
                  <a:pt x="10171" y="198187"/>
                </a:lnTo>
                <a:lnTo>
                  <a:pt x="21209" y="205629"/>
                </a:lnTo>
                <a:lnTo>
                  <a:pt x="34726" y="208358"/>
                </a:lnTo>
                <a:lnTo>
                  <a:pt x="431998" y="208358"/>
                </a:lnTo>
                <a:lnTo>
                  <a:pt x="445515" y="205629"/>
                </a:lnTo>
                <a:lnTo>
                  <a:pt x="456553" y="198187"/>
                </a:lnTo>
                <a:lnTo>
                  <a:pt x="463995" y="187149"/>
                </a:lnTo>
                <a:lnTo>
                  <a:pt x="466725" y="173631"/>
                </a:lnTo>
                <a:lnTo>
                  <a:pt x="466725" y="34726"/>
                </a:lnTo>
                <a:lnTo>
                  <a:pt x="463995" y="21209"/>
                </a:lnTo>
                <a:lnTo>
                  <a:pt x="456553" y="10171"/>
                </a:lnTo>
                <a:lnTo>
                  <a:pt x="445515" y="2728"/>
                </a:lnTo>
                <a:lnTo>
                  <a:pt x="43199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3869705" y="3214161"/>
            <a:ext cx="11768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93" dirty="0">
                <a:solidFill>
                  <a:srgbClr val="0D0D0D"/>
                </a:solidFill>
                <a:latin typeface="Tahoma"/>
                <a:cs typeface="Tahoma"/>
              </a:rPr>
              <a:t>a</a:t>
            </a:r>
            <a:endParaRPr sz="933">
              <a:latin typeface="Tahoma"/>
              <a:cs typeface="Tahom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517650" y="2043111"/>
            <a:ext cx="622300" cy="1400387"/>
            <a:chOff x="1138237" y="1532333"/>
            <a:chExt cx="466725" cy="1050290"/>
          </a:xfrm>
        </p:grpSpPr>
        <p:pic>
          <p:nvPicPr>
            <p:cNvPr id="122" name="object 1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38262" y="1532333"/>
              <a:ext cx="91677" cy="241697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1138237" y="2374106"/>
              <a:ext cx="466725" cy="208915"/>
            </a:xfrm>
            <a:custGeom>
              <a:avLst/>
              <a:gdLst/>
              <a:ahLst/>
              <a:cxnLst/>
              <a:rect l="l" t="t" r="r" b="b"/>
              <a:pathLst>
                <a:path w="466725" h="208914">
                  <a:moveTo>
                    <a:pt x="431997" y="0"/>
                  </a:moveTo>
                  <a:lnTo>
                    <a:pt x="34727" y="0"/>
                  </a:lnTo>
                  <a:lnTo>
                    <a:pt x="21209" y="2728"/>
                  </a:lnTo>
                  <a:lnTo>
                    <a:pt x="10171" y="10171"/>
                  </a:lnTo>
                  <a:lnTo>
                    <a:pt x="2729" y="21209"/>
                  </a:lnTo>
                  <a:lnTo>
                    <a:pt x="0" y="34726"/>
                  </a:lnTo>
                  <a:lnTo>
                    <a:pt x="0" y="173631"/>
                  </a:lnTo>
                  <a:lnTo>
                    <a:pt x="2729" y="187149"/>
                  </a:lnTo>
                  <a:lnTo>
                    <a:pt x="10171" y="198187"/>
                  </a:lnTo>
                  <a:lnTo>
                    <a:pt x="21209" y="205629"/>
                  </a:lnTo>
                  <a:lnTo>
                    <a:pt x="34727" y="208358"/>
                  </a:lnTo>
                  <a:lnTo>
                    <a:pt x="431997" y="208358"/>
                  </a:lnTo>
                  <a:lnTo>
                    <a:pt x="445514" y="205629"/>
                  </a:lnTo>
                  <a:lnTo>
                    <a:pt x="456553" y="198187"/>
                  </a:lnTo>
                  <a:lnTo>
                    <a:pt x="463996" y="187149"/>
                  </a:lnTo>
                  <a:lnTo>
                    <a:pt x="466725" y="173631"/>
                  </a:lnTo>
                  <a:lnTo>
                    <a:pt x="466725" y="34726"/>
                  </a:lnTo>
                  <a:lnTo>
                    <a:pt x="463996" y="21209"/>
                  </a:lnTo>
                  <a:lnTo>
                    <a:pt x="456553" y="10171"/>
                  </a:lnTo>
                  <a:lnTo>
                    <a:pt x="445514" y="2728"/>
                  </a:lnTo>
                  <a:lnTo>
                    <a:pt x="431997" y="0"/>
                  </a:lnTo>
                  <a:close/>
                </a:path>
              </a:pathLst>
            </a:custGeom>
            <a:solidFill>
              <a:srgbClr val="184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1608149" y="3214162"/>
            <a:ext cx="432647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33" dirty="0">
                <a:solidFill>
                  <a:srgbClr val="F7F7F7"/>
                </a:solidFill>
                <a:latin typeface="Tahoma"/>
                <a:cs typeface="Tahoma"/>
              </a:rPr>
              <a:t>[mask]</a:t>
            </a:r>
            <a:endParaRPr sz="933">
              <a:latin typeface="Tahoma"/>
              <a:cs typeface="Tahom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259762" y="4778990"/>
            <a:ext cx="430953" cy="1640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933" b="1" spc="-40" dirty="0">
                <a:solidFill>
                  <a:srgbClr val="F7F7F7"/>
                </a:solidFill>
                <a:latin typeface="Tahoma"/>
                <a:cs typeface="Tahoma"/>
              </a:rPr>
              <a:t>wfitten</a:t>
            </a:r>
            <a:endParaRPr sz="933">
              <a:latin typeface="Tahoma"/>
              <a:cs typeface="Tahoma"/>
            </a:endParaRPr>
          </a:p>
        </p:txBody>
      </p:sp>
      <p:pic>
        <p:nvPicPr>
          <p:cNvPr id="126" name="object 1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18387" y="5054600"/>
            <a:ext cx="122237" cy="322261"/>
          </a:xfrm>
          <a:prstGeom prst="rect">
            <a:avLst/>
          </a:prstGeom>
        </p:spPr>
      </p:pic>
      <p:sp>
        <p:nvSpPr>
          <p:cNvPr id="127" name="object 127"/>
          <p:cNvSpPr txBox="1"/>
          <p:nvPr/>
        </p:nvSpPr>
        <p:spPr>
          <a:xfrm>
            <a:off x="8250548" y="840569"/>
            <a:ext cx="36762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[1]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Yes,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ERNIE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paper!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 1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46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Salient</a:t>
            </a:r>
            <a:r>
              <a:rPr spc="-13" dirty="0"/>
              <a:t> </a:t>
            </a:r>
            <a:r>
              <a:rPr dirty="0"/>
              <a:t>span</a:t>
            </a:r>
            <a:r>
              <a:rPr spc="-20" dirty="0"/>
              <a:t> </a:t>
            </a:r>
            <a:r>
              <a:rPr spc="-13" dirty="0"/>
              <a:t>masking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235" y="1246969"/>
            <a:ext cx="6637867" cy="1754284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96518" marR="6773" algn="just">
              <a:lnSpc>
                <a:spcPct val="99400"/>
              </a:lnSpc>
              <a:spcBef>
                <a:spcPts val="147"/>
              </a:spcBef>
            </a:pPr>
            <a:r>
              <a:rPr sz="2400" dirty="0">
                <a:latin typeface="Calibri"/>
                <a:cs typeface="Calibri"/>
              </a:rPr>
              <a:t>Salient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masking has been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outperform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masking/corruption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strategies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retrieval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QA</a:t>
            </a:r>
            <a:r>
              <a:rPr sz="2400" spc="-13" dirty="0">
                <a:latin typeface="Calibri"/>
                <a:cs typeface="Calibri"/>
              </a:rPr>
              <a:t> tasks.</a:t>
            </a:r>
            <a:endParaRPr sz="2400">
              <a:latin typeface="Calibri"/>
              <a:cs typeface="Calibri"/>
            </a:endParaRPr>
          </a:p>
          <a:p>
            <a:pPr marL="16933" algn="just">
              <a:spcBef>
                <a:spcPts val="2147"/>
              </a:spcBef>
            </a:pPr>
            <a:r>
              <a:rPr sz="2400" dirty="0">
                <a:latin typeface="Calibri"/>
                <a:cs typeface="Calibri"/>
              </a:rPr>
              <a:t>REALM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Natural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Questions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52172" y="227521"/>
            <a:ext cx="2832947" cy="1755987"/>
            <a:chOff x="6114129" y="170641"/>
            <a:chExt cx="2124710" cy="1316990"/>
          </a:xfrm>
        </p:grpSpPr>
        <p:sp>
          <p:nvSpPr>
            <p:cNvPr id="5" name="object 5"/>
            <p:cNvSpPr/>
            <p:nvPr/>
          </p:nvSpPr>
          <p:spPr>
            <a:xfrm>
              <a:off x="6210703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107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07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7003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70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970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83303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833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83303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69602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696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696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55902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559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559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42202" y="251340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422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42202" y="146855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10703" y="306669"/>
              <a:ext cx="1931670" cy="1029335"/>
            </a:xfrm>
            <a:custGeom>
              <a:avLst/>
              <a:gdLst/>
              <a:ahLst/>
              <a:cxnLst/>
              <a:rect l="l" t="t" r="r" b="b"/>
              <a:pathLst>
                <a:path w="1931670" h="1029335">
                  <a:moveTo>
                    <a:pt x="0" y="1028993"/>
                  </a:moveTo>
                  <a:lnTo>
                    <a:pt x="212464" y="643575"/>
                  </a:lnTo>
                  <a:lnTo>
                    <a:pt x="386299" y="562369"/>
                  </a:lnTo>
                  <a:lnTo>
                    <a:pt x="579449" y="493287"/>
                  </a:lnTo>
                  <a:lnTo>
                    <a:pt x="772599" y="379359"/>
                  </a:lnTo>
                  <a:lnTo>
                    <a:pt x="965749" y="281186"/>
                  </a:lnTo>
                  <a:lnTo>
                    <a:pt x="1158898" y="299366"/>
                  </a:lnTo>
                  <a:lnTo>
                    <a:pt x="1352048" y="106657"/>
                  </a:lnTo>
                  <a:lnTo>
                    <a:pt x="1545198" y="0"/>
                  </a:lnTo>
                  <a:lnTo>
                    <a:pt x="1738348" y="149074"/>
                  </a:lnTo>
                  <a:lnTo>
                    <a:pt x="1931498" y="116352"/>
                  </a:lnTo>
                </a:path>
              </a:pathLst>
            </a:custGeom>
            <a:ln w="11420">
              <a:solidFill>
                <a:srgbClr val="1A63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0703" y="1181736"/>
              <a:ext cx="1931670" cy="231775"/>
            </a:xfrm>
            <a:custGeom>
              <a:avLst/>
              <a:gdLst/>
              <a:ahLst/>
              <a:cxnLst/>
              <a:rect l="l" t="t" r="r" b="b"/>
              <a:pathLst>
                <a:path w="1931670" h="231775">
                  <a:moveTo>
                    <a:pt x="0" y="153926"/>
                  </a:moveTo>
                  <a:lnTo>
                    <a:pt x="212464" y="67875"/>
                  </a:lnTo>
                  <a:lnTo>
                    <a:pt x="386299" y="46056"/>
                  </a:lnTo>
                  <a:lnTo>
                    <a:pt x="579449" y="145442"/>
                  </a:lnTo>
                  <a:lnTo>
                    <a:pt x="772599" y="0"/>
                  </a:lnTo>
                  <a:lnTo>
                    <a:pt x="965749" y="98174"/>
                  </a:lnTo>
                  <a:lnTo>
                    <a:pt x="1158898" y="231494"/>
                  </a:lnTo>
                  <a:lnTo>
                    <a:pt x="1352048" y="164834"/>
                  </a:lnTo>
                  <a:lnTo>
                    <a:pt x="1545198" y="81206"/>
                  </a:lnTo>
                  <a:lnTo>
                    <a:pt x="1738348" y="54541"/>
                  </a:lnTo>
                  <a:lnTo>
                    <a:pt x="1931498" y="162410"/>
                  </a:lnTo>
                </a:path>
              </a:pathLst>
            </a:custGeom>
            <a:ln w="11419">
              <a:solidFill>
                <a:srgbClr val="E6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0703" y="1335663"/>
              <a:ext cx="1931670" cy="0"/>
            </a:xfrm>
            <a:custGeom>
              <a:avLst/>
              <a:gdLst/>
              <a:ahLst/>
              <a:cxnLst/>
              <a:rect l="l" t="t" r="r" b="b"/>
              <a:pathLst>
                <a:path w="1931670">
                  <a:moveTo>
                    <a:pt x="0" y="0"/>
                  </a:moveTo>
                  <a:lnTo>
                    <a:pt x="1931498" y="0"/>
                  </a:lnTo>
                </a:path>
              </a:pathLst>
            </a:custGeom>
            <a:ln w="114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4129" y="1468559"/>
              <a:ext cx="2124710" cy="0"/>
            </a:xfrm>
            <a:custGeom>
              <a:avLst/>
              <a:gdLst/>
              <a:ahLst/>
              <a:cxnLst/>
              <a:rect l="l" t="t" r="r" b="b"/>
              <a:pathLst>
                <a:path w="2124709">
                  <a:moveTo>
                    <a:pt x="0" y="0"/>
                  </a:moveTo>
                  <a:lnTo>
                    <a:pt x="2124647" y="0"/>
                  </a:lnTo>
                </a:path>
              </a:pathLst>
            </a:custGeom>
            <a:ln w="4758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4387" y="170641"/>
              <a:ext cx="323494" cy="6760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1359" y="696903"/>
              <a:ext cx="985051" cy="326093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009558" y="1761207"/>
            <a:ext cx="143085" cy="61807"/>
            <a:chOff x="6007168" y="1320905"/>
            <a:chExt cx="107314" cy="46355"/>
          </a:xfrm>
        </p:grpSpPr>
        <p:sp>
          <p:nvSpPr>
            <p:cNvPr id="30" name="object 30"/>
            <p:cNvSpPr/>
            <p:nvPr/>
          </p:nvSpPr>
          <p:spPr>
            <a:xfrm>
              <a:off x="6095090" y="1342959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5090" y="1342959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07163" y="1320914"/>
              <a:ext cx="71120" cy="46355"/>
            </a:xfrm>
            <a:custGeom>
              <a:avLst/>
              <a:gdLst/>
              <a:ahLst/>
              <a:cxnLst/>
              <a:rect l="l" t="t" r="r" b="b"/>
              <a:pathLst>
                <a:path w="71120" h="46355">
                  <a:moveTo>
                    <a:pt x="32346" y="29718"/>
                  </a:moveTo>
                  <a:lnTo>
                    <a:pt x="26009" y="29718"/>
                  </a:lnTo>
                  <a:lnTo>
                    <a:pt x="26009" y="6019"/>
                  </a:lnTo>
                  <a:lnTo>
                    <a:pt x="26009" y="787"/>
                  </a:lnTo>
                  <a:lnTo>
                    <a:pt x="20040" y="787"/>
                  </a:lnTo>
                  <a:lnTo>
                    <a:pt x="20040" y="6019"/>
                  </a:lnTo>
                  <a:lnTo>
                    <a:pt x="20040" y="29718"/>
                  </a:lnTo>
                  <a:lnTo>
                    <a:pt x="4876" y="29718"/>
                  </a:lnTo>
                  <a:lnTo>
                    <a:pt x="20040" y="6019"/>
                  </a:lnTo>
                  <a:lnTo>
                    <a:pt x="20040" y="787"/>
                  </a:lnTo>
                  <a:lnTo>
                    <a:pt x="18453" y="787"/>
                  </a:lnTo>
                  <a:lnTo>
                    <a:pt x="0" y="28930"/>
                  </a:lnTo>
                  <a:lnTo>
                    <a:pt x="0" y="34709"/>
                  </a:lnTo>
                  <a:lnTo>
                    <a:pt x="20040" y="34709"/>
                  </a:lnTo>
                  <a:lnTo>
                    <a:pt x="20040" y="45186"/>
                  </a:lnTo>
                  <a:lnTo>
                    <a:pt x="26009" y="45186"/>
                  </a:lnTo>
                  <a:lnTo>
                    <a:pt x="26009" y="34709"/>
                  </a:lnTo>
                  <a:lnTo>
                    <a:pt x="32346" y="34709"/>
                  </a:lnTo>
                  <a:lnTo>
                    <a:pt x="32346" y="29718"/>
                  </a:lnTo>
                  <a:close/>
                </a:path>
                <a:path w="71120" h="46355">
                  <a:moveTo>
                    <a:pt x="70675" y="26301"/>
                  </a:moveTo>
                  <a:lnTo>
                    <a:pt x="69329" y="22593"/>
                  </a:lnTo>
                  <a:lnTo>
                    <a:pt x="67411" y="20586"/>
                  </a:lnTo>
                  <a:lnTo>
                    <a:pt x="64643" y="17691"/>
                  </a:lnTo>
                  <a:lnTo>
                    <a:pt x="64643" y="27774"/>
                  </a:lnTo>
                  <a:lnTo>
                    <a:pt x="64643" y="34163"/>
                  </a:lnTo>
                  <a:lnTo>
                    <a:pt x="63842" y="36728"/>
                  </a:lnTo>
                  <a:lnTo>
                    <a:pt x="60680" y="40373"/>
                  </a:lnTo>
                  <a:lnTo>
                    <a:pt x="58547" y="41287"/>
                  </a:lnTo>
                  <a:lnTo>
                    <a:pt x="53187" y="41287"/>
                  </a:lnTo>
                  <a:lnTo>
                    <a:pt x="51054" y="40373"/>
                  </a:lnTo>
                  <a:lnTo>
                    <a:pt x="47879" y="36728"/>
                  </a:lnTo>
                  <a:lnTo>
                    <a:pt x="47091" y="34163"/>
                  </a:lnTo>
                  <a:lnTo>
                    <a:pt x="47091" y="27774"/>
                  </a:lnTo>
                  <a:lnTo>
                    <a:pt x="47879" y="25209"/>
                  </a:lnTo>
                  <a:lnTo>
                    <a:pt x="51054" y="21551"/>
                  </a:lnTo>
                  <a:lnTo>
                    <a:pt x="51854" y="21196"/>
                  </a:lnTo>
                  <a:lnTo>
                    <a:pt x="53187" y="20586"/>
                  </a:lnTo>
                  <a:lnTo>
                    <a:pt x="58547" y="20586"/>
                  </a:lnTo>
                  <a:lnTo>
                    <a:pt x="60680" y="21551"/>
                  </a:lnTo>
                  <a:lnTo>
                    <a:pt x="63842" y="25209"/>
                  </a:lnTo>
                  <a:lnTo>
                    <a:pt x="64643" y="27774"/>
                  </a:lnTo>
                  <a:lnTo>
                    <a:pt x="64643" y="17691"/>
                  </a:lnTo>
                  <a:lnTo>
                    <a:pt x="64211" y="17233"/>
                  </a:lnTo>
                  <a:lnTo>
                    <a:pt x="60680" y="15836"/>
                  </a:lnTo>
                  <a:lnTo>
                    <a:pt x="54102" y="15836"/>
                  </a:lnTo>
                  <a:lnTo>
                    <a:pt x="52146" y="16319"/>
                  </a:lnTo>
                  <a:lnTo>
                    <a:pt x="48615" y="18148"/>
                  </a:lnTo>
                  <a:lnTo>
                    <a:pt x="47155" y="19481"/>
                  </a:lnTo>
                  <a:lnTo>
                    <a:pt x="45999" y="21196"/>
                  </a:lnTo>
                  <a:lnTo>
                    <a:pt x="46240" y="15836"/>
                  </a:lnTo>
                  <a:lnTo>
                    <a:pt x="47459" y="11747"/>
                  </a:lnTo>
                  <a:lnTo>
                    <a:pt x="51600" y="6388"/>
                  </a:lnTo>
                  <a:lnTo>
                    <a:pt x="54648" y="5054"/>
                  </a:lnTo>
                  <a:lnTo>
                    <a:pt x="60134" y="5054"/>
                  </a:lnTo>
                  <a:lnTo>
                    <a:pt x="61658" y="5232"/>
                  </a:lnTo>
                  <a:lnTo>
                    <a:pt x="64757" y="5969"/>
                  </a:lnTo>
                  <a:lnTo>
                    <a:pt x="66281" y="6515"/>
                  </a:lnTo>
                  <a:lnTo>
                    <a:pt x="67805" y="7239"/>
                  </a:lnTo>
                  <a:lnTo>
                    <a:pt x="67805" y="5054"/>
                  </a:lnTo>
                  <a:lnTo>
                    <a:pt x="67805" y="1765"/>
                  </a:lnTo>
                  <a:lnTo>
                    <a:pt x="66103" y="1155"/>
                  </a:lnTo>
                  <a:lnTo>
                    <a:pt x="64516" y="723"/>
                  </a:lnTo>
                  <a:lnTo>
                    <a:pt x="62992" y="419"/>
                  </a:lnTo>
                  <a:lnTo>
                    <a:pt x="61404" y="177"/>
                  </a:lnTo>
                  <a:lnTo>
                    <a:pt x="59880" y="0"/>
                  </a:lnTo>
                  <a:lnTo>
                    <a:pt x="52819" y="0"/>
                  </a:lnTo>
                  <a:lnTo>
                    <a:pt x="48310" y="2133"/>
                  </a:lnTo>
                  <a:lnTo>
                    <a:pt x="44818" y="6515"/>
                  </a:lnTo>
                  <a:lnTo>
                    <a:pt x="41668" y="10414"/>
                  </a:lnTo>
                  <a:lnTo>
                    <a:pt x="40081" y="15836"/>
                  </a:lnTo>
                  <a:lnTo>
                    <a:pt x="40030" y="30505"/>
                  </a:lnTo>
                  <a:lnTo>
                    <a:pt x="41363" y="36233"/>
                  </a:lnTo>
                  <a:lnTo>
                    <a:pt x="44107" y="40132"/>
                  </a:lnTo>
                  <a:lnTo>
                    <a:pt x="46786" y="44030"/>
                  </a:lnTo>
                  <a:lnTo>
                    <a:pt x="50749" y="45974"/>
                  </a:lnTo>
                  <a:lnTo>
                    <a:pt x="60312" y="45974"/>
                  </a:lnTo>
                  <a:lnTo>
                    <a:pt x="63906" y="44640"/>
                  </a:lnTo>
                  <a:lnTo>
                    <a:pt x="67183" y="41287"/>
                  </a:lnTo>
                  <a:lnTo>
                    <a:pt x="69265" y="39154"/>
                  </a:lnTo>
                  <a:lnTo>
                    <a:pt x="70675" y="35509"/>
                  </a:lnTo>
                  <a:lnTo>
                    <a:pt x="70675" y="2630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009558" y="1579441"/>
            <a:ext cx="143085" cy="59267"/>
            <a:chOff x="6007168" y="1184581"/>
            <a:chExt cx="107314" cy="44450"/>
          </a:xfrm>
        </p:grpSpPr>
        <p:sp>
          <p:nvSpPr>
            <p:cNvPr id="34" name="object 34"/>
            <p:cNvSpPr/>
            <p:nvPr/>
          </p:nvSpPr>
          <p:spPr>
            <a:xfrm>
              <a:off x="6095090" y="1205843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95090" y="1205843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07163" y="1184592"/>
              <a:ext cx="69850" cy="44450"/>
            </a:xfrm>
            <a:custGeom>
              <a:avLst/>
              <a:gdLst/>
              <a:ahLst/>
              <a:cxnLst/>
              <a:rect l="l" t="t" r="r" b="b"/>
              <a:pathLst>
                <a:path w="69850" h="44450">
                  <a:moveTo>
                    <a:pt x="32346" y="28930"/>
                  </a:moveTo>
                  <a:lnTo>
                    <a:pt x="26009" y="28930"/>
                  </a:lnTo>
                  <a:lnTo>
                    <a:pt x="26009" y="5232"/>
                  </a:lnTo>
                  <a:lnTo>
                    <a:pt x="26009" y="0"/>
                  </a:lnTo>
                  <a:lnTo>
                    <a:pt x="20040" y="0"/>
                  </a:lnTo>
                  <a:lnTo>
                    <a:pt x="20040" y="5232"/>
                  </a:lnTo>
                  <a:lnTo>
                    <a:pt x="20040" y="28930"/>
                  </a:lnTo>
                  <a:lnTo>
                    <a:pt x="4876" y="28930"/>
                  </a:lnTo>
                  <a:lnTo>
                    <a:pt x="20040" y="5232"/>
                  </a:lnTo>
                  <a:lnTo>
                    <a:pt x="20040" y="0"/>
                  </a:lnTo>
                  <a:lnTo>
                    <a:pt x="18453" y="0"/>
                  </a:lnTo>
                  <a:lnTo>
                    <a:pt x="0" y="28130"/>
                  </a:lnTo>
                  <a:lnTo>
                    <a:pt x="0" y="33921"/>
                  </a:lnTo>
                  <a:lnTo>
                    <a:pt x="20040" y="33921"/>
                  </a:lnTo>
                  <a:lnTo>
                    <a:pt x="20040" y="44399"/>
                  </a:lnTo>
                  <a:lnTo>
                    <a:pt x="26009" y="44399"/>
                  </a:lnTo>
                  <a:lnTo>
                    <a:pt x="26009" y="33921"/>
                  </a:lnTo>
                  <a:lnTo>
                    <a:pt x="32346" y="33921"/>
                  </a:lnTo>
                  <a:lnTo>
                    <a:pt x="32346" y="28930"/>
                  </a:lnTo>
                  <a:close/>
                </a:path>
                <a:path w="69850" h="44450">
                  <a:moveTo>
                    <a:pt x="69329" y="0"/>
                  </a:moveTo>
                  <a:lnTo>
                    <a:pt x="40754" y="0"/>
                  </a:lnTo>
                  <a:lnTo>
                    <a:pt x="40754" y="5054"/>
                  </a:lnTo>
                  <a:lnTo>
                    <a:pt x="62077" y="5054"/>
                  </a:lnTo>
                  <a:lnTo>
                    <a:pt x="46913" y="44399"/>
                  </a:lnTo>
                  <a:lnTo>
                    <a:pt x="53187" y="44399"/>
                  </a:lnTo>
                  <a:lnTo>
                    <a:pt x="69329" y="2552"/>
                  </a:lnTo>
                  <a:lnTo>
                    <a:pt x="69329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011833" y="481473"/>
            <a:ext cx="140547" cy="61807"/>
            <a:chOff x="6008875" y="361104"/>
            <a:chExt cx="105410" cy="46355"/>
          </a:xfrm>
        </p:grpSpPr>
        <p:sp>
          <p:nvSpPr>
            <p:cNvPr id="38" name="object 38"/>
            <p:cNvSpPr/>
            <p:nvPr/>
          </p:nvSpPr>
          <p:spPr>
            <a:xfrm>
              <a:off x="6095090" y="383159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95090" y="383159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08865" y="361111"/>
              <a:ext cx="67945" cy="46355"/>
            </a:xfrm>
            <a:custGeom>
              <a:avLst/>
              <a:gdLst/>
              <a:ahLst/>
              <a:cxnLst/>
              <a:rect l="l" t="t" r="r" b="b"/>
              <a:pathLst>
                <a:path w="67945" h="46354">
                  <a:moveTo>
                    <a:pt x="28752" y="26314"/>
                  </a:moveTo>
                  <a:lnTo>
                    <a:pt x="27292" y="22656"/>
                  </a:lnTo>
                  <a:lnTo>
                    <a:pt x="21450" y="17233"/>
                  </a:lnTo>
                  <a:lnTo>
                    <a:pt x="17551" y="15836"/>
                  </a:lnTo>
                  <a:lnTo>
                    <a:pt x="11760" y="15836"/>
                  </a:lnTo>
                  <a:lnTo>
                    <a:pt x="9144" y="16205"/>
                  </a:lnTo>
                  <a:lnTo>
                    <a:pt x="7378" y="16751"/>
                  </a:lnTo>
                  <a:lnTo>
                    <a:pt x="7378" y="5842"/>
                  </a:lnTo>
                  <a:lnTo>
                    <a:pt x="25463" y="5842"/>
                  </a:lnTo>
                  <a:lnTo>
                    <a:pt x="25463" y="787"/>
                  </a:lnTo>
                  <a:lnTo>
                    <a:pt x="1892" y="787"/>
                  </a:lnTo>
                  <a:lnTo>
                    <a:pt x="1892" y="23075"/>
                  </a:lnTo>
                  <a:lnTo>
                    <a:pt x="3543" y="22352"/>
                  </a:lnTo>
                  <a:lnTo>
                    <a:pt x="5181" y="21805"/>
                  </a:lnTo>
                  <a:lnTo>
                    <a:pt x="8356" y="21069"/>
                  </a:lnTo>
                  <a:lnTo>
                    <a:pt x="9994" y="20891"/>
                  </a:lnTo>
                  <a:lnTo>
                    <a:pt x="14986" y="20891"/>
                  </a:lnTo>
                  <a:lnTo>
                    <a:pt x="17729" y="21805"/>
                  </a:lnTo>
                  <a:lnTo>
                    <a:pt x="21691" y="25463"/>
                  </a:lnTo>
                  <a:lnTo>
                    <a:pt x="22733" y="27889"/>
                  </a:lnTo>
                  <a:lnTo>
                    <a:pt x="22733" y="34048"/>
                  </a:lnTo>
                  <a:lnTo>
                    <a:pt x="21691" y="36487"/>
                  </a:lnTo>
                  <a:lnTo>
                    <a:pt x="17729" y="40132"/>
                  </a:lnTo>
                  <a:lnTo>
                    <a:pt x="14986" y="40982"/>
                  </a:lnTo>
                  <a:lnTo>
                    <a:pt x="9448" y="40982"/>
                  </a:lnTo>
                  <a:lnTo>
                    <a:pt x="7442" y="40805"/>
                  </a:lnTo>
                  <a:lnTo>
                    <a:pt x="3594" y="39827"/>
                  </a:lnTo>
                  <a:lnTo>
                    <a:pt x="1765" y="39103"/>
                  </a:lnTo>
                  <a:lnTo>
                    <a:pt x="0" y="38125"/>
                  </a:lnTo>
                  <a:lnTo>
                    <a:pt x="0" y="44157"/>
                  </a:lnTo>
                  <a:lnTo>
                    <a:pt x="2070" y="44831"/>
                  </a:lnTo>
                  <a:lnTo>
                    <a:pt x="4025" y="45250"/>
                  </a:lnTo>
                  <a:lnTo>
                    <a:pt x="5969" y="45554"/>
                  </a:lnTo>
                  <a:lnTo>
                    <a:pt x="9817" y="45986"/>
                  </a:lnTo>
                  <a:lnTo>
                    <a:pt x="17056" y="45986"/>
                  </a:lnTo>
                  <a:lnTo>
                    <a:pt x="21259" y="44704"/>
                  </a:lnTo>
                  <a:lnTo>
                    <a:pt x="27241" y="39471"/>
                  </a:lnTo>
                  <a:lnTo>
                    <a:pt x="28752" y="35750"/>
                  </a:lnTo>
                  <a:lnTo>
                    <a:pt x="28752" y="26314"/>
                  </a:lnTo>
                  <a:close/>
                </a:path>
                <a:path w="67945" h="46354">
                  <a:moveTo>
                    <a:pt x="67932" y="29476"/>
                  </a:moveTo>
                  <a:lnTo>
                    <a:pt x="67081" y="27038"/>
                  </a:lnTo>
                  <a:lnTo>
                    <a:pt x="63906" y="23139"/>
                  </a:lnTo>
                  <a:lnTo>
                    <a:pt x="61658" y="21869"/>
                  </a:lnTo>
                  <a:lnTo>
                    <a:pt x="58788" y="21259"/>
                  </a:lnTo>
                  <a:lnTo>
                    <a:pt x="61353" y="20650"/>
                  </a:lnTo>
                  <a:lnTo>
                    <a:pt x="63360" y="19431"/>
                  </a:lnTo>
                  <a:lnTo>
                    <a:pt x="66167" y="16014"/>
                  </a:lnTo>
                  <a:lnTo>
                    <a:pt x="66890" y="13944"/>
                  </a:lnTo>
                  <a:lnTo>
                    <a:pt x="66890" y="7975"/>
                  </a:lnTo>
                  <a:lnTo>
                    <a:pt x="65557" y="5181"/>
                  </a:lnTo>
                  <a:lnTo>
                    <a:pt x="60198" y="1028"/>
                  </a:lnTo>
                  <a:lnTo>
                    <a:pt x="56603" y="0"/>
                  </a:lnTo>
                  <a:lnTo>
                    <a:pt x="50266" y="0"/>
                  </a:lnTo>
                  <a:lnTo>
                    <a:pt x="48374" y="177"/>
                  </a:lnTo>
                  <a:lnTo>
                    <a:pt x="44411" y="787"/>
                  </a:lnTo>
                  <a:lnTo>
                    <a:pt x="40030" y="1892"/>
                  </a:lnTo>
                  <a:lnTo>
                    <a:pt x="40030" y="7251"/>
                  </a:lnTo>
                  <a:lnTo>
                    <a:pt x="42278" y="6515"/>
                  </a:lnTo>
                  <a:lnTo>
                    <a:pt x="44361" y="5969"/>
                  </a:lnTo>
                  <a:lnTo>
                    <a:pt x="48133" y="5232"/>
                  </a:lnTo>
                  <a:lnTo>
                    <a:pt x="49898" y="5054"/>
                  </a:lnTo>
                  <a:lnTo>
                    <a:pt x="54533" y="5054"/>
                  </a:lnTo>
                  <a:lnTo>
                    <a:pt x="56845" y="5664"/>
                  </a:lnTo>
                  <a:lnTo>
                    <a:pt x="60071" y="8102"/>
                  </a:lnTo>
                  <a:lnTo>
                    <a:pt x="60921" y="9867"/>
                  </a:lnTo>
                  <a:lnTo>
                    <a:pt x="60921" y="14376"/>
                  </a:lnTo>
                  <a:lnTo>
                    <a:pt x="60134" y="16078"/>
                  </a:lnTo>
                  <a:lnTo>
                    <a:pt x="56972" y="18453"/>
                  </a:lnTo>
                  <a:lnTo>
                    <a:pt x="54711" y="18999"/>
                  </a:lnTo>
                  <a:lnTo>
                    <a:pt x="46367" y="18999"/>
                  </a:lnTo>
                  <a:lnTo>
                    <a:pt x="46367" y="23939"/>
                  </a:lnTo>
                  <a:lnTo>
                    <a:pt x="54838" y="23939"/>
                  </a:lnTo>
                  <a:lnTo>
                    <a:pt x="57391" y="24726"/>
                  </a:lnTo>
                  <a:lnTo>
                    <a:pt x="61048" y="27647"/>
                  </a:lnTo>
                  <a:lnTo>
                    <a:pt x="61963" y="29718"/>
                  </a:lnTo>
                  <a:lnTo>
                    <a:pt x="61963" y="35140"/>
                  </a:lnTo>
                  <a:lnTo>
                    <a:pt x="60921" y="37338"/>
                  </a:lnTo>
                  <a:lnTo>
                    <a:pt x="57023" y="40259"/>
                  </a:lnTo>
                  <a:lnTo>
                    <a:pt x="54165" y="40982"/>
                  </a:lnTo>
                  <a:lnTo>
                    <a:pt x="48196" y="40982"/>
                  </a:lnTo>
                  <a:lnTo>
                    <a:pt x="46126" y="40741"/>
                  </a:lnTo>
                  <a:lnTo>
                    <a:pt x="42164" y="39776"/>
                  </a:lnTo>
                  <a:lnTo>
                    <a:pt x="40335" y="39039"/>
                  </a:lnTo>
                  <a:lnTo>
                    <a:pt x="38684" y="38061"/>
                  </a:lnTo>
                  <a:lnTo>
                    <a:pt x="38684" y="43853"/>
                  </a:lnTo>
                  <a:lnTo>
                    <a:pt x="40767" y="44577"/>
                  </a:lnTo>
                  <a:lnTo>
                    <a:pt x="42837" y="45135"/>
                  </a:lnTo>
                  <a:lnTo>
                    <a:pt x="46736" y="45796"/>
                  </a:lnTo>
                  <a:lnTo>
                    <a:pt x="48679" y="45986"/>
                  </a:lnTo>
                  <a:lnTo>
                    <a:pt x="56108" y="45986"/>
                  </a:lnTo>
                  <a:lnTo>
                    <a:pt x="60375" y="44831"/>
                  </a:lnTo>
                  <a:lnTo>
                    <a:pt x="66408" y="40068"/>
                  </a:lnTo>
                  <a:lnTo>
                    <a:pt x="67932" y="36664"/>
                  </a:lnTo>
                  <a:lnTo>
                    <a:pt x="67932" y="29476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7003" y="664291"/>
            <a:ext cx="265168" cy="828060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8152172" y="2175071"/>
            <a:ext cx="2832947" cy="1755987"/>
            <a:chOff x="6114129" y="1631303"/>
            <a:chExt cx="2124710" cy="1316990"/>
          </a:xfrm>
        </p:grpSpPr>
        <p:sp>
          <p:nvSpPr>
            <p:cNvPr id="43" name="object 43"/>
            <p:cNvSpPr/>
            <p:nvPr/>
          </p:nvSpPr>
          <p:spPr>
            <a:xfrm>
              <a:off x="6210703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107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107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97003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970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970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83303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833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83303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69602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696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696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55902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559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559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142202" y="1712003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422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42202" y="292922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210703" y="1767331"/>
              <a:ext cx="1931670" cy="1022350"/>
            </a:xfrm>
            <a:custGeom>
              <a:avLst/>
              <a:gdLst/>
              <a:ahLst/>
              <a:cxnLst/>
              <a:rect l="l" t="t" r="r" b="b"/>
              <a:pathLst>
                <a:path w="1931670" h="1022350">
                  <a:moveTo>
                    <a:pt x="0" y="1022034"/>
                  </a:moveTo>
                  <a:lnTo>
                    <a:pt x="212464" y="706971"/>
                  </a:lnTo>
                  <a:lnTo>
                    <a:pt x="386299" y="537912"/>
                  </a:lnTo>
                  <a:lnTo>
                    <a:pt x="579449" y="430329"/>
                  </a:lnTo>
                  <a:lnTo>
                    <a:pt x="772599" y="76844"/>
                  </a:lnTo>
                  <a:lnTo>
                    <a:pt x="965749" y="184426"/>
                  </a:lnTo>
                  <a:lnTo>
                    <a:pt x="1158898" y="184426"/>
                  </a:lnTo>
                  <a:lnTo>
                    <a:pt x="1352048" y="245903"/>
                  </a:lnTo>
                  <a:lnTo>
                    <a:pt x="1545198" y="92213"/>
                  </a:lnTo>
                  <a:lnTo>
                    <a:pt x="1738348" y="76844"/>
                  </a:lnTo>
                  <a:lnTo>
                    <a:pt x="1931498" y="0"/>
                  </a:lnTo>
                </a:path>
              </a:pathLst>
            </a:custGeom>
            <a:ln w="11420">
              <a:solidFill>
                <a:srgbClr val="1A63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210703" y="2535778"/>
              <a:ext cx="1931670" cy="338455"/>
            </a:xfrm>
            <a:custGeom>
              <a:avLst/>
              <a:gdLst/>
              <a:ahLst/>
              <a:cxnLst/>
              <a:rect l="l" t="t" r="r" b="b"/>
              <a:pathLst>
                <a:path w="1931670" h="338455">
                  <a:moveTo>
                    <a:pt x="0" y="253587"/>
                  </a:moveTo>
                  <a:lnTo>
                    <a:pt x="212464" y="0"/>
                  </a:lnTo>
                  <a:lnTo>
                    <a:pt x="386299" y="92212"/>
                  </a:lnTo>
                  <a:lnTo>
                    <a:pt x="579449" y="184427"/>
                  </a:lnTo>
                  <a:lnTo>
                    <a:pt x="772599" y="107582"/>
                  </a:lnTo>
                  <a:lnTo>
                    <a:pt x="965749" y="292009"/>
                  </a:lnTo>
                  <a:lnTo>
                    <a:pt x="1158898" y="338115"/>
                  </a:lnTo>
                  <a:lnTo>
                    <a:pt x="1352048" y="215165"/>
                  </a:lnTo>
                  <a:lnTo>
                    <a:pt x="1545198" y="261271"/>
                  </a:lnTo>
                  <a:lnTo>
                    <a:pt x="1738348" y="230533"/>
                  </a:lnTo>
                  <a:lnTo>
                    <a:pt x="1931498" y="169057"/>
                  </a:lnTo>
                </a:path>
              </a:pathLst>
            </a:custGeom>
            <a:ln w="11419">
              <a:solidFill>
                <a:srgbClr val="E6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210703" y="2789365"/>
              <a:ext cx="1931670" cy="0"/>
            </a:xfrm>
            <a:custGeom>
              <a:avLst/>
              <a:gdLst/>
              <a:ahLst/>
              <a:cxnLst/>
              <a:rect l="l" t="t" r="r" b="b"/>
              <a:pathLst>
                <a:path w="1931670">
                  <a:moveTo>
                    <a:pt x="0" y="0"/>
                  </a:moveTo>
                  <a:lnTo>
                    <a:pt x="1931498" y="0"/>
                  </a:lnTo>
                </a:path>
              </a:pathLst>
            </a:custGeom>
            <a:ln w="114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14129" y="2929223"/>
              <a:ext cx="2124710" cy="0"/>
            </a:xfrm>
            <a:custGeom>
              <a:avLst/>
              <a:gdLst/>
              <a:ahLst/>
              <a:cxnLst/>
              <a:rect l="l" t="t" r="r" b="b"/>
              <a:pathLst>
                <a:path w="2124709">
                  <a:moveTo>
                    <a:pt x="0" y="0"/>
                  </a:moveTo>
                  <a:lnTo>
                    <a:pt x="2124647" y="0"/>
                  </a:lnTo>
                </a:path>
              </a:pathLst>
            </a:custGeom>
            <a:ln w="4758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1200" y="1631303"/>
              <a:ext cx="674251" cy="67605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8011752" y="3649379"/>
            <a:ext cx="140547" cy="61807"/>
            <a:chOff x="6008814" y="2737034"/>
            <a:chExt cx="105410" cy="46355"/>
          </a:xfrm>
        </p:grpSpPr>
        <p:sp>
          <p:nvSpPr>
            <p:cNvPr id="67" name="object 67"/>
            <p:cNvSpPr/>
            <p:nvPr/>
          </p:nvSpPr>
          <p:spPr>
            <a:xfrm>
              <a:off x="6095091" y="275908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095091" y="275908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008814" y="2737040"/>
              <a:ext cx="68580" cy="46355"/>
            </a:xfrm>
            <a:custGeom>
              <a:avLst/>
              <a:gdLst/>
              <a:ahLst/>
              <a:cxnLst/>
              <a:rect l="l" t="t" r="r" b="b"/>
              <a:pathLst>
                <a:path w="68579" h="46355">
                  <a:moveTo>
                    <a:pt x="29235" y="29476"/>
                  </a:moveTo>
                  <a:lnTo>
                    <a:pt x="28384" y="27038"/>
                  </a:lnTo>
                  <a:lnTo>
                    <a:pt x="25209" y="23139"/>
                  </a:lnTo>
                  <a:lnTo>
                    <a:pt x="22961" y="21869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14"/>
                  </a:lnTo>
                  <a:lnTo>
                    <a:pt x="28206" y="13944"/>
                  </a:lnTo>
                  <a:lnTo>
                    <a:pt x="28206" y="7975"/>
                  </a:lnTo>
                  <a:lnTo>
                    <a:pt x="26860" y="5181"/>
                  </a:lnTo>
                  <a:lnTo>
                    <a:pt x="21501" y="1028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77"/>
                  </a:lnTo>
                  <a:lnTo>
                    <a:pt x="5715" y="787"/>
                  </a:lnTo>
                  <a:lnTo>
                    <a:pt x="1333" y="1892"/>
                  </a:lnTo>
                  <a:lnTo>
                    <a:pt x="1333" y="7251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32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8999"/>
                  </a:lnTo>
                  <a:lnTo>
                    <a:pt x="7670" y="18999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47"/>
                  </a:lnTo>
                  <a:lnTo>
                    <a:pt x="23266" y="29718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82"/>
                  </a:lnTo>
                  <a:lnTo>
                    <a:pt x="9499" y="40982"/>
                  </a:lnTo>
                  <a:lnTo>
                    <a:pt x="7429" y="40741"/>
                  </a:lnTo>
                  <a:lnTo>
                    <a:pt x="3467" y="39776"/>
                  </a:lnTo>
                  <a:lnTo>
                    <a:pt x="1638" y="39039"/>
                  </a:lnTo>
                  <a:lnTo>
                    <a:pt x="0" y="38061"/>
                  </a:lnTo>
                  <a:lnTo>
                    <a:pt x="0" y="43853"/>
                  </a:lnTo>
                  <a:lnTo>
                    <a:pt x="2070" y="44577"/>
                  </a:lnTo>
                  <a:lnTo>
                    <a:pt x="4140" y="45135"/>
                  </a:lnTo>
                  <a:lnTo>
                    <a:pt x="8039" y="45796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31"/>
                  </a:lnTo>
                  <a:lnTo>
                    <a:pt x="27711" y="40081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8579" h="46355">
                  <a:moveTo>
                    <a:pt x="67983" y="29476"/>
                  </a:moveTo>
                  <a:lnTo>
                    <a:pt x="67132" y="27038"/>
                  </a:lnTo>
                  <a:lnTo>
                    <a:pt x="63957" y="23139"/>
                  </a:lnTo>
                  <a:lnTo>
                    <a:pt x="61709" y="21869"/>
                  </a:lnTo>
                  <a:lnTo>
                    <a:pt x="58839" y="21259"/>
                  </a:lnTo>
                  <a:lnTo>
                    <a:pt x="61404" y="20650"/>
                  </a:lnTo>
                  <a:lnTo>
                    <a:pt x="63411" y="19431"/>
                  </a:lnTo>
                  <a:lnTo>
                    <a:pt x="66217" y="16014"/>
                  </a:lnTo>
                  <a:lnTo>
                    <a:pt x="66941" y="13944"/>
                  </a:lnTo>
                  <a:lnTo>
                    <a:pt x="66941" y="7975"/>
                  </a:lnTo>
                  <a:lnTo>
                    <a:pt x="65608" y="5181"/>
                  </a:lnTo>
                  <a:lnTo>
                    <a:pt x="60248" y="1028"/>
                  </a:lnTo>
                  <a:lnTo>
                    <a:pt x="56654" y="0"/>
                  </a:lnTo>
                  <a:lnTo>
                    <a:pt x="50317" y="0"/>
                  </a:lnTo>
                  <a:lnTo>
                    <a:pt x="48425" y="177"/>
                  </a:lnTo>
                  <a:lnTo>
                    <a:pt x="44462" y="787"/>
                  </a:lnTo>
                  <a:lnTo>
                    <a:pt x="40081" y="1892"/>
                  </a:lnTo>
                  <a:lnTo>
                    <a:pt x="40081" y="7251"/>
                  </a:lnTo>
                  <a:lnTo>
                    <a:pt x="42329" y="6515"/>
                  </a:lnTo>
                  <a:lnTo>
                    <a:pt x="44411" y="5969"/>
                  </a:lnTo>
                  <a:lnTo>
                    <a:pt x="48183" y="5232"/>
                  </a:lnTo>
                  <a:lnTo>
                    <a:pt x="49949" y="5054"/>
                  </a:lnTo>
                  <a:lnTo>
                    <a:pt x="54584" y="5054"/>
                  </a:lnTo>
                  <a:lnTo>
                    <a:pt x="56896" y="5664"/>
                  </a:lnTo>
                  <a:lnTo>
                    <a:pt x="60121" y="8102"/>
                  </a:lnTo>
                  <a:lnTo>
                    <a:pt x="60972" y="9867"/>
                  </a:lnTo>
                  <a:lnTo>
                    <a:pt x="60972" y="14376"/>
                  </a:lnTo>
                  <a:lnTo>
                    <a:pt x="60185" y="16078"/>
                  </a:lnTo>
                  <a:lnTo>
                    <a:pt x="57023" y="18453"/>
                  </a:lnTo>
                  <a:lnTo>
                    <a:pt x="54762" y="18999"/>
                  </a:lnTo>
                  <a:lnTo>
                    <a:pt x="46418" y="18999"/>
                  </a:lnTo>
                  <a:lnTo>
                    <a:pt x="46418" y="23939"/>
                  </a:lnTo>
                  <a:lnTo>
                    <a:pt x="54889" y="23939"/>
                  </a:lnTo>
                  <a:lnTo>
                    <a:pt x="57442" y="24726"/>
                  </a:lnTo>
                  <a:lnTo>
                    <a:pt x="61099" y="27647"/>
                  </a:lnTo>
                  <a:lnTo>
                    <a:pt x="62014" y="29718"/>
                  </a:lnTo>
                  <a:lnTo>
                    <a:pt x="62014" y="35140"/>
                  </a:lnTo>
                  <a:lnTo>
                    <a:pt x="60972" y="37338"/>
                  </a:lnTo>
                  <a:lnTo>
                    <a:pt x="57073" y="40259"/>
                  </a:lnTo>
                  <a:lnTo>
                    <a:pt x="54216" y="40982"/>
                  </a:lnTo>
                  <a:lnTo>
                    <a:pt x="48247" y="40982"/>
                  </a:lnTo>
                  <a:lnTo>
                    <a:pt x="46177" y="40741"/>
                  </a:lnTo>
                  <a:lnTo>
                    <a:pt x="42214" y="39776"/>
                  </a:lnTo>
                  <a:lnTo>
                    <a:pt x="40386" y="39039"/>
                  </a:lnTo>
                  <a:lnTo>
                    <a:pt x="38735" y="38061"/>
                  </a:lnTo>
                  <a:lnTo>
                    <a:pt x="38735" y="43853"/>
                  </a:lnTo>
                  <a:lnTo>
                    <a:pt x="40817" y="44577"/>
                  </a:lnTo>
                  <a:lnTo>
                    <a:pt x="42887" y="45135"/>
                  </a:lnTo>
                  <a:lnTo>
                    <a:pt x="46786" y="45796"/>
                  </a:lnTo>
                  <a:lnTo>
                    <a:pt x="48729" y="45986"/>
                  </a:lnTo>
                  <a:lnTo>
                    <a:pt x="56159" y="45986"/>
                  </a:lnTo>
                  <a:lnTo>
                    <a:pt x="60426" y="44831"/>
                  </a:lnTo>
                  <a:lnTo>
                    <a:pt x="66459" y="40081"/>
                  </a:lnTo>
                  <a:lnTo>
                    <a:pt x="67983" y="36664"/>
                  </a:lnTo>
                  <a:lnTo>
                    <a:pt x="67983" y="29476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7887003" y="2723555"/>
            <a:ext cx="265853" cy="717127"/>
            <a:chOff x="5915252" y="2042666"/>
            <a:chExt cx="199390" cy="537845"/>
          </a:xfrm>
        </p:grpSpPr>
        <p:sp>
          <p:nvSpPr>
            <p:cNvPr id="71" name="object 71"/>
            <p:cNvSpPr/>
            <p:nvPr/>
          </p:nvSpPr>
          <p:spPr>
            <a:xfrm>
              <a:off x="6095091" y="2411904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095091" y="2411904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915241" y="2205050"/>
              <a:ext cx="163195" cy="375285"/>
            </a:xfrm>
            <a:custGeom>
              <a:avLst/>
              <a:gdLst/>
              <a:ahLst/>
              <a:cxnLst/>
              <a:rect l="l" t="t" r="r" b="b"/>
              <a:pathLst>
                <a:path w="163195" h="375285">
                  <a:moveTo>
                    <a:pt x="8686" y="241566"/>
                  </a:moveTo>
                  <a:lnTo>
                    <a:pt x="0" y="241566"/>
                  </a:lnTo>
                  <a:lnTo>
                    <a:pt x="0" y="248424"/>
                  </a:lnTo>
                  <a:lnTo>
                    <a:pt x="8686" y="248424"/>
                  </a:lnTo>
                  <a:lnTo>
                    <a:pt x="8686" y="241566"/>
                  </a:lnTo>
                  <a:close/>
                </a:path>
                <a:path w="163195" h="375285">
                  <a:moveTo>
                    <a:pt x="8686" y="95554"/>
                  </a:moveTo>
                  <a:lnTo>
                    <a:pt x="0" y="95554"/>
                  </a:lnTo>
                  <a:lnTo>
                    <a:pt x="0" y="102400"/>
                  </a:lnTo>
                  <a:lnTo>
                    <a:pt x="8686" y="102400"/>
                  </a:lnTo>
                  <a:lnTo>
                    <a:pt x="8686" y="95554"/>
                  </a:lnTo>
                  <a:close/>
                </a:path>
                <a:path w="163195" h="375285">
                  <a:moveTo>
                    <a:pt x="57886" y="345186"/>
                  </a:moveTo>
                  <a:lnTo>
                    <a:pt x="2362" y="324027"/>
                  </a:lnTo>
                  <a:lnTo>
                    <a:pt x="2362" y="331863"/>
                  </a:lnTo>
                  <a:lnTo>
                    <a:pt x="49123" y="349453"/>
                  </a:lnTo>
                  <a:lnTo>
                    <a:pt x="2362" y="367042"/>
                  </a:lnTo>
                  <a:lnTo>
                    <a:pt x="2362" y="374878"/>
                  </a:lnTo>
                  <a:lnTo>
                    <a:pt x="57886" y="353720"/>
                  </a:lnTo>
                  <a:lnTo>
                    <a:pt x="57886" y="345186"/>
                  </a:lnTo>
                  <a:close/>
                </a:path>
                <a:path w="163195" h="375285">
                  <a:moveTo>
                    <a:pt x="57886" y="262737"/>
                  </a:moveTo>
                  <a:lnTo>
                    <a:pt x="0" y="262737"/>
                  </a:lnTo>
                  <a:lnTo>
                    <a:pt x="0" y="269582"/>
                  </a:lnTo>
                  <a:lnTo>
                    <a:pt x="57886" y="269582"/>
                  </a:lnTo>
                  <a:lnTo>
                    <a:pt x="57886" y="262737"/>
                  </a:lnTo>
                  <a:close/>
                </a:path>
                <a:path w="163195" h="375285">
                  <a:moveTo>
                    <a:pt x="57886" y="241566"/>
                  </a:moveTo>
                  <a:lnTo>
                    <a:pt x="16230" y="241566"/>
                  </a:lnTo>
                  <a:lnTo>
                    <a:pt x="16230" y="248424"/>
                  </a:lnTo>
                  <a:lnTo>
                    <a:pt x="57886" y="248424"/>
                  </a:lnTo>
                  <a:lnTo>
                    <a:pt x="57886" y="241566"/>
                  </a:lnTo>
                  <a:close/>
                </a:path>
                <a:path w="163195" h="375285">
                  <a:moveTo>
                    <a:pt x="57886" y="111391"/>
                  </a:moveTo>
                  <a:lnTo>
                    <a:pt x="52171" y="111391"/>
                  </a:lnTo>
                  <a:lnTo>
                    <a:pt x="52171" y="121285"/>
                  </a:lnTo>
                  <a:lnTo>
                    <a:pt x="51714" y="123190"/>
                  </a:lnTo>
                  <a:lnTo>
                    <a:pt x="49809" y="125018"/>
                  </a:lnTo>
                  <a:lnTo>
                    <a:pt x="47599" y="125476"/>
                  </a:lnTo>
                  <a:lnTo>
                    <a:pt x="21551" y="125476"/>
                  </a:lnTo>
                  <a:lnTo>
                    <a:pt x="21551" y="111391"/>
                  </a:lnTo>
                  <a:lnTo>
                    <a:pt x="16230" y="111391"/>
                  </a:lnTo>
                  <a:lnTo>
                    <a:pt x="16230" y="125476"/>
                  </a:lnTo>
                  <a:lnTo>
                    <a:pt x="4419" y="125476"/>
                  </a:lnTo>
                  <a:lnTo>
                    <a:pt x="4419" y="132321"/>
                  </a:lnTo>
                  <a:lnTo>
                    <a:pt x="16230" y="132321"/>
                  </a:lnTo>
                  <a:lnTo>
                    <a:pt x="16230" y="137350"/>
                  </a:lnTo>
                  <a:lnTo>
                    <a:pt x="21551" y="137350"/>
                  </a:lnTo>
                  <a:lnTo>
                    <a:pt x="21551" y="132321"/>
                  </a:lnTo>
                  <a:lnTo>
                    <a:pt x="49352" y="132321"/>
                  </a:lnTo>
                  <a:lnTo>
                    <a:pt x="52933" y="131330"/>
                  </a:lnTo>
                  <a:lnTo>
                    <a:pt x="56896" y="127368"/>
                  </a:lnTo>
                  <a:lnTo>
                    <a:pt x="57886" y="123723"/>
                  </a:lnTo>
                  <a:lnTo>
                    <a:pt x="57886" y="111391"/>
                  </a:lnTo>
                  <a:close/>
                </a:path>
                <a:path w="163195" h="375285">
                  <a:moveTo>
                    <a:pt x="57886" y="95554"/>
                  </a:moveTo>
                  <a:lnTo>
                    <a:pt x="16230" y="95554"/>
                  </a:lnTo>
                  <a:lnTo>
                    <a:pt x="16230" y="102400"/>
                  </a:lnTo>
                  <a:lnTo>
                    <a:pt x="57886" y="102400"/>
                  </a:lnTo>
                  <a:lnTo>
                    <a:pt x="57886" y="95554"/>
                  </a:lnTo>
                  <a:close/>
                </a:path>
                <a:path w="163195" h="375285">
                  <a:moveTo>
                    <a:pt x="57886" y="0"/>
                  </a:moveTo>
                  <a:lnTo>
                    <a:pt x="32753" y="0"/>
                  </a:lnTo>
                  <a:lnTo>
                    <a:pt x="27038" y="0"/>
                  </a:lnTo>
                  <a:lnTo>
                    <a:pt x="22694" y="1295"/>
                  </a:lnTo>
                  <a:lnTo>
                    <a:pt x="16764" y="6172"/>
                  </a:lnTo>
                  <a:lnTo>
                    <a:pt x="15240" y="9829"/>
                  </a:lnTo>
                  <a:lnTo>
                    <a:pt x="15240" y="17437"/>
                  </a:lnTo>
                  <a:lnTo>
                    <a:pt x="15925" y="20027"/>
                  </a:lnTo>
                  <a:lnTo>
                    <a:pt x="18364" y="24523"/>
                  </a:lnTo>
                  <a:lnTo>
                    <a:pt x="20256" y="26428"/>
                  </a:lnTo>
                  <a:lnTo>
                    <a:pt x="22694" y="28016"/>
                  </a:lnTo>
                  <a:lnTo>
                    <a:pt x="16230" y="28016"/>
                  </a:lnTo>
                  <a:lnTo>
                    <a:pt x="16230" y="34874"/>
                  </a:lnTo>
                  <a:lnTo>
                    <a:pt x="57886" y="34874"/>
                  </a:lnTo>
                  <a:lnTo>
                    <a:pt x="57886" y="28016"/>
                  </a:lnTo>
                  <a:lnTo>
                    <a:pt x="30314" y="28016"/>
                  </a:lnTo>
                  <a:lnTo>
                    <a:pt x="27114" y="26962"/>
                  </a:lnTo>
                  <a:lnTo>
                    <a:pt x="22390" y="22694"/>
                  </a:lnTo>
                  <a:lnTo>
                    <a:pt x="21170" y="19799"/>
                  </a:lnTo>
                  <a:lnTo>
                    <a:pt x="21170" y="13030"/>
                  </a:lnTo>
                  <a:lnTo>
                    <a:pt x="22161" y="10744"/>
                  </a:lnTo>
                  <a:lnTo>
                    <a:pt x="26123" y="7696"/>
                  </a:lnTo>
                  <a:lnTo>
                    <a:pt x="29019" y="6858"/>
                  </a:lnTo>
                  <a:lnTo>
                    <a:pt x="57886" y="6858"/>
                  </a:lnTo>
                  <a:lnTo>
                    <a:pt x="57886" y="0"/>
                  </a:lnTo>
                  <a:close/>
                </a:path>
                <a:path w="163195" h="375285">
                  <a:moveTo>
                    <a:pt x="58877" y="301561"/>
                  </a:moveTo>
                  <a:lnTo>
                    <a:pt x="58267" y="298665"/>
                  </a:lnTo>
                  <a:lnTo>
                    <a:pt x="55981" y="294106"/>
                  </a:lnTo>
                  <a:lnTo>
                    <a:pt x="54152" y="292125"/>
                  </a:lnTo>
                  <a:lnTo>
                    <a:pt x="53238" y="291566"/>
                  </a:lnTo>
                  <a:lnTo>
                    <a:pt x="53238" y="299275"/>
                  </a:lnTo>
                  <a:lnTo>
                    <a:pt x="53111" y="306209"/>
                  </a:lnTo>
                  <a:lnTo>
                    <a:pt x="52552" y="308038"/>
                  </a:lnTo>
                  <a:lnTo>
                    <a:pt x="51104" y="309638"/>
                  </a:lnTo>
                  <a:lnTo>
                    <a:pt x="49733" y="311238"/>
                  </a:lnTo>
                  <a:lnTo>
                    <a:pt x="47752" y="312000"/>
                  </a:lnTo>
                  <a:lnTo>
                    <a:pt x="42265" y="312000"/>
                  </a:lnTo>
                  <a:lnTo>
                    <a:pt x="40132" y="310934"/>
                  </a:lnTo>
                  <a:lnTo>
                    <a:pt x="38849" y="308800"/>
                  </a:lnTo>
                  <a:lnTo>
                    <a:pt x="37630" y="306666"/>
                  </a:lnTo>
                  <a:lnTo>
                    <a:pt x="36944" y="302856"/>
                  </a:lnTo>
                  <a:lnTo>
                    <a:pt x="36944" y="290525"/>
                  </a:lnTo>
                  <a:lnTo>
                    <a:pt x="42951" y="290525"/>
                  </a:lnTo>
                  <a:lnTo>
                    <a:pt x="46532" y="291668"/>
                  </a:lnTo>
                  <a:lnTo>
                    <a:pt x="49199" y="293954"/>
                  </a:lnTo>
                  <a:lnTo>
                    <a:pt x="51943" y="296240"/>
                  </a:lnTo>
                  <a:lnTo>
                    <a:pt x="53238" y="299275"/>
                  </a:lnTo>
                  <a:lnTo>
                    <a:pt x="53238" y="291566"/>
                  </a:lnTo>
                  <a:lnTo>
                    <a:pt x="51562" y="290525"/>
                  </a:lnTo>
                  <a:lnTo>
                    <a:pt x="57886" y="290525"/>
                  </a:lnTo>
                  <a:lnTo>
                    <a:pt x="57886" y="283679"/>
                  </a:lnTo>
                  <a:lnTo>
                    <a:pt x="27800" y="283679"/>
                  </a:lnTo>
                  <a:lnTo>
                    <a:pt x="23075" y="285191"/>
                  </a:lnTo>
                  <a:lnTo>
                    <a:pt x="16840" y="291134"/>
                  </a:lnTo>
                  <a:lnTo>
                    <a:pt x="15240" y="295630"/>
                  </a:lnTo>
                  <a:lnTo>
                    <a:pt x="15341" y="304761"/>
                  </a:lnTo>
                  <a:lnTo>
                    <a:pt x="15544" y="306209"/>
                  </a:lnTo>
                  <a:lnTo>
                    <a:pt x="16459" y="310934"/>
                  </a:lnTo>
                  <a:lnTo>
                    <a:pt x="17221" y="313359"/>
                  </a:lnTo>
                  <a:lnTo>
                    <a:pt x="18135" y="315798"/>
                  </a:lnTo>
                  <a:lnTo>
                    <a:pt x="24447" y="315798"/>
                  </a:lnTo>
                  <a:lnTo>
                    <a:pt x="23380" y="313740"/>
                  </a:lnTo>
                  <a:lnTo>
                    <a:pt x="22542" y="311619"/>
                  </a:lnTo>
                  <a:lnTo>
                    <a:pt x="21323" y="307047"/>
                  </a:lnTo>
                  <a:lnTo>
                    <a:pt x="21018" y="304761"/>
                  </a:lnTo>
                  <a:lnTo>
                    <a:pt x="21018" y="298589"/>
                  </a:lnTo>
                  <a:lnTo>
                    <a:pt x="21932" y="295706"/>
                  </a:lnTo>
                  <a:lnTo>
                    <a:pt x="23609" y="293649"/>
                  </a:lnTo>
                  <a:lnTo>
                    <a:pt x="25361" y="291592"/>
                  </a:lnTo>
                  <a:lnTo>
                    <a:pt x="27800" y="290525"/>
                  </a:lnTo>
                  <a:lnTo>
                    <a:pt x="31610" y="290525"/>
                  </a:lnTo>
                  <a:lnTo>
                    <a:pt x="31686" y="306666"/>
                  </a:lnTo>
                  <a:lnTo>
                    <a:pt x="32829" y="311010"/>
                  </a:lnTo>
                  <a:lnTo>
                    <a:pt x="37630" y="317322"/>
                  </a:lnTo>
                  <a:lnTo>
                    <a:pt x="41122" y="318846"/>
                  </a:lnTo>
                  <a:lnTo>
                    <a:pt x="49809" y="318846"/>
                  </a:lnTo>
                  <a:lnTo>
                    <a:pt x="53009" y="317627"/>
                  </a:lnTo>
                  <a:lnTo>
                    <a:pt x="57734" y="312597"/>
                  </a:lnTo>
                  <a:lnTo>
                    <a:pt x="57937" y="312000"/>
                  </a:lnTo>
                  <a:lnTo>
                    <a:pt x="58877" y="309181"/>
                  </a:lnTo>
                  <a:lnTo>
                    <a:pt x="58877" y="301561"/>
                  </a:lnTo>
                  <a:close/>
                </a:path>
                <a:path w="163195" h="375285">
                  <a:moveTo>
                    <a:pt x="58877" y="210134"/>
                  </a:moveTo>
                  <a:lnTo>
                    <a:pt x="58267" y="207543"/>
                  </a:lnTo>
                  <a:lnTo>
                    <a:pt x="55981" y="203123"/>
                  </a:lnTo>
                  <a:lnTo>
                    <a:pt x="54152" y="201295"/>
                  </a:lnTo>
                  <a:lnTo>
                    <a:pt x="53238" y="200774"/>
                  </a:lnTo>
                  <a:lnTo>
                    <a:pt x="53238" y="207924"/>
                  </a:lnTo>
                  <a:lnTo>
                    <a:pt x="53238" y="215150"/>
                  </a:lnTo>
                  <a:lnTo>
                    <a:pt x="51866" y="218046"/>
                  </a:lnTo>
                  <a:lnTo>
                    <a:pt x="46075" y="222161"/>
                  </a:lnTo>
                  <a:lnTo>
                    <a:pt x="42113" y="223151"/>
                  </a:lnTo>
                  <a:lnTo>
                    <a:pt x="32067" y="223151"/>
                  </a:lnTo>
                  <a:lnTo>
                    <a:pt x="28181" y="222161"/>
                  </a:lnTo>
                  <a:lnTo>
                    <a:pt x="22390" y="218046"/>
                  </a:lnTo>
                  <a:lnTo>
                    <a:pt x="20942" y="215150"/>
                  </a:lnTo>
                  <a:lnTo>
                    <a:pt x="20942" y="207924"/>
                  </a:lnTo>
                  <a:lnTo>
                    <a:pt x="22390" y="205105"/>
                  </a:lnTo>
                  <a:lnTo>
                    <a:pt x="25285" y="202971"/>
                  </a:lnTo>
                  <a:lnTo>
                    <a:pt x="28181" y="200914"/>
                  </a:lnTo>
                  <a:lnTo>
                    <a:pt x="32067" y="199847"/>
                  </a:lnTo>
                  <a:lnTo>
                    <a:pt x="42113" y="199847"/>
                  </a:lnTo>
                  <a:lnTo>
                    <a:pt x="46075" y="200914"/>
                  </a:lnTo>
                  <a:lnTo>
                    <a:pt x="48971" y="202971"/>
                  </a:lnTo>
                  <a:lnTo>
                    <a:pt x="51866" y="205105"/>
                  </a:lnTo>
                  <a:lnTo>
                    <a:pt x="53238" y="207924"/>
                  </a:lnTo>
                  <a:lnTo>
                    <a:pt x="53238" y="200774"/>
                  </a:lnTo>
                  <a:lnTo>
                    <a:pt x="51638" y="199847"/>
                  </a:lnTo>
                  <a:lnTo>
                    <a:pt x="57886" y="199847"/>
                  </a:lnTo>
                  <a:lnTo>
                    <a:pt x="57886" y="193001"/>
                  </a:lnTo>
                  <a:lnTo>
                    <a:pt x="0" y="193001"/>
                  </a:lnTo>
                  <a:lnTo>
                    <a:pt x="0" y="199847"/>
                  </a:lnTo>
                  <a:lnTo>
                    <a:pt x="22542" y="199847"/>
                  </a:lnTo>
                  <a:lnTo>
                    <a:pt x="20104" y="201295"/>
                  </a:lnTo>
                  <a:lnTo>
                    <a:pt x="18288" y="203123"/>
                  </a:lnTo>
                  <a:lnTo>
                    <a:pt x="15849" y="207543"/>
                  </a:lnTo>
                  <a:lnTo>
                    <a:pt x="15240" y="210134"/>
                  </a:lnTo>
                  <a:lnTo>
                    <a:pt x="15240" y="218198"/>
                  </a:lnTo>
                  <a:lnTo>
                    <a:pt x="17297" y="222313"/>
                  </a:lnTo>
                  <a:lnTo>
                    <a:pt x="21247" y="225513"/>
                  </a:lnTo>
                  <a:lnTo>
                    <a:pt x="25285" y="228701"/>
                  </a:lnTo>
                  <a:lnTo>
                    <a:pt x="30543" y="230225"/>
                  </a:lnTo>
                  <a:lnTo>
                    <a:pt x="43637" y="230225"/>
                  </a:lnTo>
                  <a:lnTo>
                    <a:pt x="48971" y="228701"/>
                  </a:lnTo>
                  <a:lnTo>
                    <a:pt x="55854" y="223151"/>
                  </a:lnTo>
                  <a:lnTo>
                    <a:pt x="56896" y="222313"/>
                  </a:lnTo>
                  <a:lnTo>
                    <a:pt x="58877" y="218198"/>
                  </a:lnTo>
                  <a:lnTo>
                    <a:pt x="58877" y="210134"/>
                  </a:lnTo>
                  <a:close/>
                </a:path>
                <a:path w="163195" h="375285">
                  <a:moveTo>
                    <a:pt x="58877" y="164223"/>
                  </a:moveTo>
                  <a:lnTo>
                    <a:pt x="58267" y="161328"/>
                  </a:lnTo>
                  <a:lnTo>
                    <a:pt x="55981" y="156756"/>
                  </a:lnTo>
                  <a:lnTo>
                    <a:pt x="54152" y="154787"/>
                  </a:lnTo>
                  <a:lnTo>
                    <a:pt x="53238" y="154228"/>
                  </a:lnTo>
                  <a:lnTo>
                    <a:pt x="53238" y="161937"/>
                  </a:lnTo>
                  <a:lnTo>
                    <a:pt x="53111" y="168871"/>
                  </a:lnTo>
                  <a:lnTo>
                    <a:pt x="52552" y="170688"/>
                  </a:lnTo>
                  <a:lnTo>
                    <a:pt x="51104" y="172288"/>
                  </a:lnTo>
                  <a:lnTo>
                    <a:pt x="49733" y="173888"/>
                  </a:lnTo>
                  <a:lnTo>
                    <a:pt x="47752" y="174650"/>
                  </a:lnTo>
                  <a:lnTo>
                    <a:pt x="42265" y="174650"/>
                  </a:lnTo>
                  <a:lnTo>
                    <a:pt x="40132" y="173583"/>
                  </a:lnTo>
                  <a:lnTo>
                    <a:pt x="38849" y="171450"/>
                  </a:lnTo>
                  <a:lnTo>
                    <a:pt x="37630" y="169329"/>
                  </a:lnTo>
                  <a:lnTo>
                    <a:pt x="36944" y="165519"/>
                  </a:lnTo>
                  <a:lnTo>
                    <a:pt x="36944" y="153187"/>
                  </a:lnTo>
                  <a:lnTo>
                    <a:pt x="42951" y="153187"/>
                  </a:lnTo>
                  <a:lnTo>
                    <a:pt x="46532" y="154330"/>
                  </a:lnTo>
                  <a:lnTo>
                    <a:pt x="49199" y="156603"/>
                  </a:lnTo>
                  <a:lnTo>
                    <a:pt x="51943" y="158889"/>
                  </a:lnTo>
                  <a:lnTo>
                    <a:pt x="53238" y="161937"/>
                  </a:lnTo>
                  <a:lnTo>
                    <a:pt x="53238" y="154228"/>
                  </a:lnTo>
                  <a:lnTo>
                    <a:pt x="51562" y="153187"/>
                  </a:lnTo>
                  <a:lnTo>
                    <a:pt x="57886" y="153187"/>
                  </a:lnTo>
                  <a:lnTo>
                    <a:pt x="57886" y="146329"/>
                  </a:lnTo>
                  <a:lnTo>
                    <a:pt x="27800" y="146329"/>
                  </a:lnTo>
                  <a:lnTo>
                    <a:pt x="23075" y="147853"/>
                  </a:lnTo>
                  <a:lnTo>
                    <a:pt x="16840" y="153797"/>
                  </a:lnTo>
                  <a:lnTo>
                    <a:pt x="15240" y="158280"/>
                  </a:lnTo>
                  <a:lnTo>
                    <a:pt x="15341" y="167424"/>
                  </a:lnTo>
                  <a:lnTo>
                    <a:pt x="15544" y="168871"/>
                  </a:lnTo>
                  <a:lnTo>
                    <a:pt x="16459" y="173583"/>
                  </a:lnTo>
                  <a:lnTo>
                    <a:pt x="17221" y="176022"/>
                  </a:lnTo>
                  <a:lnTo>
                    <a:pt x="18135" y="178460"/>
                  </a:lnTo>
                  <a:lnTo>
                    <a:pt x="24447" y="178460"/>
                  </a:lnTo>
                  <a:lnTo>
                    <a:pt x="23380" y="176403"/>
                  </a:lnTo>
                  <a:lnTo>
                    <a:pt x="22542" y="174269"/>
                  </a:lnTo>
                  <a:lnTo>
                    <a:pt x="21323" y="169710"/>
                  </a:lnTo>
                  <a:lnTo>
                    <a:pt x="21018" y="167424"/>
                  </a:lnTo>
                  <a:lnTo>
                    <a:pt x="21018" y="161251"/>
                  </a:lnTo>
                  <a:lnTo>
                    <a:pt x="21932" y="158356"/>
                  </a:lnTo>
                  <a:lnTo>
                    <a:pt x="23609" y="156298"/>
                  </a:lnTo>
                  <a:lnTo>
                    <a:pt x="25361" y="154254"/>
                  </a:lnTo>
                  <a:lnTo>
                    <a:pt x="27800" y="153187"/>
                  </a:lnTo>
                  <a:lnTo>
                    <a:pt x="31610" y="153187"/>
                  </a:lnTo>
                  <a:lnTo>
                    <a:pt x="31686" y="169329"/>
                  </a:lnTo>
                  <a:lnTo>
                    <a:pt x="32829" y="173659"/>
                  </a:lnTo>
                  <a:lnTo>
                    <a:pt x="37630" y="179984"/>
                  </a:lnTo>
                  <a:lnTo>
                    <a:pt x="41122" y="181508"/>
                  </a:lnTo>
                  <a:lnTo>
                    <a:pt x="49809" y="181508"/>
                  </a:lnTo>
                  <a:lnTo>
                    <a:pt x="53009" y="180289"/>
                  </a:lnTo>
                  <a:lnTo>
                    <a:pt x="57734" y="175260"/>
                  </a:lnTo>
                  <a:lnTo>
                    <a:pt x="57937" y="174650"/>
                  </a:lnTo>
                  <a:lnTo>
                    <a:pt x="58877" y="171831"/>
                  </a:lnTo>
                  <a:lnTo>
                    <a:pt x="58877" y="164223"/>
                  </a:lnTo>
                  <a:close/>
                </a:path>
                <a:path w="163195" h="375285">
                  <a:moveTo>
                    <a:pt x="58877" y="59156"/>
                  </a:moveTo>
                  <a:lnTo>
                    <a:pt x="56972" y="54521"/>
                  </a:lnTo>
                  <a:lnTo>
                    <a:pt x="55499" y="53225"/>
                  </a:lnTo>
                  <a:lnTo>
                    <a:pt x="53162" y="51168"/>
                  </a:lnTo>
                  <a:lnTo>
                    <a:pt x="53162" y="61442"/>
                  </a:lnTo>
                  <a:lnTo>
                    <a:pt x="53162" y="68834"/>
                  </a:lnTo>
                  <a:lnTo>
                    <a:pt x="51790" y="71716"/>
                  </a:lnTo>
                  <a:lnTo>
                    <a:pt x="45999" y="75984"/>
                  </a:lnTo>
                  <a:lnTo>
                    <a:pt x="42113" y="76974"/>
                  </a:lnTo>
                  <a:lnTo>
                    <a:pt x="32143" y="76974"/>
                  </a:lnTo>
                  <a:lnTo>
                    <a:pt x="28257" y="75907"/>
                  </a:lnTo>
                  <a:lnTo>
                    <a:pt x="22466" y="71640"/>
                  </a:lnTo>
                  <a:lnTo>
                    <a:pt x="21056" y="68834"/>
                  </a:lnTo>
                  <a:lnTo>
                    <a:pt x="21018" y="61442"/>
                  </a:lnTo>
                  <a:lnTo>
                    <a:pt x="22466" y="58547"/>
                  </a:lnTo>
                  <a:lnTo>
                    <a:pt x="28257" y="54292"/>
                  </a:lnTo>
                  <a:lnTo>
                    <a:pt x="32219" y="53225"/>
                  </a:lnTo>
                  <a:lnTo>
                    <a:pt x="42113" y="53225"/>
                  </a:lnTo>
                  <a:lnTo>
                    <a:pt x="45999" y="54292"/>
                  </a:lnTo>
                  <a:lnTo>
                    <a:pt x="51790" y="58547"/>
                  </a:lnTo>
                  <a:lnTo>
                    <a:pt x="53162" y="61442"/>
                  </a:lnTo>
                  <a:lnTo>
                    <a:pt x="53162" y="51168"/>
                  </a:lnTo>
                  <a:lnTo>
                    <a:pt x="49276" y="47739"/>
                  </a:lnTo>
                  <a:lnTo>
                    <a:pt x="43942" y="45986"/>
                  </a:lnTo>
                  <a:lnTo>
                    <a:pt x="30238" y="45986"/>
                  </a:lnTo>
                  <a:lnTo>
                    <a:pt x="24904" y="47739"/>
                  </a:lnTo>
                  <a:lnTo>
                    <a:pt x="21018" y="51092"/>
                  </a:lnTo>
                  <a:lnTo>
                    <a:pt x="17221" y="54521"/>
                  </a:lnTo>
                  <a:lnTo>
                    <a:pt x="15240" y="59156"/>
                  </a:lnTo>
                  <a:lnTo>
                    <a:pt x="15240" y="71107"/>
                  </a:lnTo>
                  <a:lnTo>
                    <a:pt x="17221" y="75831"/>
                  </a:lnTo>
                  <a:lnTo>
                    <a:pt x="21018" y="79184"/>
                  </a:lnTo>
                  <a:lnTo>
                    <a:pt x="24904" y="82537"/>
                  </a:lnTo>
                  <a:lnTo>
                    <a:pt x="30238" y="84201"/>
                  </a:lnTo>
                  <a:lnTo>
                    <a:pt x="43942" y="84201"/>
                  </a:lnTo>
                  <a:lnTo>
                    <a:pt x="49276" y="82537"/>
                  </a:lnTo>
                  <a:lnTo>
                    <a:pt x="53086" y="79184"/>
                  </a:lnTo>
                  <a:lnTo>
                    <a:pt x="55638" y="76974"/>
                  </a:lnTo>
                  <a:lnTo>
                    <a:pt x="56972" y="75831"/>
                  </a:lnTo>
                  <a:lnTo>
                    <a:pt x="58877" y="71107"/>
                  </a:lnTo>
                  <a:lnTo>
                    <a:pt x="58877" y="59156"/>
                  </a:lnTo>
                  <a:close/>
                </a:path>
                <a:path w="163195" h="375285">
                  <a:moveTo>
                    <a:pt x="122809" y="214287"/>
                  </a:moveTo>
                  <a:lnTo>
                    <a:pt x="121958" y="211848"/>
                  </a:lnTo>
                  <a:lnTo>
                    <a:pt x="118783" y="207949"/>
                  </a:lnTo>
                  <a:lnTo>
                    <a:pt x="116535" y="206667"/>
                  </a:lnTo>
                  <a:lnTo>
                    <a:pt x="113677" y="206057"/>
                  </a:lnTo>
                  <a:lnTo>
                    <a:pt x="116230" y="205447"/>
                  </a:lnTo>
                  <a:lnTo>
                    <a:pt x="118237" y="204228"/>
                  </a:lnTo>
                  <a:lnTo>
                    <a:pt x="121043" y="200825"/>
                  </a:lnTo>
                  <a:lnTo>
                    <a:pt x="121780" y="198755"/>
                  </a:lnTo>
                  <a:lnTo>
                    <a:pt x="121780" y="192786"/>
                  </a:lnTo>
                  <a:lnTo>
                    <a:pt x="120434" y="189979"/>
                  </a:lnTo>
                  <a:lnTo>
                    <a:pt x="115074" y="185839"/>
                  </a:lnTo>
                  <a:lnTo>
                    <a:pt x="111480" y="184810"/>
                  </a:lnTo>
                  <a:lnTo>
                    <a:pt x="105143" y="184810"/>
                  </a:lnTo>
                  <a:lnTo>
                    <a:pt x="103251" y="184988"/>
                  </a:lnTo>
                  <a:lnTo>
                    <a:pt x="99288" y="185597"/>
                  </a:lnTo>
                  <a:lnTo>
                    <a:pt x="94907" y="186690"/>
                  </a:lnTo>
                  <a:lnTo>
                    <a:pt x="94907" y="192049"/>
                  </a:lnTo>
                  <a:lnTo>
                    <a:pt x="97167" y="191325"/>
                  </a:lnTo>
                  <a:lnTo>
                    <a:pt x="99237" y="190779"/>
                  </a:lnTo>
                  <a:lnTo>
                    <a:pt x="103009" y="190042"/>
                  </a:lnTo>
                  <a:lnTo>
                    <a:pt x="104775" y="189865"/>
                  </a:lnTo>
                  <a:lnTo>
                    <a:pt x="109410" y="189865"/>
                  </a:lnTo>
                  <a:lnTo>
                    <a:pt x="111721" y="190474"/>
                  </a:lnTo>
                  <a:lnTo>
                    <a:pt x="114947" y="192900"/>
                  </a:lnTo>
                  <a:lnTo>
                    <a:pt x="115798" y="194678"/>
                  </a:lnTo>
                  <a:lnTo>
                    <a:pt x="115798" y="199174"/>
                  </a:lnTo>
                  <a:lnTo>
                    <a:pt x="115011" y="200888"/>
                  </a:lnTo>
                  <a:lnTo>
                    <a:pt x="111848" y="203263"/>
                  </a:lnTo>
                  <a:lnTo>
                    <a:pt x="109588" y="203809"/>
                  </a:lnTo>
                  <a:lnTo>
                    <a:pt x="101244" y="203809"/>
                  </a:lnTo>
                  <a:lnTo>
                    <a:pt x="101244" y="208737"/>
                  </a:lnTo>
                  <a:lnTo>
                    <a:pt x="109715" y="208737"/>
                  </a:lnTo>
                  <a:lnTo>
                    <a:pt x="112268" y="209537"/>
                  </a:lnTo>
                  <a:lnTo>
                    <a:pt x="115925" y="212458"/>
                  </a:lnTo>
                  <a:lnTo>
                    <a:pt x="116840" y="214528"/>
                  </a:lnTo>
                  <a:lnTo>
                    <a:pt x="116840" y="219951"/>
                  </a:lnTo>
                  <a:lnTo>
                    <a:pt x="115798" y="222135"/>
                  </a:lnTo>
                  <a:lnTo>
                    <a:pt x="111899" y="225069"/>
                  </a:lnTo>
                  <a:lnTo>
                    <a:pt x="109042" y="225793"/>
                  </a:lnTo>
                  <a:lnTo>
                    <a:pt x="103073" y="225793"/>
                  </a:lnTo>
                  <a:lnTo>
                    <a:pt x="101003" y="225552"/>
                  </a:lnTo>
                  <a:lnTo>
                    <a:pt x="97040" y="224574"/>
                  </a:lnTo>
                  <a:lnTo>
                    <a:pt x="95211" y="223850"/>
                  </a:lnTo>
                  <a:lnTo>
                    <a:pt x="93573" y="222872"/>
                  </a:lnTo>
                  <a:lnTo>
                    <a:pt x="93573" y="228663"/>
                  </a:lnTo>
                  <a:lnTo>
                    <a:pt x="95643" y="229387"/>
                  </a:lnTo>
                  <a:lnTo>
                    <a:pt x="97713" y="229933"/>
                  </a:lnTo>
                  <a:lnTo>
                    <a:pt x="101612" y="230606"/>
                  </a:lnTo>
                  <a:lnTo>
                    <a:pt x="103555" y="230784"/>
                  </a:lnTo>
                  <a:lnTo>
                    <a:pt x="110985" y="230784"/>
                  </a:lnTo>
                  <a:lnTo>
                    <a:pt x="115252" y="229628"/>
                  </a:lnTo>
                  <a:lnTo>
                    <a:pt x="121285" y="224878"/>
                  </a:lnTo>
                  <a:lnTo>
                    <a:pt x="122809" y="221475"/>
                  </a:lnTo>
                  <a:lnTo>
                    <a:pt x="122809" y="214287"/>
                  </a:lnTo>
                  <a:close/>
                </a:path>
                <a:path w="163195" h="375285">
                  <a:moveTo>
                    <a:pt x="163017" y="214528"/>
                  </a:moveTo>
                  <a:lnTo>
                    <a:pt x="156679" y="214528"/>
                  </a:lnTo>
                  <a:lnTo>
                    <a:pt x="156679" y="190830"/>
                  </a:lnTo>
                  <a:lnTo>
                    <a:pt x="156679" y="185597"/>
                  </a:lnTo>
                  <a:lnTo>
                    <a:pt x="150710" y="185597"/>
                  </a:lnTo>
                  <a:lnTo>
                    <a:pt x="150710" y="190830"/>
                  </a:lnTo>
                  <a:lnTo>
                    <a:pt x="150710" y="214528"/>
                  </a:lnTo>
                  <a:lnTo>
                    <a:pt x="135547" y="214528"/>
                  </a:lnTo>
                  <a:lnTo>
                    <a:pt x="150710" y="190830"/>
                  </a:lnTo>
                  <a:lnTo>
                    <a:pt x="150710" y="185597"/>
                  </a:lnTo>
                  <a:lnTo>
                    <a:pt x="149123" y="185597"/>
                  </a:lnTo>
                  <a:lnTo>
                    <a:pt x="130670" y="213741"/>
                  </a:lnTo>
                  <a:lnTo>
                    <a:pt x="130670" y="219519"/>
                  </a:lnTo>
                  <a:lnTo>
                    <a:pt x="150710" y="219519"/>
                  </a:lnTo>
                  <a:lnTo>
                    <a:pt x="150710" y="229997"/>
                  </a:lnTo>
                  <a:lnTo>
                    <a:pt x="156679" y="229997"/>
                  </a:lnTo>
                  <a:lnTo>
                    <a:pt x="156679" y="219519"/>
                  </a:lnTo>
                  <a:lnTo>
                    <a:pt x="163017" y="219519"/>
                  </a:lnTo>
                  <a:lnTo>
                    <a:pt x="163017" y="21452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095091" y="2064720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95091" y="2064720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17603" y="2042667"/>
              <a:ext cx="159385" cy="124460"/>
            </a:xfrm>
            <a:custGeom>
              <a:avLst/>
              <a:gdLst/>
              <a:ahLst/>
              <a:cxnLst/>
              <a:rect l="l" t="t" r="r" b="b"/>
              <a:pathLst>
                <a:path w="159385" h="124460">
                  <a:moveTo>
                    <a:pt x="55524" y="88468"/>
                  </a:moveTo>
                  <a:lnTo>
                    <a:pt x="49199" y="88468"/>
                  </a:lnTo>
                  <a:lnTo>
                    <a:pt x="49199" y="116713"/>
                  </a:lnTo>
                  <a:lnTo>
                    <a:pt x="29095" y="116713"/>
                  </a:lnTo>
                  <a:lnTo>
                    <a:pt x="29095" y="90284"/>
                  </a:lnTo>
                  <a:lnTo>
                    <a:pt x="22771" y="90284"/>
                  </a:lnTo>
                  <a:lnTo>
                    <a:pt x="22771" y="116713"/>
                  </a:lnTo>
                  <a:lnTo>
                    <a:pt x="6324" y="116713"/>
                  </a:lnTo>
                  <a:lnTo>
                    <a:pt x="6324" y="89154"/>
                  </a:lnTo>
                  <a:lnTo>
                    <a:pt x="0" y="89154"/>
                  </a:lnTo>
                  <a:lnTo>
                    <a:pt x="0" y="124244"/>
                  </a:lnTo>
                  <a:lnTo>
                    <a:pt x="55524" y="124244"/>
                  </a:lnTo>
                  <a:lnTo>
                    <a:pt x="55524" y="88468"/>
                  </a:lnTo>
                  <a:close/>
                </a:path>
                <a:path w="159385" h="124460">
                  <a:moveTo>
                    <a:pt x="55524" y="25349"/>
                  </a:moveTo>
                  <a:lnTo>
                    <a:pt x="0" y="25349"/>
                  </a:lnTo>
                  <a:lnTo>
                    <a:pt x="0" y="36537"/>
                  </a:lnTo>
                  <a:lnTo>
                    <a:pt x="37769" y="50774"/>
                  </a:lnTo>
                  <a:lnTo>
                    <a:pt x="0" y="64935"/>
                  </a:lnTo>
                  <a:lnTo>
                    <a:pt x="0" y="76123"/>
                  </a:lnTo>
                  <a:lnTo>
                    <a:pt x="55524" y="76123"/>
                  </a:lnTo>
                  <a:lnTo>
                    <a:pt x="55524" y="68821"/>
                  </a:lnTo>
                  <a:lnTo>
                    <a:pt x="6781" y="68821"/>
                  </a:lnTo>
                  <a:lnTo>
                    <a:pt x="44856" y="54508"/>
                  </a:lnTo>
                  <a:lnTo>
                    <a:pt x="44856" y="46977"/>
                  </a:lnTo>
                  <a:lnTo>
                    <a:pt x="6781" y="32664"/>
                  </a:lnTo>
                  <a:lnTo>
                    <a:pt x="55524" y="32664"/>
                  </a:lnTo>
                  <a:lnTo>
                    <a:pt x="55524" y="25349"/>
                  </a:lnTo>
                  <a:close/>
                </a:path>
                <a:path w="159385" h="124460">
                  <a:moveTo>
                    <a:pt x="120446" y="29476"/>
                  </a:moveTo>
                  <a:lnTo>
                    <a:pt x="119595" y="27051"/>
                  </a:lnTo>
                  <a:lnTo>
                    <a:pt x="116420" y="23152"/>
                  </a:lnTo>
                  <a:lnTo>
                    <a:pt x="114173" y="21869"/>
                  </a:lnTo>
                  <a:lnTo>
                    <a:pt x="111315" y="21259"/>
                  </a:lnTo>
                  <a:lnTo>
                    <a:pt x="113868" y="20650"/>
                  </a:lnTo>
                  <a:lnTo>
                    <a:pt x="115874" y="19431"/>
                  </a:lnTo>
                  <a:lnTo>
                    <a:pt x="118681" y="16027"/>
                  </a:lnTo>
                  <a:lnTo>
                    <a:pt x="119418" y="13957"/>
                  </a:lnTo>
                  <a:lnTo>
                    <a:pt x="119418" y="7988"/>
                  </a:lnTo>
                  <a:lnTo>
                    <a:pt x="118071" y="5181"/>
                  </a:lnTo>
                  <a:lnTo>
                    <a:pt x="112712" y="1041"/>
                  </a:lnTo>
                  <a:lnTo>
                    <a:pt x="109118" y="0"/>
                  </a:lnTo>
                  <a:lnTo>
                    <a:pt x="102781" y="0"/>
                  </a:lnTo>
                  <a:lnTo>
                    <a:pt x="100888" y="190"/>
                  </a:lnTo>
                  <a:lnTo>
                    <a:pt x="96926" y="800"/>
                  </a:lnTo>
                  <a:lnTo>
                    <a:pt x="92544" y="1892"/>
                  </a:lnTo>
                  <a:lnTo>
                    <a:pt x="92544" y="7251"/>
                  </a:lnTo>
                  <a:lnTo>
                    <a:pt x="94805" y="6515"/>
                  </a:lnTo>
                  <a:lnTo>
                    <a:pt x="96875" y="5969"/>
                  </a:lnTo>
                  <a:lnTo>
                    <a:pt x="100647" y="5245"/>
                  </a:lnTo>
                  <a:lnTo>
                    <a:pt x="102412" y="5054"/>
                  </a:lnTo>
                  <a:lnTo>
                    <a:pt x="107048" y="5054"/>
                  </a:lnTo>
                  <a:lnTo>
                    <a:pt x="109359" y="5664"/>
                  </a:lnTo>
                  <a:lnTo>
                    <a:pt x="112585" y="8102"/>
                  </a:lnTo>
                  <a:lnTo>
                    <a:pt x="113436" y="9867"/>
                  </a:lnTo>
                  <a:lnTo>
                    <a:pt x="113436" y="14376"/>
                  </a:lnTo>
                  <a:lnTo>
                    <a:pt x="112649" y="16078"/>
                  </a:lnTo>
                  <a:lnTo>
                    <a:pt x="109486" y="18453"/>
                  </a:lnTo>
                  <a:lnTo>
                    <a:pt x="107226" y="19011"/>
                  </a:lnTo>
                  <a:lnTo>
                    <a:pt x="98882" y="19011"/>
                  </a:lnTo>
                  <a:lnTo>
                    <a:pt x="98882" y="23939"/>
                  </a:lnTo>
                  <a:lnTo>
                    <a:pt x="107353" y="23939"/>
                  </a:lnTo>
                  <a:lnTo>
                    <a:pt x="109905" y="24726"/>
                  </a:lnTo>
                  <a:lnTo>
                    <a:pt x="113563" y="27660"/>
                  </a:lnTo>
                  <a:lnTo>
                    <a:pt x="114477" y="29730"/>
                  </a:lnTo>
                  <a:lnTo>
                    <a:pt x="114477" y="35140"/>
                  </a:lnTo>
                  <a:lnTo>
                    <a:pt x="113436" y="37338"/>
                  </a:lnTo>
                  <a:lnTo>
                    <a:pt x="109537" y="40259"/>
                  </a:lnTo>
                  <a:lnTo>
                    <a:pt x="106680" y="40995"/>
                  </a:lnTo>
                  <a:lnTo>
                    <a:pt x="100711" y="40995"/>
                  </a:lnTo>
                  <a:lnTo>
                    <a:pt x="98640" y="40754"/>
                  </a:lnTo>
                  <a:lnTo>
                    <a:pt x="94678" y="39776"/>
                  </a:lnTo>
                  <a:lnTo>
                    <a:pt x="92849" y="39039"/>
                  </a:lnTo>
                  <a:lnTo>
                    <a:pt x="91211" y="38074"/>
                  </a:lnTo>
                  <a:lnTo>
                    <a:pt x="91211" y="43853"/>
                  </a:lnTo>
                  <a:lnTo>
                    <a:pt x="93281" y="44589"/>
                  </a:lnTo>
                  <a:lnTo>
                    <a:pt x="95351" y="45135"/>
                  </a:lnTo>
                  <a:lnTo>
                    <a:pt x="99250" y="45808"/>
                  </a:lnTo>
                  <a:lnTo>
                    <a:pt x="101193" y="45986"/>
                  </a:lnTo>
                  <a:lnTo>
                    <a:pt x="108623" y="45986"/>
                  </a:lnTo>
                  <a:lnTo>
                    <a:pt x="112890" y="44831"/>
                  </a:lnTo>
                  <a:lnTo>
                    <a:pt x="118922" y="40081"/>
                  </a:lnTo>
                  <a:lnTo>
                    <a:pt x="120446" y="36664"/>
                  </a:lnTo>
                  <a:lnTo>
                    <a:pt x="120446" y="29476"/>
                  </a:lnTo>
                  <a:close/>
                </a:path>
                <a:path w="159385" h="124460">
                  <a:moveTo>
                    <a:pt x="158762" y="26314"/>
                  </a:moveTo>
                  <a:lnTo>
                    <a:pt x="157302" y="22656"/>
                  </a:lnTo>
                  <a:lnTo>
                    <a:pt x="151460" y="17246"/>
                  </a:lnTo>
                  <a:lnTo>
                    <a:pt x="147561" y="15836"/>
                  </a:lnTo>
                  <a:lnTo>
                    <a:pt x="141770" y="15836"/>
                  </a:lnTo>
                  <a:lnTo>
                    <a:pt x="139153" y="16205"/>
                  </a:lnTo>
                  <a:lnTo>
                    <a:pt x="137388" y="16751"/>
                  </a:lnTo>
                  <a:lnTo>
                    <a:pt x="137388" y="5854"/>
                  </a:lnTo>
                  <a:lnTo>
                    <a:pt x="155473" y="5854"/>
                  </a:lnTo>
                  <a:lnTo>
                    <a:pt x="155473" y="800"/>
                  </a:lnTo>
                  <a:lnTo>
                    <a:pt x="131902" y="800"/>
                  </a:lnTo>
                  <a:lnTo>
                    <a:pt x="131902" y="23088"/>
                  </a:lnTo>
                  <a:lnTo>
                    <a:pt x="133540" y="22352"/>
                  </a:lnTo>
                  <a:lnTo>
                    <a:pt x="135191" y="21805"/>
                  </a:lnTo>
                  <a:lnTo>
                    <a:pt x="138353" y="21082"/>
                  </a:lnTo>
                  <a:lnTo>
                    <a:pt x="140004" y="20891"/>
                  </a:lnTo>
                  <a:lnTo>
                    <a:pt x="144995" y="20891"/>
                  </a:lnTo>
                  <a:lnTo>
                    <a:pt x="147739" y="21805"/>
                  </a:lnTo>
                  <a:lnTo>
                    <a:pt x="151701" y="25463"/>
                  </a:lnTo>
                  <a:lnTo>
                    <a:pt x="152730" y="27901"/>
                  </a:lnTo>
                  <a:lnTo>
                    <a:pt x="152730" y="34048"/>
                  </a:lnTo>
                  <a:lnTo>
                    <a:pt x="151701" y="36487"/>
                  </a:lnTo>
                  <a:lnTo>
                    <a:pt x="147739" y="40144"/>
                  </a:lnTo>
                  <a:lnTo>
                    <a:pt x="144995" y="40995"/>
                  </a:lnTo>
                  <a:lnTo>
                    <a:pt x="139458" y="40995"/>
                  </a:lnTo>
                  <a:lnTo>
                    <a:pt x="137439" y="40805"/>
                  </a:lnTo>
                  <a:lnTo>
                    <a:pt x="133604" y="39839"/>
                  </a:lnTo>
                  <a:lnTo>
                    <a:pt x="131775" y="39103"/>
                  </a:lnTo>
                  <a:lnTo>
                    <a:pt x="130009" y="38125"/>
                  </a:lnTo>
                  <a:lnTo>
                    <a:pt x="130009" y="44157"/>
                  </a:lnTo>
                  <a:lnTo>
                    <a:pt x="132080" y="44831"/>
                  </a:lnTo>
                  <a:lnTo>
                    <a:pt x="134035" y="45262"/>
                  </a:lnTo>
                  <a:lnTo>
                    <a:pt x="135978" y="45567"/>
                  </a:lnTo>
                  <a:lnTo>
                    <a:pt x="139827" y="45986"/>
                  </a:lnTo>
                  <a:lnTo>
                    <a:pt x="147066" y="45986"/>
                  </a:lnTo>
                  <a:lnTo>
                    <a:pt x="151269" y="44704"/>
                  </a:lnTo>
                  <a:lnTo>
                    <a:pt x="157238" y="39471"/>
                  </a:lnTo>
                  <a:lnTo>
                    <a:pt x="158762" y="35750"/>
                  </a:lnTo>
                  <a:lnTo>
                    <a:pt x="158762" y="2631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8011752" y="2260643"/>
            <a:ext cx="140547" cy="61807"/>
            <a:chOff x="6008814" y="1695482"/>
            <a:chExt cx="105410" cy="46355"/>
          </a:xfrm>
        </p:grpSpPr>
        <p:sp>
          <p:nvSpPr>
            <p:cNvPr id="78" name="object 78"/>
            <p:cNvSpPr/>
            <p:nvPr/>
          </p:nvSpPr>
          <p:spPr>
            <a:xfrm>
              <a:off x="6095091" y="1717536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095091" y="1717536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8814" y="1695487"/>
              <a:ext cx="69215" cy="46355"/>
            </a:xfrm>
            <a:custGeom>
              <a:avLst/>
              <a:gdLst/>
              <a:ahLst/>
              <a:cxnLst/>
              <a:rect l="l" t="t" r="r" b="b"/>
              <a:pathLst>
                <a:path w="69214" h="46355">
                  <a:moveTo>
                    <a:pt x="29235" y="29476"/>
                  </a:moveTo>
                  <a:lnTo>
                    <a:pt x="28384" y="27038"/>
                  </a:lnTo>
                  <a:lnTo>
                    <a:pt x="25209" y="23139"/>
                  </a:lnTo>
                  <a:lnTo>
                    <a:pt x="22961" y="21869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14"/>
                  </a:lnTo>
                  <a:lnTo>
                    <a:pt x="28206" y="13944"/>
                  </a:lnTo>
                  <a:lnTo>
                    <a:pt x="28206" y="7975"/>
                  </a:lnTo>
                  <a:lnTo>
                    <a:pt x="26860" y="5181"/>
                  </a:lnTo>
                  <a:lnTo>
                    <a:pt x="21501" y="1041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77"/>
                  </a:lnTo>
                  <a:lnTo>
                    <a:pt x="5715" y="787"/>
                  </a:lnTo>
                  <a:lnTo>
                    <a:pt x="1333" y="1892"/>
                  </a:lnTo>
                  <a:lnTo>
                    <a:pt x="1333" y="7251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32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8999"/>
                  </a:lnTo>
                  <a:lnTo>
                    <a:pt x="7670" y="18999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47"/>
                  </a:lnTo>
                  <a:lnTo>
                    <a:pt x="23266" y="29718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95"/>
                  </a:lnTo>
                  <a:lnTo>
                    <a:pt x="9499" y="40995"/>
                  </a:lnTo>
                  <a:lnTo>
                    <a:pt x="7429" y="40741"/>
                  </a:lnTo>
                  <a:lnTo>
                    <a:pt x="3467" y="39776"/>
                  </a:lnTo>
                  <a:lnTo>
                    <a:pt x="1638" y="39039"/>
                  </a:lnTo>
                  <a:lnTo>
                    <a:pt x="0" y="38061"/>
                  </a:lnTo>
                  <a:lnTo>
                    <a:pt x="0" y="43853"/>
                  </a:lnTo>
                  <a:lnTo>
                    <a:pt x="2070" y="44577"/>
                  </a:lnTo>
                  <a:lnTo>
                    <a:pt x="4140" y="45135"/>
                  </a:lnTo>
                  <a:lnTo>
                    <a:pt x="8039" y="45796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31"/>
                  </a:lnTo>
                  <a:lnTo>
                    <a:pt x="27711" y="40081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9214" h="46355">
                  <a:moveTo>
                    <a:pt x="69024" y="26314"/>
                  </a:moveTo>
                  <a:lnTo>
                    <a:pt x="67678" y="22593"/>
                  </a:lnTo>
                  <a:lnTo>
                    <a:pt x="65760" y="20586"/>
                  </a:lnTo>
                  <a:lnTo>
                    <a:pt x="62992" y="17691"/>
                  </a:lnTo>
                  <a:lnTo>
                    <a:pt x="62992" y="27774"/>
                  </a:lnTo>
                  <a:lnTo>
                    <a:pt x="62992" y="34163"/>
                  </a:lnTo>
                  <a:lnTo>
                    <a:pt x="62191" y="36728"/>
                  </a:lnTo>
                  <a:lnTo>
                    <a:pt x="59029" y="40386"/>
                  </a:lnTo>
                  <a:lnTo>
                    <a:pt x="56896" y="41300"/>
                  </a:lnTo>
                  <a:lnTo>
                    <a:pt x="51536" y="41300"/>
                  </a:lnTo>
                  <a:lnTo>
                    <a:pt x="49403" y="40386"/>
                  </a:lnTo>
                  <a:lnTo>
                    <a:pt x="46228" y="36728"/>
                  </a:lnTo>
                  <a:lnTo>
                    <a:pt x="45440" y="34163"/>
                  </a:lnTo>
                  <a:lnTo>
                    <a:pt x="45440" y="27774"/>
                  </a:lnTo>
                  <a:lnTo>
                    <a:pt x="46228" y="25209"/>
                  </a:lnTo>
                  <a:lnTo>
                    <a:pt x="49403" y="21564"/>
                  </a:lnTo>
                  <a:lnTo>
                    <a:pt x="50203" y="21196"/>
                  </a:lnTo>
                  <a:lnTo>
                    <a:pt x="51536" y="20586"/>
                  </a:lnTo>
                  <a:lnTo>
                    <a:pt x="56896" y="20586"/>
                  </a:lnTo>
                  <a:lnTo>
                    <a:pt x="59029" y="21564"/>
                  </a:lnTo>
                  <a:lnTo>
                    <a:pt x="62191" y="25209"/>
                  </a:lnTo>
                  <a:lnTo>
                    <a:pt x="62992" y="27774"/>
                  </a:lnTo>
                  <a:lnTo>
                    <a:pt x="62992" y="17691"/>
                  </a:lnTo>
                  <a:lnTo>
                    <a:pt x="62560" y="17233"/>
                  </a:lnTo>
                  <a:lnTo>
                    <a:pt x="59029" y="15836"/>
                  </a:lnTo>
                  <a:lnTo>
                    <a:pt x="52451" y="15836"/>
                  </a:lnTo>
                  <a:lnTo>
                    <a:pt x="50495" y="16319"/>
                  </a:lnTo>
                  <a:lnTo>
                    <a:pt x="46964" y="18148"/>
                  </a:lnTo>
                  <a:lnTo>
                    <a:pt x="45504" y="19494"/>
                  </a:lnTo>
                  <a:lnTo>
                    <a:pt x="44348" y="21196"/>
                  </a:lnTo>
                  <a:lnTo>
                    <a:pt x="44589" y="15836"/>
                  </a:lnTo>
                  <a:lnTo>
                    <a:pt x="45808" y="11760"/>
                  </a:lnTo>
                  <a:lnTo>
                    <a:pt x="49949" y="6400"/>
                  </a:lnTo>
                  <a:lnTo>
                    <a:pt x="52997" y="5054"/>
                  </a:lnTo>
                  <a:lnTo>
                    <a:pt x="58483" y="5054"/>
                  </a:lnTo>
                  <a:lnTo>
                    <a:pt x="60007" y="5232"/>
                  </a:lnTo>
                  <a:lnTo>
                    <a:pt x="63106" y="5969"/>
                  </a:lnTo>
                  <a:lnTo>
                    <a:pt x="64630" y="6515"/>
                  </a:lnTo>
                  <a:lnTo>
                    <a:pt x="66154" y="7251"/>
                  </a:lnTo>
                  <a:lnTo>
                    <a:pt x="66154" y="5054"/>
                  </a:lnTo>
                  <a:lnTo>
                    <a:pt x="66154" y="1765"/>
                  </a:lnTo>
                  <a:lnTo>
                    <a:pt x="64452" y="1155"/>
                  </a:lnTo>
                  <a:lnTo>
                    <a:pt x="62865" y="736"/>
                  </a:lnTo>
                  <a:lnTo>
                    <a:pt x="61341" y="431"/>
                  </a:lnTo>
                  <a:lnTo>
                    <a:pt x="59753" y="177"/>
                  </a:lnTo>
                  <a:lnTo>
                    <a:pt x="58229" y="0"/>
                  </a:lnTo>
                  <a:lnTo>
                    <a:pt x="51168" y="0"/>
                  </a:lnTo>
                  <a:lnTo>
                    <a:pt x="46659" y="2133"/>
                  </a:lnTo>
                  <a:lnTo>
                    <a:pt x="43167" y="6515"/>
                  </a:lnTo>
                  <a:lnTo>
                    <a:pt x="40017" y="10414"/>
                  </a:lnTo>
                  <a:lnTo>
                    <a:pt x="38430" y="15836"/>
                  </a:lnTo>
                  <a:lnTo>
                    <a:pt x="38379" y="30518"/>
                  </a:lnTo>
                  <a:lnTo>
                    <a:pt x="39712" y="36233"/>
                  </a:lnTo>
                  <a:lnTo>
                    <a:pt x="42456" y="40132"/>
                  </a:lnTo>
                  <a:lnTo>
                    <a:pt x="45135" y="44030"/>
                  </a:lnTo>
                  <a:lnTo>
                    <a:pt x="49098" y="45986"/>
                  </a:lnTo>
                  <a:lnTo>
                    <a:pt x="58661" y="45986"/>
                  </a:lnTo>
                  <a:lnTo>
                    <a:pt x="62255" y="44640"/>
                  </a:lnTo>
                  <a:lnTo>
                    <a:pt x="65532" y="41300"/>
                  </a:lnTo>
                  <a:lnTo>
                    <a:pt x="67614" y="39166"/>
                  </a:lnTo>
                  <a:lnTo>
                    <a:pt x="69024" y="35509"/>
                  </a:lnTo>
                  <a:lnTo>
                    <a:pt x="69024" y="2631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8152172" y="4122623"/>
            <a:ext cx="2832947" cy="1971040"/>
            <a:chOff x="6114129" y="3091967"/>
            <a:chExt cx="2124710" cy="1478280"/>
          </a:xfrm>
        </p:grpSpPr>
        <p:sp>
          <p:nvSpPr>
            <p:cNvPr id="82" name="object 82"/>
            <p:cNvSpPr/>
            <p:nvPr/>
          </p:nvSpPr>
          <p:spPr>
            <a:xfrm>
              <a:off x="6210703" y="3172666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210703" y="438988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210703" y="438988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h="19050">
                  <a:moveTo>
                    <a:pt x="0" y="0"/>
                  </a:moveTo>
                  <a:lnTo>
                    <a:pt x="0" y="19033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95329" y="4423324"/>
              <a:ext cx="31115" cy="46355"/>
            </a:xfrm>
            <a:custGeom>
              <a:avLst/>
              <a:gdLst/>
              <a:ahLst/>
              <a:cxnLst/>
              <a:rect l="l" t="t" r="r" b="b"/>
              <a:pathLst>
                <a:path w="31114" h="46354">
                  <a:moveTo>
                    <a:pt x="20286" y="0"/>
                  </a:moveTo>
                  <a:lnTo>
                    <a:pt x="10356" y="0"/>
                  </a:lnTo>
                  <a:lnTo>
                    <a:pt x="6518" y="2010"/>
                  </a:lnTo>
                  <a:lnTo>
                    <a:pt x="3898" y="5908"/>
                  </a:lnTo>
                  <a:lnTo>
                    <a:pt x="1280" y="9866"/>
                  </a:lnTo>
                  <a:lnTo>
                    <a:pt x="0" y="15591"/>
                  </a:lnTo>
                  <a:lnTo>
                    <a:pt x="0" y="30514"/>
                  </a:lnTo>
                  <a:lnTo>
                    <a:pt x="1280" y="36238"/>
                  </a:lnTo>
                  <a:lnTo>
                    <a:pt x="6518" y="44034"/>
                  </a:lnTo>
                  <a:lnTo>
                    <a:pt x="10356" y="45983"/>
                  </a:lnTo>
                  <a:lnTo>
                    <a:pt x="20286" y="45983"/>
                  </a:lnTo>
                  <a:lnTo>
                    <a:pt x="24063" y="44034"/>
                  </a:lnTo>
                  <a:lnTo>
                    <a:pt x="25949" y="41294"/>
                  </a:lnTo>
                  <a:lnTo>
                    <a:pt x="12245" y="41294"/>
                  </a:lnTo>
                  <a:lnTo>
                    <a:pt x="9930" y="39771"/>
                  </a:lnTo>
                  <a:lnTo>
                    <a:pt x="6762" y="33680"/>
                  </a:lnTo>
                  <a:lnTo>
                    <a:pt x="6031" y="29113"/>
                  </a:lnTo>
                  <a:lnTo>
                    <a:pt x="6031" y="16931"/>
                  </a:lnTo>
                  <a:lnTo>
                    <a:pt x="6762" y="12364"/>
                  </a:lnTo>
                  <a:lnTo>
                    <a:pt x="9930" y="6273"/>
                  </a:lnTo>
                  <a:lnTo>
                    <a:pt x="12245" y="4751"/>
                  </a:lnTo>
                  <a:lnTo>
                    <a:pt x="25949" y="4751"/>
                  </a:lnTo>
                  <a:lnTo>
                    <a:pt x="24063" y="2010"/>
                  </a:lnTo>
                  <a:lnTo>
                    <a:pt x="20286" y="0"/>
                  </a:lnTo>
                  <a:close/>
                </a:path>
                <a:path w="31114" h="46354">
                  <a:moveTo>
                    <a:pt x="25949" y="4751"/>
                  </a:moveTo>
                  <a:lnTo>
                    <a:pt x="18459" y="4751"/>
                  </a:lnTo>
                  <a:lnTo>
                    <a:pt x="20774" y="6273"/>
                  </a:lnTo>
                  <a:lnTo>
                    <a:pt x="22358" y="9318"/>
                  </a:lnTo>
                  <a:lnTo>
                    <a:pt x="23881" y="12364"/>
                  </a:lnTo>
                  <a:lnTo>
                    <a:pt x="24673" y="16931"/>
                  </a:lnTo>
                  <a:lnTo>
                    <a:pt x="24673" y="29113"/>
                  </a:lnTo>
                  <a:lnTo>
                    <a:pt x="23881" y="33680"/>
                  </a:lnTo>
                  <a:lnTo>
                    <a:pt x="22358" y="36726"/>
                  </a:lnTo>
                  <a:lnTo>
                    <a:pt x="20774" y="39771"/>
                  </a:lnTo>
                  <a:lnTo>
                    <a:pt x="18459" y="41294"/>
                  </a:lnTo>
                  <a:lnTo>
                    <a:pt x="25949" y="41294"/>
                  </a:lnTo>
                  <a:lnTo>
                    <a:pt x="29364" y="36238"/>
                  </a:lnTo>
                  <a:lnTo>
                    <a:pt x="30704" y="30514"/>
                  </a:lnTo>
                  <a:lnTo>
                    <a:pt x="30704" y="15591"/>
                  </a:lnTo>
                  <a:lnTo>
                    <a:pt x="29364" y="9866"/>
                  </a:lnTo>
                  <a:lnTo>
                    <a:pt x="26744" y="5908"/>
                  </a:lnTo>
                  <a:lnTo>
                    <a:pt x="25949" y="475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142202" y="3172666"/>
              <a:ext cx="0" cy="1217295"/>
            </a:xfrm>
            <a:custGeom>
              <a:avLst/>
              <a:gdLst/>
              <a:ahLst/>
              <a:cxnLst/>
              <a:rect l="l" t="t" r="r" b="b"/>
              <a:pathLst>
                <a:path h="1217295">
                  <a:moveTo>
                    <a:pt x="0" y="1217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0717" y="4389886"/>
              <a:ext cx="105516" cy="7942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3175" y="3172666"/>
              <a:ext cx="1580691" cy="139737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210703" y="3227995"/>
              <a:ext cx="1931670" cy="897255"/>
            </a:xfrm>
            <a:custGeom>
              <a:avLst/>
              <a:gdLst/>
              <a:ahLst/>
              <a:cxnLst/>
              <a:rect l="l" t="t" r="r" b="b"/>
              <a:pathLst>
                <a:path w="1931670" h="897254">
                  <a:moveTo>
                    <a:pt x="0" y="896697"/>
                  </a:moveTo>
                  <a:lnTo>
                    <a:pt x="212464" y="572359"/>
                  </a:lnTo>
                  <a:lnTo>
                    <a:pt x="386299" y="381572"/>
                  </a:lnTo>
                  <a:lnTo>
                    <a:pt x="579449" y="496044"/>
                  </a:lnTo>
                  <a:lnTo>
                    <a:pt x="772599" y="343415"/>
                  </a:lnTo>
                  <a:lnTo>
                    <a:pt x="965749" y="305258"/>
                  </a:lnTo>
                  <a:lnTo>
                    <a:pt x="1158898" y="381572"/>
                  </a:lnTo>
                  <a:lnTo>
                    <a:pt x="1352048" y="228943"/>
                  </a:lnTo>
                  <a:lnTo>
                    <a:pt x="1545198" y="0"/>
                  </a:lnTo>
                  <a:lnTo>
                    <a:pt x="1738348" y="76314"/>
                  </a:lnTo>
                  <a:lnTo>
                    <a:pt x="1931498" y="228943"/>
                  </a:lnTo>
                </a:path>
              </a:pathLst>
            </a:custGeom>
            <a:ln w="11420">
              <a:solidFill>
                <a:srgbClr val="1A63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210703" y="3952984"/>
              <a:ext cx="1931670" cy="381635"/>
            </a:xfrm>
            <a:custGeom>
              <a:avLst/>
              <a:gdLst/>
              <a:ahLst/>
              <a:cxnLst/>
              <a:rect l="l" t="t" r="r" b="b"/>
              <a:pathLst>
                <a:path w="1931670" h="381635">
                  <a:moveTo>
                    <a:pt x="0" y="171708"/>
                  </a:moveTo>
                  <a:lnTo>
                    <a:pt x="212464" y="152629"/>
                  </a:lnTo>
                  <a:lnTo>
                    <a:pt x="386299" y="190786"/>
                  </a:lnTo>
                  <a:lnTo>
                    <a:pt x="579449" y="38157"/>
                  </a:lnTo>
                  <a:lnTo>
                    <a:pt x="772599" y="0"/>
                  </a:lnTo>
                  <a:lnTo>
                    <a:pt x="965749" y="76314"/>
                  </a:lnTo>
                  <a:lnTo>
                    <a:pt x="1158898" y="381573"/>
                  </a:lnTo>
                  <a:lnTo>
                    <a:pt x="1352048" y="76314"/>
                  </a:lnTo>
                  <a:lnTo>
                    <a:pt x="1545198" y="76314"/>
                  </a:lnTo>
                  <a:lnTo>
                    <a:pt x="1738348" y="76314"/>
                  </a:lnTo>
                  <a:lnTo>
                    <a:pt x="1931498" y="0"/>
                  </a:lnTo>
                </a:path>
              </a:pathLst>
            </a:custGeom>
            <a:ln w="11419">
              <a:solidFill>
                <a:srgbClr val="E66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210703" y="4124692"/>
              <a:ext cx="1931670" cy="0"/>
            </a:xfrm>
            <a:custGeom>
              <a:avLst/>
              <a:gdLst/>
              <a:ahLst/>
              <a:cxnLst/>
              <a:rect l="l" t="t" r="r" b="b"/>
              <a:pathLst>
                <a:path w="1931670">
                  <a:moveTo>
                    <a:pt x="0" y="0"/>
                  </a:moveTo>
                  <a:lnTo>
                    <a:pt x="1931498" y="0"/>
                  </a:lnTo>
                </a:path>
              </a:pathLst>
            </a:custGeom>
            <a:ln w="11419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114129" y="4389886"/>
              <a:ext cx="2124710" cy="0"/>
            </a:xfrm>
            <a:custGeom>
              <a:avLst/>
              <a:gdLst/>
              <a:ahLst/>
              <a:cxnLst/>
              <a:rect l="l" t="t" r="r" b="b"/>
              <a:pathLst>
                <a:path w="2124709">
                  <a:moveTo>
                    <a:pt x="0" y="0"/>
                  </a:moveTo>
                  <a:lnTo>
                    <a:pt x="2124647" y="0"/>
                  </a:lnTo>
                </a:path>
              </a:pathLst>
            </a:custGeom>
            <a:ln w="4758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91431" y="3091967"/>
              <a:ext cx="568780" cy="67604"/>
            </a:xfrm>
            <a:prstGeom prst="rect">
              <a:avLst/>
            </a:prstGeom>
          </p:spPr>
        </p:pic>
      </p:grpSp>
      <p:grpSp>
        <p:nvGrpSpPr>
          <p:cNvPr id="94" name="object 94"/>
          <p:cNvGrpSpPr/>
          <p:nvPr/>
        </p:nvGrpSpPr>
        <p:grpSpPr>
          <a:xfrm>
            <a:off x="8011752" y="5701162"/>
            <a:ext cx="140547" cy="61807"/>
            <a:chOff x="6008814" y="4275871"/>
            <a:chExt cx="105410" cy="46355"/>
          </a:xfrm>
        </p:grpSpPr>
        <p:sp>
          <p:nvSpPr>
            <p:cNvPr id="95" name="object 95"/>
            <p:cNvSpPr/>
            <p:nvPr/>
          </p:nvSpPr>
          <p:spPr>
            <a:xfrm>
              <a:off x="6095091" y="4297926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95091" y="4297926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008814" y="4275873"/>
              <a:ext cx="67310" cy="46355"/>
            </a:xfrm>
            <a:custGeom>
              <a:avLst/>
              <a:gdLst/>
              <a:ahLst/>
              <a:cxnLst/>
              <a:rect l="l" t="t" r="r" b="b"/>
              <a:pathLst>
                <a:path w="67310" h="46354">
                  <a:moveTo>
                    <a:pt x="29235" y="29476"/>
                  </a:moveTo>
                  <a:lnTo>
                    <a:pt x="28384" y="27051"/>
                  </a:lnTo>
                  <a:lnTo>
                    <a:pt x="25209" y="23152"/>
                  </a:lnTo>
                  <a:lnTo>
                    <a:pt x="22961" y="21869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27"/>
                  </a:lnTo>
                  <a:lnTo>
                    <a:pt x="28206" y="13957"/>
                  </a:lnTo>
                  <a:lnTo>
                    <a:pt x="28206" y="7988"/>
                  </a:lnTo>
                  <a:lnTo>
                    <a:pt x="26860" y="5181"/>
                  </a:lnTo>
                  <a:lnTo>
                    <a:pt x="21501" y="1041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90"/>
                  </a:lnTo>
                  <a:lnTo>
                    <a:pt x="5715" y="800"/>
                  </a:lnTo>
                  <a:lnTo>
                    <a:pt x="1333" y="1892"/>
                  </a:lnTo>
                  <a:lnTo>
                    <a:pt x="1333" y="7251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45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9011"/>
                  </a:lnTo>
                  <a:lnTo>
                    <a:pt x="7670" y="19011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60"/>
                  </a:lnTo>
                  <a:lnTo>
                    <a:pt x="23266" y="29730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95"/>
                  </a:lnTo>
                  <a:lnTo>
                    <a:pt x="9499" y="40995"/>
                  </a:lnTo>
                  <a:lnTo>
                    <a:pt x="7429" y="40754"/>
                  </a:lnTo>
                  <a:lnTo>
                    <a:pt x="3467" y="39776"/>
                  </a:lnTo>
                  <a:lnTo>
                    <a:pt x="1638" y="39039"/>
                  </a:lnTo>
                  <a:lnTo>
                    <a:pt x="0" y="38074"/>
                  </a:lnTo>
                  <a:lnTo>
                    <a:pt x="0" y="43853"/>
                  </a:lnTo>
                  <a:lnTo>
                    <a:pt x="2070" y="44589"/>
                  </a:lnTo>
                  <a:lnTo>
                    <a:pt x="4140" y="45135"/>
                  </a:lnTo>
                  <a:lnTo>
                    <a:pt x="8039" y="45808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31"/>
                  </a:lnTo>
                  <a:lnTo>
                    <a:pt x="27711" y="40081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7310" h="46354">
                  <a:moveTo>
                    <a:pt x="66763" y="40144"/>
                  </a:moveTo>
                  <a:lnTo>
                    <a:pt x="45808" y="40144"/>
                  </a:lnTo>
                  <a:lnTo>
                    <a:pt x="61277" y="24244"/>
                  </a:lnTo>
                  <a:lnTo>
                    <a:pt x="63601" y="21437"/>
                  </a:lnTo>
                  <a:lnTo>
                    <a:pt x="64820" y="19494"/>
                  </a:lnTo>
                  <a:lnTo>
                    <a:pt x="66154" y="16268"/>
                  </a:lnTo>
                  <a:lnTo>
                    <a:pt x="66522" y="14503"/>
                  </a:lnTo>
                  <a:lnTo>
                    <a:pt x="66522" y="8839"/>
                  </a:lnTo>
                  <a:lnTo>
                    <a:pt x="65125" y="5791"/>
                  </a:lnTo>
                  <a:lnTo>
                    <a:pt x="59639" y="1155"/>
                  </a:lnTo>
                  <a:lnTo>
                    <a:pt x="55981" y="0"/>
                  </a:lnTo>
                  <a:lnTo>
                    <a:pt x="49644" y="0"/>
                  </a:lnTo>
                  <a:lnTo>
                    <a:pt x="47701" y="241"/>
                  </a:lnTo>
                  <a:lnTo>
                    <a:pt x="43548" y="1219"/>
                  </a:lnTo>
                  <a:lnTo>
                    <a:pt x="41300" y="1955"/>
                  </a:lnTo>
                  <a:lnTo>
                    <a:pt x="38862" y="2933"/>
                  </a:lnTo>
                  <a:lnTo>
                    <a:pt x="38862" y="9017"/>
                  </a:lnTo>
                  <a:lnTo>
                    <a:pt x="41236" y="7683"/>
                  </a:lnTo>
                  <a:lnTo>
                    <a:pt x="43497" y="6705"/>
                  </a:lnTo>
                  <a:lnTo>
                    <a:pt x="47637" y="5422"/>
                  </a:lnTo>
                  <a:lnTo>
                    <a:pt x="49644" y="5054"/>
                  </a:lnTo>
                  <a:lnTo>
                    <a:pt x="54216" y="5054"/>
                  </a:lnTo>
                  <a:lnTo>
                    <a:pt x="56349" y="5854"/>
                  </a:lnTo>
                  <a:lnTo>
                    <a:pt x="59639" y="8775"/>
                  </a:lnTo>
                  <a:lnTo>
                    <a:pt x="60490" y="10718"/>
                  </a:lnTo>
                  <a:lnTo>
                    <a:pt x="60490" y="14503"/>
                  </a:lnTo>
                  <a:lnTo>
                    <a:pt x="38557" y="40144"/>
                  </a:lnTo>
                  <a:lnTo>
                    <a:pt x="38557" y="45199"/>
                  </a:lnTo>
                  <a:lnTo>
                    <a:pt x="66763" y="45199"/>
                  </a:lnTo>
                  <a:lnTo>
                    <a:pt x="66763" y="4014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011752" y="5508849"/>
            <a:ext cx="140547" cy="61807"/>
            <a:chOff x="6008814" y="4131636"/>
            <a:chExt cx="105410" cy="46355"/>
          </a:xfrm>
        </p:grpSpPr>
        <p:sp>
          <p:nvSpPr>
            <p:cNvPr id="99" name="object 99"/>
            <p:cNvSpPr/>
            <p:nvPr/>
          </p:nvSpPr>
          <p:spPr>
            <a:xfrm>
              <a:off x="6095091" y="415369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95091" y="415369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008814" y="4131640"/>
              <a:ext cx="68580" cy="46355"/>
            </a:xfrm>
            <a:custGeom>
              <a:avLst/>
              <a:gdLst/>
              <a:ahLst/>
              <a:cxnLst/>
              <a:rect l="l" t="t" r="r" b="b"/>
              <a:pathLst>
                <a:path w="68579" h="46354">
                  <a:moveTo>
                    <a:pt x="29235" y="29476"/>
                  </a:moveTo>
                  <a:lnTo>
                    <a:pt x="28384" y="27051"/>
                  </a:lnTo>
                  <a:lnTo>
                    <a:pt x="25209" y="23152"/>
                  </a:lnTo>
                  <a:lnTo>
                    <a:pt x="22961" y="21869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27"/>
                  </a:lnTo>
                  <a:lnTo>
                    <a:pt x="28206" y="13944"/>
                  </a:lnTo>
                  <a:lnTo>
                    <a:pt x="28206" y="7975"/>
                  </a:lnTo>
                  <a:lnTo>
                    <a:pt x="26860" y="5181"/>
                  </a:lnTo>
                  <a:lnTo>
                    <a:pt x="21501" y="1041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90"/>
                  </a:lnTo>
                  <a:lnTo>
                    <a:pt x="5715" y="800"/>
                  </a:lnTo>
                  <a:lnTo>
                    <a:pt x="1333" y="1892"/>
                  </a:lnTo>
                  <a:lnTo>
                    <a:pt x="1333" y="7251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45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9011"/>
                  </a:lnTo>
                  <a:lnTo>
                    <a:pt x="7670" y="19011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60"/>
                  </a:lnTo>
                  <a:lnTo>
                    <a:pt x="23266" y="29730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95"/>
                  </a:lnTo>
                  <a:lnTo>
                    <a:pt x="9499" y="40995"/>
                  </a:lnTo>
                  <a:lnTo>
                    <a:pt x="7429" y="40754"/>
                  </a:lnTo>
                  <a:lnTo>
                    <a:pt x="3467" y="39776"/>
                  </a:lnTo>
                  <a:lnTo>
                    <a:pt x="1638" y="39039"/>
                  </a:lnTo>
                  <a:lnTo>
                    <a:pt x="0" y="38074"/>
                  </a:lnTo>
                  <a:lnTo>
                    <a:pt x="0" y="43853"/>
                  </a:lnTo>
                  <a:lnTo>
                    <a:pt x="2070" y="44589"/>
                  </a:lnTo>
                  <a:lnTo>
                    <a:pt x="4140" y="45135"/>
                  </a:lnTo>
                  <a:lnTo>
                    <a:pt x="8039" y="45808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31"/>
                  </a:lnTo>
                  <a:lnTo>
                    <a:pt x="27711" y="40081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8579" h="46354">
                  <a:moveTo>
                    <a:pt x="67983" y="29476"/>
                  </a:moveTo>
                  <a:lnTo>
                    <a:pt x="67132" y="27051"/>
                  </a:lnTo>
                  <a:lnTo>
                    <a:pt x="63957" y="23152"/>
                  </a:lnTo>
                  <a:lnTo>
                    <a:pt x="61709" y="21869"/>
                  </a:lnTo>
                  <a:lnTo>
                    <a:pt x="58839" y="21259"/>
                  </a:lnTo>
                  <a:lnTo>
                    <a:pt x="61404" y="20650"/>
                  </a:lnTo>
                  <a:lnTo>
                    <a:pt x="63411" y="19431"/>
                  </a:lnTo>
                  <a:lnTo>
                    <a:pt x="66217" y="16027"/>
                  </a:lnTo>
                  <a:lnTo>
                    <a:pt x="66941" y="13944"/>
                  </a:lnTo>
                  <a:lnTo>
                    <a:pt x="66941" y="7975"/>
                  </a:lnTo>
                  <a:lnTo>
                    <a:pt x="65608" y="5181"/>
                  </a:lnTo>
                  <a:lnTo>
                    <a:pt x="60248" y="1041"/>
                  </a:lnTo>
                  <a:lnTo>
                    <a:pt x="56654" y="0"/>
                  </a:lnTo>
                  <a:lnTo>
                    <a:pt x="50317" y="0"/>
                  </a:lnTo>
                  <a:lnTo>
                    <a:pt x="48425" y="190"/>
                  </a:lnTo>
                  <a:lnTo>
                    <a:pt x="44462" y="800"/>
                  </a:lnTo>
                  <a:lnTo>
                    <a:pt x="40081" y="1892"/>
                  </a:lnTo>
                  <a:lnTo>
                    <a:pt x="40081" y="7251"/>
                  </a:lnTo>
                  <a:lnTo>
                    <a:pt x="42329" y="6515"/>
                  </a:lnTo>
                  <a:lnTo>
                    <a:pt x="44411" y="5969"/>
                  </a:lnTo>
                  <a:lnTo>
                    <a:pt x="48183" y="5245"/>
                  </a:lnTo>
                  <a:lnTo>
                    <a:pt x="49949" y="5054"/>
                  </a:lnTo>
                  <a:lnTo>
                    <a:pt x="54584" y="5054"/>
                  </a:lnTo>
                  <a:lnTo>
                    <a:pt x="56896" y="5664"/>
                  </a:lnTo>
                  <a:lnTo>
                    <a:pt x="60121" y="8102"/>
                  </a:lnTo>
                  <a:lnTo>
                    <a:pt x="60972" y="9867"/>
                  </a:lnTo>
                  <a:lnTo>
                    <a:pt x="60972" y="14376"/>
                  </a:lnTo>
                  <a:lnTo>
                    <a:pt x="60185" y="16078"/>
                  </a:lnTo>
                  <a:lnTo>
                    <a:pt x="57023" y="18453"/>
                  </a:lnTo>
                  <a:lnTo>
                    <a:pt x="54762" y="19011"/>
                  </a:lnTo>
                  <a:lnTo>
                    <a:pt x="46418" y="19011"/>
                  </a:lnTo>
                  <a:lnTo>
                    <a:pt x="46418" y="23939"/>
                  </a:lnTo>
                  <a:lnTo>
                    <a:pt x="54889" y="23939"/>
                  </a:lnTo>
                  <a:lnTo>
                    <a:pt x="57442" y="24726"/>
                  </a:lnTo>
                  <a:lnTo>
                    <a:pt x="61099" y="27660"/>
                  </a:lnTo>
                  <a:lnTo>
                    <a:pt x="62014" y="29730"/>
                  </a:lnTo>
                  <a:lnTo>
                    <a:pt x="62014" y="35140"/>
                  </a:lnTo>
                  <a:lnTo>
                    <a:pt x="60972" y="37338"/>
                  </a:lnTo>
                  <a:lnTo>
                    <a:pt x="57073" y="40259"/>
                  </a:lnTo>
                  <a:lnTo>
                    <a:pt x="54216" y="40995"/>
                  </a:lnTo>
                  <a:lnTo>
                    <a:pt x="48247" y="40995"/>
                  </a:lnTo>
                  <a:lnTo>
                    <a:pt x="46177" y="40754"/>
                  </a:lnTo>
                  <a:lnTo>
                    <a:pt x="42214" y="39776"/>
                  </a:lnTo>
                  <a:lnTo>
                    <a:pt x="40386" y="39039"/>
                  </a:lnTo>
                  <a:lnTo>
                    <a:pt x="38735" y="38074"/>
                  </a:lnTo>
                  <a:lnTo>
                    <a:pt x="38735" y="43853"/>
                  </a:lnTo>
                  <a:lnTo>
                    <a:pt x="40817" y="44589"/>
                  </a:lnTo>
                  <a:lnTo>
                    <a:pt x="42887" y="45135"/>
                  </a:lnTo>
                  <a:lnTo>
                    <a:pt x="46786" y="45808"/>
                  </a:lnTo>
                  <a:lnTo>
                    <a:pt x="48729" y="45986"/>
                  </a:lnTo>
                  <a:lnTo>
                    <a:pt x="56159" y="45986"/>
                  </a:lnTo>
                  <a:lnTo>
                    <a:pt x="60426" y="44831"/>
                  </a:lnTo>
                  <a:lnTo>
                    <a:pt x="66459" y="40081"/>
                  </a:lnTo>
                  <a:lnTo>
                    <a:pt x="67983" y="36664"/>
                  </a:lnTo>
                  <a:lnTo>
                    <a:pt x="67983" y="29476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8011752" y="4547285"/>
            <a:ext cx="140547" cy="61807"/>
            <a:chOff x="6008814" y="3410463"/>
            <a:chExt cx="105410" cy="46355"/>
          </a:xfrm>
        </p:grpSpPr>
        <p:sp>
          <p:nvSpPr>
            <p:cNvPr id="103" name="object 103"/>
            <p:cNvSpPr/>
            <p:nvPr/>
          </p:nvSpPr>
          <p:spPr>
            <a:xfrm>
              <a:off x="6095091" y="343251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095091" y="343251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008814" y="3410470"/>
              <a:ext cx="69215" cy="46355"/>
            </a:xfrm>
            <a:custGeom>
              <a:avLst/>
              <a:gdLst/>
              <a:ahLst/>
              <a:cxnLst/>
              <a:rect l="l" t="t" r="r" b="b"/>
              <a:pathLst>
                <a:path w="69214" h="46354">
                  <a:moveTo>
                    <a:pt x="29235" y="29476"/>
                  </a:moveTo>
                  <a:lnTo>
                    <a:pt x="28384" y="27038"/>
                  </a:lnTo>
                  <a:lnTo>
                    <a:pt x="25209" y="23139"/>
                  </a:lnTo>
                  <a:lnTo>
                    <a:pt x="22961" y="21869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14"/>
                  </a:lnTo>
                  <a:lnTo>
                    <a:pt x="28206" y="13944"/>
                  </a:lnTo>
                  <a:lnTo>
                    <a:pt x="28206" y="7975"/>
                  </a:lnTo>
                  <a:lnTo>
                    <a:pt x="26860" y="5181"/>
                  </a:lnTo>
                  <a:lnTo>
                    <a:pt x="21501" y="1028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77"/>
                  </a:lnTo>
                  <a:lnTo>
                    <a:pt x="5715" y="787"/>
                  </a:lnTo>
                  <a:lnTo>
                    <a:pt x="1333" y="1892"/>
                  </a:lnTo>
                  <a:lnTo>
                    <a:pt x="1333" y="7251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32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8999"/>
                  </a:lnTo>
                  <a:lnTo>
                    <a:pt x="7670" y="18999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47"/>
                  </a:lnTo>
                  <a:lnTo>
                    <a:pt x="23266" y="29718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82"/>
                  </a:lnTo>
                  <a:lnTo>
                    <a:pt x="9499" y="40982"/>
                  </a:lnTo>
                  <a:lnTo>
                    <a:pt x="7429" y="40741"/>
                  </a:lnTo>
                  <a:lnTo>
                    <a:pt x="3467" y="39763"/>
                  </a:lnTo>
                  <a:lnTo>
                    <a:pt x="1638" y="39039"/>
                  </a:lnTo>
                  <a:lnTo>
                    <a:pt x="0" y="38061"/>
                  </a:lnTo>
                  <a:lnTo>
                    <a:pt x="0" y="43853"/>
                  </a:lnTo>
                  <a:lnTo>
                    <a:pt x="2070" y="44577"/>
                  </a:lnTo>
                  <a:lnTo>
                    <a:pt x="4140" y="45123"/>
                  </a:lnTo>
                  <a:lnTo>
                    <a:pt x="8039" y="45796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31"/>
                  </a:lnTo>
                  <a:lnTo>
                    <a:pt x="27711" y="40068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9214" h="46354">
                  <a:moveTo>
                    <a:pt x="68719" y="29908"/>
                  </a:moveTo>
                  <a:lnTo>
                    <a:pt x="67856" y="27470"/>
                  </a:lnTo>
                  <a:lnTo>
                    <a:pt x="66281" y="25514"/>
                  </a:lnTo>
                  <a:lnTo>
                    <a:pt x="65087" y="24117"/>
                  </a:lnTo>
                  <a:lnTo>
                    <a:pt x="64630" y="23571"/>
                  </a:lnTo>
                  <a:lnTo>
                    <a:pt x="62687" y="22415"/>
                  </a:lnTo>
                  <a:lnTo>
                    <a:pt x="62687" y="35382"/>
                  </a:lnTo>
                  <a:lnTo>
                    <a:pt x="61823" y="37452"/>
                  </a:lnTo>
                  <a:lnTo>
                    <a:pt x="60185" y="38976"/>
                  </a:lnTo>
                  <a:lnTo>
                    <a:pt x="58534" y="40563"/>
                  </a:lnTo>
                  <a:lnTo>
                    <a:pt x="56286" y="41287"/>
                  </a:lnTo>
                  <a:lnTo>
                    <a:pt x="50622" y="41287"/>
                  </a:lnTo>
                  <a:lnTo>
                    <a:pt x="48361" y="40563"/>
                  </a:lnTo>
                  <a:lnTo>
                    <a:pt x="45072" y="37515"/>
                  </a:lnTo>
                  <a:lnTo>
                    <a:pt x="44284" y="35382"/>
                  </a:lnTo>
                  <a:lnTo>
                    <a:pt x="44335" y="29908"/>
                  </a:lnTo>
                  <a:lnTo>
                    <a:pt x="45072" y="27952"/>
                  </a:lnTo>
                  <a:lnTo>
                    <a:pt x="48361" y="24904"/>
                  </a:lnTo>
                  <a:lnTo>
                    <a:pt x="50622" y="24117"/>
                  </a:lnTo>
                  <a:lnTo>
                    <a:pt x="56349" y="24117"/>
                  </a:lnTo>
                  <a:lnTo>
                    <a:pt x="62687" y="35382"/>
                  </a:lnTo>
                  <a:lnTo>
                    <a:pt x="62687" y="22415"/>
                  </a:lnTo>
                  <a:lnTo>
                    <a:pt x="62382" y="22225"/>
                  </a:lnTo>
                  <a:lnTo>
                    <a:pt x="59512" y="21564"/>
                  </a:lnTo>
                  <a:lnTo>
                    <a:pt x="62077" y="20955"/>
                  </a:lnTo>
                  <a:lnTo>
                    <a:pt x="67678" y="7975"/>
                  </a:lnTo>
                  <a:lnTo>
                    <a:pt x="66395" y="5181"/>
                  </a:lnTo>
                  <a:lnTo>
                    <a:pt x="65887" y="4749"/>
                  </a:lnTo>
                  <a:lnTo>
                    <a:pt x="63906" y="3098"/>
                  </a:lnTo>
                  <a:lnTo>
                    <a:pt x="61709" y="1333"/>
                  </a:lnTo>
                  <a:lnTo>
                    <a:pt x="61709" y="9740"/>
                  </a:lnTo>
                  <a:lnTo>
                    <a:pt x="61709" y="14376"/>
                  </a:lnTo>
                  <a:lnTo>
                    <a:pt x="60972" y="16205"/>
                  </a:lnTo>
                  <a:lnTo>
                    <a:pt x="58051" y="18757"/>
                  </a:lnTo>
                  <a:lnTo>
                    <a:pt x="56045" y="19367"/>
                  </a:lnTo>
                  <a:lnTo>
                    <a:pt x="50863" y="19367"/>
                  </a:lnTo>
                  <a:lnTo>
                    <a:pt x="48856" y="18757"/>
                  </a:lnTo>
                  <a:lnTo>
                    <a:pt x="45923" y="16205"/>
                  </a:lnTo>
                  <a:lnTo>
                    <a:pt x="45262" y="14376"/>
                  </a:lnTo>
                  <a:lnTo>
                    <a:pt x="45262" y="9740"/>
                  </a:lnTo>
                  <a:lnTo>
                    <a:pt x="45923" y="7975"/>
                  </a:lnTo>
                  <a:lnTo>
                    <a:pt x="48856" y="5422"/>
                  </a:lnTo>
                  <a:lnTo>
                    <a:pt x="50863" y="4749"/>
                  </a:lnTo>
                  <a:lnTo>
                    <a:pt x="56045" y="4749"/>
                  </a:lnTo>
                  <a:lnTo>
                    <a:pt x="58051" y="5422"/>
                  </a:lnTo>
                  <a:lnTo>
                    <a:pt x="60972" y="7975"/>
                  </a:lnTo>
                  <a:lnTo>
                    <a:pt x="61709" y="9740"/>
                  </a:lnTo>
                  <a:lnTo>
                    <a:pt x="61709" y="1333"/>
                  </a:lnTo>
                  <a:lnTo>
                    <a:pt x="61341" y="1028"/>
                  </a:lnTo>
                  <a:lnTo>
                    <a:pt x="57873" y="0"/>
                  </a:lnTo>
                  <a:lnTo>
                    <a:pt x="49034" y="0"/>
                  </a:lnTo>
                  <a:lnTo>
                    <a:pt x="45567" y="1028"/>
                  </a:lnTo>
                  <a:lnTo>
                    <a:pt x="43065" y="3098"/>
                  </a:lnTo>
                  <a:lnTo>
                    <a:pt x="40513" y="5181"/>
                  </a:lnTo>
                  <a:lnTo>
                    <a:pt x="39293" y="7975"/>
                  </a:lnTo>
                  <a:lnTo>
                    <a:pt x="39382" y="14376"/>
                  </a:lnTo>
                  <a:lnTo>
                    <a:pt x="39954" y="16205"/>
                  </a:lnTo>
                  <a:lnTo>
                    <a:pt x="42887" y="19735"/>
                  </a:lnTo>
                  <a:lnTo>
                    <a:pt x="44894" y="20955"/>
                  </a:lnTo>
                  <a:lnTo>
                    <a:pt x="47447" y="21564"/>
                  </a:lnTo>
                  <a:lnTo>
                    <a:pt x="44526" y="22225"/>
                  </a:lnTo>
                  <a:lnTo>
                    <a:pt x="42278" y="23571"/>
                  </a:lnTo>
                  <a:lnTo>
                    <a:pt x="40690" y="25514"/>
                  </a:lnTo>
                  <a:lnTo>
                    <a:pt x="39039" y="27470"/>
                  </a:lnTo>
                  <a:lnTo>
                    <a:pt x="38252" y="29908"/>
                  </a:lnTo>
                  <a:lnTo>
                    <a:pt x="38252" y="37033"/>
                  </a:lnTo>
                  <a:lnTo>
                    <a:pt x="39535" y="40322"/>
                  </a:lnTo>
                  <a:lnTo>
                    <a:pt x="42151" y="42570"/>
                  </a:lnTo>
                  <a:lnTo>
                    <a:pt x="44767" y="44881"/>
                  </a:lnTo>
                  <a:lnTo>
                    <a:pt x="48552" y="45986"/>
                  </a:lnTo>
                  <a:lnTo>
                    <a:pt x="58356" y="45986"/>
                  </a:lnTo>
                  <a:lnTo>
                    <a:pt x="62077" y="44881"/>
                  </a:lnTo>
                  <a:lnTo>
                    <a:pt x="66243" y="41287"/>
                  </a:lnTo>
                  <a:lnTo>
                    <a:pt x="67373" y="40322"/>
                  </a:lnTo>
                  <a:lnTo>
                    <a:pt x="68719" y="37033"/>
                  </a:lnTo>
                  <a:lnTo>
                    <a:pt x="68719" y="2990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8011752" y="4354973"/>
            <a:ext cx="140547" cy="61807"/>
            <a:chOff x="6008814" y="3266229"/>
            <a:chExt cx="105410" cy="46355"/>
          </a:xfrm>
        </p:grpSpPr>
        <p:sp>
          <p:nvSpPr>
            <p:cNvPr id="107" name="object 107"/>
            <p:cNvSpPr/>
            <p:nvPr/>
          </p:nvSpPr>
          <p:spPr>
            <a:xfrm>
              <a:off x="6095091" y="3288283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095091" y="3288283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1903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008814" y="3266236"/>
              <a:ext cx="69215" cy="46355"/>
            </a:xfrm>
            <a:custGeom>
              <a:avLst/>
              <a:gdLst/>
              <a:ahLst/>
              <a:cxnLst/>
              <a:rect l="l" t="t" r="r" b="b"/>
              <a:pathLst>
                <a:path w="69214" h="46354">
                  <a:moveTo>
                    <a:pt x="29235" y="29476"/>
                  </a:moveTo>
                  <a:lnTo>
                    <a:pt x="28384" y="27038"/>
                  </a:lnTo>
                  <a:lnTo>
                    <a:pt x="25209" y="23139"/>
                  </a:lnTo>
                  <a:lnTo>
                    <a:pt x="22961" y="21856"/>
                  </a:lnTo>
                  <a:lnTo>
                    <a:pt x="20104" y="21259"/>
                  </a:lnTo>
                  <a:lnTo>
                    <a:pt x="22656" y="20650"/>
                  </a:lnTo>
                  <a:lnTo>
                    <a:pt x="24663" y="19431"/>
                  </a:lnTo>
                  <a:lnTo>
                    <a:pt x="27470" y="16014"/>
                  </a:lnTo>
                  <a:lnTo>
                    <a:pt x="28206" y="13944"/>
                  </a:lnTo>
                  <a:lnTo>
                    <a:pt x="28206" y="7975"/>
                  </a:lnTo>
                  <a:lnTo>
                    <a:pt x="26860" y="5168"/>
                  </a:lnTo>
                  <a:lnTo>
                    <a:pt x="21501" y="1028"/>
                  </a:lnTo>
                  <a:lnTo>
                    <a:pt x="17907" y="0"/>
                  </a:lnTo>
                  <a:lnTo>
                    <a:pt x="11569" y="0"/>
                  </a:lnTo>
                  <a:lnTo>
                    <a:pt x="9677" y="177"/>
                  </a:lnTo>
                  <a:lnTo>
                    <a:pt x="5715" y="787"/>
                  </a:lnTo>
                  <a:lnTo>
                    <a:pt x="1333" y="1879"/>
                  </a:lnTo>
                  <a:lnTo>
                    <a:pt x="1333" y="7239"/>
                  </a:lnTo>
                  <a:lnTo>
                    <a:pt x="3594" y="6515"/>
                  </a:lnTo>
                  <a:lnTo>
                    <a:pt x="5664" y="5969"/>
                  </a:lnTo>
                  <a:lnTo>
                    <a:pt x="9436" y="5232"/>
                  </a:lnTo>
                  <a:lnTo>
                    <a:pt x="11201" y="5054"/>
                  </a:lnTo>
                  <a:lnTo>
                    <a:pt x="15836" y="5054"/>
                  </a:lnTo>
                  <a:lnTo>
                    <a:pt x="18148" y="5664"/>
                  </a:lnTo>
                  <a:lnTo>
                    <a:pt x="21374" y="8102"/>
                  </a:lnTo>
                  <a:lnTo>
                    <a:pt x="22225" y="9867"/>
                  </a:lnTo>
                  <a:lnTo>
                    <a:pt x="22225" y="14376"/>
                  </a:lnTo>
                  <a:lnTo>
                    <a:pt x="21437" y="16078"/>
                  </a:lnTo>
                  <a:lnTo>
                    <a:pt x="18275" y="18453"/>
                  </a:lnTo>
                  <a:lnTo>
                    <a:pt x="16014" y="18999"/>
                  </a:lnTo>
                  <a:lnTo>
                    <a:pt x="7670" y="18999"/>
                  </a:lnTo>
                  <a:lnTo>
                    <a:pt x="7670" y="23939"/>
                  </a:lnTo>
                  <a:lnTo>
                    <a:pt x="16141" y="23939"/>
                  </a:lnTo>
                  <a:lnTo>
                    <a:pt x="18694" y="24726"/>
                  </a:lnTo>
                  <a:lnTo>
                    <a:pt x="22352" y="27647"/>
                  </a:lnTo>
                  <a:lnTo>
                    <a:pt x="23266" y="29718"/>
                  </a:lnTo>
                  <a:lnTo>
                    <a:pt x="23266" y="35140"/>
                  </a:lnTo>
                  <a:lnTo>
                    <a:pt x="22225" y="37338"/>
                  </a:lnTo>
                  <a:lnTo>
                    <a:pt x="18326" y="40259"/>
                  </a:lnTo>
                  <a:lnTo>
                    <a:pt x="15468" y="40982"/>
                  </a:lnTo>
                  <a:lnTo>
                    <a:pt x="9499" y="40982"/>
                  </a:lnTo>
                  <a:lnTo>
                    <a:pt x="7429" y="40741"/>
                  </a:lnTo>
                  <a:lnTo>
                    <a:pt x="3467" y="39763"/>
                  </a:lnTo>
                  <a:lnTo>
                    <a:pt x="1638" y="39039"/>
                  </a:lnTo>
                  <a:lnTo>
                    <a:pt x="0" y="38061"/>
                  </a:lnTo>
                  <a:lnTo>
                    <a:pt x="0" y="43853"/>
                  </a:lnTo>
                  <a:lnTo>
                    <a:pt x="2070" y="44577"/>
                  </a:lnTo>
                  <a:lnTo>
                    <a:pt x="4140" y="45123"/>
                  </a:lnTo>
                  <a:lnTo>
                    <a:pt x="8039" y="45796"/>
                  </a:lnTo>
                  <a:lnTo>
                    <a:pt x="9982" y="45986"/>
                  </a:lnTo>
                  <a:lnTo>
                    <a:pt x="17411" y="45986"/>
                  </a:lnTo>
                  <a:lnTo>
                    <a:pt x="21678" y="44818"/>
                  </a:lnTo>
                  <a:lnTo>
                    <a:pt x="27711" y="40068"/>
                  </a:lnTo>
                  <a:lnTo>
                    <a:pt x="29235" y="36664"/>
                  </a:lnTo>
                  <a:lnTo>
                    <a:pt x="29235" y="29476"/>
                  </a:lnTo>
                  <a:close/>
                </a:path>
                <a:path w="69214" h="46354">
                  <a:moveTo>
                    <a:pt x="68592" y="15595"/>
                  </a:moveTo>
                  <a:lnTo>
                    <a:pt x="67195" y="9867"/>
                  </a:lnTo>
                  <a:lnTo>
                    <a:pt x="63715" y="4749"/>
                  </a:lnTo>
                  <a:lnTo>
                    <a:pt x="61823" y="2006"/>
                  </a:lnTo>
                  <a:lnTo>
                    <a:pt x="61518" y="1854"/>
                  </a:lnTo>
                  <a:lnTo>
                    <a:pt x="61518" y="11938"/>
                  </a:lnTo>
                  <a:lnTo>
                    <a:pt x="61518" y="18326"/>
                  </a:lnTo>
                  <a:lnTo>
                    <a:pt x="60731" y="20891"/>
                  </a:lnTo>
                  <a:lnTo>
                    <a:pt x="57569" y="24536"/>
                  </a:lnTo>
                  <a:lnTo>
                    <a:pt x="55435" y="25450"/>
                  </a:lnTo>
                  <a:lnTo>
                    <a:pt x="50076" y="25450"/>
                  </a:lnTo>
                  <a:lnTo>
                    <a:pt x="47942" y="24536"/>
                  </a:lnTo>
                  <a:lnTo>
                    <a:pt x="44767" y="20891"/>
                  </a:lnTo>
                  <a:lnTo>
                    <a:pt x="43980" y="18326"/>
                  </a:lnTo>
                  <a:lnTo>
                    <a:pt x="43980" y="11938"/>
                  </a:lnTo>
                  <a:lnTo>
                    <a:pt x="44767" y="9372"/>
                  </a:lnTo>
                  <a:lnTo>
                    <a:pt x="47942" y="5727"/>
                  </a:lnTo>
                  <a:lnTo>
                    <a:pt x="50076" y="4749"/>
                  </a:lnTo>
                  <a:lnTo>
                    <a:pt x="55435" y="4749"/>
                  </a:lnTo>
                  <a:lnTo>
                    <a:pt x="57569" y="5727"/>
                  </a:lnTo>
                  <a:lnTo>
                    <a:pt x="60731" y="9372"/>
                  </a:lnTo>
                  <a:lnTo>
                    <a:pt x="61518" y="11938"/>
                  </a:lnTo>
                  <a:lnTo>
                    <a:pt x="61518" y="1854"/>
                  </a:lnTo>
                  <a:lnTo>
                    <a:pt x="57873" y="0"/>
                  </a:lnTo>
                  <a:lnTo>
                    <a:pt x="48247" y="0"/>
                  </a:lnTo>
                  <a:lnTo>
                    <a:pt x="44653" y="1397"/>
                  </a:lnTo>
                  <a:lnTo>
                    <a:pt x="41973" y="4140"/>
                  </a:lnTo>
                  <a:lnTo>
                    <a:pt x="39293" y="6946"/>
                  </a:lnTo>
                  <a:lnTo>
                    <a:pt x="37947" y="10591"/>
                  </a:lnTo>
                  <a:lnTo>
                    <a:pt x="37947" y="19786"/>
                  </a:lnTo>
                  <a:lnTo>
                    <a:pt x="39230" y="23444"/>
                  </a:lnTo>
                  <a:lnTo>
                    <a:pt x="44348" y="28803"/>
                  </a:lnTo>
                  <a:lnTo>
                    <a:pt x="47879" y="30149"/>
                  </a:lnTo>
                  <a:lnTo>
                    <a:pt x="54521" y="30149"/>
                  </a:lnTo>
                  <a:lnTo>
                    <a:pt x="62179" y="25450"/>
                  </a:lnTo>
                  <a:lnTo>
                    <a:pt x="62623" y="24841"/>
                  </a:lnTo>
                  <a:lnTo>
                    <a:pt x="62255" y="30327"/>
                  </a:lnTo>
                  <a:lnTo>
                    <a:pt x="61036" y="34353"/>
                  </a:lnTo>
                  <a:lnTo>
                    <a:pt x="56896" y="39712"/>
                  </a:lnTo>
                  <a:lnTo>
                    <a:pt x="53848" y="40982"/>
                  </a:lnTo>
                  <a:lnTo>
                    <a:pt x="48425" y="40982"/>
                  </a:lnTo>
                  <a:lnTo>
                    <a:pt x="46901" y="40805"/>
                  </a:lnTo>
                  <a:lnTo>
                    <a:pt x="43802" y="40068"/>
                  </a:lnTo>
                  <a:lnTo>
                    <a:pt x="42278" y="39522"/>
                  </a:lnTo>
                  <a:lnTo>
                    <a:pt x="40817" y="38798"/>
                  </a:lnTo>
                  <a:lnTo>
                    <a:pt x="40817" y="44272"/>
                  </a:lnTo>
                  <a:lnTo>
                    <a:pt x="42456" y="44881"/>
                  </a:lnTo>
                  <a:lnTo>
                    <a:pt x="44043" y="45313"/>
                  </a:lnTo>
                  <a:lnTo>
                    <a:pt x="47142" y="45796"/>
                  </a:lnTo>
                  <a:lnTo>
                    <a:pt x="48666" y="45986"/>
                  </a:lnTo>
                  <a:lnTo>
                    <a:pt x="55803" y="45986"/>
                  </a:lnTo>
                  <a:lnTo>
                    <a:pt x="68592" y="24841"/>
                  </a:lnTo>
                  <a:lnTo>
                    <a:pt x="68592" y="15595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0" name="object 1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87003" y="4704899"/>
            <a:ext cx="265168" cy="682549"/>
          </a:xfrm>
          <a:prstGeom prst="rect">
            <a:avLst/>
          </a:prstGeom>
        </p:spPr>
      </p:pic>
      <p:sp>
        <p:nvSpPr>
          <p:cNvPr id="111" name="object 111"/>
          <p:cNvSpPr txBox="1"/>
          <p:nvPr/>
        </p:nvSpPr>
        <p:spPr>
          <a:xfrm>
            <a:off x="7813845" y="6180667"/>
            <a:ext cx="34027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Roberts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et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al.,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EMNLP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0"/>
              </a:rPr>
              <a:t>2020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092644" y="6180667"/>
            <a:ext cx="269578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Guu 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ICML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11"/>
              </a:rPr>
              <a:t>2020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113" name="object 113"/>
          <p:cNvGraphicFramePr>
            <a:graphicFrameLocks noGrp="1"/>
          </p:cNvGraphicFramePr>
          <p:nvPr/>
        </p:nvGraphicFramePr>
        <p:xfrm>
          <a:off x="397932" y="3043597"/>
          <a:ext cx="7001932" cy="2863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Masking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87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Exact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87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295910" marR="288290" indent="45085">
                        <a:lnSpc>
                          <a:spcPts val="2090"/>
                        </a:lnSpc>
                        <a:spcBef>
                          <a:spcPts val="39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Retrieval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r>
                        <a:rPr sz="24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@5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27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Salient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span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masking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38.2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0" dirty="0">
                          <a:latin typeface="Calibri"/>
                          <a:cs typeface="Calibri"/>
                        </a:rPr>
                        <a:t>38.5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90805" marR="581660">
                        <a:lnSpc>
                          <a:spcPts val="2110"/>
                        </a:lnSpc>
                        <a:spcBef>
                          <a:spcPts val="365"/>
                        </a:spcBef>
                      </a:pPr>
                      <a:r>
                        <a:rPr sz="2400" u="sng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Random </a:t>
                      </a:r>
                      <a:r>
                        <a:rPr sz="2400" u="sng" spc="-10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uniform</a:t>
                      </a:r>
                      <a:r>
                        <a:rPr sz="2400" spc="-10" dirty="0">
                          <a:solidFill>
                            <a:srgbClr val="4198B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u="sng" spc="-10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masks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618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32.3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24.2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27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u="sng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Random span</a:t>
                      </a:r>
                      <a:r>
                        <a:rPr sz="2400" u="sng" spc="5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u="sng" spc="-20" dirty="0">
                          <a:solidFill>
                            <a:srgbClr val="4198B5"/>
                          </a:solidFill>
                          <a:uFill>
                            <a:solidFill>
                              <a:srgbClr val="4198B5"/>
                            </a:solidFill>
                          </a:uFill>
                          <a:latin typeface="Calibri"/>
                          <a:cs typeface="Calibri"/>
                        </a:rPr>
                        <a:t>masks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35.3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26.1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23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47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Recap:</a:t>
            </a:r>
            <a:r>
              <a:rPr spc="-40" dirty="0"/>
              <a:t> </a:t>
            </a:r>
            <a:r>
              <a:rPr dirty="0"/>
              <a:t>Techniques</a:t>
            </a:r>
            <a:r>
              <a:rPr spc="-20" dirty="0"/>
              <a:t> </a:t>
            </a:r>
            <a:r>
              <a:rPr dirty="0"/>
              <a:t>to</a:t>
            </a:r>
            <a:r>
              <a:rPr spc="-33" dirty="0"/>
              <a:t> </a:t>
            </a:r>
            <a:r>
              <a:rPr dirty="0"/>
              <a:t>add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88" y="1096601"/>
            <a:ext cx="10783145" cy="5253062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473275" indent="-456342">
              <a:spcBef>
                <a:spcPts val="707"/>
              </a:spcBef>
              <a:buClr>
                <a:srgbClr val="8C1515"/>
              </a:buClr>
              <a:buAutoNum type="arabicPeriod"/>
              <a:tabLst>
                <a:tab pos="473275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marL="587572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587572" algn="l"/>
              </a:tabLst>
            </a:pP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 difficult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apply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existing architectures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leverage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KG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pretraining</a:t>
            </a:r>
            <a:endParaRPr sz="2400">
              <a:latin typeface="Calibri"/>
              <a:cs typeface="Calibri"/>
            </a:endParaRPr>
          </a:p>
          <a:p>
            <a:pPr marL="587572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587572" algn="l"/>
              </a:tabLst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Indirect</a:t>
            </a:r>
            <a:r>
              <a:rPr sz="2400" spc="-2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incorporating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 and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hard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interpret</a:t>
            </a:r>
            <a:endParaRPr sz="2400">
              <a:latin typeface="Calibri"/>
              <a:cs typeface="Calibri"/>
            </a:endParaRPr>
          </a:p>
          <a:p>
            <a:pPr lvl="1">
              <a:spcBef>
                <a:spcPts val="40"/>
              </a:spcBef>
              <a:buClr>
                <a:srgbClr val="007C92"/>
              </a:buClr>
              <a:buFont typeface="Times New Roman"/>
              <a:buChar char="•"/>
            </a:pPr>
            <a:endParaRPr sz="3267">
              <a:latin typeface="Calibri"/>
              <a:cs typeface="Calibri"/>
            </a:endParaRPr>
          </a:p>
          <a:p>
            <a:pPr marL="473275" indent="-456342">
              <a:buClr>
                <a:srgbClr val="8C1515"/>
              </a:buClr>
              <a:buAutoNum type="arabicPeriod"/>
              <a:tabLst>
                <a:tab pos="473275" algn="l"/>
              </a:tabLst>
            </a:pPr>
            <a:r>
              <a:rPr sz="2400" dirty="0">
                <a:latin typeface="Calibri"/>
                <a:cs typeface="Calibri"/>
              </a:rPr>
              <a:t>Add an external </a:t>
            </a:r>
            <a:r>
              <a:rPr sz="2400" spc="-13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587572" lvl="1" indent="-227748">
              <a:spcBef>
                <a:spcPts val="480"/>
              </a:spcBef>
              <a:buClr>
                <a:srgbClr val="007C92"/>
              </a:buClr>
              <a:buFont typeface="Times New Roman"/>
              <a:buChar char="•"/>
              <a:tabLst>
                <a:tab pos="587572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updating of factual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knowledge</a:t>
            </a:r>
            <a:r>
              <a:rPr sz="2400" spc="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easier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to </a:t>
            </a:r>
            <a:r>
              <a:rPr sz="2400" spc="-13" dirty="0">
                <a:solidFill>
                  <a:srgbClr val="00B050"/>
                </a:solidFill>
                <a:latin typeface="Calibri"/>
                <a:cs typeface="Calibri"/>
              </a:rPr>
              <a:t>interpret</a:t>
            </a:r>
            <a:endParaRPr sz="2400">
              <a:latin typeface="Calibri"/>
              <a:cs typeface="Calibri"/>
            </a:endParaRPr>
          </a:p>
          <a:p>
            <a:pPr marL="587572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587572" algn="l"/>
              </a:tabLst>
            </a:pPr>
            <a:r>
              <a:rPr sz="2400" dirty="0">
                <a:latin typeface="Calibri"/>
                <a:cs typeface="Calibri"/>
              </a:rPr>
              <a:t>Tend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complex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00" spc="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implementation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require</a:t>
            </a:r>
            <a:r>
              <a:rPr sz="2400" spc="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more</a:t>
            </a:r>
            <a:r>
              <a:rPr sz="2400" spc="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lvl="1">
              <a:spcBef>
                <a:spcPts val="73"/>
              </a:spcBef>
              <a:buClr>
                <a:srgbClr val="007C92"/>
              </a:buClr>
              <a:buFont typeface="Times New Roman"/>
              <a:buChar char="•"/>
            </a:pPr>
            <a:endParaRPr sz="3267">
              <a:latin typeface="Calibri"/>
              <a:cs typeface="Calibri"/>
            </a:endParaRPr>
          </a:p>
          <a:p>
            <a:pPr marL="473275" indent="-456342">
              <a:buClr>
                <a:srgbClr val="8C1515"/>
              </a:buClr>
              <a:buAutoNum type="arabicPeriod"/>
              <a:tabLst>
                <a:tab pos="473275" algn="l"/>
              </a:tabLst>
            </a:pPr>
            <a:r>
              <a:rPr sz="2400" dirty="0">
                <a:latin typeface="Calibri"/>
                <a:cs typeface="Calibri"/>
              </a:rPr>
              <a:t>Modify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 </a:t>
            </a:r>
            <a:r>
              <a:rPr sz="2400" spc="-27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588419" marR="549473" lvl="1" indent="-228594">
              <a:lnSpc>
                <a:spcPct val="102200"/>
              </a:lnSpc>
              <a:spcBef>
                <a:spcPts val="513"/>
              </a:spcBef>
              <a:buClr>
                <a:srgbClr val="007C92"/>
              </a:buClr>
              <a:buFont typeface="Times New Roman"/>
              <a:buChar char="•"/>
              <a:tabLst>
                <a:tab pos="588419" algn="l"/>
              </a:tabLst>
            </a:pPr>
            <a:r>
              <a:rPr sz="2400" dirty="0">
                <a:latin typeface="Calibri"/>
                <a:cs typeface="Calibri"/>
              </a:rPr>
              <a:t>Requires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no model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changes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or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additional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computation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 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easiest</a:t>
            </a:r>
            <a:r>
              <a:rPr sz="2400" spc="-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solidFill>
                  <a:srgbClr val="00B050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theoretically</a:t>
            </a:r>
            <a:r>
              <a:rPr sz="2400" spc="-27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analyze</a:t>
            </a:r>
            <a:r>
              <a:rPr sz="2400" dirty="0">
                <a:latin typeface="Calibri"/>
                <a:cs typeface="Calibri"/>
              </a:rPr>
              <a:t>!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Active area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13" dirty="0">
                <a:latin typeface="Calibri"/>
                <a:cs typeface="Calibri"/>
              </a:rPr>
              <a:t>research</a:t>
            </a:r>
            <a:endParaRPr sz="2400">
              <a:latin typeface="Calibri"/>
              <a:cs typeface="Calibri"/>
            </a:endParaRPr>
          </a:p>
          <a:p>
            <a:pPr marL="587572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587572" algn="l"/>
              </a:tabLst>
            </a:pPr>
            <a:r>
              <a:rPr sz="2400" dirty="0">
                <a:latin typeface="Calibri"/>
                <a:cs typeface="Calibri"/>
              </a:rPr>
              <a:t>Still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open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question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if this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always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sz="2400" spc="-7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effective</a:t>
            </a:r>
            <a:r>
              <a:rPr sz="2400" spc="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 </a:t>
            </a:r>
            <a:r>
              <a:rPr sz="2400" spc="-13" dirty="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38100">
              <a:spcBef>
                <a:spcPts val="45"/>
              </a:spcBef>
            </a:pPr>
            <a:fld id="{6E73C706-3535-C740-ADCB-8AC187A67FA9}" type="slidenum">
              <a:rPr lang="en-US" smtClean="0"/>
              <a:pPr marL="38100">
                <a:spcBef>
                  <a:spcPts val="45"/>
                </a:spcBef>
              </a:pPr>
              <a:t>48</a:t>
            </a:fld>
            <a:endParaRPr lang="en-US" sz="1200" spc="-33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6" name="Video 5" descr="Floating Numbers And Letters On Top Of A Book">
            <a:extLst>
              <a:ext uri="{FF2B5EF4-FFF2-40B4-BE49-F238E27FC236}">
                <a16:creationId xmlns:a16="http://schemas.microsoft.com/office/drawing/2014/main" id="{0413B8B0-F0A1-9DD3-F706-A1F6AB565D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3837" b="13899"/>
          <a:stretch/>
        </p:blipFill>
        <p:spPr>
          <a:xfrm>
            <a:off x="266700" y="990600"/>
            <a:ext cx="11658601" cy="5410199"/>
          </a:xfrm>
          <a:prstGeom prst="rect">
            <a:avLst/>
          </a:prstGeom>
          <a:noFill/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6933" marR="6773" indent="1622173">
              <a:spcBef>
                <a:spcPts val="133"/>
              </a:spcBef>
            </a:pPr>
            <a:r>
              <a:rPr dirty="0"/>
              <a:t>Section</a:t>
            </a:r>
            <a:r>
              <a:rPr spc="-27" dirty="0"/>
              <a:t> </a:t>
            </a:r>
            <a:r>
              <a:rPr spc="-33" dirty="0"/>
              <a:t>3: </a:t>
            </a:r>
            <a:r>
              <a:rPr dirty="0"/>
              <a:t>Evaluating</a:t>
            </a:r>
            <a:r>
              <a:rPr spc="-40" dirty="0"/>
              <a:t> </a:t>
            </a:r>
            <a:r>
              <a:rPr dirty="0"/>
              <a:t>knowledge</a:t>
            </a:r>
            <a:r>
              <a:rPr spc="-33" dirty="0"/>
              <a:t> </a:t>
            </a:r>
            <a:r>
              <a:rPr dirty="0"/>
              <a:t>in</a:t>
            </a:r>
            <a:r>
              <a:rPr spc="-33" dirty="0"/>
              <a:t> LMs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49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-15833"/>
            <a:ext cx="11658601" cy="1043085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Model</a:t>
            </a:r>
            <a:r>
              <a:rPr spc="-33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(LAMA)</a:t>
            </a:r>
            <a:r>
              <a:rPr spc="-27" dirty="0"/>
              <a:t> </a:t>
            </a:r>
            <a:r>
              <a:rPr dirty="0"/>
              <a:t>Probe</a:t>
            </a:r>
            <a:r>
              <a:rPr spc="-20" dirty="0"/>
              <a:t> </a:t>
            </a:r>
            <a:r>
              <a:rPr sz="2667" dirty="0"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Petroni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2019</a:t>
            </a:r>
            <a:r>
              <a:rPr sz="2667" spc="-13" dirty="0"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5" y="1169753"/>
            <a:ext cx="6921500" cy="5203113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359824" marR="453802" indent="-342891">
              <a:lnSpc>
                <a:spcPct val="99400"/>
              </a:lnSpc>
              <a:spcBef>
                <a:spcPts val="147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commonsense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factual</a:t>
            </a:r>
            <a:r>
              <a:rPr sz="2400" spc="-13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already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off-the-</a:t>
            </a:r>
            <a:r>
              <a:rPr sz="2400" dirty="0">
                <a:latin typeface="Calibri"/>
                <a:cs typeface="Calibri"/>
              </a:rPr>
              <a:t>shelf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language models?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additional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fine-</a:t>
            </a:r>
            <a:r>
              <a:rPr sz="2400" spc="-13" dirty="0">
                <a:latin typeface="Calibri"/>
                <a:cs typeface="Calibri"/>
              </a:rPr>
              <a:t>tuning</a:t>
            </a:r>
            <a:endParaRPr sz="2400">
              <a:latin typeface="Calibri"/>
              <a:cs typeface="Calibri"/>
            </a:endParaRPr>
          </a:p>
          <a:p>
            <a:pPr lvl="1">
              <a:spcBef>
                <a:spcPts val="67"/>
              </a:spcBef>
              <a:buClr>
                <a:srgbClr val="007C92"/>
              </a:buClr>
              <a:buFont typeface="Times New Roman"/>
              <a:buChar char="•"/>
            </a:pPr>
            <a:endParaRPr sz="3267">
              <a:latin typeface="Calibri"/>
              <a:cs typeface="Calibri"/>
            </a:endParaRPr>
          </a:p>
          <a:p>
            <a:pPr marL="359824" marR="331038" indent="-342891" algn="just">
              <a:lnSpc>
                <a:spcPct val="99400"/>
              </a:lnSpc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Manually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constructed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set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cloze</a:t>
            </a:r>
            <a:r>
              <a:rPr sz="2400" spc="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statements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assess</a:t>
            </a:r>
            <a:r>
              <a:rPr sz="2400" spc="-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model’s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token. </a:t>
            </a:r>
            <a:r>
              <a:rPr sz="2400" i="1" spc="-13" dirty="0">
                <a:latin typeface="Calibri"/>
                <a:cs typeface="Calibri"/>
              </a:rPr>
              <a:t>Examples:</a:t>
            </a:r>
            <a:endParaRPr sz="2400">
              <a:latin typeface="Calibri"/>
              <a:cs typeface="Calibri"/>
            </a:endParaRPr>
          </a:p>
          <a:p>
            <a:pPr marL="530000" algn="ctr">
              <a:spcBef>
                <a:spcPts val="2460"/>
              </a:spcBef>
            </a:pP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The</a:t>
            </a:r>
            <a:r>
              <a:rPr sz="2400" b="1" spc="-5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theory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of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relativity</a:t>
            </a:r>
            <a:r>
              <a:rPr sz="2400" b="1" spc="-3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was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developed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by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[MASK].</a:t>
            </a:r>
            <a:endParaRPr sz="2400">
              <a:latin typeface="Calibri"/>
              <a:cs typeface="Calibri"/>
            </a:endParaRPr>
          </a:p>
          <a:p>
            <a:pPr marL="530000" algn="ctr">
              <a:spcBef>
                <a:spcPts val="579"/>
              </a:spcBef>
            </a:pP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The</a:t>
            </a:r>
            <a:r>
              <a:rPr sz="2400" b="1" spc="-4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native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language</a:t>
            </a:r>
            <a:r>
              <a:rPr sz="2400" b="1" spc="-3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of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Mammootty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[MASK].</a:t>
            </a:r>
            <a:endParaRPr sz="2400">
              <a:latin typeface="Calibri"/>
              <a:cs typeface="Calibri"/>
            </a:endParaRPr>
          </a:p>
          <a:p>
            <a:pPr marL="652762" algn="ctr">
              <a:spcBef>
                <a:spcPts val="607"/>
              </a:spcBef>
            </a:pP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Ravens</a:t>
            </a:r>
            <a:r>
              <a:rPr sz="2400" b="1" spc="-40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can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[MASK].</a:t>
            </a:r>
            <a:endParaRPr sz="2400">
              <a:latin typeface="Calibri"/>
              <a:cs typeface="Calibri"/>
            </a:endParaRPr>
          </a:p>
          <a:p>
            <a:pPr marL="665462">
              <a:spcBef>
                <a:spcPts val="573"/>
              </a:spcBef>
            </a:pP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You</a:t>
            </a:r>
            <a:r>
              <a:rPr sz="2400" b="1" spc="-20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are</a:t>
            </a:r>
            <a:r>
              <a:rPr sz="2400" b="1" spc="-20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likely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to</a:t>
            </a:r>
            <a:r>
              <a:rPr sz="2400" b="1" spc="-2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find</a:t>
            </a:r>
            <a:r>
              <a:rPr sz="2400" b="1" spc="-7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a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overflow</a:t>
            </a:r>
            <a:r>
              <a:rPr sz="2400" b="1" spc="-20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in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10059"/>
                </a:solidFill>
                <a:latin typeface="Calibri"/>
                <a:cs typeface="Calibri"/>
              </a:rPr>
              <a:t>a</a:t>
            </a:r>
            <a:r>
              <a:rPr sz="2400" b="1" spc="-13" dirty="0">
                <a:solidFill>
                  <a:srgbClr val="610059"/>
                </a:solidFill>
                <a:latin typeface="Calibri"/>
                <a:cs typeface="Calibri"/>
              </a:rPr>
              <a:t> [MASK].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5714" y="1143000"/>
            <a:ext cx="4035167" cy="52421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Model</a:t>
            </a:r>
            <a:r>
              <a:rPr spc="-33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(LAMA)</a:t>
            </a:r>
            <a:r>
              <a:rPr spc="-27" dirty="0"/>
              <a:t> </a:t>
            </a:r>
            <a:r>
              <a:rPr dirty="0"/>
              <a:t>Probe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49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1096602"/>
            <a:ext cx="10864427" cy="1726969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Generate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cloze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statements from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KG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triples and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question-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pairs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supervised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 extraction (RE)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question answering</a:t>
            </a:r>
            <a:r>
              <a:rPr sz="2400" spc="-13" dirty="0">
                <a:latin typeface="Calibri"/>
                <a:cs typeface="Calibri"/>
              </a:rPr>
              <a:t> systems</a:t>
            </a:r>
            <a:endParaRPr sz="2400">
              <a:latin typeface="Calibri"/>
              <a:cs typeface="Calibri"/>
            </a:endParaRPr>
          </a:p>
          <a:p>
            <a:pPr marL="359824" marR="236214" indent="-342891">
              <a:lnSpc>
                <a:spcPts val="2787"/>
              </a:lnSpc>
              <a:spcBef>
                <a:spcPts val="773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b="1" dirty="0">
                <a:latin typeface="Calibri"/>
                <a:cs typeface="Calibri"/>
              </a:rPr>
              <a:t>Goal:</a:t>
            </a:r>
            <a:r>
              <a:rPr sz="2400" b="1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evaluate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existing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pretrained LMs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(this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may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pretraining </a:t>
            </a:r>
            <a:r>
              <a:rPr sz="2400" spc="-13" dirty="0">
                <a:latin typeface="Calibri"/>
                <a:cs typeface="Calibri"/>
              </a:rPr>
              <a:t>corpora!)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87" y="3100155"/>
            <a:ext cx="3705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Calibri"/>
                <a:cs typeface="Calibri"/>
              </a:rPr>
              <a:t>Mean</a:t>
            </a:r>
            <a:r>
              <a:rPr sz="2400" b="1" spc="-4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precision</a:t>
            </a:r>
            <a:r>
              <a:rPr sz="2400" b="1" spc="-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3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33" dirty="0">
                <a:latin typeface="Calibri"/>
                <a:cs typeface="Calibri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(P@1)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1134" y="3562681"/>
          <a:ext cx="10973644" cy="27499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3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59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21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Corpus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DrQA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10"/>
                        </a:lnSpc>
                        <a:spcBef>
                          <a:spcPts val="254"/>
                        </a:spcBef>
                      </a:pPr>
                      <a:r>
                        <a:rPr sz="2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910"/>
                        </a:lnSpc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236854" marR="140970" indent="-88265">
                        <a:lnSpc>
                          <a:spcPts val="1900"/>
                        </a:lnSpc>
                        <a:spcBef>
                          <a:spcPts val="334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fairseq- fconv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56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92075" indent="-445770">
                        <a:lnSpc>
                          <a:spcPts val="1900"/>
                        </a:lnSpc>
                        <a:spcBef>
                          <a:spcPts val="334"/>
                        </a:spcBef>
                      </a:pPr>
                      <a:r>
                        <a:rPr sz="2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Transformer- XL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56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R="11747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ELMo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21920" indent="14604">
                        <a:lnSpc>
                          <a:spcPts val="1900"/>
                        </a:lnSpc>
                        <a:spcBef>
                          <a:spcPts val="334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ELMo </a:t>
                      </a: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(5.5B)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56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910"/>
                        </a:lnSpc>
                        <a:spcBef>
                          <a:spcPts val="254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BERT-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203200">
                        <a:lnSpc>
                          <a:spcPts val="1910"/>
                        </a:lnSpc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910"/>
                        </a:lnSpc>
                        <a:spcBef>
                          <a:spcPts val="254"/>
                        </a:spcBef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BERT-</a:t>
                      </a:r>
                      <a:endParaRPr sz="2100">
                        <a:latin typeface="Calibri"/>
                        <a:cs typeface="Calibri"/>
                      </a:endParaRPr>
                    </a:p>
                    <a:p>
                      <a:pPr marL="160020">
                        <a:lnSpc>
                          <a:spcPts val="1910"/>
                        </a:lnSpc>
                      </a:pPr>
                      <a:r>
                        <a:rPr sz="2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Google-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RE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-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7.6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2.6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1.6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2.0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3.0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9.8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20" dirty="0">
                          <a:latin typeface="Calibri"/>
                          <a:cs typeface="Calibri"/>
                        </a:rPr>
                        <a:t>10.5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75" dirty="0">
                          <a:latin typeface="Calibri"/>
                          <a:cs typeface="Calibri"/>
                        </a:rPr>
                        <a:t>T-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REx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-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b="1" spc="-20" dirty="0">
                          <a:latin typeface="Calibri"/>
                          <a:cs typeface="Calibri"/>
                        </a:rPr>
                        <a:t>33.8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8.9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18.3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4.7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7.1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31.1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32.2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ConceptNet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-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-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3.6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5.7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6.1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6.2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15.6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b="1" spc="-20" dirty="0">
                          <a:latin typeface="Calibri"/>
                          <a:cs typeface="Calibri"/>
                        </a:rPr>
                        <a:t>19.2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SQuAD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20" dirty="0">
                          <a:latin typeface="Calibri"/>
                          <a:cs typeface="Calibri"/>
                        </a:rPr>
                        <a:t>37.5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-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3.6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3.9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1.6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4.3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14.1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17.4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897294" y="6279556"/>
            <a:ext cx="26644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LMs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are</a:t>
            </a:r>
            <a:r>
              <a:rPr sz="2133" spc="-2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NOT</a:t>
            </a:r>
            <a:r>
              <a:rPr sz="2133" spc="-3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finetuned!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582398" y="5983798"/>
            <a:ext cx="413173" cy="500380"/>
          </a:xfrm>
          <a:custGeom>
            <a:avLst/>
            <a:gdLst/>
            <a:ahLst/>
            <a:cxnLst/>
            <a:rect l="l" t="t" r="r" b="b"/>
            <a:pathLst>
              <a:path w="309879" h="375285">
                <a:moveTo>
                  <a:pt x="97191" y="364207"/>
                </a:moveTo>
                <a:lnTo>
                  <a:pt x="75990" y="365143"/>
                </a:lnTo>
                <a:lnTo>
                  <a:pt x="76410" y="374659"/>
                </a:lnTo>
                <a:lnTo>
                  <a:pt x="98016" y="373705"/>
                </a:lnTo>
                <a:lnTo>
                  <a:pt x="119642" y="370900"/>
                </a:lnTo>
                <a:lnTo>
                  <a:pt x="140910" y="366380"/>
                </a:lnTo>
                <a:lnTo>
                  <a:pt x="148194" y="364233"/>
                </a:lnTo>
                <a:lnTo>
                  <a:pt x="96991" y="364233"/>
                </a:lnTo>
                <a:lnTo>
                  <a:pt x="97191" y="364207"/>
                </a:lnTo>
                <a:close/>
              </a:path>
              <a:path w="309879" h="375285">
                <a:moveTo>
                  <a:pt x="148313" y="364198"/>
                </a:moveTo>
                <a:lnTo>
                  <a:pt x="97290" y="364207"/>
                </a:lnTo>
                <a:lnTo>
                  <a:pt x="96991" y="364233"/>
                </a:lnTo>
                <a:lnTo>
                  <a:pt x="148194" y="364233"/>
                </a:lnTo>
                <a:close/>
              </a:path>
              <a:path w="309879" h="375285">
                <a:moveTo>
                  <a:pt x="157541" y="361479"/>
                </a:moveTo>
                <a:lnTo>
                  <a:pt x="118226" y="361479"/>
                </a:lnTo>
                <a:lnTo>
                  <a:pt x="117849" y="361544"/>
                </a:lnTo>
                <a:lnTo>
                  <a:pt x="97191" y="364207"/>
                </a:lnTo>
                <a:lnTo>
                  <a:pt x="97393" y="364198"/>
                </a:lnTo>
                <a:lnTo>
                  <a:pt x="148313" y="364198"/>
                </a:lnTo>
                <a:lnTo>
                  <a:pt x="157541" y="361479"/>
                </a:lnTo>
                <a:close/>
              </a:path>
              <a:path w="309879" h="375285">
                <a:moveTo>
                  <a:pt x="118037" y="361504"/>
                </a:moveTo>
                <a:lnTo>
                  <a:pt x="117729" y="361544"/>
                </a:lnTo>
                <a:lnTo>
                  <a:pt x="118037" y="361504"/>
                </a:lnTo>
                <a:close/>
              </a:path>
              <a:path w="309879" h="375285">
                <a:moveTo>
                  <a:pt x="170030" y="357101"/>
                </a:moveTo>
                <a:lnTo>
                  <a:pt x="138750" y="357101"/>
                </a:lnTo>
                <a:lnTo>
                  <a:pt x="138394" y="357191"/>
                </a:lnTo>
                <a:lnTo>
                  <a:pt x="118037" y="361504"/>
                </a:lnTo>
                <a:lnTo>
                  <a:pt x="118226" y="361479"/>
                </a:lnTo>
                <a:lnTo>
                  <a:pt x="157541" y="361479"/>
                </a:lnTo>
                <a:lnTo>
                  <a:pt x="161657" y="360266"/>
                </a:lnTo>
                <a:lnTo>
                  <a:pt x="170030" y="357101"/>
                </a:lnTo>
                <a:close/>
              </a:path>
              <a:path w="309879" h="375285">
                <a:moveTo>
                  <a:pt x="138570" y="357139"/>
                </a:moveTo>
                <a:lnTo>
                  <a:pt x="138326" y="357191"/>
                </a:lnTo>
                <a:lnTo>
                  <a:pt x="138570" y="357139"/>
                </a:lnTo>
                <a:close/>
              </a:path>
              <a:path w="309879" h="375285">
                <a:moveTo>
                  <a:pt x="184948" y="351180"/>
                </a:moveTo>
                <a:lnTo>
                  <a:pt x="158793" y="351180"/>
                </a:lnTo>
                <a:lnTo>
                  <a:pt x="158455" y="351294"/>
                </a:lnTo>
                <a:lnTo>
                  <a:pt x="138570" y="357139"/>
                </a:lnTo>
                <a:lnTo>
                  <a:pt x="138750" y="357101"/>
                </a:lnTo>
                <a:lnTo>
                  <a:pt x="170030" y="357101"/>
                </a:lnTo>
                <a:lnTo>
                  <a:pt x="181716" y="352683"/>
                </a:lnTo>
                <a:lnTo>
                  <a:pt x="184948" y="351180"/>
                </a:lnTo>
                <a:close/>
              </a:path>
              <a:path w="309879" h="375285">
                <a:moveTo>
                  <a:pt x="158623" y="351230"/>
                </a:moveTo>
                <a:lnTo>
                  <a:pt x="158407" y="351294"/>
                </a:lnTo>
                <a:lnTo>
                  <a:pt x="158623" y="351230"/>
                </a:lnTo>
                <a:close/>
              </a:path>
              <a:path w="309879" h="375285">
                <a:moveTo>
                  <a:pt x="200743" y="343836"/>
                </a:moveTo>
                <a:lnTo>
                  <a:pt x="178184" y="343836"/>
                </a:lnTo>
                <a:lnTo>
                  <a:pt x="177860" y="343972"/>
                </a:lnTo>
                <a:lnTo>
                  <a:pt x="158623" y="351230"/>
                </a:lnTo>
                <a:lnTo>
                  <a:pt x="158793" y="351180"/>
                </a:lnTo>
                <a:lnTo>
                  <a:pt x="184948" y="351180"/>
                </a:lnTo>
                <a:lnTo>
                  <a:pt x="200743" y="343836"/>
                </a:lnTo>
                <a:close/>
              </a:path>
              <a:path w="309879" h="375285">
                <a:moveTo>
                  <a:pt x="178021" y="343897"/>
                </a:moveTo>
                <a:lnTo>
                  <a:pt x="177823" y="343972"/>
                </a:lnTo>
                <a:lnTo>
                  <a:pt x="178021" y="343897"/>
                </a:lnTo>
                <a:close/>
              </a:path>
              <a:path w="309879" h="375285">
                <a:moveTo>
                  <a:pt x="216258" y="335187"/>
                </a:moveTo>
                <a:lnTo>
                  <a:pt x="196752" y="335187"/>
                </a:lnTo>
                <a:lnTo>
                  <a:pt x="196438" y="335348"/>
                </a:lnTo>
                <a:lnTo>
                  <a:pt x="178021" y="343897"/>
                </a:lnTo>
                <a:lnTo>
                  <a:pt x="178184" y="343836"/>
                </a:lnTo>
                <a:lnTo>
                  <a:pt x="200743" y="343836"/>
                </a:lnTo>
                <a:lnTo>
                  <a:pt x="200927" y="343750"/>
                </a:lnTo>
                <a:lnTo>
                  <a:pt x="216258" y="335187"/>
                </a:lnTo>
                <a:close/>
              </a:path>
              <a:path w="309879" h="375285">
                <a:moveTo>
                  <a:pt x="196595" y="335260"/>
                </a:moveTo>
                <a:lnTo>
                  <a:pt x="196407" y="335348"/>
                </a:lnTo>
                <a:lnTo>
                  <a:pt x="196595" y="335260"/>
                </a:lnTo>
                <a:close/>
              </a:path>
              <a:path w="309879" h="375285">
                <a:moveTo>
                  <a:pt x="231544" y="325357"/>
                </a:moveTo>
                <a:lnTo>
                  <a:pt x="214325" y="325357"/>
                </a:lnTo>
                <a:lnTo>
                  <a:pt x="214016" y="325545"/>
                </a:lnTo>
                <a:lnTo>
                  <a:pt x="196595" y="335260"/>
                </a:lnTo>
                <a:lnTo>
                  <a:pt x="196752" y="335187"/>
                </a:lnTo>
                <a:lnTo>
                  <a:pt x="216258" y="335187"/>
                </a:lnTo>
                <a:lnTo>
                  <a:pt x="219128" y="333585"/>
                </a:lnTo>
                <a:lnTo>
                  <a:pt x="231544" y="325357"/>
                </a:lnTo>
                <a:close/>
              </a:path>
              <a:path w="309879" h="375285">
                <a:moveTo>
                  <a:pt x="214166" y="325446"/>
                </a:moveTo>
                <a:lnTo>
                  <a:pt x="213988" y="325545"/>
                </a:lnTo>
                <a:lnTo>
                  <a:pt x="214166" y="325446"/>
                </a:lnTo>
                <a:close/>
              </a:path>
              <a:path w="309879" h="375285">
                <a:moveTo>
                  <a:pt x="246156" y="314468"/>
                </a:moveTo>
                <a:lnTo>
                  <a:pt x="230732" y="314468"/>
                </a:lnTo>
                <a:lnTo>
                  <a:pt x="230426" y="314689"/>
                </a:lnTo>
                <a:lnTo>
                  <a:pt x="214166" y="325446"/>
                </a:lnTo>
                <a:lnTo>
                  <a:pt x="214325" y="325357"/>
                </a:lnTo>
                <a:lnTo>
                  <a:pt x="231544" y="325357"/>
                </a:lnTo>
                <a:lnTo>
                  <a:pt x="236151" y="322304"/>
                </a:lnTo>
                <a:lnTo>
                  <a:pt x="246156" y="314468"/>
                </a:lnTo>
                <a:close/>
              </a:path>
              <a:path w="309879" h="375285">
                <a:moveTo>
                  <a:pt x="230572" y="314574"/>
                </a:moveTo>
                <a:lnTo>
                  <a:pt x="230399" y="314689"/>
                </a:lnTo>
                <a:lnTo>
                  <a:pt x="230572" y="314574"/>
                </a:lnTo>
                <a:close/>
              </a:path>
              <a:path w="309879" h="375285">
                <a:moveTo>
                  <a:pt x="259771" y="302647"/>
                </a:moveTo>
                <a:lnTo>
                  <a:pt x="245802" y="302647"/>
                </a:lnTo>
                <a:lnTo>
                  <a:pt x="245497" y="302908"/>
                </a:lnTo>
                <a:lnTo>
                  <a:pt x="230572" y="314574"/>
                </a:lnTo>
                <a:lnTo>
                  <a:pt x="230732" y="314468"/>
                </a:lnTo>
                <a:lnTo>
                  <a:pt x="246156" y="314468"/>
                </a:lnTo>
                <a:lnTo>
                  <a:pt x="251833" y="310022"/>
                </a:lnTo>
                <a:lnTo>
                  <a:pt x="259771" y="302647"/>
                </a:lnTo>
                <a:close/>
              </a:path>
              <a:path w="309879" h="375285">
                <a:moveTo>
                  <a:pt x="245646" y="302769"/>
                </a:moveTo>
                <a:lnTo>
                  <a:pt x="245469" y="302908"/>
                </a:lnTo>
                <a:lnTo>
                  <a:pt x="245646" y="302769"/>
                </a:lnTo>
                <a:close/>
              </a:path>
              <a:path w="309879" h="375285">
                <a:moveTo>
                  <a:pt x="272128" y="290022"/>
                </a:moveTo>
                <a:lnTo>
                  <a:pt x="259365" y="290022"/>
                </a:lnTo>
                <a:lnTo>
                  <a:pt x="259060" y="290333"/>
                </a:lnTo>
                <a:lnTo>
                  <a:pt x="245646" y="302769"/>
                </a:lnTo>
                <a:lnTo>
                  <a:pt x="245802" y="302647"/>
                </a:lnTo>
                <a:lnTo>
                  <a:pt x="259771" y="302647"/>
                </a:lnTo>
                <a:lnTo>
                  <a:pt x="266009" y="296852"/>
                </a:lnTo>
                <a:lnTo>
                  <a:pt x="272128" y="290022"/>
                </a:lnTo>
                <a:close/>
              </a:path>
              <a:path w="309879" h="375285">
                <a:moveTo>
                  <a:pt x="259208" y="290168"/>
                </a:moveTo>
                <a:lnTo>
                  <a:pt x="259031" y="290333"/>
                </a:lnTo>
                <a:lnTo>
                  <a:pt x="259208" y="290168"/>
                </a:lnTo>
                <a:close/>
              </a:path>
              <a:path w="309879" h="375285">
                <a:moveTo>
                  <a:pt x="283009" y="276723"/>
                </a:moveTo>
                <a:lnTo>
                  <a:pt x="271255" y="276723"/>
                </a:lnTo>
                <a:lnTo>
                  <a:pt x="270953" y="277097"/>
                </a:lnTo>
                <a:lnTo>
                  <a:pt x="259208" y="290168"/>
                </a:lnTo>
                <a:lnTo>
                  <a:pt x="259365" y="290022"/>
                </a:lnTo>
                <a:lnTo>
                  <a:pt x="272128" y="290022"/>
                </a:lnTo>
                <a:lnTo>
                  <a:pt x="278509" y="282900"/>
                </a:lnTo>
                <a:lnTo>
                  <a:pt x="283009" y="276723"/>
                </a:lnTo>
                <a:close/>
              </a:path>
              <a:path w="309879" h="375285">
                <a:moveTo>
                  <a:pt x="271096" y="276901"/>
                </a:moveTo>
                <a:lnTo>
                  <a:pt x="270920" y="277097"/>
                </a:lnTo>
                <a:lnTo>
                  <a:pt x="271096" y="276901"/>
                </a:lnTo>
                <a:close/>
              </a:path>
              <a:path w="309879" h="375285">
                <a:moveTo>
                  <a:pt x="292224" y="262885"/>
                </a:moveTo>
                <a:lnTo>
                  <a:pt x="281304" y="262885"/>
                </a:lnTo>
                <a:lnTo>
                  <a:pt x="281014" y="263337"/>
                </a:lnTo>
                <a:lnTo>
                  <a:pt x="271096" y="276901"/>
                </a:lnTo>
                <a:lnTo>
                  <a:pt x="271255" y="276723"/>
                </a:lnTo>
                <a:lnTo>
                  <a:pt x="283009" y="276723"/>
                </a:lnTo>
                <a:lnTo>
                  <a:pt x="289163" y="268275"/>
                </a:lnTo>
                <a:lnTo>
                  <a:pt x="292224" y="262885"/>
                </a:lnTo>
                <a:close/>
              </a:path>
              <a:path w="309879" h="375285">
                <a:moveTo>
                  <a:pt x="281151" y="263096"/>
                </a:moveTo>
                <a:lnTo>
                  <a:pt x="280975" y="263337"/>
                </a:lnTo>
                <a:lnTo>
                  <a:pt x="281151" y="263096"/>
                </a:lnTo>
                <a:close/>
              </a:path>
              <a:path w="309879" h="375285">
                <a:moveTo>
                  <a:pt x="281304" y="262885"/>
                </a:moveTo>
                <a:lnTo>
                  <a:pt x="281151" y="263096"/>
                </a:lnTo>
                <a:lnTo>
                  <a:pt x="281014" y="263337"/>
                </a:lnTo>
                <a:lnTo>
                  <a:pt x="281304" y="262885"/>
                </a:lnTo>
                <a:close/>
              </a:path>
              <a:path w="309879" h="375285">
                <a:moveTo>
                  <a:pt x="299608" y="248643"/>
                </a:moveTo>
                <a:lnTo>
                  <a:pt x="289356" y="248643"/>
                </a:lnTo>
                <a:lnTo>
                  <a:pt x="289091" y="249189"/>
                </a:lnTo>
                <a:lnTo>
                  <a:pt x="281151" y="263096"/>
                </a:lnTo>
                <a:lnTo>
                  <a:pt x="281304" y="262885"/>
                </a:lnTo>
                <a:lnTo>
                  <a:pt x="292224" y="262885"/>
                </a:lnTo>
                <a:lnTo>
                  <a:pt x="297790" y="253081"/>
                </a:lnTo>
                <a:lnTo>
                  <a:pt x="299608" y="248643"/>
                </a:lnTo>
                <a:close/>
              </a:path>
              <a:path w="309879" h="375285">
                <a:moveTo>
                  <a:pt x="289207" y="248906"/>
                </a:moveTo>
                <a:lnTo>
                  <a:pt x="289046" y="249189"/>
                </a:lnTo>
                <a:lnTo>
                  <a:pt x="289207" y="248906"/>
                </a:lnTo>
                <a:close/>
              </a:path>
              <a:path w="309879" h="375285">
                <a:moveTo>
                  <a:pt x="289356" y="248643"/>
                </a:moveTo>
                <a:lnTo>
                  <a:pt x="289207" y="248906"/>
                </a:lnTo>
                <a:lnTo>
                  <a:pt x="289091" y="249189"/>
                </a:lnTo>
                <a:lnTo>
                  <a:pt x="289356" y="248643"/>
                </a:lnTo>
                <a:close/>
              </a:path>
              <a:path w="309879" h="375285">
                <a:moveTo>
                  <a:pt x="305026" y="234132"/>
                </a:moveTo>
                <a:lnTo>
                  <a:pt x="295258" y="234132"/>
                </a:lnTo>
                <a:lnTo>
                  <a:pt x="295045" y="234782"/>
                </a:lnTo>
                <a:lnTo>
                  <a:pt x="289207" y="248906"/>
                </a:lnTo>
                <a:lnTo>
                  <a:pt x="289356" y="248643"/>
                </a:lnTo>
                <a:lnTo>
                  <a:pt x="299608" y="248643"/>
                </a:lnTo>
                <a:lnTo>
                  <a:pt x="304203" y="237425"/>
                </a:lnTo>
                <a:lnTo>
                  <a:pt x="305026" y="234132"/>
                </a:lnTo>
                <a:close/>
              </a:path>
              <a:path w="309879" h="375285">
                <a:moveTo>
                  <a:pt x="295128" y="234450"/>
                </a:moveTo>
                <a:lnTo>
                  <a:pt x="294992" y="234782"/>
                </a:lnTo>
                <a:lnTo>
                  <a:pt x="295128" y="234450"/>
                </a:lnTo>
                <a:close/>
              </a:path>
              <a:path w="309879" h="375285">
                <a:moveTo>
                  <a:pt x="295258" y="234132"/>
                </a:moveTo>
                <a:lnTo>
                  <a:pt x="295128" y="234450"/>
                </a:lnTo>
                <a:lnTo>
                  <a:pt x="295045" y="234782"/>
                </a:lnTo>
                <a:lnTo>
                  <a:pt x="295258" y="234132"/>
                </a:lnTo>
                <a:close/>
              </a:path>
              <a:path w="309879" h="375285">
                <a:moveTo>
                  <a:pt x="308367" y="219484"/>
                </a:moveTo>
                <a:lnTo>
                  <a:pt x="298867" y="219484"/>
                </a:lnTo>
                <a:lnTo>
                  <a:pt x="298743" y="220235"/>
                </a:lnTo>
                <a:lnTo>
                  <a:pt x="295128" y="234450"/>
                </a:lnTo>
                <a:lnTo>
                  <a:pt x="295258" y="234132"/>
                </a:lnTo>
                <a:lnTo>
                  <a:pt x="305026" y="234132"/>
                </a:lnTo>
                <a:lnTo>
                  <a:pt x="308202" y="221423"/>
                </a:lnTo>
                <a:lnTo>
                  <a:pt x="308367" y="219484"/>
                </a:lnTo>
                <a:close/>
              </a:path>
              <a:path w="309879" h="375285">
                <a:moveTo>
                  <a:pt x="298775" y="219852"/>
                </a:moveTo>
                <a:lnTo>
                  <a:pt x="298680" y="220235"/>
                </a:lnTo>
                <a:lnTo>
                  <a:pt x="298775" y="219852"/>
                </a:lnTo>
                <a:close/>
              </a:path>
              <a:path w="309879" h="375285">
                <a:moveTo>
                  <a:pt x="309547" y="204817"/>
                </a:moveTo>
                <a:lnTo>
                  <a:pt x="300055" y="204817"/>
                </a:lnTo>
                <a:lnTo>
                  <a:pt x="300045" y="205490"/>
                </a:lnTo>
                <a:lnTo>
                  <a:pt x="298775" y="219852"/>
                </a:lnTo>
                <a:lnTo>
                  <a:pt x="298867" y="219484"/>
                </a:lnTo>
                <a:lnTo>
                  <a:pt x="308367" y="219484"/>
                </a:lnTo>
                <a:lnTo>
                  <a:pt x="309556" y="205490"/>
                </a:lnTo>
                <a:lnTo>
                  <a:pt x="309547" y="204817"/>
                </a:lnTo>
                <a:close/>
              </a:path>
              <a:path w="309879" h="375285">
                <a:moveTo>
                  <a:pt x="300026" y="205158"/>
                </a:moveTo>
                <a:lnTo>
                  <a:pt x="299997" y="205490"/>
                </a:lnTo>
                <a:lnTo>
                  <a:pt x="300026" y="205158"/>
                </a:lnTo>
                <a:close/>
              </a:path>
              <a:path w="309879" h="375285">
                <a:moveTo>
                  <a:pt x="308711" y="190071"/>
                </a:moveTo>
                <a:lnTo>
                  <a:pt x="299171" y="190071"/>
                </a:lnTo>
                <a:lnTo>
                  <a:pt x="299228" y="190584"/>
                </a:lnTo>
                <a:lnTo>
                  <a:pt x="300026" y="205158"/>
                </a:lnTo>
                <a:lnTo>
                  <a:pt x="300055" y="204817"/>
                </a:lnTo>
                <a:lnTo>
                  <a:pt x="309547" y="204817"/>
                </a:lnTo>
                <a:lnTo>
                  <a:pt x="308711" y="190071"/>
                </a:lnTo>
                <a:close/>
              </a:path>
              <a:path w="309879" h="375285">
                <a:moveTo>
                  <a:pt x="299185" y="190329"/>
                </a:moveTo>
                <a:lnTo>
                  <a:pt x="299200" y="190584"/>
                </a:lnTo>
                <a:lnTo>
                  <a:pt x="299185" y="190329"/>
                </a:lnTo>
                <a:close/>
              </a:path>
              <a:path w="309879" h="375285">
                <a:moveTo>
                  <a:pt x="306336" y="175286"/>
                </a:moveTo>
                <a:lnTo>
                  <a:pt x="296679" y="175286"/>
                </a:lnTo>
                <a:lnTo>
                  <a:pt x="296782" y="175758"/>
                </a:lnTo>
                <a:lnTo>
                  <a:pt x="299185" y="190329"/>
                </a:lnTo>
                <a:lnTo>
                  <a:pt x="299171" y="190071"/>
                </a:lnTo>
                <a:lnTo>
                  <a:pt x="308711" y="190071"/>
                </a:lnTo>
                <a:lnTo>
                  <a:pt x="308665" y="189274"/>
                </a:lnTo>
                <a:lnTo>
                  <a:pt x="306336" y="175286"/>
                </a:lnTo>
                <a:close/>
              </a:path>
              <a:path w="309879" h="375285">
                <a:moveTo>
                  <a:pt x="296720" y="175530"/>
                </a:moveTo>
                <a:lnTo>
                  <a:pt x="296758" y="175758"/>
                </a:lnTo>
                <a:lnTo>
                  <a:pt x="296720" y="175530"/>
                </a:lnTo>
                <a:close/>
              </a:path>
              <a:path w="309879" h="375285">
                <a:moveTo>
                  <a:pt x="302545" y="160701"/>
                </a:moveTo>
                <a:lnTo>
                  <a:pt x="292671" y="160701"/>
                </a:lnTo>
                <a:lnTo>
                  <a:pt x="292811" y="161133"/>
                </a:lnTo>
                <a:lnTo>
                  <a:pt x="296720" y="175530"/>
                </a:lnTo>
                <a:lnTo>
                  <a:pt x="296679" y="175286"/>
                </a:lnTo>
                <a:lnTo>
                  <a:pt x="306336" y="175286"/>
                </a:lnTo>
                <a:lnTo>
                  <a:pt x="306035" y="173482"/>
                </a:lnTo>
                <a:lnTo>
                  <a:pt x="302545" y="160701"/>
                </a:lnTo>
                <a:close/>
              </a:path>
              <a:path w="309879" h="375285">
                <a:moveTo>
                  <a:pt x="292732" y="160925"/>
                </a:moveTo>
                <a:lnTo>
                  <a:pt x="292789" y="161133"/>
                </a:lnTo>
                <a:lnTo>
                  <a:pt x="292732" y="160925"/>
                </a:lnTo>
                <a:close/>
              </a:path>
              <a:path w="309879" h="375285">
                <a:moveTo>
                  <a:pt x="297433" y="146438"/>
                </a:moveTo>
                <a:lnTo>
                  <a:pt x="287249" y="146438"/>
                </a:lnTo>
                <a:lnTo>
                  <a:pt x="287418" y="146832"/>
                </a:lnTo>
                <a:lnTo>
                  <a:pt x="292732" y="160925"/>
                </a:lnTo>
                <a:lnTo>
                  <a:pt x="292671" y="160701"/>
                </a:lnTo>
                <a:lnTo>
                  <a:pt x="302545" y="160701"/>
                </a:lnTo>
                <a:lnTo>
                  <a:pt x="301800" y="157973"/>
                </a:lnTo>
                <a:lnTo>
                  <a:pt x="297433" y="146438"/>
                </a:lnTo>
                <a:close/>
              </a:path>
              <a:path w="309879" h="375285">
                <a:moveTo>
                  <a:pt x="287329" y="146649"/>
                </a:moveTo>
                <a:lnTo>
                  <a:pt x="287399" y="146832"/>
                </a:lnTo>
                <a:lnTo>
                  <a:pt x="287329" y="146649"/>
                </a:lnTo>
                <a:close/>
              </a:path>
              <a:path w="309879" h="375285">
                <a:moveTo>
                  <a:pt x="291106" y="132620"/>
                </a:moveTo>
                <a:lnTo>
                  <a:pt x="280517" y="132620"/>
                </a:lnTo>
                <a:lnTo>
                  <a:pt x="280713" y="132981"/>
                </a:lnTo>
                <a:lnTo>
                  <a:pt x="287329" y="146649"/>
                </a:lnTo>
                <a:lnTo>
                  <a:pt x="287249" y="146438"/>
                </a:lnTo>
                <a:lnTo>
                  <a:pt x="297433" y="146438"/>
                </a:lnTo>
                <a:lnTo>
                  <a:pt x="296081" y="142865"/>
                </a:lnTo>
                <a:lnTo>
                  <a:pt x="291106" y="132620"/>
                </a:lnTo>
                <a:close/>
              </a:path>
              <a:path w="309879" h="375285">
                <a:moveTo>
                  <a:pt x="280606" y="132804"/>
                </a:moveTo>
                <a:lnTo>
                  <a:pt x="280693" y="132981"/>
                </a:lnTo>
                <a:lnTo>
                  <a:pt x="280606" y="132804"/>
                </a:lnTo>
                <a:close/>
              </a:path>
              <a:path w="309879" h="375285">
                <a:moveTo>
                  <a:pt x="283678" y="119372"/>
                </a:moveTo>
                <a:lnTo>
                  <a:pt x="272582" y="119372"/>
                </a:lnTo>
                <a:lnTo>
                  <a:pt x="272920" y="119864"/>
                </a:lnTo>
                <a:lnTo>
                  <a:pt x="280606" y="132804"/>
                </a:lnTo>
                <a:lnTo>
                  <a:pt x="280517" y="132620"/>
                </a:lnTo>
                <a:lnTo>
                  <a:pt x="291106" y="132620"/>
                </a:lnTo>
                <a:lnTo>
                  <a:pt x="288996" y="128274"/>
                </a:lnTo>
                <a:lnTo>
                  <a:pt x="283678" y="119372"/>
                </a:lnTo>
                <a:close/>
              </a:path>
              <a:path w="309879" h="375285">
                <a:moveTo>
                  <a:pt x="272733" y="119625"/>
                </a:moveTo>
                <a:lnTo>
                  <a:pt x="272876" y="119864"/>
                </a:lnTo>
                <a:lnTo>
                  <a:pt x="272733" y="119625"/>
                </a:lnTo>
                <a:close/>
              </a:path>
              <a:path w="309879" h="375285">
                <a:moveTo>
                  <a:pt x="272582" y="119372"/>
                </a:moveTo>
                <a:lnTo>
                  <a:pt x="272733" y="119625"/>
                </a:lnTo>
                <a:lnTo>
                  <a:pt x="272920" y="119864"/>
                </a:lnTo>
                <a:lnTo>
                  <a:pt x="272582" y="119372"/>
                </a:lnTo>
                <a:close/>
              </a:path>
              <a:path w="309879" h="375285">
                <a:moveTo>
                  <a:pt x="265516" y="94937"/>
                </a:moveTo>
                <a:lnTo>
                  <a:pt x="253423" y="94937"/>
                </a:lnTo>
                <a:lnTo>
                  <a:pt x="253818" y="95380"/>
                </a:lnTo>
                <a:lnTo>
                  <a:pt x="272733" y="119625"/>
                </a:lnTo>
                <a:lnTo>
                  <a:pt x="272582" y="119372"/>
                </a:lnTo>
                <a:lnTo>
                  <a:pt x="283678" y="119372"/>
                </a:lnTo>
                <a:lnTo>
                  <a:pt x="280607" y="114231"/>
                </a:lnTo>
                <a:lnTo>
                  <a:pt x="265516" y="94937"/>
                </a:lnTo>
                <a:close/>
              </a:path>
              <a:path w="309879" h="375285">
                <a:moveTo>
                  <a:pt x="253602" y="95166"/>
                </a:moveTo>
                <a:lnTo>
                  <a:pt x="253770" y="95380"/>
                </a:lnTo>
                <a:lnTo>
                  <a:pt x="253602" y="95166"/>
                </a:lnTo>
                <a:close/>
              </a:path>
              <a:path w="309879" h="375285">
                <a:moveTo>
                  <a:pt x="253423" y="94937"/>
                </a:moveTo>
                <a:lnTo>
                  <a:pt x="253602" y="95166"/>
                </a:lnTo>
                <a:lnTo>
                  <a:pt x="253818" y="95380"/>
                </a:lnTo>
                <a:lnTo>
                  <a:pt x="253423" y="94937"/>
                </a:lnTo>
                <a:close/>
              </a:path>
              <a:path w="309879" h="375285">
                <a:moveTo>
                  <a:pt x="256185" y="84304"/>
                </a:moveTo>
                <a:lnTo>
                  <a:pt x="242674" y="84304"/>
                </a:lnTo>
                <a:lnTo>
                  <a:pt x="242973" y="84577"/>
                </a:lnTo>
                <a:lnTo>
                  <a:pt x="253602" y="95166"/>
                </a:lnTo>
                <a:lnTo>
                  <a:pt x="253423" y="94937"/>
                </a:lnTo>
                <a:lnTo>
                  <a:pt x="265516" y="94937"/>
                </a:lnTo>
                <a:lnTo>
                  <a:pt x="260743" y="88834"/>
                </a:lnTo>
                <a:lnTo>
                  <a:pt x="256185" y="84304"/>
                </a:lnTo>
                <a:close/>
              </a:path>
              <a:path w="309879" h="375285">
                <a:moveTo>
                  <a:pt x="242813" y="84443"/>
                </a:moveTo>
                <a:lnTo>
                  <a:pt x="242948" y="84577"/>
                </a:lnTo>
                <a:lnTo>
                  <a:pt x="242813" y="84443"/>
                </a:lnTo>
                <a:close/>
              </a:path>
              <a:path w="309879" h="375285">
                <a:moveTo>
                  <a:pt x="245879" y="74586"/>
                </a:moveTo>
                <a:lnTo>
                  <a:pt x="231048" y="74586"/>
                </a:lnTo>
                <a:lnTo>
                  <a:pt x="231382" y="74841"/>
                </a:lnTo>
                <a:lnTo>
                  <a:pt x="242813" y="84443"/>
                </a:lnTo>
                <a:lnTo>
                  <a:pt x="242674" y="84304"/>
                </a:lnTo>
                <a:lnTo>
                  <a:pt x="256185" y="84304"/>
                </a:lnTo>
                <a:lnTo>
                  <a:pt x="249245" y="77405"/>
                </a:lnTo>
                <a:lnTo>
                  <a:pt x="245879" y="74586"/>
                </a:lnTo>
                <a:close/>
              </a:path>
              <a:path w="309879" h="375285">
                <a:moveTo>
                  <a:pt x="231209" y="74720"/>
                </a:moveTo>
                <a:lnTo>
                  <a:pt x="231353" y="74841"/>
                </a:lnTo>
                <a:lnTo>
                  <a:pt x="231209" y="74720"/>
                </a:lnTo>
                <a:close/>
              </a:path>
              <a:path w="309879" h="375285">
                <a:moveTo>
                  <a:pt x="235436" y="66056"/>
                </a:moveTo>
                <a:lnTo>
                  <a:pt x="218787" y="66056"/>
                </a:lnTo>
                <a:lnTo>
                  <a:pt x="219162" y="66293"/>
                </a:lnTo>
                <a:lnTo>
                  <a:pt x="231209" y="74720"/>
                </a:lnTo>
                <a:lnTo>
                  <a:pt x="231048" y="74586"/>
                </a:lnTo>
                <a:lnTo>
                  <a:pt x="245879" y="74586"/>
                </a:lnTo>
                <a:lnTo>
                  <a:pt x="237003" y="67149"/>
                </a:lnTo>
                <a:lnTo>
                  <a:pt x="235436" y="66056"/>
                </a:lnTo>
                <a:close/>
              </a:path>
              <a:path w="309879" h="375285">
                <a:moveTo>
                  <a:pt x="82533" y="0"/>
                </a:moveTo>
                <a:lnTo>
                  <a:pt x="0" y="21127"/>
                </a:lnTo>
                <a:lnTo>
                  <a:pt x="66422" y="74477"/>
                </a:lnTo>
                <a:lnTo>
                  <a:pt x="73704" y="40815"/>
                </a:lnTo>
                <a:lnTo>
                  <a:pt x="61470" y="39278"/>
                </a:lnTo>
                <a:lnTo>
                  <a:pt x="62657" y="29828"/>
                </a:lnTo>
                <a:lnTo>
                  <a:pt x="76080" y="29828"/>
                </a:lnTo>
                <a:lnTo>
                  <a:pt x="82533" y="0"/>
                </a:lnTo>
                <a:close/>
              </a:path>
              <a:path w="309879" h="375285">
                <a:moveTo>
                  <a:pt x="218974" y="66186"/>
                </a:moveTo>
                <a:lnTo>
                  <a:pt x="219127" y="66293"/>
                </a:lnTo>
                <a:lnTo>
                  <a:pt x="218974" y="66186"/>
                </a:lnTo>
                <a:close/>
              </a:path>
              <a:path w="309879" h="375285">
                <a:moveTo>
                  <a:pt x="225084" y="58835"/>
                </a:moveTo>
                <a:lnTo>
                  <a:pt x="206010" y="58835"/>
                </a:lnTo>
                <a:lnTo>
                  <a:pt x="206434" y="59048"/>
                </a:lnTo>
                <a:lnTo>
                  <a:pt x="218974" y="66186"/>
                </a:lnTo>
                <a:lnTo>
                  <a:pt x="218787" y="66056"/>
                </a:lnTo>
                <a:lnTo>
                  <a:pt x="235436" y="66056"/>
                </a:lnTo>
                <a:lnTo>
                  <a:pt x="225084" y="58835"/>
                </a:lnTo>
                <a:close/>
              </a:path>
              <a:path w="309879" h="375285">
                <a:moveTo>
                  <a:pt x="206215" y="58951"/>
                </a:moveTo>
                <a:lnTo>
                  <a:pt x="206386" y="59048"/>
                </a:lnTo>
                <a:lnTo>
                  <a:pt x="206215" y="58951"/>
                </a:lnTo>
                <a:close/>
              </a:path>
              <a:path w="309879" h="375285">
                <a:moveTo>
                  <a:pt x="215096" y="53037"/>
                </a:moveTo>
                <a:lnTo>
                  <a:pt x="192835" y="53037"/>
                </a:lnTo>
                <a:lnTo>
                  <a:pt x="193314" y="53219"/>
                </a:lnTo>
                <a:lnTo>
                  <a:pt x="206215" y="58951"/>
                </a:lnTo>
                <a:lnTo>
                  <a:pt x="206010" y="58835"/>
                </a:lnTo>
                <a:lnTo>
                  <a:pt x="225084" y="58835"/>
                </a:lnTo>
                <a:lnTo>
                  <a:pt x="224054" y="58117"/>
                </a:lnTo>
                <a:lnTo>
                  <a:pt x="215096" y="53037"/>
                </a:lnTo>
                <a:close/>
              </a:path>
              <a:path w="309879" h="375285">
                <a:moveTo>
                  <a:pt x="193069" y="53141"/>
                </a:moveTo>
                <a:lnTo>
                  <a:pt x="193246" y="53219"/>
                </a:lnTo>
                <a:lnTo>
                  <a:pt x="193069" y="53141"/>
                </a:lnTo>
                <a:close/>
              </a:path>
              <a:path w="309879" h="375285">
                <a:moveTo>
                  <a:pt x="192835" y="53037"/>
                </a:moveTo>
                <a:lnTo>
                  <a:pt x="193069" y="53141"/>
                </a:lnTo>
                <a:lnTo>
                  <a:pt x="193314" y="53219"/>
                </a:lnTo>
                <a:lnTo>
                  <a:pt x="192835" y="53037"/>
                </a:lnTo>
                <a:close/>
              </a:path>
              <a:path w="309879" h="375285">
                <a:moveTo>
                  <a:pt x="206755" y="48776"/>
                </a:moveTo>
                <a:lnTo>
                  <a:pt x="179379" y="48776"/>
                </a:lnTo>
                <a:lnTo>
                  <a:pt x="179917" y="48914"/>
                </a:lnTo>
                <a:lnTo>
                  <a:pt x="193069" y="53141"/>
                </a:lnTo>
                <a:lnTo>
                  <a:pt x="192835" y="53037"/>
                </a:lnTo>
                <a:lnTo>
                  <a:pt x="215096" y="53037"/>
                </a:lnTo>
                <a:lnTo>
                  <a:pt x="210502" y="50432"/>
                </a:lnTo>
                <a:lnTo>
                  <a:pt x="206755" y="48776"/>
                </a:lnTo>
                <a:close/>
              </a:path>
              <a:path w="309879" h="375285">
                <a:moveTo>
                  <a:pt x="179644" y="48861"/>
                </a:moveTo>
                <a:lnTo>
                  <a:pt x="179810" y="48914"/>
                </a:lnTo>
                <a:lnTo>
                  <a:pt x="179644" y="48861"/>
                </a:lnTo>
                <a:close/>
              </a:path>
              <a:path w="309879" h="375285">
                <a:moveTo>
                  <a:pt x="179379" y="48776"/>
                </a:moveTo>
                <a:lnTo>
                  <a:pt x="179644" y="48861"/>
                </a:lnTo>
                <a:lnTo>
                  <a:pt x="179917" y="48914"/>
                </a:lnTo>
                <a:lnTo>
                  <a:pt x="179379" y="48776"/>
                </a:lnTo>
                <a:close/>
              </a:path>
              <a:path w="309879" h="375285">
                <a:moveTo>
                  <a:pt x="200835" y="46160"/>
                </a:moveTo>
                <a:lnTo>
                  <a:pt x="165760" y="46160"/>
                </a:lnTo>
                <a:lnTo>
                  <a:pt x="166354" y="46237"/>
                </a:lnTo>
                <a:lnTo>
                  <a:pt x="166157" y="46237"/>
                </a:lnTo>
                <a:lnTo>
                  <a:pt x="179644" y="48861"/>
                </a:lnTo>
                <a:lnTo>
                  <a:pt x="179379" y="48776"/>
                </a:lnTo>
                <a:lnTo>
                  <a:pt x="206755" y="48776"/>
                </a:lnTo>
                <a:lnTo>
                  <a:pt x="201010" y="46237"/>
                </a:lnTo>
                <a:lnTo>
                  <a:pt x="166354" y="46237"/>
                </a:lnTo>
                <a:lnTo>
                  <a:pt x="166055" y="46217"/>
                </a:lnTo>
                <a:lnTo>
                  <a:pt x="200965" y="46217"/>
                </a:lnTo>
                <a:lnTo>
                  <a:pt x="200835" y="46160"/>
                </a:lnTo>
                <a:close/>
              </a:path>
              <a:path w="309879" h="375285">
                <a:moveTo>
                  <a:pt x="165760" y="46160"/>
                </a:moveTo>
                <a:lnTo>
                  <a:pt x="166055" y="46217"/>
                </a:lnTo>
                <a:lnTo>
                  <a:pt x="166354" y="46237"/>
                </a:lnTo>
                <a:lnTo>
                  <a:pt x="165760" y="46160"/>
                </a:lnTo>
                <a:close/>
              </a:path>
              <a:path w="309879" h="375285">
                <a:moveTo>
                  <a:pt x="198872" y="45292"/>
                </a:moveTo>
                <a:lnTo>
                  <a:pt x="152085" y="45292"/>
                </a:lnTo>
                <a:lnTo>
                  <a:pt x="152327" y="45302"/>
                </a:lnTo>
                <a:lnTo>
                  <a:pt x="166055" y="46217"/>
                </a:lnTo>
                <a:lnTo>
                  <a:pt x="165760" y="46160"/>
                </a:lnTo>
                <a:lnTo>
                  <a:pt x="200835" y="46160"/>
                </a:lnTo>
                <a:lnTo>
                  <a:pt x="198872" y="45292"/>
                </a:lnTo>
                <a:close/>
              </a:path>
              <a:path w="309879" h="375285">
                <a:moveTo>
                  <a:pt x="152206" y="45300"/>
                </a:moveTo>
                <a:close/>
              </a:path>
              <a:path w="309879" h="375285">
                <a:moveTo>
                  <a:pt x="75725" y="31469"/>
                </a:moveTo>
                <a:lnTo>
                  <a:pt x="73704" y="40815"/>
                </a:lnTo>
                <a:lnTo>
                  <a:pt x="96037" y="43621"/>
                </a:lnTo>
                <a:lnTo>
                  <a:pt x="123831" y="44865"/>
                </a:lnTo>
                <a:lnTo>
                  <a:pt x="152206" y="45300"/>
                </a:lnTo>
                <a:lnTo>
                  <a:pt x="198872" y="45292"/>
                </a:lnTo>
                <a:lnTo>
                  <a:pt x="152594" y="35780"/>
                </a:lnTo>
                <a:lnTo>
                  <a:pt x="124083" y="35343"/>
                </a:lnTo>
                <a:lnTo>
                  <a:pt x="97376" y="34146"/>
                </a:lnTo>
                <a:lnTo>
                  <a:pt x="97034" y="34146"/>
                </a:lnTo>
                <a:lnTo>
                  <a:pt x="96754" y="34122"/>
                </a:lnTo>
                <a:lnTo>
                  <a:pt x="75725" y="31469"/>
                </a:lnTo>
                <a:close/>
              </a:path>
              <a:path w="309879" h="375285">
                <a:moveTo>
                  <a:pt x="62657" y="29828"/>
                </a:moveTo>
                <a:lnTo>
                  <a:pt x="61470" y="39278"/>
                </a:lnTo>
                <a:lnTo>
                  <a:pt x="73704" y="40815"/>
                </a:lnTo>
                <a:lnTo>
                  <a:pt x="75725" y="31469"/>
                </a:lnTo>
                <a:lnTo>
                  <a:pt x="62657" y="29828"/>
                </a:lnTo>
                <a:close/>
              </a:path>
              <a:path w="309879" h="375285">
                <a:moveTo>
                  <a:pt x="124117" y="35343"/>
                </a:moveTo>
                <a:lnTo>
                  <a:pt x="124320" y="35346"/>
                </a:lnTo>
                <a:lnTo>
                  <a:pt x="124117" y="35343"/>
                </a:lnTo>
                <a:close/>
              </a:path>
              <a:path w="309879" h="375285">
                <a:moveTo>
                  <a:pt x="124093" y="35342"/>
                </a:moveTo>
                <a:close/>
              </a:path>
              <a:path w="309879" h="375285">
                <a:moveTo>
                  <a:pt x="96844" y="34122"/>
                </a:moveTo>
                <a:lnTo>
                  <a:pt x="97034" y="34146"/>
                </a:lnTo>
                <a:lnTo>
                  <a:pt x="97376" y="34146"/>
                </a:lnTo>
                <a:lnTo>
                  <a:pt x="96844" y="34122"/>
                </a:lnTo>
                <a:close/>
              </a:path>
              <a:path w="309879" h="375285">
                <a:moveTo>
                  <a:pt x="96776" y="34114"/>
                </a:moveTo>
                <a:close/>
              </a:path>
              <a:path w="309879" h="375285">
                <a:moveTo>
                  <a:pt x="76080" y="29828"/>
                </a:moveTo>
                <a:lnTo>
                  <a:pt x="62657" y="29828"/>
                </a:lnTo>
                <a:lnTo>
                  <a:pt x="75725" y="31469"/>
                </a:lnTo>
                <a:lnTo>
                  <a:pt x="76080" y="29828"/>
                </a:ln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65666" y="3016164"/>
            <a:ext cx="387688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BERT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struggles on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N-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to-</a:t>
            </a:r>
            <a:r>
              <a:rPr sz="2133" dirty="0">
                <a:solidFill>
                  <a:srgbClr val="FF30EE"/>
                </a:solidFill>
                <a:latin typeface="Calibri"/>
                <a:cs typeface="Calibri"/>
              </a:rPr>
              <a:t>M</a:t>
            </a:r>
            <a:r>
              <a:rPr sz="2133" spc="-7" dirty="0">
                <a:solidFill>
                  <a:srgbClr val="FF30EE"/>
                </a:solidFill>
                <a:latin typeface="Calibri"/>
                <a:cs typeface="Calibri"/>
              </a:rPr>
              <a:t> </a:t>
            </a:r>
            <a:r>
              <a:rPr sz="2133" spc="-13" dirty="0">
                <a:solidFill>
                  <a:srgbClr val="FF30EE"/>
                </a:solidFill>
                <a:latin typeface="Calibri"/>
                <a:cs typeface="Calibri"/>
              </a:rPr>
              <a:t>relations</a:t>
            </a:r>
            <a:endParaRPr sz="213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82398" y="3214483"/>
            <a:ext cx="209973" cy="1910927"/>
          </a:xfrm>
          <a:custGeom>
            <a:avLst/>
            <a:gdLst/>
            <a:ahLst/>
            <a:cxnLst/>
            <a:rect l="l" t="t" r="r" b="b"/>
            <a:pathLst>
              <a:path w="157479" h="1433195">
                <a:moveTo>
                  <a:pt x="36675" y="1356266"/>
                </a:moveTo>
                <a:lnTo>
                  <a:pt x="0" y="1433161"/>
                </a:lnTo>
                <a:lnTo>
                  <a:pt x="83521" y="1416363"/>
                </a:lnTo>
                <a:lnTo>
                  <a:pt x="69238" y="1398040"/>
                </a:lnTo>
                <a:lnTo>
                  <a:pt x="52790" y="1398040"/>
                </a:lnTo>
                <a:lnTo>
                  <a:pt x="47373" y="1390205"/>
                </a:lnTo>
                <a:lnTo>
                  <a:pt x="57613" y="1383127"/>
                </a:lnTo>
                <a:lnTo>
                  <a:pt x="36675" y="1356266"/>
                </a:lnTo>
                <a:close/>
              </a:path>
              <a:path w="157479" h="1433195">
                <a:moveTo>
                  <a:pt x="57613" y="1383127"/>
                </a:moveTo>
                <a:lnTo>
                  <a:pt x="47373" y="1390205"/>
                </a:lnTo>
                <a:lnTo>
                  <a:pt x="52790" y="1398040"/>
                </a:lnTo>
                <a:lnTo>
                  <a:pt x="63479" y="1390652"/>
                </a:lnTo>
                <a:lnTo>
                  <a:pt x="62350" y="1390642"/>
                </a:lnTo>
                <a:lnTo>
                  <a:pt x="63229" y="1390331"/>
                </a:lnTo>
                <a:lnTo>
                  <a:pt x="57613" y="1383127"/>
                </a:lnTo>
                <a:close/>
              </a:path>
              <a:path w="157479" h="1433195">
                <a:moveTo>
                  <a:pt x="63479" y="1390652"/>
                </a:moveTo>
                <a:lnTo>
                  <a:pt x="52790" y="1398040"/>
                </a:lnTo>
                <a:lnTo>
                  <a:pt x="69238" y="1398040"/>
                </a:lnTo>
                <a:lnTo>
                  <a:pt x="63479" y="1390652"/>
                </a:lnTo>
                <a:close/>
              </a:path>
              <a:path w="157479" h="1433195">
                <a:moveTo>
                  <a:pt x="63635" y="1390544"/>
                </a:moveTo>
                <a:lnTo>
                  <a:pt x="63408" y="1390561"/>
                </a:lnTo>
                <a:lnTo>
                  <a:pt x="63635" y="1390544"/>
                </a:lnTo>
                <a:close/>
              </a:path>
              <a:path w="157479" h="1433195">
                <a:moveTo>
                  <a:pt x="63229" y="1390331"/>
                </a:moveTo>
                <a:lnTo>
                  <a:pt x="62350" y="1390642"/>
                </a:lnTo>
                <a:lnTo>
                  <a:pt x="63408" y="1390561"/>
                </a:lnTo>
                <a:lnTo>
                  <a:pt x="63229" y="1390331"/>
                </a:lnTo>
                <a:close/>
              </a:path>
              <a:path w="157479" h="1433195">
                <a:moveTo>
                  <a:pt x="63408" y="1390561"/>
                </a:moveTo>
                <a:lnTo>
                  <a:pt x="62350" y="1390642"/>
                </a:lnTo>
                <a:lnTo>
                  <a:pt x="63471" y="1390642"/>
                </a:lnTo>
                <a:close/>
              </a:path>
              <a:path w="157479" h="1433195">
                <a:moveTo>
                  <a:pt x="64695" y="1389811"/>
                </a:moveTo>
                <a:lnTo>
                  <a:pt x="63229" y="1390331"/>
                </a:lnTo>
                <a:lnTo>
                  <a:pt x="63408" y="1390561"/>
                </a:lnTo>
                <a:lnTo>
                  <a:pt x="63635" y="1390544"/>
                </a:lnTo>
                <a:lnTo>
                  <a:pt x="64695" y="1389811"/>
                </a:lnTo>
                <a:close/>
              </a:path>
              <a:path w="157479" h="1433195">
                <a:moveTo>
                  <a:pt x="73225" y="1389811"/>
                </a:moveTo>
                <a:lnTo>
                  <a:pt x="64695" y="1389811"/>
                </a:lnTo>
                <a:lnTo>
                  <a:pt x="63635" y="1390544"/>
                </a:lnTo>
                <a:lnTo>
                  <a:pt x="73225" y="1389811"/>
                </a:lnTo>
                <a:close/>
              </a:path>
              <a:path w="157479" h="1433195">
                <a:moveTo>
                  <a:pt x="74785" y="1380139"/>
                </a:moveTo>
                <a:lnTo>
                  <a:pt x="60338" y="1381243"/>
                </a:lnTo>
                <a:lnTo>
                  <a:pt x="57613" y="1383127"/>
                </a:lnTo>
                <a:lnTo>
                  <a:pt x="63229" y="1390331"/>
                </a:lnTo>
                <a:lnTo>
                  <a:pt x="64695" y="1389811"/>
                </a:lnTo>
                <a:lnTo>
                  <a:pt x="73225" y="1389811"/>
                </a:lnTo>
                <a:lnTo>
                  <a:pt x="77614" y="1389476"/>
                </a:lnTo>
                <a:lnTo>
                  <a:pt x="83205" y="1386333"/>
                </a:lnTo>
                <a:lnTo>
                  <a:pt x="86612" y="1380656"/>
                </a:lnTo>
                <a:lnTo>
                  <a:pt x="73867" y="1380656"/>
                </a:lnTo>
                <a:lnTo>
                  <a:pt x="74785" y="1380139"/>
                </a:lnTo>
                <a:close/>
              </a:path>
              <a:path w="157479" h="1433195">
                <a:moveTo>
                  <a:pt x="75838" y="1380059"/>
                </a:moveTo>
                <a:lnTo>
                  <a:pt x="74785" y="1380139"/>
                </a:lnTo>
                <a:lnTo>
                  <a:pt x="73867" y="1380656"/>
                </a:lnTo>
                <a:lnTo>
                  <a:pt x="75838" y="1380059"/>
                </a:lnTo>
                <a:close/>
              </a:path>
              <a:path w="157479" h="1433195">
                <a:moveTo>
                  <a:pt x="75861" y="1380059"/>
                </a:moveTo>
                <a:lnTo>
                  <a:pt x="73867" y="1380656"/>
                </a:lnTo>
                <a:lnTo>
                  <a:pt x="86612" y="1380656"/>
                </a:lnTo>
                <a:lnTo>
                  <a:pt x="86796" y="1380349"/>
                </a:lnTo>
                <a:lnTo>
                  <a:pt x="75688" y="1380349"/>
                </a:lnTo>
                <a:lnTo>
                  <a:pt x="75861" y="1380059"/>
                </a:lnTo>
                <a:close/>
              </a:path>
              <a:path w="157479" h="1433195">
                <a:moveTo>
                  <a:pt x="77436" y="1378648"/>
                </a:moveTo>
                <a:lnTo>
                  <a:pt x="76337" y="1379266"/>
                </a:lnTo>
                <a:lnTo>
                  <a:pt x="75688" y="1380349"/>
                </a:lnTo>
                <a:lnTo>
                  <a:pt x="77436" y="1378648"/>
                </a:lnTo>
                <a:close/>
              </a:path>
              <a:path w="157479" h="1433195">
                <a:moveTo>
                  <a:pt x="87752" y="1378648"/>
                </a:moveTo>
                <a:lnTo>
                  <a:pt x="77436" y="1378648"/>
                </a:lnTo>
                <a:lnTo>
                  <a:pt x="75688" y="1380349"/>
                </a:lnTo>
                <a:lnTo>
                  <a:pt x="86796" y="1380349"/>
                </a:lnTo>
                <a:lnTo>
                  <a:pt x="87652" y="1378922"/>
                </a:lnTo>
                <a:lnTo>
                  <a:pt x="87752" y="1378648"/>
                </a:lnTo>
                <a:close/>
              </a:path>
              <a:path w="157479" h="1433195">
                <a:moveTo>
                  <a:pt x="76337" y="1379266"/>
                </a:moveTo>
                <a:lnTo>
                  <a:pt x="74785" y="1380139"/>
                </a:lnTo>
                <a:lnTo>
                  <a:pt x="75838" y="1380059"/>
                </a:lnTo>
                <a:lnTo>
                  <a:pt x="76337" y="1379266"/>
                </a:lnTo>
                <a:close/>
              </a:path>
              <a:path w="157479" h="1433195">
                <a:moveTo>
                  <a:pt x="89296" y="1374411"/>
                </a:moveTo>
                <a:lnTo>
                  <a:pt x="79251" y="1374411"/>
                </a:lnTo>
                <a:lnTo>
                  <a:pt x="78860" y="1375232"/>
                </a:lnTo>
                <a:lnTo>
                  <a:pt x="76337" y="1379266"/>
                </a:lnTo>
                <a:lnTo>
                  <a:pt x="77436" y="1378648"/>
                </a:lnTo>
                <a:lnTo>
                  <a:pt x="87752" y="1378648"/>
                </a:lnTo>
                <a:lnTo>
                  <a:pt x="89296" y="1374411"/>
                </a:lnTo>
                <a:close/>
              </a:path>
              <a:path w="157479" h="1433195">
                <a:moveTo>
                  <a:pt x="79017" y="1374802"/>
                </a:moveTo>
                <a:lnTo>
                  <a:pt x="78759" y="1375232"/>
                </a:lnTo>
                <a:lnTo>
                  <a:pt x="79017" y="1374802"/>
                </a:lnTo>
                <a:close/>
              </a:path>
              <a:path w="157479" h="1433195">
                <a:moveTo>
                  <a:pt x="79251" y="1374411"/>
                </a:moveTo>
                <a:lnTo>
                  <a:pt x="79017" y="1374802"/>
                </a:lnTo>
                <a:lnTo>
                  <a:pt x="78860" y="1375232"/>
                </a:lnTo>
                <a:lnTo>
                  <a:pt x="79251" y="1374411"/>
                </a:lnTo>
                <a:close/>
              </a:path>
              <a:path w="157479" h="1433195">
                <a:moveTo>
                  <a:pt x="92238" y="1365491"/>
                </a:moveTo>
                <a:lnTo>
                  <a:pt x="82410" y="1365491"/>
                </a:lnTo>
                <a:lnTo>
                  <a:pt x="82278" y="1365910"/>
                </a:lnTo>
                <a:lnTo>
                  <a:pt x="79017" y="1374802"/>
                </a:lnTo>
                <a:lnTo>
                  <a:pt x="79251" y="1374411"/>
                </a:lnTo>
                <a:lnTo>
                  <a:pt x="89296" y="1374411"/>
                </a:lnTo>
                <a:lnTo>
                  <a:pt x="91434" y="1368545"/>
                </a:lnTo>
                <a:lnTo>
                  <a:pt x="92238" y="1365491"/>
                </a:lnTo>
                <a:close/>
              </a:path>
              <a:path w="157479" h="1433195">
                <a:moveTo>
                  <a:pt x="82331" y="1365706"/>
                </a:moveTo>
                <a:lnTo>
                  <a:pt x="82257" y="1365910"/>
                </a:lnTo>
                <a:lnTo>
                  <a:pt x="82331" y="1365706"/>
                </a:lnTo>
                <a:close/>
              </a:path>
              <a:path w="157479" h="1433195">
                <a:moveTo>
                  <a:pt x="95526" y="1352492"/>
                </a:moveTo>
                <a:lnTo>
                  <a:pt x="85807" y="1352492"/>
                </a:lnTo>
                <a:lnTo>
                  <a:pt x="82331" y="1365706"/>
                </a:lnTo>
                <a:lnTo>
                  <a:pt x="82410" y="1365491"/>
                </a:lnTo>
                <a:lnTo>
                  <a:pt x="92238" y="1365491"/>
                </a:lnTo>
                <a:lnTo>
                  <a:pt x="95051" y="1354791"/>
                </a:lnTo>
                <a:lnTo>
                  <a:pt x="95526" y="1352492"/>
                </a:lnTo>
                <a:close/>
              </a:path>
              <a:path w="157479" h="1433195">
                <a:moveTo>
                  <a:pt x="98908" y="1335774"/>
                </a:moveTo>
                <a:lnTo>
                  <a:pt x="89250" y="1335774"/>
                </a:lnTo>
                <a:lnTo>
                  <a:pt x="85774" y="1352617"/>
                </a:lnTo>
                <a:lnTo>
                  <a:pt x="95526" y="1352492"/>
                </a:lnTo>
                <a:lnTo>
                  <a:pt x="98595" y="1337617"/>
                </a:lnTo>
                <a:lnTo>
                  <a:pt x="98908" y="1335774"/>
                </a:lnTo>
                <a:close/>
              </a:path>
              <a:path w="157479" h="1433195">
                <a:moveTo>
                  <a:pt x="102307" y="1315547"/>
                </a:moveTo>
                <a:lnTo>
                  <a:pt x="92685" y="1315547"/>
                </a:lnTo>
                <a:lnTo>
                  <a:pt x="89228" y="1335881"/>
                </a:lnTo>
                <a:lnTo>
                  <a:pt x="98908" y="1335774"/>
                </a:lnTo>
                <a:lnTo>
                  <a:pt x="102085" y="1317085"/>
                </a:lnTo>
                <a:lnTo>
                  <a:pt x="102307" y="1315547"/>
                </a:lnTo>
                <a:close/>
              </a:path>
              <a:path w="157479" h="1433195">
                <a:moveTo>
                  <a:pt x="105690" y="1291977"/>
                </a:moveTo>
                <a:lnTo>
                  <a:pt x="96090" y="1291977"/>
                </a:lnTo>
                <a:lnTo>
                  <a:pt x="92671" y="1315632"/>
                </a:lnTo>
                <a:lnTo>
                  <a:pt x="102307" y="1315547"/>
                </a:lnTo>
                <a:lnTo>
                  <a:pt x="105524" y="1293296"/>
                </a:lnTo>
                <a:lnTo>
                  <a:pt x="105690" y="1291977"/>
                </a:lnTo>
                <a:close/>
              </a:path>
              <a:path w="157479" h="1433195">
                <a:moveTo>
                  <a:pt x="109038" y="1265208"/>
                </a:moveTo>
                <a:lnTo>
                  <a:pt x="99454" y="1265208"/>
                </a:lnTo>
                <a:lnTo>
                  <a:pt x="96087" y="1291999"/>
                </a:lnTo>
                <a:lnTo>
                  <a:pt x="105690" y="1291977"/>
                </a:lnTo>
                <a:lnTo>
                  <a:pt x="108910" y="1266361"/>
                </a:lnTo>
                <a:lnTo>
                  <a:pt x="109038" y="1265208"/>
                </a:lnTo>
                <a:close/>
              </a:path>
              <a:path w="157479" h="1433195">
                <a:moveTo>
                  <a:pt x="121857" y="1128830"/>
                </a:moveTo>
                <a:lnTo>
                  <a:pt x="112307" y="1128830"/>
                </a:lnTo>
                <a:lnTo>
                  <a:pt x="109125" y="1167888"/>
                </a:lnTo>
                <a:lnTo>
                  <a:pt x="105925" y="1203535"/>
                </a:lnTo>
                <a:lnTo>
                  <a:pt x="102652" y="1236400"/>
                </a:lnTo>
                <a:lnTo>
                  <a:pt x="99446" y="1265276"/>
                </a:lnTo>
                <a:lnTo>
                  <a:pt x="109038" y="1265208"/>
                </a:lnTo>
                <a:lnTo>
                  <a:pt x="112337" y="1235377"/>
                </a:lnTo>
                <a:lnTo>
                  <a:pt x="115579" y="1202617"/>
                </a:lnTo>
                <a:lnTo>
                  <a:pt x="118756" y="1167058"/>
                </a:lnTo>
                <a:lnTo>
                  <a:pt x="121857" y="1128830"/>
                </a:lnTo>
                <a:close/>
              </a:path>
              <a:path w="157479" h="1433195">
                <a:moveTo>
                  <a:pt x="124877" y="1088061"/>
                </a:moveTo>
                <a:lnTo>
                  <a:pt x="115331" y="1088061"/>
                </a:lnTo>
                <a:lnTo>
                  <a:pt x="112306" y="1128843"/>
                </a:lnTo>
                <a:lnTo>
                  <a:pt x="121857" y="1128830"/>
                </a:lnTo>
                <a:lnTo>
                  <a:pt x="124877" y="1088061"/>
                </a:lnTo>
                <a:close/>
              </a:path>
              <a:path w="157479" h="1433195">
                <a:moveTo>
                  <a:pt x="127807" y="1044879"/>
                </a:moveTo>
                <a:lnTo>
                  <a:pt x="118264" y="1044879"/>
                </a:lnTo>
                <a:lnTo>
                  <a:pt x="115328" y="1088091"/>
                </a:lnTo>
                <a:lnTo>
                  <a:pt x="124877" y="1088061"/>
                </a:lnTo>
                <a:lnTo>
                  <a:pt x="127807" y="1044879"/>
                </a:lnTo>
                <a:close/>
              </a:path>
              <a:path w="157479" h="1433195">
                <a:moveTo>
                  <a:pt x="133371" y="951787"/>
                </a:moveTo>
                <a:lnTo>
                  <a:pt x="123832" y="951787"/>
                </a:lnTo>
                <a:lnTo>
                  <a:pt x="121064" y="999994"/>
                </a:lnTo>
                <a:lnTo>
                  <a:pt x="118262" y="1044906"/>
                </a:lnTo>
                <a:lnTo>
                  <a:pt x="127807" y="1044879"/>
                </a:lnTo>
                <a:lnTo>
                  <a:pt x="130641" y="999412"/>
                </a:lnTo>
                <a:lnTo>
                  <a:pt x="133371" y="951787"/>
                </a:lnTo>
                <a:close/>
              </a:path>
              <a:path w="157479" h="1433195">
                <a:moveTo>
                  <a:pt x="135990" y="902131"/>
                </a:moveTo>
                <a:lnTo>
                  <a:pt x="126453" y="902131"/>
                </a:lnTo>
                <a:lnTo>
                  <a:pt x="123831" y="951809"/>
                </a:lnTo>
                <a:lnTo>
                  <a:pt x="133371" y="951787"/>
                </a:lnTo>
                <a:lnTo>
                  <a:pt x="135990" y="902131"/>
                </a:lnTo>
                <a:close/>
              </a:path>
              <a:path w="157479" h="1433195">
                <a:moveTo>
                  <a:pt x="140866" y="797238"/>
                </a:moveTo>
                <a:lnTo>
                  <a:pt x="131333" y="797238"/>
                </a:lnTo>
                <a:lnTo>
                  <a:pt x="128933" y="851025"/>
                </a:lnTo>
                <a:lnTo>
                  <a:pt x="126452" y="902152"/>
                </a:lnTo>
                <a:lnTo>
                  <a:pt x="135990" y="902131"/>
                </a:lnTo>
                <a:lnTo>
                  <a:pt x="138490" y="850573"/>
                </a:lnTo>
                <a:lnTo>
                  <a:pt x="140866" y="797238"/>
                </a:lnTo>
                <a:close/>
              </a:path>
              <a:path w="157479" h="1433195">
                <a:moveTo>
                  <a:pt x="128955" y="850573"/>
                </a:moveTo>
                <a:close/>
              </a:path>
              <a:path w="157479" h="1433195">
                <a:moveTo>
                  <a:pt x="145213" y="685747"/>
                </a:moveTo>
                <a:lnTo>
                  <a:pt x="135682" y="685747"/>
                </a:lnTo>
                <a:lnTo>
                  <a:pt x="133561" y="742633"/>
                </a:lnTo>
                <a:lnTo>
                  <a:pt x="131331" y="797256"/>
                </a:lnTo>
                <a:lnTo>
                  <a:pt x="140866" y="797238"/>
                </a:lnTo>
                <a:lnTo>
                  <a:pt x="143108" y="742254"/>
                </a:lnTo>
                <a:lnTo>
                  <a:pt x="145213" y="685747"/>
                </a:lnTo>
                <a:close/>
              </a:path>
              <a:path w="157479" h="1433195">
                <a:moveTo>
                  <a:pt x="133577" y="742254"/>
                </a:moveTo>
                <a:close/>
              </a:path>
              <a:path w="157479" h="1433195">
                <a:moveTo>
                  <a:pt x="147170" y="627846"/>
                </a:moveTo>
                <a:lnTo>
                  <a:pt x="137641" y="627846"/>
                </a:lnTo>
                <a:lnTo>
                  <a:pt x="135681" y="685764"/>
                </a:lnTo>
                <a:lnTo>
                  <a:pt x="145213" y="685747"/>
                </a:lnTo>
                <a:lnTo>
                  <a:pt x="147170" y="627846"/>
                </a:lnTo>
                <a:close/>
              </a:path>
              <a:path w="157479" h="1433195">
                <a:moveTo>
                  <a:pt x="153397" y="384817"/>
                </a:moveTo>
                <a:lnTo>
                  <a:pt x="143871" y="384817"/>
                </a:lnTo>
                <a:lnTo>
                  <a:pt x="141083" y="508613"/>
                </a:lnTo>
                <a:lnTo>
                  <a:pt x="139437" y="568958"/>
                </a:lnTo>
                <a:lnTo>
                  <a:pt x="137640" y="627861"/>
                </a:lnTo>
                <a:lnTo>
                  <a:pt x="147170" y="627846"/>
                </a:lnTo>
                <a:lnTo>
                  <a:pt x="148974" y="568675"/>
                </a:lnTo>
                <a:lnTo>
                  <a:pt x="150618" y="508364"/>
                </a:lnTo>
                <a:lnTo>
                  <a:pt x="153397" y="384817"/>
                </a:lnTo>
                <a:close/>
              </a:path>
              <a:path w="157479" h="1433195">
                <a:moveTo>
                  <a:pt x="139446" y="568675"/>
                </a:moveTo>
                <a:close/>
              </a:path>
              <a:path w="157479" h="1433195">
                <a:moveTo>
                  <a:pt x="141090" y="508364"/>
                </a:moveTo>
                <a:close/>
              </a:path>
              <a:path w="157479" h="1433195">
                <a:moveTo>
                  <a:pt x="147637" y="0"/>
                </a:moveTo>
                <a:lnTo>
                  <a:pt x="147199" y="129703"/>
                </a:lnTo>
                <a:lnTo>
                  <a:pt x="145924" y="258375"/>
                </a:lnTo>
                <a:lnTo>
                  <a:pt x="143870" y="384848"/>
                </a:lnTo>
                <a:lnTo>
                  <a:pt x="153397" y="384817"/>
                </a:lnTo>
                <a:lnTo>
                  <a:pt x="155451" y="258235"/>
                </a:lnTo>
                <a:lnTo>
                  <a:pt x="156725" y="129623"/>
                </a:lnTo>
                <a:lnTo>
                  <a:pt x="157162" y="33"/>
                </a:lnTo>
                <a:lnTo>
                  <a:pt x="147637" y="0"/>
                </a:lnTo>
                <a:close/>
              </a:path>
              <a:path w="157479" h="1433195">
                <a:moveTo>
                  <a:pt x="145926" y="258235"/>
                </a:moveTo>
                <a:close/>
              </a:path>
              <a:path w="157479" h="1433195">
                <a:moveTo>
                  <a:pt x="147200" y="129623"/>
                </a:moveTo>
                <a:close/>
              </a:path>
            </a:pathLst>
          </a:custGeom>
          <a:solidFill>
            <a:srgbClr val="FF30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51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LAnguage</a:t>
            </a:r>
            <a:r>
              <a:rPr spc="-27" dirty="0"/>
              <a:t> </a:t>
            </a:r>
            <a:r>
              <a:rPr dirty="0"/>
              <a:t>Model</a:t>
            </a:r>
            <a:r>
              <a:rPr spc="-33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(LAMA)</a:t>
            </a:r>
            <a:r>
              <a:rPr spc="-27" dirty="0"/>
              <a:t> </a:t>
            </a:r>
            <a:r>
              <a:rPr dirty="0"/>
              <a:t>Probe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7" y="1096601"/>
            <a:ext cx="11102340" cy="4289017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Limitations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LAMA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probe: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Hard to understand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3A87FF"/>
                </a:solidFill>
                <a:latin typeface="Calibri"/>
                <a:cs typeface="Calibri"/>
              </a:rPr>
              <a:t>why</a:t>
            </a:r>
            <a:r>
              <a:rPr sz="2400" i="1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 perform well when they </a:t>
            </a:r>
            <a:r>
              <a:rPr sz="2400" spc="-33" dirty="0">
                <a:latin typeface="Calibri"/>
                <a:cs typeface="Calibri"/>
              </a:rPr>
              <a:t>do</a:t>
            </a:r>
            <a:endParaRPr sz="2400" dirty="0">
              <a:latin typeface="Calibri"/>
              <a:cs typeface="Calibri"/>
            </a:endParaRPr>
          </a:p>
          <a:p>
            <a:pPr marL="1045607" marR="1750863" lvl="2" indent="-228594">
              <a:lnSpc>
                <a:spcPts val="2787"/>
              </a:lnSpc>
              <a:spcBef>
                <a:spcPts val="773"/>
              </a:spcBef>
              <a:buClr>
                <a:srgbClr val="8C1515"/>
              </a:buClr>
              <a:buFont typeface="Times New Roman"/>
              <a:buChar char="•"/>
              <a:tabLst>
                <a:tab pos="1045607" algn="l"/>
              </a:tabLst>
            </a:pPr>
            <a:r>
              <a:rPr sz="2400" spc="-13" dirty="0">
                <a:latin typeface="Calibri"/>
                <a:cs typeface="Calibri"/>
              </a:rPr>
              <a:t>BERT-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memorizing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co-</a:t>
            </a:r>
            <a:r>
              <a:rPr sz="2400" dirty="0">
                <a:latin typeface="Calibri"/>
                <a:cs typeface="Calibri"/>
              </a:rPr>
              <a:t>occurrence patterns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rather </a:t>
            </a:r>
            <a:r>
              <a:rPr sz="2400" spc="-27" dirty="0">
                <a:latin typeface="Calibri"/>
                <a:cs typeface="Calibri"/>
              </a:rPr>
              <a:t>than </a:t>
            </a:r>
            <a:r>
              <a:rPr sz="2400" dirty="0">
                <a:latin typeface="Calibri"/>
                <a:cs typeface="Calibri"/>
              </a:rPr>
              <a:t>“understanding”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cloze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  <a:p>
            <a:pPr marL="1045607" marR="6773" lvl="2" indent="-228594">
              <a:lnSpc>
                <a:spcPct val="101099"/>
              </a:lnSpc>
              <a:spcBef>
                <a:spcPts val="500"/>
              </a:spcBef>
              <a:buClr>
                <a:srgbClr val="8C1515"/>
              </a:buClr>
              <a:buFont typeface="Times New Roman"/>
              <a:buChar char="•"/>
              <a:tabLst>
                <a:tab pos="1045607" algn="l"/>
              </a:tabLst>
            </a:pPr>
            <a:r>
              <a:rPr sz="2400" dirty="0">
                <a:latin typeface="Calibri"/>
                <a:cs typeface="Calibri"/>
              </a:rPr>
              <a:t>LM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surface forms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subject </a:t>
            </a:r>
            <a:r>
              <a:rPr sz="2400" dirty="0">
                <a:latin typeface="Calibri"/>
                <a:cs typeface="Calibri"/>
              </a:rPr>
              <a:t>and object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Pope Clement</a:t>
            </a:r>
            <a:r>
              <a:rPr sz="2400" u="sng" spc="-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VII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position of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pope</a:t>
            </a:r>
            <a:r>
              <a:rPr sz="2400" spc="-13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lvl="2"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267" dirty="0">
              <a:latin typeface="Calibri"/>
              <a:cs typeface="Calibri"/>
            </a:endParaRPr>
          </a:p>
          <a:p>
            <a:pPr marL="701869" lvl="1" indent="-227748"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LMs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sensitive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the phrasing of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statement</a:t>
            </a:r>
            <a:endParaRPr sz="2400" dirty="0">
              <a:latin typeface="Calibri"/>
              <a:cs typeface="Calibri"/>
            </a:endParaRPr>
          </a:p>
          <a:p>
            <a:pPr marL="1044761" lvl="2" indent="-227748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latin typeface="Calibri"/>
                <a:cs typeface="Calibri"/>
              </a:rPr>
              <a:t>LAMA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 one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manually defined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template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relation</a:t>
            </a:r>
            <a:endParaRPr sz="2400" dirty="0">
              <a:latin typeface="Calibri"/>
              <a:cs typeface="Calibri"/>
            </a:endParaRPr>
          </a:p>
          <a:p>
            <a:pPr marL="1044761" lvl="2" indent="-227748">
              <a:spcBef>
                <a:spcPts val="447"/>
              </a:spcBef>
              <a:buClr>
                <a:srgbClr val="8C1515"/>
              </a:buClr>
              <a:buFont typeface="Times New Roman"/>
              <a:buChar char="•"/>
              <a:tabLst>
                <a:tab pos="1044761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lower bound </a:t>
            </a:r>
            <a:r>
              <a:rPr sz="2400" dirty="0">
                <a:latin typeface="Calibri"/>
                <a:cs typeface="Calibri"/>
              </a:rPr>
              <a:t>on knowledge encoded in 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LM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52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A</a:t>
            </a:r>
            <a:r>
              <a:rPr spc="-33" dirty="0"/>
              <a:t> </a:t>
            </a:r>
            <a:r>
              <a:rPr dirty="0"/>
              <a:t>More</a:t>
            </a:r>
            <a:r>
              <a:rPr spc="-13" dirty="0"/>
              <a:t> </a:t>
            </a:r>
            <a:r>
              <a:rPr dirty="0"/>
              <a:t>Challenging</a:t>
            </a:r>
            <a:r>
              <a:rPr spc="-13" dirty="0"/>
              <a:t> </a:t>
            </a:r>
            <a:r>
              <a:rPr dirty="0"/>
              <a:t>Probe:</a:t>
            </a:r>
            <a:r>
              <a:rPr spc="-13" dirty="0"/>
              <a:t> LAMA-</a:t>
            </a:r>
            <a:r>
              <a:rPr dirty="0"/>
              <a:t>UnHelpful</a:t>
            </a:r>
            <a:r>
              <a:rPr spc="-27" dirty="0"/>
              <a:t> </a:t>
            </a:r>
            <a:r>
              <a:rPr dirty="0"/>
              <a:t>Names </a:t>
            </a:r>
            <a:r>
              <a:rPr spc="-13" dirty="0"/>
              <a:t>(LAMA-</a:t>
            </a:r>
            <a:r>
              <a:rPr spc="-27" dirty="0"/>
              <a:t>UHN)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40" y="1000385"/>
            <a:ext cx="72686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007C92"/>
                </a:solidFill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Poerner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EMNLP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2020</a:t>
            </a:r>
            <a:r>
              <a:rPr sz="2667" spc="-13" dirty="0">
                <a:solidFill>
                  <a:srgbClr val="007C92"/>
                </a:solidFill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87" y="1555668"/>
            <a:ext cx="7268633" cy="7685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2400" dirty="0">
                <a:latin typeface="Calibri"/>
                <a:cs typeface="Calibri"/>
              </a:rPr>
              <a:t>Key</a:t>
            </a:r>
            <a:r>
              <a:rPr lang="en-US" sz="2400" spc="-1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idea: Remove the</a:t>
            </a:r>
            <a:r>
              <a:rPr lang="en-US" sz="2400" spc="-7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examples</a:t>
            </a:r>
            <a:r>
              <a:rPr lang="en-US" sz="2400" spc="-7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1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LAMA</a:t>
            </a:r>
            <a:r>
              <a:rPr lang="en-US" sz="2400" spc="-7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that</a:t>
            </a:r>
            <a:r>
              <a:rPr lang="en-US" sz="2400" spc="-13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can </a:t>
            </a:r>
            <a:r>
              <a:rPr lang="en-US" sz="2400" spc="-33" dirty="0">
                <a:latin typeface="Calibri"/>
                <a:cs typeface="Calibri"/>
              </a:rPr>
              <a:t>be</a:t>
            </a:r>
            <a:endParaRPr lang="en-US" sz="2400" dirty="0">
              <a:latin typeface="Calibri"/>
              <a:cs typeface="Calibri"/>
            </a:endParaRPr>
          </a:p>
          <a:p>
            <a:pPr marL="16933">
              <a:spcBef>
                <a:spcPts val="133"/>
              </a:spcBef>
            </a:pPr>
            <a:r>
              <a:rPr sz="2400" dirty="0">
                <a:latin typeface="Calibri"/>
                <a:cs typeface="Calibri"/>
              </a:rPr>
              <a:t>answered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without</a:t>
            </a:r>
            <a:r>
              <a:rPr sz="2400" spc="-7" dirty="0">
                <a:solidFill>
                  <a:srgbClr val="3A87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A87FF"/>
                </a:solidFill>
                <a:latin typeface="Calibri"/>
                <a:cs typeface="Calibri"/>
              </a:rPr>
              <a:t>relational </a:t>
            </a:r>
            <a:r>
              <a:rPr sz="2400" spc="-13" dirty="0">
                <a:solidFill>
                  <a:srgbClr val="3A87FF"/>
                </a:solidFill>
                <a:latin typeface="Calibri"/>
                <a:cs typeface="Calibri"/>
              </a:rPr>
              <a:t>knowledge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87" y="2612474"/>
            <a:ext cx="7617460" cy="2531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824" marR="6773" indent="-342891">
              <a:lnSpc>
                <a:spcPct val="101099"/>
              </a:lnSpc>
              <a:spcBef>
                <a:spcPts val="10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Observation: BERT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 surface forms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predictions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String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“Revealing”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 </a:t>
            </a:r>
            <a:r>
              <a:rPr sz="2400" spc="-27" dirty="0"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  <a:p>
            <a:pPr marL="1044761" marR="673928" lvl="2" indent="-227748">
              <a:lnSpc>
                <a:spcPts val="3493"/>
              </a:lnSpc>
              <a:spcBef>
                <a:spcPts val="87"/>
              </a:spcBef>
              <a:buClr>
                <a:srgbClr val="8C1515"/>
              </a:buClr>
              <a:buFont typeface="Times New Roman"/>
              <a:buChar char="•"/>
              <a:tabLst>
                <a:tab pos="1096406" algn="l"/>
              </a:tabLst>
            </a:pPr>
            <a:r>
              <a:rPr sz="2400" dirty="0">
                <a:latin typeface="Calibri"/>
                <a:cs typeface="Calibri"/>
              </a:rPr>
              <a:t>Name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 be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(possibly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incorrect) prior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native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birth,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nationality,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27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387" y="5534490"/>
            <a:ext cx="7916333" cy="906231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BERT’s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LAMA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drops ~8% with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LAMA-</a:t>
            </a:r>
            <a:r>
              <a:rPr sz="2400" spc="-33" dirty="0">
                <a:latin typeface="Calibri"/>
                <a:cs typeface="Calibri"/>
              </a:rPr>
              <a:t>UHN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spc="-13" dirty="0">
                <a:latin typeface="Calibri"/>
                <a:cs typeface="Calibri"/>
              </a:rPr>
              <a:t>Knowledge-</a:t>
            </a:r>
            <a:r>
              <a:rPr sz="2400" dirty="0">
                <a:latin typeface="Calibri"/>
                <a:cs typeface="Calibri"/>
              </a:rPr>
              <a:t>enhanced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E-</a:t>
            </a:r>
            <a:r>
              <a:rPr sz="2400" dirty="0">
                <a:latin typeface="Calibri"/>
                <a:cs typeface="Calibri"/>
              </a:rPr>
              <a:t>BERT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drops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&lt;1%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41983" y="3009927"/>
          <a:ext cx="3439160" cy="29667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Person</a:t>
                      </a:r>
                      <a:r>
                        <a:rPr sz="21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BERT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7C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Jean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 Marais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French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Daniel</a:t>
                      </a:r>
                      <a:r>
                        <a:rPr sz="2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Ceccaldi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Italian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Orane</a:t>
                      </a:r>
                      <a:r>
                        <a:rPr sz="2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Demazis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Albanian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31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Sylvia</a:t>
                      </a:r>
                      <a:r>
                        <a:rPr sz="2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Lopez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Spanish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402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dirty="0">
                          <a:latin typeface="Calibri"/>
                          <a:cs typeface="Calibri"/>
                        </a:rPr>
                        <a:t>Annick</a:t>
                      </a:r>
                      <a:r>
                        <a:rPr sz="2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Alane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English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606233" y="1815930"/>
            <a:ext cx="2928620" cy="111564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086" marR="6773" indent="-2540" algn="ctr">
              <a:lnSpc>
                <a:spcPct val="99400"/>
              </a:lnSpc>
              <a:spcBef>
                <a:spcPts val="147"/>
              </a:spcBef>
            </a:pPr>
            <a:r>
              <a:rPr sz="2400" b="1" dirty="0">
                <a:latin typeface="Calibri"/>
                <a:cs typeface="Calibri"/>
              </a:rPr>
              <a:t>Native</a:t>
            </a:r>
            <a:r>
              <a:rPr sz="2400" b="1" spc="-9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language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33" dirty="0">
                <a:latin typeface="Calibri"/>
                <a:cs typeface="Calibri"/>
              </a:rPr>
              <a:t>of </a:t>
            </a:r>
            <a:r>
              <a:rPr sz="2400" b="1" spc="-13" dirty="0">
                <a:latin typeface="Calibri"/>
                <a:cs typeface="Calibri"/>
              </a:rPr>
              <a:t>French-</a:t>
            </a:r>
            <a:r>
              <a:rPr sz="2400" b="1" dirty="0">
                <a:latin typeface="Calibri"/>
                <a:cs typeface="Calibri"/>
              </a:rPr>
              <a:t>speaking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b="1" spc="-13" dirty="0">
                <a:latin typeface="Calibri"/>
                <a:cs typeface="Calibri"/>
              </a:rPr>
              <a:t>actors </a:t>
            </a:r>
            <a:r>
              <a:rPr sz="2400" b="1" dirty="0">
                <a:latin typeface="Calibri"/>
                <a:cs typeface="Calibri"/>
              </a:rPr>
              <a:t>according</a:t>
            </a:r>
            <a:r>
              <a:rPr sz="2400" b="1" spc="-7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7" dirty="0">
                <a:latin typeface="Calibri"/>
                <a:cs typeface="Calibri"/>
              </a:rPr>
              <a:t>BERT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2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347"/>
              </a:spcBef>
            </a:pPr>
            <a:r>
              <a:rPr dirty="0"/>
              <a:t>Developing</a:t>
            </a:r>
            <a:r>
              <a:rPr spc="-47" dirty="0"/>
              <a:t> </a:t>
            </a:r>
            <a:r>
              <a:rPr dirty="0"/>
              <a:t>better</a:t>
            </a:r>
            <a:r>
              <a:rPr spc="-33" dirty="0"/>
              <a:t> </a:t>
            </a:r>
            <a:r>
              <a:rPr dirty="0"/>
              <a:t>prompts</a:t>
            </a:r>
            <a:r>
              <a:rPr spc="-20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dirty="0"/>
              <a:t>query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in</a:t>
            </a:r>
            <a:r>
              <a:rPr spc="-27" dirty="0"/>
              <a:t> </a:t>
            </a:r>
            <a:r>
              <a:rPr spc="-33" dirty="0"/>
              <a:t>LMs</a:t>
            </a:r>
          </a:p>
          <a:p>
            <a:pPr marL="16933">
              <a:spcBef>
                <a:spcPts val="187"/>
              </a:spcBef>
            </a:pPr>
            <a:r>
              <a:rPr sz="2667" dirty="0"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Jiang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TACL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2020</a:t>
            </a:r>
            <a:r>
              <a:rPr sz="2667" spc="-13" dirty="0"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385" y="6502400"/>
            <a:ext cx="215900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33" dirty="0">
                <a:latin typeface="Calibri"/>
                <a:cs typeface="Calibri"/>
              </a:rPr>
              <a:t>53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654" y="1531449"/>
            <a:ext cx="11071012" cy="382854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26709" indent="-342045">
              <a:spcBef>
                <a:spcPts val="740"/>
              </a:spcBef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dirty="0">
                <a:latin typeface="Calibri"/>
                <a:cs typeface="Calibri"/>
              </a:rPr>
              <a:t>LMs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fact, but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 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completion tasks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 LAMA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itself</a:t>
            </a:r>
            <a:endParaRPr sz="2400" dirty="0">
              <a:latin typeface="Calibri"/>
              <a:cs typeface="Calibri"/>
            </a:endParaRPr>
          </a:p>
          <a:p>
            <a:pPr marL="769601" lvl="1" indent="-227748">
              <a:spcBef>
                <a:spcPts val="607"/>
              </a:spcBef>
              <a:buClr>
                <a:srgbClr val="007C92"/>
              </a:buClr>
              <a:buFont typeface="Times New Roman"/>
              <a:buChar char="•"/>
              <a:tabLst>
                <a:tab pos="769601" algn="l"/>
              </a:tabLst>
            </a:pPr>
            <a:r>
              <a:rPr sz="2400" dirty="0">
                <a:latin typeface="Calibri"/>
                <a:cs typeface="Calibri"/>
              </a:rPr>
              <a:t>Pretraining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sentence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query</a:t>
            </a:r>
            <a:endParaRPr sz="2400" dirty="0">
              <a:latin typeface="Calibri"/>
              <a:cs typeface="Calibri"/>
            </a:endParaRPr>
          </a:p>
          <a:p>
            <a:pPr marL="884745" marR="678162">
              <a:lnSpc>
                <a:spcPts val="2813"/>
              </a:lnSpc>
              <a:spcBef>
                <a:spcPts val="727"/>
              </a:spcBef>
              <a:tabLst>
                <a:tab pos="7015305" algn="l"/>
              </a:tabLst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“The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birth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 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Barack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Obama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Honolulu,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Hawaii”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(pretraining </a:t>
            </a:r>
            <a:r>
              <a:rPr sz="2400" dirty="0">
                <a:latin typeface="Calibri"/>
                <a:cs typeface="Calibri"/>
              </a:rPr>
              <a:t>corpus) versus “Barack Obama was born in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400" dirty="0">
                <a:latin typeface="Calibri"/>
                <a:cs typeface="Calibri"/>
              </a:rPr>
              <a:t>” </a:t>
            </a:r>
            <a:r>
              <a:rPr sz="2400" spc="-13" dirty="0">
                <a:latin typeface="Calibri"/>
                <a:cs typeface="Calibri"/>
              </a:rPr>
              <a:t>(query)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60"/>
              </a:spcBef>
            </a:pPr>
            <a:endParaRPr sz="3133" dirty="0">
              <a:latin typeface="Calibri"/>
              <a:cs typeface="Calibri"/>
            </a:endParaRPr>
          </a:p>
          <a:p>
            <a:pPr marL="427556" marR="193035" indent="-342891">
              <a:lnSpc>
                <a:spcPct val="102200"/>
              </a:lnSpc>
              <a:buClr>
                <a:srgbClr val="8C1515"/>
              </a:buClr>
              <a:buFont typeface="Times New Roman"/>
              <a:buChar char="•"/>
              <a:tabLst>
                <a:tab pos="427556" algn="l"/>
              </a:tabLst>
            </a:pPr>
            <a:r>
              <a:rPr sz="2400" dirty="0">
                <a:latin typeface="Calibri"/>
                <a:cs typeface="Calibri"/>
              </a:rPr>
              <a:t>Generate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LAMA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prompts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templates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Wikipedia</a:t>
            </a:r>
            <a:r>
              <a:rPr sz="2400" baseline="23148" dirty="0">
                <a:latin typeface="Calibri"/>
                <a:cs typeface="Calibri"/>
              </a:rPr>
              <a:t>1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3" dirty="0">
                <a:latin typeface="Calibri"/>
                <a:cs typeface="Calibri"/>
              </a:rPr>
              <a:t>generating </a:t>
            </a:r>
            <a:r>
              <a:rPr sz="2400" dirty="0">
                <a:latin typeface="Calibri"/>
                <a:cs typeface="Calibri"/>
              </a:rPr>
              <a:t>paraphrased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prompts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back-translation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426709" indent="-342045">
              <a:buClr>
                <a:srgbClr val="8C1515"/>
              </a:buClr>
              <a:buFont typeface="Times New Roman"/>
              <a:buChar char="•"/>
              <a:tabLst>
                <a:tab pos="426709" algn="l"/>
              </a:tabLst>
            </a:pPr>
            <a:r>
              <a:rPr sz="2400" dirty="0">
                <a:latin typeface="Calibri"/>
                <a:cs typeface="Calibri"/>
              </a:rPr>
              <a:t>Ensemble prompts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 diversity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contexts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 be seen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33" dirty="0">
                <a:latin typeface="Calibri"/>
                <a:cs typeface="Calibri"/>
              </a:rPr>
              <a:t>in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8683" y="6279556"/>
            <a:ext cx="806026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latin typeface="Calibri"/>
                <a:cs typeface="Calibri"/>
              </a:rPr>
              <a:t>[1]</a:t>
            </a:r>
            <a:r>
              <a:rPr sz="2133" spc="-5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One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mining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approach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uses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dependency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parsing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to</a:t>
            </a:r>
            <a:r>
              <a:rPr sz="2133" spc="-20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build</a:t>
            </a:r>
            <a:r>
              <a:rPr sz="2133" spc="-33" dirty="0">
                <a:latin typeface="Calibri"/>
                <a:cs typeface="Calibri"/>
              </a:rPr>
              <a:t> </a:t>
            </a:r>
            <a:r>
              <a:rPr sz="2133" dirty="0">
                <a:latin typeface="Calibri"/>
                <a:cs typeface="Calibri"/>
              </a:rPr>
              <a:t>the</a:t>
            </a:r>
            <a:r>
              <a:rPr sz="2133" spc="-27" dirty="0">
                <a:latin typeface="Calibri"/>
                <a:cs typeface="Calibri"/>
              </a:rPr>
              <a:t> </a:t>
            </a:r>
            <a:r>
              <a:rPr sz="2133" spc="-13" dirty="0">
                <a:latin typeface="Calibri"/>
                <a:cs typeface="Calibri"/>
              </a:rPr>
              <a:t>template!</a:t>
            </a:r>
            <a:endParaRPr sz="21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54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r>
              <a:rPr dirty="0"/>
              <a:t>Developing</a:t>
            </a:r>
            <a:r>
              <a:rPr spc="-47" dirty="0"/>
              <a:t> </a:t>
            </a:r>
            <a:r>
              <a:rPr dirty="0"/>
              <a:t>better</a:t>
            </a:r>
            <a:r>
              <a:rPr spc="-33" dirty="0"/>
              <a:t> </a:t>
            </a:r>
            <a:r>
              <a:rPr dirty="0"/>
              <a:t>prompts</a:t>
            </a:r>
            <a:r>
              <a:rPr spc="-20" dirty="0"/>
              <a:t> </a:t>
            </a:r>
            <a:r>
              <a:rPr dirty="0"/>
              <a:t>to</a:t>
            </a:r>
            <a:r>
              <a:rPr spc="-27" dirty="0"/>
              <a:t> </a:t>
            </a:r>
            <a:r>
              <a:rPr dirty="0"/>
              <a:t>query</a:t>
            </a:r>
            <a:r>
              <a:rPr spc="-27" dirty="0"/>
              <a:t> </a:t>
            </a:r>
            <a:r>
              <a:rPr dirty="0"/>
              <a:t>knowledge</a:t>
            </a:r>
            <a:r>
              <a:rPr spc="-27" dirty="0"/>
              <a:t> </a:t>
            </a:r>
            <a:r>
              <a:rPr dirty="0"/>
              <a:t>in</a:t>
            </a:r>
            <a:r>
              <a:rPr spc="-27" dirty="0"/>
              <a:t> </a:t>
            </a:r>
            <a:r>
              <a:rPr spc="-33" dirty="0"/>
              <a:t>LMs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699" y="1057522"/>
            <a:ext cx="10946553" cy="27102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007C92"/>
                </a:solidFill>
                <a:latin typeface="Calibri"/>
                <a:cs typeface="Calibri"/>
              </a:rPr>
              <a:t>[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Jiang</a:t>
            </a:r>
            <a:r>
              <a:rPr sz="2667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et</a:t>
            </a:r>
            <a:r>
              <a:rPr sz="2667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al.,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667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TACL</a:t>
            </a:r>
            <a:r>
              <a:rPr sz="2667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  <a:hlinkClick r:id="rId2"/>
              </a:rPr>
              <a:t> 2020</a:t>
            </a:r>
            <a:r>
              <a:rPr sz="2667" spc="-13" dirty="0">
                <a:solidFill>
                  <a:srgbClr val="007C92"/>
                </a:solidFill>
                <a:latin typeface="Calibri"/>
                <a:cs typeface="Calibri"/>
              </a:rPr>
              <a:t>]</a:t>
            </a:r>
            <a:endParaRPr sz="2667" dirty="0">
              <a:latin typeface="Calibri"/>
              <a:cs typeface="Calibri"/>
            </a:endParaRPr>
          </a:p>
          <a:p>
            <a:pPr marL="359824" marR="6773" indent="-342891">
              <a:lnSpc>
                <a:spcPts val="2787"/>
              </a:lnSpc>
              <a:spcBef>
                <a:spcPts val="1940"/>
              </a:spcBef>
              <a:buClr>
                <a:srgbClr val="8C1515"/>
              </a:buClr>
              <a:buFont typeface="Times New Roman"/>
              <a:buChar char="•"/>
              <a:tabLst>
                <a:tab pos="359824" algn="l"/>
              </a:tabLst>
            </a:pP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LAMA for </a:t>
            </a:r>
            <a:r>
              <a:rPr sz="2400" spc="-13" dirty="0">
                <a:latin typeface="Calibri"/>
                <a:cs typeface="Calibri"/>
              </a:rPr>
              <a:t>BERT-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increases 7%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top-</a:t>
            </a:r>
            <a:r>
              <a:rPr sz="2400" dirty="0">
                <a:latin typeface="Calibri"/>
                <a:cs typeface="Calibri"/>
              </a:rPr>
              <a:t>performing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query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relation.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Ensembling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another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4%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gain.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73"/>
              </a:spcBef>
              <a:buClr>
                <a:srgbClr val="8C1515"/>
              </a:buClr>
              <a:buFont typeface="Times New Roman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58978" indent="-342045">
              <a:spcBef>
                <a:spcPts val="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 large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gains.</a:t>
            </a:r>
            <a:endParaRPr sz="2400" dirty="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dirty="0">
                <a:latin typeface="Calibri"/>
                <a:cs typeface="Calibri"/>
              </a:rPr>
              <a:t>LMs</a:t>
            </a:r>
            <a:r>
              <a:rPr sz="2400" spc="-2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extremely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sensitive to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query!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2040" y="3767730"/>
            <a:ext cx="6721115" cy="28674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C1196-0425-12DE-8E53-3996101B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55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4B10A-81DA-288B-1B20-FD421BF7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89" y="161601"/>
            <a:ext cx="6655142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677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C889B-9E77-BD34-CD39-87BFD1DBD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461747" cy="5410199"/>
          </a:xfrm>
        </p:spPr>
        <p:txBody>
          <a:bodyPr/>
          <a:lstStyle/>
          <a:p>
            <a:r>
              <a:rPr lang="en-US" dirty="0"/>
              <a:t>Using additional knowledge provided as part of the context to improve results on complex tasks such as commonsense reasoning</a:t>
            </a:r>
          </a:p>
          <a:p>
            <a:r>
              <a:rPr lang="en-US" dirty="0"/>
              <a:t>The knowledge used in the context is generated by a model and used in the prompt to make a prediction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Generate Knowledge Prompting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876471"/>
            <a:ext cx="5461747" cy="34424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7459" y="6449522"/>
            <a:ext cx="4603700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i="1" spc="-4" dirty="0">
                <a:solidFill>
                  <a:srgbClr val="5E5E5E"/>
                </a:solidFill>
                <a:latin typeface="Arial"/>
                <a:cs typeface="Arial"/>
              </a:rPr>
              <a:t>Source:</a:t>
            </a:r>
            <a:r>
              <a:rPr sz="1125" i="1" spc="7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u="sng" spc="-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Generated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Knowledge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Prompting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4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Commonsense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Reasoning</a:t>
            </a:r>
            <a:endParaRPr sz="11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16C6C-FF20-4A9A-B46C-D527A8D43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732" y="1710485"/>
            <a:ext cx="10772645" cy="406250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C41028-2267-8F77-1560-16526AA5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Knowledge to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0418B-274B-F8BF-5332-6DB34B73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0704854-5116-5733-C98A-BDF4826FA49D}"/>
              </a:ext>
            </a:extLst>
          </p:cNvPr>
          <p:cNvSpPr txBox="1"/>
          <p:nvPr/>
        </p:nvSpPr>
        <p:spPr>
          <a:xfrm>
            <a:off x="3794149" y="6073004"/>
            <a:ext cx="4603700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i="1" spc="-4" dirty="0">
                <a:solidFill>
                  <a:srgbClr val="5E5E5E"/>
                </a:solidFill>
                <a:latin typeface="Arial"/>
                <a:cs typeface="Arial"/>
              </a:rPr>
              <a:t>Source:</a:t>
            </a:r>
            <a:r>
              <a:rPr sz="1125" i="1" spc="7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u="sng" spc="-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Generated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Knowledge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Prompting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4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Commonsense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Reasoning</a:t>
            </a:r>
            <a:endParaRPr sz="112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43949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63B087-17B2-587E-E95B-89A3368E3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593" y="1593103"/>
            <a:ext cx="11158811" cy="367179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31977F-1EB2-611E-8545-F6DAEB47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Knowledge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50310-07FA-B436-FDAF-CFEF3549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1C02AB7E-F3B1-24DC-8138-FE959F067A6D}"/>
              </a:ext>
            </a:extLst>
          </p:cNvPr>
          <p:cNvSpPr txBox="1"/>
          <p:nvPr/>
        </p:nvSpPr>
        <p:spPr>
          <a:xfrm>
            <a:off x="3794149" y="6073004"/>
            <a:ext cx="4603700" cy="182142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125" i="1" spc="-4" dirty="0">
                <a:solidFill>
                  <a:srgbClr val="5E5E5E"/>
                </a:solidFill>
                <a:latin typeface="Arial"/>
                <a:cs typeface="Arial"/>
              </a:rPr>
              <a:t>Source:</a:t>
            </a:r>
            <a:r>
              <a:rPr sz="1125" i="1" spc="7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125" i="1" u="sng" spc="-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Generated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Knowledge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Prompting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4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Commonsense</a:t>
            </a:r>
            <a:r>
              <a:rPr sz="1125" i="1" u="sng" spc="7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125" i="1" u="sng" spc="-11" dirty="0">
                <a:solidFill>
                  <a:srgbClr val="5E5E5E"/>
                </a:solidFill>
                <a:uFill>
                  <a:solidFill>
                    <a:srgbClr val="5E5E5E"/>
                  </a:solidFill>
                </a:uFill>
                <a:latin typeface="Arial"/>
                <a:cs typeface="Arial"/>
                <a:hlinkClick r:id="rId3"/>
              </a:rPr>
              <a:t>Reasoning</a:t>
            </a:r>
            <a:endParaRPr sz="112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5037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58CD0-4A82-FD7D-39D6-94959358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3C706-3535-C740-ADCB-8AC187A67FA9}" type="slidenum">
              <a:rPr lang="en-US" smtClean="0"/>
              <a:t>59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6E0939-1EA1-E038-7AF8-ADDE7CB4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Struggle to Learn Long-Tail Knowledge (</a:t>
            </a:r>
            <a:r>
              <a:rPr lang="en-US" dirty="0" err="1">
                <a:hlinkClick r:id="rId2"/>
              </a:rPr>
              <a:t>Kandpal</a:t>
            </a:r>
            <a:r>
              <a:rPr lang="en-US" dirty="0">
                <a:hlinkClick r:id="rId2"/>
              </a:rPr>
              <a:t>, ICML2023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3E31E-B7E9-1901-277A-5C374213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402" y="1082349"/>
            <a:ext cx="6353194" cy="57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54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60</a:t>
            </a:fld>
            <a:endParaRPr spc="-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189384"/>
            <a:ext cx="11658601" cy="6326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4345">
              <a:spcBef>
                <a:spcPts val="133"/>
              </a:spcBef>
            </a:pPr>
            <a:endParaRPr spc="-13" dirty="0"/>
          </a:p>
        </p:txBody>
      </p:sp>
      <p:sp>
        <p:nvSpPr>
          <p:cNvPr id="3" name="object 3"/>
          <p:cNvSpPr txBox="1"/>
          <p:nvPr/>
        </p:nvSpPr>
        <p:spPr>
          <a:xfrm>
            <a:off x="511387" y="1096602"/>
            <a:ext cx="8962812" cy="4463615"/>
          </a:xfrm>
          <a:prstGeom prst="rect">
            <a:avLst/>
          </a:prstGeom>
        </p:spPr>
        <p:txBody>
          <a:bodyPr vert="horz" wrap="square" lIns="0" tIns="89747" rIns="0" bIns="0" rtlCol="0">
            <a:spAutoFit/>
          </a:bodyPr>
          <a:lstStyle/>
          <a:p>
            <a:pPr marL="358978" indent="-342045">
              <a:spcBef>
                <a:spcPts val="7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spc="-13" dirty="0">
                <a:latin typeface="Calibri"/>
                <a:cs typeface="Calibri"/>
              </a:rPr>
              <a:t>Retrieval-</a:t>
            </a:r>
            <a:r>
              <a:rPr sz="2400" dirty="0">
                <a:latin typeface="Calibri"/>
                <a:cs typeface="Calibri"/>
              </a:rPr>
              <a:t>augmented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REALM,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Guu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 ICML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607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Modifying</a:t>
            </a:r>
            <a:r>
              <a:rPr sz="2400" spc="-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Modifying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Memories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in Transformer</a:t>
            </a:r>
            <a:r>
              <a:rPr sz="2400" u="sng" spc="-20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Models,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Zhu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arXiv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9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More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multitask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pre-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 language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479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KEPLER,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Wang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TACL</a:t>
            </a:r>
            <a:r>
              <a:rPr sz="2400" u="sng" spc="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573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More efficient</a:t>
            </a:r>
            <a:r>
              <a:rPr sz="2400" spc="-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7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NeurIPS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Efficient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QA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3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challenge</a:t>
            </a:r>
            <a:endParaRPr sz="2400">
              <a:latin typeface="Calibri"/>
              <a:cs typeface="Calibri"/>
            </a:endParaRPr>
          </a:p>
          <a:p>
            <a:pPr marL="358978" indent="-342045">
              <a:spcBef>
                <a:spcPts val="612"/>
              </a:spcBef>
              <a:buClr>
                <a:srgbClr val="8C1515"/>
              </a:buClr>
              <a:buFont typeface="Times New Roman"/>
              <a:buChar char="•"/>
              <a:tabLst>
                <a:tab pos="358978" algn="l"/>
              </a:tabLst>
            </a:pP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 </a:t>
            </a:r>
            <a:r>
              <a:rPr sz="2400" spc="-13" dirty="0">
                <a:latin typeface="Calibri"/>
                <a:cs typeface="Calibri"/>
              </a:rPr>
              <a:t>benchmarks</a:t>
            </a:r>
            <a:endParaRPr sz="2400">
              <a:latin typeface="Calibri"/>
              <a:cs typeface="Calibri"/>
            </a:endParaRPr>
          </a:p>
          <a:p>
            <a:pPr marL="701869" lvl="1" indent="-227748">
              <a:spcBef>
                <a:spcPts val="573"/>
              </a:spcBef>
              <a:buClr>
                <a:srgbClr val="007C92"/>
              </a:buClr>
              <a:buFont typeface="Times New Roman"/>
              <a:buChar char="•"/>
              <a:tabLst>
                <a:tab pos="701869" algn="l"/>
              </a:tabLst>
            </a:pP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KILT,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Petroni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et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al.,</a:t>
            </a:r>
            <a:r>
              <a:rPr sz="2400" u="sng" spc="-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arXiv </a:t>
            </a:r>
            <a:r>
              <a:rPr sz="2400" u="sng" spc="-27" dirty="0">
                <a:solidFill>
                  <a:srgbClr val="4198B5"/>
                </a:solidFill>
                <a:uFill>
                  <a:solidFill>
                    <a:srgbClr val="4198B5"/>
                  </a:solidFill>
                </a:uFill>
                <a:latin typeface="Calibri"/>
                <a:cs typeface="Calibri"/>
              </a:rPr>
              <a:t>2020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D7A6EF-8FC4-41AD-901A-EB7356B1DBDC}"/>
</file>

<file path=customXml/itemProps2.xml><?xml version="1.0" encoding="utf-8"?>
<ds:datastoreItem xmlns:ds="http://schemas.openxmlformats.org/officeDocument/2006/customXml" ds:itemID="{17DF0A12-775B-4B58-AE1B-3AAFA8BD8CD6}"/>
</file>

<file path=customXml/itemProps3.xml><?xml version="1.0" encoding="utf-8"?>
<ds:datastoreItem xmlns:ds="http://schemas.openxmlformats.org/officeDocument/2006/customXml" ds:itemID="{3B1A8B51-69CF-492A-A2E1-24FFAEDD8FA3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18663</TotalTime>
  <Words>4650</Words>
  <Application>Microsoft Office PowerPoint</Application>
  <PresentationFormat>Widescreen</PresentationFormat>
  <Paragraphs>876</Paragraphs>
  <Slides>60</Slides>
  <Notes>0</Notes>
  <HiddenSlides>9</HiddenSlides>
  <MMClips>1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4" baseType="lpstr">
      <vt:lpstr>Arial</vt:lpstr>
      <vt:lpstr>Arial MT</vt:lpstr>
      <vt:lpstr>Calibri</vt:lpstr>
      <vt:lpstr>Cambria</vt:lpstr>
      <vt:lpstr>Cambria Math</vt:lpstr>
      <vt:lpstr>Courier New</vt:lpstr>
      <vt:lpstr>Microsoft Sans Serif</vt:lpstr>
      <vt:lpstr>Roboto Lt</vt:lpstr>
      <vt:lpstr>Tahoma</vt:lpstr>
      <vt:lpstr>Times New Roman</vt:lpstr>
      <vt:lpstr>Trebuchet MS</vt:lpstr>
      <vt:lpstr>Verdana</vt:lpstr>
      <vt:lpstr>Wingdings</vt:lpstr>
      <vt:lpstr>Main</vt:lpstr>
      <vt:lpstr>Integrating Knowledge in Language Models</vt:lpstr>
      <vt:lpstr>Lecture Plan</vt:lpstr>
      <vt:lpstr>Recap: LMs</vt:lpstr>
      <vt:lpstr>Recap: LMs</vt:lpstr>
      <vt:lpstr>What does a language model know?</vt:lpstr>
      <vt:lpstr>What does a language model know?</vt:lpstr>
      <vt:lpstr>What does a language model know?</vt:lpstr>
      <vt:lpstr>The importance of knowledge-aware language models</vt:lpstr>
      <vt:lpstr>Querying traditional knowledge bases</vt:lpstr>
      <vt:lpstr>PowerPoint Presentation</vt:lpstr>
      <vt:lpstr>Querying language models as knowledge bases</vt:lpstr>
      <vt:lpstr>Advantages of language models over traditional KBs</vt:lpstr>
      <vt:lpstr>Section 2: Techniques to add knowledge to LMs</vt:lpstr>
      <vt:lpstr>Techniques to add knowledge to LMs</vt:lpstr>
      <vt:lpstr>Techniques to add knowledge to LMs</vt:lpstr>
      <vt:lpstr>Method 1: Add pretrained entity embeddings</vt:lpstr>
      <vt:lpstr>Aside: What is entity linking?</vt:lpstr>
      <vt:lpstr>Method 1: Add pretrained entity embeddings</vt:lpstr>
      <vt:lpstr>Method 1: Add pretrained entity embeddings</vt:lpstr>
      <vt:lpstr>ERNIE: Enhanced Language Representation with Informative Entities [Zhang et al., ACL 2019]</vt:lpstr>
      <vt:lpstr>ERNIE: Enhanced Language Representation with Informative Entities</vt:lpstr>
      <vt:lpstr>ERNIE: Enhanced Language Representation with Informative Entities</vt:lpstr>
      <vt:lpstr>ERNIE: Enhanced Language Representation with Informative Entities</vt:lpstr>
      <vt:lpstr>ERNIE: Enhanced Language Representation with Informative Entities</vt:lpstr>
      <vt:lpstr>Jointly learn to link entities with KnowBERT [Peters et al., EMNLP 2019]</vt:lpstr>
      <vt:lpstr>Techniques to add knowledge to LMs</vt:lpstr>
      <vt:lpstr>Method 2: Use an external memory</vt:lpstr>
      <vt:lpstr>Barack's Wife Hillary: Using Knowledge-Graphs for Fact-Aware Language Modeling (KGLM) [Logan et al., ACL 2019]</vt:lpstr>
      <vt:lpstr>KGLM [Logan et al., ACL 2019]</vt:lpstr>
      <vt:lpstr>KGLM</vt:lpstr>
      <vt:lpstr>KGLM</vt:lpstr>
      <vt:lpstr>KGLM</vt:lpstr>
      <vt:lpstr>KGLM</vt:lpstr>
      <vt:lpstr>KGLM</vt:lpstr>
      <vt:lpstr>KGLM [Logan et al., ACL 2019]</vt:lpstr>
      <vt:lpstr>Nearest Neighbor Language Models (kNN-LM)</vt:lpstr>
      <vt:lpstr>More recent takes: Nearest Neighbor Language Models (kNN-LM)</vt:lpstr>
      <vt:lpstr>Techniques to add knowledge to LMs</vt:lpstr>
      <vt:lpstr>Method 3: Modify the training data</vt:lpstr>
      <vt:lpstr>Pretrained Encyclopedia: Weakly Supervised Knowledge- Pretrained Language Model (WKLM) [Xiong et al., ICLR 2020]</vt:lpstr>
      <vt:lpstr>WKLM</vt:lpstr>
      <vt:lpstr>WKLM</vt:lpstr>
      <vt:lpstr>WKLM</vt:lpstr>
      <vt:lpstr>Learn inductive biases through masking</vt:lpstr>
      <vt:lpstr>ERNIE1: Enhanced Representation through Knowledge Integration</vt:lpstr>
      <vt:lpstr>Salient span masking</vt:lpstr>
      <vt:lpstr>Recap: Techniques to add knowledge to LMs</vt:lpstr>
      <vt:lpstr>Section 3: Evaluating knowledge in LMs</vt:lpstr>
      <vt:lpstr>LAnguage Model Analysis (LAMA) Probe [Petroni et al., EMNLP 2019]</vt:lpstr>
      <vt:lpstr>LAnguage Model Analysis (LAMA) Probe</vt:lpstr>
      <vt:lpstr>LAnguage Model Analysis (LAMA) Probe</vt:lpstr>
      <vt:lpstr>A More Challenging Probe: LAMA-UnHelpful Names (LAMA-UHN)</vt:lpstr>
      <vt:lpstr>Developing better prompts to query knowledge in LMs [Jiang et al., TACL 2020]</vt:lpstr>
      <vt:lpstr>Developing better prompts to query knowledge in LMs</vt:lpstr>
      <vt:lpstr>PowerPoint Presentation</vt:lpstr>
      <vt:lpstr>Generate Knowledge Prompting</vt:lpstr>
      <vt:lpstr>Adding Knowledge to Questions</vt:lpstr>
      <vt:lpstr>The Knowledge generator</vt:lpstr>
      <vt:lpstr>Large Language Models Struggle to Learn Long-Tail Knowledge (Kandpal, ICML2023)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351</cp:revision>
  <dcterms:created xsi:type="dcterms:W3CDTF">2021-09-22T08:38:12Z</dcterms:created>
  <dcterms:modified xsi:type="dcterms:W3CDTF">2024-04-22T14:07:14Z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