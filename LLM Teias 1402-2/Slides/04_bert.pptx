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Metadata/LabelInfo.xml" ContentType="application/vnd.ms-office.classificationlabel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6"/>
  </p:notesMasterIdLst>
  <p:sldIdLst>
    <p:sldId id="367" r:id="rId2"/>
    <p:sldId id="271" r:id="rId3"/>
    <p:sldId id="293" r:id="rId4"/>
    <p:sldId id="294" r:id="rId5"/>
    <p:sldId id="295" r:id="rId6"/>
    <p:sldId id="296" r:id="rId7"/>
    <p:sldId id="297" r:id="rId8"/>
    <p:sldId id="299" r:id="rId9"/>
    <p:sldId id="301" r:id="rId10"/>
    <p:sldId id="302" r:id="rId11"/>
    <p:sldId id="303" r:id="rId12"/>
    <p:sldId id="304" r:id="rId13"/>
    <p:sldId id="305" r:id="rId14"/>
    <p:sldId id="306" r:id="rId15"/>
    <p:sldId id="307" r:id="rId16"/>
    <p:sldId id="308" r:id="rId17"/>
    <p:sldId id="309" r:id="rId18"/>
    <p:sldId id="310" r:id="rId19"/>
    <p:sldId id="311" r:id="rId20"/>
    <p:sldId id="312" r:id="rId21"/>
    <p:sldId id="313" r:id="rId22"/>
    <p:sldId id="314" r:id="rId23"/>
    <p:sldId id="315" r:id="rId24"/>
    <p:sldId id="316" r:id="rId2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129" autoAdjust="0"/>
    <p:restoredTop sz="81224" autoAdjust="0"/>
  </p:normalViewPr>
  <p:slideViewPr>
    <p:cSldViewPr snapToGrid="0">
      <p:cViewPr varScale="1">
        <p:scale>
          <a:sx n="54" d="100"/>
          <a:sy n="54" d="100"/>
        </p:scale>
        <p:origin x="5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A64490D-F570-4B09-B1F1-76C91DD2C33E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B59005-A619-4B65-B892-C09CB53A20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93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Too little masking: </a:t>
            </a:r>
          </a:p>
          <a:p>
            <a:r>
              <a:rPr lang="en-US" dirty="0"/>
              <a:t>Too expensive to train </a:t>
            </a:r>
          </a:p>
          <a:p>
            <a:r>
              <a:rPr lang="en-US" dirty="0"/>
              <a:t>Too much masking: </a:t>
            </a:r>
          </a:p>
          <a:p>
            <a:r>
              <a:rPr lang="en-US" dirty="0"/>
              <a:t>Not enough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D3F2AAA-D2D9-404C-99C1-E8B97E3CB54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14365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02639" y="2423160"/>
            <a:ext cx="10769600" cy="1828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style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7195" y="5035617"/>
            <a:ext cx="3677610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0" dirty="0">
                <a:latin typeface="+mj-lt"/>
              </a:rPr>
              <a:t>Yadollah Yaghoobzadeh</a:t>
            </a:r>
          </a:p>
          <a:p>
            <a:pPr algn="ctr"/>
            <a:r>
              <a:rPr lang="en-US" sz="2400" b="0" dirty="0">
                <a:latin typeface="+mj-lt"/>
              </a:rPr>
              <a:t>Mohammad Javad </a:t>
            </a:r>
            <a:r>
              <a:rPr lang="en-US" sz="2400" b="0" dirty="0" err="1">
                <a:latin typeface="+mj-lt"/>
              </a:rPr>
              <a:t>Dousti</a:t>
            </a:r>
            <a:br>
              <a:rPr lang="en-US" sz="2400" b="0" dirty="0">
                <a:latin typeface="+mj-lt"/>
              </a:rPr>
            </a:br>
            <a:r>
              <a:rPr lang="en-US" sz="2400" b="0" dirty="0">
                <a:latin typeface="+mj-lt"/>
              </a:rPr>
              <a:t>Spring 1403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E30B603-B01F-ED0C-0B6F-B58531A1694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695" y="223520"/>
            <a:ext cx="2026398" cy="6578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7454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-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>
            <a:lvl1pPr algn="ctr">
              <a:defRPr sz="1200" b="0" baseline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246A69-1A96-2A98-509C-62C07C91A106}"/>
              </a:ext>
            </a:extLst>
          </p:cNvPr>
          <p:cNvSpPr txBox="1"/>
          <p:nvPr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3E6AB8B-6628-4778-8FCB-1FBFFE37E74E}"/>
              </a:ext>
            </a:extLst>
          </p:cNvPr>
          <p:cNvCxnSpPr>
            <a:cxnSpLocks/>
          </p:cNvCxnSpPr>
          <p:nvPr userDrawn="1"/>
        </p:nvCxnSpPr>
        <p:spPr>
          <a:xfrm>
            <a:off x="266699" y="990600"/>
            <a:ext cx="9836089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7618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hap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EF3E32C6-F01F-FCD4-7174-2ED528ADB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44B3854E-0506-9A13-05AE-E5752448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>
            <a:lvl1pPr marL="182880" algn="l">
              <a:defRPr sz="40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F5695B4F-549D-4FDC-5594-2D5B766DAF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5D39A4-7EF6-1C27-5295-E2B43BB8CFDB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17802682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1A9015F-2C1C-0901-4D5C-553042AB3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87868"/>
            <a:ext cx="11620501" cy="631293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 b="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813945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-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2DCF8FF8-5AE6-FF9E-E7A5-1B96F522F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F5CFD43-5A75-7F4A-F95F-D29B59459AA7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4038445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6701" y="152400"/>
            <a:ext cx="5600698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69600" y="6492876"/>
            <a:ext cx="1422400" cy="365125"/>
          </a:xfrm>
        </p:spPr>
        <p:txBody>
          <a:bodyPr/>
          <a:lstStyle>
            <a:lvl1pPr algn="ctr">
              <a:defRPr sz="1400" b="1" baseline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FEFB003-44D6-451B-86D6-5FF16B9CEB5F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24600" y="131618"/>
            <a:ext cx="5600699" cy="6172201"/>
          </a:xfrm>
        </p:spPr>
        <p:txBody>
          <a:bodyPr/>
          <a:lstStyle>
            <a:lvl1pPr marL="342900" indent="-342900">
              <a:buSzPct val="60000"/>
              <a:buFont typeface="Wingdings" panose="05000000000000000000" pitchFamily="2" charset="2"/>
              <a:buChar char="q"/>
              <a:defRPr sz="2800"/>
            </a:lvl1pPr>
            <a:lvl2pPr marL="742950" indent="-285750">
              <a:buSzPct val="60000"/>
              <a:buFont typeface="Wingdings" panose="05000000000000000000" pitchFamily="2" charset="2"/>
              <a:buChar char="Ø"/>
              <a:defRPr sz="2400"/>
            </a:lvl2pPr>
            <a:lvl3pPr marL="1143000" indent="-228600">
              <a:buFont typeface="Courier New" panose="02070309020205020404" pitchFamily="49" charset="0"/>
              <a:buChar char="o"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5E32E36-2BF4-11A0-CF58-A8CDA0086211}"/>
              </a:ext>
            </a:extLst>
          </p:cNvPr>
          <p:cNvSpPr txBox="1"/>
          <p:nvPr userDrawn="1"/>
        </p:nvSpPr>
        <p:spPr>
          <a:xfrm>
            <a:off x="228600" y="6488668"/>
            <a:ext cx="1010920" cy="307777"/>
          </a:xfrm>
          <a:prstGeom prst="rect">
            <a:avLst/>
          </a:prstGeom>
          <a:solidFill>
            <a:srgbClr val="002060"/>
          </a:solidFill>
          <a:ln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LLM 1403</a:t>
            </a:r>
          </a:p>
        </p:txBody>
      </p:sp>
    </p:spTree>
    <p:extLst>
      <p:ext uri="{BB962C8B-B14F-4D97-AF65-F5344CB8AC3E}">
        <p14:creationId xmlns:p14="http://schemas.microsoft.com/office/powerpoint/2010/main" val="3337406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fld id="{89D00882-420D-446F-B065-6675A463A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030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72" r:id="rId5"/>
    <p:sldLayoutId id="2147483665" r:id="rId6"/>
  </p:sldLayoutIdLst>
  <p:hf hdr="0" ft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Calibri" panose="020F0502020204030204" pitchFamily="34" charset="0"/>
          <a:ea typeface="Helvetica Neue" panose="02000503000000020004" pitchFamily="2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0D085-445B-4930-BF23-86F3FF17C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1200" y="3100388"/>
            <a:ext cx="10678850" cy="821531"/>
          </a:xfrm>
        </p:spPr>
        <p:txBody>
          <a:bodyPr/>
          <a:lstStyle/>
          <a:p>
            <a:r>
              <a:rPr lang="en-US" sz="4400" dirty="0"/>
              <a:t>Contextual Word Representations: </a:t>
            </a:r>
            <a:br>
              <a:rPr lang="en-US" sz="4400" dirty="0"/>
            </a:br>
            <a:r>
              <a:rPr lang="en-US" sz="4400" dirty="0" err="1"/>
              <a:t>ELMo</a:t>
            </a:r>
            <a:r>
              <a:rPr lang="en-US" sz="4400" dirty="0"/>
              <a:t> and BERT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139387-D27A-4717-A2A3-54677254CC7A}"/>
              </a:ext>
            </a:extLst>
          </p:cNvPr>
          <p:cNvSpPr txBox="1"/>
          <p:nvPr/>
        </p:nvSpPr>
        <p:spPr>
          <a:xfrm>
            <a:off x="0" y="6550223"/>
            <a:ext cx="53863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 Slides are adopted from Advanced NLP course at UMass.</a:t>
            </a:r>
            <a:endParaRPr lang="en-US" sz="1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A0875AF-4830-3395-04A9-A8F37D6CFA98}"/>
              </a:ext>
            </a:extLst>
          </p:cNvPr>
          <p:cNvSpPr txBox="1"/>
          <p:nvPr/>
        </p:nvSpPr>
        <p:spPr>
          <a:xfrm>
            <a:off x="270164" y="6442501"/>
            <a:ext cx="609797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/>
            <a:r>
              <a:rPr lang="en-US" sz="1100" dirty="0">
                <a:solidFill>
                  <a:schemeClr val="tx2"/>
                </a:solidFill>
              </a:rPr>
              <a:t>From: https://web.stanford.edu/class/cs224n/slides/Jacob_Devlin_BERT.pdf</a:t>
            </a:r>
          </a:p>
        </p:txBody>
      </p:sp>
    </p:spTree>
    <p:extLst>
      <p:ext uri="{BB962C8B-B14F-4D97-AF65-F5344CB8AC3E}">
        <p14:creationId xmlns:p14="http://schemas.microsoft.com/office/powerpoint/2010/main" val="16168064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DDDCF-3C9D-4C87-B885-FDF926B30C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embeddings are the basis of deep learning for NLP</a:t>
            </a:r>
          </a:p>
          <a:p>
            <a:pPr lvl="1"/>
            <a:r>
              <a:rPr lang="en-US" dirty="0"/>
              <a:t>Word2vec, </a:t>
            </a:r>
            <a:r>
              <a:rPr lang="en-US" dirty="0" err="1"/>
              <a:t>GloVe</a:t>
            </a:r>
            <a:r>
              <a:rPr lang="en-US" dirty="0"/>
              <a:t>, </a:t>
            </a:r>
            <a:r>
              <a:rPr lang="en-US" dirty="0" err="1"/>
              <a:t>fastText</a:t>
            </a:r>
            <a:endParaRPr lang="en-US" dirty="0"/>
          </a:p>
          <a:p>
            <a:r>
              <a:rPr lang="en-US" dirty="0"/>
              <a:t>Problem:</a:t>
            </a:r>
          </a:p>
          <a:p>
            <a:pPr lvl="1"/>
            <a:r>
              <a:rPr lang="en-US" dirty="0"/>
              <a:t>Always the same representation for each word, while it has multiple meanings depending on where it’s used.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Idea:</a:t>
            </a:r>
          </a:p>
          <a:p>
            <a:pPr lvl="1"/>
            <a:r>
              <a:rPr lang="en-US" dirty="0"/>
              <a:t>Give each word an embedding based on the context it’s used in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BFA3B-B583-4BC3-B0A9-A88A6D181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Contextual Embeddings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AA2AF0-B8CD-4343-8165-AEA83FB82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BAA02E8-8315-42A5-A168-BB21A059DE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3527" y="3038706"/>
            <a:ext cx="5387022" cy="780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>
            <a:extLst>
              <a:ext uri="{FF2B5EF4-FFF2-40B4-BE49-F238E27FC236}">
                <a16:creationId xmlns:a16="http://schemas.microsoft.com/office/drawing/2014/main" id="{FAA54252-0079-4100-9EE5-34B49EF3A7F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708" y="5116947"/>
            <a:ext cx="6051967" cy="8865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0149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C47DAC-B2D0-474C-882E-3953A69A6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Semi-Supervised Sequence Learning, Google, 2015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AAB529-FC6A-F94C-89A2-C5B28F4EF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History of Contextual Representations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450AD-E61B-9441-9352-E11B04828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66C7FC-A710-E64D-8FF8-C313ECCB7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6086" y="2158584"/>
            <a:ext cx="9721434" cy="345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416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hart&#10;&#10;Description automatically generated">
            <a:extLst>
              <a:ext uri="{FF2B5EF4-FFF2-40B4-BE49-F238E27FC236}">
                <a16:creationId xmlns:a16="http://schemas.microsoft.com/office/drawing/2014/main" id="{84B9BEBF-7B37-8646-9538-B5CDA80CD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68" y="2084862"/>
            <a:ext cx="11762132" cy="408733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871E7EC-165F-3441-B7E2-B55561F9B2B1}"/>
              </a:ext>
            </a:extLst>
          </p:cNvPr>
          <p:cNvSpPr txBox="1">
            <a:spLocks/>
          </p:cNvSpPr>
          <p:nvPr/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89000"/>
              </a:lnSpc>
              <a:spcBef>
                <a:spcPct val="0"/>
              </a:spcBef>
              <a:buNone/>
              <a:defRPr sz="4400" kern="1200" baseline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 defTabSz="914400" rtl="1" eaLnBrk="1" fontAlgn="base" latinLnBrk="0" hangingPunct="1">
              <a:lnSpc>
                <a:spcPct val="89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C11735B-10BB-4847-AD3D-B53BE0E057A0}"/>
              </a:ext>
            </a:extLst>
          </p:cNvPr>
          <p:cNvSpPr txBox="1">
            <a:spLocks/>
          </p:cNvSpPr>
          <p:nvPr/>
        </p:nvSpPr>
        <p:spPr>
          <a:xfrm>
            <a:off x="1171560" y="1336221"/>
            <a:ext cx="9601200" cy="489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 err="1"/>
              <a:t>ELMo</a:t>
            </a:r>
            <a:r>
              <a:rPr lang="en-US" dirty="0"/>
              <a:t>: Deep Contextual Word Embeddings, AI2 &amp; University of Washington, 2017 </a:t>
            </a:r>
          </a:p>
          <a:p>
            <a:endParaRPr lang="en-US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2EADDE2A-CC6F-C182-6744-7A2726FF3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/>
              <a:t>History of Contextual Representations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4BFFA6E-CE04-7045-9C36-1F27C8F83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51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Diagram&#10;&#10;Description automatically generated">
            <a:extLst>
              <a:ext uri="{FF2B5EF4-FFF2-40B4-BE49-F238E27FC236}">
                <a16:creationId xmlns:a16="http://schemas.microsoft.com/office/drawing/2014/main" id="{7E4D8312-D0F1-2747-B2A4-49D6313E1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0703" y="1858987"/>
            <a:ext cx="8688471" cy="3987175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3016975-DEB3-BD4B-8EBF-CC3C4DA2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Deep language model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E7D97CE-31B3-1F4E-8419-679446745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ACF23FEA-521B-414B-B9B3-DE499F20582C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70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6374DA4-67F1-8049-86CC-50A40D7574F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3937" y="1748227"/>
            <a:ext cx="8717859" cy="4382749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9120BEA-0FDF-D240-99E3-D4107B9720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Use all layers of language model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AEB93D5-FBE9-344E-952B-2BEF2BA3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ACF23FEA-521B-414B-B9B3-DE499F20582C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6079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14AB906A-F9E8-E749-803B-F63058223B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4616" y="1921239"/>
            <a:ext cx="8482767" cy="408990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BBDC0A-8AAF-FA4C-B5B3-E2460C729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>
                <a:solidFill>
                  <a:schemeClr val="tx2"/>
                </a:solidFill>
              </a:rPr>
              <a:t>Learned task-specific combination of layer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C67379-0F98-AB4B-87DE-6EDE58514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1684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0801B49-EA98-7E43-BBAD-3C5F2D1616C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6694" y="1184223"/>
            <a:ext cx="10378610" cy="395292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4808DD8-AD75-1C49-B3A1-4C828AC92A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1"/>
            <a:r>
              <a:rPr lang="en-US" dirty="0" err="1"/>
              <a:t>ELMo</a:t>
            </a:r>
            <a:r>
              <a:rPr lang="en-US" dirty="0"/>
              <a:t> improves NLP tasks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469F4-AD54-CD44-8CB0-E6CA4572B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8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F4C7659C-400E-5A45-8DE0-73554FDFD803}"/>
              </a:ext>
            </a:extLst>
          </p:cNvPr>
          <p:cNvSpPr txBox="1">
            <a:spLocks/>
          </p:cNvSpPr>
          <p:nvPr/>
        </p:nvSpPr>
        <p:spPr>
          <a:xfrm>
            <a:off x="1249845" y="4949637"/>
            <a:ext cx="9468173" cy="132556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Large-scale recurrent neural language models learn contextual representations that capture basic elements of semantics and syntax </a:t>
            </a:r>
          </a:p>
          <a:p>
            <a:r>
              <a:rPr lang="en-US" dirty="0"/>
              <a:t>E.g., the representations encode POS tags and word senses.</a:t>
            </a:r>
          </a:p>
        </p:txBody>
      </p:sp>
    </p:spTree>
    <p:extLst>
      <p:ext uri="{BB962C8B-B14F-4D97-AF65-F5344CB8AC3E}">
        <p14:creationId xmlns:p14="http://schemas.microsoft.com/office/powerpoint/2010/main" val="3676738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2A233FF-F38F-D748-BDEE-5B677C26BD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5650" y="1040606"/>
            <a:ext cx="5638800" cy="440690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8D02822-91EA-D24B-BC8D-A764CB88A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68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AD6D2F-A4FD-314C-BD78-89ABE9F76C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Language models only use left context or right context, but language understanding is bidirectional. </a:t>
            </a:r>
            <a:endParaRPr lang="en-US" dirty="0">
              <a:effectLst/>
            </a:endParaRPr>
          </a:p>
          <a:p>
            <a:r>
              <a:rPr lang="en-US" dirty="0"/>
              <a:t>Why are LMs unidirectional? </a:t>
            </a:r>
            <a:endParaRPr lang="en-US" dirty="0">
              <a:effectLst/>
            </a:endParaRPr>
          </a:p>
          <a:p>
            <a:r>
              <a:rPr lang="en-US" dirty="0"/>
              <a:t>Reason 1: Directionality is needed to generate a well-formed probability distribution. </a:t>
            </a:r>
          </a:p>
          <a:p>
            <a:pPr lvl="1"/>
            <a:r>
              <a:rPr lang="en-US" dirty="0"/>
              <a:t>We don’t care about this. </a:t>
            </a:r>
          </a:p>
          <a:p>
            <a:r>
              <a:rPr lang="en-US" dirty="0"/>
              <a:t>Reason 2: Words can “see themselves” in a bidirectional encoder. </a:t>
            </a:r>
          </a:p>
          <a:p>
            <a:endParaRPr lang="en-US" dirty="0">
              <a:effectLst/>
            </a:endParaRPr>
          </a:p>
          <a:p>
            <a:pPr lvl="1"/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38ABC8-3626-E943-AF6B-94F2ABA7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with Previous Methods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6D10DA-29EF-0141-9A5C-F6721B2A9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5670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12D68B-65B7-1C45-8F1E-D145968A4A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6691" y="1633928"/>
            <a:ext cx="10894888" cy="4534733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A09BA0-7DC2-2841-AB8E-E847FD04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Unidirectional vs. Bidirectional Models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75468D-4959-9646-BDA6-F779D3038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ACF23FEA-521B-414B-B9B3-DE499F20582C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8249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85961-7BA9-2142-871C-F5ACB89796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Solution: Mask out k% of the input words, and then predict the masked words</a:t>
            </a:r>
          </a:p>
          <a:p>
            <a:pPr lvl="1"/>
            <a:r>
              <a:rPr lang="en-US" dirty="0"/>
              <a:t>k = 15% in BERT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AFCE41-0C70-0E44-AF2B-F6588A9F1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Masked LM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49543A-4241-1041-BA29-ECA28DEF6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DC8CAC-3CA8-1B46-A231-DB08FC5471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0781" y="2791917"/>
            <a:ext cx="9283089" cy="3608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896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F87D1-4316-5842-8295-F47AE3294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Problem: [Mask] token never seen at fine-tuning </a:t>
            </a:r>
            <a:endParaRPr lang="en-US" dirty="0">
              <a:effectLst/>
            </a:endParaRPr>
          </a:p>
          <a:p>
            <a:r>
              <a:rPr lang="en-US" dirty="0"/>
              <a:t>Solution: 15% of the words to predict, but don’t replace with [MASK] 100% of the time. Instead: </a:t>
            </a:r>
            <a:endParaRPr lang="en-US" dirty="0">
              <a:effectLst/>
            </a:endParaRPr>
          </a:p>
          <a:p>
            <a:r>
              <a:rPr lang="en-US" dirty="0"/>
              <a:t>80% of the time, replace with [MASK] 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went to the store → went to the [MASK] </a:t>
            </a:r>
            <a:endParaRPr lang="en-US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r>
              <a:rPr lang="en-US" dirty="0"/>
              <a:t>10% of the time, replace random word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went to the store → went to the running </a:t>
            </a:r>
            <a:endParaRPr lang="en-US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r>
              <a:rPr lang="en-US" dirty="0"/>
              <a:t>10% of the time, keep same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went to the store → went to the store </a:t>
            </a:r>
            <a:endParaRPr lang="en-US" dirty="0">
              <a:solidFill>
                <a:schemeClr val="bg1">
                  <a:lumMod val="50000"/>
                </a:schemeClr>
              </a:solidFill>
              <a:effectLst/>
            </a:endParaRP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5FC5D2-0EE9-6245-929F-4D522443F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Masked LM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E86CB-A2D9-D24E-B81F-32F4ADC4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79534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AE1102-68D5-6B46-A1EC-5B813F43F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990600"/>
            <a:ext cx="11658601" cy="5410199"/>
          </a:xfrm>
        </p:spPr>
        <p:txBody>
          <a:bodyPr/>
          <a:lstStyle/>
          <a:p>
            <a:r>
              <a:rPr lang="en-US" dirty="0"/>
              <a:t>To learn relationships between sentences, predict whether Sentence B is actual sentence that proceeds Sentence A, or a random sentence 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50C82-66C7-1C44-8585-5CD184F55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699" y="20819"/>
            <a:ext cx="11658601" cy="969781"/>
          </a:xfrm>
        </p:spPr>
        <p:txBody>
          <a:bodyPr/>
          <a:lstStyle/>
          <a:p>
            <a:r>
              <a:rPr lang="en-US" dirty="0"/>
              <a:t>Next Sentence Prediction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86680-B8FE-664B-A5AB-DE933CFD8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15410" y="6492876"/>
            <a:ext cx="676589" cy="365125"/>
          </a:xfrm>
        </p:spPr>
        <p:txBody>
          <a:bodyPr/>
          <a:lstStyle/>
          <a:p>
            <a:fld id="{ACF23FEA-521B-414B-B9B3-DE499F20582C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6" name="Picture 2" descr="Next Sentence Prediction with BERT - Scaler Topics">
            <a:extLst>
              <a:ext uri="{FF2B5EF4-FFF2-40B4-BE49-F238E27FC236}">
                <a16:creationId xmlns:a16="http://schemas.microsoft.com/office/drawing/2014/main" id="{DF541163-6611-C8D2-8F27-70F6C924645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10" t="32294" r="8241" b="35361"/>
          <a:stretch/>
        </p:blipFill>
        <p:spPr bwMode="auto">
          <a:xfrm>
            <a:off x="2461845" y="2637692"/>
            <a:ext cx="7420182" cy="2672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CE4506B-CEE0-F719-009E-B185861531F2}"/>
              </a:ext>
            </a:extLst>
          </p:cNvPr>
          <p:cNvSpPr txBox="1"/>
          <p:nvPr/>
        </p:nvSpPr>
        <p:spPr>
          <a:xfrm>
            <a:off x="4126523" y="5588205"/>
            <a:ext cx="41761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https://</a:t>
            </a:r>
            <a:r>
              <a:rPr lang="en-US" sz="1100" dirty="0" err="1"/>
              <a:t>www.scaler.com</a:t>
            </a:r>
            <a:r>
              <a:rPr lang="en-US" sz="1100" dirty="0"/>
              <a:t>/topics/</a:t>
            </a:r>
            <a:r>
              <a:rPr lang="en-US" sz="1100" dirty="0" err="1"/>
              <a:t>nlp</a:t>
            </a:r>
            <a:r>
              <a:rPr lang="en-US" sz="1100" dirty="0"/>
              <a:t>/</a:t>
            </a:r>
            <a:r>
              <a:rPr lang="en-US" sz="1100" dirty="0" err="1"/>
              <a:t>bert</a:t>
            </a:r>
            <a:r>
              <a:rPr lang="en-US" sz="1100" dirty="0"/>
              <a:t>-next-sentence-prediction/</a:t>
            </a:r>
          </a:p>
        </p:txBody>
      </p:sp>
    </p:spTree>
    <p:extLst>
      <p:ext uri="{BB962C8B-B14F-4D97-AF65-F5344CB8AC3E}">
        <p14:creationId xmlns:p14="http://schemas.microsoft.com/office/powerpoint/2010/main" val="3850546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5941C4B-116F-2D46-AD34-ADF9E5461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0355" y="1229193"/>
            <a:ext cx="11751092" cy="367897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D719-77C8-DD44-89FE-FAF5430AA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15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A8F385-EBAD-FA45-BE88-F38DE456009F}"/>
              </a:ext>
            </a:extLst>
          </p:cNvPr>
          <p:cNvSpPr/>
          <p:nvPr/>
        </p:nvSpPr>
        <p:spPr>
          <a:xfrm>
            <a:off x="2122715" y="5534561"/>
            <a:ext cx="6096000" cy="132343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Use a 30,000 </a:t>
            </a:r>
            <a:r>
              <a:rPr lang="en-US" sz="2000" dirty="0" err="1">
                <a:solidFill>
                  <a:schemeClr val="bg2">
                    <a:lumMod val="25000"/>
                  </a:schemeClr>
                </a:solidFill>
              </a:rPr>
              <a:t>WordPiece</a:t>
            </a: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 vocabulary on input.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Each token is sum of three embeddings.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2">
                    <a:lumMod val="25000"/>
                  </a:schemeClr>
                </a:solidFill>
              </a:rPr>
              <a:t>Single sequence is much more efficient. </a:t>
            </a:r>
          </a:p>
          <a:p>
            <a:endParaRPr lang="en-US" sz="2000" dirty="0">
              <a:solidFill>
                <a:schemeClr val="bg2">
                  <a:lumMod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77271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D55B198-2C50-F947-AAD6-259F9E9010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09311" y="1124262"/>
            <a:ext cx="4907380" cy="47968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647C3D8-CD2C-EB44-8EFD-A327C81CE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Model Architecture 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E33EEC-31E3-E94B-A998-81FB5C80E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16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FDE764C-50DA-DD4F-82D9-0B40FECAD36A}"/>
              </a:ext>
            </a:extLst>
          </p:cNvPr>
          <p:cNvSpPr txBox="1">
            <a:spLocks/>
          </p:cNvSpPr>
          <p:nvPr/>
        </p:nvSpPr>
        <p:spPr>
          <a:xfrm>
            <a:off x="442209" y="1516505"/>
            <a:ext cx="6290841" cy="358140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Multi-headed self attention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Models context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Feed-forward layers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Computes non-linear hierarchical features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Layer norm and residuals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Makes training deep networks healthy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Helvetica" pitchFamily="2" charset="0"/>
              </a:rPr>
              <a:t>Positional embeddings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2">
                    <a:lumMod val="50000"/>
                  </a:schemeClr>
                </a:solidFill>
                <a:latin typeface="Helvetica" pitchFamily="2" charset="0"/>
              </a:rPr>
              <a:t>Allows model to learn relative positioning </a:t>
            </a:r>
          </a:p>
        </p:txBody>
      </p:sp>
    </p:spTree>
    <p:extLst>
      <p:ext uri="{BB962C8B-B14F-4D97-AF65-F5344CB8AC3E}">
        <p14:creationId xmlns:p14="http://schemas.microsoft.com/office/powerpoint/2010/main" val="25711275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684E0-E9E1-A843-A296-2F479F8CA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Data: Wikipedia (2.5B words) + </a:t>
            </a:r>
            <a:r>
              <a:rPr lang="en-US" dirty="0" err="1"/>
              <a:t>BookCorpus</a:t>
            </a:r>
            <a:r>
              <a:rPr lang="en-US" dirty="0"/>
              <a:t> (800M words) </a:t>
            </a:r>
          </a:p>
          <a:p>
            <a:r>
              <a:rPr lang="en-US" dirty="0"/>
              <a:t>Batch Size: 131,072 words (1024 sequences * 128 length or 256 sequences * 512 length) </a:t>
            </a:r>
          </a:p>
          <a:p>
            <a:r>
              <a:rPr lang="en-US" dirty="0"/>
              <a:t>Training Time: 1M steps (~40 epochs)</a:t>
            </a:r>
          </a:p>
          <a:p>
            <a:r>
              <a:rPr lang="en-US" dirty="0"/>
              <a:t>Optimizer: </a:t>
            </a:r>
            <a:r>
              <a:rPr lang="en-US" dirty="0" err="1"/>
              <a:t>AdamW</a:t>
            </a:r>
            <a:r>
              <a:rPr lang="en-US" dirty="0"/>
              <a:t>, 1e-4 learning rate, linear decay</a:t>
            </a:r>
          </a:p>
          <a:p>
            <a:r>
              <a:rPr lang="en-US" b="1" dirty="0"/>
              <a:t>BERT-Base</a:t>
            </a:r>
            <a:r>
              <a:rPr lang="en-US" dirty="0"/>
              <a:t>: 12-layer, 768-hidden, 12-head</a:t>
            </a:r>
          </a:p>
          <a:p>
            <a:r>
              <a:rPr lang="en-US" b="1" dirty="0"/>
              <a:t>BERT-Large</a:t>
            </a:r>
            <a:r>
              <a:rPr lang="en-US" dirty="0"/>
              <a:t>: 24-layer, 1024-hidden, 16-head</a:t>
            </a:r>
          </a:p>
          <a:p>
            <a:r>
              <a:rPr lang="en-US" dirty="0"/>
              <a:t>Trained on 4x4 or 8x8 TPU slice for 4 days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3769D2-7754-6842-B219-9ECDC130E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Details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430B50-E8E8-BA4D-A8BF-CEE217659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232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B83C243-CF57-0F4E-B362-C3C0D8E4C9E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307" y="1509321"/>
            <a:ext cx="10721103" cy="468161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6C7062-FABE-9047-9AA4-8B2EAEEFF9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Procedure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A2A453-9004-C743-A20B-0437A0C69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03207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5C4728F-E799-DD43-8DC8-DF4B5BA8C1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01155" y="1011835"/>
            <a:ext cx="5846165" cy="584616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C799DE-7490-DD41-8833-F94BA593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Fine-Tuning Procedure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2FB1F3-4D6F-E945-AD48-76A27FC3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504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1EA3811-93DF-AE4F-B28F-3257D24D20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1515" y="2248524"/>
            <a:ext cx="11388968" cy="2690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007055-6AD7-3D41-B813-C8E5EE552F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GLUE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F14E9AE-FCC1-8E42-9524-79E1188590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CF972F-1749-9440-AF7A-798CFBF9FEC0}"/>
              </a:ext>
            </a:extLst>
          </p:cNvPr>
          <p:cNvSpPr txBox="1"/>
          <p:nvPr/>
        </p:nvSpPr>
        <p:spPr>
          <a:xfrm>
            <a:off x="3009475" y="5316003"/>
            <a:ext cx="69131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2">
                    <a:lumMod val="25000"/>
                  </a:schemeClr>
                </a:solidFill>
              </a:rPr>
              <a:t>GLUE is a set of NLU tasks designed to benchmark NLP models.</a:t>
            </a:r>
          </a:p>
        </p:txBody>
      </p:sp>
    </p:spTree>
    <p:extLst>
      <p:ext uri="{BB962C8B-B14F-4D97-AF65-F5344CB8AC3E}">
        <p14:creationId xmlns:p14="http://schemas.microsoft.com/office/powerpoint/2010/main" val="40461238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99447F-D1F3-C94B-9EB7-E816A05B8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49643" y="1512601"/>
            <a:ext cx="6178242" cy="3832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81D05F-1144-2940-86F7-3C5D2332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Pre-training Task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01E2FA-2CD5-3542-BD2E-1515DAAAD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91D750-B9C0-B14F-88A4-27CD5D00D070}"/>
              </a:ext>
            </a:extLst>
          </p:cNvPr>
          <p:cNvSpPr txBox="1"/>
          <p:nvPr/>
        </p:nvSpPr>
        <p:spPr>
          <a:xfrm>
            <a:off x="257263" y="5867400"/>
            <a:ext cx="112581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Masked LM (compared to left-to-right LM) is very important on some tasks, Next Sentence Prediction is important on other tasks.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Left-to-right model does very poorly on word-level task (</a:t>
            </a:r>
            <a:r>
              <a:rPr lang="en-US" sz="1600" dirty="0" err="1"/>
              <a:t>SQuAD</a:t>
            </a:r>
            <a:r>
              <a:rPr lang="en-US" sz="1600" dirty="0"/>
              <a:t>), although this is mitigated by </a:t>
            </a:r>
            <a:r>
              <a:rPr lang="en-US" sz="1600" dirty="0" err="1"/>
              <a:t>BiLSTM</a:t>
            </a:r>
            <a:r>
              <a:rPr lang="en-US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86036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ACF592A-774E-9746-878F-CB60745685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8229" y="2519362"/>
            <a:ext cx="6099178" cy="4179857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F2DD4-0191-9E42-B0C1-0D9C0B45FD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Masked LM takes slightly longer to converge because we only predict 15% instead of 100%</a:t>
            </a:r>
          </a:p>
          <a:p>
            <a:r>
              <a:rPr lang="en-US" dirty="0"/>
              <a:t> But absolute results are much better almost immediately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320C90-E001-7647-928F-0C847CFDA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Directionality and Training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71AACB-B03F-F149-AC7B-0DA467605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4672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0BAC61-A63F-734C-A204-8A4405F8FA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1534" y="1085891"/>
            <a:ext cx="6222584" cy="376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D9D473-C8F9-0843-B8F0-178FFF95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Effect of Model Size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A62E382-027C-CB4A-962E-A99069493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7B120-5BD7-F74D-87E4-98D1A6AB1C17}"/>
              </a:ext>
            </a:extLst>
          </p:cNvPr>
          <p:cNvSpPr txBox="1"/>
          <p:nvPr/>
        </p:nvSpPr>
        <p:spPr>
          <a:xfrm>
            <a:off x="1022888" y="537791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C3319AE-75F5-0B4F-8EAD-406F791F1C26}"/>
              </a:ext>
            </a:extLst>
          </p:cNvPr>
          <p:cNvSpPr txBox="1">
            <a:spLocks/>
          </p:cNvSpPr>
          <p:nvPr/>
        </p:nvSpPr>
        <p:spPr>
          <a:xfrm>
            <a:off x="1371600" y="4686301"/>
            <a:ext cx="10515600" cy="15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ABFC8CE-44B3-7748-96D3-ABC1EDB2F61B}"/>
              </a:ext>
            </a:extLst>
          </p:cNvPr>
          <p:cNvSpPr txBox="1">
            <a:spLocks/>
          </p:cNvSpPr>
          <p:nvPr/>
        </p:nvSpPr>
        <p:spPr>
          <a:xfrm>
            <a:off x="1198408" y="4926806"/>
            <a:ext cx="10515600" cy="15033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Big models help a lot </a:t>
            </a:r>
          </a:p>
          <a:p>
            <a:r>
              <a:rPr lang="en-US" dirty="0"/>
              <a:t>Going from 110M -&gt; 340M params helps even on datasets with 3,600 labeled examples </a:t>
            </a:r>
          </a:p>
        </p:txBody>
      </p:sp>
    </p:spTree>
    <p:extLst>
      <p:ext uri="{BB962C8B-B14F-4D97-AF65-F5344CB8AC3E}">
        <p14:creationId xmlns:p14="http://schemas.microsoft.com/office/powerpoint/2010/main" val="252582320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A9670-D8AD-AC43-AA6B-1AEEFBFC7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Better models like </a:t>
            </a:r>
            <a:r>
              <a:rPr lang="en-US" dirty="0" err="1"/>
              <a:t>RoBERTa</a:t>
            </a:r>
            <a:r>
              <a:rPr lang="en-US" dirty="0"/>
              <a:t>, </a:t>
            </a:r>
            <a:r>
              <a:rPr lang="en-US" dirty="0" err="1"/>
              <a:t>XLNet</a:t>
            </a:r>
            <a:r>
              <a:rPr lang="en-US" dirty="0"/>
              <a:t>, </a:t>
            </a:r>
            <a:r>
              <a:rPr lang="en-US" dirty="0" err="1"/>
              <a:t>ALBERTa</a:t>
            </a:r>
            <a:r>
              <a:rPr lang="en-US" dirty="0"/>
              <a:t> and T5. </a:t>
            </a:r>
          </a:p>
          <a:p>
            <a:pPr lvl="1"/>
            <a:r>
              <a:rPr lang="en-US" dirty="0"/>
              <a:t>Better pretraining objectives and / or more data and / or more parameters</a:t>
            </a:r>
          </a:p>
          <a:p>
            <a:r>
              <a:rPr lang="en-US" dirty="0"/>
              <a:t>Multilingual models like MBERT, XLM-</a:t>
            </a:r>
            <a:r>
              <a:rPr lang="en-US" dirty="0" err="1"/>
              <a:t>RoBERTa</a:t>
            </a:r>
            <a:r>
              <a:rPr lang="en-US" dirty="0"/>
              <a:t>, </a:t>
            </a:r>
            <a:r>
              <a:rPr lang="en-US" dirty="0" err="1"/>
              <a:t>MBart</a:t>
            </a:r>
            <a:r>
              <a:rPr lang="en-US" dirty="0"/>
              <a:t> and MT5.</a:t>
            </a:r>
          </a:p>
          <a:p>
            <a:pPr lvl="1"/>
            <a:r>
              <a:rPr lang="en-US" dirty="0"/>
              <a:t>Pretraining on multilingual data</a:t>
            </a:r>
          </a:p>
          <a:p>
            <a:r>
              <a:rPr lang="en-US" dirty="0"/>
              <a:t>Domain-specific models like </a:t>
            </a:r>
            <a:r>
              <a:rPr lang="en-US" dirty="0" err="1"/>
              <a:t>BioBERT</a:t>
            </a:r>
            <a:r>
              <a:rPr lang="en-US" dirty="0"/>
              <a:t>, </a:t>
            </a:r>
            <a:r>
              <a:rPr lang="en-US" dirty="0" err="1"/>
              <a:t>LegalBERT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Adapting general-purpose models to specific domains.</a:t>
            </a:r>
          </a:p>
          <a:p>
            <a:r>
              <a:rPr lang="en-US" dirty="0"/>
              <a:t>Knowledge distillation</a:t>
            </a:r>
          </a:p>
          <a:p>
            <a:pPr lvl="1"/>
            <a:r>
              <a:rPr lang="en-US" dirty="0"/>
              <a:t>Distilling the knowledge in big models into smaller ones. </a:t>
            </a:r>
          </a:p>
          <a:p>
            <a:r>
              <a:rPr lang="en-US" dirty="0"/>
              <a:t>Zero and few shot learning</a:t>
            </a:r>
          </a:p>
          <a:p>
            <a:pPr lvl="1"/>
            <a:r>
              <a:rPr lang="en-US" dirty="0"/>
              <a:t>Given no or few examples, large models can still perform quite well.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D04C28-81F3-684E-915C-C9C45864E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Post-BERT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1597CD-EBFA-0345-B3FA-E42754508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23FEA-521B-414B-B9B3-DE499F20582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19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Main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Arial-Times New Roman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2"/>
        </a:lnRef>
        <a:fillRef idx="2">
          <a:schemeClr val="accent2"/>
        </a:fillRef>
        <a:effectRef idx="1">
          <a:schemeClr val="accent2"/>
        </a:effectRef>
        <a:fontRef idx="minor">
          <a:schemeClr val="dk1"/>
        </a:fontRef>
      </a:style>
    </a:spDef>
    <a:lnDef>
      <a:spPr>
        <a:ln w="19050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Big data template.pptx" id="{20A2C686-B26B-470E-A460-CDE7F6DF3BDB}" vid="{FEDE971F-BDA7-4940-B809-146585AB44A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08B597DB40EB548A2BE0F2D7EA3D291" ma:contentTypeVersion="4" ma:contentTypeDescription="Create a new document." ma:contentTypeScope="" ma:versionID="67aa8a13b95130bbc34076cb2215820b">
  <xsd:schema xmlns:xsd="http://www.w3.org/2001/XMLSchema" xmlns:xs="http://www.w3.org/2001/XMLSchema" xmlns:p="http://schemas.microsoft.com/office/2006/metadata/properties" xmlns:ns2="2f15783b-9d66-4350-8efe-5d8255e1b625" targetNamespace="http://schemas.microsoft.com/office/2006/metadata/properties" ma:root="true" ma:fieldsID="05d6e0c51ef7f9e31959f5f4da9e6eb0" ns2:_="">
    <xsd:import namespace="2f15783b-9d66-4350-8efe-5d8255e1b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15783b-9d66-4350-8efe-5d8255e1b6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365963-F6E9-4F3F-97CE-9D71BF42C16E}"/>
</file>

<file path=customXml/itemProps2.xml><?xml version="1.0" encoding="utf-8"?>
<ds:datastoreItem xmlns:ds="http://schemas.openxmlformats.org/officeDocument/2006/customXml" ds:itemID="{68401184-CC28-4D47-958F-2F67C3E153BE}"/>
</file>

<file path=customXml/itemProps3.xml><?xml version="1.0" encoding="utf-8"?>
<ds:datastoreItem xmlns:ds="http://schemas.openxmlformats.org/officeDocument/2006/customXml" ds:itemID="{FD19CFC1-EBAA-461D-903E-E0AAAB1BFFCD}"/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Big data template</Template>
  <TotalTime>10697</TotalTime>
  <Words>766</Words>
  <Application>Microsoft Office PowerPoint</Application>
  <PresentationFormat>Widescreen</PresentationFormat>
  <Paragraphs>116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Calibri</vt:lpstr>
      <vt:lpstr>Courier New</vt:lpstr>
      <vt:lpstr>Helvetica</vt:lpstr>
      <vt:lpstr>Times New Roman</vt:lpstr>
      <vt:lpstr>Wingdings</vt:lpstr>
      <vt:lpstr>Main</vt:lpstr>
      <vt:lpstr>Contextual Word Representations:  ELMo and BERT</vt:lpstr>
      <vt:lpstr>Contextual Embeddings</vt:lpstr>
      <vt:lpstr>History of Contextual Representations </vt:lpstr>
      <vt:lpstr>History of Contextual Representations </vt:lpstr>
      <vt:lpstr>Deep language model</vt:lpstr>
      <vt:lpstr>Use all layers of language model </vt:lpstr>
      <vt:lpstr>Learned task-specific combination of layer</vt:lpstr>
      <vt:lpstr>ELMo improves NLP tasks</vt:lpstr>
      <vt:lpstr>PowerPoint Presentation</vt:lpstr>
      <vt:lpstr>Problem with Previous Methods</vt:lpstr>
      <vt:lpstr>Unidirectional vs. Bidirectional Models </vt:lpstr>
      <vt:lpstr>Masked LM </vt:lpstr>
      <vt:lpstr>Masked LM </vt:lpstr>
      <vt:lpstr>Next Sentence Prediction </vt:lpstr>
      <vt:lpstr>PowerPoint Presentation</vt:lpstr>
      <vt:lpstr>Model Architecture </vt:lpstr>
      <vt:lpstr>Model Details </vt:lpstr>
      <vt:lpstr>Fine-Tuning Procedure</vt:lpstr>
      <vt:lpstr>Fine-Tuning Procedure</vt:lpstr>
      <vt:lpstr>GLUE Results</vt:lpstr>
      <vt:lpstr>Effect of Pre-training Task</vt:lpstr>
      <vt:lpstr>Effect of Directionality and Training Time</vt:lpstr>
      <vt:lpstr>Effect of Model Size</vt:lpstr>
      <vt:lpstr>Post-BERT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Foundation Models in Natural Language Processing</dc:title>
  <dc:creator>Yadollah Yaghoobzadeh</dc:creator>
  <cp:lastModifiedBy>Yadollah Yaghoobzadeh</cp:lastModifiedBy>
  <cp:revision>152</cp:revision>
  <dcterms:created xsi:type="dcterms:W3CDTF">2021-09-22T08:38:12Z</dcterms:created>
  <dcterms:modified xsi:type="dcterms:W3CDTF">2024-02-25T15:25:40Z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0x010100008B597DB40EB548A2BE0F2D7EA3D291</vt:lpwstr>
  </property>
</Properties>
</file>