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9"/>
  </p:notesMasterIdLst>
  <p:handoutMasterIdLst>
    <p:handoutMasterId r:id="rId130"/>
  </p:handoutMasterIdLst>
  <p:sldIdLst>
    <p:sldId id="367" r:id="rId2"/>
    <p:sldId id="414" r:id="rId3"/>
    <p:sldId id="259" r:id="rId4"/>
    <p:sldId id="260" r:id="rId5"/>
    <p:sldId id="261" r:id="rId6"/>
    <p:sldId id="262" r:id="rId7"/>
    <p:sldId id="263" r:id="rId8"/>
    <p:sldId id="409" r:id="rId9"/>
    <p:sldId id="410" r:id="rId10"/>
    <p:sldId id="266" r:id="rId11"/>
    <p:sldId id="411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41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413" r:id="rId39"/>
    <p:sldId id="295" r:id="rId40"/>
    <p:sldId id="296" r:id="rId41"/>
    <p:sldId id="298" r:id="rId42"/>
    <p:sldId id="299" r:id="rId43"/>
    <p:sldId id="415" r:id="rId44"/>
    <p:sldId id="416" r:id="rId45"/>
    <p:sldId id="417" r:id="rId46"/>
    <p:sldId id="311" r:id="rId47"/>
    <p:sldId id="313" r:id="rId48"/>
    <p:sldId id="314" r:id="rId49"/>
    <p:sldId id="418" r:id="rId50"/>
    <p:sldId id="317" r:id="rId51"/>
    <p:sldId id="318" r:id="rId52"/>
    <p:sldId id="319" r:id="rId53"/>
    <p:sldId id="320" r:id="rId54"/>
    <p:sldId id="321" r:id="rId55"/>
    <p:sldId id="322" r:id="rId56"/>
    <p:sldId id="325" r:id="rId57"/>
    <p:sldId id="326" r:id="rId58"/>
    <p:sldId id="327" r:id="rId59"/>
    <p:sldId id="328" r:id="rId60"/>
    <p:sldId id="329" r:id="rId61"/>
    <p:sldId id="331" r:id="rId62"/>
    <p:sldId id="332" r:id="rId63"/>
    <p:sldId id="333" r:id="rId64"/>
    <p:sldId id="334" r:id="rId65"/>
    <p:sldId id="335" r:id="rId66"/>
    <p:sldId id="336" r:id="rId67"/>
    <p:sldId id="337" r:id="rId68"/>
    <p:sldId id="338" r:id="rId69"/>
    <p:sldId id="339" r:id="rId70"/>
    <p:sldId id="340" r:id="rId71"/>
    <p:sldId id="341" r:id="rId72"/>
    <p:sldId id="342" r:id="rId73"/>
    <p:sldId id="343" r:id="rId74"/>
    <p:sldId id="344" r:id="rId75"/>
    <p:sldId id="345" r:id="rId76"/>
    <p:sldId id="346" r:id="rId77"/>
    <p:sldId id="347" r:id="rId78"/>
    <p:sldId id="348" r:id="rId79"/>
    <p:sldId id="349" r:id="rId80"/>
    <p:sldId id="350" r:id="rId81"/>
    <p:sldId id="351" r:id="rId82"/>
    <p:sldId id="352" r:id="rId83"/>
    <p:sldId id="353" r:id="rId84"/>
    <p:sldId id="354" r:id="rId85"/>
    <p:sldId id="355" r:id="rId86"/>
    <p:sldId id="356" r:id="rId87"/>
    <p:sldId id="357" r:id="rId88"/>
    <p:sldId id="358" r:id="rId89"/>
    <p:sldId id="359" r:id="rId90"/>
    <p:sldId id="360" r:id="rId91"/>
    <p:sldId id="361" r:id="rId92"/>
    <p:sldId id="362" r:id="rId93"/>
    <p:sldId id="363" r:id="rId94"/>
    <p:sldId id="364" r:id="rId95"/>
    <p:sldId id="365" r:id="rId96"/>
    <p:sldId id="366" r:id="rId97"/>
    <p:sldId id="407" r:id="rId98"/>
    <p:sldId id="368" r:id="rId99"/>
    <p:sldId id="369" r:id="rId100"/>
    <p:sldId id="370" r:id="rId101"/>
    <p:sldId id="371" r:id="rId102"/>
    <p:sldId id="372" r:id="rId103"/>
    <p:sldId id="373" r:id="rId104"/>
    <p:sldId id="374" r:id="rId105"/>
    <p:sldId id="375" r:id="rId106"/>
    <p:sldId id="376" r:id="rId107"/>
    <p:sldId id="377" r:id="rId108"/>
    <p:sldId id="378" r:id="rId109"/>
    <p:sldId id="379" r:id="rId110"/>
    <p:sldId id="380" r:id="rId111"/>
    <p:sldId id="381" r:id="rId112"/>
    <p:sldId id="382" r:id="rId113"/>
    <p:sldId id="383" r:id="rId114"/>
    <p:sldId id="384" r:id="rId115"/>
    <p:sldId id="385" r:id="rId116"/>
    <p:sldId id="386" r:id="rId117"/>
    <p:sldId id="387" r:id="rId118"/>
    <p:sldId id="388" r:id="rId119"/>
    <p:sldId id="389" r:id="rId120"/>
    <p:sldId id="390" r:id="rId121"/>
    <p:sldId id="391" r:id="rId122"/>
    <p:sldId id="392" r:id="rId123"/>
    <p:sldId id="393" r:id="rId124"/>
    <p:sldId id="394" r:id="rId125"/>
    <p:sldId id="395" r:id="rId126"/>
    <p:sldId id="396" r:id="rId127"/>
    <p:sldId id="406" r:id="rId12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008000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97" autoAdjust="0"/>
    <p:restoredTop sz="88514" autoAdjust="0"/>
  </p:normalViewPr>
  <p:slideViewPr>
    <p:cSldViewPr snapToGrid="0">
      <p:cViewPr>
        <p:scale>
          <a:sx n="100" d="100"/>
          <a:sy n="100" d="100"/>
        </p:scale>
        <p:origin x="115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handoutMaster" Target="handoutMasters/handoutMaster1.xml"/><Relationship Id="rId135" Type="http://schemas.openxmlformats.org/officeDocument/2006/relationships/customXml" Target="../customXml/item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136" Type="http://schemas.openxmlformats.org/officeDocument/2006/relationships/customXml" Target="../customXml/item2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29A6E-BADE-48A7-BEA0-052A0B1331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C1B00-3C9E-4969-8470-DA6ECF6112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7B9-7F8E-4A76-BB65-B0CDE389237C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D77A-E581-480B-89FE-0DAC6EE8E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90E-B55E-4814-BF43-BEF793D43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02DEA-9E9C-4685-ADE8-1D7EAB487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08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Provenance: </a:t>
            </a:r>
            <a:r>
              <a:rPr lang="fa-IR" dirty="0"/>
              <a:t>منشا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38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B55E72-2775-45AE-8CCB-EB9B0EA39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 userDrawn="1"/>
        </p:nvSpPr>
        <p:spPr>
          <a:xfrm>
            <a:off x="711200" y="2667000"/>
            <a:ext cx="10769600" cy="182880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66700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3198" y="5076735"/>
            <a:ext cx="3677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Mohammad Javad Dousti</a:t>
            </a:r>
          </a:p>
        </p:txBody>
      </p:sp>
      <p:pic>
        <p:nvPicPr>
          <p:cNvPr id="10" name="Picture 2" descr="Image result for دانشگاه تهران">
            <a:extLst>
              <a:ext uri="{FF2B5EF4-FFF2-40B4-BE49-F238E27FC236}">
                <a16:creationId xmlns:a16="http://schemas.microsoft.com/office/drawing/2014/main" id="{9E7CB819-1140-D440-A5AE-83AC4208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914400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دانشکده فنی لوگو">
            <a:extLst>
              <a:ext uri="{FF2B5EF4-FFF2-40B4-BE49-F238E27FC236}">
                <a16:creationId xmlns:a16="http://schemas.microsoft.com/office/drawing/2014/main" id="{820363BF-D45A-BC4C-8A96-854FBD06A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914400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E67ADEF-48BE-4324-BFFD-E5AE3FAAF2C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25" y="104775"/>
            <a:ext cx="28765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CC80-3337-49C5-9FD9-324BBCAE8FEA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A4841B-B80A-F6C9-93FC-0F8ABAAA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E4485-A598-4052-9941-9E9BC9E10119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EAF2-6C9D-CD36-58BA-FF7BD8724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0C14B-1347-6B37-821C-672480041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2C097-92A9-A32A-FDBE-3C9FB3C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563E0-C637-4293-99B4-EAC015699BAE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0FE4-78EA-1E8B-08A9-3D6B6CBA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0744A-AD3D-0912-C5D1-4C1C05F1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7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3C75-5F21-B456-EB79-B3985BF1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F23-F473-C1A8-281B-AB1D19DF0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FEAC0-7649-6AA2-4F39-5E34CAFBD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05001-BD8D-F477-59BD-B8C0F1D4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FEC42-6F2A-4BF2-AD85-9CB7C12C4573}" type="datetime1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8C98-7A38-24BA-DD79-B838B243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03721-DD40-4C8F-4CC7-57DA13FA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BBC0D-B172-4826-A142-644B1718BB02}" type="datetime1">
              <a:rPr lang="en-US" smtClean="0"/>
              <a:t>4/22/2024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415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5811" y="941713"/>
            <a:ext cx="10660379" cy="562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6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9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3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A5454-FB0E-43A7-B666-08FC6B4EEB83}" type="datetime1">
              <a:rPr lang="en-US" smtClean="0"/>
              <a:t>4/22/2024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863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7368-A618-482D-8DB1-6FD6DC6B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AA464-F9AD-4C1F-B952-D815088CB317}"/>
              </a:ext>
            </a:extLst>
          </p:cNvPr>
          <p:cNvSpPr txBox="1">
            <a:spLocks/>
          </p:cNvSpPr>
          <p:nvPr userDrawn="1"/>
        </p:nvSpPr>
        <p:spPr>
          <a:xfrm>
            <a:off x="11515410" y="6492876"/>
            <a:ext cx="6765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b="0" kern="1200" baseline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C5C0-E1A2-4E4A-AF28-F88372D806D1}"/>
              </a:ext>
            </a:extLst>
          </p:cNvPr>
          <p:cNvSpPr txBox="1"/>
          <p:nvPr userDrawn="1"/>
        </p:nvSpPr>
        <p:spPr>
          <a:xfrm>
            <a:off x="228600" y="6488668"/>
            <a:ext cx="16764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FMNLP 1402</a:t>
            </a:r>
          </a:p>
        </p:txBody>
      </p:sp>
    </p:spTree>
    <p:extLst>
      <p:ext uri="{BB962C8B-B14F-4D97-AF65-F5344CB8AC3E}">
        <p14:creationId xmlns:p14="http://schemas.microsoft.com/office/powerpoint/2010/main" val="36601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3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A40C0-AC4B-4B3D-96BB-93125704CDE2}" type="datetime1">
              <a:rPr lang="en-US" smtClean="0"/>
              <a:t>4/22/2024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29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3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7E24-29AD-4C9E-94A6-E7CCF49EEA2E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3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61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A40A3A04-3601-4377-8A97-8B33694F4538}" type="datetime1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77" r:id="rId5"/>
    <p:sldLayoutId id="2147483678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1.emnlp-main.98.mp4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https://patentimages.storage.googleapis.com/0c/21/16/3b2ad21579ae2a/CN1199926A.pdf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DNOOBW/List-of-Dirty-Naughty-Obscene-and-Otherwise-Bad-Words/blob/master/en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DNOOBW/List-of-Dirty-Naughty-Obscene-and-Otherwise-Bad-Words/blob/master/en" TargetMode="Externa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hyperlink" Target="https://aclanthology.org/J90-1003/" TargetMode="Externa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D16-1120/" TargetMode="Externa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D16-1120/" TargetMode="Externa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hyperlink" Target="https://arxiv.org/pdf/1803.09010.pdf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Q18-1041.pdf" TargetMode="External"/><Relationship Id="rId2" Type="http://schemas.openxmlformats.org/officeDocument/2006/relationships/hyperlink" Target="https://arxiv.org/pdf/1803.09010.pdf" TargetMode="Externa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Q18-1041.pdf" TargetMode="External"/><Relationship Id="rId7" Type="http://schemas.openxmlformats.org/officeDocument/2006/relationships/hyperlink" Target="https://stanford-cs324.github.io/winter2022/lectures/data/" TargetMode="External"/><Relationship Id="rId2" Type="http://schemas.openxmlformats.org/officeDocument/2006/relationships/hyperlink" Target="https://arxiv.org/pdf/1803.09010.pdf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jpg"/><Relationship Id="rId5" Type="http://schemas.openxmlformats.org/officeDocument/2006/relationships/image" Target="../media/image53.jpg"/><Relationship Id="rId4" Type="http://schemas.openxmlformats.org/officeDocument/2006/relationships/hyperlink" Target="https://arxiv.org/pdf/1810.03993.pdf" TargetMode="Externa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c4-search.apps.allenai.org/" TargetMode="External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9.jp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0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xiv.org/pdf/2107.06499.pdf" TargetMode="Externa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jstor.org/stable/2427226#metadata_info_tab_contents" TargetMode="External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8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hyperlink" Target="https://twitter.com/katherine1ee/status/1415496898241339400" TargetMode="Externa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ired.com/story/efforts-make-text-ai-less-racist-terrible/" TargetMode="External"/><Relationship Id="rId3" Type="http://schemas.openxmlformats.org/officeDocument/2006/relationships/hyperlink" Target="https://arxiv.org/pdf/2104.08758.pdf" TargetMode="External"/><Relationship Id="rId7" Type="http://schemas.openxmlformats.org/officeDocument/2006/relationships/hyperlink" Target="https://www.unite.ai/minority-voices-filtered-out-of-google-natural-language-processing-models/" TargetMode="External"/><Relationship Id="rId2" Type="http://schemas.openxmlformats.org/officeDocument/2006/relationships/hyperlink" Target="https://stanford-cs324.github.io/winter2022/lectures/data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arxiv.org/pdf/2107.06499.pdf" TargetMode="External"/><Relationship Id="rId5" Type="http://schemas.openxmlformats.org/officeDocument/2006/relationships/hyperlink" Target="https://arxiv.org/pdf/2101.00027.pdf" TargetMode="External"/><Relationship Id="rId4" Type="http://schemas.openxmlformats.org/officeDocument/2006/relationships/hyperlink" Target="https://aclanthology.org/2021.emnlp-main.98.mp4" TargetMode="Externa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mwidm.com/oracle-fusion-middleware/" TargetMode="External"/><Relationship Id="rId7" Type="http://schemas.openxmlformats.org/officeDocument/2006/relationships/hyperlink" Target="https://patentimages.storage.googleapis.com/0c/21/16/3b2ad21579ae2a/CN1199926A.pdf" TargetMode="External"/><Relationship Id="rId2" Type="http://schemas.openxmlformats.org/officeDocument/2006/relationships/hyperlink" Target="https://www.expert.ai/blog/10-text-mining-examples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researchgate.net/figure/Comparative-size-of-datasets-used-for-training-NLP-models-represented-by-the-circle_fig3_350992250" TargetMode="External"/><Relationship Id="rId5" Type="http://schemas.openxmlformats.org/officeDocument/2006/relationships/hyperlink" Target="https://www.istockphoto.com/photos/stack-of-books" TargetMode="External"/><Relationship Id="rId4" Type="http://schemas.openxmlformats.org/officeDocument/2006/relationships/hyperlink" Target="https://www.flaticon.com/free-icon/document_151896" TargetMode="Externa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>
                <a:latin typeface="Calibri"/>
                <a:cs typeface="Calibri"/>
              </a:rPr>
              <a:t>Data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2B7C8-73FC-E5E3-5282-E158EB33A64A}"/>
              </a:ext>
            </a:extLst>
          </p:cNvPr>
          <p:cNvSpPr txBox="1"/>
          <p:nvPr/>
        </p:nvSpPr>
        <p:spPr>
          <a:xfrm>
            <a:off x="105731" y="6088559"/>
            <a:ext cx="67605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Sources:</a:t>
            </a:r>
          </a:p>
          <a:p>
            <a:r>
              <a:rPr lang="en-US" sz="1000" dirty="0"/>
              <a:t>* Mohit </a:t>
            </a:r>
            <a:r>
              <a:rPr lang="en-US" sz="1000" dirty="0" err="1"/>
              <a:t>Iyyer’s</a:t>
            </a:r>
            <a:r>
              <a:rPr lang="en-US" sz="1000" dirty="0"/>
              <a:t> advanced NLP’s slides from UMass.</a:t>
            </a:r>
            <a:endParaRPr lang="en-US" sz="1000" dirty="0">
              <a:effectLst/>
            </a:endParaRPr>
          </a:p>
          <a:p>
            <a:r>
              <a:rPr lang="en-US" sz="1000" dirty="0"/>
              <a:t>* Princeton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F9F760-D6F3-4E5C-B784-CB281A6C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famous tweet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1032-4521-4494-97B8-94E5ADB1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7E3CA-1E2D-4BB2-9A08-1F2D3A7C3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73" y="1530259"/>
            <a:ext cx="9341253" cy="379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3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1A79C1E-5836-495C-BA25-0F927BAC3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4"/>
          <p:cNvSpPr txBox="1"/>
          <p:nvPr/>
        </p:nvSpPr>
        <p:spPr>
          <a:xfrm>
            <a:off x="5306906" y="5888783"/>
            <a:ext cx="1425787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3"/>
              </a:lnSpc>
            </a:pPr>
            <a:r>
              <a:rPr sz="1733" dirty="0">
                <a:latin typeface="Arial"/>
                <a:cs typeface="Arial"/>
              </a:rPr>
              <a:t>[EMNLP</a:t>
            </a:r>
            <a:r>
              <a:rPr sz="1733" spc="-73" dirty="0">
                <a:latin typeface="Arial"/>
                <a:cs typeface="Arial"/>
              </a:rPr>
              <a:t> </a:t>
            </a:r>
            <a:r>
              <a:rPr sz="1733" spc="-13" dirty="0">
                <a:latin typeface="Arial"/>
                <a:cs typeface="Arial"/>
              </a:rPr>
              <a:t>2021]</a:t>
            </a:r>
            <a:endParaRPr sz="1733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02839" y="6354716"/>
            <a:ext cx="1286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solidFill>
                  <a:srgbClr val="595959"/>
                </a:solidFill>
                <a:latin typeface="Arial"/>
                <a:cs typeface="Arial"/>
              </a:rPr>
              <a:t>4</a:t>
            </a:r>
            <a:endParaRPr sz="1333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6799" y="5085487"/>
            <a:ext cx="3166003" cy="77152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470871" y="6436748"/>
            <a:ext cx="520276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latin typeface="Arial"/>
                <a:cs typeface="Arial"/>
              </a:rPr>
              <a:t>Some</a:t>
            </a:r>
            <a:r>
              <a:rPr sz="1467" spc="-40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slides</a:t>
            </a:r>
            <a:r>
              <a:rPr sz="1467" spc="-2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adapted</a:t>
            </a:r>
            <a:r>
              <a:rPr sz="1467" spc="-2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from</a:t>
            </a:r>
            <a:r>
              <a:rPr sz="1467" spc="-27" dirty="0">
                <a:latin typeface="Arial"/>
                <a:cs typeface="Arial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Jesse</a:t>
            </a:r>
            <a:r>
              <a:rPr sz="1467" u="sng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Dodge’s</a:t>
            </a:r>
            <a:r>
              <a:rPr sz="1467" u="sng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467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talk</a:t>
            </a:r>
            <a:r>
              <a:rPr sz="1467" spc="-27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@</a:t>
            </a:r>
            <a:r>
              <a:rPr sz="1467" spc="-27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EMNLP</a:t>
            </a:r>
            <a:r>
              <a:rPr sz="1467" spc="-47" dirty="0">
                <a:latin typeface="Arial"/>
                <a:cs typeface="Arial"/>
              </a:rPr>
              <a:t> </a:t>
            </a:r>
            <a:r>
              <a:rPr sz="1467" spc="-27" dirty="0">
                <a:latin typeface="Arial"/>
                <a:cs typeface="Arial"/>
              </a:rPr>
              <a:t>2021</a:t>
            </a:r>
            <a:endParaRPr sz="1467">
              <a:latin typeface="Arial"/>
              <a:cs typeface="Arial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383288B-DC4E-4366-BCBD-A0F74A9B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7EFAEB-72DB-4765-A85F-E33D494DC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93" y="692410"/>
            <a:ext cx="11581012" cy="3283878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F9F092E-9D32-48D4-84E2-F70BA7C7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833" y="194533"/>
            <a:ext cx="9474336" cy="64689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1451D-94B8-429A-A196-6B94DC831F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-6349"/>
            <a:ext cx="12204699" cy="65265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64094" y="831035"/>
            <a:ext cx="3530187" cy="1986868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3866">
              <a:spcBef>
                <a:spcPts val="133"/>
              </a:spcBef>
            </a:pPr>
            <a:r>
              <a:rPr lang="en-US" sz="19200" spc="-180" baseline="-20833" dirty="0"/>
              <a:t>10</a:t>
            </a:r>
            <a:r>
              <a:rPr lang="en-US" sz="19200" spc="-180" baseline="30000" dirty="0"/>
              <a:t>11</a:t>
            </a:r>
            <a:endParaRPr sz="8533" baseline="30000" dirty="0"/>
          </a:p>
        </p:txBody>
      </p:sp>
      <p:sp>
        <p:nvSpPr>
          <p:cNvPr id="4" name="object 4"/>
          <p:cNvSpPr txBox="1"/>
          <p:nvPr/>
        </p:nvSpPr>
        <p:spPr>
          <a:xfrm>
            <a:off x="2080668" y="1344427"/>
            <a:ext cx="3114039" cy="167909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lang="en-US" sz="16200" spc="-40" baseline="-20919" dirty="0">
                <a:latin typeface="Arial"/>
                <a:cs typeface="Arial"/>
              </a:rPr>
              <a:t>10</a:t>
            </a:r>
            <a:r>
              <a:rPr lang="en-US" sz="16200" spc="-40" baseline="30000" dirty="0">
                <a:latin typeface="Arial"/>
                <a:cs typeface="Arial"/>
              </a:rPr>
              <a:t>10</a:t>
            </a:r>
            <a:endParaRPr sz="7200" baseline="30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7951" y="3031575"/>
            <a:ext cx="3114040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668850" marR="6773" indent="-652762">
              <a:lnSpc>
                <a:spcPct val="100699"/>
              </a:lnSpc>
              <a:spcBef>
                <a:spcPts val="113"/>
              </a:spcBef>
            </a:pPr>
            <a:r>
              <a:rPr sz="2400" b="1" dirty="0">
                <a:latin typeface="Arial"/>
                <a:cs typeface="Arial"/>
              </a:rPr>
              <a:t>What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used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b="1" spc="-33" dirty="0">
                <a:latin typeface="Arial"/>
                <a:cs typeface="Arial"/>
              </a:rPr>
              <a:t>for </a:t>
            </a:r>
            <a:r>
              <a:rPr sz="2400" b="1" spc="-13" dirty="0">
                <a:latin typeface="Arial"/>
                <a:cs typeface="Arial"/>
              </a:rPr>
              <a:t>pretraining?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550" y="4575962"/>
            <a:ext cx="1093047" cy="9610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13450" marR="6773" indent="-97364">
              <a:spcBef>
                <a:spcPts val="133"/>
              </a:spcBef>
            </a:pPr>
            <a:r>
              <a:rPr sz="3067" b="1" spc="-27" dirty="0">
                <a:latin typeface="Arial"/>
                <a:cs typeface="Arial"/>
              </a:rPr>
              <a:t>BERT 2018</a:t>
            </a:r>
            <a:endParaRPr sz="30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7683" y="4575962"/>
            <a:ext cx="1159087" cy="9610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45623" marR="6773" indent="-129537">
              <a:spcBef>
                <a:spcPts val="133"/>
              </a:spcBef>
            </a:pPr>
            <a:r>
              <a:rPr sz="3067" b="1" spc="-60" dirty="0">
                <a:latin typeface="Arial"/>
                <a:cs typeface="Arial"/>
              </a:rPr>
              <a:t>GPT-</a:t>
            </a:r>
            <a:r>
              <a:rPr sz="3067" b="1" spc="-67" dirty="0">
                <a:latin typeface="Arial"/>
                <a:cs typeface="Arial"/>
              </a:rPr>
              <a:t>2 </a:t>
            </a:r>
            <a:r>
              <a:rPr sz="3067" b="1" spc="-27" dirty="0">
                <a:latin typeface="Arial"/>
                <a:cs typeface="Arial"/>
              </a:rPr>
              <a:t>2019</a:t>
            </a:r>
            <a:endParaRPr sz="30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40289" y="4554963"/>
            <a:ext cx="120734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51548" marR="6773" indent="-135463">
              <a:spcBef>
                <a:spcPts val="133"/>
              </a:spcBef>
            </a:pPr>
            <a:r>
              <a:rPr sz="3200" b="1" spc="-60" dirty="0">
                <a:latin typeface="Arial"/>
                <a:cs typeface="Arial"/>
              </a:rPr>
              <a:t>GPT-</a:t>
            </a:r>
            <a:r>
              <a:rPr sz="3200" b="1" spc="-67" dirty="0">
                <a:latin typeface="Arial"/>
                <a:cs typeface="Arial"/>
              </a:rPr>
              <a:t>3 </a:t>
            </a:r>
            <a:r>
              <a:rPr sz="3200" b="1" spc="-27" dirty="0">
                <a:latin typeface="Arial"/>
                <a:cs typeface="Arial"/>
              </a:rPr>
              <a:t>2020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284" y="3023519"/>
            <a:ext cx="145118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2667" b="1" dirty="0">
                <a:latin typeface="Arial"/>
                <a:cs typeface="Arial"/>
              </a:rPr>
              <a:t>2.5</a:t>
            </a:r>
            <a:r>
              <a:rPr sz="2667" b="1" spc="-13" dirty="0">
                <a:latin typeface="Arial"/>
                <a:cs typeface="Arial"/>
              </a:rPr>
              <a:t> </a:t>
            </a:r>
            <a:r>
              <a:rPr sz="2667" b="1" dirty="0">
                <a:latin typeface="Arial"/>
                <a:cs typeface="Arial"/>
              </a:rPr>
              <a:t>x</a:t>
            </a:r>
            <a:r>
              <a:rPr sz="2667" b="1" spc="-13" dirty="0">
                <a:latin typeface="Arial"/>
                <a:cs typeface="Arial"/>
              </a:rPr>
              <a:t> </a:t>
            </a:r>
            <a:r>
              <a:rPr sz="2667" b="1" spc="-33" dirty="0">
                <a:latin typeface="Arial"/>
                <a:cs typeface="Arial"/>
              </a:rPr>
              <a:t>10</a:t>
            </a:r>
            <a:r>
              <a:rPr sz="2600" b="1" spc="-49" baseline="32051" dirty="0">
                <a:latin typeface="Arial"/>
                <a:cs typeface="Arial"/>
              </a:rPr>
              <a:t>9</a:t>
            </a:r>
            <a:endParaRPr sz="2600" baseline="32051">
              <a:latin typeface="Arial"/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65B8903-F99C-4BB2-A59E-85B7B346EB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1B377-D85C-4DEF-A584-CC1CABB79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spc="-33" dirty="0"/>
              <a:t>Web-</a:t>
            </a:r>
            <a:r>
              <a:rPr dirty="0"/>
              <a:t>scale</a:t>
            </a:r>
            <a:r>
              <a:rPr spc="20" dirty="0"/>
              <a:t> </a:t>
            </a:r>
            <a:r>
              <a:rPr spc="-27" dirty="0"/>
              <a:t>text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633" y="1956745"/>
            <a:ext cx="3861924" cy="35905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36367" y="1838100"/>
            <a:ext cx="4782820" cy="3724546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6933">
              <a:spcBef>
                <a:spcPts val="380"/>
              </a:spcBef>
            </a:pPr>
            <a:r>
              <a:rPr sz="3867" dirty="0">
                <a:latin typeface="Arial"/>
                <a:cs typeface="Arial"/>
              </a:rPr>
              <a:t>100</a:t>
            </a:r>
            <a:r>
              <a:rPr sz="3867" spc="-20" dirty="0">
                <a:latin typeface="Arial"/>
                <a:cs typeface="Arial"/>
              </a:rPr>
              <a:t> </a:t>
            </a:r>
            <a:r>
              <a:rPr sz="3867" spc="-13" dirty="0">
                <a:latin typeface="Arial"/>
                <a:cs typeface="Arial"/>
              </a:rPr>
              <a:t>petabytes</a:t>
            </a:r>
            <a:endParaRPr sz="3867" dirty="0">
              <a:latin typeface="Arial"/>
              <a:cs typeface="Arial"/>
            </a:endParaRPr>
          </a:p>
          <a:p>
            <a:pPr marL="16933">
              <a:spcBef>
                <a:spcPts val="120"/>
              </a:spcBef>
            </a:pPr>
            <a:r>
              <a:rPr sz="1867" dirty="0">
                <a:latin typeface="Arial"/>
                <a:cs typeface="Arial"/>
              </a:rPr>
              <a:t>Google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search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index</a:t>
            </a:r>
            <a:endParaRPr sz="1867" dirty="0">
              <a:latin typeface="Arial"/>
              <a:cs typeface="Arial"/>
            </a:endParaRPr>
          </a:p>
          <a:p>
            <a:pPr>
              <a:spcBef>
                <a:spcPts val="60"/>
              </a:spcBef>
            </a:pPr>
            <a:endParaRPr sz="2600" dirty="0">
              <a:latin typeface="Arial"/>
              <a:cs typeface="Arial"/>
            </a:endParaRPr>
          </a:p>
          <a:p>
            <a:pPr marL="16933"/>
            <a:r>
              <a:rPr sz="3867" dirty="0">
                <a:latin typeface="Arial"/>
                <a:cs typeface="Arial"/>
              </a:rPr>
              <a:t>2.5</a:t>
            </a:r>
            <a:r>
              <a:rPr sz="3867" spc="-27" dirty="0">
                <a:latin typeface="Arial"/>
                <a:cs typeface="Arial"/>
              </a:rPr>
              <a:t> </a:t>
            </a:r>
            <a:r>
              <a:rPr sz="3867" dirty="0">
                <a:latin typeface="Arial"/>
                <a:cs typeface="Arial"/>
              </a:rPr>
              <a:t>petabytes</a:t>
            </a:r>
            <a:r>
              <a:rPr sz="3867" spc="-13" dirty="0">
                <a:latin typeface="Arial"/>
                <a:cs typeface="Arial"/>
              </a:rPr>
              <a:t> </a:t>
            </a:r>
            <a:r>
              <a:rPr sz="3867" dirty="0">
                <a:latin typeface="Arial"/>
                <a:cs typeface="Arial"/>
              </a:rPr>
              <a:t>an</a:t>
            </a:r>
            <a:r>
              <a:rPr sz="3867" spc="-13" dirty="0">
                <a:latin typeface="Arial"/>
                <a:cs typeface="Arial"/>
              </a:rPr>
              <a:t> </a:t>
            </a:r>
            <a:r>
              <a:rPr sz="3867" spc="-27" dirty="0">
                <a:latin typeface="Arial"/>
                <a:cs typeface="Arial"/>
              </a:rPr>
              <a:t>hour</a:t>
            </a:r>
            <a:endParaRPr sz="3867" dirty="0">
              <a:latin typeface="Arial"/>
              <a:cs typeface="Arial"/>
            </a:endParaRPr>
          </a:p>
          <a:p>
            <a:pPr marL="16933">
              <a:spcBef>
                <a:spcPts val="120"/>
              </a:spcBef>
            </a:pPr>
            <a:r>
              <a:rPr sz="1867" dirty="0">
                <a:latin typeface="Arial"/>
                <a:cs typeface="Arial"/>
              </a:rPr>
              <a:t>Data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generated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by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Walmart</a:t>
            </a:r>
            <a:endParaRPr sz="186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  <a:p>
            <a:pPr>
              <a:spcBef>
                <a:spcPts val="53"/>
              </a:spcBef>
            </a:pPr>
            <a:endParaRPr sz="1667" dirty="0">
              <a:latin typeface="Arial"/>
              <a:cs typeface="Arial"/>
            </a:endParaRPr>
          </a:p>
          <a:p>
            <a:pPr marL="16933"/>
            <a:r>
              <a:rPr sz="3867" dirty="0">
                <a:latin typeface="Arial"/>
                <a:cs typeface="Arial"/>
              </a:rPr>
              <a:t>320</a:t>
            </a:r>
            <a:r>
              <a:rPr sz="3867" spc="-20" dirty="0">
                <a:latin typeface="Arial"/>
                <a:cs typeface="Arial"/>
              </a:rPr>
              <a:t> </a:t>
            </a:r>
            <a:r>
              <a:rPr sz="3867" spc="-13" dirty="0">
                <a:latin typeface="Arial"/>
                <a:cs typeface="Arial"/>
              </a:rPr>
              <a:t>terabytes</a:t>
            </a:r>
            <a:endParaRPr sz="3867" dirty="0">
              <a:latin typeface="Arial"/>
              <a:cs typeface="Arial"/>
            </a:endParaRPr>
          </a:p>
          <a:p>
            <a:pPr marL="16933">
              <a:spcBef>
                <a:spcPts val="120"/>
              </a:spcBef>
            </a:pPr>
            <a:r>
              <a:rPr sz="1867" dirty="0">
                <a:latin typeface="Arial"/>
                <a:cs typeface="Arial"/>
              </a:rPr>
              <a:t>April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2021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snapshot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of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Common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Crawl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4F4CD-F024-4132-90B0-8B3F8AC6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spc="-33" dirty="0"/>
              <a:t>Web-</a:t>
            </a:r>
            <a:r>
              <a:rPr dirty="0"/>
              <a:t>scale</a:t>
            </a:r>
            <a:r>
              <a:rPr spc="20" dirty="0"/>
              <a:t> </a:t>
            </a:r>
            <a:r>
              <a:rPr spc="-27" dirty="0"/>
              <a:t>text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633" y="1956745"/>
            <a:ext cx="3861924" cy="35905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223" y="3239827"/>
            <a:ext cx="2535868" cy="7566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223" y="2011355"/>
            <a:ext cx="2535868" cy="7566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6223" y="4468299"/>
            <a:ext cx="2535868" cy="75668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610745" y="5627228"/>
            <a:ext cx="2181860" cy="110067"/>
            <a:chOff x="3458058" y="4220421"/>
            <a:chExt cx="1636395" cy="82550"/>
          </a:xfrm>
        </p:grpSpPr>
        <p:sp>
          <p:nvSpPr>
            <p:cNvPr id="8" name="object 8"/>
            <p:cNvSpPr/>
            <p:nvPr/>
          </p:nvSpPr>
          <p:spPr>
            <a:xfrm>
              <a:off x="3458058" y="4261412"/>
              <a:ext cx="1540510" cy="0"/>
            </a:xfrm>
            <a:custGeom>
              <a:avLst/>
              <a:gdLst/>
              <a:ahLst/>
              <a:cxnLst/>
              <a:rect l="l" t="t" r="r" b="b"/>
              <a:pathLst>
                <a:path w="1540510">
                  <a:moveTo>
                    <a:pt x="0" y="0"/>
                  </a:moveTo>
                  <a:lnTo>
                    <a:pt x="1539899" y="0"/>
                  </a:lnTo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8433" y="4220421"/>
              <a:ext cx="105500" cy="8198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5201" y="2248600"/>
            <a:ext cx="4687199" cy="3006877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2075DD5-75A9-41C7-B7F9-04FDBD68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7769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Colossal Clean Crawled Corpus (C4)</a:t>
            </a:r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760E16-BBEC-4D67-8A4C-14B7F486E3DB}"/>
              </a:ext>
            </a:extLst>
          </p:cNvPr>
          <p:cNvSpPr/>
          <p:nvPr/>
        </p:nvSpPr>
        <p:spPr>
          <a:xfrm>
            <a:off x="822959" y="1101438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6933">
              <a:spcBef>
                <a:spcPts val="133"/>
              </a:spcBef>
            </a:pPr>
            <a:r>
              <a:rPr lang="en-US" sz="2400" dirty="0">
                <a:latin typeface="Arial"/>
                <a:cs typeface="Arial"/>
              </a:rPr>
              <a:t>Created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to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train</a:t>
            </a:r>
            <a:r>
              <a:rPr lang="en-US" sz="2400" spc="-7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T5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(</a:t>
            </a:r>
            <a:r>
              <a:rPr lang="en-US" sz="2400" dirty="0" err="1">
                <a:latin typeface="Arial"/>
                <a:cs typeface="Arial"/>
              </a:rPr>
              <a:t>Raffel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et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al.</a:t>
            </a:r>
            <a:r>
              <a:rPr lang="en-US" sz="2400" spc="-27" dirty="0">
                <a:latin typeface="Arial"/>
                <a:cs typeface="Arial"/>
              </a:rPr>
              <a:t> 2019)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A642A2-DAD9-4AAA-9AE7-C64B5F7F2625}"/>
              </a:ext>
            </a:extLst>
          </p:cNvPr>
          <p:cNvSpPr/>
          <p:nvPr/>
        </p:nvSpPr>
        <p:spPr>
          <a:xfrm>
            <a:off x="822959" y="2011682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6933"/>
            <a:r>
              <a:rPr lang="en-US" sz="2400" dirty="0">
                <a:latin typeface="Arial"/>
                <a:cs typeface="Arial"/>
              </a:rPr>
              <a:t>April</a:t>
            </a:r>
            <a:r>
              <a:rPr lang="en-US" sz="2400" spc="-5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2019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snapshot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of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/>
                <a:cs typeface="Arial"/>
              </a:rPr>
              <a:t>Common</a:t>
            </a:r>
            <a:r>
              <a:rPr lang="en-US" sz="2400" b="1" spc="-40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/>
                <a:cs typeface="Arial"/>
              </a:rPr>
              <a:t>Crawl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(1.4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trillion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tokens)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6A49FD-A12F-4009-AD2C-541B4C4A6CAC}"/>
              </a:ext>
            </a:extLst>
          </p:cNvPr>
          <p:cNvSpPr/>
          <p:nvPr/>
        </p:nvSpPr>
        <p:spPr>
          <a:xfrm>
            <a:off x="822959" y="3832170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6933"/>
            <a:r>
              <a:rPr lang="en-US" sz="2400" dirty="0">
                <a:latin typeface="Arial"/>
                <a:cs typeface="Arial"/>
              </a:rPr>
              <a:t>Remove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docs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with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“lorem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ipsum”,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&lt;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5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sentences,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“bad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words”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F848FF-8EEC-45A9-A730-A6A021E7154A}"/>
              </a:ext>
            </a:extLst>
          </p:cNvPr>
          <p:cNvSpPr/>
          <p:nvPr/>
        </p:nvSpPr>
        <p:spPr>
          <a:xfrm>
            <a:off x="822959" y="2921926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1326" marR="25399">
              <a:lnSpc>
                <a:spcPct val="100699"/>
              </a:lnSpc>
            </a:pPr>
            <a:r>
              <a:rPr lang="en-US" sz="2400" dirty="0">
                <a:latin typeface="Arial"/>
                <a:cs typeface="Arial"/>
              </a:rPr>
              <a:t>Remove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lines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without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terminal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punctuation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mark,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code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(“{“),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spc="-67" dirty="0">
                <a:latin typeface="Arial"/>
                <a:cs typeface="Arial"/>
              </a:rPr>
              <a:t>&lt; </a:t>
            </a:r>
            <a:r>
              <a:rPr lang="en-US" sz="2400" dirty="0">
                <a:latin typeface="Arial"/>
                <a:cs typeface="Arial"/>
              </a:rPr>
              <a:t>3</a:t>
            </a:r>
            <a:r>
              <a:rPr lang="en-US" sz="2400" spc="-7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words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96E43D-30B7-48F2-9278-915ACA702644}"/>
              </a:ext>
            </a:extLst>
          </p:cNvPr>
          <p:cNvSpPr/>
          <p:nvPr/>
        </p:nvSpPr>
        <p:spPr>
          <a:xfrm>
            <a:off x="822959" y="4742414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6933"/>
            <a:r>
              <a:rPr lang="en-US" sz="2400" dirty="0">
                <a:latin typeface="Arial"/>
                <a:cs typeface="Arial"/>
              </a:rPr>
              <a:t>Used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b="1" dirty="0" err="1">
                <a:latin typeface="Arial"/>
                <a:cs typeface="Arial"/>
              </a:rPr>
              <a:t>langdetect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to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filter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out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non-</a:t>
            </a:r>
            <a:r>
              <a:rPr lang="en-US" sz="2400" dirty="0">
                <a:latin typeface="Arial"/>
                <a:cs typeface="Arial"/>
              </a:rPr>
              <a:t>English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spc="-27" dirty="0">
                <a:latin typeface="Arial"/>
                <a:cs typeface="Arial"/>
              </a:rPr>
              <a:t>text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5A27B0-0F5B-4151-8D3A-8F88E0176C4C}"/>
              </a:ext>
            </a:extLst>
          </p:cNvPr>
          <p:cNvSpPr/>
          <p:nvPr/>
        </p:nvSpPr>
        <p:spPr>
          <a:xfrm>
            <a:off x="822959" y="5652656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6933">
              <a:lnSpc>
                <a:spcPts val="2787"/>
              </a:lnSpc>
            </a:pPr>
            <a:r>
              <a:rPr lang="en-US" sz="2400" dirty="0">
                <a:latin typeface="Arial"/>
                <a:cs typeface="Arial"/>
              </a:rPr>
              <a:t>Result:</a:t>
            </a:r>
            <a:r>
              <a:rPr lang="en-US" sz="2400" spc="-4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806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GB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of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text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(156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billion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tokens)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220293-265F-4FCE-B6E3-D865B866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0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3A9490-A773-483E-AE33-EF3FB8B4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CommonCrawl</a:t>
            </a:r>
            <a:r>
              <a:rPr lang="en-US" dirty="0"/>
              <a:t> (CC)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78FE26-36F3-4808-A4A1-2503EE083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26798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nonprofit organization that crawls the web and freely provides its archives and datasets to the public.</a:t>
            </a:r>
          </a:p>
          <a:p>
            <a:r>
              <a:rPr lang="en-US" dirty="0"/>
              <a:t>Common Crawl's web archive consists of </a:t>
            </a:r>
            <a:r>
              <a:rPr lang="en-US" b="1" i="1" dirty="0">
                <a:solidFill>
                  <a:srgbClr val="C00000"/>
                </a:solidFill>
              </a:rPr>
              <a:t>petabytes</a:t>
            </a:r>
            <a:r>
              <a:rPr lang="en-US" dirty="0"/>
              <a:t> of data collected since 2008. </a:t>
            </a:r>
          </a:p>
          <a:p>
            <a:r>
              <a:rPr lang="en-US" dirty="0"/>
              <a:t>It completes crawls generally </a:t>
            </a:r>
            <a:r>
              <a:rPr lang="en-US" dirty="0">
                <a:solidFill>
                  <a:srgbClr val="008000"/>
                </a:solidFill>
              </a:rPr>
              <a:t>every month</a:t>
            </a:r>
            <a:r>
              <a:rPr lang="en-US" dirty="0"/>
              <a:t>.</a:t>
            </a:r>
          </a:p>
          <a:p>
            <a:r>
              <a:rPr lang="en-US" dirty="0" err="1"/>
              <a:t>CommonCrawl</a:t>
            </a:r>
            <a:r>
              <a:rPr lang="en-US" dirty="0"/>
              <a:t> News (CC-News) is a dataset containing news articles from news sites all over the world.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3CD6B657-CAAF-40BD-BE5B-733182751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2313" y="94009"/>
            <a:ext cx="2904432" cy="80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5CCEE78-5372-4A98-A1DF-161B40800A6B}"/>
              </a:ext>
            </a:extLst>
          </p:cNvPr>
          <p:cNvGrpSpPr/>
          <p:nvPr/>
        </p:nvGrpSpPr>
        <p:grpSpPr>
          <a:xfrm>
            <a:off x="1184561" y="3560594"/>
            <a:ext cx="9822873" cy="3141218"/>
            <a:chOff x="1184561" y="3560594"/>
            <a:chExt cx="9822873" cy="314121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5121B17-4538-41B7-A96F-E9AB016C59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699"/>
            <a:stretch/>
          </p:blipFill>
          <p:spPr>
            <a:xfrm>
              <a:off x="1184561" y="3560594"/>
              <a:ext cx="9822873" cy="278201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14473E-4BBA-490E-84B3-E4F1C54A6E67}"/>
                </a:ext>
              </a:extLst>
            </p:cNvPr>
            <p:cNvSpPr txBox="1"/>
            <p:nvPr/>
          </p:nvSpPr>
          <p:spPr>
            <a:xfrm>
              <a:off x="5195719" y="6332480"/>
              <a:ext cx="1800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few examples</a:t>
              </a: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5BB4EB-969D-4966-946B-42C8766E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3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55" y="1957989"/>
            <a:ext cx="11870819" cy="314757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9400" y="4126033"/>
            <a:ext cx="11869420" cy="645160"/>
          </a:xfrm>
          <a:custGeom>
            <a:avLst/>
            <a:gdLst/>
            <a:ahLst/>
            <a:cxnLst/>
            <a:rect l="l" t="t" r="r" b="b"/>
            <a:pathLst>
              <a:path w="8902065" h="483870">
                <a:moveTo>
                  <a:pt x="0" y="0"/>
                </a:moveTo>
                <a:lnTo>
                  <a:pt x="8901599" y="0"/>
                </a:lnTo>
                <a:lnTo>
                  <a:pt x="8901599" y="483299"/>
                </a:lnTo>
                <a:lnTo>
                  <a:pt x="0" y="4832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97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2967" y="5193451"/>
            <a:ext cx="34527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Introduced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by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Raffel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et.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al.,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spc="-27" dirty="0">
                <a:latin typeface="Arial"/>
                <a:cs typeface="Arial"/>
              </a:rPr>
              <a:t>2020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3763-96F5-48E7-92CE-532564461E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108217"/>
            <a:ext cx="11658601" cy="794985"/>
          </a:xfrm>
        </p:spPr>
        <p:txBody>
          <a:bodyPr vert="horz" wrap="square" lIns="0" tIns="17769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Need</a:t>
            </a:r>
            <a:r>
              <a:rPr lang="en-US" spc="-20" dirty="0"/>
              <a:t> </a:t>
            </a:r>
            <a:r>
              <a:rPr lang="en-US" dirty="0"/>
              <a:t>for</a:t>
            </a:r>
            <a:r>
              <a:rPr lang="en-US" spc="-13" dirty="0"/>
              <a:t> documentation</a:t>
            </a:r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760E16-BBEC-4D67-8A4C-14B7F486E3DB}"/>
              </a:ext>
            </a:extLst>
          </p:cNvPr>
          <p:cNvSpPr/>
          <p:nvPr/>
        </p:nvSpPr>
        <p:spPr>
          <a:xfrm>
            <a:off x="822959" y="1101438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CC9900">
                  <a:tint val="66000"/>
                  <a:satMod val="160000"/>
                </a:srgbClr>
              </a:gs>
              <a:gs pos="50000">
                <a:srgbClr val="CC9900">
                  <a:tint val="44500"/>
                  <a:satMod val="160000"/>
                </a:srgbClr>
              </a:gs>
              <a:gs pos="100000">
                <a:srgbClr val="CC99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6933">
              <a:spcBef>
                <a:spcPts val="133"/>
              </a:spcBef>
            </a:pPr>
            <a:r>
              <a:rPr lang="en-US" sz="2400" spc="-40" dirty="0">
                <a:latin typeface="Arial"/>
                <a:cs typeface="Arial"/>
              </a:rPr>
              <a:t>Task</a:t>
            </a:r>
            <a:r>
              <a:rPr lang="en-US" sz="2400" spc="-4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specific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NLP</a:t>
            </a:r>
            <a:r>
              <a:rPr lang="en-US" sz="2400" spc="-7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datasets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have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best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practices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around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documentation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A642A2-DAD9-4AAA-9AE7-C64B5F7F2625}"/>
              </a:ext>
            </a:extLst>
          </p:cNvPr>
          <p:cNvSpPr/>
          <p:nvPr/>
        </p:nvSpPr>
        <p:spPr>
          <a:xfrm>
            <a:off x="822959" y="2092730"/>
            <a:ext cx="10141528" cy="910244"/>
          </a:xfrm>
          <a:prstGeom prst="roundRect">
            <a:avLst/>
          </a:prstGeom>
          <a:gradFill flip="none" rotWithShape="1">
            <a:gsLst>
              <a:gs pos="0">
                <a:srgbClr val="CC9900">
                  <a:tint val="66000"/>
                  <a:satMod val="160000"/>
                </a:srgbClr>
              </a:gs>
              <a:gs pos="50000">
                <a:srgbClr val="CC9900">
                  <a:tint val="44500"/>
                  <a:satMod val="160000"/>
                </a:srgbClr>
              </a:gs>
              <a:gs pos="100000">
                <a:srgbClr val="CC99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6406" marR="650224">
              <a:lnSpc>
                <a:spcPct val="100699"/>
              </a:lnSpc>
            </a:pPr>
            <a:r>
              <a:rPr lang="en-US" sz="2400">
                <a:latin typeface="Arial"/>
                <a:cs typeface="Arial"/>
              </a:rPr>
              <a:t>Applying</a:t>
            </a:r>
            <a:r>
              <a:rPr lang="en-US" sz="2400" spc="-33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these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practices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to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massive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datasets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of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unlabelled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text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is</a:t>
            </a:r>
            <a:r>
              <a:rPr lang="en-US" sz="2400" spc="-27">
                <a:latin typeface="Arial"/>
                <a:cs typeface="Arial"/>
              </a:rPr>
              <a:t> </a:t>
            </a:r>
            <a:r>
              <a:rPr lang="en-US" sz="2400" spc="-67">
                <a:latin typeface="Arial"/>
                <a:cs typeface="Arial"/>
              </a:rPr>
              <a:t>a </a:t>
            </a:r>
            <a:r>
              <a:rPr lang="en-US" sz="2400" spc="-13">
                <a:latin typeface="Arial"/>
                <a:cs typeface="Arial"/>
              </a:rPr>
              <a:t>challenge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6A49FD-A12F-4009-AD2C-541B4C4A6CAC}"/>
              </a:ext>
            </a:extLst>
          </p:cNvPr>
          <p:cNvSpPr/>
          <p:nvPr/>
        </p:nvSpPr>
        <p:spPr>
          <a:xfrm>
            <a:off x="822959" y="4258195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CC9900">
                  <a:tint val="66000"/>
                  <a:satMod val="160000"/>
                </a:srgbClr>
              </a:gs>
              <a:gs pos="50000">
                <a:srgbClr val="CC9900">
                  <a:tint val="44500"/>
                  <a:satMod val="160000"/>
                </a:srgbClr>
              </a:gs>
              <a:gs pos="100000">
                <a:srgbClr val="CC99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6933"/>
            <a:r>
              <a:rPr lang="en-US" sz="2400">
                <a:latin typeface="Arial"/>
                <a:cs typeface="Arial"/>
              </a:rPr>
              <a:t>Thorough</a:t>
            </a:r>
            <a:r>
              <a:rPr lang="en-US" sz="2400" spc="-47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documentation</a:t>
            </a:r>
            <a:r>
              <a:rPr lang="en-US" sz="2400" spc="-40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typically</a:t>
            </a:r>
            <a:r>
              <a:rPr lang="en-US" sz="2400" spc="-40">
                <a:latin typeface="Arial"/>
                <a:cs typeface="Arial"/>
              </a:rPr>
              <a:t> </a:t>
            </a:r>
            <a:r>
              <a:rPr lang="en-US" sz="2400">
                <a:latin typeface="Arial"/>
                <a:cs typeface="Arial"/>
              </a:rPr>
              <a:t>not</a:t>
            </a:r>
            <a:r>
              <a:rPr lang="en-US" sz="2400" spc="-40">
                <a:latin typeface="Arial"/>
                <a:cs typeface="Arial"/>
              </a:rPr>
              <a:t> </a:t>
            </a:r>
            <a:r>
              <a:rPr lang="en-US" sz="2400" spc="-27">
                <a:latin typeface="Arial"/>
                <a:cs typeface="Arial"/>
              </a:rPr>
              <a:t>done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F848FF-8EEC-45A9-A730-A6A021E7154A}"/>
              </a:ext>
            </a:extLst>
          </p:cNvPr>
          <p:cNvSpPr/>
          <p:nvPr/>
        </p:nvSpPr>
        <p:spPr>
          <a:xfrm>
            <a:off x="822959" y="3266903"/>
            <a:ext cx="10141528" cy="727363"/>
          </a:xfrm>
          <a:prstGeom prst="roundRect">
            <a:avLst/>
          </a:prstGeom>
          <a:gradFill flip="none" rotWithShape="1">
            <a:gsLst>
              <a:gs pos="0">
                <a:srgbClr val="CC9900">
                  <a:tint val="66000"/>
                  <a:satMod val="160000"/>
                </a:srgbClr>
              </a:gs>
              <a:gs pos="50000">
                <a:srgbClr val="CC9900">
                  <a:tint val="44500"/>
                  <a:satMod val="160000"/>
                </a:srgbClr>
              </a:gs>
              <a:gs pos="100000">
                <a:srgbClr val="CC99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1326" marR="25399">
              <a:lnSpc>
                <a:spcPct val="100699"/>
              </a:lnSpc>
            </a:pPr>
            <a:r>
              <a:rPr lang="en-US" sz="2400" dirty="0">
                <a:latin typeface="Arial"/>
                <a:cs typeface="Arial"/>
              </a:rPr>
              <a:t>Required</a:t>
            </a:r>
            <a:r>
              <a:rPr lang="en-US" sz="2400" spc="-5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information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not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available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in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web-</a:t>
            </a:r>
            <a:r>
              <a:rPr lang="en-US" sz="2400" dirty="0">
                <a:latin typeface="Arial"/>
                <a:cs typeface="Arial"/>
              </a:rPr>
              <a:t>crawled</a:t>
            </a:r>
            <a:r>
              <a:rPr lang="en-US" sz="2400" spc="-40" dirty="0">
                <a:latin typeface="Arial"/>
                <a:cs typeface="Arial"/>
              </a:rPr>
              <a:t> </a:t>
            </a:r>
            <a:r>
              <a:rPr lang="en-US" sz="2400" spc="-27" dirty="0">
                <a:latin typeface="Arial"/>
                <a:cs typeface="Arial"/>
              </a:rPr>
              <a:t>text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96E43D-30B7-48F2-9278-915ACA702644}"/>
              </a:ext>
            </a:extLst>
          </p:cNvPr>
          <p:cNvSpPr/>
          <p:nvPr/>
        </p:nvSpPr>
        <p:spPr>
          <a:xfrm>
            <a:off x="822959" y="5249488"/>
            <a:ext cx="10141528" cy="1014148"/>
          </a:xfrm>
          <a:prstGeom prst="roundRect">
            <a:avLst/>
          </a:prstGeom>
          <a:gradFill flip="none" rotWithShape="1">
            <a:gsLst>
              <a:gs pos="0">
                <a:srgbClr val="CC9900">
                  <a:tint val="66000"/>
                  <a:satMod val="160000"/>
                </a:srgbClr>
              </a:gs>
              <a:gs pos="50000">
                <a:srgbClr val="CC9900">
                  <a:tint val="44500"/>
                  <a:satMod val="160000"/>
                </a:srgbClr>
              </a:gs>
              <a:gs pos="100000">
                <a:srgbClr val="CC99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6406" marR="6773">
              <a:lnSpc>
                <a:spcPct val="100699"/>
              </a:lnSpc>
            </a:pPr>
            <a:r>
              <a:rPr lang="en-US" sz="2400" dirty="0">
                <a:latin typeface="Arial"/>
                <a:cs typeface="Arial"/>
              </a:rPr>
              <a:t>Leaves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consumers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of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pretrained</a:t>
            </a:r>
            <a:r>
              <a:rPr lang="en-US" sz="2400" spc="-1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LMs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in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the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dark</a:t>
            </a:r>
            <a:r>
              <a:rPr lang="en-US" sz="2400" spc="-1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about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the</a:t>
            </a:r>
            <a:r>
              <a:rPr lang="en-US" sz="2400" spc="-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influences</a:t>
            </a:r>
            <a:r>
              <a:rPr lang="en-US" sz="2400" spc="-13" dirty="0">
                <a:latin typeface="Arial"/>
                <a:cs typeface="Arial"/>
              </a:rPr>
              <a:t> </a:t>
            </a:r>
            <a:r>
              <a:rPr lang="en-US" sz="2400" spc="-33" dirty="0">
                <a:latin typeface="Arial"/>
                <a:cs typeface="Arial"/>
              </a:rPr>
              <a:t>of </a:t>
            </a:r>
            <a:r>
              <a:rPr lang="en-US" sz="2400" dirty="0">
                <a:latin typeface="Arial"/>
                <a:cs typeface="Arial"/>
              </a:rPr>
              <a:t>pretraining</a:t>
            </a:r>
            <a:r>
              <a:rPr lang="en-US" sz="2400" spc="-4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data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on</a:t>
            </a:r>
            <a:r>
              <a:rPr lang="en-US" sz="2400" spc="-33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their</a:t>
            </a:r>
            <a:r>
              <a:rPr lang="en-US" sz="2400" spc="-27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systems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66543-643F-49B4-8807-4957393E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2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501" y="1"/>
            <a:ext cx="11301012" cy="6857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C0E1E-23FD-4DEE-A602-2A35C6B22D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Documentation</a:t>
            </a:r>
            <a:r>
              <a:rPr spc="-93" dirty="0"/>
              <a:t> </a:t>
            </a:r>
            <a:r>
              <a:rPr spc="-13" dirty="0"/>
              <a:t>levels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23832" y="1331566"/>
            <a:ext cx="8178800" cy="1540087"/>
            <a:chOff x="2717874" y="998674"/>
            <a:chExt cx="6134100" cy="1155065"/>
          </a:xfrm>
        </p:grpSpPr>
        <p:sp>
          <p:nvSpPr>
            <p:cNvPr id="4" name="object 4"/>
            <p:cNvSpPr/>
            <p:nvPr/>
          </p:nvSpPr>
          <p:spPr>
            <a:xfrm>
              <a:off x="2736924" y="1017724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6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6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6924" y="1017724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6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6"/>
                  </a:lnTo>
                  <a:lnTo>
                    <a:pt x="0" y="186153"/>
                  </a:lnTo>
                  <a:close/>
                </a:path>
              </a:pathLst>
            </a:custGeom>
            <a:ln w="3809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35325" y="1888291"/>
            <a:ext cx="13546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spc="-13" dirty="0">
                <a:latin typeface="Arial"/>
                <a:cs typeface="Arial"/>
              </a:rPr>
              <a:t>Metadata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36532" y="3189499"/>
            <a:ext cx="8153400" cy="1514687"/>
            <a:chOff x="2727399" y="2392124"/>
            <a:chExt cx="6115050" cy="1136015"/>
          </a:xfrm>
        </p:grpSpPr>
        <p:sp>
          <p:nvSpPr>
            <p:cNvPr id="8" name="object 8"/>
            <p:cNvSpPr/>
            <p:nvPr/>
          </p:nvSpPr>
          <p:spPr>
            <a:xfrm>
              <a:off x="2736924" y="2401649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36924" y="2401649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80757" y="3733524"/>
            <a:ext cx="18635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Included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36532" y="5034734"/>
            <a:ext cx="8153400" cy="1514687"/>
            <a:chOff x="2727399" y="3776050"/>
            <a:chExt cx="6115050" cy="1136015"/>
          </a:xfrm>
        </p:grpSpPr>
        <p:sp>
          <p:nvSpPr>
            <p:cNvPr id="12" name="object 12"/>
            <p:cNvSpPr/>
            <p:nvPr/>
          </p:nvSpPr>
          <p:spPr>
            <a:xfrm>
              <a:off x="2736924" y="3785575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2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36924" y="3785575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2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006" y="5578757"/>
            <a:ext cx="19651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Excluded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92" y="1356967"/>
            <a:ext cx="1506328" cy="141502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06450" y="3202198"/>
            <a:ext cx="2808393" cy="1489287"/>
            <a:chOff x="454837" y="2401648"/>
            <a:chExt cx="2106295" cy="111696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37" y="2401649"/>
              <a:ext cx="1116924" cy="11168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3712" y="2401648"/>
              <a:ext cx="1116925" cy="11169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06450" y="5047433"/>
            <a:ext cx="2808393" cy="1489287"/>
            <a:chOff x="454837" y="3785574"/>
            <a:chExt cx="2106295" cy="111696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37" y="3785574"/>
              <a:ext cx="1116924" cy="11168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3712" y="3785574"/>
              <a:ext cx="1116925" cy="11169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370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487951" y="653424"/>
                  </a:move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0370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0" y="154405"/>
                  </a:move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795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487951" y="653424"/>
                  </a:move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8795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0" y="154405"/>
                  </a:move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BB59473-1B1E-4258-B1E7-B290DDC1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95D81734-F959-4823-BED7-9C8FAC45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C4767B7D-B0F1-41D5-802B-62B3D697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Corpus level statistics: Metadata</a:t>
            </a:r>
          </a:p>
        </p:txBody>
      </p:sp>
      <p:sp>
        <p:nvSpPr>
          <p:cNvPr id="7" name="object 7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>
              <a:spcBef>
                <a:spcPts val="133"/>
              </a:spcBef>
            </a:pPr>
            <a:r>
              <a:rPr lang="en-US" sz="1800" b="1" dirty="0">
                <a:solidFill>
                  <a:srgbClr val="C00000"/>
                </a:solidFill>
                <a:latin typeface="Arial"/>
                <a:cs typeface="Arial"/>
              </a:rPr>
              <a:t>Internet</a:t>
            </a:r>
            <a:r>
              <a:rPr lang="en-US"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Arial"/>
                <a:cs typeface="Arial"/>
              </a:rPr>
              <a:t>domains</a:t>
            </a:r>
            <a:r>
              <a:rPr lang="en-US" sz="1800" b="1" spc="-2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lang="en-US"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1800" b="1" spc="-13" dirty="0">
                <a:solidFill>
                  <a:srgbClr val="C00000"/>
                </a:solidFill>
                <a:latin typeface="Arial"/>
                <a:cs typeface="Arial"/>
              </a:rPr>
              <a:t>websites</a:t>
            </a:r>
            <a:endParaRPr lang="en-US" sz="1800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1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close/>
              </a:path>
            </a:pathLst>
          </a:custGeom>
          <a:ln w="380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en-US" dirty="0"/>
              <a:t>Utterance data</a:t>
            </a:r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59599" y="4502064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79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7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8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7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en-US" dirty="0"/>
              <a:t>Geolocation</a:t>
            </a:r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2459599" y="4502064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79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8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7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7"/>
                </a:lnTo>
                <a:lnTo>
                  <a:pt x="0" y="100302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7275720-5884-4BE0-BD01-2115F6413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5058" y="33323"/>
            <a:ext cx="7194908" cy="67180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2967" y="1942037"/>
            <a:ext cx="3196167" cy="12585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289553">
              <a:spcBef>
                <a:spcPts val="133"/>
              </a:spcBef>
            </a:pPr>
            <a:r>
              <a:rPr sz="1600" spc="-60" dirty="0">
                <a:latin typeface="Arial"/>
                <a:cs typeface="Arial"/>
              </a:rPr>
              <a:t>Top-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domains by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 </a:t>
            </a:r>
            <a:r>
              <a:rPr sz="1600" spc="-33" dirty="0">
                <a:latin typeface="Arial"/>
                <a:cs typeface="Arial"/>
              </a:rPr>
              <a:t>of </a:t>
            </a:r>
            <a:r>
              <a:rPr sz="1600" spc="-13" dirty="0">
                <a:latin typeface="Arial"/>
                <a:cs typeface="Arial"/>
              </a:rPr>
              <a:t>tokens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67">
              <a:latin typeface="Arial"/>
              <a:cs typeface="Arial"/>
            </a:endParaRPr>
          </a:p>
          <a:p>
            <a:pPr marL="16933" marR="6773"/>
            <a:r>
              <a:rPr sz="1600" spc="-27" dirty="0">
                <a:latin typeface="Arial"/>
                <a:cs typeface="Arial"/>
              </a:rPr>
              <a:t>Tokens</a:t>
            </a:r>
            <a:r>
              <a:rPr sz="1600" spc="-4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measured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based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SpaCy tokenizer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69CDF35-D322-4042-883A-F26FE224072E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>
              <a:latin typeface="Arial"/>
              <a:cs typeface="Arial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E764AC5E-E14B-4DDC-8EBF-9F50F70590C1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>
              <a:spcBef>
                <a:spcPts val="147"/>
              </a:spcBef>
            </a:pPr>
            <a:r>
              <a:rPr lang="en-US" sz="2867"/>
              <a:t>Internet</a:t>
            </a:r>
            <a:r>
              <a:rPr lang="en-US" sz="2867" spc="-53"/>
              <a:t> </a:t>
            </a:r>
            <a:r>
              <a:rPr lang="en-US" sz="2867" spc="-13"/>
              <a:t>domains</a:t>
            </a:r>
            <a:endParaRPr lang="en-US" sz="2867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5B4359-B61A-437F-AB29-4E15238292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75058" y="29917"/>
            <a:ext cx="7194973" cy="6721687"/>
            <a:chOff x="3056293" y="22437"/>
            <a:chExt cx="5396230" cy="5041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6293" y="24992"/>
              <a:ext cx="5396181" cy="503852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30674" y="36725"/>
              <a:ext cx="549275" cy="721995"/>
            </a:xfrm>
            <a:custGeom>
              <a:avLst/>
              <a:gdLst/>
              <a:ahLst/>
              <a:cxnLst/>
              <a:rect l="l" t="t" r="r" b="b"/>
              <a:pathLst>
                <a:path w="549275" h="721995">
                  <a:moveTo>
                    <a:pt x="0" y="0"/>
                  </a:moveTo>
                  <a:lnTo>
                    <a:pt x="548699" y="0"/>
                  </a:lnTo>
                  <a:lnTo>
                    <a:pt x="548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  <a:path w="549275" h="721995">
                  <a:moveTo>
                    <a:pt x="0" y="518874"/>
                  </a:moveTo>
                  <a:lnTo>
                    <a:pt x="548699" y="518874"/>
                  </a:lnTo>
                  <a:lnTo>
                    <a:pt x="548699" y="721974"/>
                  </a:lnTo>
                  <a:lnTo>
                    <a:pt x="0" y="721974"/>
                  </a:lnTo>
                  <a:lnTo>
                    <a:pt x="0" y="518874"/>
                  </a:lnTo>
                  <a:close/>
                </a:path>
              </a:pathLst>
            </a:custGeom>
            <a:ln w="28574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2967" y="1170258"/>
            <a:ext cx="2755900" cy="460020"/>
          </a:xfrm>
          <a:prstGeom prst="rect">
            <a:avLst/>
          </a:prstGeom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47"/>
              </a:spcBef>
            </a:pPr>
            <a:r>
              <a:rPr sz="2867" dirty="0"/>
              <a:t>Internet</a:t>
            </a:r>
            <a:r>
              <a:rPr sz="2867" spc="-53" dirty="0"/>
              <a:t> </a:t>
            </a:r>
            <a:r>
              <a:rPr sz="2867" spc="-13" dirty="0"/>
              <a:t>domains</a:t>
            </a:r>
            <a:endParaRPr sz="2867"/>
          </a:p>
        </p:txBody>
      </p:sp>
      <p:sp>
        <p:nvSpPr>
          <p:cNvPr id="7" name="object 7"/>
          <p:cNvSpPr txBox="1"/>
          <p:nvPr/>
        </p:nvSpPr>
        <p:spPr>
          <a:xfrm>
            <a:off x="512967" y="1942038"/>
            <a:ext cx="291338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spc="-60" dirty="0">
                <a:latin typeface="Arial"/>
                <a:cs typeface="Arial"/>
              </a:rPr>
              <a:t>Top-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domains by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 </a:t>
            </a:r>
            <a:r>
              <a:rPr sz="1600" spc="-33" dirty="0">
                <a:latin typeface="Arial"/>
                <a:cs typeface="Arial"/>
              </a:rPr>
              <a:t>of </a:t>
            </a:r>
            <a:r>
              <a:rPr sz="1600" spc="-13" dirty="0">
                <a:latin typeface="Arial"/>
                <a:cs typeface="Arial"/>
              </a:rPr>
              <a:t>tokens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C741BD-275F-45BF-B166-88FCF976BA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75058" y="33323"/>
            <a:ext cx="7194973" cy="6718300"/>
            <a:chOff x="3056293" y="24992"/>
            <a:chExt cx="5396230" cy="5038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6293" y="24992"/>
              <a:ext cx="5396181" cy="503852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02299" y="2240074"/>
              <a:ext cx="387350" cy="2428240"/>
            </a:xfrm>
            <a:custGeom>
              <a:avLst/>
              <a:gdLst/>
              <a:ahLst/>
              <a:cxnLst/>
              <a:rect l="l" t="t" r="r" b="b"/>
              <a:pathLst>
                <a:path w="387350" h="2428240">
                  <a:moveTo>
                    <a:pt x="0" y="1471199"/>
                  </a:moveTo>
                  <a:lnTo>
                    <a:pt x="386999" y="1471199"/>
                  </a:lnTo>
                  <a:lnTo>
                    <a:pt x="386999" y="1810499"/>
                  </a:lnTo>
                  <a:lnTo>
                    <a:pt x="0" y="1810499"/>
                  </a:lnTo>
                  <a:lnTo>
                    <a:pt x="0" y="1471199"/>
                  </a:lnTo>
                  <a:close/>
                </a:path>
                <a:path w="387350" h="2428240">
                  <a:moveTo>
                    <a:pt x="0" y="0"/>
                  </a:moveTo>
                  <a:lnTo>
                    <a:pt x="386999" y="0"/>
                  </a:lnTo>
                  <a:lnTo>
                    <a:pt x="386999" y="203099"/>
                  </a:lnTo>
                  <a:lnTo>
                    <a:pt x="0" y="203099"/>
                  </a:lnTo>
                  <a:lnTo>
                    <a:pt x="0" y="0"/>
                  </a:lnTo>
                  <a:close/>
                </a:path>
                <a:path w="387350" h="2428240">
                  <a:moveTo>
                    <a:pt x="0" y="2034599"/>
                  </a:moveTo>
                  <a:lnTo>
                    <a:pt x="386999" y="2034599"/>
                  </a:lnTo>
                  <a:lnTo>
                    <a:pt x="386999" y="2428199"/>
                  </a:lnTo>
                  <a:lnTo>
                    <a:pt x="0" y="2428199"/>
                  </a:lnTo>
                  <a:lnTo>
                    <a:pt x="0" y="2034599"/>
                  </a:lnTo>
                  <a:close/>
                </a:path>
              </a:pathLst>
            </a:custGeom>
            <a:ln w="28574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89249" y="416175"/>
              <a:ext cx="636270" cy="3315335"/>
            </a:xfrm>
            <a:custGeom>
              <a:avLst/>
              <a:gdLst/>
              <a:ahLst/>
              <a:cxnLst/>
              <a:rect l="l" t="t" r="r" b="b"/>
              <a:pathLst>
                <a:path w="636270" h="3315335">
                  <a:moveTo>
                    <a:pt x="141124" y="0"/>
                  </a:moveTo>
                  <a:lnTo>
                    <a:pt x="600124" y="0"/>
                  </a:lnTo>
                  <a:lnTo>
                    <a:pt x="600124" y="203099"/>
                  </a:lnTo>
                  <a:lnTo>
                    <a:pt x="141124" y="203099"/>
                  </a:lnTo>
                  <a:lnTo>
                    <a:pt x="141124" y="0"/>
                  </a:lnTo>
                  <a:close/>
                </a:path>
                <a:path w="636270" h="3315335">
                  <a:moveTo>
                    <a:pt x="0" y="352699"/>
                  </a:moveTo>
                  <a:lnTo>
                    <a:pt x="548699" y="352699"/>
                  </a:lnTo>
                  <a:lnTo>
                    <a:pt x="548699" y="555799"/>
                  </a:lnTo>
                  <a:lnTo>
                    <a:pt x="0" y="555799"/>
                  </a:lnTo>
                  <a:lnTo>
                    <a:pt x="0" y="352699"/>
                  </a:lnTo>
                  <a:close/>
                </a:path>
                <a:path w="636270" h="3315335">
                  <a:moveTo>
                    <a:pt x="141124" y="705399"/>
                  </a:moveTo>
                  <a:lnTo>
                    <a:pt x="600124" y="705399"/>
                  </a:lnTo>
                  <a:lnTo>
                    <a:pt x="600124" y="908499"/>
                  </a:lnTo>
                  <a:lnTo>
                    <a:pt x="141124" y="908499"/>
                  </a:lnTo>
                  <a:lnTo>
                    <a:pt x="141124" y="705399"/>
                  </a:lnTo>
                  <a:close/>
                </a:path>
                <a:path w="636270" h="3315335">
                  <a:moveTo>
                    <a:pt x="44849" y="1088299"/>
                  </a:moveTo>
                  <a:lnTo>
                    <a:pt x="593549" y="1088299"/>
                  </a:lnTo>
                  <a:lnTo>
                    <a:pt x="593549" y="1657399"/>
                  </a:lnTo>
                  <a:lnTo>
                    <a:pt x="44849" y="1657399"/>
                  </a:lnTo>
                  <a:lnTo>
                    <a:pt x="44849" y="1088299"/>
                  </a:lnTo>
                  <a:close/>
                </a:path>
                <a:path w="636270" h="3315335">
                  <a:moveTo>
                    <a:pt x="141124" y="2000249"/>
                  </a:moveTo>
                  <a:lnTo>
                    <a:pt x="600124" y="2000249"/>
                  </a:lnTo>
                  <a:lnTo>
                    <a:pt x="600124" y="2203349"/>
                  </a:lnTo>
                  <a:lnTo>
                    <a:pt x="141124" y="2203349"/>
                  </a:lnTo>
                  <a:lnTo>
                    <a:pt x="141124" y="2000249"/>
                  </a:lnTo>
                  <a:close/>
                </a:path>
                <a:path w="636270" h="3315335">
                  <a:moveTo>
                    <a:pt x="177049" y="2559499"/>
                  </a:moveTo>
                  <a:lnTo>
                    <a:pt x="636049" y="2559499"/>
                  </a:lnTo>
                  <a:lnTo>
                    <a:pt x="636049" y="3315199"/>
                  </a:lnTo>
                  <a:lnTo>
                    <a:pt x="177049" y="3315199"/>
                  </a:lnTo>
                  <a:lnTo>
                    <a:pt x="177049" y="2559499"/>
                  </a:lnTo>
                  <a:close/>
                </a:path>
              </a:pathLst>
            </a:custGeom>
            <a:ln w="2857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2967" y="1170258"/>
            <a:ext cx="2755900" cy="460020"/>
          </a:xfrm>
          <a:prstGeom prst="rect">
            <a:avLst/>
          </a:prstGeom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47"/>
              </a:spcBef>
            </a:pPr>
            <a:r>
              <a:rPr sz="2867" dirty="0"/>
              <a:t>Internet</a:t>
            </a:r>
            <a:r>
              <a:rPr sz="2867" spc="-53" dirty="0"/>
              <a:t> </a:t>
            </a:r>
            <a:r>
              <a:rPr sz="2867" spc="-13" dirty="0"/>
              <a:t>domains</a:t>
            </a:r>
            <a:endParaRPr sz="2867" dirty="0"/>
          </a:p>
        </p:txBody>
      </p:sp>
      <p:sp>
        <p:nvSpPr>
          <p:cNvPr id="8" name="object 8"/>
          <p:cNvSpPr txBox="1"/>
          <p:nvPr/>
        </p:nvSpPr>
        <p:spPr>
          <a:xfrm>
            <a:off x="512967" y="1942038"/>
            <a:ext cx="291338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spc="-60" dirty="0">
                <a:latin typeface="Arial"/>
                <a:cs typeface="Arial"/>
              </a:rPr>
              <a:t>Top-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domains by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 </a:t>
            </a:r>
            <a:r>
              <a:rPr sz="1600" spc="-33" dirty="0">
                <a:latin typeface="Arial"/>
                <a:cs typeface="Arial"/>
              </a:rPr>
              <a:t>of </a:t>
            </a:r>
            <a:r>
              <a:rPr sz="1600" spc="-13" dirty="0">
                <a:latin typeface="Arial"/>
                <a:cs typeface="Arial"/>
              </a:rPr>
              <a:t>tokens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210A9F4-85C2-42F9-9CFC-D5D66ADB1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75058" y="33323"/>
            <a:ext cx="7194973" cy="6718300"/>
            <a:chOff x="3056293" y="24992"/>
            <a:chExt cx="5396230" cy="5038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6293" y="24992"/>
              <a:ext cx="5396181" cy="503852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02299" y="1847675"/>
              <a:ext cx="387350" cy="241935"/>
            </a:xfrm>
            <a:custGeom>
              <a:avLst/>
              <a:gdLst/>
              <a:ahLst/>
              <a:cxnLst/>
              <a:rect l="l" t="t" r="r" b="b"/>
              <a:pathLst>
                <a:path w="387350" h="241935">
                  <a:moveTo>
                    <a:pt x="0" y="241499"/>
                  </a:moveTo>
                  <a:lnTo>
                    <a:pt x="386999" y="241499"/>
                  </a:lnTo>
                  <a:lnTo>
                    <a:pt x="386999" y="0"/>
                  </a:lnTo>
                  <a:lnTo>
                    <a:pt x="0" y="0"/>
                  </a:lnTo>
                  <a:lnTo>
                    <a:pt x="0" y="241499"/>
                  </a:lnTo>
                  <a:close/>
                </a:path>
              </a:pathLst>
            </a:custGeom>
            <a:ln w="28574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2967" y="1942038"/>
            <a:ext cx="2913380" cy="15150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600" spc="-60" dirty="0">
                <a:latin typeface="Arial"/>
                <a:cs typeface="Arial"/>
              </a:rPr>
              <a:t>Top-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domains by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 </a:t>
            </a:r>
            <a:r>
              <a:rPr sz="1600" spc="-33" dirty="0">
                <a:latin typeface="Arial"/>
                <a:cs typeface="Arial"/>
              </a:rPr>
              <a:t>of </a:t>
            </a:r>
            <a:r>
              <a:rPr sz="1600" spc="-13" dirty="0">
                <a:latin typeface="Arial"/>
                <a:cs typeface="Arial"/>
              </a:rPr>
              <a:t>tokens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67" dirty="0">
              <a:latin typeface="Arial"/>
              <a:cs typeface="Arial"/>
            </a:endParaRPr>
          </a:p>
          <a:p>
            <a:pPr marL="16933"/>
            <a:r>
              <a:rPr sz="1600" b="1" dirty="0">
                <a:latin typeface="Arial"/>
                <a:cs typeface="Arial"/>
              </a:rPr>
              <a:t>.mil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~34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million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tokens</a:t>
            </a:r>
            <a:endParaRPr sz="1600" dirty="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1667" dirty="0">
              <a:latin typeface="Arial"/>
              <a:cs typeface="Arial"/>
            </a:endParaRPr>
          </a:p>
          <a:p>
            <a:pPr marL="16933"/>
            <a:r>
              <a:rPr sz="1600" b="1" dirty="0">
                <a:latin typeface="Arial"/>
                <a:cs typeface="Arial"/>
              </a:rPr>
              <a:t>.mod.uk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~1.2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million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tokens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F05229B-D542-4FFC-B6AD-5B0176829A20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97CF0BFA-7DB7-4AD1-AA0F-A5EC90E9F1D3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>
              <a:spcBef>
                <a:spcPts val="147"/>
              </a:spcBef>
            </a:pPr>
            <a:r>
              <a:rPr lang="en-US" sz="2867"/>
              <a:t>Internet</a:t>
            </a:r>
            <a:r>
              <a:rPr lang="en-US" sz="2867" spc="-53"/>
              <a:t> </a:t>
            </a:r>
            <a:r>
              <a:rPr lang="en-US" sz="2867" spc="-13"/>
              <a:t>domains</a:t>
            </a:r>
            <a:endParaRPr lang="en-US" sz="2867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2B88914-8A8C-4C76-9F55-AFD96682DC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8801" y="265759"/>
            <a:ext cx="8779401" cy="64173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1763" y="2570321"/>
            <a:ext cx="2481580" cy="2708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267" dirty="0">
                <a:latin typeface="Arial"/>
                <a:cs typeface="Arial"/>
              </a:rPr>
              <a:t>Patents</a:t>
            </a:r>
            <a:r>
              <a:rPr sz="2267" spc="-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7" dirty="0">
                <a:latin typeface="Arial"/>
                <a:cs typeface="Arial"/>
              </a:rPr>
              <a:t> </a:t>
            </a:r>
            <a:r>
              <a:rPr sz="2267" spc="-33" dirty="0">
                <a:latin typeface="Arial"/>
                <a:cs typeface="Arial"/>
              </a:rPr>
              <a:t>law</a:t>
            </a:r>
            <a:endParaRPr sz="2267" dirty="0">
              <a:latin typeface="Arial"/>
              <a:cs typeface="Arial"/>
            </a:endParaRPr>
          </a:p>
          <a:p>
            <a:pPr marL="16933" marR="6773" algn="ctr">
              <a:lnSpc>
                <a:spcPct val="173800"/>
              </a:lnSpc>
            </a:pPr>
            <a:r>
              <a:rPr sz="2267" dirty="0">
                <a:latin typeface="Arial"/>
                <a:cs typeface="Arial"/>
              </a:rPr>
              <a:t>Information</a:t>
            </a:r>
            <a:r>
              <a:rPr sz="2267" spc="-40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4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books Journalism </a:t>
            </a:r>
            <a:r>
              <a:rPr sz="2267" dirty="0">
                <a:latin typeface="Arial"/>
                <a:cs typeface="Arial"/>
              </a:rPr>
              <a:t>Scientific</a:t>
            </a:r>
            <a:r>
              <a:rPr sz="2267" spc="-2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articles </a:t>
            </a:r>
            <a:r>
              <a:rPr sz="2267" dirty="0">
                <a:latin typeface="Arial"/>
                <a:cs typeface="Arial"/>
              </a:rPr>
              <a:t>Travel</a:t>
            </a:r>
            <a:r>
              <a:rPr sz="2267" spc="-6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6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shopping</a:t>
            </a:r>
            <a:endParaRPr sz="2267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79D8511-6B38-4BA7-BB3E-3878473A4585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6D560DC-5AAE-40C8-B616-1AD84C67E723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 algn="l">
              <a:spcBef>
                <a:spcPts val="147"/>
              </a:spcBef>
            </a:pPr>
            <a:r>
              <a:rPr lang="en-US" sz="2867" dirty="0"/>
              <a:t>Websites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93E26-6667-4F29-9AFD-E8A488F0AD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1200" y="133294"/>
            <a:ext cx="8707120" cy="6609927"/>
            <a:chOff x="2490900" y="99970"/>
            <a:chExt cx="6530340" cy="49574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0900" y="99970"/>
              <a:ext cx="6530249" cy="49568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87162" y="275870"/>
              <a:ext cx="6050280" cy="3600450"/>
            </a:xfrm>
            <a:custGeom>
              <a:avLst/>
              <a:gdLst/>
              <a:ahLst/>
              <a:cxnLst/>
              <a:rect l="l" t="t" r="r" b="b"/>
              <a:pathLst>
                <a:path w="6050280" h="3600450">
                  <a:moveTo>
                    <a:pt x="0" y="0"/>
                  </a:moveTo>
                  <a:lnTo>
                    <a:pt x="6017399" y="0"/>
                  </a:lnTo>
                  <a:lnTo>
                    <a:pt x="6017399" y="930300"/>
                  </a:lnTo>
                  <a:lnTo>
                    <a:pt x="0" y="930300"/>
                  </a:lnTo>
                  <a:lnTo>
                    <a:pt x="0" y="0"/>
                  </a:lnTo>
                  <a:close/>
                </a:path>
                <a:path w="6050280" h="3600450">
                  <a:moveTo>
                    <a:pt x="0" y="1750815"/>
                  </a:moveTo>
                  <a:lnTo>
                    <a:pt x="6017399" y="1750815"/>
                  </a:lnTo>
                  <a:lnTo>
                    <a:pt x="6017399" y="1986915"/>
                  </a:lnTo>
                  <a:lnTo>
                    <a:pt x="0" y="1986915"/>
                  </a:lnTo>
                  <a:lnTo>
                    <a:pt x="0" y="1750815"/>
                  </a:lnTo>
                  <a:close/>
                </a:path>
                <a:path w="6050280" h="3600450">
                  <a:moveTo>
                    <a:pt x="0" y="1059900"/>
                  </a:moveTo>
                  <a:lnTo>
                    <a:pt x="6017399" y="1059900"/>
                  </a:lnTo>
                  <a:lnTo>
                    <a:pt x="6017399" y="1444500"/>
                  </a:lnTo>
                  <a:lnTo>
                    <a:pt x="0" y="1444500"/>
                  </a:lnTo>
                  <a:lnTo>
                    <a:pt x="0" y="1059900"/>
                  </a:lnTo>
                  <a:close/>
                </a:path>
                <a:path w="6050280" h="3600450">
                  <a:moveTo>
                    <a:pt x="32846" y="2509777"/>
                  </a:moveTo>
                  <a:lnTo>
                    <a:pt x="6050245" y="2509777"/>
                  </a:lnTo>
                  <a:lnTo>
                    <a:pt x="6050245" y="2894377"/>
                  </a:lnTo>
                  <a:lnTo>
                    <a:pt x="32846" y="2894377"/>
                  </a:lnTo>
                  <a:lnTo>
                    <a:pt x="32846" y="2509777"/>
                  </a:lnTo>
                  <a:close/>
                </a:path>
                <a:path w="6050280" h="3600450">
                  <a:moveTo>
                    <a:pt x="32846" y="3038212"/>
                  </a:moveTo>
                  <a:lnTo>
                    <a:pt x="6050245" y="3038212"/>
                  </a:lnTo>
                  <a:lnTo>
                    <a:pt x="6050245" y="3220312"/>
                  </a:lnTo>
                  <a:lnTo>
                    <a:pt x="32846" y="3220312"/>
                  </a:lnTo>
                  <a:lnTo>
                    <a:pt x="32846" y="3038212"/>
                  </a:lnTo>
                  <a:close/>
                </a:path>
                <a:path w="6050280" h="3600450">
                  <a:moveTo>
                    <a:pt x="32831" y="3363902"/>
                  </a:moveTo>
                  <a:lnTo>
                    <a:pt x="6050231" y="3363902"/>
                  </a:lnTo>
                  <a:lnTo>
                    <a:pt x="6050231" y="3600002"/>
                  </a:lnTo>
                  <a:lnTo>
                    <a:pt x="32831" y="3600002"/>
                  </a:lnTo>
                  <a:lnTo>
                    <a:pt x="32831" y="3363902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27963" y="2570321"/>
            <a:ext cx="2481580" cy="2708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267" dirty="0">
                <a:latin typeface="Arial"/>
                <a:cs typeface="Arial"/>
              </a:rPr>
              <a:t>Patents</a:t>
            </a:r>
            <a:r>
              <a:rPr sz="2267" spc="-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7" dirty="0">
                <a:latin typeface="Arial"/>
                <a:cs typeface="Arial"/>
              </a:rPr>
              <a:t> </a:t>
            </a:r>
            <a:r>
              <a:rPr sz="2267" spc="-33" dirty="0">
                <a:latin typeface="Arial"/>
                <a:cs typeface="Arial"/>
              </a:rPr>
              <a:t>law</a:t>
            </a:r>
            <a:endParaRPr sz="2267" dirty="0">
              <a:latin typeface="Arial"/>
              <a:cs typeface="Arial"/>
            </a:endParaRPr>
          </a:p>
          <a:p>
            <a:pPr marL="16933" marR="6773" algn="ctr">
              <a:lnSpc>
                <a:spcPct val="173800"/>
              </a:lnSpc>
            </a:pPr>
            <a:r>
              <a:rPr sz="2267" dirty="0">
                <a:latin typeface="Arial"/>
                <a:cs typeface="Arial"/>
              </a:rPr>
              <a:t>Information</a:t>
            </a:r>
            <a:r>
              <a:rPr sz="2267" spc="-40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4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books Journalism </a:t>
            </a:r>
            <a:r>
              <a:rPr sz="2267" dirty="0">
                <a:latin typeface="Arial"/>
                <a:cs typeface="Arial"/>
              </a:rPr>
              <a:t>Scientific</a:t>
            </a:r>
            <a:r>
              <a:rPr sz="2267" spc="-2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articles </a:t>
            </a:r>
            <a:r>
              <a:rPr sz="2267" dirty="0">
                <a:latin typeface="Arial"/>
                <a:cs typeface="Arial"/>
              </a:rPr>
              <a:t>Travel</a:t>
            </a:r>
            <a:r>
              <a:rPr sz="2267" spc="-6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6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shopping</a:t>
            </a:r>
            <a:endParaRPr sz="2267" dirty="0">
              <a:latin typeface="Arial"/>
              <a:cs typeface="Arial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7B329340-D6E9-4892-A9A9-349ED122AF94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6748B565-0F4F-4663-BB08-E742372B360E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 algn="l">
              <a:spcBef>
                <a:spcPts val="147"/>
              </a:spcBef>
            </a:pPr>
            <a:r>
              <a:rPr lang="en-US" sz="2867" dirty="0"/>
              <a:t>Websites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AA9D9A9-B6E5-424F-970D-37A06AB797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8100" y="135578"/>
            <a:ext cx="8932333" cy="6722533"/>
            <a:chOff x="2256075" y="101683"/>
            <a:chExt cx="6699250" cy="5041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6075" y="101683"/>
              <a:ext cx="6689399" cy="50418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81520" y="119912"/>
              <a:ext cx="6163945" cy="1807845"/>
            </a:xfrm>
            <a:custGeom>
              <a:avLst/>
              <a:gdLst/>
              <a:ahLst/>
              <a:cxnLst/>
              <a:rect l="l" t="t" r="r" b="b"/>
              <a:pathLst>
                <a:path w="6163945" h="1807845">
                  <a:moveTo>
                    <a:pt x="0" y="0"/>
                  </a:moveTo>
                  <a:lnTo>
                    <a:pt x="6163799" y="0"/>
                  </a:lnTo>
                  <a:lnTo>
                    <a:pt x="6163799" y="177899"/>
                  </a:lnTo>
                  <a:lnTo>
                    <a:pt x="0" y="177899"/>
                  </a:lnTo>
                  <a:lnTo>
                    <a:pt x="0" y="0"/>
                  </a:lnTo>
                  <a:close/>
                </a:path>
                <a:path w="6163945" h="1807845">
                  <a:moveTo>
                    <a:pt x="0" y="1629685"/>
                  </a:moveTo>
                  <a:lnTo>
                    <a:pt x="6163799" y="1629685"/>
                  </a:lnTo>
                  <a:lnTo>
                    <a:pt x="6163799" y="1807585"/>
                  </a:lnTo>
                  <a:lnTo>
                    <a:pt x="0" y="1807585"/>
                  </a:lnTo>
                  <a:lnTo>
                    <a:pt x="0" y="1629685"/>
                  </a:lnTo>
                  <a:close/>
                </a:path>
              </a:pathLst>
            </a:custGeom>
            <a:ln w="19049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03763" y="2570321"/>
            <a:ext cx="2481580" cy="2708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267" dirty="0">
                <a:latin typeface="Arial"/>
                <a:cs typeface="Arial"/>
              </a:rPr>
              <a:t>Patents</a:t>
            </a:r>
            <a:r>
              <a:rPr sz="2267" spc="-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7" dirty="0">
                <a:latin typeface="Arial"/>
                <a:cs typeface="Arial"/>
              </a:rPr>
              <a:t> </a:t>
            </a:r>
            <a:r>
              <a:rPr sz="2267" spc="-33" dirty="0">
                <a:latin typeface="Arial"/>
                <a:cs typeface="Arial"/>
              </a:rPr>
              <a:t>law</a:t>
            </a:r>
            <a:endParaRPr sz="2267" dirty="0">
              <a:latin typeface="Arial"/>
              <a:cs typeface="Arial"/>
            </a:endParaRPr>
          </a:p>
          <a:p>
            <a:pPr marL="16933" marR="6773" algn="ctr">
              <a:lnSpc>
                <a:spcPct val="173800"/>
              </a:lnSpc>
            </a:pPr>
            <a:r>
              <a:rPr sz="2267" dirty="0">
                <a:latin typeface="Arial"/>
                <a:cs typeface="Arial"/>
              </a:rPr>
              <a:t>Information</a:t>
            </a:r>
            <a:r>
              <a:rPr sz="2267" spc="-40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4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books Journalism </a:t>
            </a:r>
            <a:r>
              <a:rPr sz="2267" dirty="0">
                <a:latin typeface="Arial"/>
                <a:cs typeface="Arial"/>
              </a:rPr>
              <a:t>Scientific</a:t>
            </a:r>
            <a:r>
              <a:rPr sz="2267" spc="-2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articles </a:t>
            </a:r>
            <a:r>
              <a:rPr sz="2267" dirty="0">
                <a:latin typeface="Arial"/>
                <a:cs typeface="Arial"/>
              </a:rPr>
              <a:t>Travel</a:t>
            </a:r>
            <a:r>
              <a:rPr sz="2267" spc="-6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/</a:t>
            </a:r>
            <a:r>
              <a:rPr sz="2267" spc="-6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shopping</a:t>
            </a:r>
            <a:endParaRPr sz="2267" dirty="0">
              <a:latin typeface="Arial"/>
              <a:cs typeface="Arial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CB12F77C-8E95-4651-9A16-5ED066BCF875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EC13014-9CAD-488C-94CF-958A337B7412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 algn="l">
              <a:spcBef>
                <a:spcPts val="147"/>
              </a:spcBef>
            </a:pPr>
            <a:r>
              <a:rPr lang="en-US" sz="2867" dirty="0"/>
              <a:t>Websites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8849BDF-BF5A-481B-8967-DA8C88DC3E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8101" y="135578"/>
            <a:ext cx="8919199" cy="67224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2967" y="2830687"/>
            <a:ext cx="2626360" cy="2293791"/>
          </a:xfrm>
          <a:prstGeom prst="rect">
            <a:avLst/>
          </a:prstGeom>
        </p:spPr>
        <p:txBody>
          <a:bodyPr vert="horz" wrap="square" lIns="0" tIns="36407" rIns="0" bIns="0" rtlCol="0">
            <a:spAutoFit/>
          </a:bodyPr>
          <a:lstStyle/>
          <a:p>
            <a:pPr marL="16933" marR="6773">
              <a:lnSpc>
                <a:spcPts val="1973"/>
              </a:lnSpc>
              <a:spcBef>
                <a:spcPts val="287"/>
              </a:spcBef>
            </a:pPr>
            <a:r>
              <a:rPr lang="en-US" sz="1733" dirty="0">
                <a:latin typeface="Arial"/>
                <a:cs typeface="Arial"/>
              </a:rPr>
              <a:t>D</a:t>
            </a:r>
            <a:r>
              <a:rPr sz="1733" dirty="0">
                <a:latin typeface="Arial"/>
                <a:cs typeface="Arial"/>
              </a:rPr>
              <a:t>istribution</a:t>
            </a:r>
            <a:r>
              <a:rPr sz="1733" spc="-33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of</a:t>
            </a:r>
            <a:r>
              <a:rPr sz="1733" spc="-33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websites</a:t>
            </a:r>
            <a:r>
              <a:rPr sz="1733" spc="-33" dirty="0">
                <a:latin typeface="Arial"/>
                <a:cs typeface="Arial"/>
              </a:rPr>
              <a:t> not </a:t>
            </a:r>
            <a:r>
              <a:rPr sz="1733" dirty="0">
                <a:latin typeface="Arial"/>
                <a:cs typeface="Arial"/>
              </a:rPr>
              <a:t>necessarily</a:t>
            </a:r>
            <a:r>
              <a:rPr sz="1733" spc="-7" dirty="0">
                <a:latin typeface="Arial"/>
                <a:cs typeface="Arial"/>
              </a:rPr>
              <a:t> </a:t>
            </a:r>
            <a:r>
              <a:rPr sz="1733" spc="-13" dirty="0">
                <a:latin typeface="Arial"/>
                <a:cs typeface="Arial"/>
              </a:rPr>
              <a:t>representative </a:t>
            </a:r>
            <a:r>
              <a:rPr sz="1733" dirty="0">
                <a:latin typeface="Arial"/>
                <a:cs typeface="Arial"/>
              </a:rPr>
              <a:t>of</a:t>
            </a:r>
            <a:r>
              <a:rPr sz="1733" spc="-20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the</a:t>
            </a:r>
            <a:r>
              <a:rPr sz="1733" spc="-20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most</a:t>
            </a:r>
            <a:r>
              <a:rPr sz="1733" spc="-20" dirty="0">
                <a:latin typeface="Arial"/>
                <a:cs typeface="Arial"/>
              </a:rPr>
              <a:t> </a:t>
            </a:r>
            <a:r>
              <a:rPr sz="1733" spc="-13" dirty="0">
                <a:latin typeface="Arial"/>
                <a:cs typeface="Arial"/>
              </a:rPr>
              <a:t>frequently </a:t>
            </a:r>
            <a:r>
              <a:rPr sz="1733" dirty="0">
                <a:latin typeface="Arial"/>
                <a:cs typeface="Arial"/>
              </a:rPr>
              <a:t>used</a:t>
            </a:r>
            <a:r>
              <a:rPr sz="1733" spc="-20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websites</a:t>
            </a:r>
            <a:r>
              <a:rPr sz="1733" spc="-13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on</a:t>
            </a:r>
            <a:r>
              <a:rPr sz="1733" spc="-13" dirty="0">
                <a:latin typeface="Arial"/>
                <a:cs typeface="Arial"/>
              </a:rPr>
              <a:t> </a:t>
            </a:r>
            <a:r>
              <a:rPr sz="1733" spc="-33" dirty="0">
                <a:latin typeface="Arial"/>
                <a:cs typeface="Arial"/>
              </a:rPr>
              <a:t>the </a:t>
            </a:r>
            <a:r>
              <a:rPr sz="1733" spc="-13" dirty="0">
                <a:latin typeface="Arial"/>
                <a:cs typeface="Arial"/>
              </a:rPr>
              <a:t>internet</a:t>
            </a:r>
            <a:endParaRPr sz="1733" dirty="0">
              <a:latin typeface="Arial"/>
              <a:cs typeface="Arial"/>
            </a:endParaRPr>
          </a:p>
          <a:p>
            <a:pPr marL="16933" marR="214201" algn="just">
              <a:lnSpc>
                <a:spcPts val="1973"/>
              </a:lnSpc>
              <a:spcBef>
                <a:spcPts val="1613"/>
              </a:spcBef>
            </a:pPr>
            <a:r>
              <a:rPr sz="1733" dirty="0">
                <a:latin typeface="Arial"/>
                <a:cs typeface="Arial"/>
              </a:rPr>
              <a:t>Low</a:t>
            </a:r>
            <a:r>
              <a:rPr sz="1733" spc="-33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overlap</a:t>
            </a:r>
            <a:r>
              <a:rPr sz="1733" spc="-27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with</a:t>
            </a:r>
            <a:r>
              <a:rPr sz="1733" spc="-27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the</a:t>
            </a:r>
            <a:r>
              <a:rPr sz="1733" spc="-27" dirty="0">
                <a:latin typeface="Arial"/>
                <a:cs typeface="Arial"/>
              </a:rPr>
              <a:t> </a:t>
            </a:r>
            <a:r>
              <a:rPr sz="1733" spc="-33" dirty="0">
                <a:latin typeface="Arial"/>
                <a:cs typeface="Arial"/>
              </a:rPr>
              <a:t>top </a:t>
            </a:r>
            <a:r>
              <a:rPr sz="1733" dirty="0">
                <a:latin typeface="Arial"/>
                <a:cs typeface="Arial"/>
              </a:rPr>
              <a:t>25</a:t>
            </a:r>
            <a:r>
              <a:rPr sz="1733" spc="-33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most</a:t>
            </a:r>
            <a:r>
              <a:rPr sz="1733" spc="-27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visited</a:t>
            </a:r>
            <a:r>
              <a:rPr sz="1733" spc="-27" dirty="0">
                <a:latin typeface="Arial"/>
                <a:cs typeface="Arial"/>
              </a:rPr>
              <a:t> </a:t>
            </a:r>
            <a:r>
              <a:rPr sz="1733" spc="-13" dirty="0">
                <a:latin typeface="Arial"/>
                <a:cs typeface="Arial"/>
              </a:rPr>
              <a:t>websites </a:t>
            </a:r>
            <a:r>
              <a:rPr sz="1733" dirty="0">
                <a:latin typeface="Arial"/>
                <a:cs typeface="Arial"/>
              </a:rPr>
              <a:t>as</a:t>
            </a:r>
            <a:r>
              <a:rPr sz="1733" spc="-27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measured</a:t>
            </a:r>
            <a:r>
              <a:rPr sz="1733" spc="-20" dirty="0">
                <a:latin typeface="Arial"/>
                <a:cs typeface="Arial"/>
              </a:rPr>
              <a:t> </a:t>
            </a:r>
            <a:r>
              <a:rPr sz="1733" dirty="0">
                <a:latin typeface="Arial"/>
                <a:cs typeface="Arial"/>
              </a:rPr>
              <a:t>by</a:t>
            </a:r>
            <a:r>
              <a:rPr sz="1733" spc="-113" dirty="0">
                <a:latin typeface="Arial"/>
                <a:cs typeface="Arial"/>
              </a:rPr>
              <a:t> </a:t>
            </a:r>
            <a:r>
              <a:rPr sz="1733" spc="-13" dirty="0">
                <a:latin typeface="Arial"/>
                <a:cs typeface="Arial"/>
              </a:rPr>
              <a:t>Alexa</a:t>
            </a:r>
            <a:endParaRPr sz="1733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5A9A9D9-5E96-4986-9F19-6D02D9EE5D1C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3B6D7A0-875C-41B7-93A0-B68F91B7B723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 algn="l">
              <a:spcBef>
                <a:spcPts val="147"/>
              </a:spcBef>
            </a:pPr>
            <a:r>
              <a:rPr lang="en-US" sz="2867" dirty="0"/>
              <a:t>Websites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89579-534E-47DF-81B5-6FB62E410E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449FB564-68AD-45F5-A7F9-2E67F5B5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Corpus level statistics: Metadata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34199" y="2188817"/>
            <a:ext cx="7323667" cy="3122507"/>
            <a:chOff x="1825649" y="1641613"/>
            <a:chExt cx="5492750" cy="2341880"/>
          </a:xfrm>
        </p:grpSpPr>
        <p:sp>
          <p:nvSpPr>
            <p:cNvPr id="7" name="object 7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1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44699" y="3376547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4699" y="3376547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11992" y="2389443"/>
            <a:ext cx="4165600" cy="2766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Internet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domains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websites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667" dirty="0">
              <a:latin typeface="Arial"/>
              <a:cs typeface="Arial"/>
            </a:endParaRPr>
          </a:p>
          <a:p>
            <a:pPr marL="1693" algn="ctr"/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Utterance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7" dirty="0">
                <a:solidFill>
                  <a:srgbClr val="C00000"/>
                </a:solidFill>
                <a:latin typeface="Arial"/>
                <a:cs typeface="Arial"/>
              </a:rPr>
              <a:t>date</a:t>
            </a:r>
            <a:endParaRPr sz="2400" dirty="0">
              <a:solidFill>
                <a:srgbClr val="C0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 dirty="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2667" dirty="0">
              <a:latin typeface="Arial"/>
              <a:cs typeface="Arial"/>
            </a:endParaRPr>
          </a:p>
          <a:p>
            <a:pPr marL="1693" algn="ctr"/>
            <a:r>
              <a:rPr sz="2400" spc="-13" dirty="0">
                <a:latin typeface="Arial"/>
                <a:cs typeface="Arial"/>
              </a:rPr>
              <a:t>Geolocation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0DF568EF-470F-425B-BB6F-8A2E8AA29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367" y="77851"/>
            <a:ext cx="8679631" cy="67801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2967" y="1905462"/>
            <a:ext cx="2755052" cy="32517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sz="1600" dirty="0">
                <a:latin typeface="Arial"/>
                <a:cs typeface="Arial"/>
              </a:rPr>
              <a:t>Dates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Internet</a:t>
            </a:r>
            <a:r>
              <a:rPr sz="1600" spc="-9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Archive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first </a:t>
            </a:r>
            <a:r>
              <a:rPr sz="1600" dirty="0">
                <a:latin typeface="Arial"/>
                <a:cs typeface="Arial"/>
              </a:rPr>
              <a:t>indexed</a:t>
            </a:r>
            <a:r>
              <a:rPr sz="1600" spc="-5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1,000,000</a:t>
            </a:r>
            <a:r>
              <a:rPr sz="1600" spc="-53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randomly </a:t>
            </a:r>
            <a:r>
              <a:rPr sz="1600" dirty="0">
                <a:latin typeface="Arial"/>
                <a:cs typeface="Arial"/>
              </a:rPr>
              <a:t>sampled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URLs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C4.EN</a:t>
            </a:r>
            <a:endParaRPr sz="160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1600">
              <a:latin typeface="Arial"/>
              <a:cs typeface="Arial"/>
            </a:endParaRPr>
          </a:p>
          <a:p>
            <a:pPr marL="16933"/>
            <a:r>
              <a:rPr sz="1600" spc="-13" dirty="0">
                <a:latin typeface="Arial"/>
                <a:cs typeface="Arial"/>
              </a:rPr>
              <a:t>Findings:</a:t>
            </a:r>
            <a:endParaRPr sz="160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  <a:p>
            <a:pPr marL="626518" marR="132077" indent="-427556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1600" dirty="0">
                <a:latin typeface="Arial"/>
                <a:cs typeface="Arial"/>
              </a:rPr>
              <a:t>92%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written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7" dirty="0">
                <a:latin typeface="Arial"/>
                <a:cs typeface="Arial"/>
              </a:rPr>
              <a:t>last </a:t>
            </a:r>
            <a:r>
              <a:rPr sz="1600" spc="-13" dirty="0">
                <a:latin typeface="Arial"/>
                <a:cs typeface="Arial"/>
              </a:rPr>
              <a:t>decade</a:t>
            </a:r>
            <a:endParaRPr sz="1600">
              <a:latin typeface="Arial"/>
              <a:cs typeface="Arial"/>
            </a:endParaRPr>
          </a:p>
          <a:p>
            <a:pPr marL="626518" marR="243834" indent="-427556">
              <a:lnSpc>
                <a:spcPct val="114999"/>
              </a:lnSpc>
              <a:buChar char="●"/>
              <a:tabLst>
                <a:tab pos="626518" algn="l"/>
              </a:tabLst>
            </a:pPr>
            <a:r>
              <a:rPr sz="1600" spc="-13" dirty="0">
                <a:latin typeface="Arial"/>
                <a:cs typeface="Arial"/>
              </a:rPr>
              <a:t>non-</a:t>
            </a:r>
            <a:r>
              <a:rPr sz="1600" dirty="0">
                <a:latin typeface="Arial"/>
                <a:cs typeface="Arial"/>
              </a:rPr>
              <a:t>trivial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amount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33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data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written</a:t>
            </a:r>
            <a:r>
              <a:rPr sz="1600" spc="-33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between 10-</a:t>
            </a:r>
            <a:r>
              <a:rPr sz="1600" dirty="0">
                <a:latin typeface="Arial"/>
                <a:cs typeface="Arial"/>
              </a:rPr>
              <a:t>20 years </a:t>
            </a:r>
            <a:r>
              <a:rPr sz="1600" spc="-13" dirty="0">
                <a:latin typeface="Arial"/>
                <a:cs typeface="Arial"/>
              </a:rPr>
              <a:t>before </a:t>
            </a:r>
            <a:r>
              <a:rPr sz="1600" dirty="0">
                <a:latin typeface="Arial"/>
                <a:cs typeface="Arial"/>
              </a:rPr>
              <a:t>data</a:t>
            </a:r>
            <a:r>
              <a:rPr sz="1600" spc="-2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collection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2D72B7D-E5F1-40EF-920F-8CFDE1CAE568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E0171C-DDF6-484E-B926-ADE7B92BE3F1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 algn="l">
              <a:spcBef>
                <a:spcPts val="147"/>
              </a:spcBef>
            </a:pPr>
            <a:r>
              <a:rPr lang="en-US" sz="2867" dirty="0"/>
              <a:t>Utterance</a:t>
            </a:r>
            <a:r>
              <a:rPr lang="en-US" sz="2867" spc="-53" dirty="0"/>
              <a:t> </a:t>
            </a:r>
            <a:r>
              <a:rPr lang="en-US" sz="2867" spc="-27" dirty="0"/>
              <a:t>date</a:t>
            </a:r>
            <a:endParaRPr lang="en-US" sz="2867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2D71DC-0A6A-458C-92E8-9F6BFE107C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2367" y="77851"/>
            <a:ext cx="8679631" cy="67801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2967" y="1929846"/>
            <a:ext cx="2755052" cy="3537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05000"/>
              </a:lnSpc>
              <a:spcBef>
                <a:spcPts val="133"/>
              </a:spcBef>
            </a:pPr>
            <a:r>
              <a:rPr sz="1600" dirty="0">
                <a:latin typeface="Arial"/>
                <a:cs typeface="Arial"/>
              </a:rPr>
              <a:t>Dates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Internet</a:t>
            </a:r>
            <a:r>
              <a:rPr sz="1600" spc="-9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Archive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first </a:t>
            </a:r>
            <a:r>
              <a:rPr sz="1600" dirty="0">
                <a:latin typeface="Arial"/>
                <a:cs typeface="Arial"/>
              </a:rPr>
              <a:t>indexed</a:t>
            </a:r>
            <a:r>
              <a:rPr sz="1600" spc="-5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1,000,000</a:t>
            </a:r>
            <a:r>
              <a:rPr sz="1600" spc="-53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randomly </a:t>
            </a:r>
            <a:r>
              <a:rPr sz="1600" dirty="0">
                <a:latin typeface="Arial"/>
                <a:cs typeface="Arial"/>
              </a:rPr>
              <a:t>sampled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URLs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C4.EN</a:t>
            </a:r>
            <a:endParaRPr sz="1600" dirty="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 dirty="0">
              <a:latin typeface="Arial"/>
              <a:cs typeface="Arial"/>
            </a:endParaRPr>
          </a:p>
          <a:p>
            <a:pPr marL="16933" marR="786534">
              <a:lnSpc>
                <a:spcPct val="105000"/>
              </a:lnSpc>
            </a:pPr>
            <a:r>
              <a:rPr sz="1600" dirty="0">
                <a:latin typeface="Arial"/>
                <a:cs typeface="Arial"/>
              </a:rPr>
              <a:t>Limitations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Internet Archive:</a:t>
            </a:r>
            <a:endParaRPr sz="1600" dirty="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1333" dirty="0">
              <a:latin typeface="Arial"/>
              <a:cs typeface="Arial"/>
            </a:endParaRPr>
          </a:p>
          <a:p>
            <a:pPr marL="626518" marR="378451" indent="-427556">
              <a:lnSpc>
                <a:spcPct val="105000"/>
              </a:lnSpc>
              <a:buChar char="●"/>
              <a:tabLst>
                <a:tab pos="626518" algn="l"/>
              </a:tabLst>
            </a:pPr>
            <a:r>
              <a:rPr sz="1600" dirty="0">
                <a:latin typeface="Arial"/>
                <a:cs typeface="Arial"/>
              </a:rPr>
              <a:t>sometimes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indexes </a:t>
            </a:r>
            <a:r>
              <a:rPr sz="1600" dirty="0">
                <a:latin typeface="Arial"/>
                <a:cs typeface="Arial"/>
              </a:rPr>
              <a:t>web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pages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spc="-27" dirty="0">
                <a:latin typeface="Arial"/>
                <a:cs typeface="Arial"/>
              </a:rPr>
              <a:t>many </a:t>
            </a:r>
            <a:r>
              <a:rPr sz="1600" dirty="0">
                <a:latin typeface="Arial"/>
                <a:cs typeface="Arial"/>
              </a:rPr>
              <a:t>months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after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their creation</a:t>
            </a:r>
            <a:endParaRPr sz="1600" dirty="0">
              <a:latin typeface="Arial"/>
              <a:cs typeface="Arial"/>
            </a:endParaRPr>
          </a:p>
          <a:p>
            <a:pPr marL="626518" marR="164248" indent="-427556">
              <a:lnSpc>
                <a:spcPct val="105000"/>
              </a:lnSpc>
              <a:buChar char="●"/>
              <a:tabLst>
                <a:tab pos="626518" algn="l"/>
              </a:tabLst>
            </a:pPr>
            <a:r>
              <a:rPr sz="1600" dirty="0">
                <a:latin typeface="Arial"/>
                <a:cs typeface="Arial"/>
              </a:rPr>
              <a:t>only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spc="-13" dirty="0">
                <a:latin typeface="Arial"/>
                <a:cs typeface="Arial"/>
              </a:rPr>
              <a:t>indexes </a:t>
            </a:r>
            <a:r>
              <a:rPr sz="1600" dirty="0">
                <a:latin typeface="Arial"/>
                <a:cs typeface="Arial"/>
              </a:rPr>
              <a:t>approximately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65%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spc="-33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URLs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7" dirty="0">
                <a:latin typeface="Arial"/>
                <a:cs typeface="Arial"/>
              </a:rPr>
              <a:t> </a:t>
            </a:r>
            <a:r>
              <a:rPr sz="1600" spc="-27" dirty="0">
                <a:latin typeface="Arial"/>
                <a:cs typeface="Arial"/>
              </a:rPr>
              <a:t>C4.EN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53355F-EA84-4F51-AE86-7775E647561F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ACDB105-ACD0-4A99-858E-B2AE76C4976C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 algn="l">
              <a:spcBef>
                <a:spcPts val="147"/>
              </a:spcBef>
            </a:pPr>
            <a:r>
              <a:rPr lang="en-US" sz="2867" dirty="0"/>
              <a:t>Utterance</a:t>
            </a:r>
            <a:r>
              <a:rPr lang="en-US" sz="2867" spc="-53" dirty="0"/>
              <a:t> </a:t>
            </a:r>
            <a:r>
              <a:rPr lang="en-US" sz="2867" spc="-27" dirty="0"/>
              <a:t>date</a:t>
            </a:r>
            <a:endParaRPr lang="en-US" sz="2867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D792FD8-E9D7-4046-A27A-07B1EF29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B51C799-8392-4AE5-928B-4A0D1CCCA1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449FB564-68AD-45F5-A7F9-2E67F5B5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Corpus level statistics: Metadata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434199" y="2188817"/>
            <a:ext cx="7323667" cy="3122507"/>
            <a:chOff x="1825649" y="1641613"/>
            <a:chExt cx="5492750" cy="2341880"/>
          </a:xfrm>
        </p:grpSpPr>
        <p:sp>
          <p:nvSpPr>
            <p:cNvPr id="7" name="object 7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1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44699" y="3376547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4699" y="3376547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11992" y="2389443"/>
            <a:ext cx="4165600" cy="2766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Internet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domains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websites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667" dirty="0">
              <a:latin typeface="Arial"/>
              <a:cs typeface="Arial"/>
            </a:endParaRPr>
          </a:p>
          <a:p>
            <a:pPr marL="1693" algn="ctr"/>
            <a:r>
              <a:rPr sz="2400" dirty="0">
                <a:latin typeface="Arial"/>
                <a:cs typeface="Arial"/>
              </a:rPr>
              <a:t>Utterance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date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 dirty="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2667" dirty="0">
              <a:latin typeface="Arial"/>
              <a:cs typeface="Arial"/>
            </a:endParaRPr>
          </a:p>
          <a:p>
            <a:pPr marL="1693" algn="ctr"/>
            <a:r>
              <a:rPr sz="2400" b="1" spc="-13" dirty="0">
                <a:solidFill>
                  <a:srgbClr val="C00000"/>
                </a:solidFill>
                <a:latin typeface="Arial"/>
                <a:cs typeface="Arial"/>
              </a:rPr>
              <a:t>Geolocation</a:t>
            </a:r>
            <a:endParaRPr sz="2400" b="1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7332A-10AB-417D-BCD6-F41DDC09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89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754" y="1"/>
            <a:ext cx="4308111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2967" y="2190769"/>
            <a:ext cx="6614160" cy="35934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568098">
              <a:lnSpc>
                <a:spcPct val="114999"/>
              </a:lnSpc>
              <a:spcBef>
                <a:spcPts val="133"/>
              </a:spcBef>
            </a:pP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Country-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level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r>
              <a:rPr sz="2400" spc="-9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frequencies from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175,000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randomly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sampled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URLs</a:t>
            </a:r>
            <a:endParaRPr sz="2400">
              <a:latin typeface="Arial"/>
              <a:cs typeface="Arial"/>
            </a:endParaRPr>
          </a:p>
          <a:p>
            <a:pPr marL="16933" marR="582492">
              <a:lnSpc>
                <a:spcPct val="114999"/>
              </a:lnSpc>
              <a:spcBef>
                <a:spcPts val="1600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Location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hosted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proxy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location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creators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(from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IP</a:t>
            </a:r>
            <a:r>
              <a:rPr sz="2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address)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2033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Caveat: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Many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websites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hosted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locally</a:t>
            </a:r>
            <a:endParaRPr sz="2400">
              <a:latin typeface="Arial"/>
              <a:cs typeface="Arial"/>
            </a:endParaRPr>
          </a:p>
          <a:p>
            <a:pPr marL="625671" indent="-488514">
              <a:spcBef>
                <a:spcPts val="2027"/>
              </a:spcBef>
              <a:buChar char="●"/>
              <a:tabLst>
                <a:tab pos="625671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Hosted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centers</a:t>
            </a:r>
            <a:endParaRPr sz="2400">
              <a:latin typeface="Arial"/>
              <a:cs typeface="Arial"/>
            </a:endParaRPr>
          </a:p>
          <a:p>
            <a:pPr marL="625671" indent="-488514">
              <a:spcBef>
                <a:spcPts val="433"/>
              </a:spcBef>
              <a:buChar char="●"/>
              <a:tabLst>
                <a:tab pos="625671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ISPs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may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store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website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locations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1A35256-9D27-4BB7-B817-E8DDAACA7FD8}"/>
              </a:ext>
            </a:extLst>
          </p:cNvPr>
          <p:cNvSpPr txBox="1"/>
          <p:nvPr/>
        </p:nvSpPr>
        <p:spPr>
          <a:xfrm>
            <a:off x="512967" y="808701"/>
            <a:ext cx="1357207" cy="377818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>
              <a:spcBef>
                <a:spcPts val="147"/>
              </a:spcBef>
            </a:pPr>
            <a:r>
              <a:rPr sz="2333" spc="-13" dirty="0">
                <a:latin typeface="Arial"/>
                <a:cs typeface="Arial"/>
              </a:rPr>
              <a:t>Metadata:</a:t>
            </a:r>
            <a:endParaRPr sz="2333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3778231-C00A-4B68-8B6E-23FC109B8F2B}"/>
              </a:ext>
            </a:extLst>
          </p:cNvPr>
          <p:cNvSpPr txBox="1">
            <a:spLocks/>
          </p:cNvSpPr>
          <p:nvPr/>
        </p:nvSpPr>
        <p:spPr bwMode="auto">
          <a:xfrm>
            <a:off x="512967" y="1170258"/>
            <a:ext cx="2755900" cy="460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627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56" b="0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6933" algn="l">
              <a:spcBef>
                <a:spcPts val="147"/>
              </a:spcBef>
            </a:pPr>
            <a:r>
              <a:rPr lang="en-US" sz="2867" dirty="0"/>
              <a:t>Geolocation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300C20-A417-4D99-8FE1-6EDC5B5BCE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41380" y="-12699"/>
            <a:ext cx="4321387" cy="6870700"/>
            <a:chOff x="5486775" y="-9525"/>
            <a:chExt cx="3241040" cy="5153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6290" y="0"/>
              <a:ext cx="3231083" cy="51434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96300" y="0"/>
              <a:ext cx="3119120" cy="4859020"/>
            </a:xfrm>
            <a:custGeom>
              <a:avLst/>
              <a:gdLst/>
              <a:ahLst/>
              <a:cxnLst/>
              <a:rect l="l" t="t" r="r" b="b"/>
              <a:pathLst>
                <a:path w="3119120" h="4859020">
                  <a:moveTo>
                    <a:pt x="509899" y="667474"/>
                  </a:moveTo>
                  <a:lnTo>
                    <a:pt x="2607799" y="667474"/>
                  </a:lnTo>
                  <a:lnTo>
                    <a:pt x="2607799" y="863074"/>
                  </a:lnTo>
                  <a:lnTo>
                    <a:pt x="509899" y="863074"/>
                  </a:lnTo>
                  <a:lnTo>
                    <a:pt x="509899" y="667474"/>
                  </a:lnTo>
                  <a:close/>
                </a:path>
                <a:path w="3119120" h="4859020">
                  <a:moveTo>
                    <a:pt x="119174" y="4663224"/>
                  </a:moveTo>
                  <a:lnTo>
                    <a:pt x="2217074" y="4663224"/>
                  </a:lnTo>
                  <a:lnTo>
                    <a:pt x="2217074" y="4858824"/>
                  </a:lnTo>
                  <a:lnTo>
                    <a:pt x="119174" y="4858824"/>
                  </a:lnTo>
                  <a:lnTo>
                    <a:pt x="119174" y="4663224"/>
                  </a:lnTo>
                  <a:close/>
                </a:path>
                <a:path w="3119120" h="4859020">
                  <a:moveTo>
                    <a:pt x="0" y="0"/>
                  </a:moveTo>
                  <a:lnTo>
                    <a:pt x="3118799" y="0"/>
                  </a:lnTo>
                  <a:lnTo>
                    <a:pt x="3118799" y="195599"/>
                  </a:lnTo>
                  <a:lnTo>
                    <a:pt x="0" y="1955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2968" y="2245633"/>
            <a:ext cx="6669193" cy="33287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51.3%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pages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hosted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3" dirty="0">
                <a:latin typeface="Arial"/>
                <a:cs typeface="Arial"/>
              </a:rPr>
              <a:t>US</a:t>
            </a:r>
            <a:endParaRPr sz="2400">
              <a:latin typeface="Arial"/>
              <a:cs typeface="Arial"/>
            </a:endParaRPr>
          </a:p>
          <a:p>
            <a:pPr marL="16933" marR="6773">
              <a:lnSpc>
                <a:spcPct val="114999"/>
              </a:lnSpc>
              <a:spcBef>
                <a:spcPts val="1600"/>
              </a:spcBef>
            </a:pPr>
            <a:r>
              <a:rPr sz="2400" dirty="0">
                <a:latin typeface="Arial"/>
                <a:cs typeface="Arial"/>
              </a:rPr>
              <a:t>Countries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estimated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2nd,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3rd,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4th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largest </a:t>
            </a:r>
            <a:r>
              <a:rPr sz="2400" dirty="0">
                <a:latin typeface="Arial"/>
                <a:cs typeface="Arial"/>
              </a:rPr>
              <a:t>English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speaking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populations:</a:t>
            </a:r>
            <a:endParaRPr sz="2400">
              <a:latin typeface="Arial"/>
              <a:cs typeface="Arial"/>
            </a:endParaRPr>
          </a:p>
          <a:p>
            <a:pPr marL="625671" indent="-488514">
              <a:spcBef>
                <a:spcPts val="2027"/>
              </a:spcBef>
              <a:buChar char="●"/>
              <a:tabLst>
                <a:tab pos="625671" algn="l"/>
              </a:tabLst>
            </a:pPr>
            <a:r>
              <a:rPr sz="2400" dirty="0">
                <a:latin typeface="Arial"/>
                <a:cs typeface="Arial"/>
              </a:rPr>
              <a:t>India: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3.4%</a:t>
            </a:r>
            <a:endParaRPr sz="2400">
              <a:latin typeface="Arial"/>
              <a:cs typeface="Arial"/>
            </a:endParaRPr>
          </a:p>
          <a:p>
            <a:pPr marL="625671" indent="-488514">
              <a:spcBef>
                <a:spcPts val="433"/>
              </a:spcBef>
              <a:buChar char="●"/>
              <a:tabLst>
                <a:tab pos="625671" algn="l"/>
              </a:tabLst>
            </a:pPr>
            <a:r>
              <a:rPr sz="2400" dirty="0">
                <a:latin typeface="Arial"/>
                <a:cs typeface="Arial"/>
              </a:rPr>
              <a:t>Pakistan: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0.06%</a:t>
            </a:r>
            <a:endParaRPr sz="2400">
              <a:latin typeface="Arial"/>
              <a:cs typeface="Arial"/>
            </a:endParaRPr>
          </a:p>
          <a:p>
            <a:pPr marL="625671" indent="-488514">
              <a:spcBef>
                <a:spcPts val="433"/>
              </a:spcBef>
              <a:buChar char="●"/>
              <a:tabLst>
                <a:tab pos="625671" algn="l"/>
              </a:tabLst>
            </a:pPr>
            <a:r>
              <a:rPr sz="2400" dirty="0">
                <a:latin typeface="Arial"/>
                <a:cs typeface="Arial"/>
              </a:rPr>
              <a:t>Nigeria: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0.03%</a:t>
            </a:r>
            <a:endParaRPr sz="2400">
              <a:latin typeface="Arial"/>
              <a:cs typeface="Arial"/>
            </a:endParaRPr>
          </a:p>
          <a:p>
            <a:pPr marL="625671" indent="-488514">
              <a:spcBef>
                <a:spcPts val="433"/>
              </a:spcBef>
              <a:buChar char="●"/>
              <a:tabLst>
                <a:tab pos="625671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Philippines:</a:t>
            </a:r>
            <a:r>
              <a:rPr sz="2400" spc="607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0.1%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3D0795-AD07-499C-B00F-284B603894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5AD55451-73AF-43DC-A1D2-0544245A4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Documentation</a:t>
            </a:r>
            <a:r>
              <a:rPr spc="-93" dirty="0"/>
              <a:t> </a:t>
            </a:r>
            <a:r>
              <a:rPr spc="-13" dirty="0"/>
              <a:t>levels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9B990BB-714A-4A02-B8C5-1188FBCA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29</a:t>
            </a:fld>
            <a:endParaRPr lang="en-US" dirty="0"/>
          </a:p>
        </p:txBody>
      </p:sp>
      <p:grpSp>
        <p:nvGrpSpPr>
          <p:cNvPr id="3" name="object 3"/>
          <p:cNvGrpSpPr/>
          <p:nvPr/>
        </p:nvGrpSpPr>
        <p:grpSpPr>
          <a:xfrm>
            <a:off x="3636532" y="1344266"/>
            <a:ext cx="8153400" cy="1514687"/>
            <a:chOff x="2727399" y="1008199"/>
            <a:chExt cx="6115050" cy="1136015"/>
          </a:xfrm>
        </p:grpSpPr>
        <p:sp>
          <p:nvSpPr>
            <p:cNvPr id="4" name="object 4"/>
            <p:cNvSpPr/>
            <p:nvPr/>
          </p:nvSpPr>
          <p:spPr>
            <a:xfrm>
              <a:off x="2736924" y="1017724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6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6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6924" y="1017724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6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6"/>
                  </a:lnTo>
                  <a:lnTo>
                    <a:pt x="0" y="186153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60478" y="1888291"/>
            <a:ext cx="13047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"/>
                <a:cs typeface="Arial"/>
              </a:rPr>
              <a:t>Metadata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23832" y="3176799"/>
            <a:ext cx="8178800" cy="1540087"/>
            <a:chOff x="2717874" y="2382599"/>
            <a:chExt cx="6134100" cy="1155065"/>
          </a:xfrm>
        </p:grpSpPr>
        <p:sp>
          <p:nvSpPr>
            <p:cNvPr id="8" name="object 8"/>
            <p:cNvSpPr/>
            <p:nvPr/>
          </p:nvSpPr>
          <p:spPr>
            <a:xfrm>
              <a:off x="2736924" y="2401649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36924" y="2401649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close/>
                </a:path>
              </a:pathLst>
            </a:custGeom>
            <a:ln w="3809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13633" y="3733524"/>
            <a:ext cx="1996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Included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36532" y="5034734"/>
            <a:ext cx="8153400" cy="1514687"/>
            <a:chOff x="2727399" y="3776050"/>
            <a:chExt cx="6115050" cy="1136015"/>
          </a:xfrm>
        </p:grpSpPr>
        <p:sp>
          <p:nvSpPr>
            <p:cNvPr id="12" name="object 12"/>
            <p:cNvSpPr/>
            <p:nvPr/>
          </p:nvSpPr>
          <p:spPr>
            <a:xfrm>
              <a:off x="2736924" y="3785575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2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36924" y="3785575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2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30006" y="5578757"/>
            <a:ext cx="19651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Excluded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92" y="1356967"/>
            <a:ext cx="1506328" cy="141502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06450" y="3202198"/>
            <a:ext cx="2808393" cy="1489287"/>
            <a:chOff x="454837" y="2401648"/>
            <a:chExt cx="2106295" cy="111696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37" y="2401649"/>
              <a:ext cx="1116924" cy="11168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3712" y="2401648"/>
              <a:ext cx="1116925" cy="11169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06450" y="5047433"/>
            <a:ext cx="2808393" cy="1489287"/>
            <a:chOff x="454837" y="3785574"/>
            <a:chExt cx="2106295" cy="111696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37" y="3785574"/>
              <a:ext cx="1116924" cy="11168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3712" y="3785574"/>
              <a:ext cx="1116925" cy="11169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370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487951" y="653424"/>
                  </a:move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0370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0" y="154405"/>
                  </a:move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795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487951" y="653424"/>
                  </a:move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8795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0" y="154405"/>
                  </a:move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2D5C16-8800-4237-B1CA-EC9C62FA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the text: Included data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210B53D-33C9-446A-81C1-32BD45A3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object 7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>
              <a:spcBef>
                <a:spcPts val="133"/>
              </a:spcBef>
            </a:pPr>
            <a:r>
              <a:rPr lang="en-US" sz="2400" b="1" spc="-13">
                <a:latin typeface="Arial"/>
                <a:cs typeface="Arial"/>
              </a:rPr>
              <a:t>Machine-</a:t>
            </a:r>
            <a:r>
              <a:rPr lang="en-US" sz="2400" b="1">
                <a:latin typeface="Arial"/>
                <a:cs typeface="Arial"/>
              </a:rPr>
              <a:t>generated</a:t>
            </a:r>
            <a:r>
              <a:rPr lang="en-US" sz="2400" b="1" spc="-7">
                <a:latin typeface="Arial"/>
                <a:cs typeface="Arial"/>
              </a:rPr>
              <a:t> </a:t>
            </a:r>
            <a:r>
              <a:rPr lang="en-US" sz="2400" b="1" spc="-27">
                <a:latin typeface="Arial"/>
                <a:cs typeface="Arial"/>
              </a:rPr>
              <a:t>Text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1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close/>
              </a:path>
            </a:pathLst>
          </a:custGeom>
          <a:ln w="380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en-US" sz="2400">
                <a:latin typeface="Arial"/>
                <a:cs typeface="Arial"/>
              </a:rPr>
              <a:t>Benchmark</a:t>
            </a:r>
            <a:r>
              <a:rPr lang="en-US" sz="2400" spc="-7">
                <a:latin typeface="Arial"/>
                <a:cs typeface="Arial"/>
              </a:rPr>
              <a:t> </a:t>
            </a:r>
            <a:r>
              <a:rPr lang="en-US" sz="2400" spc="-13">
                <a:latin typeface="Arial"/>
                <a:cs typeface="Arial"/>
              </a:rPr>
              <a:t>Contamination</a:t>
            </a:r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34EAB544-0996-4A0C-A4B0-95A68B4A6D88}"/>
              </a:ext>
            </a:extLst>
          </p:cNvPr>
          <p:cNvSpPr/>
          <p:nvPr/>
        </p:nvSpPr>
        <p:spPr>
          <a:xfrm>
            <a:off x="2459566" y="460147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en-US" sz="2400" dirty="0">
                <a:latin typeface="Arial"/>
                <a:cs typeface="Arial"/>
              </a:rPr>
              <a:t>Demographic Biases</a:t>
            </a:r>
          </a:p>
        </p:txBody>
      </p:sp>
      <p:sp>
        <p:nvSpPr>
          <p:cNvPr id="26" name="object 10">
            <a:extLst>
              <a:ext uri="{FF2B5EF4-FFF2-40B4-BE49-F238E27FC236}">
                <a16:creationId xmlns:a16="http://schemas.microsoft.com/office/drawing/2014/main" id="{07C97D90-5538-48EA-93C0-65EE786B6F3F}"/>
              </a:ext>
            </a:extLst>
          </p:cNvPr>
          <p:cNvSpPr/>
          <p:nvPr/>
        </p:nvSpPr>
        <p:spPr>
          <a:xfrm>
            <a:off x="2459566" y="460147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601697" y="1390069"/>
            <a:ext cx="299042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13" dirty="0">
                <a:latin typeface="Arial"/>
                <a:cs typeface="Arial"/>
              </a:rPr>
              <a:t>patents.google.com</a:t>
            </a:r>
            <a:endParaRPr sz="2667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734" y="1890568"/>
            <a:ext cx="8714533" cy="89646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8A51B43D-CA69-4C03-AE5B-ADFCA005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pPr marL="0"/>
            <a:r>
              <a:rPr lang="en-US" dirty="0"/>
              <a:t>Included data: Machine-generated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241F9-8C95-4D69-B4EC-B4D56307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1697" y="1390069"/>
            <a:ext cx="299042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13" dirty="0">
                <a:latin typeface="Arial"/>
                <a:cs typeface="Arial"/>
              </a:rPr>
              <a:t>patents.google.com</a:t>
            </a:r>
            <a:endParaRPr sz="2667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866" y="4420167"/>
            <a:ext cx="5438477" cy="16131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7795" y="3984711"/>
            <a:ext cx="47633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Filing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dates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for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patents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about</a:t>
            </a:r>
            <a:r>
              <a:rPr sz="1867" spc="-13" dirty="0">
                <a:latin typeface="Arial"/>
                <a:cs typeface="Arial"/>
              </a:rPr>
              <a:t> “gramophones”</a:t>
            </a:r>
            <a:endParaRPr sz="1867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8734" y="1890568"/>
            <a:ext cx="8714533" cy="8964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Included</a:t>
            </a:r>
            <a:r>
              <a:rPr spc="-40" dirty="0"/>
              <a:t> </a:t>
            </a:r>
            <a:r>
              <a:rPr dirty="0"/>
              <a:t>data:</a:t>
            </a:r>
            <a:r>
              <a:rPr spc="-27" dirty="0"/>
              <a:t> </a:t>
            </a:r>
            <a:r>
              <a:rPr spc="-13" dirty="0"/>
              <a:t>Machine-</a:t>
            </a:r>
            <a:r>
              <a:rPr dirty="0"/>
              <a:t>generated</a:t>
            </a:r>
            <a:r>
              <a:rPr spc="-20" dirty="0"/>
              <a:t> </a:t>
            </a:r>
            <a:r>
              <a:rPr spc="-27" dirty="0"/>
              <a:t>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593338-8757-4C16-A366-ACD05410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1697" y="1390069"/>
            <a:ext cx="299042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13" dirty="0">
                <a:latin typeface="Arial"/>
                <a:cs typeface="Arial"/>
              </a:rPr>
              <a:t>patents.google.com</a:t>
            </a:r>
            <a:endParaRPr sz="2667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866" y="4420167"/>
            <a:ext cx="5438477" cy="16131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7795" y="3281013"/>
            <a:ext cx="4763347" cy="1018292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algn="ctr">
              <a:spcBef>
                <a:spcPts val="1440"/>
              </a:spcBef>
            </a:pPr>
            <a:r>
              <a:rPr sz="2800" b="1" dirty="0">
                <a:solidFill>
                  <a:srgbClr val="CC0000"/>
                </a:solidFill>
                <a:latin typeface="Arial"/>
                <a:cs typeface="Arial"/>
              </a:rPr>
              <a:t>Scanned</a:t>
            </a:r>
            <a:r>
              <a:rPr sz="2800" b="1" spc="-4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C0000"/>
                </a:solidFill>
                <a:latin typeface="Arial"/>
                <a:cs typeface="Arial"/>
              </a:rPr>
              <a:t>used</a:t>
            </a:r>
            <a:r>
              <a:rPr sz="2800" b="1" spc="-33" dirty="0">
                <a:solidFill>
                  <a:srgbClr val="CC0000"/>
                </a:solidFill>
                <a:latin typeface="Arial"/>
                <a:cs typeface="Arial"/>
              </a:rPr>
              <a:t> OCR</a:t>
            </a:r>
            <a:endParaRPr sz="2800">
              <a:latin typeface="Arial"/>
              <a:cs typeface="Arial"/>
            </a:endParaRPr>
          </a:p>
          <a:p>
            <a:pPr algn="ctr">
              <a:spcBef>
                <a:spcPts val="873"/>
              </a:spcBef>
            </a:pPr>
            <a:r>
              <a:rPr sz="1867" dirty="0">
                <a:latin typeface="Arial"/>
                <a:cs typeface="Arial"/>
              </a:rPr>
              <a:t>Filing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dates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for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patents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about</a:t>
            </a:r>
            <a:r>
              <a:rPr sz="1867" spc="-13" dirty="0">
                <a:latin typeface="Arial"/>
                <a:cs typeface="Arial"/>
              </a:rPr>
              <a:t> “gramophones”</a:t>
            </a:r>
            <a:endParaRPr sz="1867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8734" y="1942717"/>
            <a:ext cx="8714533" cy="8964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Included</a:t>
            </a:r>
            <a:r>
              <a:rPr spc="-40" dirty="0"/>
              <a:t> </a:t>
            </a:r>
            <a:r>
              <a:rPr dirty="0"/>
              <a:t>data:</a:t>
            </a:r>
            <a:r>
              <a:rPr spc="-27" dirty="0"/>
              <a:t> </a:t>
            </a:r>
            <a:r>
              <a:rPr spc="-13" dirty="0"/>
              <a:t>Machine-</a:t>
            </a:r>
            <a:r>
              <a:rPr dirty="0"/>
              <a:t>generated</a:t>
            </a:r>
            <a:r>
              <a:rPr spc="-20" dirty="0"/>
              <a:t> </a:t>
            </a:r>
            <a:r>
              <a:rPr spc="-27" dirty="0"/>
              <a:t>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10B7FB-10CF-4440-ACB0-35D3E752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1697" y="1390069"/>
            <a:ext cx="299042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13" dirty="0">
                <a:latin typeface="Arial"/>
                <a:cs typeface="Arial"/>
              </a:rPr>
              <a:t>patents.google.com</a:t>
            </a:r>
            <a:endParaRPr sz="2667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734" y="1890568"/>
            <a:ext cx="8714535" cy="2054433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C26FFA-4AA4-4575-92C2-F0528F156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E6439F3-9465-445B-880B-110B9E5D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Included</a:t>
            </a:r>
            <a:r>
              <a:rPr lang="en-US" spc="-40" dirty="0"/>
              <a:t> </a:t>
            </a:r>
            <a:r>
              <a:rPr lang="en-US" dirty="0"/>
              <a:t>data:</a:t>
            </a:r>
            <a:r>
              <a:rPr lang="en-US" spc="-27" dirty="0"/>
              <a:t> </a:t>
            </a:r>
            <a:r>
              <a:rPr lang="en-US" spc="-13" dirty="0"/>
              <a:t>Machine-</a:t>
            </a:r>
            <a:r>
              <a:rPr lang="en-US" dirty="0"/>
              <a:t>generated</a:t>
            </a:r>
            <a:r>
              <a:rPr lang="en-US" spc="-20" dirty="0"/>
              <a:t> </a:t>
            </a:r>
            <a:r>
              <a:rPr lang="en-US" spc="-27" dirty="0"/>
              <a:t>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6878A-9C8E-4619-8D18-C6A52836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1697" y="1390069"/>
            <a:ext cx="299042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-13" dirty="0">
                <a:latin typeface="Arial"/>
                <a:cs typeface="Arial"/>
              </a:rPr>
              <a:t>patents.google.com</a:t>
            </a:r>
            <a:endParaRPr sz="2667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33099" y="1890567"/>
            <a:ext cx="9126220" cy="2848187"/>
            <a:chOff x="1149824" y="1417925"/>
            <a:chExt cx="6844665" cy="21361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050" y="1417925"/>
              <a:ext cx="6535901" cy="15408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59349" y="2053500"/>
              <a:ext cx="6825615" cy="1036955"/>
            </a:xfrm>
            <a:custGeom>
              <a:avLst/>
              <a:gdLst/>
              <a:ahLst/>
              <a:cxnLst/>
              <a:rect l="l" t="t" r="r" b="b"/>
              <a:pathLst>
                <a:path w="6825615" h="1036955">
                  <a:moveTo>
                    <a:pt x="0" y="0"/>
                  </a:moveTo>
                  <a:lnTo>
                    <a:pt x="6825299" y="0"/>
                  </a:lnTo>
                  <a:lnTo>
                    <a:pt x="6825299" y="1036499"/>
                  </a:lnTo>
                  <a:lnTo>
                    <a:pt x="0" y="1036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1999" y="3204312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h="349250">
                  <a:moveTo>
                    <a:pt x="0" y="349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1009" y="3108336"/>
              <a:ext cx="81980" cy="105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468537" y="4760299"/>
            <a:ext cx="3252047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b="1" dirty="0">
                <a:solidFill>
                  <a:srgbClr val="CC0000"/>
                </a:solidFill>
                <a:latin typeface="Arial"/>
                <a:cs typeface="Arial"/>
              </a:rPr>
              <a:t>Machine</a:t>
            </a:r>
            <a:r>
              <a:rPr sz="2800" b="1" spc="-6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800" b="1" spc="-13" dirty="0">
                <a:solidFill>
                  <a:srgbClr val="CC0000"/>
                </a:solidFill>
                <a:latin typeface="Arial"/>
                <a:cs typeface="Arial"/>
              </a:rPr>
              <a:t>translated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679C27C-3BAC-42AD-8192-6209505F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Included</a:t>
            </a:r>
            <a:r>
              <a:rPr lang="en-US" spc="-40" dirty="0"/>
              <a:t> </a:t>
            </a:r>
            <a:r>
              <a:rPr lang="en-US" dirty="0"/>
              <a:t>data:</a:t>
            </a:r>
            <a:r>
              <a:rPr lang="en-US" spc="-27" dirty="0"/>
              <a:t> </a:t>
            </a:r>
            <a:r>
              <a:rPr lang="en-US" spc="-13" dirty="0"/>
              <a:t>Machine-</a:t>
            </a:r>
            <a:r>
              <a:rPr lang="en-US" dirty="0"/>
              <a:t>generated</a:t>
            </a:r>
            <a:r>
              <a:rPr lang="en-US" spc="-20" dirty="0"/>
              <a:t> </a:t>
            </a:r>
            <a:r>
              <a:rPr lang="en-US" spc="-27" dirty="0"/>
              <a:t>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8C1FC5-F29B-445E-BB4C-D6215C14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48467" y="2187649"/>
            <a:ext cx="74422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spc="-33" dirty="0">
                <a:latin typeface="Arial"/>
                <a:cs typeface="Arial"/>
              </a:rPr>
              <a:t>PDF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4048" y="4229483"/>
            <a:ext cx="1731433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dirty="0">
                <a:latin typeface="Arial"/>
                <a:cs typeface="Arial"/>
              </a:rPr>
              <a:t>Patent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7" dirty="0">
                <a:latin typeface="Arial"/>
                <a:cs typeface="Arial"/>
              </a:rPr>
              <a:t>text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2767" y="4160182"/>
            <a:ext cx="8663940" cy="36597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267" dirty="0">
                <a:latin typeface="Arial"/>
                <a:cs typeface="Arial"/>
              </a:rPr>
              <a:t>“here</a:t>
            </a:r>
            <a:r>
              <a:rPr sz="2267" spc="500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is</a:t>
            </a:r>
            <a:r>
              <a:rPr sz="2267" spc="51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a</a:t>
            </a:r>
            <a:r>
              <a:rPr sz="2267" spc="51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kind</a:t>
            </a:r>
            <a:r>
              <a:rPr sz="2267" spc="51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of</a:t>
            </a:r>
            <a:r>
              <a:rPr sz="2267" spc="50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like</a:t>
            </a:r>
            <a:r>
              <a:rPr sz="2267" spc="520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this</a:t>
            </a:r>
            <a:r>
              <a:rPr sz="2267" spc="51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method,</a:t>
            </a:r>
            <a:r>
              <a:rPr sz="2267" spc="50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promptly</a:t>
            </a:r>
            <a:r>
              <a:rPr sz="2267" spc="51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by</a:t>
            </a:r>
            <a:r>
              <a:rPr sz="2267" spc="51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come</a:t>
            </a:r>
            <a:r>
              <a:rPr sz="2267" spc="51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the</a:t>
            </a:r>
            <a:r>
              <a:rPr sz="2267" spc="52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raise</a:t>
            </a:r>
            <a:endParaRPr sz="22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755" y="4505622"/>
            <a:ext cx="11541760" cy="7148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857429" marR="40639" indent="-2807476">
              <a:spcBef>
                <a:spcPts val="133"/>
              </a:spcBef>
            </a:pPr>
            <a:r>
              <a:rPr sz="3000" baseline="-25925" dirty="0">
                <a:latin typeface="Arial"/>
                <a:cs typeface="Arial"/>
              </a:rPr>
              <a:t>(not</a:t>
            </a:r>
            <a:r>
              <a:rPr sz="3000" spc="-40" baseline="-25925" dirty="0">
                <a:latin typeface="Arial"/>
                <a:cs typeface="Arial"/>
              </a:rPr>
              <a:t> </a:t>
            </a:r>
            <a:r>
              <a:rPr sz="3000" baseline="-25925" dirty="0">
                <a:latin typeface="Arial"/>
                <a:cs typeface="Arial"/>
              </a:rPr>
              <a:t>aligned</a:t>
            </a:r>
            <a:r>
              <a:rPr sz="3000" spc="-29" baseline="-25925" dirty="0">
                <a:latin typeface="Arial"/>
                <a:cs typeface="Arial"/>
              </a:rPr>
              <a:t> </a:t>
            </a:r>
            <a:r>
              <a:rPr sz="3000" baseline="-25925" dirty="0">
                <a:latin typeface="Arial"/>
                <a:cs typeface="Arial"/>
              </a:rPr>
              <a:t>with</a:t>
            </a:r>
            <a:r>
              <a:rPr sz="3000" spc="-29" baseline="-25925" dirty="0">
                <a:latin typeface="Arial"/>
                <a:cs typeface="Arial"/>
              </a:rPr>
              <a:t> </a:t>
            </a:r>
            <a:r>
              <a:rPr sz="3000" baseline="-25925" dirty="0">
                <a:latin typeface="Arial"/>
                <a:cs typeface="Arial"/>
              </a:rPr>
              <a:t>above)</a:t>
            </a:r>
            <a:r>
              <a:rPr sz="3000" spc="440" baseline="-25925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threshold</a:t>
            </a:r>
            <a:r>
              <a:rPr sz="2267" spc="43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voltage</a:t>
            </a:r>
            <a:r>
              <a:rPr sz="2267" spc="4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of</a:t>
            </a:r>
            <a:r>
              <a:rPr sz="2267" spc="43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marginal</a:t>
            </a:r>
            <a:r>
              <a:rPr sz="2267" spc="4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portion</a:t>
            </a:r>
            <a:r>
              <a:rPr sz="2267" spc="43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of</a:t>
            </a:r>
            <a:r>
              <a:rPr sz="2267" spc="4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semiconductor</a:t>
            </a:r>
            <a:r>
              <a:rPr sz="2267" spc="43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device</a:t>
            </a:r>
            <a:r>
              <a:rPr sz="2267" spc="433" dirty="0">
                <a:latin typeface="Arial"/>
                <a:cs typeface="Arial"/>
              </a:rPr>
              <a:t> </a:t>
            </a:r>
            <a:r>
              <a:rPr sz="2267" spc="-33" dirty="0">
                <a:latin typeface="Arial"/>
                <a:cs typeface="Arial"/>
              </a:rPr>
              <a:t>of </a:t>
            </a:r>
            <a:r>
              <a:rPr sz="2267" dirty="0">
                <a:latin typeface="Arial"/>
                <a:cs typeface="Arial"/>
              </a:rPr>
              <a:t>implant</a:t>
            </a:r>
            <a:r>
              <a:rPr sz="2267" spc="-40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impurity</a:t>
            </a:r>
            <a:r>
              <a:rPr sz="2267" spc="-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ion</a:t>
            </a:r>
            <a:r>
              <a:rPr sz="2267" spc="-20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from</a:t>
            </a:r>
            <a:r>
              <a:rPr sz="2267" spc="-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groove</a:t>
            </a:r>
            <a:r>
              <a:rPr sz="2267" spc="-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side</a:t>
            </a:r>
            <a:r>
              <a:rPr sz="2267" spc="-20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surface”</a:t>
            </a:r>
            <a:endParaRPr sz="22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2767" y="5541942"/>
            <a:ext cx="8663940" cy="36597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069313" algn="l"/>
                <a:tab pos="1802508" algn="l"/>
                <a:tab pos="2854889" algn="l"/>
                <a:tab pos="4467748" algn="l"/>
                <a:tab pos="5344872" algn="l"/>
                <a:tab pos="6606375" algn="l"/>
                <a:tab pos="7066950" algn="l"/>
                <a:tab pos="7687541" algn="l"/>
              </a:tabLst>
            </a:pPr>
            <a:r>
              <a:rPr sz="2267" spc="-13" dirty="0">
                <a:latin typeface="Arial"/>
                <a:cs typeface="Arial"/>
              </a:rPr>
              <a:t>“Along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27" dirty="0">
                <a:latin typeface="Arial"/>
                <a:cs typeface="Arial"/>
              </a:rPr>
              <a:t>with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13" dirty="0">
                <a:latin typeface="Arial"/>
                <a:cs typeface="Arial"/>
              </a:rPr>
              <a:t>further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13" dirty="0">
                <a:latin typeface="Arial"/>
                <a:cs typeface="Arial"/>
              </a:rPr>
              <a:t>description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13" dirty="0">
                <a:latin typeface="Arial"/>
                <a:cs typeface="Arial"/>
              </a:rPr>
              <a:t>other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13" dirty="0">
                <a:latin typeface="Arial"/>
                <a:cs typeface="Arial"/>
              </a:rPr>
              <a:t>purpose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33" dirty="0">
                <a:latin typeface="Arial"/>
                <a:cs typeface="Arial"/>
              </a:rPr>
              <a:t>of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33" dirty="0">
                <a:latin typeface="Arial"/>
                <a:cs typeface="Arial"/>
              </a:rPr>
              <a:t>the</a:t>
            </a:r>
            <a:r>
              <a:rPr sz="2267" dirty="0">
                <a:latin typeface="Arial"/>
                <a:cs typeface="Arial"/>
              </a:rPr>
              <a:t>	</a:t>
            </a:r>
            <a:r>
              <a:rPr sz="2267" spc="-13" dirty="0">
                <a:latin typeface="Arial"/>
                <a:cs typeface="Arial"/>
              </a:rPr>
              <a:t>present</a:t>
            </a:r>
            <a:endParaRPr sz="22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4517" y="5804451"/>
            <a:ext cx="10384367" cy="801203"/>
          </a:xfrm>
          <a:prstGeom prst="rect">
            <a:avLst/>
          </a:prstGeom>
        </p:spPr>
        <p:txBody>
          <a:bodyPr vert="horz" wrap="square" lIns="0" tIns="99907" rIns="0" bIns="0" rtlCol="0">
            <a:spAutoFit/>
          </a:bodyPr>
          <a:lstStyle/>
          <a:p>
            <a:pPr marL="28786" algn="ctr">
              <a:spcBef>
                <a:spcPts val="787"/>
              </a:spcBef>
            </a:pPr>
            <a:r>
              <a:rPr sz="2267" dirty="0">
                <a:latin typeface="Arial"/>
                <a:cs typeface="Arial"/>
              </a:rPr>
              <a:t>invention</a:t>
            </a:r>
            <a:r>
              <a:rPr sz="2267" spc="-4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also</a:t>
            </a:r>
            <a:r>
              <a:rPr sz="2267" spc="-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can</a:t>
            </a:r>
            <a:r>
              <a:rPr sz="2267" spc="-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become</a:t>
            </a:r>
            <a:r>
              <a:rPr sz="2267" spc="-33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cheer</a:t>
            </a:r>
            <a:r>
              <a:rPr sz="2267" spc="-27" dirty="0">
                <a:latin typeface="Arial"/>
                <a:cs typeface="Arial"/>
              </a:rPr>
              <a:t> </a:t>
            </a:r>
            <a:r>
              <a:rPr sz="2267" dirty="0">
                <a:latin typeface="Arial"/>
                <a:cs typeface="Arial"/>
              </a:rPr>
              <a:t>and</a:t>
            </a:r>
            <a:r>
              <a:rPr sz="2267" spc="-27" dirty="0">
                <a:latin typeface="Arial"/>
                <a:cs typeface="Arial"/>
              </a:rPr>
              <a:t> </a:t>
            </a:r>
            <a:r>
              <a:rPr sz="2267" spc="-13" dirty="0">
                <a:latin typeface="Arial"/>
                <a:cs typeface="Arial"/>
              </a:rPr>
              <a:t>bright”</a:t>
            </a:r>
            <a:endParaRPr sz="2267" dirty="0">
              <a:latin typeface="Arial"/>
              <a:cs typeface="Arial"/>
            </a:endParaRPr>
          </a:p>
          <a:p>
            <a:pPr algn="ctr">
              <a:spcBef>
                <a:spcPts val="533"/>
              </a:spcBef>
            </a:pPr>
            <a:r>
              <a:rPr sz="1867" dirty="0">
                <a:latin typeface="Arial"/>
                <a:cs typeface="Arial"/>
              </a:rPr>
              <a:t>Source: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https://patentimages.storage.googleapis.com/0c/21/16/3b2ad21579ae2a/CN1199926A.pdf</a:t>
            </a:r>
            <a:endParaRPr sz="1867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93900" y="1237734"/>
            <a:ext cx="8773160" cy="2645833"/>
            <a:chOff x="2470425" y="928300"/>
            <a:chExt cx="6579870" cy="19843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5431" y="1033307"/>
              <a:ext cx="6318330" cy="17324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484712" y="942587"/>
              <a:ext cx="6551295" cy="1955800"/>
            </a:xfrm>
            <a:custGeom>
              <a:avLst/>
              <a:gdLst/>
              <a:ahLst/>
              <a:cxnLst/>
              <a:rect l="l" t="t" r="r" b="b"/>
              <a:pathLst>
                <a:path w="6551295" h="1955800">
                  <a:moveTo>
                    <a:pt x="0" y="0"/>
                  </a:moveTo>
                  <a:lnTo>
                    <a:pt x="6550722" y="0"/>
                  </a:lnTo>
                  <a:lnTo>
                    <a:pt x="6550722" y="1955303"/>
                  </a:lnTo>
                  <a:lnTo>
                    <a:pt x="0" y="195530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0926E109-2433-480A-9D1E-CD741E0B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Included</a:t>
            </a:r>
            <a:r>
              <a:rPr lang="en-US" spc="-40" dirty="0"/>
              <a:t> </a:t>
            </a:r>
            <a:r>
              <a:rPr lang="en-US" dirty="0"/>
              <a:t>data:</a:t>
            </a:r>
            <a:r>
              <a:rPr lang="en-US" spc="-27" dirty="0"/>
              <a:t> </a:t>
            </a:r>
            <a:r>
              <a:rPr lang="en-US" spc="-13" dirty="0"/>
              <a:t>Machine-</a:t>
            </a:r>
            <a:r>
              <a:rPr lang="en-US" dirty="0"/>
              <a:t>generated</a:t>
            </a:r>
            <a:r>
              <a:rPr lang="en-US" spc="-20" dirty="0"/>
              <a:t> </a:t>
            </a:r>
            <a:r>
              <a:rPr lang="en-US" spc="-27" dirty="0"/>
              <a:t>text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349CFB-1E68-40E5-86D2-1C5C7A0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60167-4931-47E6-BA6A-407CBD079E47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8513527-04A9-4B85-98FC-DE5638820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b="1" dirty="0"/>
              <a:t>How machine-generated text detected in C4?</a:t>
            </a:r>
          </a:p>
          <a:p>
            <a:pPr lvl="1"/>
            <a:r>
              <a:rPr lang="en-US" dirty="0"/>
              <a:t>Most represented domain = patents.google.com</a:t>
            </a:r>
          </a:p>
          <a:p>
            <a:pPr lvl="1"/>
            <a:r>
              <a:rPr lang="en-US" dirty="0"/>
              <a:t>Non-trivial number of patents not natively in </a:t>
            </a:r>
            <a:r>
              <a:rPr lang="en-US" dirty="0" err="1"/>
              <a:t>english</a:t>
            </a:r>
            <a:r>
              <a:rPr lang="en-US" dirty="0"/>
              <a:t> → machine translated</a:t>
            </a:r>
          </a:p>
          <a:p>
            <a:pPr lvl="1"/>
            <a:r>
              <a:rPr lang="en-US" dirty="0"/>
              <a:t>Old patents → not native digital documents → OCR to convert to digital format</a:t>
            </a:r>
          </a:p>
          <a:p>
            <a:endParaRPr lang="en-US" dirty="0"/>
          </a:p>
          <a:p>
            <a:r>
              <a:rPr lang="en-US" b="1" dirty="0"/>
              <a:t>Potential outcomes:</a:t>
            </a:r>
          </a:p>
          <a:p>
            <a:pPr lvl="1"/>
            <a:r>
              <a:rPr lang="en-US" dirty="0"/>
              <a:t>Poor quality machine translation and OCR ⇒ model trained on text that is a poor representation of natural language</a:t>
            </a: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700" y="189293"/>
            <a:ext cx="11658600" cy="632651"/>
          </a:xfr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8D3F45-72CC-484B-94A7-6FA11212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2D5C16-8800-4237-B1CA-EC9C62FA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the text: Included data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210B53D-33C9-446A-81C1-32BD45A3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object 7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>
              <a:spcBef>
                <a:spcPts val="133"/>
              </a:spcBef>
            </a:pPr>
            <a:r>
              <a:rPr lang="en-US" sz="2400" spc="-13" dirty="0">
                <a:latin typeface="Arial"/>
                <a:cs typeface="Arial"/>
              </a:rPr>
              <a:t>Machine-</a:t>
            </a:r>
            <a:r>
              <a:rPr lang="en-US" sz="2400" dirty="0">
                <a:latin typeface="Arial"/>
                <a:cs typeface="Arial"/>
              </a:rPr>
              <a:t>generated</a:t>
            </a:r>
            <a:r>
              <a:rPr lang="en-US" sz="2400" spc="-7" dirty="0">
                <a:latin typeface="Arial"/>
                <a:cs typeface="Arial"/>
              </a:rPr>
              <a:t> </a:t>
            </a:r>
            <a:r>
              <a:rPr lang="en-US" sz="2400" spc="-27" dirty="0">
                <a:latin typeface="Arial"/>
                <a:cs typeface="Arial"/>
              </a:rPr>
              <a:t>Text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1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 anchor="ctr" anchorCtr="0"/>
          <a:lstStyle/>
          <a:p>
            <a:pPr algn="ctr"/>
            <a:r>
              <a:rPr lang="en-US" sz="2400" b="1" dirty="0">
                <a:latin typeface="Arial"/>
                <a:cs typeface="Arial"/>
              </a:rPr>
              <a:t>Benchmark</a:t>
            </a:r>
            <a:r>
              <a:rPr lang="en-US" sz="2400" b="1" spc="-7" dirty="0">
                <a:latin typeface="Arial"/>
                <a:cs typeface="Arial"/>
              </a:rPr>
              <a:t> </a:t>
            </a:r>
            <a:r>
              <a:rPr lang="en-US" sz="2400" b="1" spc="-13" dirty="0">
                <a:latin typeface="Arial"/>
                <a:cs typeface="Arial"/>
              </a:rPr>
              <a:t>Contamination</a:t>
            </a:r>
            <a:endParaRPr sz="2400" b="1" dirty="0"/>
          </a:p>
        </p:txBody>
      </p:sp>
      <p:sp>
        <p:nvSpPr>
          <p:cNvPr id="10" name="object 10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34EAB544-0996-4A0C-A4B0-95A68B4A6D88}"/>
              </a:ext>
            </a:extLst>
          </p:cNvPr>
          <p:cNvSpPr/>
          <p:nvPr/>
        </p:nvSpPr>
        <p:spPr>
          <a:xfrm>
            <a:off x="2459566" y="460147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en-US" sz="2400" dirty="0">
                <a:latin typeface="Arial"/>
                <a:cs typeface="Arial"/>
              </a:rPr>
              <a:t>Demographic Biases</a:t>
            </a:r>
          </a:p>
        </p:txBody>
      </p:sp>
      <p:sp>
        <p:nvSpPr>
          <p:cNvPr id="26" name="object 10">
            <a:extLst>
              <a:ext uri="{FF2B5EF4-FFF2-40B4-BE49-F238E27FC236}">
                <a16:creationId xmlns:a16="http://schemas.microsoft.com/office/drawing/2014/main" id="{07C97D90-5538-48EA-93C0-65EE786B6F3F}"/>
              </a:ext>
            </a:extLst>
          </p:cNvPr>
          <p:cNvSpPr/>
          <p:nvPr/>
        </p:nvSpPr>
        <p:spPr>
          <a:xfrm>
            <a:off x="2459566" y="460147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7249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70D1317-20A1-4FB0-8E37-4CF0D0AC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How can datasets end up in snapshots of the Common Crawl?</a:t>
            </a:r>
          </a:p>
          <a:p>
            <a:pPr lvl="1"/>
            <a:r>
              <a:rPr lang="en-US" dirty="0"/>
              <a:t>Dataset is built from text on the web, such as the IMDB dataset and the CNN/</a:t>
            </a:r>
            <a:r>
              <a:rPr lang="en-US" dirty="0" err="1"/>
              <a:t>DailyMail</a:t>
            </a:r>
            <a:r>
              <a:rPr lang="en-US" dirty="0"/>
              <a:t> summarization dataset</a:t>
            </a:r>
          </a:p>
          <a:p>
            <a:pPr lvl="1"/>
            <a:r>
              <a:rPr lang="en-US" dirty="0"/>
              <a:t>It is uploaded after creation (e.g., to a </a:t>
            </a:r>
            <a:r>
              <a:rPr lang="en-US" dirty="0" err="1"/>
              <a:t>github</a:t>
            </a:r>
            <a:r>
              <a:rPr lang="en-US" dirty="0"/>
              <a:t> repository, for easy access).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Included data: Benchmark contamination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412986-BD59-44B5-86C7-078F5EA5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Included</a:t>
            </a:r>
            <a:r>
              <a:rPr spc="-40" dirty="0"/>
              <a:t> </a:t>
            </a:r>
            <a:r>
              <a:rPr dirty="0"/>
              <a:t>data:</a:t>
            </a:r>
            <a:r>
              <a:rPr spc="-27" dirty="0"/>
              <a:t> </a:t>
            </a:r>
            <a:r>
              <a:rPr dirty="0"/>
              <a:t>Benchmark</a:t>
            </a:r>
            <a:r>
              <a:rPr spc="-20" dirty="0"/>
              <a:t> </a:t>
            </a:r>
            <a:r>
              <a:rPr spc="-13" dirty="0"/>
              <a:t>contamination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A961584-F285-4011-A567-2CACE3E1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40</a:t>
            </a:fld>
            <a:endParaRPr lang="en-US" dirty="0"/>
          </a:p>
        </p:txBody>
      </p:sp>
      <p:grpSp>
        <p:nvGrpSpPr>
          <p:cNvPr id="3" name="object 3"/>
          <p:cNvGrpSpPr/>
          <p:nvPr/>
        </p:nvGrpSpPr>
        <p:grpSpPr>
          <a:xfrm>
            <a:off x="1045850" y="1524249"/>
            <a:ext cx="10100733" cy="1454573"/>
            <a:chOff x="784387" y="1486087"/>
            <a:chExt cx="7575550" cy="1090930"/>
          </a:xfrm>
        </p:grpSpPr>
        <p:sp>
          <p:nvSpPr>
            <p:cNvPr id="4" name="object 4"/>
            <p:cNvSpPr/>
            <p:nvPr/>
          </p:nvSpPr>
          <p:spPr>
            <a:xfrm>
              <a:off x="789149" y="1490849"/>
              <a:ext cx="7566025" cy="1081405"/>
            </a:xfrm>
            <a:custGeom>
              <a:avLst/>
              <a:gdLst/>
              <a:ahLst/>
              <a:cxnLst/>
              <a:rect l="l" t="t" r="r" b="b"/>
              <a:pathLst>
                <a:path w="7566025" h="1081405">
                  <a:moveTo>
                    <a:pt x="7385545" y="1080899"/>
                  </a:moveTo>
                  <a:lnTo>
                    <a:pt x="180153" y="1080899"/>
                  </a:lnTo>
                  <a:lnTo>
                    <a:pt x="132261" y="1074464"/>
                  </a:lnTo>
                  <a:lnTo>
                    <a:pt x="89226" y="1056303"/>
                  </a:lnTo>
                  <a:lnTo>
                    <a:pt x="52765" y="1028134"/>
                  </a:lnTo>
                  <a:lnTo>
                    <a:pt x="24596" y="991673"/>
                  </a:lnTo>
                  <a:lnTo>
                    <a:pt x="6435" y="948638"/>
                  </a:lnTo>
                  <a:lnTo>
                    <a:pt x="0" y="900746"/>
                  </a:lnTo>
                  <a:lnTo>
                    <a:pt x="0" y="180153"/>
                  </a:lnTo>
                  <a:lnTo>
                    <a:pt x="6435" y="132261"/>
                  </a:lnTo>
                  <a:lnTo>
                    <a:pt x="24596" y="89226"/>
                  </a:lnTo>
                  <a:lnTo>
                    <a:pt x="52765" y="52765"/>
                  </a:lnTo>
                  <a:lnTo>
                    <a:pt x="89226" y="24596"/>
                  </a:lnTo>
                  <a:lnTo>
                    <a:pt x="132261" y="6435"/>
                  </a:lnTo>
                  <a:lnTo>
                    <a:pt x="180153" y="0"/>
                  </a:lnTo>
                  <a:lnTo>
                    <a:pt x="7385545" y="0"/>
                  </a:lnTo>
                  <a:lnTo>
                    <a:pt x="7454488" y="13713"/>
                  </a:lnTo>
                  <a:lnTo>
                    <a:pt x="7512934" y="52765"/>
                  </a:lnTo>
                  <a:lnTo>
                    <a:pt x="7551986" y="111211"/>
                  </a:lnTo>
                  <a:lnTo>
                    <a:pt x="7565699" y="180153"/>
                  </a:lnTo>
                  <a:lnTo>
                    <a:pt x="7565699" y="900746"/>
                  </a:lnTo>
                  <a:lnTo>
                    <a:pt x="7559264" y="948638"/>
                  </a:lnTo>
                  <a:lnTo>
                    <a:pt x="7541103" y="991673"/>
                  </a:lnTo>
                  <a:lnTo>
                    <a:pt x="7512934" y="1028134"/>
                  </a:lnTo>
                  <a:lnTo>
                    <a:pt x="7476473" y="1056303"/>
                  </a:lnTo>
                  <a:lnTo>
                    <a:pt x="7433438" y="1074464"/>
                  </a:lnTo>
                  <a:lnTo>
                    <a:pt x="7385545" y="10808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9149" y="1490849"/>
              <a:ext cx="7566025" cy="1081405"/>
            </a:xfrm>
            <a:custGeom>
              <a:avLst/>
              <a:gdLst/>
              <a:ahLst/>
              <a:cxnLst/>
              <a:rect l="l" t="t" r="r" b="b"/>
              <a:pathLst>
                <a:path w="7566025" h="1081405">
                  <a:moveTo>
                    <a:pt x="0" y="180153"/>
                  </a:moveTo>
                  <a:lnTo>
                    <a:pt x="6435" y="132261"/>
                  </a:lnTo>
                  <a:lnTo>
                    <a:pt x="24596" y="89226"/>
                  </a:lnTo>
                  <a:lnTo>
                    <a:pt x="52765" y="52765"/>
                  </a:lnTo>
                  <a:lnTo>
                    <a:pt x="89226" y="24596"/>
                  </a:lnTo>
                  <a:lnTo>
                    <a:pt x="132261" y="6435"/>
                  </a:lnTo>
                  <a:lnTo>
                    <a:pt x="180153" y="0"/>
                  </a:lnTo>
                  <a:lnTo>
                    <a:pt x="7385545" y="0"/>
                  </a:lnTo>
                  <a:lnTo>
                    <a:pt x="7454488" y="13713"/>
                  </a:lnTo>
                  <a:lnTo>
                    <a:pt x="7512934" y="52765"/>
                  </a:lnTo>
                  <a:lnTo>
                    <a:pt x="7551986" y="111211"/>
                  </a:lnTo>
                  <a:lnTo>
                    <a:pt x="7565699" y="180153"/>
                  </a:lnTo>
                  <a:lnTo>
                    <a:pt x="7565699" y="900746"/>
                  </a:lnTo>
                  <a:lnTo>
                    <a:pt x="7559264" y="948638"/>
                  </a:lnTo>
                  <a:lnTo>
                    <a:pt x="7541103" y="991673"/>
                  </a:lnTo>
                  <a:lnTo>
                    <a:pt x="7512934" y="1028134"/>
                  </a:lnTo>
                  <a:lnTo>
                    <a:pt x="7476473" y="1056303"/>
                  </a:lnTo>
                  <a:lnTo>
                    <a:pt x="7433438" y="1074464"/>
                  </a:lnTo>
                  <a:lnTo>
                    <a:pt x="7385545" y="1080899"/>
                  </a:lnTo>
                  <a:lnTo>
                    <a:pt x="180153" y="1080899"/>
                  </a:lnTo>
                  <a:lnTo>
                    <a:pt x="132261" y="1074464"/>
                  </a:lnTo>
                  <a:lnTo>
                    <a:pt x="89226" y="1056303"/>
                  </a:lnTo>
                  <a:lnTo>
                    <a:pt x="52765" y="1028134"/>
                  </a:lnTo>
                  <a:lnTo>
                    <a:pt x="24596" y="991673"/>
                  </a:lnTo>
                  <a:lnTo>
                    <a:pt x="6435" y="948638"/>
                  </a:lnTo>
                  <a:lnTo>
                    <a:pt x="0" y="900746"/>
                  </a:lnTo>
                  <a:lnTo>
                    <a:pt x="0" y="1801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63719" y="1840396"/>
            <a:ext cx="9658773" cy="803639"/>
          </a:xfrm>
          <a:prstGeom prst="rect">
            <a:avLst/>
          </a:prstGeom>
        </p:spPr>
        <p:txBody>
          <a:bodyPr vert="horz" wrap="square" lIns="0" tIns="33867" rIns="0" bIns="0" rtlCol="0">
            <a:spAutoFit/>
          </a:bodyPr>
          <a:lstStyle/>
          <a:p>
            <a:pPr marL="2471357" marR="6773" indent="-2455272">
              <a:lnSpc>
                <a:spcPts val="3000"/>
              </a:lnSpc>
              <a:spcBef>
                <a:spcPts val="267"/>
              </a:spcBef>
            </a:pPr>
            <a:r>
              <a:rPr sz="2533" spc="-120" dirty="0">
                <a:latin typeface="Arial"/>
                <a:cs typeface="Arial"/>
              </a:rPr>
              <a:t>To</a:t>
            </a:r>
            <a:r>
              <a:rPr sz="2533" spc="-4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what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extent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training</a:t>
            </a:r>
            <a:r>
              <a:rPr sz="2533" spc="-2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or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test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datasets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from</a:t>
            </a:r>
            <a:r>
              <a:rPr sz="2533" spc="-2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downstream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NLP</a:t>
            </a:r>
            <a:r>
              <a:rPr sz="2533" spc="-67" dirty="0">
                <a:latin typeface="Arial"/>
                <a:cs typeface="Arial"/>
              </a:rPr>
              <a:t> </a:t>
            </a:r>
            <a:r>
              <a:rPr sz="2533" spc="-13" dirty="0">
                <a:latin typeface="Arial"/>
                <a:cs typeface="Arial"/>
              </a:rPr>
              <a:t>tasks </a:t>
            </a:r>
            <a:r>
              <a:rPr sz="2533" dirty="0">
                <a:latin typeface="Arial"/>
                <a:cs typeface="Arial"/>
              </a:rPr>
              <a:t>appear</a:t>
            </a:r>
            <a:r>
              <a:rPr sz="2533" spc="-33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in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the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pretraining</a:t>
            </a:r>
            <a:r>
              <a:rPr sz="2533" spc="-27" dirty="0">
                <a:latin typeface="Arial"/>
                <a:cs typeface="Arial"/>
              </a:rPr>
              <a:t> </a:t>
            </a:r>
            <a:r>
              <a:rPr sz="2533" spc="-13" dirty="0">
                <a:latin typeface="Arial"/>
                <a:cs typeface="Arial"/>
              </a:rPr>
              <a:t>corpus?</a:t>
            </a:r>
            <a:endParaRPr sz="2533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45850" y="3381215"/>
            <a:ext cx="10100733" cy="2385907"/>
            <a:chOff x="784387" y="2878812"/>
            <a:chExt cx="7575550" cy="1789430"/>
          </a:xfrm>
        </p:grpSpPr>
        <p:sp>
          <p:nvSpPr>
            <p:cNvPr id="8" name="object 8"/>
            <p:cNvSpPr/>
            <p:nvPr/>
          </p:nvSpPr>
          <p:spPr>
            <a:xfrm>
              <a:off x="789149" y="2883574"/>
              <a:ext cx="7566025" cy="1779905"/>
            </a:xfrm>
            <a:custGeom>
              <a:avLst/>
              <a:gdLst/>
              <a:ahLst/>
              <a:cxnLst/>
              <a:rect l="l" t="t" r="r" b="b"/>
              <a:pathLst>
                <a:path w="7566025" h="1779904">
                  <a:moveTo>
                    <a:pt x="7269043" y="1779899"/>
                  </a:moveTo>
                  <a:lnTo>
                    <a:pt x="296655" y="1779899"/>
                  </a:lnTo>
                  <a:lnTo>
                    <a:pt x="248536" y="1776017"/>
                  </a:lnTo>
                  <a:lnTo>
                    <a:pt x="202889" y="1764776"/>
                  </a:lnTo>
                  <a:lnTo>
                    <a:pt x="160325" y="1746787"/>
                  </a:lnTo>
                  <a:lnTo>
                    <a:pt x="121454" y="1722662"/>
                  </a:lnTo>
                  <a:lnTo>
                    <a:pt x="86888" y="1693011"/>
                  </a:lnTo>
                  <a:lnTo>
                    <a:pt x="57237" y="1658445"/>
                  </a:lnTo>
                  <a:lnTo>
                    <a:pt x="33112" y="1619574"/>
                  </a:lnTo>
                  <a:lnTo>
                    <a:pt x="15123" y="1577010"/>
                  </a:lnTo>
                  <a:lnTo>
                    <a:pt x="3882" y="1531363"/>
                  </a:lnTo>
                  <a:lnTo>
                    <a:pt x="0" y="1483244"/>
                  </a:lnTo>
                  <a:lnTo>
                    <a:pt x="0" y="296655"/>
                  </a:lnTo>
                  <a:lnTo>
                    <a:pt x="3882" y="248536"/>
                  </a:lnTo>
                  <a:lnTo>
                    <a:pt x="15123" y="202889"/>
                  </a:lnTo>
                  <a:lnTo>
                    <a:pt x="33112" y="160325"/>
                  </a:lnTo>
                  <a:lnTo>
                    <a:pt x="57237" y="121454"/>
                  </a:lnTo>
                  <a:lnTo>
                    <a:pt x="86888" y="86888"/>
                  </a:lnTo>
                  <a:lnTo>
                    <a:pt x="121454" y="57237"/>
                  </a:lnTo>
                  <a:lnTo>
                    <a:pt x="160325" y="33112"/>
                  </a:lnTo>
                  <a:lnTo>
                    <a:pt x="202889" y="15123"/>
                  </a:lnTo>
                  <a:lnTo>
                    <a:pt x="248536" y="3882"/>
                  </a:lnTo>
                  <a:lnTo>
                    <a:pt x="296655" y="0"/>
                  </a:lnTo>
                  <a:lnTo>
                    <a:pt x="7269043" y="0"/>
                  </a:lnTo>
                  <a:lnTo>
                    <a:pt x="7315731" y="3695"/>
                  </a:lnTo>
                  <a:lnTo>
                    <a:pt x="7360848" y="14562"/>
                  </a:lnTo>
                  <a:lnTo>
                    <a:pt x="7403598" y="32269"/>
                  </a:lnTo>
                  <a:lnTo>
                    <a:pt x="7443185" y="56488"/>
                  </a:lnTo>
                  <a:lnTo>
                    <a:pt x="7478811" y="86888"/>
                  </a:lnTo>
                  <a:lnTo>
                    <a:pt x="7509211" y="122514"/>
                  </a:lnTo>
                  <a:lnTo>
                    <a:pt x="7533429" y="162101"/>
                  </a:lnTo>
                  <a:lnTo>
                    <a:pt x="7551137" y="204851"/>
                  </a:lnTo>
                  <a:lnTo>
                    <a:pt x="7562004" y="249968"/>
                  </a:lnTo>
                  <a:lnTo>
                    <a:pt x="7565699" y="296655"/>
                  </a:lnTo>
                  <a:lnTo>
                    <a:pt x="7565699" y="1483244"/>
                  </a:lnTo>
                  <a:lnTo>
                    <a:pt x="7561817" y="1531363"/>
                  </a:lnTo>
                  <a:lnTo>
                    <a:pt x="7550576" y="1577010"/>
                  </a:lnTo>
                  <a:lnTo>
                    <a:pt x="7532587" y="1619574"/>
                  </a:lnTo>
                  <a:lnTo>
                    <a:pt x="7508462" y="1658445"/>
                  </a:lnTo>
                  <a:lnTo>
                    <a:pt x="7478811" y="1693011"/>
                  </a:lnTo>
                  <a:lnTo>
                    <a:pt x="7444245" y="1722662"/>
                  </a:lnTo>
                  <a:lnTo>
                    <a:pt x="7405374" y="1746787"/>
                  </a:lnTo>
                  <a:lnTo>
                    <a:pt x="7362810" y="1764776"/>
                  </a:lnTo>
                  <a:lnTo>
                    <a:pt x="7317162" y="1776017"/>
                  </a:lnTo>
                  <a:lnTo>
                    <a:pt x="7269043" y="17798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9149" y="2883574"/>
              <a:ext cx="7566025" cy="1779905"/>
            </a:xfrm>
            <a:custGeom>
              <a:avLst/>
              <a:gdLst/>
              <a:ahLst/>
              <a:cxnLst/>
              <a:rect l="l" t="t" r="r" b="b"/>
              <a:pathLst>
                <a:path w="7566025" h="1779904">
                  <a:moveTo>
                    <a:pt x="0" y="296655"/>
                  </a:moveTo>
                  <a:lnTo>
                    <a:pt x="3882" y="248536"/>
                  </a:lnTo>
                  <a:lnTo>
                    <a:pt x="15123" y="202889"/>
                  </a:lnTo>
                  <a:lnTo>
                    <a:pt x="33112" y="160325"/>
                  </a:lnTo>
                  <a:lnTo>
                    <a:pt x="57237" y="121454"/>
                  </a:lnTo>
                  <a:lnTo>
                    <a:pt x="86888" y="86888"/>
                  </a:lnTo>
                  <a:lnTo>
                    <a:pt x="121454" y="57237"/>
                  </a:lnTo>
                  <a:lnTo>
                    <a:pt x="160325" y="33112"/>
                  </a:lnTo>
                  <a:lnTo>
                    <a:pt x="202889" y="15123"/>
                  </a:lnTo>
                  <a:lnTo>
                    <a:pt x="248536" y="3882"/>
                  </a:lnTo>
                  <a:lnTo>
                    <a:pt x="296655" y="0"/>
                  </a:lnTo>
                  <a:lnTo>
                    <a:pt x="7269043" y="0"/>
                  </a:lnTo>
                  <a:lnTo>
                    <a:pt x="7315731" y="3695"/>
                  </a:lnTo>
                  <a:lnTo>
                    <a:pt x="7360848" y="14562"/>
                  </a:lnTo>
                  <a:lnTo>
                    <a:pt x="7403598" y="32269"/>
                  </a:lnTo>
                  <a:lnTo>
                    <a:pt x="7443185" y="56488"/>
                  </a:lnTo>
                  <a:lnTo>
                    <a:pt x="7478811" y="86888"/>
                  </a:lnTo>
                  <a:lnTo>
                    <a:pt x="7509211" y="122514"/>
                  </a:lnTo>
                  <a:lnTo>
                    <a:pt x="7533429" y="162101"/>
                  </a:lnTo>
                  <a:lnTo>
                    <a:pt x="7551137" y="204851"/>
                  </a:lnTo>
                  <a:lnTo>
                    <a:pt x="7562004" y="249968"/>
                  </a:lnTo>
                  <a:lnTo>
                    <a:pt x="7565699" y="296655"/>
                  </a:lnTo>
                  <a:lnTo>
                    <a:pt x="7565699" y="1483244"/>
                  </a:lnTo>
                  <a:lnTo>
                    <a:pt x="7561817" y="1531363"/>
                  </a:lnTo>
                  <a:lnTo>
                    <a:pt x="7550576" y="1577010"/>
                  </a:lnTo>
                  <a:lnTo>
                    <a:pt x="7532587" y="1619574"/>
                  </a:lnTo>
                  <a:lnTo>
                    <a:pt x="7508462" y="1658445"/>
                  </a:lnTo>
                  <a:lnTo>
                    <a:pt x="7478811" y="1693011"/>
                  </a:lnTo>
                  <a:lnTo>
                    <a:pt x="7444245" y="1722662"/>
                  </a:lnTo>
                  <a:lnTo>
                    <a:pt x="7405374" y="1746787"/>
                  </a:lnTo>
                  <a:lnTo>
                    <a:pt x="7362810" y="1764776"/>
                  </a:lnTo>
                  <a:lnTo>
                    <a:pt x="7317162" y="1776017"/>
                  </a:lnTo>
                  <a:lnTo>
                    <a:pt x="7269043" y="1779899"/>
                  </a:lnTo>
                  <a:lnTo>
                    <a:pt x="296655" y="1779899"/>
                  </a:lnTo>
                  <a:lnTo>
                    <a:pt x="248536" y="1776017"/>
                  </a:lnTo>
                  <a:lnTo>
                    <a:pt x="202889" y="1764776"/>
                  </a:lnTo>
                  <a:lnTo>
                    <a:pt x="160325" y="1746787"/>
                  </a:lnTo>
                  <a:lnTo>
                    <a:pt x="121454" y="1722662"/>
                  </a:lnTo>
                  <a:lnTo>
                    <a:pt x="86888" y="1693011"/>
                  </a:lnTo>
                  <a:lnTo>
                    <a:pt x="57237" y="1658445"/>
                  </a:lnTo>
                  <a:lnTo>
                    <a:pt x="33112" y="1619574"/>
                  </a:lnTo>
                  <a:lnTo>
                    <a:pt x="15123" y="1577010"/>
                  </a:lnTo>
                  <a:lnTo>
                    <a:pt x="3882" y="1531363"/>
                  </a:lnTo>
                  <a:lnTo>
                    <a:pt x="0" y="1483244"/>
                  </a:lnTo>
                  <a:lnTo>
                    <a:pt x="0" y="29665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01951" y="3587913"/>
            <a:ext cx="8915400" cy="19660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8850" algn="ctr">
              <a:spcBef>
                <a:spcPts val="133"/>
              </a:spcBef>
            </a:pPr>
            <a:r>
              <a:rPr sz="2533" dirty="0">
                <a:latin typeface="Arial"/>
                <a:cs typeface="Arial"/>
              </a:rPr>
              <a:t>Types</a:t>
            </a:r>
            <a:r>
              <a:rPr sz="2533" spc="-87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of</a:t>
            </a:r>
            <a:r>
              <a:rPr sz="2533" spc="-80" dirty="0">
                <a:latin typeface="Arial"/>
                <a:cs typeface="Arial"/>
              </a:rPr>
              <a:t> </a:t>
            </a:r>
            <a:r>
              <a:rPr sz="2533" spc="-13" dirty="0">
                <a:latin typeface="Arial"/>
                <a:cs typeface="Arial"/>
              </a:rPr>
              <a:t>contamination:</a:t>
            </a:r>
            <a:endParaRPr sz="2533" dirty="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2533" dirty="0">
              <a:latin typeface="Arial"/>
              <a:cs typeface="Arial"/>
            </a:endParaRPr>
          </a:p>
          <a:p>
            <a:pPr marL="589264" indent="-572331">
              <a:buFont typeface="Arial"/>
              <a:buAutoNum type="arabicPeriod"/>
              <a:tabLst>
                <a:tab pos="589264" algn="l"/>
              </a:tabLst>
            </a:pPr>
            <a:r>
              <a:rPr sz="2533" dirty="0">
                <a:latin typeface="Arial"/>
                <a:cs typeface="Arial"/>
              </a:rPr>
              <a:t>Input</a:t>
            </a:r>
            <a:r>
              <a:rPr sz="2533" spc="-2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and</a:t>
            </a:r>
            <a:r>
              <a:rPr sz="2533" spc="-13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output</a:t>
            </a:r>
            <a:r>
              <a:rPr sz="2533" spc="-2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contamination:</a:t>
            </a:r>
            <a:r>
              <a:rPr sz="2533" spc="-13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from</a:t>
            </a:r>
            <a:r>
              <a:rPr sz="2533" spc="-2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1.87%</a:t>
            </a:r>
            <a:r>
              <a:rPr sz="2533" spc="-13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to</a:t>
            </a:r>
            <a:r>
              <a:rPr sz="2533" spc="-13" dirty="0">
                <a:latin typeface="Arial"/>
                <a:cs typeface="Arial"/>
              </a:rPr>
              <a:t> 24.88%</a:t>
            </a:r>
            <a:endParaRPr sz="2533" dirty="0">
              <a:latin typeface="Arial"/>
              <a:cs typeface="Arial"/>
            </a:endParaRPr>
          </a:p>
          <a:p>
            <a:pPr>
              <a:spcBef>
                <a:spcPts val="47"/>
              </a:spcBef>
              <a:buFont typeface="Arial"/>
              <a:buAutoNum type="arabicPeriod"/>
            </a:pPr>
            <a:endParaRPr sz="2533" dirty="0">
              <a:latin typeface="Arial"/>
              <a:cs typeface="Arial"/>
            </a:endParaRPr>
          </a:p>
          <a:p>
            <a:pPr marL="589264" indent="-572331">
              <a:buAutoNum type="arabicPeriod"/>
              <a:tabLst>
                <a:tab pos="589264" algn="l"/>
              </a:tabLst>
            </a:pPr>
            <a:r>
              <a:rPr sz="2533" dirty="0">
                <a:latin typeface="Arial"/>
                <a:cs typeface="Arial"/>
              </a:rPr>
              <a:t>Input</a:t>
            </a:r>
            <a:r>
              <a:rPr sz="2533" spc="-4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contamination:</a:t>
            </a:r>
            <a:r>
              <a:rPr sz="2533" spc="-33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from</a:t>
            </a:r>
            <a:r>
              <a:rPr sz="2533" spc="-33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1.8%</a:t>
            </a:r>
            <a:r>
              <a:rPr sz="2533" spc="-33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to</a:t>
            </a:r>
            <a:r>
              <a:rPr sz="2533" spc="-33" dirty="0">
                <a:latin typeface="Arial"/>
                <a:cs typeface="Arial"/>
              </a:rPr>
              <a:t> </a:t>
            </a:r>
            <a:r>
              <a:rPr sz="2533" spc="-13" dirty="0">
                <a:latin typeface="Arial"/>
                <a:cs typeface="Arial"/>
              </a:rPr>
              <a:t>53.6%</a:t>
            </a:r>
            <a:endParaRPr sz="2533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CC4B3C-EB76-4713-ADCA-46785772D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Brown et al.:</a:t>
            </a:r>
          </a:p>
          <a:p>
            <a:pPr lvl="1"/>
            <a:r>
              <a:rPr lang="en-US" dirty="0"/>
              <a:t>Measure contamination using n-gram overlap (n between 8 and 13) between pre-training data and benchmark examples</a:t>
            </a:r>
          </a:p>
          <a:p>
            <a:pPr lvl="1"/>
            <a:r>
              <a:rPr lang="en-US" dirty="0"/>
              <a:t>Used a very conservative measurement because of the bug in their pre-training data preprocessing</a:t>
            </a:r>
          </a:p>
          <a:p>
            <a:r>
              <a:rPr lang="en-US" dirty="0"/>
              <a:t>This paper: measure exact matches, normalized for capitalization and punctuation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Included data: Benchmark contamination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00398-3277-43A3-8DD8-DE5F58E8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6D8377-9398-4036-A6C7-00807C07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/>
                <a:cs typeface="Arial"/>
              </a:rPr>
              <a:t>3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generative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tasks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spc="-13" dirty="0">
                <a:latin typeface="Arial"/>
                <a:cs typeface="Arial"/>
              </a:rPr>
              <a:t>analyzed:</a:t>
            </a:r>
          </a:p>
          <a:p>
            <a:pPr lvl="1"/>
            <a:r>
              <a:rPr lang="en-US" sz="2400" dirty="0">
                <a:solidFill>
                  <a:srgbClr val="595959"/>
                </a:solidFill>
                <a:latin typeface="Arial"/>
                <a:cs typeface="Arial"/>
              </a:rPr>
              <a:t>Abstractive</a:t>
            </a:r>
            <a:r>
              <a:rPr lang="en-US" sz="2400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spc="-13" dirty="0">
                <a:solidFill>
                  <a:srgbClr val="595959"/>
                </a:solidFill>
                <a:latin typeface="Arial"/>
                <a:cs typeface="Arial"/>
              </a:rPr>
              <a:t>summarization</a:t>
            </a:r>
            <a:endParaRPr lang="en-US" sz="2400" dirty="0">
              <a:latin typeface="Arial"/>
              <a:cs typeface="Arial"/>
            </a:endParaRPr>
          </a:p>
          <a:p>
            <a:pPr lvl="1"/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249138"/>
            <a:ext cx="11658600" cy="51296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Benchmark contamination: Input and output contamination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8914-4843-4EE5-B461-6F72C2CA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4" name="object 2">
            <a:extLst>
              <a:ext uri="{FF2B5EF4-FFF2-40B4-BE49-F238E27FC236}">
                <a16:creationId xmlns:a16="http://schemas.microsoft.com/office/drawing/2014/main" id="{0F1852AD-507B-4B12-AC9D-0AE5C55476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2157" y="1674332"/>
            <a:ext cx="6227444" cy="5158864"/>
          </a:xfrm>
          <a:prstGeom prst="rect">
            <a:avLst/>
          </a:prstGeom>
        </p:spPr>
      </p:pic>
      <p:grpSp>
        <p:nvGrpSpPr>
          <p:cNvPr id="15" name="object 5">
            <a:extLst>
              <a:ext uri="{FF2B5EF4-FFF2-40B4-BE49-F238E27FC236}">
                <a16:creationId xmlns:a16="http://schemas.microsoft.com/office/drawing/2014/main" id="{87F3C478-D28B-45FC-882B-EB5B763D3596}"/>
              </a:ext>
            </a:extLst>
          </p:cNvPr>
          <p:cNvGrpSpPr/>
          <p:nvPr/>
        </p:nvGrpSpPr>
        <p:grpSpPr>
          <a:xfrm>
            <a:off x="6952649" y="825017"/>
            <a:ext cx="3937000" cy="776393"/>
            <a:chOff x="5214487" y="618762"/>
            <a:chExt cx="2952750" cy="582295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D3FFF085-1093-46BC-BE96-7945ADECA967}"/>
                </a:ext>
              </a:extLst>
            </p:cNvPr>
            <p:cNvSpPr/>
            <p:nvPr/>
          </p:nvSpPr>
          <p:spPr>
            <a:xfrm>
              <a:off x="5219250" y="623524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28475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7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45EA6309-79C0-40B0-BB72-E6D63B983F34}"/>
                </a:ext>
              </a:extLst>
            </p:cNvPr>
            <p:cNvSpPr/>
            <p:nvPr/>
          </p:nvSpPr>
          <p:spPr>
            <a:xfrm>
              <a:off x="5219250" y="623524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7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8">
            <a:extLst>
              <a:ext uri="{FF2B5EF4-FFF2-40B4-BE49-F238E27FC236}">
                <a16:creationId xmlns:a16="http://schemas.microsoft.com/office/drawing/2014/main" id="{870DA0C4-DD0F-4411-84ED-F2753E012EC7}"/>
              </a:ext>
            </a:extLst>
          </p:cNvPr>
          <p:cNvSpPr txBox="1"/>
          <p:nvPr/>
        </p:nvSpPr>
        <p:spPr>
          <a:xfrm>
            <a:off x="7673003" y="1047051"/>
            <a:ext cx="249597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TIFU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(Kim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et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al.,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27" dirty="0">
                <a:latin typeface="Arial"/>
                <a:cs typeface="Arial"/>
              </a:rPr>
              <a:t>2019)</a:t>
            </a:r>
            <a:endParaRPr sz="186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6D8377-9398-4036-A6C7-00807C07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/>
                <a:cs typeface="Arial"/>
              </a:rPr>
              <a:t>3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generative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tasks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spc="-13" dirty="0">
                <a:latin typeface="Arial"/>
                <a:cs typeface="Arial"/>
              </a:rPr>
              <a:t>analyzed:</a:t>
            </a:r>
          </a:p>
          <a:p>
            <a:pPr lvl="1"/>
            <a:r>
              <a:rPr lang="en-US" sz="2400" dirty="0">
                <a:solidFill>
                  <a:srgbClr val="595959"/>
                </a:solidFill>
                <a:latin typeface="Arial"/>
                <a:cs typeface="Arial"/>
              </a:rPr>
              <a:t>Abstractive</a:t>
            </a:r>
            <a:r>
              <a:rPr lang="en-US" sz="2400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spc="-13" dirty="0">
                <a:solidFill>
                  <a:srgbClr val="595959"/>
                </a:solidFill>
                <a:latin typeface="Arial"/>
                <a:cs typeface="Arial"/>
              </a:rPr>
              <a:t>summarization</a:t>
            </a:r>
            <a:endParaRPr lang="en-US" sz="2400" dirty="0">
              <a:latin typeface="Arial"/>
              <a:cs typeface="Arial"/>
            </a:endParaRPr>
          </a:p>
          <a:p>
            <a:pPr lvl="1"/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249138"/>
            <a:ext cx="11658600" cy="51296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Benchmark contamination: Input and output contamination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8914-4843-4EE5-B461-6F72C2CA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69B50C12-40BC-4AFA-8B53-9A00405887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7329" y="1529542"/>
            <a:ext cx="4720382" cy="5285467"/>
          </a:xfrm>
          <a:prstGeom prst="rect">
            <a:avLst/>
          </a:prstGeom>
        </p:spPr>
      </p:pic>
      <p:grpSp>
        <p:nvGrpSpPr>
          <p:cNvPr id="11" name="object 5">
            <a:extLst>
              <a:ext uri="{FF2B5EF4-FFF2-40B4-BE49-F238E27FC236}">
                <a16:creationId xmlns:a16="http://schemas.microsoft.com/office/drawing/2014/main" id="{16B65A7A-C23B-41CD-9446-EC0760B15468}"/>
              </a:ext>
            </a:extLst>
          </p:cNvPr>
          <p:cNvGrpSpPr/>
          <p:nvPr/>
        </p:nvGrpSpPr>
        <p:grpSpPr>
          <a:xfrm>
            <a:off x="6978827" y="753149"/>
            <a:ext cx="3937000" cy="776393"/>
            <a:chOff x="5383750" y="237762"/>
            <a:chExt cx="2952750" cy="582295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5EE602C-F532-42FB-BBAD-1F708B28A464}"/>
                </a:ext>
              </a:extLst>
            </p:cNvPr>
            <p:cNvSpPr/>
            <p:nvPr/>
          </p:nvSpPr>
          <p:spPr>
            <a:xfrm>
              <a:off x="5388512" y="242524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28475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8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40572D12-92FB-4BD8-BB3D-85A84789B3DE}"/>
                </a:ext>
              </a:extLst>
            </p:cNvPr>
            <p:cNvSpPr/>
            <p:nvPr/>
          </p:nvSpPr>
          <p:spPr>
            <a:xfrm>
              <a:off x="5388512" y="242524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8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73251C11-77B1-495F-85C3-7A5731EF82AF}"/>
              </a:ext>
            </a:extLst>
          </p:cNvPr>
          <p:cNvSpPr txBox="1"/>
          <p:nvPr/>
        </p:nvSpPr>
        <p:spPr>
          <a:xfrm>
            <a:off x="7382882" y="975183"/>
            <a:ext cx="31275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XSum</a:t>
            </a:r>
            <a:r>
              <a:rPr sz="1867" b="1" spc="-3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(Narayan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et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al.,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2018)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18048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6D8377-9398-4036-A6C7-00807C07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/>
                <a:cs typeface="Arial"/>
              </a:rPr>
              <a:t>3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generative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tasks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spc="-13" dirty="0">
                <a:latin typeface="Arial"/>
                <a:cs typeface="Arial"/>
              </a:rPr>
              <a:t>analyzed:</a:t>
            </a:r>
          </a:p>
          <a:p>
            <a:pPr lvl="1"/>
            <a:r>
              <a:rPr lang="en-US" sz="2400" dirty="0">
                <a:solidFill>
                  <a:srgbClr val="595959"/>
                </a:solidFill>
                <a:latin typeface="Arial"/>
                <a:cs typeface="Arial"/>
              </a:rPr>
              <a:t>Abstractive</a:t>
            </a:r>
            <a:r>
              <a:rPr lang="en-US" sz="2400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spc="-13" dirty="0">
                <a:solidFill>
                  <a:srgbClr val="595959"/>
                </a:solidFill>
                <a:latin typeface="Arial"/>
                <a:cs typeface="Arial"/>
              </a:rPr>
              <a:t>summarization</a:t>
            </a:r>
          </a:p>
          <a:p>
            <a:pPr lvl="1"/>
            <a:r>
              <a:rPr lang="en-US" sz="2400" b="1" dirty="0">
                <a:solidFill>
                  <a:srgbClr val="595959"/>
                </a:solidFill>
                <a:latin typeface="Arial"/>
                <a:cs typeface="Arial"/>
              </a:rPr>
              <a:t>table-to-text</a:t>
            </a:r>
            <a:r>
              <a:rPr lang="en-US" sz="24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b="1" spc="-13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endParaRPr lang="en-US" sz="2400" dirty="0">
              <a:latin typeface="Arial"/>
              <a:cs typeface="Arial"/>
            </a:endParaRPr>
          </a:p>
          <a:p>
            <a:pPr lvl="1"/>
            <a:endParaRPr lang="en-US" sz="2400" dirty="0">
              <a:latin typeface="Arial"/>
              <a:cs typeface="Arial"/>
            </a:endParaRPr>
          </a:p>
          <a:p>
            <a:pPr lvl="1"/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249138"/>
            <a:ext cx="11658600" cy="51296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Benchmark contamination: Input and output contamination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8914-4843-4EE5-B461-6F72C2CA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15" name="object 5">
            <a:extLst>
              <a:ext uri="{FF2B5EF4-FFF2-40B4-BE49-F238E27FC236}">
                <a16:creationId xmlns:a16="http://schemas.microsoft.com/office/drawing/2014/main" id="{C4ED3649-3064-4AA4-B263-24B647FEE2ED}"/>
              </a:ext>
            </a:extLst>
          </p:cNvPr>
          <p:cNvGrpSpPr/>
          <p:nvPr/>
        </p:nvGrpSpPr>
        <p:grpSpPr>
          <a:xfrm>
            <a:off x="7384473" y="1100478"/>
            <a:ext cx="3937000" cy="503882"/>
            <a:chOff x="5383750" y="237762"/>
            <a:chExt cx="2952750" cy="582295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897144EF-B414-47AE-8DAB-A22EE3217A3E}"/>
                </a:ext>
              </a:extLst>
            </p:cNvPr>
            <p:cNvSpPr/>
            <p:nvPr/>
          </p:nvSpPr>
          <p:spPr>
            <a:xfrm>
              <a:off x="5388512" y="242524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28475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8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5185EF9A-2E63-4016-8060-0C7589D08D8F}"/>
                </a:ext>
              </a:extLst>
            </p:cNvPr>
            <p:cNvSpPr/>
            <p:nvPr/>
          </p:nvSpPr>
          <p:spPr>
            <a:xfrm>
              <a:off x="5388512" y="242524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8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8">
            <a:extLst>
              <a:ext uri="{FF2B5EF4-FFF2-40B4-BE49-F238E27FC236}">
                <a16:creationId xmlns:a16="http://schemas.microsoft.com/office/drawing/2014/main" id="{DA8F2A6C-BE9F-4737-8B27-1E6510DE0C6B}"/>
              </a:ext>
            </a:extLst>
          </p:cNvPr>
          <p:cNvSpPr txBox="1"/>
          <p:nvPr/>
        </p:nvSpPr>
        <p:spPr>
          <a:xfrm>
            <a:off x="7796451" y="1205674"/>
            <a:ext cx="31123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WikiBio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(Lebret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et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al.,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2016)</a:t>
            </a:r>
            <a:endParaRPr sz="1867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55B69-4698-4F1B-B9B4-A1B26D0500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13"/>
          <a:stretch/>
        </p:blipFill>
        <p:spPr>
          <a:xfrm>
            <a:off x="7564122" y="1691120"/>
            <a:ext cx="3577007" cy="516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642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A6D8377-9398-4036-A6C7-00807C073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/>
                <a:cs typeface="Arial"/>
              </a:rPr>
              <a:t>3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generative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tasks</a:t>
            </a:r>
            <a:r>
              <a:rPr lang="en-US" sz="2800" spc="-27" dirty="0">
                <a:latin typeface="Arial"/>
                <a:cs typeface="Arial"/>
              </a:rPr>
              <a:t> </a:t>
            </a:r>
            <a:r>
              <a:rPr lang="en-US" sz="2800" spc="-13" dirty="0">
                <a:latin typeface="Arial"/>
                <a:cs typeface="Arial"/>
              </a:rPr>
              <a:t>analyzed:</a:t>
            </a:r>
          </a:p>
          <a:p>
            <a:pPr lvl="1"/>
            <a:r>
              <a:rPr lang="en-US" sz="2400" dirty="0">
                <a:solidFill>
                  <a:srgbClr val="595959"/>
                </a:solidFill>
                <a:latin typeface="Arial"/>
                <a:cs typeface="Arial"/>
              </a:rPr>
              <a:t>Abstractive</a:t>
            </a:r>
            <a:r>
              <a:rPr lang="en-US" sz="2400" spc="-7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spc="-13" dirty="0">
                <a:solidFill>
                  <a:srgbClr val="595959"/>
                </a:solidFill>
                <a:latin typeface="Arial"/>
                <a:cs typeface="Arial"/>
              </a:rPr>
              <a:t>summarization</a:t>
            </a:r>
          </a:p>
          <a:p>
            <a:pPr lvl="1"/>
            <a:r>
              <a:rPr lang="en-US" sz="2400" dirty="0">
                <a:solidFill>
                  <a:srgbClr val="595959"/>
                </a:solidFill>
                <a:latin typeface="Arial"/>
                <a:cs typeface="Arial"/>
              </a:rPr>
              <a:t>table-to-text</a:t>
            </a:r>
            <a:r>
              <a:rPr lang="en-US"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spc="-13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</a:p>
          <a:p>
            <a:pPr lvl="1"/>
            <a:r>
              <a:rPr lang="en-US" sz="2400" b="1" dirty="0">
                <a:solidFill>
                  <a:srgbClr val="595959"/>
                </a:solidFill>
                <a:latin typeface="Arial"/>
                <a:cs typeface="Arial"/>
              </a:rPr>
              <a:t>graph-to-text</a:t>
            </a:r>
            <a:r>
              <a:rPr lang="en-US" sz="24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2400" b="1" spc="-13" dirty="0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endParaRPr lang="en-US" sz="2400" dirty="0">
              <a:latin typeface="Arial"/>
              <a:cs typeface="Arial"/>
            </a:endParaRPr>
          </a:p>
          <a:p>
            <a:pPr lvl="1"/>
            <a:endParaRPr lang="en-US" sz="2400" dirty="0">
              <a:latin typeface="Arial"/>
              <a:cs typeface="Arial"/>
            </a:endParaRPr>
          </a:p>
          <a:p>
            <a:pPr lvl="1"/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249138"/>
            <a:ext cx="11658600" cy="51296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Benchmark contamination: Input and output contamination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8914-4843-4EE5-B461-6F72C2CA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DDCC6A8F-16A8-4B26-902E-63DDDA884B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8661" y="2139751"/>
            <a:ext cx="3369068" cy="2131125"/>
          </a:xfrm>
          <a:prstGeom prst="rect">
            <a:avLst/>
          </a:prstGeom>
        </p:spPr>
      </p:pic>
      <p:grpSp>
        <p:nvGrpSpPr>
          <p:cNvPr id="11" name="object 5">
            <a:extLst>
              <a:ext uri="{FF2B5EF4-FFF2-40B4-BE49-F238E27FC236}">
                <a16:creationId xmlns:a16="http://schemas.microsoft.com/office/drawing/2014/main" id="{13BEAC0F-26E2-4FAC-91EC-AC510B9754A2}"/>
              </a:ext>
            </a:extLst>
          </p:cNvPr>
          <p:cNvGrpSpPr/>
          <p:nvPr/>
        </p:nvGrpSpPr>
        <p:grpSpPr>
          <a:xfrm>
            <a:off x="7018850" y="5239249"/>
            <a:ext cx="4632113" cy="985520"/>
            <a:chOff x="5264137" y="3929437"/>
            <a:chExt cx="3474085" cy="739140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3154DA3-3CF5-4CF7-8A8E-2AA0073478D0}"/>
                </a:ext>
              </a:extLst>
            </p:cNvPr>
            <p:cNvSpPr/>
            <p:nvPr/>
          </p:nvSpPr>
          <p:spPr>
            <a:xfrm>
              <a:off x="5268900" y="3934200"/>
              <a:ext cx="3464560" cy="729615"/>
            </a:xfrm>
            <a:custGeom>
              <a:avLst/>
              <a:gdLst/>
              <a:ahLst/>
              <a:cxnLst/>
              <a:rect l="l" t="t" r="r" b="b"/>
              <a:pathLst>
                <a:path w="3464559" h="729614">
                  <a:moveTo>
                    <a:pt x="3342597" y="728999"/>
                  </a:moveTo>
                  <a:lnTo>
                    <a:pt x="121502" y="728999"/>
                  </a:lnTo>
                  <a:lnTo>
                    <a:pt x="74208" y="719451"/>
                  </a:lnTo>
                  <a:lnTo>
                    <a:pt x="35587" y="693412"/>
                  </a:lnTo>
                  <a:lnTo>
                    <a:pt x="9548" y="654791"/>
                  </a:lnTo>
                  <a:lnTo>
                    <a:pt x="0" y="607497"/>
                  </a:lnTo>
                  <a:lnTo>
                    <a:pt x="0" y="121502"/>
                  </a:lnTo>
                  <a:lnTo>
                    <a:pt x="9548" y="74208"/>
                  </a:lnTo>
                  <a:lnTo>
                    <a:pt x="35587" y="35587"/>
                  </a:lnTo>
                  <a:lnTo>
                    <a:pt x="74208" y="9548"/>
                  </a:lnTo>
                  <a:lnTo>
                    <a:pt x="121502" y="0"/>
                  </a:lnTo>
                  <a:lnTo>
                    <a:pt x="3342597" y="0"/>
                  </a:lnTo>
                  <a:lnTo>
                    <a:pt x="3389094" y="9248"/>
                  </a:lnTo>
                  <a:lnTo>
                    <a:pt x="3428512" y="35586"/>
                  </a:lnTo>
                  <a:lnTo>
                    <a:pt x="3454851" y="75005"/>
                  </a:lnTo>
                  <a:lnTo>
                    <a:pt x="3464099" y="121502"/>
                  </a:lnTo>
                  <a:lnTo>
                    <a:pt x="3464099" y="607497"/>
                  </a:lnTo>
                  <a:lnTo>
                    <a:pt x="3454551" y="654791"/>
                  </a:lnTo>
                  <a:lnTo>
                    <a:pt x="3428512" y="693412"/>
                  </a:lnTo>
                  <a:lnTo>
                    <a:pt x="3389891" y="719451"/>
                  </a:lnTo>
                  <a:lnTo>
                    <a:pt x="3342597" y="7289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0F69DE43-D1B0-4D16-B59C-B53CFA268C9E}"/>
                </a:ext>
              </a:extLst>
            </p:cNvPr>
            <p:cNvSpPr/>
            <p:nvPr/>
          </p:nvSpPr>
          <p:spPr>
            <a:xfrm>
              <a:off x="5268900" y="3934200"/>
              <a:ext cx="3464560" cy="729615"/>
            </a:xfrm>
            <a:custGeom>
              <a:avLst/>
              <a:gdLst/>
              <a:ahLst/>
              <a:cxnLst/>
              <a:rect l="l" t="t" r="r" b="b"/>
              <a:pathLst>
                <a:path w="3464559" h="729614">
                  <a:moveTo>
                    <a:pt x="0" y="121502"/>
                  </a:moveTo>
                  <a:lnTo>
                    <a:pt x="9548" y="74208"/>
                  </a:lnTo>
                  <a:lnTo>
                    <a:pt x="35587" y="35587"/>
                  </a:lnTo>
                  <a:lnTo>
                    <a:pt x="74208" y="9548"/>
                  </a:lnTo>
                  <a:lnTo>
                    <a:pt x="121502" y="0"/>
                  </a:lnTo>
                  <a:lnTo>
                    <a:pt x="3342597" y="0"/>
                  </a:lnTo>
                  <a:lnTo>
                    <a:pt x="3389094" y="9248"/>
                  </a:lnTo>
                  <a:lnTo>
                    <a:pt x="3428512" y="35586"/>
                  </a:lnTo>
                  <a:lnTo>
                    <a:pt x="3454851" y="75005"/>
                  </a:lnTo>
                  <a:lnTo>
                    <a:pt x="3464099" y="121502"/>
                  </a:lnTo>
                  <a:lnTo>
                    <a:pt x="3464099" y="607497"/>
                  </a:lnTo>
                  <a:lnTo>
                    <a:pt x="3454551" y="654791"/>
                  </a:lnTo>
                  <a:lnTo>
                    <a:pt x="3428512" y="693412"/>
                  </a:lnTo>
                  <a:lnTo>
                    <a:pt x="3389891" y="719451"/>
                  </a:lnTo>
                  <a:lnTo>
                    <a:pt x="3342597" y="728999"/>
                  </a:lnTo>
                  <a:lnTo>
                    <a:pt x="121502" y="728999"/>
                  </a:lnTo>
                  <a:lnTo>
                    <a:pt x="74208" y="719451"/>
                  </a:lnTo>
                  <a:lnTo>
                    <a:pt x="35587" y="693412"/>
                  </a:lnTo>
                  <a:lnTo>
                    <a:pt x="9548" y="654791"/>
                  </a:lnTo>
                  <a:lnTo>
                    <a:pt x="0" y="607497"/>
                  </a:lnTo>
                  <a:lnTo>
                    <a:pt x="0" y="1215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8">
            <a:extLst>
              <a:ext uri="{FF2B5EF4-FFF2-40B4-BE49-F238E27FC236}">
                <a16:creationId xmlns:a16="http://schemas.microsoft.com/office/drawing/2014/main" id="{E97BF531-7179-4AE7-85B1-7CE0ACE0BCEB}"/>
              </a:ext>
            </a:extLst>
          </p:cNvPr>
          <p:cNvSpPr txBox="1"/>
          <p:nvPr/>
        </p:nvSpPr>
        <p:spPr>
          <a:xfrm>
            <a:off x="7250448" y="5565485"/>
            <a:ext cx="416729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The</a:t>
            </a:r>
            <a:r>
              <a:rPr sz="1867" b="1" spc="-4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center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will</a:t>
            </a:r>
            <a:r>
              <a:rPr sz="1867" b="1" spc="-3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formally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open</a:t>
            </a:r>
            <a:r>
              <a:rPr sz="1867" b="1" spc="-3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in</a:t>
            </a:r>
            <a:r>
              <a:rPr sz="1867" b="1" spc="-27" dirty="0">
                <a:latin typeface="Arial"/>
                <a:cs typeface="Arial"/>
              </a:rPr>
              <a:t> 2009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9" name="object 9">
            <a:extLst>
              <a:ext uri="{FF2B5EF4-FFF2-40B4-BE49-F238E27FC236}">
                <a16:creationId xmlns:a16="http://schemas.microsoft.com/office/drawing/2014/main" id="{42E1251C-7D10-4274-BF3C-DC966040A153}"/>
              </a:ext>
            </a:extLst>
          </p:cNvPr>
          <p:cNvGrpSpPr/>
          <p:nvPr/>
        </p:nvGrpSpPr>
        <p:grpSpPr>
          <a:xfrm>
            <a:off x="9279945" y="4373997"/>
            <a:ext cx="110067" cy="847513"/>
            <a:chOff x="6959959" y="3280497"/>
            <a:chExt cx="82550" cy="635635"/>
          </a:xfrm>
        </p:grpSpPr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106F5AF2-E1CD-40E6-82D1-6BEFA5A6C984}"/>
                </a:ext>
              </a:extLst>
            </p:cNvPr>
            <p:cNvSpPr/>
            <p:nvPr/>
          </p:nvSpPr>
          <p:spPr>
            <a:xfrm>
              <a:off x="7000950" y="3280497"/>
              <a:ext cx="0" cy="539750"/>
            </a:xfrm>
            <a:custGeom>
              <a:avLst/>
              <a:gdLst/>
              <a:ahLst/>
              <a:cxnLst/>
              <a:rect l="l" t="t" r="r" b="b"/>
              <a:pathLst>
                <a:path h="539750">
                  <a:moveTo>
                    <a:pt x="0" y="0"/>
                  </a:moveTo>
                  <a:lnTo>
                    <a:pt x="0" y="539399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11">
              <a:extLst>
                <a:ext uri="{FF2B5EF4-FFF2-40B4-BE49-F238E27FC236}">
                  <a16:creationId xmlns:a16="http://schemas.microsoft.com/office/drawing/2014/main" id="{E2B2F836-AFA1-4CB3-8E01-880CA97B052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9959" y="3810372"/>
              <a:ext cx="81980" cy="105500"/>
            </a:xfrm>
            <a:prstGeom prst="rect">
              <a:avLst/>
            </a:prstGeom>
          </p:spPr>
        </p:pic>
      </p:grpSp>
      <p:grpSp>
        <p:nvGrpSpPr>
          <p:cNvPr id="22" name="object 12">
            <a:extLst>
              <a:ext uri="{FF2B5EF4-FFF2-40B4-BE49-F238E27FC236}">
                <a16:creationId xmlns:a16="http://schemas.microsoft.com/office/drawing/2014/main" id="{B396505D-1755-4E6A-9501-52DFF95FBDB7}"/>
              </a:ext>
            </a:extLst>
          </p:cNvPr>
          <p:cNvGrpSpPr/>
          <p:nvPr/>
        </p:nvGrpSpPr>
        <p:grpSpPr>
          <a:xfrm>
            <a:off x="7366232" y="1104217"/>
            <a:ext cx="3937000" cy="776393"/>
            <a:chOff x="5524674" y="828162"/>
            <a:chExt cx="2952750" cy="582295"/>
          </a:xfrm>
        </p:grpSpPr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6DD38275-A1F6-450A-93CB-7861E2563012}"/>
                </a:ext>
              </a:extLst>
            </p:cNvPr>
            <p:cNvSpPr/>
            <p:nvPr/>
          </p:nvSpPr>
          <p:spPr>
            <a:xfrm>
              <a:off x="5529437" y="832925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28475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7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>
              <a:extLst>
                <a:ext uri="{FF2B5EF4-FFF2-40B4-BE49-F238E27FC236}">
                  <a16:creationId xmlns:a16="http://schemas.microsoft.com/office/drawing/2014/main" id="{D6385526-6C35-478F-B954-3C62F7F742CE}"/>
                </a:ext>
              </a:extLst>
            </p:cNvPr>
            <p:cNvSpPr/>
            <p:nvPr/>
          </p:nvSpPr>
          <p:spPr>
            <a:xfrm>
              <a:off x="5529437" y="832925"/>
              <a:ext cx="2943225" cy="572770"/>
            </a:xfrm>
            <a:custGeom>
              <a:avLst/>
              <a:gdLst/>
              <a:ahLst/>
              <a:cxnLst/>
              <a:rect l="l" t="t" r="r" b="b"/>
              <a:pathLst>
                <a:path w="294322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2847548" y="0"/>
                  </a:lnTo>
                  <a:lnTo>
                    <a:pt x="2900505" y="16037"/>
                  </a:lnTo>
                  <a:lnTo>
                    <a:pt x="2935734" y="58924"/>
                  </a:lnTo>
                  <a:lnTo>
                    <a:pt x="2942999" y="95451"/>
                  </a:lnTo>
                  <a:lnTo>
                    <a:pt x="2942999" y="477247"/>
                  </a:lnTo>
                  <a:lnTo>
                    <a:pt x="2935498" y="514402"/>
                  </a:lnTo>
                  <a:lnTo>
                    <a:pt x="2915042" y="544742"/>
                  </a:lnTo>
                  <a:lnTo>
                    <a:pt x="2884702" y="565198"/>
                  </a:lnTo>
                  <a:lnTo>
                    <a:pt x="28475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5">
            <a:extLst>
              <a:ext uri="{FF2B5EF4-FFF2-40B4-BE49-F238E27FC236}">
                <a16:creationId xmlns:a16="http://schemas.microsoft.com/office/drawing/2014/main" id="{BDE5A683-F17B-4D7B-9986-2334C9E58B90}"/>
              </a:ext>
            </a:extLst>
          </p:cNvPr>
          <p:cNvSpPr txBox="1"/>
          <p:nvPr/>
        </p:nvSpPr>
        <p:spPr>
          <a:xfrm>
            <a:off x="7823506" y="1326251"/>
            <a:ext cx="302429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AMR-to-text</a:t>
            </a:r>
            <a:r>
              <a:rPr sz="1867" b="1" spc="-7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(LDC2017T10)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00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Benchmark</a:t>
            </a:r>
            <a:r>
              <a:rPr spc="-33" dirty="0"/>
              <a:t> </a:t>
            </a:r>
            <a:r>
              <a:rPr dirty="0"/>
              <a:t>contamination:</a:t>
            </a:r>
            <a:r>
              <a:rPr spc="-33" dirty="0"/>
              <a:t> </a:t>
            </a:r>
            <a:r>
              <a:rPr dirty="0"/>
              <a:t>Input</a:t>
            </a:r>
            <a:r>
              <a:rPr spc="-33" dirty="0"/>
              <a:t> </a:t>
            </a:r>
            <a:r>
              <a:rPr dirty="0"/>
              <a:t>and</a:t>
            </a:r>
            <a:r>
              <a:rPr spc="-27" dirty="0"/>
              <a:t> </a:t>
            </a:r>
            <a:r>
              <a:rPr spc="-13" dirty="0"/>
              <a:t>output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9249" y="1695617"/>
            <a:ext cx="11374120" cy="2500207"/>
            <a:chOff x="306937" y="1271712"/>
            <a:chExt cx="8530590" cy="1875155"/>
          </a:xfrm>
        </p:grpSpPr>
        <p:sp>
          <p:nvSpPr>
            <p:cNvPr id="4" name="object 4"/>
            <p:cNvSpPr/>
            <p:nvPr/>
          </p:nvSpPr>
          <p:spPr>
            <a:xfrm>
              <a:off x="311699" y="1276474"/>
              <a:ext cx="8521065" cy="1865630"/>
            </a:xfrm>
            <a:custGeom>
              <a:avLst/>
              <a:gdLst/>
              <a:ahLst/>
              <a:cxnLst/>
              <a:rect l="l" t="t" r="r" b="b"/>
              <a:pathLst>
                <a:path w="8521065" h="1865630">
                  <a:moveTo>
                    <a:pt x="8209743" y="1865099"/>
                  </a:moveTo>
                  <a:lnTo>
                    <a:pt x="310856" y="1865099"/>
                  </a:lnTo>
                  <a:lnTo>
                    <a:pt x="264920" y="1861729"/>
                  </a:lnTo>
                  <a:lnTo>
                    <a:pt x="221076" y="1851938"/>
                  </a:lnTo>
                  <a:lnTo>
                    <a:pt x="179807" y="1836208"/>
                  </a:lnTo>
                  <a:lnTo>
                    <a:pt x="141591" y="1815019"/>
                  </a:lnTo>
                  <a:lnTo>
                    <a:pt x="106911" y="1788852"/>
                  </a:lnTo>
                  <a:lnTo>
                    <a:pt x="76247" y="1758188"/>
                  </a:lnTo>
                  <a:lnTo>
                    <a:pt x="50080" y="1723508"/>
                  </a:lnTo>
                  <a:lnTo>
                    <a:pt x="28891" y="1685292"/>
                  </a:lnTo>
                  <a:lnTo>
                    <a:pt x="13161" y="1644023"/>
                  </a:lnTo>
                  <a:lnTo>
                    <a:pt x="3370" y="1600179"/>
                  </a:lnTo>
                  <a:lnTo>
                    <a:pt x="0" y="1554243"/>
                  </a:lnTo>
                  <a:lnTo>
                    <a:pt x="0" y="310856"/>
                  </a:lnTo>
                  <a:lnTo>
                    <a:pt x="3370" y="264920"/>
                  </a:lnTo>
                  <a:lnTo>
                    <a:pt x="13161" y="221076"/>
                  </a:lnTo>
                  <a:lnTo>
                    <a:pt x="28891" y="179807"/>
                  </a:lnTo>
                  <a:lnTo>
                    <a:pt x="50080" y="141591"/>
                  </a:lnTo>
                  <a:lnTo>
                    <a:pt x="76247" y="106911"/>
                  </a:lnTo>
                  <a:lnTo>
                    <a:pt x="106911" y="76247"/>
                  </a:lnTo>
                  <a:lnTo>
                    <a:pt x="141591" y="50080"/>
                  </a:lnTo>
                  <a:lnTo>
                    <a:pt x="179807" y="28891"/>
                  </a:lnTo>
                  <a:lnTo>
                    <a:pt x="221076" y="13161"/>
                  </a:lnTo>
                  <a:lnTo>
                    <a:pt x="264920" y="3370"/>
                  </a:lnTo>
                  <a:lnTo>
                    <a:pt x="310856" y="0"/>
                  </a:lnTo>
                  <a:lnTo>
                    <a:pt x="8209743" y="0"/>
                  </a:lnTo>
                  <a:lnTo>
                    <a:pt x="8258666" y="3872"/>
                  </a:lnTo>
                  <a:lnTo>
                    <a:pt x="8305942" y="15259"/>
                  </a:lnTo>
                  <a:lnTo>
                    <a:pt x="8350739" y="33814"/>
                  </a:lnTo>
                  <a:lnTo>
                    <a:pt x="8392220" y="59192"/>
                  </a:lnTo>
                  <a:lnTo>
                    <a:pt x="8429552" y="91047"/>
                  </a:lnTo>
                  <a:lnTo>
                    <a:pt x="8461407" y="128379"/>
                  </a:lnTo>
                  <a:lnTo>
                    <a:pt x="8486785" y="169860"/>
                  </a:lnTo>
                  <a:lnTo>
                    <a:pt x="8505340" y="214657"/>
                  </a:lnTo>
                  <a:lnTo>
                    <a:pt x="8516727" y="261934"/>
                  </a:lnTo>
                  <a:lnTo>
                    <a:pt x="8520599" y="310856"/>
                  </a:lnTo>
                  <a:lnTo>
                    <a:pt x="8520599" y="1554243"/>
                  </a:lnTo>
                  <a:lnTo>
                    <a:pt x="8517229" y="1600179"/>
                  </a:lnTo>
                  <a:lnTo>
                    <a:pt x="8507438" y="1644023"/>
                  </a:lnTo>
                  <a:lnTo>
                    <a:pt x="8491708" y="1685292"/>
                  </a:lnTo>
                  <a:lnTo>
                    <a:pt x="8470519" y="1723508"/>
                  </a:lnTo>
                  <a:lnTo>
                    <a:pt x="8444352" y="1758188"/>
                  </a:lnTo>
                  <a:lnTo>
                    <a:pt x="8413688" y="1788852"/>
                  </a:lnTo>
                  <a:lnTo>
                    <a:pt x="8379008" y="1815019"/>
                  </a:lnTo>
                  <a:lnTo>
                    <a:pt x="8340792" y="1836208"/>
                  </a:lnTo>
                  <a:lnTo>
                    <a:pt x="8299523" y="1851938"/>
                  </a:lnTo>
                  <a:lnTo>
                    <a:pt x="8255679" y="1861729"/>
                  </a:lnTo>
                  <a:lnTo>
                    <a:pt x="8209743" y="1865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1699" y="1276474"/>
              <a:ext cx="8521065" cy="1865630"/>
            </a:xfrm>
            <a:custGeom>
              <a:avLst/>
              <a:gdLst/>
              <a:ahLst/>
              <a:cxnLst/>
              <a:rect l="l" t="t" r="r" b="b"/>
              <a:pathLst>
                <a:path w="8521065" h="1865630">
                  <a:moveTo>
                    <a:pt x="0" y="310856"/>
                  </a:moveTo>
                  <a:lnTo>
                    <a:pt x="3370" y="264920"/>
                  </a:lnTo>
                  <a:lnTo>
                    <a:pt x="13161" y="221076"/>
                  </a:lnTo>
                  <a:lnTo>
                    <a:pt x="28891" y="179807"/>
                  </a:lnTo>
                  <a:lnTo>
                    <a:pt x="50080" y="141591"/>
                  </a:lnTo>
                  <a:lnTo>
                    <a:pt x="76247" y="106911"/>
                  </a:lnTo>
                  <a:lnTo>
                    <a:pt x="106911" y="76247"/>
                  </a:lnTo>
                  <a:lnTo>
                    <a:pt x="141591" y="50080"/>
                  </a:lnTo>
                  <a:lnTo>
                    <a:pt x="179807" y="28891"/>
                  </a:lnTo>
                  <a:lnTo>
                    <a:pt x="221076" y="13161"/>
                  </a:lnTo>
                  <a:lnTo>
                    <a:pt x="264920" y="3370"/>
                  </a:lnTo>
                  <a:lnTo>
                    <a:pt x="310856" y="0"/>
                  </a:lnTo>
                  <a:lnTo>
                    <a:pt x="8209743" y="0"/>
                  </a:lnTo>
                  <a:lnTo>
                    <a:pt x="8258666" y="3872"/>
                  </a:lnTo>
                  <a:lnTo>
                    <a:pt x="8305942" y="15259"/>
                  </a:lnTo>
                  <a:lnTo>
                    <a:pt x="8350739" y="33814"/>
                  </a:lnTo>
                  <a:lnTo>
                    <a:pt x="8392220" y="59192"/>
                  </a:lnTo>
                  <a:lnTo>
                    <a:pt x="8429552" y="91047"/>
                  </a:lnTo>
                  <a:lnTo>
                    <a:pt x="8461407" y="128379"/>
                  </a:lnTo>
                  <a:lnTo>
                    <a:pt x="8486785" y="169860"/>
                  </a:lnTo>
                  <a:lnTo>
                    <a:pt x="8505340" y="214657"/>
                  </a:lnTo>
                  <a:lnTo>
                    <a:pt x="8516727" y="261934"/>
                  </a:lnTo>
                  <a:lnTo>
                    <a:pt x="8520599" y="310856"/>
                  </a:lnTo>
                  <a:lnTo>
                    <a:pt x="8520599" y="1554243"/>
                  </a:lnTo>
                  <a:lnTo>
                    <a:pt x="8517229" y="1600179"/>
                  </a:lnTo>
                  <a:lnTo>
                    <a:pt x="8507438" y="1644023"/>
                  </a:lnTo>
                  <a:lnTo>
                    <a:pt x="8491708" y="1685292"/>
                  </a:lnTo>
                  <a:lnTo>
                    <a:pt x="8470519" y="1723508"/>
                  </a:lnTo>
                  <a:lnTo>
                    <a:pt x="8444352" y="1758188"/>
                  </a:lnTo>
                  <a:lnTo>
                    <a:pt x="8413688" y="1788852"/>
                  </a:lnTo>
                  <a:lnTo>
                    <a:pt x="8379008" y="1815019"/>
                  </a:lnTo>
                  <a:lnTo>
                    <a:pt x="8340792" y="1836208"/>
                  </a:lnTo>
                  <a:lnTo>
                    <a:pt x="8299523" y="1851938"/>
                  </a:lnTo>
                  <a:lnTo>
                    <a:pt x="8255679" y="1861729"/>
                  </a:lnTo>
                  <a:lnTo>
                    <a:pt x="8209743" y="1865099"/>
                  </a:lnTo>
                  <a:lnTo>
                    <a:pt x="310856" y="1865099"/>
                  </a:lnTo>
                  <a:lnTo>
                    <a:pt x="264920" y="1861729"/>
                  </a:lnTo>
                  <a:lnTo>
                    <a:pt x="221076" y="1851938"/>
                  </a:lnTo>
                  <a:lnTo>
                    <a:pt x="179807" y="1836208"/>
                  </a:lnTo>
                  <a:lnTo>
                    <a:pt x="141591" y="1815019"/>
                  </a:lnTo>
                  <a:lnTo>
                    <a:pt x="106911" y="1788852"/>
                  </a:lnTo>
                  <a:lnTo>
                    <a:pt x="76247" y="1758188"/>
                  </a:lnTo>
                  <a:lnTo>
                    <a:pt x="50080" y="1723508"/>
                  </a:lnTo>
                  <a:lnTo>
                    <a:pt x="28891" y="1685292"/>
                  </a:lnTo>
                  <a:lnTo>
                    <a:pt x="13161" y="1644023"/>
                  </a:lnTo>
                  <a:lnTo>
                    <a:pt x="3370" y="1600179"/>
                  </a:lnTo>
                  <a:lnTo>
                    <a:pt x="0" y="1554243"/>
                  </a:lnTo>
                  <a:lnTo>
                    <a:pt x="0" y="3108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4362" y="1911246"/>
            <a:ext cx="9183793" cy="20075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LAMA</a:t>
            </a:r>
            <a:r>
              <a:rPr sz="1867" spc="-100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(Google-</a:t>
            </a:r>
            <a:r>
              <a:rPr sz="1867" dirty="0">
                <a:latin typeface="Arial"/>
                <a:cs typeface="Arial"/>
              </a:rPr>
              <a:t>RE</a:t>
            </a:r>
            <a:r>
              <a:rPr sz="1867" spc="13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subset)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spc="-27" dirty="0">
                <a:latin typeface="Arial"/>
                <a:cs typeface="Arial"/>
              </a:rPr>
              <a:t>Templated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evaluation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example: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dirty="0">
                <a:latin typeface="Arial"/>
                <a:cs typeface="Arial"/>
              </a:rPr>
              <a:t>“Max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Coyer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was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born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in</a:t>
            </a:r>
            <a:r>
              <a:rPr sz="1867" spc="-7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[MASK]”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dirty="0">
                <a:latin typeface="Arial"/>
                <a:cs typeface="Arial"/>
              </a:rPr>
              <a:t>Original</a:t>
            </a:r>
            <a:r>
              <a:rPr sz="1867" spc="-5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sentence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from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Wikipedia: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dirty="0">
                <a:latin typeface="Arial"/>
                <a:cs typeface="Arial"/>
              </a:rPr>
              <a:t>“Max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Coyer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(1954–1988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was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an</a:t>
            </a:r>
            <a:r>
              <a:rPr sz="1867" spc="-1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American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artist,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born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in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Hartford,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Connecticut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in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1954.”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5C28C2-5DED-4BBA-9ABD-63EA458FFF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249" y="1695616"/>
            <a:ext cx="11374120" cy="2446867"/>
            <a:chOff x="306937" y="1271712"/>
            <a:chExt cx="8530590" cy="1835150"/>
          </a:xfrm>
        </p:grpSpPr>
        <p:sp>
          <p:nvSpPr>
            <p:cNvPr id="3" name="object 3"/>
            <p:cNvSpPr/>
            <p:nvPr/>
          </p:nvSpPr>
          <p:spPr>
            <a:xfrm>
              <a:off x="311699" y="1276474"/>
              <a:ext cx="8521065" cy="1825625"/>
            </a:xfrm>
            <a:custGeom>
              <a:avLst/>
              <a:gdLst/>
              <a:ahLst/>
              <a:cxnLst/>
              <a:rect l="l" t="t" r="r" b="b"/>
              <a:pathLst>
                <a:path w="8521065" h="1825625">
                  <a:moveTo>
                    <a:pt x="8216393" y="1825199"/>
                  </a:moveTo>
                  <a:lnTo>
                    <a:pt x="304206" y="1825199"/>
                  </a:lnTo>
                  <a:lnTo>
                    <a:pt x="254862" y="1821218"/>
                  </a:lnTo>
                  <a:lnTo>
                    <a:pt x="208053" y="1809691"/>
                  </a:lnTo>
                  <a:lnTo>
                    <a:pt x="164405" y="1791245"/>
                  </a:lnTo>
                  <a:lnTo>
                    <a:pt x="124545" y="1766505"/>
                  </a:lnTo>
                  <a:lnTo>
                    <a:pt x="89099" y="1736100"/>
                  </a:lnTo>
                  <a:lnTo>
                    <a:pt x="58694" y="1700654"/>
                  </a:lnTo>
                  <a:lnTo>
                    <a:pt x="33954" y="1660794"/>
                  </a:lnTo>
                  <a:lnTo>
                    <a:pt x="15508" y="1617146"/>
                  </a:lnTo>
                  <a:lnTo>
                    <a:pt x="3981" y="1570337"/>
                  </a:lnTo>
                  <a:lnTo>
                    <a:pt x="0" y="1520993"/>
                  </a:lnTo>
                  <a:lnTo>
                    <a:pt x="0" y="304206"/>
                  </a:lnTo>
                  <a:lnTo>
                    <a:pt x="3981" y="254862"/>
                  </a:lnTo>
                  <a:lnTo>
                    <a:pt x="15508" y="208053"/>
                  </a:lnTo>
                  <a:lnTo>
                    <a:pt x="33954" y="164405"/>
                  </a:lnTo>
                  <a:lnTo>
                    <a:pt x="58694" y="124545"/>
                  </a:lnTo>
                  <a:lnTo>
                    <a:pt x="89099" y="89099"/>
                  </a:lnTo>
                  <a:lnTo>
                    <a:pt x="124545" y="58694"/>
                  </a:lnTo>
                  <a:lnTo>
                    <a:pt x="164405" y="33954"/>
                  </a:lnTo>
                  <a:lnTo>
                    <a:pt x="208053" y="15508"/>
                  </a:lnTo>
                  <a:lnTo>
                    <a:pt x="254862" y="3981"/>
                  </a:lnTo>
                  <a:lnTo>
                    <a:pt x="304206" y="0"/>
                  </a:lnTo>
                  <a:lnTo>
                    <a:pt x="8216393" y="0"/>
                  </a:lnTo>
                  <a:lnTo>
                    <a:pt x="8264269" y="3789"/>
                  </a:lnTo>
                  <a:lnTo>
                    <a:pt x="8310534" y="14932"/>
                  </a:lnTo>
                  <a:lnTo>
                    <a:pt x="8354373" y="33091"/>
                  </a:lnTo>
                  <a:lnTo>
                    <a:pt x="8394967" y="57926"/>
                  </a:lnTo>
                  <a:lnTo>
                    <a:pt x="8431499" y="89099"/>
                  </a:lnTo>
                  <a:lnTo>
                    <a:pt x="8462673" y="125632"/>
                  </a:lnTo>
                  <a:lnTo>
                    <a:pt x="8487508" y="166226"/>
                  </a:lnTo>
                  <a:lnTo>
                    <a:pt x="8505667" y="210065"/>
                  </a:lnTo>
                  <a:lnTo>
                    <a:pt x="8516810" y="256330"/>
                  </a:lnTo>
                  <a:lnTo>
                    <a:pt x="8520599" y="304206"/>
                  </a:lnTo>
                  <a:lnTo>
                    <a:pt x="8520599" y="1520993"/>
                  </a:lnTo>
                  <a:lnTo>
                    <a:pt x="8516618" y="1570337"/>
                  </a:lnTo>
                  <a:lnTo>
                    <a:pt x="8505091" y="1617146"/>
                  </a:lnTo>
                  <a:lnTo>
                    <a:pt x="8486645" y="1660794"/>
                  </a:lnTo>
                  <a:lnTo>
                    <a:pt x="8461905" y="1700654"/>
                  </a:lnTo>
                  <a:lnTo>
                    <a:pt x="8431500" y="1736100"/>
                  </a:lnTo>
                  <a:lnTo>
                    <a:pt x="8396054" y="1766505"/>
                  </a:lnTo>
                  <a:lnTo>
                    <a:pt x="8356194" y="1791245"/>
                  </a:lnTo>
                  <a:lnTo>
                    <a:pt x="8312546" y="1809691"/>
                  </a:lnTo>
                  <a:lnTo>
                    <a:pt x="8265737" y="1821218"/>
                  </a:lnTo>
                  <a:lnTo>
                    <a:pt x="8216393" y="1825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1699" y="1276474"/>
              <a:ext cx="8521065" cy="1825625"/>
            </a:xfrm>
            <a:custGeom>
              <a:avLst/>
              <a:gdLst/>
              <a:ahLst/>
              <a:cxnLst/>
              <a:rect l="l" t="t" r="r" b="b"/>
              <a:pathLst>
                <a:path w="8521065" h="1825625">
                  <a:moveTo>
                    <a:pt x="0" y="304206"/>
                  </a:moveTo>
                  <a:lnTo>
                    <a:pt x="3981" y="254862"/>
                  </a:lnTo>
                  <a:lnTo>
                    <a:pt x="15508" y="208053"/>
                  </a:lnTo>
                  <a:lnTo>
                    <a:pt x="33954" y="164405"/>
                  </a:lnTo>
                  <a:lnTo>
                    <a:pt x="58694" y="124545"/>
                  </a:lnTo>
                  <a:lnTo>
                    <a:pt x="89099" y="89099"/>
                  </a:lnTo>
                  <a:lnTo>
                    <a:pt x="124545" y="58694"/>
                  </a:lnTo>
                  <a:lnTo>
                    <a:pt x="164405" y="33954"/>
                  </a:lnTo>
                  <a:lnTo>
                    <a:pt x="208053" y="15508"/>
                  </a:lnTo>
                  <a:lnTo>
                    <a:pt x="254862" y="3981"/>
                  </a:lnTo>
                  <a:lnTo>
                    <a:pt x="304206" y="0"/>
                  </a:lnTo>
                  <a:lnTo>
                    <a:pt x="8216393" y="0"/>
                  </a:lnTo>
                  <a:lnTo>
                    <a:pt x="8264269" y="3789"/>
                  </a:lnTo>
                  <a:lnTo>
                    <a:pt x="8310534" y="14932"/>
                  </a:lnTo>
                  <a:lnTo>
                    <a:pt x="8354373" y="33091"/>
                  </a:lnTo>
                  <a:lnTo>
                    <a:pt x="8394967" y="57926"/>
                  </a:lnTo>
                  <a:lnTo>
                    <a:pt x="8431499" y="89099"/>
                  </a:lnTo>
                  <a:lnTo>
                    <a:pt x="8462673" y="125632"/>
                  </a:lnTo>
                  <a:lnTo>
                    <a:pt x="8487508" y="166226"/>
                  </a:lnTo>
                  <a:lnTo>
                    <a:pt x="8505667" y="210065"/>
                  </a:lnTo>
                  <a:lnTo>
                    <a:pt x="8516810" y="256330"/>
                  </a:lnTo>
                  <a:lnTo>
                    <a:pt x="8520599" y="304206"/>
                  </a:lnTo>
                  <a:lnTo>
                    <a:pt x="8520599" y="1520993"/>
                  </a:lnTo>
                  <a:lnTo>
                    <a:pt x="8516618" y="1570337"/>
                  </a:lnTo>
                  <a:lnTo>
                    <a:pt x="8505091" y="1617146"/>
                  </a:lnTo>
                  <a:lnTo>
                    <a:pt x="8486645" y="1660794"/>
                  </a:lnTo>
                  <a:lnTo>
                    <a:pt x="8461905" y="1700654"/>
                  </a:lnTo>
                  <a:lnTo>
                    <a:pt x="8431500" y="1736100"/>
                  </a:lnTo>
                  <a:lnTo>
                    <a:pt x="8396054" y="1766505"/>
                  </a:lnTo>
                  <a:lnTo>
                    <a:pt x="8356194" y="1791245"/>
                  </a:lnTo>
                  <a:lnTo>
                    <a:pt x="8312546" y="1809691"/>
                  </a:lnTo>
                  <a:lnTo>
                    <a:pt x="8265737" y="1821218"/>
                  </a:lnTo>
                  <a:lnTo>
                    <a:pt x="8216393" y="1825199"/>
                  </a:lnTo>
                  <a:lnTo>
                    <a:pt x="304206" y="1825199"/>
                  </a:lnTo>
                  <a:lnTo>
                    <a:pt x="254862" y="1821218"/>
                  </a:lnTo>
                  <a:lnTo>
                    <a:pt x="208053" y="1809691"/>
                  </a:lnTo>
                  <a:lnTo>
                    <a:pt x="164405" y="1791245"/>
                  </a:lnTo>
                  <a:lnTo>
                    <a:pt x="124545" y="1766505"/>
                  </a:lnTo>
                  <a:lnTo>
                    <a:pt x="89099" y="1736100"/>
                  </a:lnTo>
                  <a:lnTo>
                    <a:pt x="58694" y="1700654"/>
                  </a:lnTo>
                  <a:lnTo>
                    <a:pt x="33954" y="1660794"/>
                  </a:lnTo>
                  <a:lnTo>
                    <a:pt x="15508" y="1617146"/>
                  </a:lnTo>
                  <a:lnTo>
                    <a:pt x="3981" y="1570337"/>
                  </a:lnTo>
                  <a:lnTo>
                    <a:pt x="0" y="1520993"/>
                  </a:lnTo>
                  <a:lnTo>
                    <a:pt x="0" y="30420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31765" y="1908650"/>
            <a:ext cx="28236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LAMA</a:t>
            </a:r>
            <a:r>
              <a:rPr sz="1867" spc="-100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(Google-</a:t>
            </a:r>
            <a:r>
              <a:rPr sz="1867" dirty="0">
                <a:latin typeface="Arial"/>
                <a:cs typeface="Arial"/>
              </a:rPr>
              <a:t>RE</a:t>
            </a:r>
            <a:r>
              <a:rPr sz="1867" spc="13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subset)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764" y="2467450"/>
            <a:ext cx="348488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27" dirty="0">
                <a:latin typeface="Arial"/>
                <a:cs typeface="Arial"/>
              </a:rPr>
              <a:t>Templated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evaluation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example: </a:t>
            </a:r>
            <a:r>
              <a:rPr sz="1867" dirty="0">
                <a:latin typeface="Arial"/>
                <a:cs typeface="Arial"/>
              </a:rPr>
              <a:t>“Max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Coyer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was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born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in</a:t>
            </a:r>
            <a:r>
              <a:rPr sz="1867" spc="-7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[MASK]”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1765" y="3305650"/>
            <a:ext cx="9183793" cy="5813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19"/>
              </a:lnSpc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Original</a:t>
            </a:r>
            <a:r>
              <a:rPr sz="1867" spc="-5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sentence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from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Wikipedia: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dirty="0">
                <a:latin typeface="Arial"/>
                <a:cs typeface="Arial"/>
              </a:rPr>
              <a:t>“Max</a:t>
            </a:r>
            <a:r>
              <a:rPr sz="1867" spc="-4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Coyer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(1954–1988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was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an</a:t>
            </a:r>
            <a:r>
              <a:rPr sz="1867" spc="-1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American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artist,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born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in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Hartford,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Connecticut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in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1954.”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7017" y="1967791"/>
            <a:ext cx="2944707" cy="4068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b="1" dirty="0">
                <a:solidFill>
                  <a:srgbClr val="CC0000"/>
                </a:solidFill>
                <a:latin typeface="Arial"/>
                <a:cs typeface="Arial"/>
              </a:rPr>
              <a:t>3.3%</a:t>
            </a:r>
            <a:r>
              <a:rPr sz="2533" b="1" spc="-2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33" b="1" spc="-13" dirty="0">
                <a:solidFill>
                  <a:srgbClr val="CC0000"/>
                </a:solidFill>
                <a:latin typeface="Arial"/>
                <a:cs typeface="Arial"/>
              </a:rPr>
              <a:t>Memorisation</a:t>
            </a:r>
            <a:endParaRPr sz="2533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5346" y="2686191"/>
            <a:ext cx="3177540" cy="4068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b="1" dirty="0">
                <a:solidFill>
                  <a:srgbClr val="CC0000"/>
                </a:solidFill>
                <a:latin typeface="Arial"/>
                <a:cs typeface="Arial"/>
              </a:rPr>
              <a:t>5.7%</a:t>
            </a:r>
            <a:r>
              <a:rPr sz="2533" b="1" spc="-2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33" b="1" spc="-13" dirty="0">
                <a:solidFill>
                  <a:srgbClr val="CC0000"/>
                </a:solidFill>
                <a:latin typeface="Arial"/>
                <a:cs typeface="Arial"/>
              </a:rPr>
              <a:t>Summarisation</a:t>
            </a:r>
            <a:endParaRPr sz="2533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9249" y="4586483"/>
            <a:ext cx="11374120" cy="612987"/>
            <a:chOff x="306937" y="3439862"/>
            <a:chExt cx="8530590" cy="459740"/>
          </a:xfrm>
        </p:grpSpPr>
        <p:sp>
          <p:nvSpPr>
            <p:cNvPr id="16" name="object 16"/>
            <p:cNvSpPr/>
            <p:nvPr/>
          </p:nvSpPr>
          <p:spPr>
            <a:xfrm>
              <a:off x="311699" y="3444625"/>
              <a:ext cx="8521065" cy="450215"/>
            </a:xfrm>
            <a:custGeom>
              <a:avLst/>
              <a:gdLst/>
              <a:ahLst/>
              <a:cxnLst/>
              <a:rect l="l" t="t" r="r" b="b"/>
              <a:pathLst>
                <a:path w="8521065" h="450214">
                  <a:moveTo>
                    <a:pt x="8445598" y="449999"/>
                  </a:moveTo>
                  <a:lnTo>
                    <a:pt x="75001" y="449999"/>
                  </a:lnTo>
                  <a:lnTo>
                    <a:pt x="45807" y="444106"/>
                  </a:lnTo>
                  <a:lnTo>
                    <a:pt x="21967" y="428032"/>
                  </a:lnTo>
                  <a:lnTo>
                    <a:pt x="5893" y="404192"/>
                  </a:lnTo>
                  <a:lnTo>
                    <a:pt x="0" y="374998"/>
                  </a:lnTo>
                  <a:lnTo>
                    <a:pt x="0" y="75001"/>
                  </a:lnTo>
                  <a:lnTo>
                    <a:pt x="5893" y="45807"/>
                  </a:lnTo>
                  <a:lnTo>
                    <a:pt x="21967" y="21967"/>
                  </a:lnTo>
                  <a:lnTo>
                    <a:pt x="45807" y="5893"/>
                  </a:lnTo>
                  <a:lnTo>
                    <a:pt x="75001" y="0"/>
                  </a:lnTo>
                  <a:lnTo>
                    <a:pt x="8445598" y="0"/>
                  </a:lnTo>
                  <a:lnTo>
                    <a:pt x="8487209" y="12601"/>
                  </a:lnTo>
                  <a:lnTo>
                    <a:pt x="8514890" y="46299"/>
                  </a:lnTo>
                  <a:lnTo>
                    <a:pt x="8520599" y="75001"/>
                  </a:lnTo>
                  <a:lnTo>
                    <a:pt x="8520599" y="374998"/>
                  </a:lnTo>
                  <a:lnTo>
                    <a:pt x="8514705" y="404192"/>
                  </a:lnTo>
                  <a:lnTo>
                    <a:pt x="8498632" y="428032"/>
                  </a:lnTo>
                  <a:lnTo>
                    <a:pt x="8474792" y="444106"/>
                  </a:lnTo>
                  <a:lnTo>
                    <a:pt x="8445598" y="449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1699" y="3444625"/>
              <a:ext cx="8521065" cy="450215"/>
            </a:xfrm>
            <a:custGeom>
              <a:avLst/>
              <a:gdLst/>
              <a:ahLst/>
              <a:cxnLst/>
              <a:rect l="l" t="t" r="r" b="b"/>
              <a:pathLst>
                <a:path w="8521065" h="450214">
                  <a:moveTo>
                    <a:pt x="0" y="75001"/>
                  </a:moveTo>
                  <a:lnTo>
                    <a:pt x="5893" y="45807"/>
                  </a:lnTo>
                  <a:lnTo>
                    <a:pt x="21967" y="21967"/>
                  </a:lnTo>
                  <a:lnTo>
                    <a:pt x="45807" y="5893"/>
                  </a:lnTo>
                  <a:lnTo>
                    <a:pt x="75001" y="0"/>
                  </a:lnTo>
                  <a:lnTo>
                    <a:pt x="8445598" y="0"/>
                  </a:lnTo>
                  <a:lnTo>
                    <a:pt x="8487209" y="12601"/>
                  </a:lnTo>
                  <a:lnTo>
                    <a:pt x="8514890" y="46299"/>
                  </a:lnTo>
                  <a:lnTo>
                    <a:pt x="8520599" y="75001"/>
                  </a:lnTo>
                  <a:lnTo>
                    <a:pt x="8520599" y="374998"/>
                  </a:lnTo>
                  <a:lnTo>
                    <a:pt x="8514705" y="404192"/>
                  </a:lnTo>
                  <a:lnTo>
                    <a:pt x="8498632" y="428032"/>
                  </a:lnTo>
                  <a:lnTo>
                    <a:pt x="8474792" y="444106"/>
                  </a:lnTo>
                  <a:lnTo>
                    <a:pt x="8445598" y="449999"/>
                  </a:lnTo>
                  <a:lnTo>
                    <a:pt x="75001" y="449999"/>
                  </a:lnTo>
                  <a:lnTo>
                    <a:pt x="45807" y="444106"/>
                  </a:lnTo>
                  <a:lnTo>
                    <a:pt x="21967" y="428032"/>
                  </a:lnTo>
                  <a:lnTo>
                    <a:pt x="5893" y="404192"/>
                  </a:lnTo>
                  <a:lnTo>
                    <a:pt x="0" y="374998"/>
                  </a:lnTo>
                  <a:lnTo>
                    <a:pt x="0" y="750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2256" y="4710007"/>
            <a:ext cx="41656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XSum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(Summarisation):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Built</a:t>
            </a:r>
            <a:r>
              <a:rPr sz="1867" spc="-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from</a:t>
            </a:r>
            <a:r>
              <a:rPr sz="1867" spc="-33" dirty="0">
                <a:latin typeface="Arial"/>
                <a:cs typeface="Arial"/>
              </a:rPr>
              <a:t> BBC</a:t>
            </a:r>
            <a:endParaRPr sz="1867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08831" y="4615407"/>
            <a:ext cx="946573" cy="4068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b="1" spc="-13" dirty="0">
                <a:solidFill>
                  <a:srgbClr val="CC0000"/>
                </a:solidFill>
                <a:latin typeface="Arial"/>
                <a:cs typeface="Arial"/>
              </a:rPr>
              <a:t>15.5%</a:t>
            </a:r>
            <a:endParaRPr sz="2533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98165" y="4788281"/>
            <a:ext cx="3568700" cy="110067"/>
            <a:chOff x="3598623" y="3591211"/>
            <a:chExt cx="2676525" cy="82550"/>
          </a:xfrm>
        </p:grpSpPr>
        <p:sp>
          <p:nvSpPr>
            <p:cNvPr id="21" name="object 21"/>
            <p:cNvSpPr/>
            <p:nvPr/>
          </p:nvSpPr>
          <p:spPr>
            <a:xfrm>
              <a:off x="3694598" y="3620137"/>
              <a:ext cx="2571115" cy="12065"/>
            </a:xfrm>
            <a:custGeom>
              <a:avLst/>
              <a:gdLst/>
              <a:ahLst/>
              <a:cxnLst/>
              <a:rect l="l" t="t" r="r" b="b"/>
              <a:pathLst>
                <a:path w="2571115" h="12064">
                  <a:moveTo>
                    <a:pt x="2571001" y="0"/>
                  </a:moveTo>
                  <a:lnTo>
                    <a:pt x="0" y="12063"/>
                  </a:lnTo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8623" y="3591211"/>
              <a:ext cx="105647" cy="81980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Included</a:t>
            </a:r>
            <a:r>
              <a:rPr spc="-40" dirty="0"/>
              <a:t> </a:t>
            </a:r>
            <a:r>
              <a:rPr dirty="0"/>
              <a:t>data:</a:t>
            </a:r>
            <a:r>
              <a:rPr spc="-27" dirty="0"/>
              <a:t> </a:t>
            </a:r>
            <a:r>
              <a:rPr dirty="0"/>
              <a:t>Benchmark</a:t>
            </a:r>
            <a:r>
              <a:rPr spc="-20" dirty="0"/>
              <a:t> </a:t>
            </a:r>
            <a:r>
              <a:rPr spc="-13" dirty="0"/>
              <a:t>contamination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D79837D-356F-4FB3-B858-3EF04030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47</a:t>
            </a:fld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314B65-025C-4FB2-80D6-2A5E85022DF6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4116644" y="2269375"/>
            <a:ext cx="2716418" cy="495593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A236A5-7C31-4A59-A032-FA4A6EF24BED}"/>
              </a:ext>
            </a:extLst>
          </p:cNvPr>
          <p:cNvCxnSpPr>
            <a:cxnSpLocks/>
          </p:cNvCxnSpPr>
          <p:nvPr/>
        </p:nvCxnSpPr>
        <p:spPr>
          <a:xfrm flipH="1">
            <a:off x="4305994" y="2967644"/>
            <a:ext cx="3158835" cy="532014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3932" y="97507"/>
            <a:ext cx="5455072" cy="6780107"/>
            <a:chOff x="4682949" y="73130"/>
            <a:chExt cx="4091304" cy="5085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5563" y="73130"/>
              <a:ext cx="3459953" cy="50703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95024" y="1832550"/>
              <a:ext cx="3664585" cy="3310890"/>
            </a:xfrm>
            <a:custGeom>
              <a:avLst/>
              <a:gdLst/>
              <a:ahLst/>
              <a:cxnLst/>
              <a:rect l="l" t="t" r="r" b="b"/>
              <a:pathLst>
                <a:path w="3664584" h="3310890">
                  <a:moveTo>
                    <a:pt x="0" y="0"/>
                  </a:moveTo>
                  <a:lnTo>
                    <a:pt x="3664499" y="0"/>
                  </a:lnTo>
                  <a:lnTo>
                    <a:pt x="3664499" y="3310799"/>
                  </a:lnTo>
                  <a:lnTo>
                    <a:pt x="0" y="3310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01999" y="3697827"/>
              <a:ext cx="302895" cy="704215"/>
            </a:xfrm>
            <a:custGeom>
              <a:avLst/>
              <a:gdLst/>
              <a:ahLst/>
              <a:cxnLst/>
              <a:rect l="l" t="t" r="r" b="b"/>
              <a:pathLst>
                <a:path w="302895" h="704214">
                  <a:moveTo>
                    <a:pt x="0" y="703797"/>
                  </a:moveTo>
                  <a:lnTo>
                    <a:pt x="302683" y="0"/>
                  </a:lnTo>
                </a:path>
              </a:pathLst>
            </a:custGeom>
            <a:ln w="3809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7822" y="3519942"/>
              <a:ext cx="164221" cy="2217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19324" y="3153675"/>
              <a:ext cx="2941955" cy="523240"/>
            </a:xfrm>
            <a:custGeom>
              <a:avLst/>
              <a:gdLst/>
              <a:ahLst/>
              <a:cxnLst/>
              <a:rect l="l" t="t" r="r" b="b"/>
              <a:pathLst>
                <a:path w="2941954" h="523239">
                  <a:moveTo>
                    <a:pt x="0" y="0"/>
                  </a:moveTo>
                  <a:lnTo>
                    <a:pt x="2941499" y="0"/>
                  </a:lnTo>
                  <a:lnTo>
                    <a:pt x="2941499" y="523199"/>
                  </a:lnTo>
                  <a:lnTo>
                    <a:pt x="0" y="5231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35E2154-28D7-4CF5-BB2E-96CDABCB6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From GLUE benchmark</a:t>
            </a:r>
          </a:p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71ED41B-A173-4515-9D7F-8B7AACCFB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Benchmark contamination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7544A31-F300-4BF4-9529-0645964B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1" name="object 11"/>
          <p:cNvSpPr txBox="1"/>
          <p:nvPr/>
        </p:nvSpPr>
        <p:spPr>
          <a:xfrm>
            <a:off x="4730254" y="5602499"/>
            <a:ext cx="1441873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933" b="1" spc="-13" dirty="0">
                <a:solidFill>
                  <a:srgbClr val="0097A7"/>
                </a:solidFill>
                <a:latin typeface="Arial"/>
                <a:cs typeface="Arial"/>
              </a:rPr>
              <a:t>2%-</a:t>
            </a:r>
            <a:r>
              <a:rPr sz="2933" b="1" spc="-33" dirty="0">
                <a:solidFill>
                  <a:srgbClr val="0097A7"/>
                </a:solidFill>
                <a:latin typeface="Arial"/>
                <a:cs typeface="Arial"/>
              </a:rPr>
              <a:t>50%</a:t>
            </a:r>
            <a:endParaRPr sz="29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2D5C16-8800-4237-B1CA-EC9C62FA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the text: Included data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210B53D-33C9-446A-81C1-32BD45A3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object 7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 anchor="ctr" anchorCtr="0"/>
          <a:lstStyle/>
          <a:p>
            <a:pPr algn="ctr">
              <a:spcBef>
                <a:spcPts val="133"/>
              </a:spcBef>
            </a:pPr>
            <a:r>
              <a:rPr lang="en-US" sz="2400" spc="-13" dirty="0">
                <a:latin typeface="Arial"/>
                <a:cs typeface="Arial"/>
              </a:rPr>
              <a:t>Machine-</a:t>
            </a:r>
            <a:r>
              <a:rPr lang="en-US" sz="2400" dirty="0">
                <a:latin typeface="Arial"/>
                <a:cs typeface="Arial"/>
              </a:rPr>
              <a:t>generated</a:t>
            </a:r>
            <a:r>
              <a:rPr lang="en-US" sz="2400" spc="-7" dirty="0">
                <a:latin typeface="Arial"/>
                <a:cs typeface="Arial"/>
              </a:rPr>
              <a:t> </a:t>
            </a:r>
            <a:r>
              <a:rPr lang="en-US" sz="2400" spc="-27" dirty="0">
                <a:latin typeface="Arial"/>
                <a:cs typeface="Arial"/>
              </a:rPr>
              <a:t>Text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9599" y="2201518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1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1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1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 anchorCtr="0"/>
          <a:lstStyle/>
          <a:p>
            <a:pPr algn="ctr"/>
            <a:r>
              <a:rPr lang="en-US" sz="2400" dirty="0">
                <a:latin typeface="Arial"/>
                <a:cs typeface="Arial"/>
              </a:rPr>
              <a:t>Benchmark</a:t>
            </a:r>
            <a:r>
              <a:rPr lang="en-US" sz="2400" spc="-7" dirty="0">
                <a:latin typeface="Arial"/>
                <a:cs typeface="Arial"/>
              </a:rPr>
              <a:t> </a:t>
            </a:r>
            <a:r>
              <a:rPr lang="en-US" sz="2400" spc="-13" dirty="0">
                <a:latin typeface="Arial"/>
                <a:cs typeface="Arial"/>
              </a:rPr>
              <a:t>Contamination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2459599" y="335179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34EAB544-0996-4A0C-A4B0-95A68B4A6D88}"/>
              </a:ext>
            </a:extLst>
          </p:cNvPr>
          <p:cNvSpPr/>
          <p:nvPr/>
        </p:nvSpPr>
        <p:spPr>
          <a:xfrm>
            <a:off x="2459566" y="460147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5354297" y="601799"/>
                </a:move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close/>
              </a:path>
            </a:pathLst>
          </a:custGeom>
          <a:solidFill>
            <a:srgbClr val="9FC5E7"/>
          </a:solidFill>
          <a:ln w="38100">
            <a:solidFill>
              <a:schemeClr val="tx1"/>
            </a:solidFill>
          </a:ln>
        </p:spPr>
        <p:txBody>
          <a:bodyPr wrap="square" lIns="0" tIns="0" rIns="0" bIns="0" rtlCol="0" anchor="ctr" anchorCtr="0"/>
          <a:lstStyle/>
          <a:p>
            <a:pPr algn="ctr"/>
            <a:r>
              <a:rPr lang="en-US" sz="2400" b="1" dirty="0">
                <a:latin typeface="Arial"/>
                <a:cs typeface="Arial"/>
              </a:rPr>
              <a:t>Demographic Biases</a:t>
            </a:r>
          </a:p>
        </p:txBody>
      </p:sp>
      <p:sp>
        <p:nvSpPr>
          <p:cNvPr id="26" name="object 10">
            <a:extLst>
              <a:ext uri="{FF2B5EF4-FFF2-40B4-BE49-F238E27FC236}">
                <a16:creationId xmlns:a16="http://schemas.microsoft.com/office/drawing/2014/main" id="{07C97D90-5538-48EA-93C0-65EE786B6F3F}"/>
              </a:ext>
            </a:extLst>
          </p:cNvPr>
          <p:cNvSpPr/>
          <p:nvPr/>
        </p:nvSpPr>
        <p:spPr>
          <a:xfrm>
            <a:off x="2459566" y="4601471"/>
            <a:ext cx="7272867" cy="802640"/>
          </a:xfrm>
          <a:custGeom>
            <a:avLst/>
            <a:gdLst/>
            <a:ahLst/>
            <a:cxnLst/>
            <a:rect l="l" t="t" r="r" b="b"/>
            <a:pathLst>
              <a:path w="5454650" h="601980">
                <a:moveTo>
                  <a:pt x="0" y="100302"/>
                </a:moveTo>
                <a:lnTo>
                  <a:pt x="7882" y="61260"/>
                </a:lnTo>
                <a:lnTo>
                  <a:pt x="29377" y="29377"/>
                </a:lnTo>
                <a:lnTo>
                  <a:pt x="61259" y="7882"/>
                </a:lnTo>
                <a:lnTo>
                  <a:pt x="100301" y="0"/>
                </a:lnTo>
                <a:lnTo>
                  <a:pt x="5354297" y="0"/>
                </a:lnTo>
                <a:lnTo>
                  <a:pt x="5392681" y="7635"/>
                </a:lnTo>
                <a:lnTo>
                  <a:pt x="5425221" y="29377"/>
                </a:lnTo>
                <a:lnTo>
                  <a:pt x="5446964" y="61918"/>
                </a:lnTo>
                <a:lnTo>
                  <a:pt x="5454599" y="100302"/>
                </a:lnTo>
                <a:lnTo>
                  <a:pt x="5454599" y="501498"/>
                </a:lnTo>
                <a:lnTo>
                  <a:pt x="5446717" y="540540"/>
                </a:lnTo>
                <a:lnTo>
                  <a:pt x="5425222" y="572422"/>
                </a:lnTo>
                <a:lnTo>
                  <a:pt x="5393339" y="593917"/>
                </a:lnTo>
                <a:lnTo>
                  <a:pt x="5354297" y="601799"/>
                </a:lnTo>
                <a:lnTo>
                  <a:pt x="100301" y="601799"/>
                </a:lnTo>
                <a:lnTo>
                  <a:pt x="61259" y="593917"/>
                </a:lnTo>
                <a:lnTo>
                  <a:pt x="29377" y="572422"/>
                </a:lnTo>
                <a:lnTo>
                  <a:pt x="7882" y="540540"/>
                </a:lnTo>
                <a:lnTo>
                  <a:pt x="0" y="501498"/>
                </a:lnTo>
                <a:lnTo>
                  <a:pt x="0" y="100302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46239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2AB469-21A1-41BB-9056-5762942B3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Recent work: bias in fine tuned models, assumed to derive from pre-trained data</a:t>
            </a:r>
          </a:p>
          <a:p>
            <a:r>
              <a:rPr lang="en-US" dirty="0"/>
              <a:t>This paper: Present evidence corroborating this</a:t>
            </a:r>
          </a:p>
          <a:p>
            <a:pPr lvl="1"/>
            <a:r>
              <a:rPr lang="en-US" dirty="0"/>
              <a:t>Reproduce ethnicity bias results from Li et al. 2020</a:t>
            </a:r>
          </a:p>
          <a:p>
            <a:pPr lvl="1"/>
            <a:r>
              <a:rPr lang="en-US" dirty="0"/>
              <a:t>Show this bias correlates with sentiment expressed in C4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Included data: Demographic biases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F52E2-671C-42C6-8D10-2D82DC84E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244" y="1898830"/>
            <a:ext cx="11451593" cy="32084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19084" y="5563224"/>
            <a:ext cx="97485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biases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embeddings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affect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downstream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QA</a:t>
            </a:r>
            <a:r>
              <a:rPr sz="2400" spc="-152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models?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EDBCD-63C4-4BA9-A3BB-5536C3703C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dirty="0"/>
              <a:t>How</a:t>
            </a:r>
            <a:r>
              <a:rPr sz="4800" spc="-33" dirty="0"/>
              <a:t> </a:t>
            </a:r>
            <a:r>
              <a:rPr sz="4800" dirty="0"/>
              <a:t>to</a:t>
            </a:r>
            <a:r>
              <a:rPr sz="4800" spc="-20" dirty="0"/>
              <a:t> </a:t>
            </a:r>
            <a:r>
              <a:rPr sz="4800" dirty="0"/>
              <a:t>probe</a:t>
            </a:r>
            <a:r>
              <a:rPr sz="4800" spc="-20" dirty="0"/>
              <a:t> </a:t>
            </a:r>
            <a:r>
              <a:rPr sz="4800" dirty="0"/>
              <a:t>+</a:t>
            </a:r>
            <a:r>
              <a:rPr sz="4800" spc="-27" dirty="0"/>
              <a:t> </a:t>
            </a:r>
            <a:r>
              <a:rPr sz="4800" dirty="0"/>
              <a:t>quantify</a:t>
            </a:r>
            <a:r>
              <a:rPr sz="4800" spc="-20" dirty="0"/>
              <a:t> </a:t>
            </a:r>
            <a:r>
              <a:rPr sz="4800" dirty="0"/>
              <a:t>these</a:t>
            </a:r>
            <a:r>
              <a:rPr sz="4800" spc="-13" dirty="0"/>
              <a:t> biases?</a:t>
            </a:r>
            <a:endParaRPr sz="4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22D60-F121-409F-AD83-087981DDA2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52</a:t>
            </a:fld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33"/>
              </a:spcBef>
            </a:pPr>
            <a:r>
              <a:rPr sz="4800" dirty="0"/>
              <a:t>How</a:t>
            </a:r>
            <a:r>
              <a:rPr sz="4800" spc="-33" dirty="0"/>
              <a:t> </a:t>
            </a:r>
            <a:r>
              <a:rPr sz="4800" dirty="0"/>
              <a:t>to</a:t>
            </a:r>
            <a:r>
              <a:rPr sz="4800" spc="-20" dirty="0"/>
              <a:t> </a:t>
            </a:r>
            <a:r>
              <a:rPr sz="4800" dirty="0"/>
              <a:t>probe</a:t>
            </a:r>
            <a:r>
              <a:rPr sz="4800" spc="-20" dirty="0"/>
              <a:t> </a:t>
            </a:r>
            <a:r>
              <a:rPr sz="4800" dirty="0"/>
              <a:t>+</a:t>
            </a:r>
            <a:r>
              <a:rPr sz="4800" spc="-27" dirty="0"/>
              <a:t> </a:t>
            </a:r>
            <a:r>
              <a:rPr sz="4800" dirty="0"/>
              <a:t>quantify</a:t>
            </a:r>
            <a:r>
              <a:rPr sz="4800" spc="-20" dirty="0"/>
              <a:t> </a:t>
            </a:r>
            <a:r>
              <a:rPr sz="4800" dirty="0"/>
              <a:t>these</a:t>
            </a:r>
            <a:r>
              <a:rPr sz="4800" spc="-13" dirty="0"/>
              <a:t> biases?</a:t>
            </a:r>
            <a:endParaRPr sz="4800"/>
          </a:p>
          <a:p>
            <a:pPr algn="ctr">
              <a:lnSpc>
                <a:spcPct val="100000"/>
              </a:lnSpc>
            </a:pPr>
            <a:r>
              <a:rPr sz="4800" b="1" dirty="0">
                <a:solidFill>
                  <a:srgbClr val="990000"/>
                </a:solidFill>
              </a:rPr>
              <a:t>Underspecified</a:t>
            </a:r>
            <a:r>
              <a:rPr sz="4800" b="1" spc="-113" dirty="0">
                <a:solidFill>
                  <a:srgbClr val="990000"/>
                </a:solidFill>
              </a:rPr>
              <a:t> </a:t>
            </a:r>
            <a:r>
              <a:rPr sz="4800" b="1" spc="-13" dirty="0">
                <a:solidFill>
                  <a:srgbClr val="990000"/>
                </a:solidFill>
              </a:rPr>
              <a:t>questions</a:t>
            </a:r>
            <a:endParaRPr sz="4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79CAB-19D5-4994-9456-513B0A6C19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53</a:t>
            </a:fld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0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87"/>
              </a:spcBef>
            </a:pPr>
            <a:r>
              <a:rPr sz="3733" b="1" dirty="0"/>
              <a:t>Task:</a:t>
            </a:r>
            <a:r>
              <a:rPr sz="3733" b="1" spc="20" dirty="0"/>
              <a:t> </a:t>
            </a:r>
            <a:r>
              <a:rPr sz="3733" b="1" dirty="0"/>
              <a:t>uncover</a:t>
            </a:r>
            <a:r>
              <a:rPr sz="3733" b="1" spc="27" dirty="0"/>
              <a:t> </a:t>
            </a:r>
            <a:r>
              <a:rPr sz="3733" b="1" dirty="0"/>
              <a:t>ethnic/racial</a:t>
            </a:r>
            <a:r>
              <a:rPr sz="3733" b="1" spc="27" dirty="0"/>
              <a:t> </a:t>
            </a:r>
            <a:r>
              <a:rPr sz="3733" b="1" spc="-13" dirty="0"/>
              <a:t>stereotypes</a:t>
            </a:r>
            <a:endParaRPr sz="3733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24447-CB45-432E-91F3-66690728D1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54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A6347D-2A52-4F07-9D9B-EAC899AC3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Classes of objects: {Asian, Caucasian, Black, …}</a:t>
            </a:r>
          </a:p>
          <a:p>
            <a:r>
              <a:rPr lang="en-US" sz="2800" b="1" dirty="0">
                <a:latin typeface="Arial"/>
                <a:cs typeface="Arial"/>
              </a:rPr>
              <a:t>Goal:</a:t>
            </a:r>
            <a:r>
              <a:rPr lang="en-US" sz="2800" b="1" spc="60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probe</a:t>
            </a:r>
            <a:r>
              <a:rPr lang="en-US" sz="2800" b="1" spc="67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model’s</a:t>
            </a:r>
            <a:r>
              <a:rPr lang="en-US" sz="2800" b="1" spc="67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bias</a:t>
            </a:r>
            <a:r>
              <a:rPr lang="en-US" sz="2800" b="1" spc="60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towards</a:t>
            </a:r>
            <a:r>
              <a:rPr lang="en-US" sz="2800" b="1" spc="67" dirty="0">
                <a:latin typeface="Arial"/>
                <a:cs typeface="Arial"/>
              </a:rPr>
              <a:t> </a:t>
            </a:r>
            <a:r>
              <a:rPr lang="en-US" sz="2800" b="1" spc="-13" dirty="0">
                <a:latin typeface="Arial"/>
                <a:cs typeface="Arial"/>
              </a:rPr>
              <a:t>certain </a:t>
            </a:r>
            <a:r>
              <a:rPr lang="en-US" sz="2800" b="1" dirty="0">
                <a:latin typeface="Arial"/>
                <a:cs typeface="Arial"/>
              </a:rPr>
              <a:t>attributes,</a:t>
            </a:r>
            <a:r>
              <a:rPr lang="en-US" sz="2800" b="1" spc="67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e.g.</a:t>
            </a:r>
            <a:r>
              <a:rPr lang="en-US" sz="2800" b="1" spc="73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ability</a:t>
            </a:r>
            <a:r>
              <a:rPr lang="en-US" sz="2800" b="1" spc="67" dirty="0">
                <a:latin typeface="Arial"/>
                <a:cs typeface="Arial"/>
              </a:rPr>
              <a:t> </a:t>
            </a:r>
            <a:r>
              <a:rPr lang="en-US" sz="2800" b="1" dirty="0">
                <a:latin typeface="Arial"/>
                <a:cs typeface="Arial"/>
              </a:rPr>
              <a:t>to</a:t>
            </a:r>
            <a:r>
              <a:rPr lang="en-US" sz="2800" b="1" spc="73" dirty="0">
                <a:latin typeface="Arial"/>
                <a:cs typeface="Arial"/>
              </a:rPr>
              <a:t> </a:t>
            </a:r>
            <a:r>
              <a:rPr lang="en-US" sz="2800" b="1" spc="-13" dirty="0">
                <a:latin typeface="Arial"/>
                <a:cs typeface="Arial"/>
              </a:rPr>
              <a:t>drive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A5D962-8E3E-4428-95F0-1D1D6D04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Task: uncover ethnic/racial stereotypes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404FC-59D7-4C0E-9883-7C092462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13" name="object 2">
            <a:extLst>
              <a:ext uri="{FF2B5EF4-FFF2-40B4-BE49-F238E27FC236}">
                <a16:creationId xmlns:a16="http://schemas.microsoft.com/office/drawing/2014/main" id="{CCD100E9-D6FE-4741-8AF4-D3488F2010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556" y="2875560"/>
            <a:ext cx="11580888" cy="30999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6379B-0FD3-422F-99CE-DB4CA16A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/>
              <a:t>Use Li et al.’s method to generate questions to probe biases</a:t>
            </a:r>
          </a:p>
          <a:p>
            <a:r>
              <a:rPr lang="en-US"/>
              <a:t>~294,000 questions (MCQ format), 15 ethnicities</a:t>
            </a:r>
          </a:p>
          <a:p>
            <a:r>
              <a:rPr lang="en-US"/>
              <a:t>Use pre-trained UnifiedQA model (Khasabi et al., 2020)</a:t>
            </a:r>
          </a:p>
          <a:p>
            <a:r>
              <a:rPr lang="en-US"/>
              <a:t>Evaluation: proportion of times each ethnicity associated with positive sentiment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This paper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96FC2-1D1A-4272-ADF1-67861064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038" y="385363"/>
            <a:ext cx="4007583" cy="61328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55161-8F87-4146-9E58-E778D4CE36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8632" y="385363"/>
            <a:ext cx="4622800" cy="6133253"/>
            <a:chOff x="823974" y="289022"/>
            <a:chExt cx="3467100" cy="459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9528" y="289022"/>
              <a:ext cx="3005687" cy="45996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3024" y="737474"/>
              <a:ext cx="3429000" cy="3807460"/>
            </a:xfrm>
            <a:custGeom>
              <a:avLst/>
              <a:gdLst/>
              <a:ahLst/>
              <a:cxnLst/>
              <a:rect l="l" t="t" r="r" b="b"/>
              <a:pathLst>
                <a:path w="3429000" h="3807460">
                  <a:moveTo>
                    <a:pt x="0" y="0"/>
                  </a:moveTo>
                  <a:lnTo>
                    <a:pt x="3428999" y="0"/>
                  </a:lnTo>
                  <a:lnTo>
                    <a:pt x="3428999" y="315899"/>
                  </a:lnTo>
                  <a:lnTo>
                    <a:pt x="0" y="315899"/>
                  </a:lnTo>
                  <a:lnTo>
                    <a:pt x="0" y="0"/>
                  </a:lnTo>
                  <a:close/>
                </a:path>
                <a:path w="3429000" h="3807460">
                  <a:moveTo>
                    <a:pt x="0" y="3491149"/>
                  </a:moveTo>
                  <a:lnTo>
                    <a:pt x="3428999" y="3491149"/>
                  </a:lnTo>
                  <a:lnTo>
                    <a:pt x="3428999" y="3807049"/>
                  </a:lnTo>
                  <a:lnTo>
                    <a:pt x="0" y="3807049"/>
                  </a:lnTo>
                  <a:lnTo>
                    <a:pt x="0" y="3491149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7000A-8C61-4409-84D9-0801198BE7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8632" y="385363"/>
            <a:ext cx="4622800" cy="6133253"/>
            <a:chOff x="823974" y="289022"/>
            <a:chExt cx="3467100" cy="459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9528" y="289022"/>
              <a:ext cx="3005687" cy="45996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43024" y="737474"/>
              <a:ext cx="3429000" cy="3807460"/>
            </a:xfrm>
            <a:custGeom>
              <a:avLst/>
              <a:gdLst/>
              <a:ahLst/>
              <a:cxnLst/>
              <a:rect l="l" t="t" r="r" b="b"/>
              <a:pathLst>
                <a:path w="3429000" h="3807460">
                  <a:moveTo>
                    <a:pt x="0" y="0"/>
                  </a:moveTo>
                  <a:lnTo>
                    <a:pt x="3428999" y="0"/>
                  </a:lnTo>
                  <a:lnTo>
                    <a:pt x="3428999" y="315899"/>
                  </a:lnTo>
                  <a:lnTo>
                    <a:pt x="0" y="315899"/>
                  </a:lnTo>
                  <a:lnTo>
                    <a:pt x="0" y="0"/>
                  </a:lnTo>
                  <a:close/>
                </a:path>
                <a:path w="3429000" h="3807460">
                  <a:moveTo>
                    <a:pt x="0" y="3491149"/>
                  </a:moveTo>
                  <a:lnTo>
                    <a:pt x="3428999" y="3491149"/>
                  </a:lnTo>
                  <a:lnTo>
                    <a:pt x="3428999" y="3807049"/>
                  </a:lnTo>
                  <a:lnTo>
                    <a:pt x="0" y="3807049"/>
                  </a:lnTo>
                  <a:lnTo>
                    <a:pt x="0" y="3491149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725050" y="1903649"/>
            <a:ext cx="4733713" cy="3051387"/>
            <a:chOff x="5043787" y="1427737"/>
            <a:chExt cx="3550285" cy="2288540"/>
          </a:xfrm>
        </p:grpSpPr>
        <p:sp>
          <p:nvSpPr>
            <p:cNvPr id="6" name="object 6"/>
            <p:cNvSpPr/>
            <p:nvPr/>
          </p:nvSpPr>
          <p:spPr>
            <a:xfrm>
              <a:off x="5048549" y="1432499"/>
              <a:ext cx="3540760" cy="2279015"/>
            </a:xfrm>
            <a:custGeom>
              <a:avLst/>
              <a:gdLst/>
              <a:ahLst/>
              <a:cxnLst/>
              <a:rect l="l" t="t" r="r" b="b"/>
              <a:pathLst>
                <a:path w="3540759" h="2279015">
                  <a:moveTo>
                    <a:pt x="3160842" y="2278499"/>
                  </a:moveTo>
                  <a:lnTo>
                    <a:pt x="379757" y="2278499"/>
                  </a:lnTo>
                  <a:lnTo>
                    <a:pt x="332121" y="2275541"/>
                  </a:lnTo>
                  <a:lnTo>
                    <a:pt x="286251" y="2266901"/>
                  </a:lnTo>
                  <a:lnTo>
                    <a:pt x="242502" y="2252937"/>
                  </a:lnTo>
                  <a:lnTo>
                    <a:pt x="201231" y="2234005"/>
                  </a:lnTo>
                  <a:lnTo>
                    <a:pt x="162793" y="2210460"/>
                  </a:lnTo>
                  <a:lnTo>
                    <a:pt x="127545" y="2182657"/>
                  </a:lnTo>
                  <a:lnTo>
                    <a:pt x="95842" y="2150954"/>
                  </a:lnTo>
                  <a:lnTo>
                    <a:pt x="68039" y="2115706"/>
                  </a:lnTo>
                  <a:lnTo>
                    <a:pt x="44494" y="2077268"/>
                  </a:lnTo>
                  <a:lnTo>
                    <a:pt x="25562" y="2035997"/>
                  </a:lnTo>
                  <a:lnTo>
                    <a:pt x="11598" y="1992248"/>
                  </a:lnTo>
                  <a:lnTo>
                    <a:pt x="2958" y="1946378"/>
                  </a:lnTo>
                  <a:lnTo>
                    <a:pt x="0" y="1898742"/>
                  </a:lnTo>
                  <a:lnTo>
                    <a:pt x="0" y="379757"/>
                  </a:lnTo>
                  <a:lnTo>
                    <a:pt x="2958" y="332121"/>
                  </a:lnTo>
                  <a:lnTo>
                    <a:pt x="11598" y="286251"/>
                  </a:lnTo>
                  <a:lnTo>
                    <a:pt x="25562" y="242502"/>
                  </a:lnTo>
                  <a:lnTo>
                    <a:pt x="44494" y="201231"/>
                  </a:lnTo>
                  <a:lnTo>
                    <a:pt x="68039" y="162793"/>
                  </a:lnTo>
                  <a:lnTo>
                    <a:pt x="95842" y="127545"/>
                  </a:lnTo>
                  <a:lnTo>
                    <a:pt x="127545" y="95842"/>
                  </a:lnTo>
                  <a:lnTo>
                    <a:pt x="162793" y="68039"/>
                  </a:lnTo>
                  <a:lnTo>
                    <a:pt x="201231" y="44494"/>
                  </a:lnTo>
                  <a:lnTo>
                    <a:pt x="242502" y="25562"/>
                  </a:lnTo>
                  <a:lnTo>
                    <a:pt x="286251" y="11598"/>
                  </a:lnTo>
                  <a:lnTo>
                    <a:pt x="332121" y="2958"/>
                  </a:lnTo>
                  <a:lnTo>
                    <a:pt x="379757" y="0"/>
                  </a:lnTo>
                  <a:lnTo>
                    <a:pt x="3160842" y="0"/>
                  </a:lnTo>
                  <a:lnTo>
                    <a:pt x="3210759" y="3293"/>
                  </a:lnTo>
                  <a:lnTo>
                    <a:pt x="3259398" y="13010"/>
                  </a:lnTo>
                  <a:lnTo>
                    <a:pt x="3306169" y="28907"/>
                  </a:lnTo>
                  <a:lnTo>
                    <a:pt x="3350482" y="50738"/>
                  </a:lnTo>
                  <a:lnTo>
                    <a:pt x="3391746" y="78260"/>
                  </a:lnTo>
                  <a:lnTo>
                    <a:pt x="3429371" y="111228"/>
                  </a:lnTo>
                  <a:lnTo>
                    <a:pt x="3462339" y="148853"/>
                  </a:lnTo>
                  <a:lnTo>
                    <a:pt x="3489861" y="190117"/>
                  </a:lnTo>
                  <a:lnTo>
                    <a:pt x="3511692" y="234430"/>
                  </a:lnTo>
                  <a:lnTo>
                    <a:pt x="3527589" y="281201"/>
                  </a:lnTo>
                  <a:lnTo>
                    <a:pt x="3537306" y="329840"/>
                  </a:lnTo>
                  <a:lnTo>
                    <a:pt x="3540599" y="379757"/>
                  </a:lnTo>
                  <a:lnTo>
                    <a:pt x="3540599" y="1898742"/>
                  </a:lnTo>
                  <a:lnTo>
                    <a:pt x="3537641" y="1946378"/>
                  </a:lnTo>
                  <a:lnTo>
                    <a:pt x="3529001" y="1992248"/>
                  </a:lnTo>
                  <a:lnTo>
                    <a:pt x="3515037" y="2035997"/>
                  </a:lnTo>
                  <a:lnTo>
                    <a:pt x="3496105" y="2077268"/>
                  </a:lnTo>
                  <a:lnTo>
                    <a:pt x="3472560" y="2115706"/>
                  </a:lnTo>
                  <a:lnTo>
                    <a:pt x="3444757" y="2150954"/>
                  </a:lnTo>
                  <a:lnTo>
                    <a:pt x="3413054" y="2182657"/>
                  </a:lnTo>
                  <a:lnTo>
                    <a:pt x="3377805" y="2210460"/>
                  </a:lnTo>
                  <a:lnTo>
                    <a:pt x="3339368" y="2234005"/>
                  </a:lnTo>
                  <a:lnTo>
                    <a:pt x="3298097" y="2252937"/>
                  </a:lnTo>
                  <a:lnTo>
                    <a:pt x="3254348" y="2266901"/>
                  </a:lnTo>
                  <a:lnTo>
                    <a:pt x="3208478" y="2275541"/>
                  </a:lnTo>
                  <a:lnTo>
                    <a:pt x="3160842" y="2278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48549" y="1432499"/>
              <a:ext cx="3540760" cy="2279015"/>
            </a:xfrm>
            <a:custGeom>
              <a:avLst/>
              <a:gdLst/>
              <a:ahLst/>
              <a:cxnLst/>
              <a:rect l="l" t="t" r="r" b="b"/>
              <a:pathLst>
                <a:path w="3540759" h="2279015">
                  <a:moveTo>
                    <a:pt x="0" y="379757"/>
                  </a:moveTo>
                  <a:lnTo>
                    <a:pt x="2958" y="332121"/>
                  </a:lnTo>
                  <a:lnTo>
                    <a:pt x="11598" y="286251"/>
                  </a:lnTo>
                  <a:lnTo>
                    <a:pt x="25562" y="242502"/>
                  </a:lnTo>
                  <a:lnTo>
                    <a:pt x="44494" y="201231"/>
                  </a:lnTo>
                  <a:lnTo>
                    <a:pt x="68039" y="162793"/>
                  </a:lnTo>
                  <a:lnTo>
                    <a:pt x="95842" y="127545"/>
                  </a:lnTo>
                  <a:lnTo>
                    <a:pt x="127545" y="95842"/>
                  </a:lnTo>
                  <a:lnTo>
                    <a:pt x="162793" y="68039"/>
                  </a:lnTo>
                  <a:lnTo>
                    <a:pt x="201231" y="44494"/>
                  </a:lnTo>
                  <a:lnTo>
                    <a:pt x="242502" y="25562"/>
                  </a:lnTo>
                  <a:lnTo>
                    <a:pt x="286251" y="11598"/>
                  </a:lnTo>
                  <a:lnTo>
                    <a:pt x="332121" y="2958"/>
                  </a:lnTo>
                  <a:lnTo>
                    <a:pt x="379757" y="0"/>
                  </a:lnTo>
                  <a:lnTo>
                    <a:pt x="3160842" y="0"/>
                  </a:lnTo>
                  <a:lnTo>
                    <a:pt x="3210759" y="3293"/>
                  </a:lnTo>
                  <a:lnTo>
                    <a:pt x="3259398" y="13010"/>
                  </a:lnTo>
                  <a:lnTo>
                    <a:pt x="3306169" y="28907"/>
                  </a:lnTo>
                  <a:lnTo>
                    <a:pt x="3350482" y="50738"/>
                  </a:lnTo>
                  <a:lnTo>
                    <a:pt x="3391746" y="78260"/>
                  </a:lnTo>
                  <a:lnTo>
                    <a:pt x="3429371" y="111228"/>
                  </a:lnTo>
                  <a:lnTo>
                    <a:pt x="3462339" y="148853"/>
                  </a:lnTo>
                  <a:lnTo>
                    <a:pt x="3489861" y="190117"/>
                  </a:lnTo>
                  <a:lnTo>
                    <a:pt x="3511692" y="234430"/>
                  </a:lnTo>
                  <a:lnTo>
                    <a:pt x="3527589" y="281201"/>
                  </a:lnTo>
                  <a:lnTo>
                    <a:pt x="3537306" y="329840"/>
                  </a:lnTo>
                  <a:lnTo>
                    <a:pt x="3540599" y="379757"/>
                  </a:lnTo>
                  <a:lnTo>
                    <a:pt x="3540599" y="1898742"/>
                  </a:lnTo>
                  <a:lnTo>
                    <a:pt x="3537641" y="1946378"/>
                  </a:lnTo>
                  <a:lnTo>
                    <a:pt x="3529001" y="1992248"/>
                  </a:lnTo>
                  <a:lnTo>
                    <a:pt x="3515037" y="2035997"/>
                  </a:lnTo>
                  <a:lnTo>
                    <a:pt x="3496105" y="2077268"/>
                  </a:lnTo>
                  <a:lnTo>
                    <a:pt x="3472560" y="2115706"/>
                  </a:lnTo>
                  <a:lnTo>
                    <a:pt x="3444757" y="2150954"/>
                  </a:lnTo>
                  <a:lnTo>
                    <a:pt x="3413054" y="2182657"/>
                  </a:lnTo>
                  <a:lnTo>
                    <a:pt x="3377805" y="2210460"/>
                  </a:lnTo>
                  <a:lnTo>
                    <a:pt x="3339368" y="2234005"/>
                  </a:lnTo>
                  <a:lnTo>
                    <a:pt x="3298097" y="2252937"/>
                  </a:lnTo>
                  <a:lnTo>
                    <a:pt x="3254348" y="2266901"/>
                  </a:lnTo>
                  <a:lnTo>
                    <a:pt x="3208478" y="2275541"/>
                  </a:lnTo>
                  <a:lnTo>
                    <a:pt x="3160842" y="2278499"/>
                  </a:lnTo>
                  <a:lnTo>
                    <a:pt x="379757" y="2278499"/>
                  </a:lnTo>
                  <a:lnTo>
                    <a:pt x="332121" y="2275541"/>
                  </a:lnTo>
                  <a:lnTo>
                    <a:pt x="286251" y="2266901"/>
                  </a:lnTo>
                  <a:lnTo>
                    <a:pt x="242502" y="2252937"/>
                  </a:lnTo>
                  <a:lnTo>
                    <a:pt x="201231" y="2234005"/>
                  </a:lnTo>
                  <a:lnTo>
                    <a:pt x="162793" y="2210460"/>
                  </a:lnTo>
                  <a:lnTo>
                    <a:pt x="127545" y="2182657"/>
                  </a:lnTo>
                  <a:lnTo>
                    <a:pt x="95842" y="2150954"/>
                  </a:lnTo>
                  <a:lnTo>
                    <a:pt x="68039" y="2115706"/>
                  </a:lnTo>
                  <a:lnTo>
                    <a:pt x="44494" y="2077268"/>
                  </a:lnTo>
                  <a:lnTo>
                    <a:pt x="25562" y="2035997"/>
                  </a:lnTo>
                  <a:lnTo>
                    <a:pt x="11598" y="1992248"/>
                  </a:lnTo>
                  <a:lnTo>
                    <a:pt x="2958" y="1946378"/>
                  </a:lnTo>
                  <a:lnTo>
                    <a:pt x="0" y="1898742"/>
                  </a:lnTo>
                  <a:lnTo>
                    <a:pt x="0" y="37975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08143" y="2140091"/>
            <a:ext cx="4168140" cy="4890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067" dirty="0">
                <a:latin typeface="Arial"/>
                <a:cs typeface="Arial"/>
              </a:rPr>
              <a:t>Representational</a:t>
            </a:r>
            <a:r>
              <a:rPr sz="3067" spc="-120" dirty="0">
                <a:latin typeface="Arial"/>
                <a:cs typeface="Arial"/>
              </a:rPr>
              <a:t> </a:t>
            </a:r>
            <a:r>
              <a:rPr sz="3067" spc="-13" dirty="0">
                <a:latin typeface="Arial"/>
                <a:cs typeface="Arial"/>
              </a:rPr>
              <a:t>harms</a:t>
            </a:r>
            <a:endParaRPr sz="30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92250" y="2805849"/>
            <a:ext cx="4243493" cy="1893147"/>
            <a:chOff x="5244187" y="2104387"/>
            <a:chExt cx="3182620" cy="1419860"/>
          </a:xfrm>
        </p:grpSpPr>
        <p:sp>
          <p:nvSpPr>
            <p:cNvPr id="10" name="object 10"/>
            <p:cNvSpPr/>
            <p:nvPr/>
          </p:nvSpPr>
          <p:spPr>
            <a:xfrm>
              <a:off x="5248950" y="2109149"/>
              <a:ext cx="3173095" cy="1410335"/>
            </a:xfrm>
            <a:custGeom>
              <a:avLst/>
              <a:gdLst/>
              <a:ahLst/>
              <a:cxnLst/>
              <a:rect l="l" t="t" r="r" b="b"/>
              <a:pathLst>
                <a:path w="3173095" h="1410335">
                  <a:moveTo>
                    <a:pt x="2937744" y="1410299"/>
                  </a:moveTo>
                  <a:lnTo>
                    <a:pt x="235054" y="1410299"/>
                  </a:lnTo>
                  <a:lnTo>
                    <a:pt x="187682" y="1405524"/>
                  </a:lnTo>
                  <a:lnTo>
                    <a:pt x="143560" y="1391828"/>
                  </a:lnTo>
                  <a:lnTo>
                    <a:pt x="103633" y="1370156"/>
                  </a:lnTo>
                  <a:lnTo>
                    <a:pt x="68845" y="1341454"/>
                  </a:lnTo>
                  <a:lnTo>
                    <a:pt x="40143" y="1306666"/>
                  </a:lnTo>
                  <a:lnTo>
                    <a:pt x="18471" y="1266739"/>
                  </a:lnTo>
                  <a:lnTo>
                    <a:pt x="4775" y="1222616"/>
                  </a:lnTo>
                  <a:lnTo>
                    <a:pt x="0" y="1175245"/>
                  </a:lnTo>
                  <a:lnTo>
                    <a:pt x="0" y="235054"/>
                  </a:lnTo>
                  <a:lnTo>
                    <a:pt x="4775" y="187682"/>
                  </a:lnTo>
                  <a:lnTo>
                    <a:pt x="18471" y="143560"/>
                  </a:lnTo>
                  <a:lnTo>
                    <a:pt x="40143" y="103633"/>
                  </a:lnTo>
                  <a:lnTo>
                    <a:pt x="68845" y="68845"/>
                  </a:lnTo>
                  <a:lnTo>
                    <a:pt x="103633" y="40143"/>
                  </a:lnTo>
                  <a:lnTo>
                    <a:pt x="143560" y="18471"/>
                  </a:lnTo>
                  <a:lnTo>
                    <a:pt x="187682" y="4775"/>
                  </a:lnTo>
                  <a:lnTo>
                    <a:pt x="235054" y="0"/>
                  </a:lnTo>
                  <a:lnTo>
                    <a:pt x="2937744" y="0"/>
                  </a:lnTo>
                  <a:lnTo>
                    <a:pt x="2983816" y="4558"/>
                  </a:lnTo>
                  <a:lnTo>
                    <a:pt x="3027696" y="17892"/>
                  </a:lnTo>
                  <a:lnTo>
                    <a:pt x="3068153" y="39491"/>
                  </a:lnTo>
                  <a:lnTo>
                    <a:pt x="3103953" y="68845"/>
                  </a:lnTo>
                  <a:lnTo>
                    <a:pt x="3133307" y="104646"/>
                  </a:lnTo>
                  <a:lnTo>
                    <a:pt x="3154907" y="145103"/>
                  </a:lnTo>
                  <a:lnTo>
                    <a:pt x="3168241" y="188983"/>
                  </a:lnTo>
                  <a:lnTo>
                    <a:pt x="3172799" y="235054"/>
                  </a:lnTo>
                  <a:lnTo>
                    <a:pt x="3172799" y="1175245"/>
                  </a:lnTo>
                  <a:lnTo>
                    <a:pt x="3168024" y="1222616"/>
                  </a:lnTo>
                  <a:lnTo>
                    <a:pt x="3154328" y="1266739"/>
                  </a:lnTo>
                  <a:lnTo>
                    <a:pt x="3132656" y="1306666"/>
                  </a:lnTo>
                  <a:lnTo>
                    <a:pt x="3103954" y="1341454"/>
                  </a:lnTo>
                  <a:lnTo>
                    <a:pt x="3069166" y="1370156"/>
                  </a:lnTo>
                  <a:lnTo>
                    <a:pt x="3029239" y="1391828"/>
                  </a:lnTo>
                  <a:lnTo>
                    <a:pt x="2985116" y="1405524"/>
                  </a:lnTo>
                  <a:lnTo>
                    <a:pt x="2937744" y="14102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48950" y="2109149"/>
              <a:ext cx="3173095" cy="1410335"/>
            </a:xfrm>
            <a:custGeom>
              <a:avLst/>
              <a:gdLst/>
              <a:ahLst/>
              <a:cxnLst/>
              <a:rect l="l" t="t" r="r" b="b"/>
              <a:pathLst>
                <a:path w="3173095" h="1410335">
                  <a:moveTo>
                    <a:pt x="0" y="235054"/>
                  </a:moveTo>
                  <a:lnTo>
                    <a:pt x="4775" y="187682"/>
                  </a:lnTo>
                  <a:lnTo>
                    <a:pt x="18471" y="143560"/>
                  </a:lnTo>
                  <a:lnTo>
                    <a:pt x="40143" y="103633"/>
                  </a:lnTo>
                  <a:lnTo>
                    <a:pt x="68845" y="68845"/>
                  </a:lnTo>
                  <a:lnTo>
                    <a:pt x="103633" y="40143"/>
                  </a:lnTo>
                  <a:lnTo>
                    <a:pt x="143560" y="18471"/>
                  </a:lnTo>
                  <a:lnTo>
                    <a:pt x="187682" y="4775"/>
                  </a:lnTo>
                  <a:lnTo>
                    <a:pt x="235054" y="0"/>
                  </a:lnTo>
                  <a:lnTo>
                    <a:pt x="2937744" y="0"/>
                  </a:lnTo>
                  <a:lnTo>
                    <a:pt x="2983816" y="4558"/>
                  </a:lnTo>
                  <a:lnTo>
                    <a:pt x="3027696" y="17892"/>
                  </a:lnTo>
                  <a:lnTo>
                    <a:pt x="3068153" y="39491"/>
                  </a:lnTo>
                  <a:lnTo>
                    <a:pt x="3103953" y="68845"/>
                  </a:lnTo>
                  <a:lnTo>
                    <a:pt x="3133307" y="104646"/>
                  </a:lnTo>
                  <a:lnTo>
                    <a:pt x="3154907" y="145103"/>
                  </a:lnTo>
                  <a:lnTo>
                    <a:pt x="3168241" y="188983"/>
                  </a:lnTo>
                  <a:lnTo>
                    <a:pt x="3172799" y="235054"/>
                  </a:lnTo>
                  <a:lnTo>
                    <a:pt x="3172799" y="1175245"/>
                  </a:lnTo>
                  <a:lnTo>
                    <a:pt x="3168024" y="1222617"/>
                  </a:lnTo>
                  <a:lnTo>
                    <a:pt x="3154328" y="1266739"/>
                  </a:lnTo>
                  <a:lnTo>
                    <a:pt x="3132656" y="1306666"/>
                  </a:lnTo>
                  <a:lnTo>
                    <a:pt x="3103954" y="1341454"/>
                  </a:lnTo>
                  <a:lnTo>
                    <a:pt x="3069166" y="1370156"/>
                  </a:lnTo>
                  <a:lnTo>
                    <a:pt x="3029239" y="1391828"/>
                  </a:lnTo>
                  <a:lnTo>
                    <a:pt x="2985116" y="1405524"/>
                  </a:lnTo>
                  <a:lnTo>
                    <a:pt x="2937744" y="1410299"/>
                  </a:lnTo>
                  <a:lnTo>
                    <a:pt x="235054" y="1410299"/>
                  </a:lnTo>
                  <a:lnTo>
                    <a:pt x="187682" y="1405524"/>
                  </a:lnTo>
                  <a:lnTo>
                    <a:pt x="143560" y="1391828"/>
                  </a:lnTo>
                  <a:lnTo>
                    <a:pt x="103633" y="1370156"/>
                  </a:lnTo>
                  <a:lnTo>
                    <a:pt x="68845" y="1341454"/>
                  </a:lnTo>
                  <a:lnTo>
                    <a:pt x="40143" y="1306666"/>
                  </a:lnTo>
                  <a:lnTo>
                    <a:pt x="18471" y="1266739"/>
                  </a:lnTo>
                  <a:lnTo>
                    <a:pt x="4775" y="1222617"/>
                  </a:lnTo>
                  <a:lnTo>
                    <a:pt x="0" y="1175245"/>
                  </a:lnTo>
                  <a:lnTo>
                    <a:pt x="0" y="2350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352006" y="3170824"/>
            <a:ext cx="3522980" cy="1110475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086" marR="6773" algn="ctr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Cooccurrences</a:t>
            </a:r>
            <a:r>
              <a:rPr sz="2400" spc="-1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of</a:t>
            </a:r>
            <a:r>
              <a:rPr sz="2400" spc="-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CC0000"/>
                </a:solidFill>
                <a:latin typeface="Arial"/>
                <a:cs typeface="Arial"/>
              </a:rPr>
              <a:t>specific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geographic</a:t>
            </a:r>
            <a:r>
              <a:rPr sz="2400" spc="-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origins</a:t>
            </a:r>
            <a:r>
              <a:rPr sz="2400" spc="-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27" dirty="0">
                <a:solidFill>
                  <a:srgbClr val="CC0000"/>
                </a:solidFill>
                <a:latin typeface="Arial"/>
                <a:cs typeface="Arial"/>
              </a:rPr>
              <a:t>with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negative</a:t>
            </a:r>
            <a:r>
              <a:rPr sz="2400" spc="-5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CC0000"/>
                </a:solidFill>
                <a:latin typeface="Arial"/>
                <a:cs typeface="Arial"/>
              </a:rPr>
              <a:t>sentiment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1E1850C-6F29-4708-BF43-185B350F46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6DA63B-B7DD-4A2C-9299-3B0C79E82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>
            <a:normAutofit fontScale="92500"/>
          </a:bodyPr>
          <a:lstStyle/>
          <a:p>
            <a:r>
              <a:rPr lang="en-US" dirty="0"/>
              <a:t>Find all paragraphs containing either ethnicity</a:t>
            </a:r>
          </a:p>
          <a:p>
            <a:r>
              <a:rPr lang="en-US" dirty="0"/>
              <a:t>Estimate sentiment of paragraphs</a:t>
            </a:r>
          </a:p>
          <a:p>
            <a:pPr lvl="1"/>
            <a:r>
              <a:rPr lang="en-US" dirty="0"/>
              <a:t>using sentiment lexicon from Hamilton et al. 2016</a:t>
            </a:r>
          </a:p>
          <a:p>
            <a:pPr lvl="1"/>
            <a:r>
              <a:rPr lang="en-US" dirty="0"/>
              <a:t>sentiment lexicon: map words to number representing sentiment</a:t>
            </a:r>
          </a:p>
          <a:p>
            <a:pPr lvl="1"/>
            <a:r>
              <a:rPr lang="en-US" dirty="0"/>
              <a:t>Positive word if above 1, negative if below -1, ignored otherwise (not sentiment bearing)</a:t>
            </a:r>
          </a:p>
          <a:p>
            <a:r>
              <a:rPr lang="en-US" dirty="0"/>
              <a:t>Count sentiment bearing words that occur in same paragraph either ethnicity</a:t>
            </a:r>
          </a:p>
          <a:p>
            <a:pPr lvl="1"/>
            <a:r>
              <a:rPr lang="en-US" dirty="0"/>
              <a:t>Jewish: 73.2% of 3.4M tokens</a:t>
            </a:r>
          </a:p>
          <a:p>
            <a:pPr lvl="1"/>
            <a:r>
              <a:rPr lang="en-US" dirty="0"/>
              <a:t>Arab: 65.7% of 1.2M tokens</a:t>
            </a:r>
          </a:p>
          <a:p>
            <a:r>
              <a:rPr lang="en-US" dirty="0"/>
              <a:t>Different domains have different sentiment spread between both ethnicities</a:t>
            </a:r>
          </a:p>
          <a:p>
            <a:pPr lvl="1"/>
            <a:r>
              <a:rPr lang="en-US" dirty="0"/>
              <a:t>Overall C4: 7.5%</a:t>
            </a:r>
          </a:p>
          <a:p>
            <a:pPr lvl="1"/>
            <a:r>
              <a:rPr lang="en-US" dirty="0"/>
              <a:t>NYT: 4.5%</a:t>
            </a:r>
          </a:p>
          <a:p>
            <a:pPr lvl="1"/>
            <a:r>
              <a:rPr lang="en-US" dirty="0"/>
              <a:t>Al Jazeera: 0%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Evidence that C4 is source of bias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EF603-8851-462F-836D-872A62CF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1D60167-4931-47E6-BA6A-407CBD079E47}" type="slidenum">
              <a:rPr lang="en-US" smtClean="0"/>
              <a:pPr/>
              <a:t>60</a:t>
            </a:fld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Documentation</a:t>
            </a:r>
            <a:r>
              <a:rPr spc="-93" dirty="0"/>
              <a:t> </a:t>
            </a:r>
            <a:r>
              <a:rPr spc="-13" dirty="0"/>
              <a:t>levels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36532" y="1344266"/>
            <a:ext cx="8153400" cy="1514687"/>
            <a:chOff x="2727399" y="1008199"/>
            <a:chExt cx="6115050" cy="1136015"/>
          </a:xfrm>
        </p:grpSpPr>
        <p:sp>
          <p:nvSpPr>
            <p:cNvPr id="4" name="object 4"/>
            <p:cNvSpPr/>
            <p:nvPr/>
          </p:nvSpPr>
          <p:spPr>
            <a:xfrm>
              <a:off x="2736924" y="1017724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6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6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36924" y="1017724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6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6"/>
                  </a:lnTo>
                  <a:lnTo>
                    <a:pt x="0" y="186153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060478" y="1888291"/>
            <a:ext cx="13047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"/>
                <a:cs typeface="Arial"/>
              </a:rPr>
              <a:t>Metadata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36532" y="3189499"/>
            <a:ext cx="8153400" cy="1514687"/>
            <a:chOff x="2727399" y="2392124"/>
            <a:chExt cx="6115050" cy="1136015"/>
          </a:xfrm>
        </p:grpSpPr>
        <p:sp>
          <p:nvSpPr>
            <p:cNvPr id="8" name="object 8"/>
            <p:cNvSpPr/>
            <p:nvPr/>
          </p:nvSpPr>
          <p:spPr>
            <a:xfrm>
              <a:off x="2736924" y="2401649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36924" y="2401649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close/>
                </a:path>
              </a:pathLst>
            </a:custGeom>
            <a:ln w="1904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80757" y="3733524"/>
            <a:ext cx="18635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Included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23832" y="5022034"/>
            <a:ext cx="8178800" cy="1540087"/>
            <a:chOff x="2717874" y="3766525"/>
            <a:chExt cx="6134100" cy="1155065"/>
          </a:xfrm>
        </p:grpSpPr>
        <p:sp>
          <p:nvSpPr>
            <p:cNvPr id="12" name="object 12"/>
            <p:cNvSpPr/>
            <p:nvPr/>
          </p:nvSpPr>
          <p:spPr>
            <a:xfrm>
              <a:off x="2736924" y="3785575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5909245" y="1116899"/>
                  </a:move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2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3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36924" y="3785575"/>
              <a:ext cx="6096000" cy="1116965"/>
            </a:xfrm>
            <a:custGeom>
              <a:avLst/>
              <a:gdLst/>
              <a:ahLst/>
              <a:cxnLst/>
              <a:rect l="l" t="t" r="r" b="b"/>
              <a:pathLst>
                <a:path w="6096000" h="1116964">
                  <a:moveTo>
                    <a:pt x="0" y="186153"/>
                  </a:moveTo>
                  <a:lnTo>
                    <a:pt x="6649" y="136666"/>
                  </a:lnTo>
                  <a:lnTo>
                    <a:pt x="25415" y="92198"/>
                  </a:lnTo>
                  <a:lnTo>
                    <a:pt x="54523" y="54523"/>
                  </a:lnTo>
                  <a:lnTo>
                    <a:pt x="92198" y="25415"/>
                  </a:lnTo>
                  <a:lnTo>
                    <a:pt x="136666" y="6649"/>
                  </a:lnTo>
                  <a:lnTo>
                    <a:pt x="186153" y="0"/>
                  </a:lnTo>
                  <a:lnTo>
                    <a:pt x="5909245" y="0"/>
                  </a:lnTo>
                  <a:lnTo>
                    <a:pt x="5980484" y="14170"/>
                  </a:lnTo>
                  <a:lnTo>
                    <a:pt x="6040876" y="54522"/>
                  </a:lnTo>
                  <a:lnTo>
                    <a:pt x="6081229" y="114915"/>
                  </a:lnTo>
                  <a:lnTo>
                    <a:pt x="6095399" y="186153"/>
                  </a:lnTo>
                  <a:lnTo>
                    <a:pt x="6095399" y="930745"/>
                  </a:lnTo>
                  <a:lnTo>
                    <a:pt x="6088750" y="980233"/>
                  </a:lnTo>
                  <a:lnTo>
                    <a:pt x="6069984" y="1024701"/>
                  </a:lnTo>
                  <a:lnTo>
                    <a:pt x="6040876" y="1062376"/>
                  </a:lnTo>
                  <a:lnTo>
                    <a:pt x="6003201" y="1091484"/>
                  </a:lnTo>
                  <a:lnTo>
                    <a:pt x="5958733" y="1110250"/>
                  </a:lnTo>
                  <a:lnTo>
                    <a:pt x="5909245" y="1116899"/>
                  </a:lnTo>
                  <a:lnTo>
                    <a:pt x="186153" y="1116899"/>
                  </a:lnTo>
                  <a:lnTo>
                    <a:pt x="136666" y="1110250"/>
                  </a:lnTo>
                  <a:lnTo>
                    <a:pt x="92198" y="1091484"/>
                  </a:lnTo>
                  <a:lnTo>
                    <a:pt x="54523" y="1062376"/>
                  </a:lnTo>
                  <a:lnTo>
                    <a:pt x="25415" y="1024701"/>
                  </a:lnTo>
                  <a:lnTo>
                    <a:pt x="6649" y="980233"/>
                  </a:lnTo>
                  <a:lnTo>
                    <a:pt x="0" y="930745"/>
                  </a:lnTo>
                  <a:lnTo>
                    <a:pt x="0" y="186153"/>
                  </a:lnTo>
                  <a:close/>
                </a:path>
              </a:pathLst>
            </a:custGeom>
            <a:ln w="38099">
              <a:solidFill>
                <a:srgbClr val="009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62660" y="5578757"/>
            <a:ext cx="20980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Excluded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292" y="1356967"/>
            <a:ext cx="1506328" cy="141502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06450" y="3202198"/>
            <a:ext cx="2808393" cy="1489287"/>
            <a:chOff x="454837" y="2401648"/>
            <a:chExt cx="2106295" cy="111696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37" y="2401649"/>
              <a:ext cx="1116924" cy="11168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3712" y="2401648"/>
              <a:ext cx="1116925" cy="111690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06450" y="5047433"/>
            <a:ext cx="2808393" cy="1489287"/>
            <a:chOff x="454837" y="3785574"/>
            <a:chExt cx="2106295" cy="111696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837" y="3785574"/>
              <a:ext cx="1116924" cy="11168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3712" y="3785574"/>
              <a:ext cx="1116925" cy="11169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370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487951" y="653424"/>
                  </a:move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0370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0" y="154405"/>
                  </a:move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8795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487951" y="653424"/>
                  </a:move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close/>
                </a:path>
              </a:pathLst>
            </a:custGeom>
            <a:solidFill>
              <a:srgbClr val="EA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98795" y="4017312"/>
              <a:ext cx="646430" cy="654050"/>
            </a:xfrm>
            <a:custGeom>
              <a:avLst/>
              <a:gdLst/>
              <a:ahLst/>
              <a:cxnLst/>
              <a:rect l="l" t="t" r="r" b="b"/>
              <a:pathLst>
                <a:path w="646430" h="654050">
                  <a:moveTo>
                    <a:pt x="0" y="154405"/>
                  </a:moveTo>
                  <a:lnTo>
                    <a:pt x="157907" y="0"/>
                  </a:lnTo>
                  <a:lnTo>
                    <a:pt x="322929" y="168764"/>
                  </a:lnTo>
                  <a:lnTo>
                    <a:pt x="487951" y="0"/>
                  </a:lnTo>
                  <a:lnTo>
                    <a:pt x="645859" y="154405"/>
                  </a:lnTo>
                  <a:lnTo>
                    <a:pt x="477373" y="326712"/>
                  </a:lnTo>
                  <a:lnTo>
                    <a:pt x="645859" y="499019"/>
                  </a:lnTo>
                  <a:lnTo>
                    <a:pt x="487951" y="653424"/>
                  </a:lnTo>
                  <a:lnTo>
                    <a:pt x="322929" y="484659"/>
                  </a:lnTo>
                  <a:lnTo>
                    <a:pt x="157907" y="653424"/>
                  </a:lnTo>
                  <a:lnTo>
                    <a:pt x="0" y="499019"/>
                  </a:lnTo>
                  <a:lnTo>
                    <a:pt x="168485" y="326712"/>
                  </a:lnTo>
                  <a:lnTo>
                    <a:pt x="0" y="15440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9B3A453-D65A-4BA2-85C4-38768AC216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61</a:t>
            </a:fld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2CBCC9D5-5E59-4E63-9ADE-397E69B86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excluded</a:t>
            </a:r>
            <a:r>
              <a:rPr spc="-13" dirty="0"/>
              <a:t> </a:t>
            </a: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C4.EN</a:t>
            </a:r>
            <a:r>
              <a:rPr spc="-13" dirty="0"/>
              <a:t> corpus?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17F58138-A1C5-4E5B-AB56-6A7323BE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62</a:t>
            </a:fld>
            <a:endParaRPr lang="en-US" dirty="0"/>
          </a:p>
        </p:txBody>
      </p:sp>
      <p:sp>
        <p:nvSpPr>
          <p:cNvPr id="3" name="object 3"/>
          <p:cNvSpPr/>
          <p:nvPr/>
        </p:nvSpPr>
        <p:spPr>
          <a:xfrm>
            <a:off x="8783867" y="3568134"/>
            <a:ext cx="2683933" cy="1375833"/>
          </a:xfrm>
          <a:custGeom>
            <a:avLst/>
            <a:gdLst/>
            <a:ahLst/>
            <a:cxnLst/>
            <a:rect l="l" t="t" r="r" b="b"/>
            <a:pathLst>
              <a:path w="2012950" h="1031875">
                <a:moveTo>
                  <a:pt x="0" y="0"/>
                </a:moveTo>
                <a:lnTo>
                  <a:pt x="2012399" y="0"/>
                </a:lnTo>
                <a:lnTo>
                  <a:pt x="2012399" y="1031399"/>
                </a:lnTo>
                <a:lnTo>
                  <a:pt x="0" y="10313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E0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932830" y="3658048"/>
            <a:ext cx="186351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latin typeface="Arial"/>
                <a:cs typeface="Arial"/>
              </a:rPr>
              <a:t>blocklist</a:t>
            </a:r>
            <a:r>
              <a:rPr sz="1467" spc="-3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of</a:t>
            </a:r>
            <a:r>
              <a:rPr sz="1467" spc="-3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bad</a:t>
            </a:r>
            <a:r>
              <a:rPr sz="1467" spc="-27" dirty="0">
                <a:latin typeface="Arial"/>
                <a:cs typeface="Arial"/>
              </a:rPr>
              <a:t> </a:t>
            </a:r>
            <a:r>
              <a:rPr sz="1467" spc="-13" dirty="0">
                <a:latin typeface="Arial"/>
                <a:cs typeface="Arial"/>
              </a:rPr>
              <a:t>words:</a:t>
            </a:r>
            <a:endParaRPr sz="14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73608" y="3881570"/>
            <a:ext cx="1630680" cy="9201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3482" indent="-416550">
              <a:spcBef>
                <a:spcPts val="133"/>
              </a:spcBef>
              <a:buChar char="●"/>
              <a:tabLst>
                <a:tab pos="433482" algn="l"/>
              </a:tabLst>
            </a:pPr>
            <a:r>
              <a:rPr sz="1467" dirty="0">
                <a:latin typeface="Arial"/>
                <a:cs typeface="Arial"/>
              </a:rPr>
              <a:t>Hateful: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13" dirty="0">
                <a:latin typeface="Arial"/>
                <a:cs typeface="Arial"/>
              </a:rPr>
              <a:t>n*gga</a:t>
            </a:r>
            <a:endParaRPr sz="1467">
              <a:latin typeface="Arial"/>
              <a:cs typeface="Arial"/>
            </a:endParaRPr>
          </a:p>
          <a:p>
            <a:pPr marL="433482" indent="-416550">
              <a:buChar char="●"/>
              <a:tabLst>
                <a:tab pos="433482" algn="l"/>
              </a:tabLst>
            </a:pPr>
            <a:r>
              <a:rPr sz="1467" dirty="0">
                <a:latin typeface="Arial"/>
                <a:cs typeface="Arial"/>
              </a:rPr>
              <a:t>obscene: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27" dirty="0">
                <a:latin typeface="Arial"/>
                <a:cs typeface="Arial"/>
              </a:rPr>
              <a:t>f*ck</a:t>
            </a:r>
            <a:endParaRPr sz="1467">
              <a:latin typeface="Arial"/>
              <a:cs typeface="Arial"/>
            </a:endParaRPr>
          </a:p>
          <a:p>
            <a:pPr marL="433482" indent="-416550">
              <a:buChar char="●"/>
              <a:tabLst>
                <a:tab pos="433482" algn="l"/>
              </a:tabLst>
            </a:pPr>
            <a:r>
              <a:rPr sz="1467" dirty="0">
                <a:latin typeface="Arial"/>
                <a:cs typeface="Arial"/>
              </a:rPr>
              <a:t>sexual:</a:t>
            </a:r>
            <a:r>
              <a:rPr sz="1467" spc="-47" dirty="0">
                <a:latin typeface="Arial"/>
                <a:cs typeface="Arial"/>
              </a:rPr>
              <a:t> </a:t>
            </a:r>
            <a:r>
              <a:rPr sz="1467" spc="-27" dirty="0">
                <a:latin typeface="Arial"/>
                <a:cs typeface="Arial"/>
              </a:rPr>
              <a:t>porn</a:t>
            </a:r>
            <a:endParaRPr sz="1467">
              <a:latin typeface="Arial"/>
              <a:cs typeface="Arial"/>
            </a:endParaRPr>
          </a:p>
          <a:p>
            <a:pPr marL="433482" indent="-416550">
              <a:buChar char="●"/>
              <a:tabLst>
                <a:tab pos="433482" algn="l"/>
              </a:tabLst>
            </a:pPr>
            <a:r>
              <a:rPr sz="1467" spc="-27" dirty="0">
                <a:latin typeface="Arial"/>
                <a:cs typeface="Arial"/>
              </a:rPr>
              <a:t>etc.</a:t>
            </a:r>
            <a:endParaRPr sz="1467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926" y="1895408"/>
            <a:ext cx="4355673" cy="48855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54066" y="2031434"/>
            <a:ext cx="1594273" cy="467201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21167" rIns="0" bIns="0" rtlCol="0">
            <a:spAutoFit/>
          </a:bodyPr>
          <a:lstStyle/>
          <a:p>
            <a:pPr marL="625671" marR="263307" indent="-352205">
              <a:lnSpc>
                <a:spcPct val="102299"/>
              </a:lnSpc>
              <a:spcBef>
                <a:spcPts val="167"/>
              </a:spcBef>
            </a:pPr>
            <a:r>
              <a:rPr sz="1467" dirty="0">
                <a:latin typeface="Arial"/>
                <a:cs typeface="Arial"/>
              </a:rPr>
              <a:t>Scraping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33" dirty="0">
                <a:latin typeface="Arial"/>
                <a:cs typeface="Arial"/>
              </a:rPr>
              <a:t>the web</a:t>
            </a:r>
            <a:endParaRPr sz="14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8901" y="2031434"/>
            <a:ext cx="1594273" cy="467201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21167" rIns="0" bIns="0" rtlCol="0">
            <a:spAutoFit/>
          </a:bodyPr>
          <a:lstStyle/>
          <a:p>
            <a:pPr marL="615511" marR="263307" indent="-342045">
              <a:lnSpc>
                <a:spcPct val="102299"/>
              </a:lnSpc>
              <a:spcBef>
                <a:spcPts val="167"/>
              </a:spcBef>
            </a:pPr>
            <a:r>
              <a:rPr sz="1467" dirty="0">
                <a:latin typeface="Arial"/>
                <a:cs typeface="Arial"/>
              </a:rPr>
              <a:t>Cleaning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33" dirty="0">
                <a:latin typeface="Arial"/>
                <a:cs typeface="Arial"/>
              </a:rPr>
              <a:t>the </a:t>
            </a:r>
            <a:r>
              <a:rPr sz="1467" spc="-27" dirty="0">
                <a:latin typeface="Arial"/>
                <a:cs typeface="Arial"/>
              </a:rPr>
              <a:t>data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19352" y="1350617"/>
            <a:ext cx="1606973" cy="537633"/>
            <a:chOff x="3914514" y="1012962"/>
            <a:chExt cx="1205230" cy="403225"/>
          </a:xfrm>
        </p:grpSpPr>
        <p:sp>
          <p:nvSpPr>
            <p:cNvPr id="10" name="object 10"/>
            <p:cNvSpPr/>
            <p:nvPr/>
          </p:nvSpPr>
          <p:spPr>
            <a:xfrm>
              <a:off x="3919276" y="1017724"/>
              <a:ext cx="1195705" cy="393700"/>
            </a:xfrm>
            <a:custGeom>
              <a:avLst/>
              <a:gdLst/>
              <a:ahLst/>
              <a:cxnLst/>
              <a:rect l="l" t="t" r="r" b="b"/>
              <a:pathLst>
                <a:path w="1195704" h="393700">
                  <a:moveTo>
                    <a:pt x="11298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1129898" y="0"/>
                  </a:lnTo>
                  <a:lnTo>
                    <a:pt x="1176285" y="19214"/>
                  </a:lnTo>
                  <a:lnTo>
                    <a:pt x="1195499" y="65601"/>
                  </a:lnTo>
                  <a:lnTo>
                    <a:pt x="1195499" y="327998"/>
                  </a:lnTo>
                  <a:lnTo>
                    <a:pt x="1190344" y="353533"/>
                  </a:lnTo>
                  <a:lnTo>
                    <a:pt x="1176285" y="374385"/>
                  </a:lnTo>
                  <a:lnTo>
                    <a:pt x="1155433" y="388444"/>
                  </a:lnTo>
                  <a:lnTo>
                    <a:pt x="1129898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9276" y="1017724"/>
              <a:ext cx="1195705" cy="393700"/>
            </a:xfrm>
            <a:custGeom>
              <a:avLst/>
              <a:gdLst/>
              <a:ahLst/>
              <a:cxnLst/>
              <a:rect l="l" t="t" r="r" b="b"/>
              <a:pathLst>
                <a:path w="1195704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1129898" y="0"/>
                  </a:lnTo>
                  <a:lnTo>
                    <a:pt x="1176285" y="19214"/>
                  </a:lnTo>
                  <a:lnTo>
                    <a:pt x="1195499" y="65601"/>
                  </a:lnTo>
                  <a:lnTo>
                    <a:pt x="1195499" y="327998"/>
                  </a:lnTo>
                  <a:lnTo>
                    <a:pt x="1190344" y="353533"/>
                  </a:lnTo>
                  <a:lnTo>
                    <a:pt x="1176285" y="374385"/>
                  </a:lnTo>
                  <a:lnTo>
                    <a:pt x="1155433" y="388444"/>
                  </a:lnTo>
                  <a:lnTo>
                    <a:pt x="11298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41821" y="1480683"/>
            <a:ext cx="11624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13" dirty="0">
                <a:latin typeface="Arial"/>
                <a:cs typeface="Arial"/>
              </a:rPr>
              <a:t>Deduplication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02801" y="2268434"/>
            <a:ext cx="2349500" cy="1033780"/>
            <a:chOff x="3452100" y="1701325"/>
            <a:chExt cx="1762125" cy="775335"/>
          </a:xfrm>
        </p:grpSpPr>
        <p:sp>
          <p:nvSpPr>
            <p:cNvPr id="14" name="object 14"/>
            <p:cNvSpPr/>
            <p:nvPr/>
          </p:nvSpPr>
          <p:spPr>
            <a:xfrm>
              <a:off x="3471150" y="1720375"/>
              <a:ext cx="1724025" cy="737235"/>
            </a:xfrm>
            <a:custGeom>
              <a:avLst/>
              <a:gdLst/>
              <a:ahLst/>
              <a:cxnLst/>
              <a:rect l="l" t="t" r="r" b="b"/>
              <a:pathLst>
                <a:path w="1724025" h="737235">
                  <a:moveTo>
                    <a:pt x="1600647" y="737099"/>
                  </a:moveTo>
                  <a:lnTo>
                    <a:pt x="122852" y="737099"/>
                  </a:lnTo>
                  <a:lnTo>
                    <a:pt x="75032" y="727445"/>
                  </a:lnTo>
                  <a:lnTo>
                    <a:pt x="35982" y="701117"/>
                  </a:lnTo>
                  <a:lnTo>
                    <a:pt x="9654" y="662067"/>
                  </a:lnTo>
                  <a:lnTo>
                    <a:pt x="0" y="614247"/>
                  </a:lnTo>
                  <a:lnTo>
                    <a:pt x="0" y="122852"/>
                  </a:lnTo>
                  <a:lnTo>
                    <a:pt x="9654" y="75032"/>
                  </a:lnTo>
                  <a:lnTo>
                    <a:pt x="35982" y="35982"/>
                  </a:lnTo>
                  <a:lnTo>
                    <a:pt x="75032" y="9654"/>
                  </a:lnTo>
                  <a:lnTo>
                    <a:pt x="122852" y="0"/>
                  </a:lnTo>
                  <a:lnTo>
                    <a:pt x="1600647" y="0"/>
                  </a:lnTo>
                  <a:lnTo>
                    <a:pt x="1647661" y="9351"/>
                  </a:lnTo>
                  <a:lnTo>
                    <a:pt x="1687517" y="35982"/>
                  </a:lnTo>
                  <a:lnTo>
                    <a:pt x="1714148" y="75838"/>
                  </a:lnTo>
                  <a:lnTo>
                    <a:pt x="1723499" y="122852"/>
                  </a:lnTo>
                  <a:lnTo>
                    <a:pt x="1723499" y="614247"/>
                  </a:lnTo>
                  <a:lnTo>
                    <a:pt x="1713845" y="662067"/>
                  </a:lnTo>
                  <a:lnTo>
                    <a:pt x="1687517" y="701117"/>
                  </a:lnTo>
                  <a:lnTo>
                    <a:pt x="1648467" y="727445"/>
                  </a:lnTo>
                  <a:lnTo>
                    <a:pt x="1600647" y="737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71150" y="1720375"/>
              <a:ext cx="1724025" cy="737235"/>
            </a:xfrm>
            <a:custGeom>
              <a:avLst/>
              <a:gdLst/>
              <a:ahLst/>
              <a:cxnLst/>
              <a:rect l="l" t="t" r="r" b="b"/>
              <a:pathLst>
                <a:path w="1724025" h="737235">
                  <a:moveTo>
                    <a:pt x="0" y="122852"/>
                  </a:moveTo>
                  <a:lnTo>
                    <a:pt x="9654" y="75032"/>
                  </a:lnTo>
                  <a:lnTo>
                    <a:pt x="35982" y="35982"/>
                  </a:lnTo>
                  <a:lnTo>
                    <a:pt x="75032" y="9654"/>
                  </a:lnTo>
                  <a:lnTo>
                    <a:pt x="122852" y="0"/>
                  </a:lnTo>
                  <a:lnTo>
                    <a:pt x="1600647" y="0"/>
                  </a:lnTo>
                  <a:lnTo>
                    <a:pt x="1647661" y="9351"/>
                  </a:lnTo>
                  <a:lnTo>
                    <a:pt x="1687517" y="35982"/>
                  </a:lnTo>
                  <a:lnTo>
                    <a:pt x="1714148" y="75838"/>
                  </a:lnTo>
                  <a:lnTo>
                    <a:pt x="1723499" y="122852"/>
                  </a:lnTo>
                  <a:lnTo>
                    <a:pt x="1723499" y="614247"/>
                  </a:lnTo>
                  <a:lnTo>
                    <a:pt x="1713845" y="662067"/>
                  </a:lnTo>
                  <a:lnTo>
                    <a:pt x="1687517" y="701117"/>
                  </a:lnTo>
                  <a:lnTo>
                    <a:pt x="1648467" y="727445"/>
                  </a:lnTo>
                  <a:lnTo>
                    <a:pt x="1600647" y="737099"/>
                  </a:lnTo>
                  <a:lnTo>
                    <a:pt x="122852" y="737099"/>
                  </a:lnTo>
                  <a:lnTo>
                    <a:pt x="75032" y="727445"/>
                  </a:lnTo>
                  <a:lnTo>
                    <a:pt x="35982" y="701117"/>
                  </a:lnTo>
                  <a:lnTo>
                    <a:pt x="9654" y="662067"/>
                  </a:lnTo>
                  <a:lnTo>
                    <a:pt x="0" y="614247"/>
                  </a:lnTo>
                  <a:lnTo>
                    <a:pt x="0" y="12285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240179" y="2339718"/>
            <a:ext cx="1074420" cy="877163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58419" algn="just">
              <a:lnSpc>
                <a:spcPts val="2200"/>
              </a:lnSpc>
              <a:spcBef>
                <a:spcPts val="240"/>
              </a:spcBef>
            </a:pPr>
            <a:r>
              <a:rPr sz="1867" b="1" spc="-13" dirty="0">
                <a:latin typeface="Arial"/>
                <a:cs typeface="Arial"/>
              </a:rPr>
              <a:t>Remove offensive language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645083" y="2266506"/>
            <a:ext cx="609600" cy="55033"/>
            <a:chOff x="7233812" y="1699879"/>
            <a:chExt cx="457200" cy="41275"/>
          </a:xfrm>
        </p:grpSpPr>
        <p:sp>
          <p:nvSpPr>
            <p:cNvPr id="18" name="object 18"/>
            <p:cNvSpPr/>
            <p:nvPr/>
          </p:nvSpPr>
          <p:spPr>
            <a:xfrm>
              <a:off x="7281800" y="1720375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40">
                  <a:moveTo>
                    <a:pt x="408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8575" y="1704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38575" y="1704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891366" y="1622070"/>
            <a:ext cx="3942927" cy="3329093"/>
            <a:chOff x="3668524" y="1216552"/>
            <a:chExt cx="2957195" cy="2496820"/>
          </a:xfrm>
        </p:grpSpPr>
        <p:sp>
          <p:nvSpPr>
            <p:cNvPr id="22" name="object 22"/>
            <p:cNvSpPr/>
            <p:nvPr/>
          </p:nvSpPr>
          <p:spPr>
            <a:xfrm>
              <a:off x="5164783" y="1242237"/>
              <a:ext cx="864869" cy="478155"/>
            </a:xfrm>
            <a:custGeom>
              <a:avLst/>
              <a:gdLst/>
              <a:ahLst/>
              <a:cxnLst/>
              <a:rect l="l" t="t" r="r" b="b"/>
              <a:pathLst>
                <a:path w="864870" h="478155">
                  <a:moveTo>
                    <a:pt x="864390" y="47813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26959" y="122131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30208" y="34689"/>
                  </a:moveTo>
                  <a:lnTo>
                    <a:pt x="0" y="0"/>
                  </a:lnTo>
                  <a:lnTo>
                    <a:pt x="45439" y="7155"/>
                  </a:lnTo>
                  <a:lnTo>
                    <a:pt x="30208" y="346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26959" y="122131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39" y="7155"/>
                  </a:moveTo>
                  <a:lnTo>
                    <a:pt x="0" y="0"/>
                  </a:lnTo>
                  <a:lnTo>
                    <a:pt x="30208" y="34689"/>
                  </a:lnTo>
                  <a:lnTo>
                    <a:pt x="45439" y="715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46851" y="1720375"/>
              <a:ext cx="782320" cy="346075"/>
            </a:xfrm>
            <a:custGeom>
              <a:avLst/>
              <a:gdLst/>
              <a:ahLst/>
              <a:cxnLst/>
              <a:rect l="l" t="t" r="r" b="b"/>
              <a:pathLst>
                <a:path w="782320" h="346075">
                  <a:moveTo>
                    <a:pt x="782323" y="0"/>
                  </a:moveTo>
                  <a:lnTo>
                    <a:pt x="0" y="345605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07311" y="2051589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0" y="31858"/>
                  </a:moveTo>
                  <a:lnTo>
                    <a:pt x="33181" y="0"/>
                  </a:lnTo>
                  <a:lnTo>
                    <a:pt x="45896" y="28781"/>
                  </a:lnTo>
                  <a:lnTo>
                    <a:pt x="0" y="3185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07311" y="2051589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33181" y="0"/>
                  </a:moveTo>
                  <a:lnTo>
                    <a:pt x="0" y="31858"/>
                  </a:lnTo>
                  <a:lnTo>
                    <a:pt x="45896" y="28781"/>
                  </a:lnTo>
                  <a:lnTo>
                    <a:pt x="33181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31099" y="2457474"/>
              <a:ext cx="3175" cy="345440"/>
            </a:xfrm>
            <a:custGeom>
              <a:avLst/>
              <a:gdLst/>
              <a:ahLst/>
              <a:cxnLst/>
              <a:rect l="l" t="t" r="r" b="b"/>
              <a:pathLst>
                <a:path w="3175" h="345439">
                  <a:moveTo>
                    <a:pt x="0" y="0"/>
                  </a:moveTo>
                  <a:lnTo>
                    <a:pt x="3088" y="34515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18456" y="280248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118" y="43364"/>
                  </a:moveTo>
                  <a:lnTo>
                    <a:pt x="0" y="281"/>
                  </a:lnTo>
                  <a:lnTo>
                    <a:pt x="31463" y="0"/>
                  </a:lnTo>
                  <a:lnTo>
                    <a:pt x="16118" y="433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18456" y="280248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281"/>
                  </a:moveTo>
                  <a:lnTo>
                    <a:pt x="16118" y="43364"/>
                  </a:lnTo>
                  <a:lnTo>
                    <a:pt x="31463" y="0"/>
                  </a:lnTo>
                  <a:lnTo>
                    <a:pt x="0" y="2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53974" y="2681875"/>
              <a:ext cx="1466850" cy="1026794"/>
            </a:xfrm>
            <a:custGeom>
              <a:avLst/>
              <a:gdLst/>
              <a:ahLst/>
              <a:cxnLst/>
              <a:rect l="l" t="t" r="r" b="b"/>
              <a:pathLst>
                <a:path w="1466850" h="1026795">
                  <a:moveTo>
                    <a:pt x="0" y="198899"/>
                  </a:moveTo>
                  <a:lnTo>
                    <a:pt x="1424699" y="0"/>
                  </a:lnTo>
                </a:path>
                <a:path w="1466850" h="1026795">
                  <a:moveTo>
                    <a:pt x="0" y="722674"/>
                  </a:moveTo>
                  <a:lnTo>
                    <a:pt x="1466699" y="1026574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78049" y="2850637"/>
              <a:ext cx="1466850" cy="506095"/>
            </a:xfrm>
            <a:custGeom>
              <a:avLst/>
              <a:gdLst/>
              <a:ahLst/>
              <a:cxnLst/>
              <a:rect l="l" t="t" r="r" b="b"/>
              <a:pathLst>
                <a:path w="1466850" h="506095">
                  <a:moveTo>
                    <a:pt x="1382398" y="505799"/>
                  </a:moveTo>
                  <a:lnTo>
                    <a:pt x="84301" y="505799"/>
                  </a:lnTo>
                  <a:lnTo>
                    <a:pt x="51487" y="499175"/>
                  </a:lnTo>
                  <a:lnTo>
                    <a:pt x="24691" y="481108"/>
                  </a:lnTo>
                  <a:lnTo>
                    <a:pt x="6624" y="454312"/>
                  </a:lnTo>
                  <a:lnTo>
                    <a:pt x="0" y="421498"/>
                  </a:lnTo>
                  <a:lnTo>
                    <a:pt x="0" y="84301"/>
                  </a:lnTo>
                  <a:lnTo>
                    <a:pt x="6624" y="51487"/>
                  </a:lnTo>
                  <a:lnTo>
                    <a:pt x="24691" y="24691"/>
                  </a:lnTo>
                  <a:lnTo>
                    <a:pt x="51487" y="6624"/>
                  </a:lnTo>
                  <a:lnTo>
                    <a:pt x="84301" y="0"/>
                  </a:lnTo>
                  <a:lnTo>
                    <a:pt x="1382398" y="0"/>
                  </a:lnTo>
                  <a:lnTo>
                    <a:pt x="1429168" y="14163"/>
                  </a:lnTo>
                  <a:lnTo>
                    <a:pt x="1460282" y="52040"/>
                  </a:lnTo>
                  <a:lnTo>
                    <a:pt x="1466699" y="84301"/>
                  </a:lnTo>
                  <a:lnTo>
                    <a:pt x="1466699" y="421498"/>
                  </a:lnTo>
                  <a:lnTo>
                    <a:pt x="1460075" y="454312"/>
                  </a:lnTo>
                  <a:lnTo>
                    <a:pt x="1442008" y="481108"/>
                  </a:lnTo>
                  <a:lnTo>
                    <a:pt x="1415212" y="499175"/>
                  </a:lnTo>
                  <a:lnTo>
                    <a:pt x="1382398" y="505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78049" y="2850637"/>
              <a:ext cx="1466850" cy="506095"/>
            </a:xfrm>
            <a:custGeom>
              <a:avLst/>
              <a:gdLst/>
              <a:ahLst/>
              <a:cxnLst/>
              <a:rect l="l" t="t" r="r" b="b"/>
              <a:pathLst>
                <a:path w="1466850" h="506095">
                  <a:moveTo>
                    <a:pt x="0" y="84301"/>
                  </a:moveTo>
                  <a:lnTo>
                    <a:pt x="6624" y="51487"/>
                  </a:lnTo>
                  <a:lnTo>
                    <a:pt x="24691" y="24691"/>
                  </a:lnTo>
                  <a:lnTo>
                    <a:pt x="51487" y="6624"/>
                  </a:lnTo>
                  <a:lnTo>
                    <a:pt x="84301" y="0"/>
                  </a:lnTo>
                  <a:lnTo>
                    <a:pt x="1382398" y="0"/>
                  </a:lnTo>
                  <a:lnTo>
                    <a:pt x="1429168" y="14163"/>
                  </a:lnTo>
                  <a:lnTo>
                    <a:pt x="1460282" y="52040"/>
                  </a:lnTo>
                  <a:lnTo>
                    <a:pt x="1466699" y="84301"/>
                  </a:lnTo>
                  <a:lnTo>
                    <a:pt x="1466699" y="421498"/>
                  </a:lnTo>
                  <a:lnTo>
                    <a:pt x="1460075" y="454312"/>
                  </a:lnTo>
                  <a:lnTo>
                    <a:pt x="1442008" y="481108"/>
                  </a:lnTo>
                  <a:lnTo>
                    <a:pt x="1415212" y="499175"/>
                  </a:lnTo>
                  <a:lnTo>
                    <a:pt x="1382398" y="505799"/>
                  </a:lnTo>
                  <a:lnTo>
                    <a:pt x="84301" y="505799"/>
                  </a:lnTo>
                  <a:lnTo>
                    <a:pt x="51487" y="499175"/>
                  </a:lnTo>
                  <a:lnTo>
                    <a:pt x="24691" y="481108"/>
                  </a:lnTo>
                  <a:lnTo>
                    <a:pt x="6624" y="454312"/>
                  </a:lnTo>
                  <a:lnTo>
                    <a:pt x="0" y="421498"/>
                  </a:lnTo>
                  <a:lnTo>
                    <a:pt x="0" y="84301"/>
                  </a:lnTo>
                  <a:close/>
                </a:path>
              </a:pathLst>
            </a:custGeom>
            <a:ln w="19049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134289" y="3971934"/>
            <a:ext cx="14943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Blocklist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Filter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55767" y="6499114"/>
            <a:ext cx="6769947" cy="168486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6933">
              <a:spcBef>
                <a:spcPts val="33"/>
              </a:spcBef>
            </a:pPr>
            <a:r>
              <a:rPr sz="1067" dirty="0">
                <a:latin typeface="Arial"/>
                <a:cs typeface="Arial"/>
              </a:rPr>
              <a:t>Full</a:t>
            </a:r>
            <a:r>
              <a:rPr sz="1067" spc="100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list</a:t>
            </a:r>
            <a:r>
              <a:rPr sz="1067" spc="113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of</a:t>
            </a:r>
            <a:r>
              <a:rPr sz="1067" spc="113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bad</a:t>
            </a:r>
            <a:r>
              <a:rPr sz="1067" spc="120" dirty="0">
                <a:latin typeface="Arial"/>
                <a:cs typeface="Arial"/>
              </a:rPr>
              <a:t> </a:t>
            </a:r>
            <a:r>
              <a:rPr sz="1067" spc="-13" dirty="0">
                <a:latin typeface="Arial"/>
                <a:cs typeface="Arial"/>
              </a:rPr>
              <a:t>words:</a:t>
            </a:r>
            <a:r>
              <a:rPr sz="933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https://github.com/LDNOOBW/List-of-Dirty-Naughty-Obscene-and-Otherwise-Bad-Words/blob/master/en</a:t>
            </a:r>
            <a:endParaRPr sz="9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6973" y="1967796"/>
            <a:ext cx="10767060" cy="4773505"/>
            <a:chOff x="530229" y="1475846"/>
            <a:chExt cx="8075295" cy="35801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229" y="1475846"/>
              <a:ext cx="3197720" cy="3579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87900" y="2676099"/>
              <a:ext cx="2012950" cy="1031875"/>
            </a:xfrm>
            <a:custGeom>
              <a:avLst/>
              <a:gdLst/>
              <a:ahLst/>
              <a:cxnLst/>
              <a:rect l="l" t="t" r="r" b="b"/>
              <a:pathLst>
                <a:path w="2012950" h="1031875">
                  <a:moveTo>
                    <a:pt x="0" y="0"/>
                  </a:moveTo>
                  <a:lnTo>
                    <a:pt x="2012399" y="0"/>
                  </a:lnTo>
                  <a:lnTo>
                    <a:pt x="2012399" y="1031399"/>
                  </a:lnTo>
                  <a:lnTo>
                    <a:pt x="0" y="10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2968" y="680006"/>
            <a:ext cx="7974753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excluded</a:t>
            </a:r>
            <a:r>
              <a:rPr spc="-13" dirty="0"/>
              <a:t> </a:t>
            </a:r>
            <a:r>
              <a:rPr dirty="0"/>
              <a:t>from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C4.EN</a:t>
            </a:r>
            <a:r>
              <a:rPr spc="-13" dirty="0"/>
              <a:t> corpus?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32830" y="3658048"/>
            <a:ext cx="186351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latin typeface="Arial"/>
                <a:cs typeface="Arial"/>
              </a:rPr>
              <a:t>blocklist</a:t>
            </a:r>
            <a:r>
              <a:rPr sz="1467" spc="-3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of</a:t>
            </a:r>
            <a:r>
              <a:rPr sz="1467" spc="-33" dirty="0">
                <a:latin typeface="Arial"/>
                <a:cs typeface="Arial"/>
              </a:rPr>
              <a:t> </a:t>
            </a:r>
            <a:r>
              <a:rPr sz="1467" dirty="0">
                <a:latin typeface="Arial"/>
                <a:cs typeface="Arial"/>
              </a:rPr>
              <a:t>bad</a:t>
            </a:r>
            <a:r>
              <a:rPr sz="1467" spc="-27" dirty="0">
                <a:latin typeface="Arial"/>
                <a:cs typeface="Arial"/>
              </a:rPr>
              <a:t> </a:t>
            </a:r>
            <a:r>
              <a:rPr sz="1467" spc="-13" dirty="0">
                <a:latin typeface="Arial"/>
                <a:cs typeface="Arial"/>
              </a:rPr>
              <a:t>words:</a:t>
            </a:r>
            <a:endParaRPr sz="14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73608" y="3881570"/>
            <a:ext cx="1630680" cy="9201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3482" indent="-416550">
              <a:spcBef>
                <a:spcPts val="133"/>
              </a:spcBef>
              <a:buChar char="●"/>
              <a:tabLst>
                <a:tab pos="433482" algn="l"/>
              </a:tabLst>
            </a:pPr>
            <a:r>
              <a:rPr sz="1467" dirty="0">
                <a:latin typeface="Arial"/>
                <a:cs typeface="Arial"/>
              </a:rPr>
              <a:t>Hateful: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13" dirty="0">
                <a:latin typeface="Arial"/>
                <a:cs typeface="Arial"/>
              </a:rPr>
              <a:t>n*gga</a:t>
            </a:r>
            <a:endParaRPr sz="1467">
              <a:latin typeface="Arial"/>
              <a:cs typeface="Arial"/>
            </a:endParaRPr>
          </a:p>
          <a:p>
            <a:pPr marL="433482" indent="-416550">
              <a:buChar char="●"/>
              <a:tabLst>
                <a:tab pos="433482" algn="l"/>
              </a:tabLst>
            </a:pPr>
            <a:r>
              <a:rPr sz="1467" dirty="0">
                <a:latin typeface="Arial"/>
                <a:cs typeface="Arial"/>
              </a:rPr>
              <a:t>obscene: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27" dirty="0">
                <a:latin typeface="Arial"/>
                <a:cs typeface="Arial"/>
              </a:rPr>
              <a:t>f*ck</a:t>
            </a:r>
            <a:endParaRPr sz="1467">
              <a:latin typeface="Arial"/>
              <a:cs typeface="Arial"/>
            </a:endParaRPr>
          </a:p>
          <a:p>
            <a:pPr marL="433482" indent="-416550">
              <a:buChar char="●"/>
              <a:tabLst>
                <a:tab pos="433482" algn="l"/>
              </a:tabLst>
            </a:pPr>
            <a:r>
              <a:rPr sz="1467" dirty="0">
                <a:latin typeface="Arial"/>
                <a:cs typeface="Arial"/>
              </a:rPr>
              <a:t>sexual:</a:t>
            </a:r>
            <a:r>
              <a:rPr sz="1467" spc="-47" dirty="0">
                <a:latin typeface="Arial"/>
                <a:cs typeface="Arial"/>
              </a:rPr>
              <a:t> </a:t>
            </a:r>
            <a:r>
              <a:rPr sz="1467" spc="-27" dirty="0">
                <a:latin typeface="Arial"/>
                <a:cs typeface="Arial"/>
              </a:rPr>
              <a:t>porn</a:t>
            </a:r>
            <a:endParaRPr sz="1467">
              <a:latin typeface="Arial"/>
              <a:cs typeface="Arial"/>
            </a:endParaRPr>
          </a:p>
          <a:p>
            <a:pPr marL="433482" indent="-416550">
              <a:buChar char="●"/>
              <a:tabLst>
                <a:tab pos="433482" algn="l"/>
              </a:tabLst>
            </a:pPr>
            <a:r>
              <a:rPr sz="1467" spc="-27" dirty="0">
                <a:latin typeface="Arial"/>
                <a:cs typeface="Arial"/>
              </a:rPr>
              <a:t>etc.</a:t>
            </a:r>
            <a:endParaRPr sz="1467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54066" y="2031434"/>
            <a:ext cx="1594273" cy="467201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21167" rIns="0" bIns="0" rtlCol="0">
            <a:spAutoFit/>
          </a:bodyPr>
          <a:lstStyle/>
          <a:p>
            <a:pPr marL="625671" marR="263307" indent="-352205">
              <a:lnSpc>
                <a:spcPct val="102299"/>
              </a:lnSpc>
              <a:spcBef>
                <a:spcPts val="167"/>
              </a:spcBef>
            </a:pPr>
            <a:r>
              <a:rPr sz="1467" dirty="0">
                <a:latin typeface="Arial"/>
                <a:cs typeface="Arial"/>
              </a:rPr>
              <a:t>Scraping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33" dirty="0">
                <a:latin typeface="Arial"/>
                <a:cs typeface="Arial"/>
              </a:rPr>
              <a:t>the web</a:t>
            </a:r>
            <a:endParaRPr sz="14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38901" y="2031434"/>
            <a:ext cx="1594273" cy="467201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21167" rIns="0" bIns="0" rtlCol="0">
            <a:spAutoFit/>
          </a:bodyPr>
          <a:lstStyle/>
          <a:p>
            <a:pPr marL="615511" marR="263307" indent="-342045">
              <a:lnSpc>
                <a:spcPct val="102299"/>
              </a:lnSpc>
              <a:spcBef>
                <a:spcPts val="167"/>
              </a:spcBef>
            </a:pPr>
            <a:r>
              <a:rPr sz="1467" dirty="0">
                <a:latin typeface="Arial"/>
                <a:cs typeface="Arial"/>
              </a:rPr>
              <a:t>Cleaning</a:t>
            </a:r>
            <a:r>
              <a:rPr sz="1467" spc="-53" dirty="0">
                <a:latin typeface="Arial"/>
                <a:cs typeface="Arial"/>
              </a:rPr>
              <a:t> </a:t>
            </a:r>
            <a:r>
              <a:rPr sz="1467" spc="-33" dirty="0">
                <a:latin typeface="Arial"/>
                <a:cs typeface="Arial"/>
              </a:rPr>
              <a:t>the </a:t>
            </a:r>
            <a:r>
              <a:rPr sz="1467" spc="-27" dirty="0">
                <a:latin typeface="Arial"/>
                <a:cs typeface="Arial"/>
              </a:rPr>
              <a:t>data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19352" y="1350617"/>
            <a:ext cx="1606973" cy="537633"/>
            <a:chOff x="3914514" y="1012962"/>
            <a:chExt cx="1205230" cy="403225"/>
          </a:xfrm>
        </p:grpSpPr>
        <p:sp>
          <p:nvSpPr>
            <p:cNvPr id="11" name="object 11"/>
            <p:cNvSpPr/>
            <p:nvPr/>
          </p:nvSpPr>
          <p:spPr>
            <a:xfrm>
              <a:off x="3919276" y="1017724"/>
              <a:ext cx="1195705" cy="393700"/>
            </a:xfrm>
            <a:custGeom>
              <a:avLst/>
              <a:gdLst/>
              <a:ahLst/>
              <a:cxnLst/>
              <a:rect l="l" t="t" r="r" b="b"/>
              <a:pathLst>
                <a:path w="1195704" h="393700">
                  <a:moveTo>
                    <a:pt x="11298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1129898" y="0"/>
                  </a:lnTo>
                  <a:lnTo>
                    <a:pt x="1176285" y="19214"/>
                  </a:lnTo>
                  <a:lnTo>
                    <a:pt x="1195499" y="65601"/>
                  </a:lnTo>
                  <a:lnTo>
                    <a:pt x="1195499" y="327998"/>
                  </a:lnTo>
                  <a:lnTo>
                    <a:pt x="1190344" y="353533"/>
                  </a:lnTo>
                  <a:lnTo>
                    <a:pt x="1176285" y="374385"/>
                  </a:lnTo>
                  <a:lnTo>
                    <a:pt x="1155433" y="388444"/>
                  </a:lnTo>
                  <a:lnTo>
                    <a:pt x="1129898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19276" y="1017724"/>
              <a:ext cx="1195705" cy="393700"/>
            </a:xfrm>
            <a:custGeom>
              <a:avLst/>
              <a:gdLst/>
              <a:ahLst/>
              <a:cxnLst/>
              <a:rect l="l" t="t" r="r" b="b"/>
              <a:pathLst>
                <a:path w="1195704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1129898" y="0"/>
                  </a:lnTo>
                  <a:lnTo>
                    <a:pt x="1176285" y="19214"/>
                  </a:lnTo>
                  <a:lnTo>
                    <a:pt x="1195499" y="65601"/>
                  </a:lnTo>
                  <a:lnTo>
                    <a:pt x="1195499" y="327998"/>
                  </a:lnTo>
                  <a:lnTo>
                    <a:pt x="1190344" y="353533"/>
                  </a:lnTo>
                  <a:lnTo>
                    <a:pt x="1176285" y="374385"/>
                  </a:lnTo>
                  <a:lnTo>
                    <a:pt x="1155433" y="388444"/>
                  </a:lnTo>
                  <a:lnTo>
                    <a:pt x="11298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441821" y="1480683"/>
            <a:ext cx="11624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13" dirty="0">
                <a:latin typeface="Arial"/>
                <a:cs typeface="Arial"/>
              </a:rPr>
              <a:t>Deduplication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259650" y="2549883"/>
            <a:ext cx="1673013" cy="733213"/>
            <a:chOff x="3944737" y="1912412"/>
            <a:chExt cx="1254760" cy="549910"/>
          </a:xfrm>
        </p:grpSpPr>
        <p:sp>
          <p:nvSpPr>
            <p:cNvPr id="15" name="object 15"/>
            <p:cNvSpPr/>
            <p:nvPr/>
          </p:nvSpPr>
          <p:spPr>
            <a:xfrm>
              <a:off x="3949500" y="1917175"/>
              <a:ext cx="1245235" cy="540385"/>
            </a:xfrm>
            <a:custGeom>
              <a:avLst/>
              <a:gdLst/>
              <a:ahLst/>
              <a:cxnLst/>
              <a:rect l="l" t="t" r="r" b="b"/>
              <a:pathLst>
                <a:path w="1245235" h="540385">
                  <a:moveTo>
                    <a:pt x="1154947" y="540299"/>
                  </a:moveTo>
                  <a:lnTo>
                    <a:pt x="90051" y="540299"/>
                  </a:lnTo>
                  <a:lnTo>
                    <a:pt x="54999" y="533223"/>
                  </a:lnTo>
                  <a:lnTo>
                    <a:pt x="26375" y="513924"/>
                  </a:lnTo>
                  <a:lnTo>
                    <a:pt x="7076" y="485300"/>
                  </a:lnTo>
                  <a:lnTo>
                    <a:pt x="0" y="450248"/>
                  </a:lnTo>
                  <a:lnTo>
                    <a:pt x="0" y="90051"/>
                  </a:lnTo>
                  <a:lnTo>
                    <a:pt x="7076" y="54999"/>
                  </a:lnTo>
                  <a:lnTo>
                    <a:pt x="26375" y="26375"/>
                  </a:lnTo>
                  <a:lnTo>
                    <a:pt x="54999" y="7076"/>
                  </a:lnTo>
                  <a:lnTo>
                    <a:pt x="90051" y="0"/>
                  </a:lnTo>
                  <a:lnTo>
                    <a:pt x="1154947" y="0"/>
                  </a:lnTo>
                  <a:lnTo>
                    <a:pt x="1204908" y="15129"/>
                  </a:lnTo>
                  <a:lnTo>
                    <a:pt x="1238145" y="55590"/>
                  </a:lnTo>
                  <a:lnTo>
                    <a:pt x="1244999" y="90051"/>
                  </a:lnTo>
                  <a:lnTo>
                    <a:pt x="1244999" y="450248"/>
                  </a:lnTo>
                  <a:lnTo>
                    <a:pt x="1237923" y="485300"/>
                  </a:lnTo>
                  <a:lnTo>
                    <a:pt x="1218624" y="513924"/>
                  </a:lnTo>
                  <a:lnTo>
                    <a:pt x="1190000" y="533223"/>
                  </a:lnTo>
                  <a:lnTo>
                    <a:pt x="1154947" y="540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49500" y="1917175"/>
              <a:ext cx="1245235" cy="540385"/>
            </a:xfrm>
            <a:custGeom>
              <a:avLst/>
              <a:gdLst/>
              <a:ahLst/>
              <a:cxnLst/>
              <a:rect l="l" t="t" r="r" b="b"/>
              <a:pathLst>
                <a:path w="1245235" h="540385">
                  <a:moveTo>
                    <a:pt x="0" y="90051"/>
                  </a:moveTo>
                  <a:lnTo>
                    <a:pt x="7076" y="54999"/>
                  </a:lnTo>
                  <a:lnTo>
                    <a:pt x="26375" y="26375"/>
                  </a:lnTo>
                  <a:lnTo>
                    <a:pt x="54999" y="7076"/>
                  </a:lnTo>
                  <a:lnTo>
                    <a:pt x="90051" y="0"/>
                  </a:lnTo>
                  <a:lnTo>
                    <a:pt x="1154947" y="0"/>
                  </a:lnTo>
                  <a:lnTo>
                    <a:pt x="1204908" y="15129"/>
                  </a:lnTo>
                  <a:lnTo>
                    <a:pt x="1238145" y="55590"/>
                  </a:lnTo>
                  <a:lnTo>
                    <a:pt x="1244999" y="90051"/>
                  </a:lnTo>
                  <a:lnTo>
                    <a:pt x="1244999" y="450248"/>
                  </a:lnTo>
                  <a:lnTo>
                    <a:pt x="1237923" y="485300"/>
                  </a:lnTo>
                  <a:lnTo>
                    <a:pt x="1218624" y="513924"/>
                  </a:lnTo>
                  <a:lnTo>
                    <a:pt x="1190000" y="533223"/>
                  </a:lnTo>
                  <a:lnTo>
                    <a:pt x="1154947" y="540299"/>
                  </a:lnTo>
                  <a:lnTo>
                    <a:pt x="90051" y="540299"/>
                  </a:lnTo>
                  <a:lnTo>
                    <a:pt x="54999" y="533223"/>
                  </a:lnTo>
                  <a:lnTo>
                    <a:pt x="26375" y="513924"/>
                  </a:lnTo>
                  <a:lnTo>
                    <a:pt x="7076" y="485300"/>
                  </a:lnTo>
                  <a:lnTo>
                    <a:pt x="0" y="450248"/>
                  </a:lnTo>
                  <a:lnTo>
                    <a:pt x="0" y="900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708253" y="2777748"/>
            <a:ext cx="77554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spc="-13" dirty="0">
                <a:latin typeface="Arial"/>
                <a:cs typeface="Arial"/>
              </a:rPr>
              <a:t>offensive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645083" y="2266506"/>
            <a:ext cx="609600" cy="55033"/>
            <a:chOff x="7233812" y="1699879"/>
            <a:chExt cx="457200" cy="41275"/>
          </a:xfrm>
        </p:grpSpPr>
        <p:sp>
          <p:nvSpPr>
            <p:cNvPr id="19" name="object 19"/>
            <p:cNvSpPr/>
            <p:nvPr/>
          </p:nvSpPr>
          <p:spPr>
            <a:xfrm>
              <a:off x="7281800" y="1720375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40">
                  <a:moveTo>
                    <a:pt x="4087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38575" y="1704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38575" y="170464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602800" y="1622070"/>
            <a:ext cx="4231640" cy="3329093"/>
            <a:chOff x="3452100" y="1216552"/>
            <a:chExt cx="3173730" cy="2496820"/>
          </a:xfrm>
        </p:grpSpPr>
        <p:sp>
          <p:nvSpPr>
            <p:cNvPr id="23" name="object 23"/>
            <p:cNvSpPr/>
            <p:nvPr/>
          </p:nvSpPr>
          <p:spPr>
            <a:xfrm>
              <a:off x="5164784" y="1242237"/>
              <a:ext cx="864869" cy="478155"/>
            </a:xfrm>
            <a:custGeom>
              <a:avLst/>
              <a:gdLst/>
              <a:ahLst/>
              <a:cxnLst/>
              <a:rect l="l" t="t" r="r" b="b"/>
              <a:pathLst>
                <a:path w="864870" h="478155">
                  <a:moveTo>
                    <a:pt x="864390" y="47813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26959" y="122131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30208" y="34689"/>
                  </a:moveTo>
                  <a:lnTo>
                    <a:pt x="0" y="0"/>
                  </a:lnTo>
                  <a:lnTo>
                    <a:pt x="45439" y="7155"/>
                  </a:lnTo>
                  <a:lnTo>
                    <a:pt x="30208" y="346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26959" y="122131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39" y="7155"/>
                  </a:moveTo>
                  <a:lnTo>
                    <a:pt x="0" y="0"/>
                  </a:lnTo>
                  <a:lnTo>
                    <a:pt x="30208" y="34689"/>
                  </a:lnTo>
                  <a:lnTo>
                    <a:pt x="45439" y="715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46851" y="1720375"/>
              <a:ext cx="782320" cy="346075"/>
            </a:xfrm>
            <a:custGeom>
              <a:avLst/>
              <a:gdLst/>
              <a:ahLst/>
              <a:cxnLst/>
              <a:rect l="l" t="t" r="r" b="b"/>
              <a:pathLst>
                <a:path w="782320" h="346075">
                  <a:moveTo>
                    <a:pt x="782323" y="0"/>
                  </a:moveTo>
                  <a:lnTo>
                    <a:pt x="0" y="345605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07312" y="2051589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0" y="31858"/>
                  </a:moveTo>
                  <a:lnTo>
                    <a:pt x="33181" y="0"/>
                  </a:lnTo>
                  <a:lnTo>
                    <a:pt x="45896" y="28781"/>
                  </a:lnTo>
                  <a:lnTo>
                    <a:pt x="0" y="3185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07312" y="2051589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33181" y="0"/>
                  </a:moveTo>
                  <a:lnTo>
                    <a:pt x="0" y="31858"/>
                  </a:lnTo>
                  <a:lnTo>
                    <a:pt x="45896" y="28781"/>
                  </a:lnTo>
                  <a:lnTo>
                    <a:pt x="33181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31100" y="2457474"/>
              <a:ext cx="3175" cy="345440"/>
            </a:xfrm>
            <a:custGeom>
              <a:avLst/>
              <a:gdLst/>
              <a:ahLst/>
              <a:cxnLst/>
              <a:rect l="l" t="t" r="r" b="b"/>
              <a:pathLst>
                <a:path w="3175" h="345439">
                  <a:moveTo>
                    <a:pt x="0" y="0"/>
                  </a:moveTo>
                  <a:lnTo>
                    <a:pt x="3088" y="34515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18456" y="280248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118" y="43364"/>
                  </a:moveTo>
                  <a:lnTo>
                    <a:pt x="0" y="281"/>
                  </a:lnTo>
                  <a:lnTo>
                    <a:pt x="31463" y="0"/>
                  </a:lnTo>
                  <a:lnTo>
                    <a:pt x="16118" y="433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18456" y="280248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281"/>
                  </a:moveTo>
                  <a:lnTo>
                    <a:pt x="16118" y="43364"/>
                  </a:lnTo>
                  <a:lnTo>
                    <a:pt x="31463" y="0"/>
                  </a:lnTo>
                  <a:lnTo>
                    <a:pt x="0" y="28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53975" y="2681875"/>
              <a:ext cx="1466850" cy="1026794"/>
            </a:xfrm>
            <a:custGeom>
              <a:avLst/>
              <a:gdLst/>
              <a:ahLst/>
              <a:cxnLst/>
              <a:rect l="l" t="t" r="r" b="b"/>
              <a:pathLst>
                <a:path w="1466850" h="1026795">
                  <a:moveTo>
                    <a:pt x="0" y="198899"/>
                  </a:moveTo>
                  <a:lnTo>
                    <a:pt x="1424699" y="0"/>
                  </a:lnTo>
                </a:path>
                <a:path w="1466850" h="1026795">
                  <a:moveTo>
                    <a:pt x="0" y="722674"/>
                  </a:moveTo>
                  <a:lnTo>
                    <a:pt x="1466699" y="1026574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71150" y="1720375"/>
              <a:ext cx="1724025" cy="737235"/>
            </a:xfrm>
            <a:custGeom>
              <a:avLst/>
              <a:gdLst/>
              <a:ahLst/>
              <a:cxnLst/>
              <a:rect l="l" t="t" r="r" b="b"/>
              <a:pathLst>
                <a:path w="1724025" h="737235">
                  <a:moveTo>
                    <a:pt x="1600647" y="737099"/>
                  </a:moveTo>
                  <a:lnTo>
                    <a:pt x="122852" y="737099"/>
                  </a:lnTo>
                  <a:lnTo>
                    <a:pt x="75032" y="727445"/>
                  </a:lnTo>
                  <a:lnTo>
                    <a:pt x="35982" y="701117"/>
                  </a:lnTo>
                  <a:lnTo>
                    <a:pt x="9654" y="662067"/>
                  </a:lnTo>
                  <a:lnTo>
                    <a:pt x="0" y="614247"/>
                  </a:lnTo>
                  <a:lnTo>
                    <a:pt x="0" y="122852"/>
                  </a:lnTo>
                  <a:lnTo>
                    <a:pt x="9654" y="75032"/>
                  </a:lnTo>
                  <a:lnTo>
                    <a:pt x="35982" y="35982"/>
                  </a:lnTo>
                  <a:lnTo>
                    <a:pt x="75032" y="9654"/>
                  </a:lnTo>
                  <a:lnTo>
                    <a:pt x="122852" y="0"/>
                  </a:lnTo>
                  <a:lnTo>
                    <a:pt x="1600647" y="0"/>
                  </a:lnTo>
                  <a:lnTo>
                    <a:pt x="1647661" y="9351"/>
                  </a:lnTo>
                  <a:lnTo>
                    <a:pt x="1687517" y="35982"/>
                  </a:lnTo>
                  <a:lnTo>
                    <a:pt x="1714148" y="75838"/>
                  </a:lnTo>
                  <a:lnTo>
                    <a:pt x="1723499" y="122852"/>
                  </a:lnTo>
                  <a:lnTo>
                    <a:pt x="1723499" y="614247"/>
                  </a:lnTo>
                  <a:lnTo>
                    <a:pt x="1713845" y="662067"/>
                  </a:lnTo>
                  <a:lnTo>
                    <a:pt x="1687517" y="701117"/>
                  </a:lnTo>
                  <a:lnTo>
                    <a:pt x="1648467" y="727445"/>
                  </a:lnTo>
                  <a:lnTo>
                    <a:pt x="1600647" y="737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71150" y="1720375"/>
              <a:ext cx="1724025" cy="737235"/>
            </a:xfrm>
            <a:custGeom>
              <a:avLst/>
              <a:gdLst/>
              <a:ahLst/>
              <a:cxnLst/>
              <a:rect l="l" t="t" r="r" b="b"/>
              <a:pathLst>
                <a:path w="1724025" h="737235">
                  <a:moveTo>
                    <a:pt x="0" y="122852"/>
                  </a:moveTo>
                  <a:lnTo>
                    <a:pt x="9654" y="75032"/>
                  </a:lnTo>
                  <a:lnTo>
                    <a:pt x="35982" y="35982"/>
                  </a:lnTo>
                  <a:lnTo>
                    <a:pt x="75032" y="9654"/>
                  </a:lnTo>
                  <a:lnTo>
                    <a:pt x="122852" y="0"/>
                  </a:lnTo>
                  <a:lnTo>
                    <a:pt x="1600647" y="0"/>
                  </a:lnTo>
                  <a:lnTo>
                    <a:pt x="1647661" y="9351"/>
                  </a:lnTo>
                  <a:lnTo>
                    <a:pt x="1687517" y="35982"/>
                  </a:lnTo>
                  <a:lnTo>
                    <a:pt x="1714148" y="75838"/>
                  </a:lnTo>
                  <a:lnTo>
                    <a:pt x="1723499" y="122852"/>
                  </a:lnTo>
                  <a:lnTo>
                    <a:pt x="1723499" y="614247"/>
                  </a:lnTo>
                  <a:lnTo>
                    <a:pt x="1713845" y="662067"/>
                  </a:lnTo>
                  <a:lnTo>
                    <a:pt x="1687517" y="701117"/>
                  </a:lnTo>
                  <a:lnTo>
                    <a:pt x="1648467" y="727445"/>
                  </a:lnTo>
                  <a:lnTo>
                    <a:pt x="1600647" y="737099"/>
                  </a:lnTo>
                  <a:lnTo>
                    <a:pt x="122852" y="737099"/>
                  </a:lnTo>
                  <a:lnTo>
                    <a:pt x="75032" y="727445"/>
                  </a:lnTo>
                  <a:lnTo>
                    <a:pt x="35982" y="701117"/>
                  </a:lnTo>
                  <a:lnTo>
                    <a:pt x="9654" y="662067"/>
                  </a:lnTo>
                  <a:lnTo>
                    <a:pt x="0" y="614247"/>
                  </a:lnTo>
                  <a:lnTo>
                    <a:pt x="0" y="12285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99355" y="2339718"/>
            <a:ext cx="9567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13" dirty="0">
                <a:latin typeface="Arial"/>
                <a:cs typeface="Arial"/>
              </a:rPr>
              <a:t>Remove</a:t>
            </a:r>
            <a:endParaRPr sz="1867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06313" y="2619118"/>
            <a:ext cx="128778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b="1" spc="13" dirty="0">
                <a:latin typeface="Arial"/>
                <a:cs typeface="Arial"/>
              </a:rPr>
              <a:t>offe</a:t>
            </a:r>
            <a:r>
              <a:rPr sz="1867" b="1" spc="-667" dirty="0">
                <a:latin typeface="Arial"/>
                <a:cs typeface="Arial"/>
              </a:rPr>
              <a:t>n</a:t>
            </a:r>
            <a:r>
              <a:rPr sz="2200" spc="-540" baseline="35353" dirty="0">
                <a:latin typeface="Arial"/>
                <a:cs typeface="Arial"/>
              </a:rPr>
              <a:t>R</a:t>
            </a:r>
            <a:r>
              <a:rPr sz="1867" b="1" spc="-645" dirty="0">
                <a:latin typeface="Arial"/>
                <a:cs typeface="Arial"/>
              </a:rPr>
              <a:t>s</a:t>
            </a:r>
            <a:r>
              <a:rPr sz="2200" spc="-200" baseline="35353" dirty="0">
                <a:latin typeface="Arial"/>
                <a:cs typeface="Arial"/>
              </a:rPr>
              <a:t>e</a:t>
            </a:r>
            <a:r>
              <a:rPr sz="1867" b="1" spc="-347" dirty="0">
                <a:latin typeface="Arial"/>
                <a:cs typeface="Arial"/>
              </a:rPr>
              <a:t>i</a:t>
            </a:r>
            <a:r>
              <a:rPr sz="2200" spc="-1259" baseline="35353" dirty="0">
                <a:latin typeface="Arial"/>
                <a:cs typeface="Arial"/>
              </a:rPr>
              <a:t>m</a:t>
            </a:r>
            <a:r>
              <a:rPr sz="1867" b="1" spc="-167" dirty="0">
                <a:latin typeface="Arial"/>
                <a:cs typeface="Arial"/>
              </a:rPr>
              <a:t>v</a:t>
            </a:r>
            <a:r>
              <a:rPr sz="2200" spc="-929" baseline="35353" dirty="0">
                <a:latin typeface="Arial"/>
                <a:cs typeface="Arial"/>
              </a:rPr>
              <a:t>o</a:t>
            </a:r>
            <a:r>
              <a:rPr sz="1867" b="1" spc="-387" dirty="0">
                <a:latin typeface="Arial"/>
                <a:cs typeface="Arial"/>
              </a:rPr>
              <a:t>e</a:t>
            </a:r>
            <a:r>
              <a:rPr sz="2200" spc="20" baseline="35353" dirty="0">
                <a:latin typeface="Arial"/>
                <a:cs typeface="Arial"/>
              </a:rPr>
              <a:t>ve</a:t>
            </a:r>
            <a:endParaRPr sz="2200" baseline="3535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06369" y="2898518"/>
            <a:ext cx="132418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799">
              <a:spcBef>
                <a:spcPts val="133"/>
              </a:spcBef>
            </a:pPr>
            <a:r>
              <a:rPr sz="1867" b="1" spc="7" dirty="0">
                <a:latin typeface="Arial"/>
                <a:cs typeface="Arial"/>
              </a:rPr>
              <a:t>lan</a:t>
            </a:r>
            <a:r>
              <a:rPr sz="1867" b="1" spc="-240" dirty="0">
                <a:latin typeface="Arial"/>
                <a:cs typeface="Arial"/>
              </a:rPr>
              <a:t>g</a:t>
            </a:r>
            <a:r>
              <a:rPr sz="2200" spc="-100" baseline="-17676" dirty="0">
                <a:latin typeface="Arial"/>
                <a:cs typeface="Arial"/>
              </a:rPr>
              <a:t>l</a:t>
            </a:r>
            <a:r>
              <a:rPr sz="1867" b="1" spc="-1053" dirty="0">
                <a:latin typeface="Arial"/>
                <a:cs typeface="Arial"/>
              </a:rPr>
              <a:t>u</a:t>
            </a:r>
            <a:r>
              <a:rPr sz="2200" spc="9" baseline="-17676" dirty="0">
                <a:latin typeface="Arial"/>
                <a:cs typeface="Arial"/>
              </a:rPr>
              <a:t>a</a:t>
            </a:r>
            <a:r>
              <a:rPr sz="2200" spc="-840" baseline="-17676" dirty="0">
                <a:latin typeface="Arial"/>
                <a:cs typeface="Arial"/>
              </a:rPr>
              <a:t>n</a:t>
            </a:r>
            <a:r>
              <a:rPr sz="1867" b="1" spc="-460" dirty="0">
                <a:latin typeface="Arial"/>
                <a:cs typeface="Arial"/>
              </a:rPr>
              <a:t>a</a:t>
            </a:r>
            <a:r>
              <a:rPr sz="2200" spc="-509" baseline="-17676" dirty="0">
                <a:latin typeface="Arial"/>
                <a:cs typeface="Arial"/>
              </a:rPr>
              <a:t>g</a:t>
            </a:r>
            <a:r>
              <a:rPr sz="1867" b="1" spc="-780" dirty="0">
                <a:latin typeface="Arial"/>
                <a:cs typeface="Arial"/>
              </a:rPr>
              <a:t>g</a:t>
            </a:r>
            <a:r>
              <a:rPr sz="2200" spc="-20" baseline="-17676" dirty="0">
                <a:latin typeface="Arial"/>
                <a:cs typeface="Arial"/>
              </a:rPr>
              <a:t>u</a:t>
            </a:r>
            <a:r>
              <a:rPr sz="1867" b="1" spc="-1007" dirty="0">
                <a:latin typeface="Arial"/>
                <a:cs typeface="Arial"/>
              </a:rPr>
              <a:t>e</a:t>
            </a:r>
            <a:r>
              <a:rPr sz="2200" spc="9" baseline="-17676" dirty="0">
                <a:latin typeface="Arial"/>
                <a:cs typeface="Arial"/>
              </a:rPr>
              <a:t>age</a:t>
            </a:r>
            <a:endParaRPr sz="2200" baseline="-17676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891365" y="3788150"/>
            <a:ext cx="1981200" cy="700193"/>
            <a:chOff x="3668524" y="2841112"/>
            <a:chExt cx="1485900" cy="525145"/>
          </a:xfrm>
        </p:grpSpPr>
        <p:sp>
          <p:nvSpPr>
            <p:cNvPr id="39" name="object 39"/>
            <p:cNvSpPr/>
            <p:nvPr/>
          </p:nvSpPr>
          <p:spPr>
            <a:xfrm>
              <a:off x="3678049" y="2850637"/>
              <a:ext cx="1466850" cy="506095"/>
            </a:xfrm>
            <a:custGeom>
              <a:avLst/>
              <a:gdLst/>
              <a:ahLst/>
              <a:cxnLst/>
              <a:rect l="l" t="t" r="r" b="b"/>
              <a:pathLst>
                <a:path w="1466850" h="506095">
                  <a:moveTo>
                    <a:pt x="1382398" y="505799"/>
                  </a:moveTo>
                  <a:lnTo>
                    <a:pt x="84301" y="505799"/>
                  </a:lnTo>
                  <a:lnTo>
                    <a:pt x="51487" y="499175"/>
                  </a:lnTo>
                  <a:lnTo>
                    <a:pt x="24691" y="481108"/>
                  </a:lnTo>
                  <a:lnTo>
                    <a:pt x="6624" y="454312"/>
                  </a:lnTo>
                  <a:lnTo>
                    <a:pt x="0" y="421498"/>
                  </a:lnTo>
                  <a:lnTo>
                    <a:pt x="0" y="84301"/>
                  </a:lnTo>
                  <a:lnTo>
                    <a:pt x="6624" y="51487"/>
                  </a:lnTo>
                  <a:lnTo>
                    <a:pt x="24691" y="24691"/>
                  </a:lnTo>
                  <a:lnTo>
                    <a:pt x="51487" y="6624"/>
                  </a:lnTo>
                  <a:lnTo>
                    <a:pt x="84301" y="0"/>
                  </a:lnTo>
                  <a:lnTo>
                    <a:pt x="1382398" y="0"/>
                  </a:lnTo>
                  <a:lnTo>
                    <a:pt x="1429168" y="14163"/>
                  </a:lnTo>
                  <a:lnTo>
                    <a:pt x="1460282" y="52040"/>
                  </a:lnTo>
                  <a:lnTo>
                    <a:pt x="1466699" y="84301"/>
                  </a:lnTo>
                  <a:lnTo>
                    <a:pt x="1466699" y="421498"/>
                  </a:lnTo>
                  <a:lnTo>
                    <a:pt x="1460075" y="454312"/>
                  </a:lnTo>
                  <a:lnTo>
                    <a:pt x="1442008" y="481108"/>
                  </a:lnTo>
                  <a:lnTo>
                    <a:pt x="1415212" y="499175"/>
                  </a:lnTo>
                  <a:lnTo>
                    <a:pt x="1382398" y="505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78049" y="2850637"/>
              <a:ext cx="1466850" cy="506095"/>
            </a:xfrm>
            <a:custGeom>
              <a:avLst/>
              <a:gdLst/>
              <a:ahLst/>
              <a:cxnLst/>
              <a:rect l="l" t="t" r="r" b="b"/>
              <a:pathLst>
                <a:path w="1466850" h="506095">
                  <a:moveTo>
                    <a:pt x="0" y="84301"/>
                  </a:moveTo>
                  <a:lnTo>
                    <a:pt x="6624" y="51487"/>
                  </a:lnTo>
                  <a:lnTo>
                    <a:pt x="24691" y="24691"/>
                  </a:lnTo>
                  <a:lnTo>
                    <a:pt x="51487" y="6624"/>
                  </a:lnTo>
                  <a:lnTo>
                    <a:pt x="84301" y="0"/>
                  </a:lnTo>
                  <a:lnTo>
                    <a:pt x="1382398" y="0"/>
                  </a:lnTo>
                  <a:lnTo>
                    <a:pt x="1429168" y="14163"/>
                  </a:lnTo>
                  <a:lnTo>
                    <a:pt x="1460282" y="52040"/>
                  </a:lnTo>
                  <a:lnTo>
                    <a:pt x="1466699" y="84301"/>
                  </a:lnTo>
                  <a:lnTo>
                    <a:pt x="1466699" y="421498"/>
                  </a:lnTo>
                  <a:lnTo>
                    <a:pt x="1460075" y="454312"/>
                  </a:lnTo>
                  <a:lnTo>
                    <a:pt x="1442008" y="481108"/>
                  </a:lnTo>
                  <a:lnTo>
                    <a:pt x="1415212" y="499175"/>
                  </a:lnTo>
                  <a:lnTo>
                    <a:pt x="1382398" y="505799"/>
                  </a:lnTo>
                  <a:lnTo>
                    <a:pt x="84301" y="505799"/>
                  </a:lnTo>
                  <a:lnTo>
                    <a:pt x="51487" y="499175"/>
                  </a:lnTo>
                  <a:lnTo>
                    <a:pt x="24691" y="481108"/>
                  </a:lnTo>
                  <a:lnTo>
                    <a:pt x="6624" y="454312"/>
                  </a:lnTo>
                  <a:lnTo>
                    <a:pt x="0" y="421498"/>
                  </a:lnTo>
                  <a:lnTo>
                    <a:pt x="0" y="84301"/>
                  </a:lnTo>
                  <a:close/>
                </a:path>
              </a:pathLst>
            </a:custGeom>
            <a:ln w="19049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34289" y="3971934"/>
            <a:ext cx="14943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Blocklist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Filter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55767" y="6499114"/>
            <a:ext cx="6769947" cy="168486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16933">
              <a:spcBef>
                <a:spcPts val="33"/>
              </a:spcBef>
            </a:pPr>
            <a:r>
              <a:rPr sz="1067" dirty="0">
                <a:latin typeface="Arial"/>
                <a:cs typeface="Arial"/>
              </a:rPr>
              <a:t>Full</a:t>
            </a:r>
            <a:r>
              <a:rPr sz="1067" spc="100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list</a:t>
            </a:r>
            <a:r>
              <a:rPr sz="1067" spc="113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of</a:t>
            </a:r>
            <a:r>
              <a:rPr sz="1067" spc="113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bad</a:t>
            </a:r>
            <a:r>
              <a:rPr sz="1067" spc="120" dirty="0">
                <a:latin typeface="Arial"/>
                <a:cs typeface="Arial"/>
              </a:rPr>
              <a:t> </a:t>
            </a:r>
            <a:r>
              <a:rPr sz="1067" spc="-13" dirty="0">
                <a:latin typeface="Arial"/>
                <a:cs typeface="Arial"/>
              </a:rPr>
              <a:t>words:</a:t>
            </a:r>
            <a:r>
              <a:rPr sz="933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https://github.com/LDNOOBW/List-of-Dirty-Naughty-Obscene-and-Otherwise-Bad-Words/blob/master/en</a:t>
            </a:r>
            <a:endParaRPr sz="933">
              <a:latin typeface="Arial"/>
              <a:cs typeface="Arial"/>
            </a:endParaRP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1CDB5CEE-1CBA-4E62-A4D0-9304C669DE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63</a:t>
            </a:fld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13" dirty="0"/>
              <a:t> </a:t>
            </a:r>
            <a:r>
              <a:rPr dirty="0"/>
              <a:t>excluded</a:t>
            </a:r>
            <a:r>
              <a:rPr spc="-20" dirty="0"/>
              <a:t> </a:t>
            </a:r>
            <a:r>
              <a:rPr dirty="0"/>
              <a:t>from</a:t>
            </a:r>
            <a:r>
              <a:rPr spc="-13" dirty="0"/>
              <a:t> </a:t>
            </a:r>
            <a:r>
              <a:rPr dirty="0"/>
              <a:t>the</a:t>
            </a:r>
            <a:r>
              <a:rPr spc="-13" dirty="0"/>
              <a:t> corpus?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1653" y="1707836"/>
            <a:ext cx="6159500" cy="4775200"/>
            <a:chOff x="226239" y="1280877"/>
            <a:chExt cx="4619625" cy="3581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239" y="1280877"/>
              <a:ext cx="3198184" cy="35810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69350" y="2709825"/>
              <a:ext cx="1466850" cy="506095"/>
            </a:xfrm>
            <a:custGeom>
              <a:avLst/>
              <a:gdLst/>
              <a:ahLst/>
              <a:cxnLst/>
              <a:rect l="l" t="t" r="r" b="b"/>
              <a:pathLst>
                <a:path w="1466850" h="506094">
                  <a:moveTo>
                    <a:pt x="1382398" y="505799"/>
                  </a:moveTo>
                  <a:lnTo>
                    <a:pt x="84301" y="505799"/>
                  </a:lnTo>
                  <a:lnTo>
                    <a:pt x="51487" y="499175"/>
                  </a:lnTo>
                  <a:lnTo>
                    <a:pt x="24691" y="481108"/>
                  </a:lnTo>
                  <a:lnTo>
                    <a:pt x="6624" y="454312"/>
                  </a:lnTo>
                  <a:lnTo>
                    <a:pt x="0" y="421498"/>
                  </a:lnTo>
                  <a:lnTo>
                    <a:pt x="0" y="84301"/>
                  </a:lnTo>
                  <a:lnTo>
                    <a:pt x="6624" y="51487"/>
                  </a:lnTo>
                  <a:lnTo>
                    <a:pt x="24691" y="24691"/>
                  </a:lnTo>
                  <a:lnTo>
                    <a:pt x="51487" y="6624"/>
                  </a:lnTo>
                  <a:lnTo>
                    <a:pt x="84301" y="0"/>
                  </a:lnTo>
                  <a:lnTo>
                    <a:pt x="1382398" y="0"/>
                  </a:lnTo>
                  <a:lnTo>
                    <a:pt x="1429168" y="14163"/>
                  </a:lnTo>
                  <a:lnTo>
                    <a:pt x="1460282" y="52040"/>
                  </a:lnTo>
                  <a:lnTo>
                    <a:pt x="1466699" y="84301"/>
                  </a:lnTo>
                  <a:lnTo>
                    <a:pt x="1466699" y="421498"/>
                  </a:lnTo>
                  <a:lnTo>
                    <a:pt x="1460075" y="454312"/>
                  </a:lnTo>
                  <a:lnTo>
                    <a:pt x="1442008" y="481108"/>
                  </a:lnTo>
                  <a:lnTo>
                    <a:pt x="1415212" y="499175"/>
                  </a:lnTo>
                  <a:lnTo>
                    <a:pt x="1382398" y="5057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69350" y="2709825"/>
              <a:ext cx="1466850" cy="506095"/>
            </a:xfrm>
            <a:custGeom>
              <a:avLst/>
              <a:gdLst/>
              <a:ahLst/>
              <a:cxnLst/>
              <a:rect l="l" t="t" r="r" b="b"/>
              <a:pathLst>
                <a:path w="1466850" h="506094">
                  <a:moveTo>
                    <a:pt x="0" y="84301"/>
                  </a:moveTo>
                  <a:lnTo>
                    <a:pt x="6624" y="51487"/>
                  </a:lnTo>
                  <a:lnTo>
                    <a:pt x="24691" y="24691"/>
                  </a:lnTo>
                  <a:lnTo>
                    <a:pt x="51487" y="6624"/>
                  </a:lnTo>
                  <a:lnTo>
                    <a:pt x="84301" y="0"/>
                  </a:lnTo>
                  <a:lnTo>
                    <a:pt x="1382398" y="0"/>
                  </a:lnTo>
                  <a:lnTo>
                    <a:pt x="1429168" y="14163"/>
                  </a:lnTo>
                  <a:lnTo>
                    <a:pt x="1460282" y="52040"/>
                  </a:lnTo>
                  <a:lnTo>
                    <a:pt x="1466699" y="84301"/>
                  </a:lnTo>
                  <a:lnTo>
                    <a:pt x="1466699" y="421498"/>
                  </a:lnTo>
                  <a:lnTo>
                    <a:pt x="1460075" y="454312"/>
                  </a:lnTo>
                  <a:lnTo>
                    <a:pt x="1442008" y="481108"/>
                  </a:lnTo>
                  <a:lnTo>
                    <a:pt x="1415212" y="499175"/>
                  </a:lnTo>
                  <a:lnTo>
                    <a:pt x="1382398" y="505799"/>
                  </a:lnTo>
                  <a:lnTo>
                    <a:pt x="84301" y="505799"/>
                  </a:lnTo>
                  <a:lnTo>
                    <a:pt x="51487" y="499175"/>
                  </a:lnTo>
                  <a:lnTo>
                    <a:pt x="24691" y="481108"/>
                  </a:lnTo>
                  <a:lnTo>
                    <a:pt x="6624" y="454312"/>
                  </a:lnTo>
                  <a:lnTo>
                    <a:pt x="0" y="421498"/>
                  </a:lnTo>
                  <a:lnTo>
                    <a:pt x="0" y="84301"/>
                  </a:lnTo>
                  <a:close/>
                </a:path>
              </a:pathLst>
            </a:custGeom>
            <a:ln w="19049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797783" y="1553817"/>
            <a:ext cx="4985172" cy="4671060"/>
            <a:chOff x="5098337" y="1165362"/>
            <a:chExt cx="3738879" cy="3503295"/>
          </a:xfrm>
        </p:grpSpPr>
        <p:sp>
          <p:nvSpPr>
            <p:cNvPr id="8" name="object 8"/>
            <p:cNvSpPr/>
            <p:nvPr/>
          </p:nvSpPr>
          <p:spPr>
            <a:xfrm>
              <a:off x="5103100" y="1170124"/>
              <a:ext cx="3729354" cy="3493770"/>
            </a:xfrm>
            <a:custGeom>
              <a:avLst/>
              <a:gdLst/>
              <a:ahLst/>
              <a:cxnLst/>
              <a:rect l="l" t="t" r="r" b="b"/>
              <a:pathLst>
                <a:path w="3729354" h="3493770">
                  <a:moveTo>
                    <a:pt x="3147088" y="3493199"/>
                  </a:moveTo>
                  <a:lnTo>
                    <a:pt x="582211" y="3493199"/>
                  </a:lnTo>
                  <a:lnTo>
                    <a:pt x="534461" y="3491269"/>
                  </a:lnTo>
                  <a:lnTo>
                    <a:pt x="487773" y="3485579"/>
                  </a:lnTo>
                  <a:lnTo>
                    <a:pt x="442299" y="3476279"/>
                  </a:lnTo>
                  <a:lnTo>
                    <a:pt x="398187" y="3463518"/>
                  </a:lnTo>
                  <a:lnTo>
                    <a:pt x="355588" y="3447446"/>
                  </a:lnTo>
                  <a:lnTo>
                    <a:pt x="314651" y="3428214"/>
                  </a:lnTo>
                  <a:lnTo>
                    <a:pt x="275527" y="3405971"/>
                  </a:lnTo>
                  <a:lnTo>
                    <a:pt x="238365" y="3380866"/>
                  </a:lnTo>
                  <a:lnTo>
                    <a:pt x="203314" y="3353051"/>
                  </a:lnTo>
                  <a:lnTo>
                    <a:pt x="170525" y="3322674"/>
                  </a:lnTo>
                  <a:lnTo>
                    <a:pt x="140148" y="3289885"/>
                  </a:lnTo>
                  <a:lnTo>
                    <a:pt x="112333" y="3254834"/>
                  </a:lnTo>
                  <a:lnTo>
                    <a:pt x="87228" y="3217672"/>
                  </a:lnTo>
                  <a:lnTo>
                    <a:pt x="64985" y="3178548"/>
                  </a:lnTo>
                  <a:lnTo>
                    <a:pt x="45753" y="3137611"/>
                  </a:lnTo>
                  <a:lnTo>
                    <a:pt x="29681" y="3095012"/>
                  </a:lnTo>
                  <a:lnTo>
                    <a:pt x="16920" y="3050900"/>
                  </a:lnTo>
                  <a:lnTo>
                    <a:pt x="7620" y="3005426"/>
                  </a:lnTo>
                  <a:lnTo>
                    <a:pt x="1930" y="2958738"/>
                  </a:lnTo>
                  <a:lnTo>
                    <a:pt x="0" y="2910988"/>
                  </a:lnTo>
                  <a:lnTo>
                    <a:pt x="0" y="582211"/>
                  </a:lnTo>
                  <a:lnTo>
                    <a:pt x="1930" y="534461"/>
                  </a:lnTo>
                  <a:lnTo>
                    <a:pt x="7620" y="487773"/>
                  </a:lnTo>
                  <a:lnTo>
                    <a:pt x="16920" y="442299"/>
                  </a:lnTo>
                  <a:lnTo>
                    <a:pt x="29681" y="398187"/>
                  </a:lnTo>
                  <a:lnTo>
                    <a:pt x="45753" y="355588"/>
                  </a:lnTo>
                  <a:lnTo>
                    <a:pt x="64985" y="314651"/>
                  </a:lnTo>
                  <a:lnTo>
                    <a:pt x="87228" y="275527"/>
                  </a:lnTo>
                  <a:lnTo>
                    <a:pt x="112333" y="238365"/>
                  </a:lnTo>
                  <a:lnTo>
                    <a:pt x="140148" y="203314"/>
                  </a:lnTo>
                  <a:lnTo>
                    <a:pt x="170525" y="170525"/>
                  </a:lnTo>
                  <a:lnTo>
                    <a:pt x="203314" y="140148"/>
                  </a:lnTo>
                  <a:lnTo>
                    <a:pt x="238365" y="112333"/>
                  </a:lnTo>
                  <a:lnTo>
                    <a:pt x="275527" y="87228"/>
                  </a:lnTo>
                  <a:lnTo>
                    <a:pt x="314651" y="64985"/>
                  </a:lnTo>
                  <a:lnTo>
                    <a:pt x="355588" y="45753"/>
                  </a:lnTo>
                  <a:lnTo>
                    <a:pt x="398187" y="29681"/>
                  </a:lnTo>
                  <a:lnTo>
                    <a:pt x="442299" y="16920"/>
                  </a:lnTo>
                  <a:lnTo>
                    <a:pt x="487773" y="7620"/>
                  </a:lnTo>
                  <a:lnTo>
                    <a:pt x="534461" y="1930"/>
                  </a:lnTo>
                  <a:lnTo>
                    <a:pt x="582211" y="0"/>
                  </a:lnTo>
                  <a:lnTo>
                    <a:pt x="3147088" y="0"/>
                  </a:lnTo>
                  <a:lnTo>
                    <a:pt x="3198280" y="2253"/>
                  </a:lnTo>
                  <a:lnTo>
                    <a:pt x="3248735" y="8939"/>
                  </a:lnTo>
                  <a:lnTo>
                    <a:pt x="3298185" y="19946"/>
                  </a:lnTo>
                  <a:lnTo>
                    <a:pt x="3346363" y="35164"/>
                  </a:lnTo>
                  <a:lnTo>
                    <a:pt x="3393000" y="54482"/>
                  </a:lnTo>
                  <a:lnTo>
                    <a:pt x="3437827" y="77788"/>
                  </a:lnTo>
                  <a:lnTo>
                    <a:pt x="3480577" y="104971"/>
                  </a:lnTo>
                  <a:lnTo>
                    <a:pt x="3520982" y="135921"/>
                  </a:lnTo>
                  <a:lnTo>
                    <a:pt x="3558774" y="170525"/>
                  </a:lnTo>
                  <a:lnTo>
                    <a:pt x="3593378" y="208317"/>
                  </a:lnTo>
                  <a:lnTo>
                    <a:pt x="3624328" y="248722"/>
                  </a:lnTo>
                  <a:lnTo>
                    <a:pt x="3651511" y="291472"/>
                  </a:lnTo>
                  <a:lnTo>
                    <a:pt x="3674817" y="336299"/>
                  </a:lnTo>
                  <a:lnTo>
                    <a:pt x="3694135" y="382936"/>
                  </a:lnTo>
                  <a:lnTo>
                    <a:pt x="3709353" y="431114"/>
                  </a:lnTo>
                  <a:lnTo>
                    <a:pt x="3720360" y="480564"/>
                  </a:lnTo>
                  <a:lnTo>
                    <a:pt x="3727046" y="531019"/>
                  </a:lnTo>
                  <a:lnTo>
                    <a:pt x="3729299" y="582211"/>
                  </a:lnTo>
                  <a:lnTo>
                    <a:pt x="3729299" y="2910988"/>
                  </a:lnTo>
                  <a:lnTo>
                    <a:pt x="3727369" y="2958738"/>
                  </a:lnTo>
                  <a:lnTo>
                    <a:pt x="3721679" y="3005426"/>
                  </a:lnTo>
                  <a:lnTo>
                    <a:pt x="3712379" y="3050900"/>
                  </a:lnTo>
                  <a:lnTo>
                    <a:pt x="3699618" y="3095012"/>
                  </a:lnTo>
                  <a:lnTo>
                    <a:pt x="3683546" y="3137611"/>
                  </a:lnTo>
                  <a:lnTo>
                    <a:pt x="3664314" y="3178548"/>
                  </a:lnTo>
                  <a:lnTo>
                    <a:pt x="3642071" y="3217672"/>
                  </a:lnTo>
                  <a:lnTo>
                    <a:pt x="3616966" y="3254834"/>
                  </a:lnTo>
                  <a:lnTo>
                    <a:pt x="3589151" y="3289885"/>
                  </a:lnTo>
                  <a:lnTo>
                    <a:pt x="3558774" y="3322674"/>
                  </a:lnTo>
                  <a:lnTo>
                    <a:pt x="3525985" y="3353051"/>
                  </a:lnTo>
                  <a:lnTo>
                    <a:pt x="3490934" y="3380866"/>
                  </a:lnTo>
                  <a:lnTo>
                    <a:pt x="3453772" y="3405971"/>
                  </a:lnTo>
                  <a:lnTo>
                    <a:pt x="3414648" y="3428214"/>
                  </a:lnTo>
                  <a:lnTo>
                    <a:pt x="3373711" y="3447446"/>
                  </a:lnTo>
                  <a:lnTo>
                    <a:pt x="3331112" y="3463518"/>
                  </a:lnTo>
                  <a:lnTo>
                    <a:pt x="3287000" y="3476279"/>
                  </a:lnTo>
                  <a:lnTo>
                    <a:pt x="3241526" y="3485579"/>
                  </a:lnTo>
                  <a:lnTo>
                    <a:pt x="3194838" y="3491269"/>
                  </a:lnTo>
                  <a:lnTo>
                    <a:pt x="3147088" y="3493199"/>
                  </a:lnTo>
                  <a:close/>
                </a:path>
              </a:pathLst>
            </a:custGeom>
            <a:solidFill>
              <a:srgbClr val="6FA8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03100" y="1170124"/>
              <a:ext cx="3729354" cy="3493770"/>
            </a:xfrm>
            <a:custGeom>
              <a:avLst/>
              <a:gdLst/>
              <a:ahLst/>
              <a:cxnLst/>
              <a:rect l="l" t="t" r="r" b="b"/>
              <a:pathLst>
                <a:path w="3729354" h="3493770">
                  <a:moveTo>
                    <a:pt x="0" y="582211"/>
                  </a:moveTo>
                  <a:lnTo>
                    <a:pt x="1930" y="534461"/>
                  </a:lnTo>
                  <a:lnTo>
                    <a:pt x="7620" y="487773"/>
                  </a:lnTo>
                  <a:lnTo>
                    <a:pt x="16920" y="442299"/>
                  </a:lnTo>
                  <a:lnTo>
                    <a:pt x="29681" y="398187"/>
                  </a:lnTo>
                  <a:lnTo>
                    <a:pt x="45753" y="355588"/>
                  </a:lnTo>
                  <a:lnTo>
                    <a:pt x="64985" y="314651"/>
                  </a:lnTo>
                  <a:lnTo>
                    <a:pt x="87228" y="275527"/>
                  </a:lnTo>
                  <a:lnTo>
                    <a:pt x="112333" y="238365"/>
                  </a:lnTo>
                  <a:lnTo>
                    <a:pt x="140148" y="203314"/>
                  </a:lnTo>
                  <a:lnTo>
                    <a:pt x="170525" y="170525"/>
                  </a:lnTo>
                  <a:lnTo>
                    <a:pt x="203314" y="140148"/>
                  </a:lnTo>
                  <a:lnTo>
                    <a:pt x="238365" y="112333"/>
                  </a:lnTo>
                  <a:lnTo>
                    <a:pt x="275527" y="87228"/>
                  </a:lnTo>
                  <a:lnTo>
                    <a:pt x="314651" y="64985"/>
                  </a:lnTo>
                  <a:lnTo>
                    <a:pt x="355588" y="45753"/>
                  </a:lnTo>
                  <a:lnTo>
                    <a:pt x="398187" y="29681"/>
                  </a:lnTo>
                  <a:lnTo>
                    <a:pt x="442299" y="16920"/>
                  </a:lnTo>
                  <a:lnTo>
                    <a:pt x="487773" y="7620"/>
                  </a:lnTo>
                  <a:lnTo>
                    <a:pt x="534461" y="1930"/>
                  </a:lnTo>
                  <a:lnTo>
                    <a:pt x="582211" y="0"/>
                  </a:lnTo>
                  <a:lnTo>
                    <a:pt x="3147088" y="0"/>
                  </a:lnTo>
                  <a:lnTo>
                    <a:pt x="3198280" y="2253"/>
                  </a:lnTo>
                  <a:lnTo>
                    <a:pt x="3248735" y="8939"/>
                  </a:lnTo>
                  <a:lnTo>
                    <a:pt x="3298185" y="19946"/>
                  </a:lnTo>
                  <a:lnTo>
                    <a:pt x="3346363" y="35164"/>
                  </a:lnTo>
                  <a:lnTo>
                    <a:pt x="3393000" y="54482"/>
                  </a:lnTo>
                  <a:lnTo>
                    <a:pt x="3437827" y="77788"/>
                  </a:lnTo>
                  <a:lnTo>
                    <a:pt x="3480577" y="104971"/>
                  </a:lnTo>
                  <a:lnTo>
                    <a:pt x="3520982" y="135921"/>
                  </a:lnTo>
                  <a:lnTo>
                    <a:pt x="3558774" y="170525"/>
                  </a:lnTo>
                  <a:lnTo>
                    <a:pt x="3593378" y="208317"/>
                  </a:lnTo>
                  <a:lnTo>
                    <a:pt x="3624328" y="248722"/>
                  </a:lnTo>
                  <a:lnTo>
                    <a:pt x="3651511" y="291472"/>
                  </a:lnTo>
                  <a:lnTo>
                    <a:pt x="3674817" y="336299"/>
                  </a:lnTo>
                  <a:lnTo>
                    <a:pt x="3694135" y="382936"/>
                  </a:lnTo>
                  <a:lnTo>
                    <a:pt x="3709353" y="431114"/>
                  </a:lnTo>
                  <a:lnTo>
                    <a:pt x="3720360" y="480564"/>
                  </a:lnTo>
                  <a:lnTo>
                    <a:pt x="3727046" y="531019"/>
                  </a:lnTo>
                  <a:lnTo>
                    <a:pt x="3729299" y="582211"/>
                  </a:lnTo>
                  <a:lnTo>
                    <a:pt x="3729299" y="2910988"/>
                  </a:lnTo>
                  <a:lnTo>
                    <a:pt x="3727369" y="2958738"/>
                  </a:lnTo>
                  <a:lnTo>
                    <a:pt x="3721679" y="3005426"/>
                  </a:lnTo>
                  <a:lnTo>
                    <a:pt x="3712379" y="3050900"/>
                  </a:lnTo>
                  <a:lnTo>
                    <a:pt x="3699618" y="3095012"/>
                  </a:lnTo>
                  <a:lnTo>
                    <a:pt x="3683546" y="3137611"/>
                  </a:lnTo>
                  <a:lnTo>
                    <a:pt x="3664314" y="3178548"/>
                  </a:lnTo>
                  <a:lnTo>
                    <a:pt x="3642071" y="3217672"/>
                  </a:lnTo>
                  <a:lnTo>
                    <a:pt x="3616966" y="3254834"/>
                  </a:lnTo>
                  <a:lnTo>
                    <a:pt x="3589151" y="3289885"/>
                  </a:lnTo>
                  <a:lnTo>
                    <a:pt x="3558774" y="3322674"/>
                  </a:lnTo>
                  <a:lnTo>
                    <a:pt x="3525985" y="3353051"/>
                  </a:lnTo>
                  <a:lnTo>
                    <a:pt x="3490934" y="3380866"/>
                  </a:lnTo>
                  <a:lnTo>
                    <a:pt x="3453772" y="3405971"/>
                  </a:lnTo>
                  <a:lnTo>
                    <a:pt x="3414648" y="3428214"/>
                  </a:lnTo>
                  <a:lnTo>
                    <a:pt x="3373711" y="3447446"/>
                  </a:lnTo>
                  <a:lnTo>
                    <a:pt x="3331112" y="3463518"/>
                  </a:lnTo>
                  <a:lnTo>
                    <a:pt x="3287000" y="3476279"/>
                  </a:lnTo>
                  <a:lnTo>
                    <a:pt x="3241526" y="3485579"/>
                  </a:lnTo>
                  <a:lnTo>
                    <a:pt x="3194838" y="3491269"/>
                  </a:lnTo>
                  <a:lnTo>
                    <a:pt x="3147088" y="3493199"/>
                  </a:lnTo>
                  <a:lnTo>
                    <a:pt x="582211" y="3493199"/>
                  </a:lnTo>
                  <a:lnTo>
                    <a:pt x="534461" y="3491269"/>
                  </a:lnTo>
                  <a:lnTo>
                    <a:pt x="487773" y="3485579"/>
                  </a:lnTo>
                  <a:lnTo>
                    <a:pt x="442299" y="3476279"/>
                  </a:lnTo>
                  <a:lnTo>
                    <a:pt x="398187" y="3463518"/>
                  </a:lnTo>
                  <a:lnTo>
                    <a:pt x="355588" y="3447446"/>
                  </a:lnTo>
                  <a:lnTo>
                    <a:pt x="314651" y="3428214"/>
                  </a:lnTo>
                  <a:lnTo>
                    <a:pt x="275527" y="3405971"/>
                  </a:lnTo>
                  <a:lnTo>
                    <a:pt x="238365" y="3380866"/>
                  </a:lnTo>
                  <a:lnTo>
                    <a:pt x="203314" y="3353051"/>
                  </a:lnTo>
                  <a:lnTo>
                    <a:pt x="170525" y="3322674"/>
                  </a:lnTo>
                  <a:lnTo>
                    <a:pt x="140148" y="3289885"/>
                  </a:lnTo>
                  <a:lnTo>
                    <a:pt x="112333" y="3254834"/>
                  </a:lnTo>
                  <a:lnTo>
                    <a:pt x="87228" y="3217672"/>
                  </a:lnTo>
                  <a:lnTo>
                    <a:pt x="64985" y="3178548"/>
                  </a:lnTo>
                  <a:lnTo>
                    <a:pt x="45753" y="3137611"/>
                  </a:lnTo>
                  <a:lnTo>
                    <a:pt x="29681" y="3095012"/>
                  </a:lnTo>
                  <a:lnTo>
                    <a:pt x="16920" y="3050900"/>
                  </a:lnTo>
                  <a:lnTo>
                    <a:pt x="7620" y="3005426"/>
                  </a:lnTo>
                  <a:lnTo>
                    <a:pt x="1930" y="2958738"/>
                  </a:lnTo>
                  <a:lnTo>
                    <a:pt x="0" y="2910988"/>
                  </a:lnTo>
                  <a:lnTo>
                    <a:pt x="0" y="58221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14100" y="2165250"/>
              <a:ext cx="2907665" cy="813435"/>
            </a:xfrm>
            <a:custGeom>
              <a:avLst/>
              <a:gdLst/>
              <a:ahLst/>
              <a:cxnLst/>
              <a:rect l="l" t="t" r="r" b="b"/>
              <a:pathLst>
                <a:path w="2907665" h="813435">
                  <a:moveTo>
                    <a:pt x="2771797" y="812999"/>
                  </a:moveTo>
                  <a:lnTo>
                    <a:pt x="135502" y="812999"/>
                  </a:lnTo>
                  <a:lnTo>
                    <a:pt x="92673" y="806091"/>
                  </a:lnTo>
                  <a:lnTo>
                    <a:pt x="55476" y="786855"/>
                  </a:lnTo>
                  <a:lnTo>
                    <a:pt x="26144" y="757523"/>
                  </a:lnTo>
                  <a:lnTo>
                    <a:pt x="6908" y="720326"/>
                  </a:lnTo>
                  <a:lnTo>
                    <a:pt x="0" y="677497"/>
                  </a:lnTo>
                  <a:lnTo>
                    <a:pt x="0" y="135502"/>
                  </a:lnTo>
                  <a:lnTo>
                    <a:pt x="6908" y="92673"/>
                  </a:lnTo>
                  <a:lnTo>
                    <a:pt x="26144" y="55476"/>
                  </a:lnTo>
                  <a:lnTo>
                    <a:pt x="55476" y="26144"/>
                  </a:lnTo>
                  <a:lnTo>
                    <a:pt x="92673" y="6908"/>
                  </a:lnTo>
                  <a:lnTo>
                    <a:pt x="135502" y="0"/>
                  </a:lnTo>
                  <a:lnTo>
                    <a:pt x="2771797" y="0"/>
                  </a:lnTo>
                  <a:lnTo>
                    <a:pt x="2823652" y="10314"/>
                  </a:lnTo>
                  <a:lnTo>
                    <a:pt x="2867612" y="39687"/>
                  </a:lnTo>
                  <a:lnTo>
                    <a:pt x="2896985" y="83648"/>
                  </a:lnTo>
                  <a:lnTo>
                    <a:pt x="2907299" y="135502"/>
                  </a:lnTo>
                  <a:lnTo>
                    <a:pt x="2907299" y="677497"/>
                  </a:lnTo>
                  <a:lnTo>
                    <a:pt x="2900391" y="720326"/>
                  </a:lnTo>
                  <a:lnTo>
                    <a:pt x="2881155" y="757523"/>
                  </a:lnTo>
                  <a:lnTo>
                    <a:pt x="2851823" y="786855"/>
                  </a:lnTo>
                  <a:lnTo>
                    <a:pt x="2814626" y="806091"/>
                  </a:lnTo>
                  <a:lnTo>
                    <a:pt x="2771797" y="8129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14100" y="2165250"/>
              <a:ext cx="2907665" cy="813435"/>
            </a:xfrm>
            <a:custGeom>
              <a:avLst/>
              <a:gdLst/>
              <a:ahLst/>
              <a:cxnLst/>
              <a:rect l="l" t="t" r="r" b="b"/>
              <a:pathLst>
                <a:path w="2907665" h="813435">
                  <a:moveTo>
                    <a:pt x="0" y="135502"/>
                  </a:moveTo>
                  <a:lnTo>
                    <a:pt x="6908" y="92673"/>
                  </a:lnTo>
                  <a:lnTo>
                    <a:pt x="26144" y="55476"/>
                  </a:lnTo>
                  <a:lnTo>
                    <a:pt x="55476" y="26144"/>
                  </a:lnTo>
                  <a:lnTo>
                    <a:pt x="92673" y="6908"/>
                  </a:lnTo>
                  <a:lnTo>
                    <a:pt x="135502" y="0"/>
                  </a:lnTo>
                  <a:lnTo>
                    <a:pt x="2771797" y="0"/>
                  </a:lnTo>
                  <a:lnTo>
                    <a:pt x="2823652" y="10314"/>
                  </a:lnTo>
                  <a:lnTo>
                    <a:pt x="2867612" y="39687"/>
                  </a:lnTo>
                  <a:lnTo>
                    <a:pt x="2896985" y="83648"/>
                  </a:lnTo>
                  <a:lnTo>
                    <a:pt x="2907299" y="135502"/>
                  </a:lnTo>
                  <a:lnTo>
                    <a:pt x="2907299" y="677497"/>
                  </a:lnTo>
                  <a:lnTo>
                    <a:pt x="2900391" y="720326"/>
                  </a:lnTo>
                  <a:lnTo>
                    <a:pt x="2881155" y="757523"/>
                  </a:lnTo>
                  <a:lnTo>
                    <a:pt x="2851823" y="786855"/>
                  </a:lnTo>
                  <a:lnTo>
                    <a:pt x="2814626" y="806091"/>
                  </a:lnTo>
                  <a:lnTo>
                    <a:pt x="2771797" y="812999"/>
                  </a:lnTo>
                  <a:lnTo>
                    <a:pt x="135502" y="812999"/>
                  </a:lnTo>
                  <a:lnTo>
                    <a:pt x="92673" y="806091"/>
                  </a:lnTo>
                  <a:lnTo>
                    <a:pt x="55476" y="786855"/>
                  </a:lnTo>
                  <a:lnTo>
                    <a:pt x="26144" y="757523"/>
                  </a:lnTo>
                  <a:lnTo>
                    <a:pt x="6908" y="720326"/>
                  </a:lnTo>
                  <a:lnTo>
                    <a:pt x="0" y="677497"/>
                  </a:lnTo>
                  <a:lnTo>
                    <a:pt x="0" y="1355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00646" y="1864579"/>
            <a:ext cx="2979420" cy="18150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4000" spc="-13" dirty="0">
                <a:latin typeface="Arial"/>
                <a:cs typeface="Arial"/>
              </a:rPr>
              <a:t>Evaluation</a:t>
            </a:r>
            <a:endParaRPr sz="4000">
              <a:latin typeface="Arial"/>
              <a:cs typeface="Arial"/>
            </a:endParaRPr>
          </a:p>
          <a:p>
            <a:pPr>
              <a:spcBef>
                <a:spcPts val="53"/>
              </a:spcBef>
            </a:pPr>
            <a:endParaRPr sz="4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Identities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3" dirty="0">
                <a:latin typeface="Arial"/>
                <a:cs typeface="Arial"/>
              </a:rPr>
              <a:t>excluded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345783" y="4113883"/>
            <a:ext cx="3889587" cy="1097280"/>
            <a:chOff x="5509337" y="3085412"/>
            <a:chExt cx="2917190" cy="822960"/>
          </a:xfrm>
        </p:grpSpPr>
        <p:sp>
          <p:nvSpPr>
            <p:cNvPr id="14" name="object 14"/>
            <p:cNvSpPr/>
            <p:nvPr/>
          </p:nvSpPr>
          <p:spPr>
            <a:xfrm>
              <a:off x="5514099" y="3090174"/>
              <a:ext cx="2907665" cy="813435"/>
            </a:xfrm>
            <a:custGeom>
              <a:avLst/>
              <a:gdLst/>
              <a:ahLst/>
              <a:cxnLst/>
              <a:rect l="l" t="t" r="r" b="b"/>
              <a:pathLst>
                <a:path w="2907665" h="813435">
                  <a:moveTo>
                    <a:pt x="2771797" y="812999"/>
                  </a:moveTo>
                  <a:lnTo>
                    <a:pt x="135502" y="812999"/>
                  </a:lnTo>
                  <a:lnTo>
                    <a:pt x="92673" y="806091"/>
                  </a:lnTo>
                  <a:lnTo>
                    <a:pt x="55476" y="786855"/>
                  </a:lnTo>
                  <a:lnTo>
                    <a:pt x="26144" y="757523"/>
                  </a:lnTo>
                  <a:lnTo>
                    <a:pt x="6908" y="720326"/>
                  </a:lnTo>
                  <a:lnTo>
                    <a:pt x="0" y="677497"/>
                  </a:lnTo>
                  <a:lnTo>
                    <a:pt x="0" y="135502"/>
                  </a:lnTo>
                  <a:lnTo>
                    <a:pt x="6908" y="92673"/>
                  </a:lnTo>
                  <a:lnTo>
                    <a:pt x="26144" y="55476"/>
                  </a:lnTo>
                  <a:lnTo>
                    <a:pt x="55476" y="26144"/>
                  </a:lnTo>
                  <a:lnTo>
                    <a:pt x="92673" y="6908"/>
                  </a:lnTo>
                  <a:lnTo>
                    <a:pt x="135502" y="0"/>
                  </a:lnTo>
                  <a:lnTo>
                    <a:pt x="2771797" y="0"/>
                  </a:lnTo>
                  <a:lnTo>
                    <a:pt x="2823652" y="10314"/>
                  </a:lnTo>
                  <a:lnTo>
                    <a:pt x="2867612" y="39687"/>
                  </a:lnTo>
                  <a:lnTo>
                    <a:pt x="2896985" y="83648"/>
                  </a:lnTo>
                  <a:lnTo>
                    <a:pt x="2907299" y="135502"/>
                  </a:lnTo>
                  <a:lnTo>
                    <a:pt x="2907299" y="677497"/>
                  </a:lnTo>
                  <a:lnTo>
                    <a:pt x="2900391" y="720326"/>
                  </a:lnTo>
                  <a:lnTo>
                    <a:pt x="2881155" y="757523"/>
                  </a:lnTo>
                  <a:lnTo>
                    <a:pt x="2851823" y="786855"/>
                  </a:lnTo>
                  <a:lnTo>
                    <a:pt x="2814626" y="806091"/>
                  </a:lnTo>
                  <a:lnTo>
                    <a:pt x="2771797" y="8129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14099" y="3090174"/>
              <a:ext cx="2907665" cy="813435"/>
            </a:xfrm>
            <a:custGeom>
              <a:avLst/>
              <a:gdLst/>
              <a:ahLst/>
              <a:cxnLst/>
              <a:rect l="l" t="t" r="r" b="b"/>
              <a:pathLst>
                <a:path w="2907665" h="813435">
                  <a:moveTo>
                    <a:pt x="0" y="135502"/>
                  </a:moveTo>
                  <a:lnTo>
                    <a:pt x="6908" y="92673"/>
                  </a:lnTo>
                  <a:lnTo>
                    <a:pt x="26144" y="55476"/>
                  </a:lnTo>
                  <a:lnTo>
                    <a:pt x="55476" y="26144"/>
                  </a:lnTo>
                  <a:lnTo>
                    <a:pt x="92673" y="6908"/>
                  </a:lnTo>
                  <a:lnTo>
                    <a:pt x="135502" y="0"/>
                  </a:lnTo>
                  <a:lnTo>
                    <a:pt x="2771797" y="0"/>
                  </a:lnTo>
                  <a:lnTo>
                    <a:pt x="2823652" y="10314"/>
                  </a:lnTo>
                  <a:lnTo>
                    <a:pt x="2867612" y="39687"/>
                  </a:lnTo>
                  <a:lnTo>
                    <a:pt x="2896985" y="83648"/>
                  </a:lnTo>
                  <a:lnTo>
                    <a:pt x="2907299" y="135502"/>
                  </a:lnTo>
                  <a:lnTo>
                    <a:pt x="2907299" y="677497"/>
                  </a:lnTo>
                  <a:lnTo>
                    <a:pt x="2900391" y="720326"/>
                  </a:lnTo>
                  <a:lnTo>
                    <a:pt x="2881155" y="757523"/>
                  </a:lnTo>
                  <a:lnTo>
                    <a:pt x="2851823" y="786855"/>
                  </a:lnTo>
                  <a:lnTo>
                    <a:pt x="2814626" y="806091"/>
                  </a:lnTo>
                  <a:lnTo>
                    <a:pt x="2771797" y="812999"/>
                  </a:lnTo>
                  <a:lnTo>
                    <a:pt x="135502" y="812999"/>
                  </a:lnTo>
                  <a:lnTo>
                    <a:pt x="92673" y="806091"/>
                  </a:lnTo>
                  <a:lnTo>
                    <a:pt x="55476" y="786855"/>
                  </a:lnTo>
                  <a:lnTo>
                    <a:pt x="26144" y="757523"/>
                  </a:lnTo>
                  <a:lnTo>
                    <a:pt x="6908" y="720326"/>
                  </a:lnTo>
                  <a:lnTo>
                    <a:pt x="0" y="677497"/>
                  </a:lnTo>
                  <a:lnTo>
                    <a:pt x="0" y="1355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988430" y="4415175"/>
            <a:ext cx="2603500" cy="4479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800" dirty="0">
                <a:latin typeface="Arial"/>
                <a:cs typeface="Arial"/>
              </a:rPr>
              <a:t>Voices</a:t>
            </a:r>
            <a:r>
              <a:rPr sz="2800" spc="-167" dirty="0">
                <a:latin typeface="Arial"/>
                <a:cs typeface="Arial"/>
              </a:rPr>
              <a:t> </a:t>
            </a:r>
            <a:r>
              <a:rPr sz="2800" spc="-13" dirty="0">
                <a:latin typeface="Arial"/>
                <a:cs typeface="Arial"/>
              </a:rPr>
              <a:t>excluded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22690" y="3784185"/>
            <a:ext cx="14943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Blocklist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spc="-13" dirty="0">
                <a:latin typeface="Arial"/>
                <a:cs typeface="Arial"/>
              </a:rPr>
              <a:t>Filter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22618C2-9578-4295-8ADF-51E657850F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64</a:t>
            </a:fld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850" y="687650"/>
            <a:ext cx="11046460" cy="5483013"/>
            <a:chOff x="429637" y="515737"/>
            <a:chExt cx="8284845" cy="4112260"/>
          </a:xfrm>
        </p:grpSpPr>
        <p:sp>
          <p:nvSpPr>
            <p:cNvPr id="3" name="object 3"/>
            <p:cNvSpPr/>
            <p:nvPr/>
          </p:nvSpPr>
          <p:spPr>
            <a:xfrm>
              <a:off x="434399" y="520500"/>
              <a:ext cx="8275320" cy="4102735"/>
            </a:xfrm>
            <a:custGeom>
              <a:avLst/>
              <a:gdLst/>
              <a:ahLst/>
              <a:cxnLst/>
              <a:rect l="l" t="t" r="r" b="b"/>
              <a:pathLst>
                <a:path w="8275320" h="4102735">
                  <a:moveTo>
                    <a:pt x="7591435" y="4102499"/>
                  </a:moveTo>
                  <a:lnTo>
                    <a:pt x="683763" y="4102499"/>
                  </a:lnTo>
                  <a:lnTo>
                    <a:pt x="634932" y="4100783"/>
                  </a:lnTo>
                  <a:lnTo>
                    <a:pt x="587027" y="4095709"/>
                  </a:lnTo>
                  <a:lnTo>
                    <a:pt x="540164" y="4087395"/>
                  </a:lnTo>
                  <a:lnTo>
                    <a:pt x="494460" y="4075956"/>
                  </a:lnTo>
                  <a:lnTo>
                    <a:pt x="450029" y="4061508"/>
                  </a:lnTo>
                  <a:lnTo>
                    <a:pt x="406988" y="4044165"/>
                  </a:lnTo>
                  <a:lnTo>
                    <a:pt x="365452" y="4024045"/>
                  </a:lnTo>
                  <a:lnTo>
                    <a:pt x="325537" y="4001263"/>
                  </a:lnTo>
                  <a:lnTo>
                    <a:pt x="287358" y="3975934"/>
                  </a:lnTo>
                  <a:lnTo>
                    <a:pt x="251032" y="3948174"/>
                  </a:lnTo>
                  <a:lnTo>
                    <a:pt x="216674" y="3918099"/>
                  </a:lnTo>
                  <a:lnTo>
                    <a:pt x="184400" y="3885825"/>
                  </a:lnTo>
                  <a:lnTo>
                    <a:pt x="154325" y="3851467"/>
                  </a:lnTo>
                  <a:lnTo>
                    <a:pt x="126565" y="3815141"/>
                  </a:lnTo>
                  <a:lnTo>
                    <a:pt x="101236" y="3776962"/>
                  </a:lnTo>
                  <a:lnTo>
                    <a:pt x="78454" y="3737047"/>
                  </a:lnTo>
                  <a:lnTo>
                    <a:pt x="58334" y="3695511"/>
                  </a:lnTo>
                  <a:lnTo>
                    <a:pt x="40991" y="3652470"/>
                  </a:lnTo>
                  <a:lnTo>
                    <a:pt x="26543" y="3608039"/>
                  </a:lnTo>
                  <a:lnTo>
                    <a:pt x="15104" y="3562335"/>
                  </a:lnTo>
                  <a:lnTo>
                    <a:pt x="6790" y="3515472"/>
                  </a:lnTo>
                  <a:lnTo>
                    <a:pt x="1716" y="3467567"/>
                  </a:lnTo>
                  <a:lnTo>
                    <a:pt x="0" y="3418736"/>
                  </a:lnTo>
                  <a:lnTo>
                    <a:pt x="0" y="683763"/>
                  </a:lnTo>
                  <a:lnTo>
                    <a:pt x="1716" y="634932"/>
                  </a:lnTo>
                  <a:lnTo>
                    <a:pt x="6790" y="587027"/>
                  </a:lnTo>
                  <a:lnTo>
                    <a:pt x="15104" y="540164"/>
                  </a:lnTo>
                  <a:lnTo>
                    <a:pt x="26543" y="494460"/>
                  </a:lnTo>
                  <a:lnTo>
                    <a:pt x="40991" y="450029"/>
                  </a:lnTo>
                  <a:lnTo>
                    <a:pt x="58334" y="406988"/>
                  </a:lnTo>
                  <a:lnTo>
                    <a:pt x="78454" y="365452"/>
                  </a:lnTo>
                  <a:lnTo>
                    <a:pt x="101236" y="325537"/>
                  </a:lnTo>
                  <a:lnTo>
                    <a:pt x="126565" y="287358"/>
                  </a:lnTo>
                  <a:lnTo>
                    <a:pt x="154325" y="251032"/>
                  </a:lnTo>
                  <a:lnTo>
                    <a:pt x="184400" y="216674"/>
                  </a:lnTo>
                  <a:lnTo>
                    <a:pt x="216674" y="184400"/>
                  </a:lnTo>
                  <a:lnTo>
                    <a:pt x="251032" y="154325"/>
                  </a:lnTo>
                  <a:lnTo>
                    <a:pt x="287358" y="126565"/>
                  </a:lnTo>
                  <a:lnTo>
                    <a:pt x="325537" y="101236"/>
                  </a:lnTo>
                  <a:lnTo>
                    <a:pt x="365452" y="78454"/>
                  </a:lnTo>
                  <a:lnTo>
                    <a:pt x="406988" y="58334"/>
                  </a:lnTo>
                  <a:lnTo>
                    <a:pt x="450029" y="40991"/>
                  </a:lnTo>
                  <a:lnTo>
                    <a:pt x="494460" y="26543"/>
                  </a:lnTo>
                  <a:lnTo>
                    <a:pt x="540164" y="15104"/>
                  </a:lnTo>
                  <a:lnTo>
                    <a:pt x="587027" y="6790"/>
                  </a:lnTo>
                  <a:lnTo>
                    <a:pt x="634932" y="1716"/>
                  </a:lnTo>
                  <a:lnTo>
                    <a:pt x="683763" y="0"/>
                  </a:lnTo>
                  <a:lnTo>
                    <a:pt x="7591435" y="0"/>
                  </a:lnTo>
                  <a:lnTo>
                    <a:pt x="7640681" y="1774"/>
                  </a:lnTo>
                  <a:lnTo>
                    <a:pt x="7689385" y="7049"/>
                  </a:lnTo>
                  <a:lnTo>
                    <a:pt x="7737376" y="15753"/>
                  </a:lnTo>
                  <a:lnTo>
                    <a:pt x="7784481" y="27815"/>
                  </a:lnTo>
                  <a:lnTo>
                    <a:pt x="7830528" y="43164"/>
                  </a:lnTo>
                  <a:lnTo>
                    <a:pt x="7875345" y="61727"/>
                  </a:lnTo>
                  <a:lnTo>
                    <a:pt x="7918758" y="83434"/>
                  </a:lnTo>
                  <a:lnTo>
                    <a:pt x="7960595" y="108213"/>
                  </a:lnTo>
                  <a:lnTo>
                    <a:pt x="8000685" y="135993"/>
                  </a:lnTo>
                  <a:lnTo>
                    <a:pt x="8038854" y="166702"/>
                  </a:lnTo>
                  <a:lnTo>
                    <a:pt x="8074930" y="200269"/>
                  </a:lnTo>
                  <a:lnTo>
                    <a:pt x="8108497" y="236345"/>
                  </a:lnTo>
                  <a:lnTo>
                    <a:pt x="8139206" y="274514"/>
                  </a:lnTo>
                  <a:lnTo>
                    <a:pt x="8166986" y="314604"/>
                  </a:lnTo>
                  <a:lnTo>
                    <a:pt x="8191765" y="356441"/>
                  </a:lnTo>
                  <a:lnTo>
                    <a:pt x="8213472" y="399855"/>
                  </a:lnTo>
                  <a:lnTo>
                    <a:pt x="8232035" y="444671"/>
                  </a:lnTo>
                  <a:lnTo>
                    <a:pt x="8247384" y="490718"/>
                  </a:lnTo>
                  <a:lnTo>
                    <a:pt x="8259446" y="537823"/>
                  </a:lnTo>
                  <a:lnTo>
                    <a:pt x="8268150" y="585814"/>
                  </a:lnTo>
                  <a:lnTo>
                    <a:pt x="8273425" y="634518"/>
                  </a:lnTo>
                  <a:lnTo>
                    <a:pt x="8275199" y="683763"/>
                  </a:lnTo>
                  <a:lnTo>
                    <a:pt x="8275199" y="3418736"/>
                  </a:lnTo>
                  <a:lnTo>
                    <a:pt x="8273483" y="3467567"/>
                  </a:lnTo>
                  <a:lnTo>
                    <a:pt x="8268409" y="3515472"/>
                  </a:lnTo>
                  <a:lnTo>
                    <a:pt x="8260095" y="3562335"/>
                  </a:lnTo>
                  <a:lnTo>
                    <a:pt x="8248656" y="3608039"/>
                  </a:lnTo>
                  <a:lnTo>
                    <a:pt x="8234208" y="3652470"/>
                  </a:lnTo>
                  <a:lnTo>
                    <a:pt x="8216865" y="3695511"/>
                  </a:lnTo>
                  <a:lnTo>
                    <a:pt x="8196745" y="3737047"/>
                  </a:lnTo>
                  <a:lnTo>
                    <a:pt x="8173963" y="3776962"/>
                  </a:lnTo>
                  <a:lnTo>
                    <a:pt x="8148634" y="3815141"/>
                  </a:lnTo>
                  <a:lnTo>
                    <a:pt x="8120874" y="3851467"/>
                  </a:lnTo>
                  <a:lnTo>
                    <a:pt x="8090799" y="3885825"/>
                  </a:lnTo>
                  <a:lnTo>
                    <a:pt x="8058525" y="3918099"/>
                  </a:lnTo>
                  <a:lnTo>
                    <a:pt x="8024167" y="3948174"/>
                  </a:lnTo>
                  <a:lnTo>
                    <a:pt x="7987841" y="3975934"/>
                  </a:lnTo>
                  <a:lnTo>
                    <a:pt x="7949662" y="4001263"/>
                  </a:lnTo>
                  <a:lnTo>
                    <a:pt x="7909747" y="4024045"/>
                  </a:lnTo>
                  <a:lnTo>
                    <a:pt x="7868211" y="4044165"/>
                  </a:lnTo>
                  <a:lnTo>
                    <a:pt x="7825170" y="4061508"/>
                  </a:lnTo>
                  <a:lnTo>
                    <a:pt x="7780739" y="4075956"/>
                  </a:lnTo>
                  <a:lnTo>
                    <a:pt x="7735035" y="4087395"/>
                  </a:lnTo>
                  <a:lnTo>
                    <a:pt x="7688172" y="4095709"/>
                  </a:lnTo>
                  <a:lnTo>
                    <a:pt x="7640267" y="4100783"/>
                  </a:lnTo>
                  <a:lnTo>
                    <a:pt x="7591435" y="4102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4399" y="520500"/>
              <a:ext cx="8275320" cy="4102735"/>
            </a:xfrm>
            <a:custGeom>
              <a:avLst/>
              <a:gdLst/>
              <a:ahLst/>
              <a:cxnLst/>
              <a:rect l="l" t="t" r="r" b="b"/>
              <a:pathLst>
                <a:path w="8275320" h="4102735">
                  <a:moveTo>
                    <a:pt x="0" y="683763"/>
                  </a:moveTo>
                  <a:lnTo>
                    <a:pt x="1716" y="634932"/>
                  </a:lnTo>
                  <a:lnTo>
                    <a:pt x="6790" y="587027"/>
                  </a:lnTo>
                  <a:lnTo>
                    <a:pt x="15104" y="540164"/>
                  </a:lnTo>
                  <a:lnTo>
                    <a:pt x="26543" y="494460"/>
                  </a:lnTo>
                  <a:lnTo>
                    <a:pt x="40991" y="450029"/>
                  </a:lnTo>
                  <a:lnTo>
                    <a:pt x="58334" y="406988"/>
                  </a:lnTo>
                  <a:lnTo>
                    <a:pt x="78454" y="365452"/>
                  </a:lnTo>
                  <a:lnTo>
                    <a:pt x="101236" y="325537"/>
                  </a:lnTo>
                  <a:lnTo>
                    <a:pt x="126565" y="287358"/>
                  </a:lnTo>
                  <a:lnTo>
                    <a:pt x="154325" y="251032"/>
                  </a:lnTo>
                  <a:lnTo>
                    <a:pt x="184400" y="216674"/>
                  </a:lnTo>
                  <a:lnTo>
                    <a:pt x="216674" y="184400"/>
                  </a:lnTo>
                  <a:lnTo>
                    <a:pt x="251032" y="154325"/>
                  </a:lnTo>
                  <a:lnTo>
                    <a:pt x="287358" y="126565"/>
                  </a:lnTo>
                  <a:lnTo>
                    <a:pt x="325537" y="101236"/>
                  </a:lnTo>
                  <a:lnTo>
                    <a:pt x="365452" y="78454"/>
                  </a:lnTo>
                  <a:lnTo>
                    <a:pt x="406988" y="58334"/>
                  </a:lnTo>
                  <a:lnTo>
                    <a:pt x="450029" y="40991"/>
                  </a:lnTo>
                  <a:lnTo>
                    <a:pt x="494460" y="26543"/>
                  </a:lnTo>
                  <a:lnTo>
                    <a:pt x="540164" y="15104"/>
                  </a:lnTo>
                  <a:lnTo>
                    <a:pt x="587027" y="6790"/>
                  </a:lnTo>
                  <a:lnTo>
                    <a:pt x="634932" y="1716"/>
                  </a:lnTo>
                  <a:lnTo>
                    <a:pt x="683763" y="0"/>
                  </a:lnTo>
                  <a:lnTo>
                    <a:pt x="7591435" y="0"/>
                  </a:lnTo>
                  <a:lnTo>
                    <a:pt x="7640681" y="1774"/>
                  </a:lnTo>
                  <a:lnTo>
                    <a:pt x="7689385" y="7049"/>
                  </a:lnTo>
                  <a:lnTo>
                    <a:pt x="7737376" y="15753"/>
                  </a:lnTo>
                  <a:lnTo>
                    <a:pt x="7784481" y="27815"/>
                  </a:lnTo>
                  <a:lnTo>
                    <a:pt x="7830528" y="43164"/>
                  </a:lnTo>
                  <a:lnTo>
                    <a:pt x="7875345" y="61727"/>
                  </a:lnTo>
                  <a:lnTo>
                    <a:pt x="7918758" y="83434"/>
                  </a:lnTo>
                  <a:lnTo>
                    <a:pt x="7960595" y="108213"/>
                  </a:lnTo>
                  <a:lnTo>
                    <a:pt x="8000685" y="135993"/>
                  </a:lnTo>
                  <a:lnTo>
                    <a:pt x="8038854" y="166702"/>
                  </a:lnTo>
                  <a:lnTo>
                    <a:pt x="8074930" y="200269"/>
                  </a:lnTo>
                  <a:lnTo>
                    <a:pt x="8108497" y="236345"/>
                  </a:lnTo>
                  <a:lnTo>
                    <a:pt x="8139206" y="274514"/>
                  </a:lnTo>
                  <a:lnTo>
                    <a:pt x="8166986" y="314604"/>
                  </a:lnTo>
                  <a:lnTo>
                    <a:pt x="8191765" y="356441"/>
                  </a:lnTo>
                  <a:lnTo>
                    <a:pt x="8213472" y="399855"/>
                  </a:lnTo>
                  <a:lnTo>
                    <a:pt x="8232036" y="444671"/>
                  </a:lnTo>
                  <a:lnTo>
                    <a:pt x="8247384" y="490718"/>
                  </a:lnTo>
                  <a:lnTo>
                    <a:pt x="8259446" y="537823"/>
                  </a:lnTo>
                  <a:lnTo>
                    <a:pt x="8268150" y="585814"/>
                  </a:lnTo>
                  <a:lnTo>
                    <a:pt x="8273425" y="634518"/>
                  </a:lnTo>
                  <a:lnTo>
                    <a:pt x="8275199" y="683763"/>
                  </a:lnTo>
                  <a:lnTo>
                    <a:pt x="8275199" y="3418736"/>
                  </a:lnTo>
                  <a:lnTo>
                    <a:pt x="8273483" y="3467567"/>
                  </a:lnTo>
                  <a:lnTo>
                    <a:pt x="8268409" y="3515472"/>
                  </a:lnTo>
                  <a:lnTo>
                    <a:pt x="8260095" y="3562335"/>
                  </a:lnTo>
                  <a:lnTo>
                    <a:pt x="8248656" y="3608039"/>
                  </a:lnTo>
                  <a:lnTo>
                    <a:pt x="8234208" y="3652470"/>
                  </a:lnTo>
                  <a:lnTo>
                    <a:pt x="8216865" y="3695511"/>
                  </a:lnTo>
                  <a:lnTo>
                    <a:pt x="8196745" y="3737047"/>
                  </a:lnTo>
                  <a:lnTo>
                    <a:pt x="8173963" y="3776962"/>
                  </a:lnTo>
                  <a:lnTo>
                    <a:pt x="8148634" y="3815141"/>
                  </a:lnTo>
                  <a:lnTo>
                    <a:pt x="8120874" y="3851467"/>
                  </a:lnTo>
                  <a:lnTo>
                    <a:pt x="8090799" y="3885825"/>
                  </a:lnTo>
                  <a:lnTo>
                    <a:pt x="8058525" y="3918099"/>
                  </a:lnTo>
                  <a:lnTo>
                    <a:pt x="8024167" y="3948174"/>
                  </a:lnTo>
                  <a:lnTo>
                    <a:pt x="7987841" y="3975934"/>
                  </a:lnTo>
                  <a:lnTo>
                    <a:pt x="7949662" y="4001263"/>
                  </a:lnTo>
                  <a:lnTo>
                    <a:pt x="7909747" y="4024045"/>
                  </a:lnTo>
                  <a:lnTo>
                    <a:pt x="7868211" y="4044165"/>
                  </a:lnTo>
                  <a:lnTo>
                    <a:pt x="7825170" y="4061508"/>
                  </a:lnTo>
                  <a:lnTo>
                    <a:pt x="7780739" y="4075956"/>
                  </a:lnTo>
                  <a:lnTo>
                    <a:pt x="7735035" y="4087395"/>
                  </a:lnTo>
                  <a:lnTo>
                    <a:pt x="7688172" y="4095709"/>
                  </a:lnTo>
                  <a:lnTo>
                    <a:pt x="7640267" y="4100783"/>
                  </a:lnTo>
                  <a:lnTo>
                    <a:pt x="7591435" y="4102499"/>
                  </a:lnTo>
                  <a:lnTo>
                    <a:pt x="683763" y="4102499"/>
                  </a:lnTo>
                  <a:lnTo>
                    <a:pt x="634932" y="4100783"/>
                  </a:lnTo>
                  <a:lnTo>
                    <a:pt x="587027" y="4095709"/>
                  </a:lnTo>
                  <a:lnTo>
                    <a:pt x="540164" y="4087395"/>
                  </a:lnTo>
                  <a:lnTo>
                    <a:pt x="494460" y="4075956"/>
                  </a:lnTo>
                  <a:lnTo>
                    <a:pt x="450029" y="4061508"/>
                  </a:lnTo>
                  <a:lnTo>
                    <a:pt x="406988" y="4044165"/>
                  </a:lnTo>
                  <a:lnTo>
                    <a:pt x="365452" y="4024045"/>
                  </a:lnTo>
                  <a:lnTo>
                    <a:pt x="325537" y="4001263"/>
                  </a:lnTo>
                  <a:lnTo>
                    <a:pt x="287358" y="3975934"/>
                  </a:lnTo>
                  <a:lnTo>
                    <a:pt x="251032" y="3948174"/>
                  </a:lnTo>
                  <a:lnTo>
                    <a:pt x="216674" y="3918099"/>
                  </a:lnTo>
                  <a:lnTo>
                    <a:pt x="184400" y="3885825"/>
                  </a:lnTo>
                  <a:lnTo>
                    <a:pt x="154325" y="3851467"/>
                  </a:lnTo>
                  <a:lnTo>
                    <a:pt x="126565" y="3815141"/>
                  </a:lnTo>
                  <a:lnTo>
                    <a:pt x="101236" y="3776962"/>
                  </a:lnTo>
                  <a:lnTo>
                    <a:pt x="78454" y="3737047"/>
                  </a:lnTo>
                  <a:lnTo>
                    <a:pt x="58334" y="3695511"/>
                  </a:lnTo>
                  <a:lnTo>
                    <a:pt x="40991" y="3652470"/>
                  </a:lnTo>
                  <a:lnTo>
                    <a:pt x="26543" y="3608039"/>
                  </a:lnTo>
                  <a:lnTo>
                    <a:pt x="15104" y="3562335"/>
                  </a:lnTo>
                  <a:lnTo>
                    <a:pt x="6790" y="3515472"/>
                  </a:lnTo>
                  <a:lnTo>
                    <a:pt x="1716" y="3467567"/>
                  </a:lnTo>
                  <a:lnTo>
                    <a:pt x="0" y="3418736"/>
                  </a:lnTo>
                  <a:lnTo>
                    <a:pt x="0" y="6837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709298"/>
            <a:ext cx="14630400" cy="837772"/>
          </a:xfrm>
          <a:prstGeom prst="rect">
            <a:avLst/>
          </a:prstGeom>
        </p:spPr>
        <p:txBody>
          <a:bodyPr vert="horz" wrap="square" lIns="0" tIns="38269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715192">
              <a:spcBef>
                <a:spcPts val="133"/>
              </a:spcBef>
            </a:pPr>
            <a:r>
              <a:rPr sz="2933" dirty="0"/>
              <a:t>What</a:t>
            </a:r>
            <a:r>
              <a:rPr sz="2933" spc="-27" dirty="0"/>
              <a:t> </a:t>
            </a:r>
            <a:r>
              <a:rPr sz="2933" dirty="0"/>
              <a:t>is</a:t>
            </a:r>
            <a:r>
              <a:rPr sz="2933" spc="-20" dirty="0"/>
              <a:t> </a:t>
            </a:r>
            <a:r>
              <a:rPr sz="2933" dirty="0"/>
              <a:t>excluded</a:t>
            </a:r>
            <a:r>
              <a:rPr sz="2933" spc="-27" dirty="0"/>
              <a:t> </a:t>
            </a:r>
            <a:r>
              <a:rPr sz="2933" dirty="0"/>
              <a:t>from</a:t>
            </a:r>
            <a:r>
              <a:rPr sz="2933" spc="-20" dirty="0"/>
              <a:t> </a:t>
            </a:r>
            <a:r>
              <a:rPr sz="2933" dirty="0"/>
              <a:t>the</a:t>
            </a:r>
            <a:r>
              <a:rPr sz="2933" spc="-20" dirty="0"/>
              <a:t> </a:t>
            </a:r>
            <a:r>
              <a:rPr sz="2933" spc="-13" dirty="0"/>
              <a:t>corpus?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434199" y="2176117"/>
            <a:ext cx="7323667" cy="3208867"/>
            <a:chOff x="1825649" y="1632088"/>
            <a:chExt cx="5492750" cy="2406650"/>
          </a:xfrm>
        </p:grpSpPr>
        <p:sp>
          <p:nvSpPr>
            <p:cNvPr id="7" name="object 7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1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44699" y="3431972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4699" y="3431972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8663" y="2389444"/>
            <a:ext cx="6013027" cy="284883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Characterizing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excluded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documents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6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Which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demographic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identities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3" dirty="0">
                <a:latin typeface="Arial"/>
                <a:cs typeface="Arial"/>
              </a:rPr>
              <a:t> excluded?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Whose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English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included?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FEFC7D8-6C22-419D-8B9C-EA48047BD3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65</a:t>
            </a:fld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0783" y="1553050"/>
            <a:ext cx="8689340" cy="4075007"/>
            <a:chOff x="1358087" y="1164787"/>
            <a:chExt cx="6517005" cy="3056255"/>
          </a:xfrm>
        </p:grpSpPr>
        <p:sp>
          <p:nvSpPr>
            <p:cNvPr id="3" name="object 3"/>
            <p:cNvSpPr/>
            <p:nvPr/>
          </p:nvSpPr>
          <p:spPr>
            <a:xfrm>
              <a:off x="1362849" y="1169550"/>
              <a:ext cx="6507480" cy="3046730"/>
            </a:xfrm>
            <a:custGeom>
              <a:avLst/>
              <a:gdLst/>
              <a:ahLst/>
              <a:cxnLst/>
              <a:rect l="l" t="t" r="r" b="b"/>
              <a:pathLst>
                <a:path w="6507480" h="3046729">
                  <a:moveTo>
                    <a:pt x="5999289" y="3046199"/>
                  </a:moveTo>
                  <a:lnTo>
                    <a:pt x="507710" y="3046199"/>
                  </a:lnTo>
                  <a:lnTo>
                    <a:pt x="458814" y="3043875"/>
                  </a:lnTo>
                  <a:lnTo>
                    <a:pt x="411233" y="3037045"/>
                  </a:lnTo>
                  <a:lnTo>
                    <a:pt x="365180" y="3025920"/>
                  </a:lnTo>
                  <a:lnTo>
                    <a:pt x="320867" y="3010715"/>
                  </a:lnTo>
                  <a:lnTo>
                    <a:pt x="278508" y="2991642"/>
                  </a:lnTo>
                  <a:lnTo>
                    <a:pt x="238315" y="2968913"/>
                  </a:lnTo>
                  <a:lnTo>
                    <a:pt x="200500" y="2942741"/>
                  </a:lnTo>
                  <a:lnTo>
                    <a:pt x="165277" y="2913340"/>
                  </a:lnTo>
                  <a:lnTo>
                    <a:pt x="132859" y="2880922"/>
                  </a:lnTo>
                  <a:lnTo>
                    <a:pt x="103458" y="2845699"/>
                  </a:lnTo>
                  <a:lnTo>
                    <a:pt x="77286" y="2807884"/>
                  </a:lnTo>
                  <a:lnTo>
                    <a:pt x="54557" y="2767691"/>
                  </a:lnTo>
                  <a:lnTo>
                    <a:pt x="35484" y="2725332"/>
                  </a:lnTo>
                  <a:lnTo>
                    <a:pt x="20279" y="2681019"/>
                  </a:lnTo>
                  <a:lnTo>
                    <a:pt x="9154" y="2634966"/>
                  </a:lnTo>
                  <a:lnTo>
                    <a:pt x="2324" y="2587385"/>
                  </a:lnTo>
                  <a:lnTo>
                    <a:pt x="0" y="2538489"/>
                  </a:lnTo>
                  <a:lnTo>
                    <a:pt x="0" y="507710"/>
                  </a:lnTo>
                  <a:lnTo>
                    <a:pt x="2324" y="458814"/>
                  </a:lnTo>
                  <a:lnTo>
                    <a:pt x="9154" y="411233"/>
                  </a:lnTo>
                  <a:lnTo>
                    <a:pt x="20279" y="365180"/>
                  </a:lnTo>
                  <a:lnTo>
                    <a:pt x="35484" y="320867"/>
                  </a:lnTo>
                  <a:lnTo>
                    <a:pt x="54557" y="278508"/>
                  </a:lnTo>
                  <a:lnTo>
                    <a:pt x="77286" y="238315"/>
                  </a:lnTo>
                  <a:lnTo>
                    <a:pt x="103458" y="200500"/>
                  </a:lnTo>
                  <a:lnTo>
                    <a:pt x="132859" y="165277"/>
                  </a:lnTo>
                  <a:lnTo>
                    <a:pt x="165277" y="132859"/>
                  </a:lnTo>
                  <a:lnTo>
                    <a:pt x="200500" y="103458"/>
                  </a:lnTo>
                  <a:lnTo>
                    <a:pt x="238315" y="77286"/>
                  </a:lnTo>
                  <a:lnTo>
                    <a:pt x="278508" y="54557"/>
                  </a:lnTo>
                  <a:lnTo>
                    <a:pt x="320867" y="35484"/>
                  </a:lnTo>
                  <a:lnTo>
                    <a:pt x="365180" y="20279"/>
                  </a:lnTo>
                  <a:lnTo>
                    <a:pt x="411233" y="9154"/>
                  </a:lnTo>
                  <a:lnTo>
                    <a:pt x="458814" y="2324"/>
                  </a:lnTo>
                  <a:lnTo>
                    <a:pt x="507710" y="0"/>
                  </a:lnTo>
                  <a:lnTo>
                    <a:pt x="5999289" y="0"/>
                  </a:lnTo>
                  <a:lnTo>
                    <a:pt x="6049470" y="2484"/>
                  </a:lnTo>
                  <a:lnTo>
                    <a:pt x="6098801" y="9845"/>
                  </a:lnTo>
                  <a:lnTo>
                    <a:pt x="6146949" y="21945"/>
                  </a:lnTo>
                  <a:lnTo>
                    <a:pt x="6193582" y="38647"/>
                  </a:lnTo>
                  <a:lnTo>
                    <a:pt x="6238365" y="59811"/>
                  </a:lnTo>
                  <a:lnTo>
                    <a:pt x="6280967" y="85301"/>
                  </a:lnTo>
                  <a:lnTo>
                    <a:pt x="6321055" y="114978"/>
                  </a:lnTo>
                  <a:lnTo>
                    <a:pt x="6358294" y="148704"/>
                  </a:lnTo>
                  <a:lnTo>
                    <a:pt x="6392021" y="185944"/>
                  </a:lnTo>
                  <a:lnTo>
                    <a:pt x="6421698" y="226032"/>
                  </a:lnTo>
                  <a:lnTo>
                    <a:pt x="6447188" y="268634"/>
                  </a:lnTo>
                  <a:lnTo>
                    <a:pt x="6468352" y="313417"/>
                  </a:lnTo>
                  <a:lnTo>
                    <a:pt x="6485054" y="360050"/>
                  </a:lnTo>
                  <a:lnTo>
                    <a:pt x="6497154" y="408198"/>
                  </a:lnTo>
                  <a:lnTo>
                    <a:pt x="6504515" y="457529"/>
                  </a:lnTo>
                  <a:lnTo>
                    <a:pt x="6506999" y="507710"/>
                  </a:lnTo>
                  <a:lnTo>
                    <a:pt x="6506999" y="2538489"/>
                  </a:lnTo>
                  <a:lnTo>
                    <a:pt x="6504675" y="2587385"/>
                  </a:lnTo>
                  <a:lnTo>
                    <a:pt x="6497845" y="2634966"/>
                  </a:lnTo>
                  <a:lnTo>
                    <a:pt x="6486720" y="2681019"/>
                  </a:lnTo>
                  <a:lnTo>
                    <a:pt x="6471515" y="2725332"/>
                  </a:lnTo>
                  <a:lnTo>
                    <a:pt x="6452442" y="2767691"/>
                  </a:lnTo>
                  <a:lnTo>
                    <a:pt x="6429713" y="2807884"/>
                  </a:lnTo>
                  <a:lnTo>
                    <a:pt x="6403541" y="2845699"/>
                  </a:lnTo>
                  <a:lnTo>
                    <a:pt x="6374140" y="2880922"/>
                  </a:lnTo>
                  <a:lnTo>
                    <a:pt x="6341722" y="2913340"/>
                  </a:lnTo>
                  <a:lnTo>
                    <a:pt x="6306499" y="2942741"/>
                  </a:lnTo>
                  <a:lnTo>
                    <a:pt x="6268684" y="2968913"/>
                  </a:lnTo>
                  <a:lnTo>
                    <a:pt x="6228491" y="2991642"/>
                  </a:lnTo>
                  <a:lnTo>
                    <a:pt x="6186132" y="3010715"/>
                  </a:lnTo>
                  <a:lnTo>
                    <a:pt x="6141819" y="3025920"/>
                  </a:lnTo>
                  <a:lnTo>
                    <a:pt x="6095766" y="3037045"/>
                  </a:lnTo>
                  <a:lnTo>
                    <a:pt x="6048185" y="3043875"/>
                  </a:lnTo>
                  <a:lnTo>
                    <a:pt x="5999289" y="304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62849" y="1169550"/>
              <a:ext cx="6507480" cy="3046730"/>
            </a:xfrm>
            <a:custGeom>
              <a:avLst/>
              <a:gdLst/>
              <a:ahLst/>
              <a:cxnLst/>
              <a:rect l="l" t="t" r="r" b="b"/>
              <a:pathLst>
                <a:path w="6507480" h="3046729">
                  <a:moveTo>
                    <a:pt x="0" y="507710"/>
                  </a:moveTo>
                  <a:lnTo>
                    <a:pt x="2324" y="458814"/>
                  </a:lnTo>
                  <a:lnTo>
                    <a:pt x="9154" y="411233"/>
                  </a:lnTo>
                  <a:lnTo>
                    <a:pt x="20279" y="365180"/>
                  </a:lnTo>
                  <a:lnTo>
                    <a:pt x="35484" y="320867"/>
                  </a:lnTo>
                  <a:lnTo>
                    <a:pt x="54557" y="278508"/>
                  </a:lnTo>
                  <a:lnTo>
                    <a:pt x="77286" y="238315"/>
                  </a:lnTo>
                  <a:lnTo>
                    <a:pt x="103458" y="200500"/>
                  </a:lnTo>
                  <a:lnTo>
                    <a:pt x="132859" y="165277"/>
                  </a:lnTo>
                  <a:lnTo>
                    <a:pt x="165277" y="132859"/>
                  </a:lnTo>
                  <a:lnTo>
                    <a:pt x="200500" y="103458"/>
                  </a:lnTo>
                  <a:lnTo>
                    <a:pt x="238315" y="77286"/>
                  </a:lnTo>
                  <a:lnTo>
                    <a:pt x="278508" y="54557"/>
                  </a:lnTo>
                  <a:lnTo>
                    <a:pt x="320867" y="35484"/>
                  </a:lnTo>
                  <a:lnTo>
                    <a:pt x="365180" y="20279"/>
                  </a:lnTo>
                  <a:lnTo>
                    <a:pt x="411233" y="9154"/>
                  </a:lnTo>
                  <a:lnTo>
                    <a:pt x="458814" y="2324"/>
                  </a:lnTo>
                  <a:lnTo>
                    <a:pt x="507710" y="0"/>
                  </a:lnTo>
                  <a:lnTo>
                    <a:pt x="5999289" y="0"/>
                  </a:lnTo>
                  <a:lnTo>
                    <a:pt x="6049470" y="2484"/>
                  </a:lnTo>
                  <a:lnTo>
                    <a:pt x="6098801" y="9845"/>
                  </a:lnTo>
                  <a:lnTo>
                    <a:pt x="6146949" y="21945"/>
                  </a:lnTo>
                  <a:lnTo>
                    <a:pt x="6193582" y="38647"/>
                  </a:lnTo>
                  <a:lnTo>
                    <a:pt x="6238365" y="59811"/>
                  </a:lnTo>
                  <a:lnTo>
                    <a:pt x="6280967" y="85301"/>
                  </a:lnTo>
                  <a:lnTo>
                    <a:pt x="6321055" y="114978"/>
                  </a:lnTo>
                  <a:lnTo>
                    <a:pt x="6358294" y="148704"/>
                  </a:lnTo>
                  <a:lnTo>
                    <a:pt x="6392021" y="185944"/>
                  </a:lnTo>
                  <a:lnTo>
                    <a:pt x="6421698" y="226032"/>
                  </a:lnTo>
                  <a:lnTo>
                    <a:pt x="6447188" y="268634"/>
                  </a:lnTo>
                  <a:lnTo>
                    <a:pt x="6468352" y="313417"/>
                  </a:lnTo>
                  <a:lnTo>
                    <a:pt x="6485054" y="360050"/>
                  </a:lnTo>
                  <a:lnTo>
                    <a:pt x="6497154" y="408198"/>
                  </a:lnTo>
                  <a:lnTo>
                    <a:pt x="6504515" y="457529"/>
                  </a:lnTo>
                  <a:lnTo>
                    <a:pt x="6506999" y="507710"/>
                  </a:lnTo>
                  <a:lnTo>
                    <a:pt x="6506999" y="2538489"/>
                  </a:lnTo>
                  <a:lnTo>
                    <a:pt x="6504675" y="2587385"/>
                  </a:lnTo>
                  <a:lnTo>
                    <a:pt x="6497845" y="2634966"/>
                  </a:lnTo>
                  <a:lnTo>
                    <a:pt x="6486720" y="2681019"/>
                  </a:lnTo>
                  <a:lnTo>
                    <a:pt x="6471515" y="2725332"/>
                  </a:lnTo>
                  <a:lnTo>
                    <a:pt x="6452442" y="2767691"/>
                  </a:lnTo>
                  <a:lnTo>
                    <a:pt x="6429713" y="2807884"/>
                  </a:lnTo>
                  <a:lnTo>
                    <a:pt x="6403541" y="2845699"/>
                  </a:lnTo>
                  <a:lnTo>
                    <a:pt x="6374140" y="2880922"/>
                  </a:lnTo>
                  <a:lnTo>
                    <a:pt x="6341722" y="2913340"/>
                  </a:lnTo>
                  <a:lnTo>
                    <a:pt x="6306499" y="2942741"/>
                  </a:lnTo>
                  <a:lnTo>
                    <a:pt x="6268684" y="2968913"/>
                  </a:lnTo>
                  <a:lnTo>
                    <a:pt x="6228491" y="2991642"/>
                  </a:lnTo>
                  <a:lnTo>
                    <a:pt x="6186132" y="3010715"/>
                  </a:lnTo>
                  <a:lnTo>
                    <a:pt x="6141819" y="3025920"/>
                  </a:lnTo>
                  <a:lnTo>
                    <a:pt x="6095766" y="3037045"/>
                  </a:lnTo>
                  <a:lnTo>
                    <a:pt x="6048185" y="3043875"/>
                  </a:lnTo>
                  <a:lnTo>
                    <a:pt x="5999289" y="3046199"/>
                  </a:lnTo>
                  <a:lnTo>
                    <a:pt x="507710" y="3046199"/>
                  </a:lnTo>
                  <a:lnTo>
                    <a:pt x="458814" y="3043875"/>
                  </a:lnTo>
                  <a:lnTo>
                    <a:pt x="411233" y="3037045"/>
                  </a:lnTo>
                  <a:lnTo>
                    <a:pt x="365180" y="3025920"/>
                  </a:lnTo>
                  <a:lnTo>
                    <a:pt x="320867" y="3010715"/>
                  </a:lnTo>
                  <a:lnTo>
                    <a:pt x="278508" y="2991642"/>
                  </a:lnTo>
                  <a:lnTo>
                    <a:pt x="238315" y="2968913"/>
                  </a:lnTo>
                  <a:lnTo>
                    <a:pt x="200500" y="2942741"/>
                  </a:lnTo>
                  <a:lnTo>
                    <a:pt x="165277" y="2913340"/>
                  </a:lnTo>
                  <a:lnTo>
                    <a:pt x="132859" y="2880922"/>
                  </a:lnTo>
                  <a:lnTo>
                    <a:pt x="103458" y="2845699"/>
                  </a:lnTo>
                  <a:lnTo>
                    <a:pt x="77286" y="2807884"/>
                  </a:lnTo>
                  <a:lnTo>
                    <a:pt x="54557" y="2767691"/>
                  </a:lnTo>
                  <a:lnTo>
                    <a:pt x="35484" y="2725332"/>
                  </a:lnTo>
                  <a:lnTo>
                    <a:pt x="20279" y="2681019"/>
                  </a:lnTo>
                  <a:lnTo>
                    <a:pt x="9154" y="2634966"/>
                  </a:lnTo>
                  <a:lnTo>
                    <a:pt x="2324" y="2587385"/>
                  </a:lnTo>
                  <a:lnTo>
                    <a:pt x="0" y="2538489"/>
                  </a:lnTo>
                  <a:lnTo>
                    <a:pt x="0" y="50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1299" y="1696125"/>
              <a:ext cx="5210175" cy="572770"/>
            </a:xfrm>
            <a:custGeom>
              <a:avLst/>
              <a:gdLst/>
              <a:ahLst/>
              <a:cxnLst/>
              <a:rect l="l" t="t" r="r" b="b"/>
              <a:pathLst>
                <a:path w="5210175" h="572769">
                  <a:moveTo>
                    <a:pt x="5114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5114648" y="0"/>
                  </a:lnTo>
                  <a:lnTo>
                    <a:pt x="5167605" y="16037"/>
                  </a:lnTo>
                  <a:lnTo>
                    <a:pt x="5202834" y="58924"/>
                  </a:lnTo>
                  <a:lnTo>
                    <a:pt x="5210099" y="95451"/>
                  </a:lnTo>
                  <a:lnTo>
                    <a:pt x="5210099" y="477247"/>
                  </a:lnTo>
                  <a:lnTo>
                    <a:pt x="5202598" y="514402"/>
                  </a:lnTo>
                  <a:lnTo>
                    <a:pt x="5182142" y="544742"/>
                  </a:lnTo>
                  <a:lnTo>
                    <a:pt x="5151802" y="565198"/>
                  </a:lnTo>
                  <a:lnTo>
                    <a:pt x="5114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1299" y="1696125"/>
              <a:ext cx="5210175" cy="572770"/>
            </a:xfrm>
            <a:custGeom>
              <a:avLst/>
              <a:gdLst/>
              <a:ahLst/>
              <a:cxnLst/>
              <a:rect l="l" t="t" r="r" b="b"/>
              <a:pathLst>
                <a:path w="521017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5114648" y="0"/>
                  </a:lnTo>
                  <a:lnTo>
                    <a:pt x="5167605" y="16037"/>
                  </a:lnTo>
                  <a:lnTo>
                    <a:pt x="5202834" y="58924"/>
                  </a:lnTo>
                  <a:lnTo>
                    <a:pt x="5210099" y="95451"/>
                  </a:lnTo>
                  <a:lnTo>
                    <a:pt x="5210099" y="477247"/>
                  </a:lnTo>
                  <a:lnTo>
                    <a:pt x="5202598" y="514402"/>
                  </a:lnTo>
                  <a:lnTo>
                    <a:pt x="5182142" y="544742"/>
                  </a:lnTo>
                  <a:lnTo>
                    <a:pt x="5151802" y="565198"/>
                  </a:lnTo>
                  <a:lnTo>
                    <a:pt x="5114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1299" y="2627774"/>
              <a:ext cx="5210175" cy="1061720"/>
            </a:xfrm>
            <a:custGeom>
              <a:avLst/>
              <a:gdLst/>
              <a:ahLst/>
              <a:cxnLst/>
              <a:rect l="l" t="t" r="r" b="b"/>
              <a:pathLst>
                <a:path w="5210175" h="1061720">
                  <a:moveTo>
                    <a:pt x="5033195" y="1061399"/>
                  </a:moveTo>
                  <a:lnTo>
                    <a:pt x="176903" y="1061399"/>
                  </a:lnTo>
                  <a:lnTo>
                    <a:pt x="129875" y="1055080"/>
                  </a:lnTo>
                  <a:lnTo>
                    <a:pt x="87616" y="1037247"/>
                  </a:lnTo>
                  <a:lnTo>
                    <a:pt x="51813" y="1009586"/>
                  </a:lnTo>
                  <a:lnTo>
                    <a:pt x="24152" y="973783"/>
                  </a:lnTo>
                  <a:lnTo>
                    <a:pt x="6319" y="931524"/>
                  </a:lnTo>
                  <a:lnTo>
                    <a:pt x="0" y="884496"/>
                  </a:lnTo>
                  <a:lnTo>
                    <a:pt x="0" y="176903"/>
                  </a:lnTo>
                  <a:lnTo>
                    <a:pt x="6319" y="129875"/>
                  </a:lnTo>
                  <a:lnTo>
                    <a:pt x="24152" y="87616"/>
                  </a:lnTo>
                  <a:lnTo>
                    <a:pt x="51813" y="51813"/>
                  </a:lnTo>
                  <a:lnTo>
                    <a:pt x="87616" y="24152"/>
                  </a:lnTo>
                  <a:lnTo>
                    <a:pt x="129875" y="6319"/>
                  </a:lnTo>
                  <a:lnTo>
                    <a:pt x="176903" y="0"/>
                  </a:lnTo>
                  <a:lnTo>
                    <a:pt x="5033195" y="0"/>
                  </a:lnTo>
                  <a:lnTo>
                    <a:pt x="5100894" y="13465"/>
                  </a:lnTo>
                  <a:lnTo>
                    <a:pt x="5158285" y="51813"/>
                  </a:lnTo>
                  <a:lnTo>
                    <a:pt x="5196633" y="109205"/>
                  </a:lnTo>
                  <a:lnTo>
                    <a:pt x="5210099" y="176903"/>
                  </a:lnTo>
                  <a:lnTo>
                    <a:pt x="5210099" y="884496"/>
                  </a:lnTo>
                  <a:lnTo>
                    <a:pt x="5203780" y="931524"/>
                  </a:lnTo>
                  <a:lnTo>
                    <a:pt x="5185947" y="973783"/>
                  </a:lnTo>
                  <a:lnTo>
                    <a:pt x="5158286" y="1009586"/>
                  </a:lnTo>
                  <a:lnTo>
                    <a:pt x="5122482" y="1037247"/>
                  </a:lnTo>
                  <a:lnTo>
                    <a:pt x="5080224" y="1055080"/>
                  </a:lnTo>
                  <a:lnTo>
                    <a:pt x="5033195" y="106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1299" y="2627775"/>
              <a:ext cx="5210175" cy="1061720"/>
            </a:xfrm>
            <a:custGeom>
              <a:avLst/>
              <a:gdLst/>
              <a:ahLst/>
              <a:cxnLst/>
              <a:rect l="l" t="t" r="r" b="b"/>
              <a:pathLst>
                <a:path w="5210175" h="1061720">
                  <a:moveTo>
                    <a:pt x="0" y="176903"/>
                  </a:moveTo>
                  <a:lnTo>
                    <a:pt x="6319" y="129875"/>
                  </a:lnTo>
                  <a:lnTo>
                    <a:pt x="24152" y="87616"/>
                  </a:lnTo>
                  <a:lnTo>
                    <a:pt x="51813" y="51813"/>
                  </a:lnTo>
                  <a:lnTo>
                    <a:pt x="87616" y="24152"/>
                  </a:lnTo>
                  <a:lnTo>
                    <a:pt x="129875" y="6319"/>
                  </a:lnTo>
                  <a:lnTo>
                    <a:pt x="176903" y="0"/>
                  </a:lnTo>
                  <a:lnTo>
                    <a:pt x="5033195" y="0"/>
                  </a:lnTo>
                  <a:lnTo>
                    <a:pt x="5100894" y="13465"/>
                  </a:lnTo>
                  <a:lnTo>
                    <a:pt x="5158285" y="51813"/>
                  </a:lnTo>
                  <a:lnTo>
                    <a:pt x="5196633" y="109205"/>
                  </a:lnTo>
                  <a:lnTo>
                    <a:pt x="5210099" y="176903"/>
                  </a:lnTo>
                  <a:lnTo>
                    <a:pt x="5210099" y="884496"/>
                  </a:lnTo>
                  <a:lnTo>
                    <a:pt x="5203780" y="931524"/>
                  </a:lnTo>
                  <a:lnTo>
                    <a:pt x="5185947" y="973783"/>
                  </a:lnTo>
                  <a:lnTo>
                    <a:pt x="5158286" y="1009586"/>
                  </a:lnTo>
                  <a:lnTo>
                    <a:pt x="5122482" y="1037247"/>
                  </a:lnTo>
                  <a:lnTo>
                    <a:pt x="5080224" y="1055080"/>
                  </a:lnTo>
                  <a:lnTo>
                    <a:pt x="5033195" y="1061399"/>
                  </a:lnTo>
                  <a:lnTo>
                    <a:pt x="176903" y="1061399"/>
                  </a:lnTo>
                  <a:lnTo>
                    <a:pt x="129875" y="1055080"/>
                  </a:lnTo>
                  <a:lnTo>
                    <a:pt x="87616" y="1037247"/>
                  </a:lnTo>
                  <a:lnTo>
                    <a:pt x="51813" y="1009586"/>
                  </a:lnTo>
                  <a:lnTo>
                    <a:pt x="24152" y="973783"/>
                  </a:lnTo>
                  <a:lnTo>
                    <a:pt x="6319" y="931524"/>
                  </a:lnTo>
                  <a:lnTo>
                    <a:pt x="0" y="884496"/>
                  </a:lnTo>
                  <a:lnTo>
                    <a:pt x="0" y="1769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5351">
              <a:spcBef>
                <a:spcPts val="160"/>
              </a:spcBef>
            </a:pPr>
            <a:r>
              <a:rPr dirty="0"/>
              <a:t>Characterizing</a:t>
            </a:r>
            <a:r>
              <a:rPr spc="-53" dirty="0"/>
              <a:t> </a:t>
            </a:r>
            <a:r>
              <a:rPr dirty="0"/>
              <a:t>the</a:t>
            </a:r>
            <a:r>
              <a:rPr spc="-47" dirty="0"/>
              <a:t> </a:t>
            </a:r>
            <a:r>
              <a:rPr dirty="0"/>
              <a:t>excluded</a:t>
            </a:r>
            <a:r>
              <a:rPr spc="-47" dirty="0"/>
              <a:t> </a:t>
            </a:r>
            <a:r>
              <a:rPr spc="-13" dirty="0"/>
              <a:t>documents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16375" y="2430025"/>
            <a:ext cx="5398347" cy="236652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Evaluated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100K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excluded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documents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3000">
              <a:latin typeface="Arial"/>
              <a:cs typeface="Arial"/>
            </a:endParaRPr>
          </a:p>
          <a:p>
            <a:pPr marL="48259"/>
            <a:r>
              <a:rPr sz="2400" dirty="0">
                <a:latin typeface="Arial"/>
                <a:cs typeface="Arial"/>
              </a:rPr>
              <a:t>Categorized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them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K-means:</a:t>
            </a:r>
            <a:endParaRPr sz="2400">
              <a:latin typeface="Arial"/>
              <a:cs typeface="Arial"/>
            </a:endParaRPr>
          </a:p>
          <a:p>
            <a:pPr marL="657844" indent="-488514">
              <a:spcBef>
                <a:spcPts val="20"/>
              </a:spcBef>
              <a:buChar char="●"/>
              <a:tabLst>
                <a:tab pos="657844" algn="l"/>
              </a:tabLst>
            </a:pPr>
            <a:r>
              <a:rPr sz="2400" spc="-13" dirty="0">
                <a:latin typeface="Arial"/>
                <a:cs typeface="Arial"/>
              </a:rPr>
              <a:t>TF-</a:t>
            </a:r>
            <a:r>
              <a:rPr sz="2400" dirty="0">
                <a:latin typeface="Arial"/>
                <a:cs typeface="Arial"/>
              </a:rPr>
              <a:t>IDF </a:t>
            </a:r>
            <a:r>
              <a:rPr sz="2400" spc="-13" dirty="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  <a:p>
            <a:pPr marL="657844" indent="-488514">
              <a:spcBef>
                <a:spcPts val="20"/>
              </a:spcBef>
              <a:buChar char="●"/>
              <a:tabLst>
                <a:tab pos="657844" algn="l"/>
              </a:tabLst>
            </a:pPr>
            <a:r>
              <a:rPr sz="2400" dirty="0">
                <a:latin typeface="Arial"/>
                <a:cs typeface="Arial"/>
              </a:rPr>
              <a:t>K=50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(50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clusters)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731719-511D-4788-A753-0B4B752232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66</a:t>
            </a:fld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0783" y="1553050"/>
            <a:ext cx="8689340" cy="4075007"/>
            <a:chOff x="1358087" y="1164787"/>
            <a:chExt cx="6517005" cy="3056255"/>
          </a:xfrm>
        </p:grpSpPr>
        <p:sp>
          <p:nvSpPr>
            <p:cNvPr id="3" name="object 3"/>
            <p:cNvSpPr/>
            <p:nvPr/>
          </p:nvSpPr>
          <p:spPr>
            <a:xfrm>
              <a:off x="1362849" y="1169550"/>
              <a:ext cx="6507480" cy="3046730"/>
            </a:xfrm>
            <a:custGeom>
              <a:avLst/>
              <a:gdLst/>
              <a:ahLst/>
              <a:cxnLst/>
              <a:rect l="l" t="t" r="r" b="b"/>
              <a:pathLst>
                <a:path w="6507480" h="3046729">
                  <a:moveTo>
                    <a:pt x="5999289" y="3046199"/>
                  </a:moveTo>
                  <a:lnTo>
                    <a:pt x="507710" y="3046199"/>
                  </a:lnTo>
                  <a:lnTo>
                    <a:pt x="458814" y="3043875"/>
                  </a:lnTo>
                  <a:lnTo>
                    <a:pt x="411233" y="3037045"/>
                  </a:lnTo>
                  <a:lnTo>
                    <a:pt x="365180" y="3025920"/>
                  </a:lnTo>
                  <a:lnTo>
                    <a:pt x="320867" y="3010715"/>
                  </a:lnTo>
                  <a:lnTo>
                    <a:pt x="278508" y="2991642"/>
                  </a:lnTo>
                  <a:lnTo>
                    <a:pt x="238315" y="2968913"/>
                  </a:lnTo>
                  <a:lnTo>
                    <a:pt x="200500" y="2942741"/>
                  </a:lnTo>
                  <a:lnTo>
                    <a:pt x="165277" y="2913340"/>
                  </a:lnTo>
                  <a:lnTo>
                    <a:pt x="132859" y="2880922"/>
                  </a:lnTo>
                  <a:lnTo>
                    <a:pt x="103458" y="2845699"/>
                  </a:lnTo>
                  <a:lnTo>
                    <a:pt x="77286" y="2807884"/>
                  </a:lnTo>
                  <a:lnTo>
                    <a:pt x="54557" y="2767691"/>
                  </a:lnTo>
                  <a:lnTo>
                    <a:pt x="35484" y="2725332"/>
                  </a:lnTo>
                  <a:lnTo>
                    <a:pt x="20279" y="2681019"/>
                  </a:lnTo>
                  <a:lnTo>
                    <a:pt x="9154" y="2634966"/>
                  </a:lnTo>
                  <a:lnTo>
                    <a:pt x="2324" y="2587385"/>
                  </a:lnTo>
                  <a:lnTo>
                    <a:pt x="0" y="2538489"/>
                  </a:lnTo>
                  <a:lnTo>
                    <a:pt x="0" y="507710"/>
                  </a:lnTo>
                  <a:lnTo>
                    <a:pt x="2324" y="458814"/>
                  </a:lnTo>
                  <a:lnTo>
                    <a:pt x="9154" y="411233"/>
                  </a:lnTo>
                  <a:lnTo>
                    <a:pt x="20279" y="365180"/>
                  </a:lnTo>
                  <a:lnTo>
                    <a:pt x="35484" y="320867"/>
                  </a:lnTo>
                  <a:lnTo>
                    <a:pt x="54557" y="278508"/>
                  </a:lnTo>
                  <a:lnTo>
                    <a:pt x="77286" y="238315"/>
                  </a:lnTo>
                  <a:lnTo>
                    <a:pt x="103458" y="200500"/>
                  </a:lnTo>
                  <a:lnTo>
                    <a:pt x="132859" y="165277"/>
                  </a:lnTo>
                  <a:lnTo>
                    <a:pt x="165277" y="132859"/>
                  </a:lnTo>
                  <a:lnTo>
                    <a:pt x="200500" y="103458"/>
                  </a:lnTo>
                  <a:lnTo>
                    <a:pt x="238315" y="77286"/>
                  </a:lnTo>
                  <a:lnTo>
                    <a:pt x="278508" y="54557"/>
                  </a:lnTo>
                  <a:lnTo>
                    <a:pt x="320867" y="35484"/>
                  </a:lnTo>
                  <a:lnTo>
                    <a:pt x="365180" y="20279"/>
                  </a:lnTo>
                  <a:lnTo>
                    <a:pt x="411233" y="9154"/>
                  </a:lnTo>
                  <a:lnTo>
                    <a:pt x="458814" y="2324"/>
                  </a:lnTo>
                  <a:lnTo>
                    <a:pt x="507710" y="0"/>
                  </a:lnTo>
                  <a:lnTo>
                    <a:pt x="5999289" y="0"/>
                  </a:lnTo>
                  <a:lnTo>
                    <a:pt x="6049470" y="2484"/>
                  </a:lnTo>
                  <a:lnTo>
                    <a:pt x="6098801" y="9845"/>
                  </a:lnTo>
                  <a:lnTo>
                    <a:pt x="6146949" y="21945"/>
                  </a:lnTo>
                  <a:lnTo>
                    <a:pt x="6193582" y="38647"/>
                  </a:lnTo>
                  <a:lnTo>
                    <a:pt x="6238365" y="59811"/>
                  </a:lnTo>
                  <a:lnTo>
                    <a:pt x="6280967" y="85301"/>
                  </a:lnTo>
                  <a:lnTo>
                    <a:pt x="6321055" y="114978"/>
                  </a:lnTo>
                  <a:lnTo>
                    <a:pt x="6358294" y="148704"/>
                  </a:lnTo>
                  <a:lnTo>
                    <a:pt x="6392021" y="185944"/>
                  </a:lnTo>
                  <a:lnTo>
                    <a:pt x="6421698" y="226032"/>
                  </a:lnTo>
                  <a:lnTo>
                    <a:pt x="6447188" y="268634"/>
                  </a:lnTo>
                  <a:lnTo>
                    <a:pt x="6468352" y="313417"/>
                  </a:lnTo>
                  <a:lnTo>
                    <a:pt x="6485054" y="360050"/>
                  </a:lnTo>
                  <a:lnTo>
                    <a:pt x="6497154" y="408198"/>
                  </a:lnTo>
                  <a:lnTo>
                    <a:pt x="6504515" y="457529"/>
                  </a:lnTo>
                  <a:lnTo>
                    <a:pt x="6506999" y="507710"/>
                  </a:lnTo>
                  <a:lnTo>
                    <a:pt x="6506999" y="2538489"/>
                  </a:lnTo>
                  <a:lnTo>
                    <a:pt x="6504675" y="2587385"/>
                  </a:lnTo>
                  <a:lnTo>
                    <a:pt x="6497845" y="2634966"/>
                  </a:lnTo>
                  <a:lnTo>
                    <a:pt x="6486720" y="2681019"/>
                  </a:lnTo>
                  <a:lnTo>
                    <a:pt x="6471515" y="2725332"/>
                  </a:lnTo>
                  <a:lnTo>
                    <a:pt x="6452442" y="2767691"/>
                  </a:lnTo>
                  <a:lnTo>
                    <a:pt x="6429713" y="2807884"/>
                  </a:lnTo>
                  <a:lnTo>
                    <a:pt x="6403541" y="2845699"/>
                  </a:lnTo>
                  <a:lnTo>
                    <a:pt x="6374140" y="2880922"/>
                  </a:lnTo>
                  <a:lnTo>
                    <a:pt x="6341722" y="2913340"/>
                  </a:lnTo>
                  <a:lnTo>
                    <a:pt x="6306499" y="2942741"/>
                  </a:lnTo>
                  <a:lnTo>
                    <a:pt x="6268684" y="2968913"/>
                  </a:lnTo>
                  <a:lnTo>
                    <a:pt x="6228491" y="2991642"/>
                  </a:lnTo>
                  <a:lnTo>
                    <a:pt x="6186132" y="3010715"/>
                  </a:lnTo>
                  <a:lnTo>
                    <a:pt x="6141819" y="3025920"/>
                  </a:lnTo>
                  <a:lnTo>
                    <a:pt x="6095766" y="3037045"/>
                  </a:lnTo>
                  <a:lnTo>
                    <a:pt x="6048185" y="3043875"/>
                  </a:lnTo>
                  <a:lnTo>
                    <a:pt x="5999289" y="304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62849" y="1169550"/>
              <a:ext cx="6507480" cy="3046730"/>
            </a:xfrm>
            <a:custGeom>
              <a:avLst/>
              <a:gdLst/>
              <a:ahLst/>
              <a:cxnLst/>
              <a:rect l="l" t="t" r="r" b="b"/>
              <a:pathLst>
                <a:path w="6507480" h="3046729">
                  <a:moveTo>
                    <a:pt x="0" y="507710"/>
                  </a:moveTo>
                  <a:lnTo>
                    <a:pt x="2324" y="458814"/>
                  </a:lnTo>
                  <a:lnTo>
                    <a:pt x="9154" y="411233"/>
                  </a:lnTo>
                  <a:lnTo>
                    <a:pt x="20279" y="365180"/>
                  </a:lnTo>
                  <a:lnTo>
                    <a:pt x="35484" y="320867"/>
                  </a:lnTo>
                  <a:lnTo>
                    <a:pt x="54557" y="278508"/>
                  </a:lnTo>
                  <a:lnTo>
                    <a:pt x="77286" y="238315"/>
                  </a:lnTo>
                  <a:lnTo>
                    <a:pt x="103458" y="200500"/>
                  </a:lnTo>
                  <a:lnTo>
                    <a:pt x="132859" y="165277"/>
                  </a:lnTo>
                  <a:lnTo>
                    <a:pt x="165277" y="132859"/>
                  </a:lnTo>
                  <a:lnTo>
                    <a:pt x="200500" y="103458"/>
                  </a:lnTo>
                  <a:lnTo>
                    <a:pt x="238315" y="77286"/>
                  </a:lnTo>
                  <a:lnTo>
                    <a:pt x="278508" y="54557"/>
                  </a:lnTo>
                  <a:lnTo>
                    <a:pt x="320867" y="35484"/>
                  </a:lnTo>
                  <a:lnTo>
                    <a:pt x="365180" y="20279"/>
                  </a:lnTo>
                  <a:lnTo>
                    <a:pt x="411233" y="9154"/>
                  </a:lnTo>
                  <a:lnTo>
                    <a:pt x="458814" y="2324"/>
                  </a:lnTo>
                  <a:lnTo>
                    <a:pt x="507710" y="0"/>
                  </a:lnTo>
                  <a:lnTo>
                    <a:pt x="5999289" y="0"/>
                  </a:lnTo>
                  <a:lnTo>
                    <a:pt x="6049470" y="2484"/>
                  </a:lnTo>
                  <a:lnTo>
                    <a:pt x="6098801" y="9845"/>
                  </a:lnTo>
                  <a:lnTo>
                    <a:pt x="6146949" y="21945"/>
                  </a:lnTo>
                  <a:lnTo>
                    <a:pt x="6193582" y="38647"/>
                  </a:lnTo>
                  <a:lnTo>
                    <a:pt x="6238365" y="59811"/>
                  </a:lnTo>
                  <a:lnTo>
                    <a:pt x="6280967" y="85301"/>
                  </a:lnTo>
                  <a:lnTo>
                    <a:pt x="6321055" y="114978"/>
                  </a:lnTo>
                  <a:lnTo>
                    <a:pt x="6358294" y="148704"/>
                  </a:lnTo>
                  <a:lnTo>
                    <a:pt x="6392021" y="185944"/>
                  </a:lnTo>
                  <a:lnTo>
                    <a:pt x="6421698" y="226032"/>
                  </a:lnTo>
                  <a:lnTo>
                    <a:pt x="6447188" y="268634"/>
                  </a:lnTo>
                  <a:lnTo>
                    <a:pt x="6468352" y="313417"/>
                  </a:lnTo>
                  <a:lnTo>
                    <a:pt x="6485054" y="360050"/>
                  </a:lnTo>
                  <a:lnTo>
                    <a:pt x="6497154" y="408198"/>
                  </a:lnTo>
                  <a:lnTo>
                    <a:pt x="6504515" y="457529"/>
                  </a:lnTo>
                  <a:lnTo>
                    <a:pt x="6506999" y="507710"/>
                  </a:lnTo>
                  <a:lnTo>
                    <a:pt x="6506999" y="2538489"/>
                  </a:lnTo>
                  <a:lnTo>
                    <a:pt x="6504675" y="2587385"/>
                  </a:lnTo>
                  <a:lnTo>
                    <a:pt x="6497845" y="2634966"/>
                  </a:lnTo>
                  <a:lnTo>
                    <a:pt x="6486720" y="2681019"/>
                  </a:lnTo>
                  <a:lnTo>
                    <a:pt x="6471515" y="2725332"/>
                  </a:lnTo>
                  <a:lnTo>
                    <a:pt x="6452442" y="2767691"/>
                  </a:lnTo>
                  <a:lnTo>
                    <a:pt x="6429713" y="2807884"/>
                  </a:lnTo>
                  <a:lnTo>
                    <a:pt x="6403541" y="2845699"/>
                  </a:lnTo>
                  <a:lnTo>
                    <a:pt x="6374140" y="2880922"/>
                  </a:lnTo>
                  <a:lnTo>
                    <a:pt x="6341722" y="2913340"/>
                  </a:lnTo>
                  <a:lnTo>
                    <a:pt x="6306499" y="2942741"/>
                  </a:lnTo>
                  <a:lnTo>
                    <a:pt x="6268684" y="2968913"/>
                  </a:lnTo>
                  <a:lnTo>
                    <a:pt x="6228491" y="2991642"/>
                  </a:lnTo>
                  <a:lnTo>
                    <a:pt x="6186132" y="3010715"/>
                  </a:lnTo>
                  <a:lnTo>
                    <a:pt x="6141819" y="3025920"/>
                  </a:lnTo>
                  <a:lnTo>
                    <a:pt x="6095766" y="3037045"/>
                  </a:lnTo>
                  <a:lnTo>
                    <a:pt x="6048185" y="3043875"/>
                  </a:lnTo>
                  <a:lnTo>
                    <a:pt x="5999289" y="3046199"/>
                  </a:lnTo>
                  <a:lnTo>
                    <a:pt x="507710" y="3046199"/>
                  </a:lnTo>
                  <a:lnTo>
                    <a:pt x="458814" y="3043875"/>
                  </a:lnTo>
                  <a:lnTo>
                    <a:pt x="411233" y="3037045"/>
                  </a:lnTo>
                  <a:lnTo>
                    <a:pt x="365180" y="3025920"/>
                  </a:lnTo>
                  <a:lnTo>
                    <a:pt x="320867" y="3010715"/>
                  </a:lnTo>
                  <a:lnTo>
                    <a:pt x="278508" y="2991642"/>
                  </a:lnTo>
                  <a:lnTo>
                    <a:pt x="238315" y="2968913"/>
                  </a:lnTo>
                  <a:lnTo>
                    <a:pt x="200500" y="2942741"/>
                  </a:lnTo>
                  <a:lnTo>
                    <a:pt x="165277" y="2913340"/>
                  </a:lnTo>
                  <a:lnTo>
                    <a:pt x="132859" y="2880922"/>
                  </a:lnTo>
                  <a:lnTo>
                    <a:pt x="103458" y="2845699"/>
                  </a:lnTo>
                  <a:lnTo>
                    <a:pt x="77286" y="2807884"/>
                  </a:lnTo>
                  <a:lnTo>
                    <a:pt x="54557" y="2767691"/>
                  </a:lnTo>
                  <a:lnTo>
                    <a:pt x="35484" y="2725332"/>
                  </a:lnTo>
                  <a:lnTo>
                    <a:pt x="20279" y="2681019"/>
                  </a:lnTo>
                  <a:lnTo>
                    <a:pt x="9154" y="2634966"/>
                  </a:lnTo>
                  <a:lnTo>
                    <a:pt x="2324" y="2587385"/>
                  </a:lnTo>
                  <a:lnTo>
                    <a:pt x="0" y="2538489"/>
                  </a:lnTo>
                  <a:lnTo>
                    <a:pt x="0" y="50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11299" y="1696125"/>
              <a:ext cx="5210175" cy="572770"/>
            </a:xfrm>
            <a:custGeom>
              <a:avLst/>
              <a:gdLst/>
              <a:ahLst/>
              <a:cxnLst/>
              <a:rect l="l" t="t" r="r" b="b"/>
              <a:pathLst>
                <a:path w="5210175" h="572769">
                  <a:moveTo>
                    <a:pt x="5114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5114648" y="0"/>
                  </a:lnTo>
                  <a:lnTo>
                    <a:pt x="5167605" y="16037"/>
                  </a:lnTo>
                  <a:lnTo>
                    <a:pt x="5202834" y="58924"/>
                  </a:lnTo>
                  <a:lnTo>
                    <a:pt x="5210099" y="95451"/>
                  </a:lnTo>
                  <a:lnTo>
                    <a:pt x="5210099" y="477247"/>
                  </a:lnTo>
                  <a:lnTo>
                    <a:pt x="5202598" y="514402"/>
                  </a:lnTo>
                  <a:lnTo>
                    <a:pt x="5182142" y="544742"/>
                  </a:lnTo>
                  <a:lnTo>
                    <a:pt x="5151802" y="565198"/>
                  </a:lnTo>
                  <a:lnTo>
                    <a:pt x="5114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1299" y="1696125"/>
              <a:ext cx="5210175" cy="572770"/>
            </a:xfrm>
            <a:custGeom>
              <a:avLst/>
              <a:gdLst/>
              <a:ahLst/>
              <a:cxnLst/>
              <a:rect l="l" t="t" r="r" b="b"/>
              <a:pathLst>
                <a:path w="521017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5114648" y="0"/>
                  </a:lnTo>
                  <a:lnTo>
                    <a:pt x="5167605" y="16037"/>
                  </a:lnTo>
                  <a:lnTo>
                    <a:pt x="5202834" y="58924"/>
                  </a:lnTo>
                  <a:lnTo>
                    <a:pt x="5210099" y="95451"/>
                  </a:lnTo>
                  <a:lnTo>
                    <a:pt x="5210099" y="477247"/>
                  </a:lnTo>
                  <a:lnTo>
                    <a:pt x="5202598" y="514402"/>
                  </a:lnTo>
                  <a:lnTo>
                    <a:pt x="5182142" y="544742"/>
                  </a:lnTo>
                  <a:lnTo>
                    <a:pt x="5151802" y="565198"/>
                  </a:lnTo>
                  <a:lnTo>
                    <a:pt x="5114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1299" y="2627774"/>
              <a:ext cx="5210175" cy="1061720"/>
            </a:xfrm>
            <a:custGeom>
              <a:avLst/>
              <a:gdLst/>
              <a:ahLst/>
              <a:cxnLst/>
              <a:rect l="l" t="t" r="r" b="b"/>
              <a:pathLst>
                <a:path w="5210175" h="1061720">
                  <a:moveTo>
                    <a:pt x="5033195" y="1061399"/>
                  </a:moveTo>
                  <a:lnTo>
                    <a:pt x="176903" y="1061399"/>
                  </a:lnTo>
                  <a:lnTo>
                    <a:pt x="129875" y="1055080"/>
                  </a:lnTo>
                  <a:lnTo>
                    <a:pt x="87616" y="1037247"/>
                  </a:lnTo>
                  <a:lnTo>
                    <a:pt x="51813" y="1009586"/>
                  </a:lnTo>
                  <a:lnTo>
                    <a:pt x="24152" y="973783"/>
                  </a:lnTo>
                  <a:lnTo>
                    <a:pt x="6319" y="931524"/>
                  </a:lnTo>
                  <a:lnTo>
                    <a:pt x="0" y="884496"/>
                  </a:lnTo>
                  <a:lnTo>
                    <a:pt x="0" y="176903"/>
                  </a:lnTo>
                  <a:lnTo>
                    <a:pt x="6319" y="129875"/>
                  </a:lnTo>
                  <a:lnTo>
                    <a:pt x="24152" y="87616"/>
                  </a:lnTo>
                  <a:lnTo>
                    <a:pt x="51813" y="51813"/>
                  </a:lnTo>
                  <a:lnTo>
                    <a:pt x="87616" y="24152"/>
                  </a:lnTo>
                  <a:lnTo>
                    <a:pt x="129875" y="6319"/>
                  </a:lnTo>
                  <a:lnTo>
                    <a:pt x="176903" y="0"/>
                  </a:lnTo>
                  <a:lnTo>
                    <a:pt x="5033195" y="0"/>
                  </a:lnTo>
                  <a:lnTo>
                    <a:pt x="5100894" y="13465"/>
                  </a:lnTo>
                  <a:lnTo>
                    <a:pt x="5158285" y="51813"/>
                  </a:lnTo>
                  <a:lnTo>
                    <a:pt x="5196633" y="109205"/>
                  </a:lnTo>
                  <a:lnTo>
                    <a:pt x="5210099" y="176903"/>
                  </a:lnTo>
                  <a:lnTo>
                    <a:pt x="5210099" y="884496"/>
                  </a:lnTo>
                  <a:lnTo>
                    <a:pt x="5203780" y="931524"/>
                  </a:lnTo>
                  <a:lnTo>
                    <a:pt x="5185947" y="973783"/>
                  </a:lnTo>
                  <a:lnTo>
                    <a:pt x="5158286" y="1009586"/>
                  </a:lnTo>
                  <a:lnTo>
                    <a:pt x="5122482" y="1037247"/>
                  </a:lnTo>
                  <a:lnTo>
                    <a:pt x="5080224" y="1055080"/>
                  </a:lnTo>
                  <a:lnTo>
                    <a:pt x="5033195" y="106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1299" y="2627775"/>
              <a:ext cx="5210175" cy="1061720"/>
            </a:xfrm>
            <a:custGeom>
              <a:avLst/>
              <a:gdLst/>
              <a:ahLst/>
              <a:cxnLst/>
              <a:rect l="l" t="t" r="r" b="b"/>
              <a:pathLst>
                <a:path w="5210175" h="1061720">
                  <a:moveTo>
                    <a:pt x="0" y="176903"/>
                  </a:moveTo>
                  <a:lnTo>
                    <a:pt x="6319" y="129875"/>
                  </a:lnTo>
                  <a:lnTo>
                    <a:pt x="24152" y="87616"/>
                  </a:lnTo>
                  <a:lnTo>
                    <a:pt x="51813" y="51813"/>
                  </a:lnTo>
                  <a:lnTo>
                    <a:pt x="87616" y="24152"/>
                  </a:lnTo>
                  <a:lnTo>
                    <a:pt x="129875" y="6319"/>
                  </a:lnTo>
                  <a:lnTo>
                    <a:pt x="176903" y="0"/>
                  </a:lnTo>
                  <a:lnTo>
                    <a:pt x="5033195" y="0"/>
                  </a:lnTo>
                  <a:lnTo>
                    <a:pt x="5100894" y="13465"/>
                  </a:lnTo>
                  <a:lnTo>
                    <a:pt x="5158285" y="51813"/>
                  </a:lnTo>
                  <a:lnTo>
                    <a:pt x="5196633" y="109205"/>
                  </a:lnTo>
                  <a:lnTo>
                    <a:pt x="5210099" y="176903"/>
                  </a:lnTo>
                  <a:lnTo>
                    <a:pt x="5210099" y="884496"/>
                  </a:lnTo>
                  <a:lnTo>
                    <a:pt x="5203780" y="931524"/>
                  </a:lnTo>
                  <a:lnTo>
                    <a:pt x="5185947" y="973783"/>
                  </a:lnTo>
                  <a:lnTo>
                    <a:pt x="5158286" y="1009586"/>
                  </a:lnTo>
                  <a:lnTo>
                    <a:pt x="5122482" y="1037247"/>
                  </a:lnTo>
                  <a:lnTo>
                    <a:pt x="5080224" y="1055080"/>
                  </a:lnTo>
                  <a:lnTo>
                    <a:pt x="5033195" y="1061399"/>
                  </a:lnTo>
                  <a:lnTo>
                    <a:pt x="176903" y="1061399"/>
                  </a:lnTo>
                  <a:lnTo>
                    <a:pt x="129875" y="1055080"/>
                  </a:lnTo>
                  <a:lnTo>
                    <a:pt x="87616" y="1037247"/>
                  </a:lnTo>
                  <a:lnTo>
                    <a:pt x="51813" y="1009586"/>
                  </a:lnTo>
                  <a:lnTo>
                    <a:pt x="24152" y="973783"/>
                  </a:lnTo>
                  <a:lnTo>
                    <a:pt x="6319" y="931524"/>
                  </a:lnTo>
                  <a:lnTo>
                    <a:pt x="0" y="884496"/>
                  </a:lnTo>
                  <a:lnTo>
                    <a:pt x="0" y="176903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5351">
              <a:spcBef>
                <a:spcPts val="160"/>
              </a:spcBef>
            </a:pPr>
            <a:r>
              <a:rPr dirty="0"/>
              <a:t>Characterizing</a:t>
            </a:r>
            <a:r>
              <a:rPr spc="-53" dirty="0"/>
              <a:t> </a:t>
            </a:r>
            <a:r>
              <a:rPr dirty="0"/>
              <a:t>the</a:t>
            </a:r>
            <a:r>
              <a:rPr spc="-47" dirty="0"/>
              <a:t> </a:t>
            </a:r>
            <a:r>
              <a:rPr dirty="0"/>
              <a:t>excluded</a:t>
            </a:r>
            <a:r>
              <a:rPr spc="-47" dirty="0"/>
              <a:t> </a:t>
            </a:r>
            <a:r>
              <a:rPr spc="-13" dirty="0"/>
              <a:t>documents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16376" y="2430025"/>
            <a:ext cx="5063913" cy="236652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Evaluated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100K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excluded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documents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3000">
              <a:latin typeface="Arial"/>
              <a:cs typeface="Arial"/>
            </a:endParaRPr>
          </a:p>
          <a:p>
            <a:pPr marL="48259"/>
            <a:r>
              <a:rPr sz="2400" b="1" dirty="0">
                <a:latin typeface="Arial"/>
                <a:cs typeface="Arial"/>
              </a:rPr>
              <a:t>Categorized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them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using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K-</a:t>
            </a:r>
            <a:r>
              <a:rPr sz="2400" b="1" spc="-13" dirty="0">
                <a:latin typeface="Arial"/>
                <a:cs typeface="Arial"/>
              </a:rPr>
              <a:t>means:</a:t>
            </a:r>
            <a:endParaRPr sz="2400">
              <a:latin typeface="Arial"/>
              <a:cs typeface="Arial"/>
            </a:endParaRPr>
          </a:p>
          <a:p>
            <a:pPr marL="657844" indent="-488514">
              <a:spcBef>
                <a:spcPts val="20"/>
              </a:spcBef>
              <a:buChar char="●"/>
              <a:tabLst>
                <a:tab pos="657844" algn="l"/>
              </a:tabLst>
            </a:pPr>
            <a:r>
              <a:rPr sz="2400" b="1" spc="-13" dirty="0">
                <a:latin typeface="Arial"/>
                <a:cs typeface="Arial"/>
              </a:rPr>
              <a:t>TF-</a:t>
            </a:r>
            <a:r>
              <a:rPr sz="2400" b="1" dirty="0">
                <a:latin typeface="Arial"/>
                <a:cs typeface="Arial"/>
              </a:rPr>
              <a:t>IDF </a:t>
            </a:r>
            <a:r>
              <a:rPr sz="2400" b="1" spc="-13" dirty="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  <a:p>
            <a:pPr marL="657844" indent="-488514">
              <a:spcBef>
                <a:spcPts val="20"/>
              </a:spcBef>
              <a:buChar char="●"/>
              <a:tabLst>
                <a:tab pos="657844" algn="l"/>
              </a:tabLst>
            </a:pPr>
            <a:r>
              <a:rPr sz="2400" b="1" dirty="0">
                <a:latin typeface="Arial"/>
                <a:cs typeface="Arial"/>
              </a:rPr>
              <a:t>K=50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(50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clusters)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6FA39C5-678A-4502-BF01-83C28BF7F1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67</a:t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50099" y="3816133"/>
            <a:ext cx="3383280" cy="329353"/>
          </a:xfrm>
          <a:custGeom>
            <a:avLst/>
            <a:gdLst/>
            <a:ahLst/>
            <a:cxnLst/>
            <a:rect l="l" t="t" r="r" b="b"/>
            <a:pathLst>
              <a:path w="2537459" h="247014">
                <a:moveTo>
                  <a:pt x="0" y="0"/>
                </a:moveTo>
                <a:lnTo>
                  <a:pt x="2537399" y="0"/>
                </a:lnTo>
                <a:lnTo>
                  <a:pt x="2537399" y="246899"/>
                </a:lnTo>
                <a:lnTo>
                  <a:pt x="0" y="2468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50099" y="5642601"/>
            <a:ext cx="3383280" cy="232833"/>
          </a:xfrm>
          <a:custGeom>
            <a:avLst/>
            <a:gdLst/>
            <a:ahLst/>
            <a:cxnLst/>
            <a:rect l="l" t="t" r="r" b="b"/>
            <a:pathLst>
              <a:path w="2537459" h="174625">
                <a:moveTo>
                  <a:pt x="0" y="0"/>
                </a:moveTo>
                <a:lnTo>
                  <a:pt x="2537399" y="0"/>
                </a:lnTo>
                <a:lnTo>
                  <a:pt x="2537399" y="173999"/>
                </a:lnTo>
                <a:lnTo>
                  <a:pt x="0" y="1739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50099" y="2132864"/>
            <a:ext cx="3383280" cy="186267"/>
          </a:xfrm>
          <a:custGeom>
            <a:avLst/>
            <a:gdLst/>
            <a:ahLst/>
            <a:cxnLst/>
            <a:rect l="l" t="t" r="r" b="b"/>
            <a:pathLst>
              <a:path w="2537459" h="139700">
                <a:moveTo>
                  <a:pt x="0" y="0"/>
                </a:moveTo>
                <a:lnTo>
                  <a:pt x="2537399" y="0"/>
                </a:lnTo>
                <a:lnTo>
                  <a:pt x="2537399" y="139499"/>
                </a:lnTo>
                <a:lnTo>
                  <a:pt x="0" y="1394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38884" y="413484"/>
            <a:ext cx="2782993" cy="1035473"/>
            <a:chOff x="329162" y="310112"/>
            <a:chExt cx="2087245" cy="776605"/>
          </a:xfrm>
        </p:grpSpPr>
        <p:sp>
          <p:nvSpPr>
            <p:cNvPr id="6" name="object 6"/>
            <p:cNvSpPr/>
            <p:nvPr/>
          </p:nvSpPr>
          <p:spPr>
            <a:xfrm>
              <a:off x="333924" y="314874"/>
              <a:ext cx="2077720" cy="767080"/>
            </a:xfrm>
            <a:custGeom>
              <a:avLst/>
              <a:gdLst/>
              <a:ahLst/>
              <a:cxnLst/>
              <a:rect l="l" t="t" r="r" b="b"/>
              <a:pathLst>
                <a:path w="2077720" h="767080">
                  <a:moveTo>
                    <a:pt x="1949447" y="766499"/>
                  </a:moveTo>
                  <a:lnTo>
                    <a:pt x="127752" y="766499"/>
                  </a:lnTo>
                  <a:lnTo>
                    <a:pt x="78025" y="756460"/>
                  </a:lnTo>
                  <a:lnTo>
                    <a:pt x="37417" y="729082"/>
                  </a:lnTo>
                  <a:lnTo>
                    <a:pt x="10039" y="688474"/>
                  </a:lnTo>
                  <a:lnTo>
                    <a:pt x="0" y="638747"/>
                  </a:lnTo>
                  <a:lnTo>
                    <a:pt x="0" y="127752"/>
                  </a:lnTo>
                  <a:lnTo>
                    <a:pt x="10039" y="78025"/>
                  </a:lnTo>
                  <a:lnTo>
                    <a:pt x="37417" y="37417"/>
                  </a:lnTo>
                  <a:lnTo>
                    <a:pt x="78025" y="10039"/>
                  </a:lnTo>
                  <a:lnTo>
                    <a:pt x="127752" y="0"/>
                  </a:lnTo>
                  <a:lnTo>
                    <a:pt x="1949447" y="0"/>
                  </a:lnTo>
                  <a:lnTo>
                    <a:pt x="1998336" y="9724"/>
                  </a:lnTo>
                  <a:lnTo>
                    <a:pt x="2039782" y="37417"/>
                  </a:lnTo>
                  <a:lnTo>
                    <a:pt x="2067475" y="78863"/>
                  </a:lnTo>
                  <a:lnTo>
                    <a:pt x="2077199" y="127752"/>
                  </a:lnTo>
                  <a:lnTo>
                    <a:pt x="2077199" y="638747"/>
                  </a:lnTo>
                  <a:lnTo>
                    <a:pt x="2067160" y="688474"/>
                  </a:lnTo>
                  <a:lnTo>
                    <a:pt x="2039782" y="729082"/>
                  </a:lnTo>
                  <a:lnTo>
                    <a:pt x="1999174" y="756460"/>
                  </a:lnTo>
                  <a:lnTo>
                    <a:pt x="1949447" y="766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3924" y="314874"/>
              <a:ext cx="2077720" cy="767080"/>
            </a:xfrm>
            <a:custGeom>
              <a:avLst/>
              <a:gdLst/>
              <a:ahLst/>
              <a:cxnLst/>
              <a:rect l="l" t="t" r="r" b="b"/>
              <a:pathLst>
                <a:path w="2077720" h="767080">
                  <a:moveTo>
                    <a:pt x="0" y="127752"/>
                  </a:moveTo>
                  <a:lnTo>
                    <a:pt x="10039" y="78025"/>
                  </a:lnTo>
                  <a:lnTo>
                    <a:pt x="37417" y="37417"/>
                  </a:lnTo>
                  <a:lnTo>
                    <a:pt x="78025" y="10039"/>
                  </a:lnTo>
                  <a:lnTo>
                    <a:pt x="127752" y="0"/>
                  </a:lnTo>
                  <a:lnTo>
                    <a:pt x="1949447" y="0"/>
                  </a:lnTo>
                  <a:lnTo>
                    <a:pt x="1998336" y="9724"/>
                  </a:lnTo>
                  <a:lnTo>
                    <a:pt x="2039782" y="37417"/>
                  </a:lnTo>
                  <a:lnTo>
                    <a:pt x="2067475" y="78863"/>
                  </a:lnTo>
                  <a:lnTo>
                    <a:pt x="2077199" y="127752"/>
                  </a:lnTo>
                  <a:lnTo>
                    <a:pt x="2077199" y="638747"/>
                  </a:lnTo>
                  <a:lnTo>
                    <a:pt x="2067160" y="688474"/>
                  </a:lnTo>
                  <a:lnTo>
                    <a:pt x="2039782" y="729082"/>
                  </a:lnTo>
                  <a:lnTo>
                    <a:pt x="1999174" y="756460"/>
                  </a:lnTo>
                  <a:lnTo>
                    <a:pt x="1949447" y="766499"/>
                  </a:lnTo>
                  <a:lnTo>
                    <a:pt x="127752" y="766499"/>
                  </a:lnTo>
                  <a:lnTo>
                    <a:pt x="78025" y="756460"/>
                  </a:lnTo>
                  <a:lnTo>
                    <a:pt x="37417" y="729082"/>
                  </a:lnTo>
                  <a:lnTo>
                    <a:pt x="10039" y="688474"/>
                  </a:lnTo>
                  <a:lnTo>
                    <a:pt x="0" y="638747"/>
                  </a:lnTo>
                  <a:lnTo>
                    <a:pt x="0" y="1277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3049" y="485317"/>
            <a:ext cx="1614593" cy="87630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19"/>
              </a:lnSpc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Only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31%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27" dirty="0">
                <a:latin typeface="Arial"/>
                <a:cs typeface="Arial"/>
              </a:rPr>
              <a:t>true</a:t>
            </a:r>
            <a:endParaRPr sz="1867">
              <a:latin typeface="Arial"/>
              <a:cs typeface="Arial"/>
            </a:endParaRPr>
          </a:p>
          <a:p>
            <a:pPr marL="312412" marR="78738" indent="-224361">
              <a:lnSpc>
                <a:spcPts val="2200"/>
              </a:lnSpc>
              <a:spcBef>
                <a:spcPts val="87"/>
              </a:spcBef>
            </a:pPr>
            <a:r>
              <a:rPr sz="1867" b="1" dirty="0">
                <a:latin typeface="Arial"/>
                <a:cs typeface="Arial"/>
              </a:rPr>
              <a:t>positives</a:t>
            </a:r>
            <a:r>
              <a:rPr sz="1867" b="1" spc="-60" dirty="0">
                <a:latin typeface="Arial"/>
                <a:cs typeface="Arial"/>
              </a:rPr>
              <a:t> </a:t>
            </a:r>
            <a:r>
              <a:rPr sz="1867" b="1" spc="-33" dirty="0">
                <a:latin typeface="Arial"/>
                <a:cs typeface="Arial"/>
              </a:rPr>
              <a:t>(16 </a:t>
            </a:r>
            <a:r>
              <a:rPr sz="1867" b="1" spc="-13" dirty="0">
                <a:latin typeface="Arial"/>
                <a:cs typeface="Arial"/>
              </a:rPr>
              <a:t>clusters)</a:t>
            </a:r>
            <a:endParaRPr sz="1867">
              <a:latin typeface="Arial"/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E34C3B-A6CB-48B0-9A77-2D29B571E4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48637" y="0"/>
            <a:ext cx="3360420" cy="316653"/>
          </a:xfrm>
          <a:custGeom>
            <a:avLst/>
            <a:gdLst/>
            <a:ahLst/>
            <a:cxnLst/>
            <a:rect l="l" t="t" r="r" b="b"/>
            <a:pathLst>
              <a:path w="2520315" h="237490">
                <a:moveTo>
                  <a:pt x="0" y="0"/>
                </a:moveTo>
                <a:lnTo>
                  <a:pt x="2519999" y="0"/>
                </a:lnTo>
                <a:lnTo>
                  <a:pt x="2519999" y="237299"/>
                </a:lnTo>
                <a:lnTo>
                  <a:pt x="0" y="2372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A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48637" y="3146471"/>
            <a:ext cx="3360420" cy="198120"/>
          </a:xfrm>
          <a:custGeom>
            <a:avLst/>
            <a:gdLst/>
            <a:ahLst/>
            <a:cxnLst/>
            <a:rect l="l" t="t" r="r" b="b"/>
            <a:pathLst>
              <a:path w="2520315" h="148589">
                <a:moveTo>
                  <a:pt x="0" y="0"/>
                </a:moveTo>
                <a:lnTo>
                  <a:pt x="2519999" y="0"/>
                </a:lnTo>
                <a:lnTo>
                  <a:pt x="2519999" y="148199"/>
                </a:lnTo>
                <a:lnTo>
                  <a:pt x="0" y="1481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A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48637" y="1803040"/>
            <a:ext cx="3360420" cy="198120"/>
          </a:xfrm>
          <a:custGeom>
            <a:avLst/>
            <a:gdLst/>
            <a:ahLst/>
            <a:cxnLst/>
            <a:rect l="l" t="t" r="r" b="b"/>
            <a:pathLst>
              <a:path w="2520315" h="148590">
                <a:moveTo>
                  <a:pt x="0" y="0"/>
                </a:moveTo>
                <a:lnTo>
                  <a:pt x="2519999" y="0"/>
                </a:lnTo>
                <a:lnTo>
                  <a:pt x="2519999" y="148199"/>
                </a:lnTo>
                <a:lnTo>
                  <a:pt x="0" y="1481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A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48634" y="5837213"/>
            <a:ext cx="3360420" cy="198120"/>
          </a:xfrm>
          <a:custGeom>
            <a:avLst/>
            <a:gdLst/>
            <a:ahLst/>
            <a:cxnLst/>
            <a:rect l="l" t="t" r="r" b="b"/>
            <a:pathLst>
              <a:path w="2520315" h="148589">
                <a:moveTo>
                  <a:pt x="0" y="0"/>
                </a:moveTo>
                <a:lnTo>
                  <a:pt x="2519999" y="0"/>
                </a:lnTo>
                <a:lnTo>
                  <a:pt x="2519999" y="148199"/>
                </a:lnTo>
                <a:lnTo>
                  <a:pt x="0" y="1481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6AA84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76349" y="191083"/>
            <a:ext cx="2931160" cy="1816100"/>
            <a:chOff x="57262" y="143312"/>
            <a:chExt cx="2198370" cy="1362075"/>
          </a:xfrm>
        </p:grpSpPr>
        <p:sp>
          <p:nvSpPr>
            <p:cNvPr id="7" name="object 7"/>
            <p:cNvSpPr/>
            <p:nvPr/>
          </p:nvSpPr>
          <p:spPr>
            <a:xfrm>
              <a:off x="62024" y="148074"/>
              <a:ext cx="2188845" cy="1352550"/>
            </a:xfrm>
            <a:custGeom>
              <a:avLst/>
              <a:gdLst/>
              <a:ahLst/>
              <a:cxnLst/>
              <a:rect l="l" t="t" r="r" b="b"/>
              <a:pathLst>
                <a:path w="2188845" h="1352550">
                  <a:moveTo>
                    <a:pt x="1963095" y="1352399"/>
                  </a:moveTo>
                  <a:lnTo>
                    <a:pt x="225404" y="1352399"/>
                  </a:lnTo>
                  <a:lnTo>
                    <a:pt x="179977" y="1347820"/>
                  </a:lnTo>
                  <a:lnTo>
                    <a:pt x="137666" y="1334686"/>
                  </a:lnTo>
                  <a:lnTo>
                    <a:pt x="99378" y="1313904"/>
                  </a:lnTo>
                  <a:lnTo>
                    <a:pt x="66019" y="1286380"/>
                  </a:lnTo>
                  <a:lnTo>
                    <a:pt x="38495" y="1253021"/>
                  </a:lnTo>
                  <a:lnTo>
                    <a:pt x="17713" y="1214733"/>
                  </a:lnTo>
                  <a:lnTo>
                    <a:pt x="4579" y="1172422"/>
                  </a:lnTo>
                  <a:lnTo>
                    <a:pt x="0" y="1126995"/>
                  </a:lnTo>
                  <a:lnTo>
                    <a:pt x="0" y="225404"/>
                  </a:lnTo>
                  <a:lnTo>
                    <a:pt x="4579" y="179977"/>
                  </a:lnTo>
                  <a:lnTo>
                    <a:pt x="17713" y="137666"/>
                  </a:lnTo>
                  <a:lnTo>
                    <a:pt x="38495" y="99378"/>
                  </a:lnTo>
                  <a:lnTo>
                    <a:pt x="66019" y="66019"/>
                  </a:lnTo>
                  <a:lnTo>
                    <a:pt x="99378" y="38495"/>
                  </a:lnTo>
                  <a:lnTo>
                    <a:pt x="137666" y="17713"/>
                  </a:lnTo>
                  <a:lnTo>
                    <a:pt x="179977" y="4579"/>
                  </a:lnTo>
                  <a:lnTo>
                    <a:pt x="225404" y="0"/>
                  </a:lnTo>
                  <a:lnTo>
                    <a:pt x="1963095" y="0"/>
                  </a:lnTo>
                  <a:lnTo>
                    <a:pt x="2007275" y="4371"/>
                  </a:lnTo>
                  <a:lnTo>
                    <a:pt x="2049354" y="17157"/>
                  </a:lnTo>
                  <a:lnTo>
                    <a:pt x="2088150" y="37870"/>
                  </a:lnTo>
                  <a:lnTo>
                    <a:pt x="2122480" y="66019"/>
                  </a:lnTo>
                  <a:lnTo>
                    <a:pt x="2150629" y="100349"/>
                  </a:lnTo>
                  <a:lnTo>
                    <a:pt x="2171342" y="139145"/>
                  </a:lnTo>
                  <a:lnTo>
                    <a:pt x="2184128" y="181224"/>
                  </a:lnTo>
                  <a:lnTo>
                    <a:pt x="2188499" y="225404"/>
                  </a:lnTo>
                  <a:lnTo>
                    <a:pt x="2188499" y="1126995"/>
                  </a:lnTo>
                  <a:lnTo>
                    <a:pt x="2183920" y="1172422"/>
                  </a:lnTo>
                  <a:lnTo>
                    <a:pt x="2170786" y="1214733"/>
                  </a:lnTo>
                  <a:lnTo>
                    <a:pt x="2150004" y="1253021"/>
                  </a:lnTo>
                  <a:lnTo>
                    <a:pt x="2122480" y="1286380"/>
                  </a:lnTo>
                  <a:lnTo>
                    <a:pt x="2089121" y="1313904"/>
                  </a:lnTo>
                  <a:lnTo>
                    <a:pt x="2050833" y="1334686"/>
                  </a:lnTo>
                  <a:lnTo>
                    <a:pt x="2008522" y="1347820"/>
                  </a:lnTo>
                  <a:lnTo>
                    <a:pt x="1963095" y="135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024" y="148074"/>
              <a:ext cx="2188845" cy="1352550"/>
            </a:xfrm>
            <a:custGeom>
              <a:avLst/>
              <a:gdLst/>
              <a:ahLst/>
              <a:cxnLst/>
              <a:rect l="l" t="t" r="r" b="b"/>
              <a:pathLst>
                <a:path w="2188845" h="1352550">
                  <a:moveTo>
                    <a:pt x="0" y="225404"/>
                  </a:moveTo>
                  <a:lnTo>
                    <a:pt x="4579" y="179977"/>
                  </a:lnTo>
                  <a:lnTo>
                    <a:pt x="17713" y="137666"/>
                  </a:lnTo>
                  <a:lnTo>
                    <a:pt x="38495" y="99378"/>
                  </a:lnTo>
                  <a:lnTo>
                    <a:pt x="66019" y="66019"/>
                  </a:lnTo>
                  <a:lnTo>
                    <a:pt x="99378" y="38495"/>
                  </a:lnTo>
                  <a:lnTo>
                    <a:pt x="137666" y="17713"/>
                  </a:lnTo>
                  <a:lnTo>
                    <a:pt x="179977" y="4579"/>
                  </a:lnTo>
                  <a:lnTo>
                    <a:pt x="225404" y="0"/>
                  </a:lnTo>
                  <a:lnTo>
                    <a:pt x="1963095" y="0"/>
                  </a:lnTo>
                  <a:lnTo>
                    <a:pt x="2007275" y="4371"/>
                  </a:lnTo>
                  <a:lnTo>
                    <a:pt x="2049354" y="17157"/>
                  </a:lnTo>
                  <a:lnTo>
                    <a:pt x="2088150" y="37870"/>
                  </a:lnTo>
                  <a:lnTo>
                    <a:pt x="2122480" y="66019"/>
                  </a:lnTo>
                  <a:lnTo>
                    <a:pt x="2150629" y="100349"/>
                  </a:lnTo>
                  <a:lnTo>
                    <a:pt x="2171342" y="139145"/>
                  </a:lnTo>
                  <a:lnTo>
                    <a:pt x="2184128" y="181224"/>
                  </a:lnTo>
                  <a:lnTo>
                    <a:pt x="2188499" y="225404"/>
                  </a:lnTo>
                  <a:lnTo>
                    <a:pt x="2188499" y="1126995"/>
                  </a:lnTo>
                  <a:lnTo>
                    <a:pt x="2183920" y="1172422"/>
                  </a:lnTo>
                  <a:lnTo>
                    <a:pt x="2170786" y="1214733"/>
                  </a:lnTo>
                  <a:lnTo>
                    <a:pt x="2150004" y="1253021"/>
                  </a:lnTo>
                  <a:lnTo>
                    <a:pt x="2122480" y="1286380"/>
                  </a:lnTo>
                  <a:lnTo>
                    <a:pt x="2089121" y="1313904"/>
                  </a:lnTo>
                  <a:lnTo>
                    <a:pt x="2050833" y="1334686"/>
                  </a:lnTo>
                  <a:lnTo>
                    <a:pt x="2008522" y="1347820"/>
                  </a:lnTo>
                  <a:lnTo>
                    <a:pt x="1963095" y="1352399"/>
                  </a:lnTo>
                  <a:lnTo>
                    <a:pt x="225404" y="1352399"/>
                  </a:lnTo>
                  <a:lnTo>
                    <a:pt x="179977" y="1347820"/>
                  </a:lnTo>
                  <a:lnTo>
                    <a:pt x="137666" y="1334686"/>
                  </a:lnTo>
                  <a:lnTo>
                    <a:pt x="99378" y="1313904"/>
                  </a:lnTo>
                  <a:lnTo>
                    <a:pt x="66019" y="1286380"/>
                  </a:lnTo>
                  <a:lnTo>
                    <a:pt x="38495" y="1253021"/>
                  </a:lnTo>
                  <a:lnTo>
                    <a:pt x="17713" y="1214733"/>
                  </a:lnTo>
                  <a:lnTo>
                    <a:pt x="4579" y="1172422"/>
                  </a:lnTo>
                  <a:lnTo>
                    <a:pt x="0" y="1126995"/>
                  </a:lnTo>
                  <a:lnTo>
                    <a:pt x="0" y="22540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8091" y="374117"/>
            <a:ext cx="2455333" cy="14277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19"/>
              </a:lnSpc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Documents</a:t>
            </a:r>
            <a:r>
              <a:rPr sz="1867" b="1" spc="-53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related</a:t>
            </a:r>
            <a:r>
              <a:rPr sz="1867" b="1" spc="-53" dirty="0">
                <a:latin typeface="Arial"/>
                <a:cs typeface="Arial"/>
              </a:rPr>
              <a:t> </a:t>
            </a:r>
            <a:r>
              <a:rPr sz="1867" b="1" spc="-33" dirty="0">
                <a:latin typeface="Arial"/>
                <a:cs typeface="Arial"/>
              </a:rPr>
              <a:t>to</a:t>
            </a:r>
            <a:endParaRPr sz="1867">
              <a:latin typeface="Arial"/>
              <a:cs typeface="Arial"/>
            </a:endParaRPr>
          </a:p>
          <a:p>
            <a:pPr marL="625671" indent="-447875">
              <a:lnSpc>
                <a:spcPts val="2200"/>
              </a:lnSpc>
              <a:buChar char="●"/>
              <a:tabLst>
                <a:tab pos="625671" algn="l"/>
              </a:tabLst>
            </a:pPr>
            <a:r>
              <a:rPr sz="1867" b="1" spc="-13" dirty="0">
                <a:latin typeface="Arial"/>
                <a:cs typeface="Arial"/>
              </a:rPr>
              <a:t>Education</a:t>
            </a:r>
            <a:endParaRPr sz="1867">
              <a:latin typeface="Arial"/>
              <a:cs typeface="Arial"/>
            </a:endParaRPr>
          </a:p>
          <a:p>
            <a:pPr marL="625671" indent="-447875">
              <a:lnSpc>
                <a:spcPts val="2200"/>
              </a:lnSpc>
              <a:buChar char="●"/>
              <a:tabLst>
                <a:tab pos="625671" algn="l"/>
              </a:tabLst>
            </a:pPr>
            <a:r>
              <a:rPr sz="1867" b="1" spc="-13" dirty="0">
                <a:latin typeface="Arial"/>
                <a:cs typeface="Arial"/>
              </a:rPr>
              <a:t>Business</a:t>
            </a:r>
            <a:endParaRPr sz="1867">
              <a:latin typeface="Arial"/>
              <a:cs typeface="Arial"/>
            </a:endParaRPr>
          </a:p>
          <a:p>
            <a:pPr marL="625671" indent="-447875">
              <a:lnSpc>
                <a:spcPts val="2200"/>
              </a:lnSpc>
              <a:buChar char="●"/>
              <a:tabLst>
                <a:tab pos="625671" algn="l"/>
              </a:tabLst>
            </a:pPr>
            <a:r>
              <a:rPr sz="1867" b="1" spc="-13" dirty="0">
                <a:latin typeface="Arial"/>
                <a:cs typeface="Arial"/>
              </a:rPr>
              <a:t>Medecine</a:t>
            </a:r>
            <a:endParaRPr sz="1867">
              <a:latin typeface="Arial"/>
              <a:cs typeface="Arial"/>
            </a:endParaRPr>
          </a:p>
          <a:p>
            <a:pPr marL="625671" indent="-447875">
              <a:lnSpc>
                <a:spcPts val="2219"/>
              </a:lnSpc>
              <a:buChar char="●"/>
              <a:tabLst>
                <a:tab pos="625671" algn="l"/>
              </a:tabLst>
            </a:pPr>
            <a:r>
              <a:rPr sz="1867" b="1" spc="-13" dirty="0">
                <a:latin typeface="Arial"/>
                <a:cs typeface="Arial"/>
              </a:rPr>
              <a:t>Health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23B7BB-FF75-414C-A93F-12619EF269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850" y="687650"/>
            <a:ext cx="11046460" cy="5483013"/>
            <a:chOff x="429637" y="515737"/>
            <a:chExt cx="8284845" cy="4112260"/>
          </a:xfrm>
        </p:grpSpPr>
        <p:sp>
          <p:nvSpPr>
            <p:cNvPr id="3" name="object 3"/>
            <p:cNvSpPr/>
            <p:nvPr/>
          </p:nvSpPr>
          <p:spPr>
            <a:xfrm>
              <a:off x="434399" y="520500"/>
              <a:ext cx="8275320" cy="4102735"/>
            </a:xfrm>
            <a:custGeom>
              <a:avLst/>
              <a:gdLst/>
              <a:ahLst/>
              <a:cxnLst/>
              <a:rect l="l" t="t" r="r" b="b"/>
              <a:pathLst>
                <a:path w="8275320" h="4102735">
                  <a:moveTo>
                    <a:pt x="7591435" y="4102499"/>
                  </a:moveTo>
                  <a:lnTo>
                    <a:pt x="683763" y="4102499"/>
                  </a:lnTo>
                  <a:lnTo>
                    <a:pt x="634932" y="4100783"/>
                  </a:lnTo>
                  <a:lnTo>
                    <a:pt x="587027" y="4095709"/>
                  </a:lnTo>
                  <a:lnTo>
                    <a:pt x="540164" y="4087395"/>
                  </a:lnTo>
                  <a:lnTo>
                    <a:pt x="494460" y="4075956"/>
                  </a:lnTo>
                  <a:lnTo>
                    <a:pt x="450029" y="4061508"/>
                  </a:lnTo>
                  <a:lnTo>
                    <a:pt x="406988" y="4044165"/>
                  </a:lnTo>
                  <a:lnTo>
                    <a:pt x="365452" y="4024045"/>
                  </a:lnTo>
                  <a:lnTo>
                    <a:pt x="325537" y="4001263"/>
                  </a:lnTo>
                  <a:lnTo>
                    <a:pt x="287358" y="3975934"/>
                  </a:lnTo>
                  <a:lnTo>
                    <a:pt x="251032" y="3948174"/>
                  </a:lnTo>
                  <a:lnTo>
                    <a:pt x="216674" y="3918099"/>
                  </a:lnTo>
                  <a:lnTo>
                    <a:pt x="184400" y="3885825"/>
                  </a:lnTo>
                  <a:lnTo>
                    <a:pt x="154325" y="3851467"/>
                  </a:lnTo>
                  <a:lnTo>
                    <a:pt x="126565" y="3815141"/>
                  </a:lnTo>
                  <a:lnTo>
                    <a:pt x="101236" y="3776962"/>
                  </a:lnTo>
                  <a:lnTo>
                    <a:pt x="78454" y="3737047"/>
                  </a:lnTo>
                  <a:lnTo>
                    <a:pt x="58334" y="3695511"/>
                  </a:lnTo>
                  <a:lnTo>
                    <a:pt x="40991" y="3652470"/>
                  </a:lnTo>
                  <a:lnTo>
                    <a:pt x="26543" y="3608039"/>
                  </a:lnTo>
                  <a:lnTo>
                    <a:pt x="15104" y="3562335"/>
                  </a:lnTo>
                  <a:lnTo>
                    <a:pt x="6790" y="3515472"/>
                  </a:lnTo>
                  <a:lnTo>
                    <a:pt x="1716" y="3467567"/>
                  </a:lnTo>
                  <a:lnTo>
                    <a:pt x="0" y="3418736"/>
                  </a:lnTo>
                  <a:lnTo>
                    <a:pt x="0" y="683763"/>
                  </a:lnTo>
                  <a:lnTo>
                    <a:pt x="1716" y="634932"/>
                  </a:lnTo>
                  <a:lnTo>
                    <a:pt x="6790" y="587027"/>
                  </a:lnTo>
                  <a:lnTo>
                    <a:pt x="15104" y="540164"/>
                  </a:lnTo>
                  <a:lnTo>
                    <a:pt x="26543" y="494460"/>
                  </a:lnTo>
                  <a:lnTo>
                    <a:pt x="40991" y="450029"/>
                  </a:lnTo>
                  <a:lnTo>
                    <a:pt x="58334" y="406988"/>
                  </a:lnTo>
                  <a:lnTo>
                    <a:pt x="78454" y="365452"/>
                  </a:lnTo>
                  <a:lnTo>
                    <a:pt x="101236" y="325537"/>
                  </a:lnTo>
                  <a:lnTo>
                    <a:pt x="126565" y="287358"/>
                  </a:lnTo>
                  <a:lnTo>
                    <a:pt x="154325" y="251032"/>
                  </a:lnTo>
                  <a:lnTo>
                    <a:pt x="184400" y="216674"/>
                  </a:lnTo>
                  <a:lnTo>
                    <a:pt x="216674" y="184400"/>
                  </a:lnTo>
                  <a:lnTo>
                    <a:pt x="251032" y="154325"/>
                  </a:lnTo>
                  <a:lnTo>
                    <a:pt x="287358" y="126565"/>
                  </a:lnTo>
                  <a:lnTo>
                    <a:pt x="325537" y="101236"/>
                  </a:lnTo>
                  <a:lnTo>
                    <a:pt x="365452" y="78454"/>
                  </a:lnTo>
                  <a:lnTo>
                    <a:pt x="406988" y="58334"/>
                  </a:lnTo>
                  <a:lnTo>
                    <a:pt x="450029" y="40991"/>
                  </a:lnTo>
                  <a:lnTo>
                    <a:pt x="494460" y="26543"/>
                  </a:lnTo>
                  <a:lnTo>
                    <a:pt x="540164" y="15104"/>
                  </a:lnTo>
                  <a:lnTo>
                    <a:pt x="587027" y="6790"/>
                  </a:lnTo>
                  <a:lnTo>
                    <a:pt x="634932" y="1716"/>
                  </a:lnTo>
                  <a:lnTo>
                    <a:pt x="683763" y="0"/>
                  </a:lnTo>
                  <a:lnTo>
                    <a:pt x="7591435" y="0"/>
                  </a:lnTo>
                  <a:lnTo>
                    <a:pt x="7640681" y="1774"/>
                  </a:lnTo>
                  <a:lnTo>
                    <a:pt x="7689385" y="7049"/>
                  </a:lnTo>
                  <a:lnTo>
                    <a:pt x="7737376" y="15753"/>
                  </a:lnTo>
                  <a:lnTo>
                    <a:pt x="7784481" y="27815"/>
                  </a:lnTo>
                  <a:lnTo>
                    <a:pt x="7830528" y="43164"/>
                  </a:lnTo>
                  <a:lnTo>
                    <a:pt x="7875345" y="61727"/>
                  </a:lnTo>
                  <a:lnTo>
                    <a:pt x="7918758" y="83434"/>
                  </a:lnTo>
                  <a:lnTo>
                    <a:pt x="7960595" y="108213"/>
                  </a:lnTo>
                  <a:lnTo>
                    <a:pt x="8000685" y="135993"/>
                  </a:lnTo>
                  <a:lnTo>
                    <a:pt x="8038854" y="166702"/>
                  </a:lnTo>
                  <a:lnTo>
                    <a:pt x="8074930" y="200269"/>
                  </a:lnTo>
                  <a:lnTo>
                    <a:pt x="8108497" y="236345"/>
                  </a:lnTo>
                  <a:lnTo>
                    <a:pt x="8139206" y="274514"/>
                  </a:lnTo>
                  <a:lnTo>
                    <a:pt x="8166986" y="314604"/>
                  </a:lnTo>
                  <a:lnTo>
                    <a:pt x="8191765" y="356441"/>
                  </a:lnTo>
                  <a:lnTo>
                    <a:pt x="8213472" y="399855"/>
                  </a:lnTo>
                  <a:lnTo>
                    <a:pt x="8232035" y="444671"/>
                  </a:lnTo>
                  <a:lnTo>
                    <a:pt x="8247384" y="490718"/>
                  </a:lnTo>
                  <a:lnTo>
                    <a:pt x="8259446" y="537823"/>
                  </a:lnTo>
                  <a:lnTo>
                    <a:pt x="8268150" y="585814"/>
                  </a:lnTo>
                  <a:lnTo>
                    <a:pt x="8273425" y="634518"/>
                  </a:lnTo>
                  <a:lnTo>
                    <a:pt x="8275199" y="683763"/>
                  </a:lnTo>
                  <a:lnTo>
                    <a:pt x="8275199" y="3418736"/>
                  </a:lnTo>
                  <a:lnTo>
                    <a:pt x="8273483" y="3467567"/>
                  </a:lnTo>
                  <a:lnTo>
                    <a:pt x="8268409" y="3515472"/>
                  </a:lnTo>
                  <a:lnTo>
                    <a:pt x="8260095" y="3562335"/>
                  </a:lnTo>
                  <a:lnTo>
                    <a:pt x="8248656" y="3608039"/>
                  </a:lnTo>
                  <a:lnTo>
                    <a:pt x="8234208" y="3652470"/>
                  </a:lnTo>
                  <a:lnTo>
                    <a:pt x="8216865" y="3695511"/>
                  </a:lnTo>
                  <a:lnTo>
                    <a:pt x="8196745" y="3737047"/>
                  </a:lnTo>
                  <a:lnTo>
                    <a:pt x="8173963" y="3776962"/>
                  </a:lnTo>
                  <a:lnTo>
                    <a:pt x="8148634" y="3815141"/>
                  </a:lnTo>
                  <a:lnTo>
                    <a:pt x="8120874" y="3851467"/>
                  </a:lnTo>
                  <a:lnTo>
                    <a:pt x="8090799" y="3885825"/>
                  </a:lnTo>
                  <a:lnTo>
                    <a:pt x="8058525" y="3918099"/>
                  </a:lnTo>
                  <a:lnTo>
                    <a:pt x="8024167" y="3948174"/>
                  </a:lnTo>
                  <a:lnTo>
                    <a:pt x="7987841" y="3975934"/>
                  </a:lnTo>
                  <a:lnTo>
                    <a:pt x="7949662" y="4001263"/>
                  </a:lnTo>
                  <a:lnTo>
                    <a:pt x="7909747" y="4024045"/>
                  </a:lnTo>
                  <a:lnTo>
                    <a:pt x="7868211" y="4044165"/>
                  </a:lnTo>
                  <a:lnTo>
                    <a:pt x="7825170" y="4061508"/>
                  </a:lnTo>
                  <a:lnTo>
                    <a:pt x="7780739" y="4075956"/>
                  </a:lnTo>
                  <a:lnTo>
                    <a:pt x="7735035" y="4087395"/>
                  </a:lnTo>
                  <a:lnTo>
                    <a:pt x="7688172" y="4095709"/>
                  </a:lnTo>
                  <a:lnTo>
                    <a:pt x="7640267" y="4100783"/>
                  </a:lnTo>
                  <a:lnTo>
                    <a:pt x="7591435" y="4102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4399" y="520500"/>
              <a:ext cx="8275320" cy="4102735"/>
            </a:xfrm>
            <a:custGeom>
              <a:avLst/>
              <a:gdLst/>
              <a:ahLst/>
              <a:cxnLst/>
              <a:rect l="l" t="t" r="r" b="b"/>
              <a:pathLst>
                <a:path w="8275320" h="4102735">
                  <a:moveTo>
                    <a:pt x="0" y="683763"/>
                  </a:moveTo>
                  <a:lnTo>
                    <a:pt x="1716" y="634932"/>
                  </a:lnTo>
                  <a:lnTo>
                    <a:pt x="6790" y="587027"/>
                  </a:lnTo>
                  <a:lnTo>
                    <a:pt x="15104" y="540164"/>
                  </a:lnTo>
                  <a:lnTo>
                    <a:pt x="26543" y="494460"/>
                  </a:lnTo>
                  <a:lnTo>
                    <a:pt x="40991" y="450029"/>
                  </a:lnTo>
                  <a:lnTo>
                    <a:pt x="58334" y="406988"/>
                  </a:lnTo>
                  <a:lnTo>
                    <a:pt x="78454" y="365452"/>
                  </a:lnTo>
                  <a:lnTo>
                    <a:pt x="101236" y="325537"/>
                  </a:lnTo>
                  <a:lnTo>
                    <a:pt x="126565" y="287358"/>
                  </a:lnTo>
                  <a:lnTo>
                    <a:pt x="154325" y="251032"/>
                  </a:lnTo>
                  <a:lnTo>
                    <a:pt x="184400" y="216674"/>
                  </a:lnTo>
                  <a:lnTo>
                    <a:pt x="216674" y="184400"/>
                  </a:lnTo>
                  <a:lnTo>
                    <a:pt x="251032" y="154325"/>
                  </a:lnTo>
                  <a:lnTo>
                    <a:pt x="287358" y="126565"/>
                  </a:lnTo>
                  <a:lnTo>
                    <a:pt x="325537" y="101236"/>
                  </a:lnTo>
                  <a:lnTo>
                    <a:pt x="365452" y="78454"/>
                  </a:lnTo>
                  <a:lnTo>
                    <a:pt x="406988" y="58334"/>
                  </a:lnTo>
                  <a:lnTo>
                    <a:pt x="450029" y="40991"/>
                  </a:lnTo>
                  <a:lnTo>
                    <a:pt x="494460" y="26543"/>
                  </a:lnTo>
                  <a:lnTo>
                    <a:pt x="540164" y="15104"/>
                  </a:lnTo>
                  <a:lnTo>
                    <a:pt x="587027" y="6790"/>
                  </a:lnTo>
                  <a:lnTo>
                    <a:pt x="634932" y="1716"/>
                  </a:lnTo>
                  <a:lnTo>
                    <a:pt x="683763" y="0"/>
                  </a:lnTo>
                  <a:lnTo>
                    <a:pt x="7591435" y="0"/>
                  </a:lnTo>
                  <a:lnTo>
                    <a:pt x="7640681" y="1774"/>
                  </a:lnTo>
                  <a:lnTo>
                    <a:pt x="7689385" y="7049"/>
                  </a:lnTo>
                  <a:lnTo>
                    <a:pt x="7737376" y="15753"/>
                  </a:lnTo>
                  <a:lnTo>
                    <a:pt x="7784481" y="27815"/>
                  </a:lnTo>
                  <a:lnTo>
                    <a:pt x="7830528" y="43164"/>
                  </a:lnTo>
                  <a:lnTo>
                    <a:pt x="7875345" y="61727"/>
                  </a:lnTo>
                  <a:lnTo>
                    <a:pt x="7918758" y="83434"/>
                  </a:lnTo>
                  <a:lnTo>
                    <a:pt x="7960595" y="108213"/>
                  </a:lnTo>
                  <a:lnTo>
                    <a:pt x="8000685" y="135993"/>
                  </a:lnTo>
                  <a:lnTo>
                    <a:pt x="8038854" y="166702"/>
                  </a:lnTo>
                  <a:lnTo>
                    <a:pt x="8074930" y="200269"/>
                  </a:lnTo>
                  <a:lnTo>
                    <a:pt x="8108497" y="236345"/>
                  </a:lnTo>
                  <a:lnTo>
                    <a:pt x="8139206" y="274514"/>
                  </a:lnTo>
                  <a:lnTo>
                    <a:pt x="8166986" y="314604"/>
                  </a:lnTo>
                  <a:lnTo>
                    <a:pt x="8191765" y="356441"/>
                  </a:lnTo>
                  <a:lnTo>
                    <a:pt x="8213472" y="399855"/>
                  </a:lnTo>
                  <a:lnTo>
                    <a:pt x="8232036" y="444671"/>
                  </a:lnTo>
                  <a:lnTo>
                    <a:pt x="8247384" y="490718"/>
                  </a:lnTo>
                  <a:lnTo>
                    <a:pt x="8259446" y="537823"/>
                  </a:lnTo>
                  <a:lnTo>
                    <a:pt x="8268150" y="585814"/>
                  </a:lnTo>
                  <a:lnTo>
                    <a:pt x="8273425" y="634518"/>
                  </a:lnTo>
                  <a:lnTo>
                    <a:pt x="8275199" y="683763"/>
                  </a:lnTo>
                  <a:lnTo>
                    <a:pt x="8275199" y="3418736"/>
                  </a:lnTo>
                  <a:lnTo>
                    <a:pt x="8273483" y="3467567"/>
                  </a:lnTo>
                  <a:lnTo>
                    <a:pt x="8268409" y="3515472"/>
                  </a:lnTo>
                  <a:lnTo>
                    <a:pt x="8260095" y="3562335"/>
                  </a:lnTo>
                  <a:lnTo>
                    <a:pt x="8248656" y="3608039"/>
                  </a:lnTo>
                  <a:lnTo>
                    <a:pt x="8234208" y="3652470"/>
                  </a:lnTo>
                  <a:lnTo>
                    <a:pt x="8216865" y="3695511"/>
                  </a:lnTo>
                  <a:lnTo>
                    <a:pt x="8196745" y="3737047"/>
                  </a:lnTo>
                  <a:lnTo>
                    <a:pt x="8173963" y="3776962"/>
                  </a:lnTo>
                  <a:lnTo>
                    <a:pt x="8148634" y="3815141"/>
                  </a:lnTo>
                  <a:lnTo>
                    <a:pt x="8120874" y="3851467"/>
                  </a:lnTo>
                  <a:lnTo>
                    <a:pt x="8090799" y="3885825"/>
                  </a:lnTo>
                  <a:lnTo>
                    <a:pt x="8058525" y="3918099"/>
                  </a:lnTo>
                  <a:lnTo>
                    <a:pt x="8024167" y="3948174"/>
                  </a:lnTo>
                  <a:lnTo>
                    <a:pt x="7987841" y="3975934"/>
                  </a:lnTo>
                  <a:lnTo>
                    <a:pt x="7949662" y="4001263"/>
                  </a:lnTo>
                  <a:lnTo>
                    <a:pt x="7909747" y="4024045"/>
                  </a:lnTo>
                  <a:lnTo>
                    <a:pt x="7868211" y="4044165"/>
                  </a:lnTo>
                  <a:lnTo>
                    <a:pt x="7825170" y="4061508"/>
                  </a:lnTo>
                  <a:lnTo>
                    <a:pt x="7780739" y="4075956"/>
                  </a:lnTo>
                  <a:lnTo>
                    <a:pt x="7735035" y="4087395"/>
                  </a:lnTo>
                  <a:lnTo>
                    <a:pt x="7688172" y="4095709"/>
                  </a:lnTo>
                  <a:lnTo>
                    <a:pt x="7640267" y="4100783"/>
                  </a:lnTo>
                  <a:lnTo>
                    <a:pt x="7591435" y="4102499"/>
                  </a:lnTo>
                  <a:lnTo>
                    <a:pt x="683763" y="4102499"/>
                  </a:lnTo>
                  <a:lnTo>
                    <a:pt x="634932" y="4100783"/>
                  </a:lnTo>
                  <a:lnTo>
                    <a:pt x="587027" y="4095709"/>
                  </a:lnTo>
                  <a:lnTo>
                    <a:pt x="540164" y="4087395"/>
                  </a:lnTo>
                  <a:lnTo>
                    <a:pt x="494460" y="4075956"/>
                  </a:lnTo>
                  <a:lnTo>
                    <a:pt x="450029" y="4061508"/>
                  </a:lnTo>
                  <a:lnTo>
                    <a:pt x="406988" y="4044165"/>
                  </a:lnTo>
                  <a:lnTo>
                    <a:pt x="365452" y="4024045"/>
                  </a:lnTo>
                  <a:lnTo>
                    <a:pt x="325537" y="4001263"/>
                  </a:lnTo>
                  <a:lnTo>
                    <a:pt x="287358" y="3975934"/>
                  </a:lnTo>
                  <a:lnTo>
                    <a:pt x="251032" y="3948174"/>
                  </a:lnTo>
                  <a:lnTo>
                    <a:pt x="216674" y="3918099"/>
                  </a:lnTo>
                  <a:lnTo>
                    <a:pt x="184400" y="3885825"/>
                  </a:lnTo>
                  <a:lnTo>
                    <a:pt x="154325" y="3851467"/>
                  </a:lnTo>
                  <a:lnTo>
                    <a:pt x="126565" y="3815141"/>
                  </a:lnTo>
                  <a:lnTo>
                    <a:pt x="101236" y="3776962"/>
                  </a:lnTo>
                  <a:lnTo>
                    <a:pt x="78454" y="3737047"/>
                  </a:lnTo>
                  <a:lnTo>
                    <a:pt x="58334" y="3695511"/>
                  </a:lnTo>
                  <a:lnTo>
                    <a:pt x="40991" y="3652470"/>
                  </a:lnTo>
                  <a:lnTo>
                    <a:pt x="26543" y="3608039"/>
                  </a:lnTo>
                  <a:lnTo>
                    <a:pt x="15104" y="3562335"/>
                  </a:lnTo>
                  <a:lnTo>
                    <a:pt x="6790" y="3515472"/>
                  </a:lnTo>
                  <a:lnTo>
                    <a:pt x="1716" y="3467567"/>
                  </a:lnTo>
                  <a:lnTo>
                    <a:pt x="0" y="3418736"/>
                  </a:lnTo>
                  <a:lnTo>
                    <a:pt x="0" y="6837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709298"/>
            <a:ext cx="14630400" cy="837772"/>
          </a:xfrm>
          <a:prstGeom prst="rect">
            <a:avLst/>
          </a:prstGeom>
        </p:spPr>
        <p:txBody>
          <a:bodyPr vert="horz" wrap="square" lIns="0" tIns="38269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715192">
              <a:spcBef>
                <a:spcPts val="133"/>
              </a:spcBef>
            </a:pPr>
            <a:r>
              <a:rPr sz="2933" dirty="0"/>
              <a:t>What</a:t>
            </a:r>
            <a:r>
              <a:rPr sz="2933" spc="-27" dirty="0"/>
              <a:t> </a:t>
            </a:r>
            <a:r>
              <a:rPr sz="2933" dirty="0"/>
              <a:t>is</a:t>
            </a:r>
            <a:r>
              <a:rPr sz="2933" spc="-20" dirty="0"/>
              <a:t> </a:t>
            </a:r>
            <a:r>
              <a:rPr sz="2933" dirty="0"/>
              <a:t>excluded</a:t>
            </a:r>
            <a:r>
              <a:rPr sz="2933" spc="-27" dirty="0"/>
              <a:t> </a:t>
            </a:r>
            <a:r>
              <a:rPr sz="2933" dirty="0"/>
              <a:t>from</a:t>
            </a:r>
            <a:r>
              <a:rPr sz="2933" spc="-20" dirty="0"/>
              <a:t> </a:t>
            </a:r>
            <a:r>
              <a:rPr sz="2933" dirty="0"/>
              <a:t>the</a:t>
            </a:r>
            <a:r>
              <a:rPr sz="2933" spc="-20" dirty="0"/>
              <a:t> </a:t>
            </a:r>
            <a:r>
              <a:rPr sz="2933" spc="-13" dirty="0"/>
              <a:t>corpus?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434199" y="2195168"/>
            <a:ext cx="7323667" cy="3190240"/>
            <a:chOff x="1825649" y="1646376"/>
            <a:chExt cx="5492750" cy="2392680"/>
          </a:xfrm>
        </p:grpSpPr>
        <p:sp>
          <p:nvSpPr>
            <p:cNvPr id="7" name="object 7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1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44699" y="3431972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4699" y="3431972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44138" y="2389444"/>
            <a:ext cx="6498167" cy="284883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387" algn="ctr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Characterizing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excluded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documents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6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Which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demographic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identities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are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excluded?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3200">
              <a:latin typeface="Arial"/>
              <a:cs typeface="Arial"/>
            </a:endParaRPr>
          </a:p>
          <a:p>
            <a:pPr marL="3387" algn="ctr"/>
            <a:r>
              <a:rPr sz="2400" dirty="0">
                <a:latin typeface="Arial"/>
                <a:cs typeface="Arial"/>
              </a:rPr>
              <a:t>Whose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English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included?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12C7320-8AFC-45C8-813C-32E0208AEE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70</a:t>
            </a:fld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680006"/>
            <a:ext cx="840486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Which</a:t>
            </a:r>
            <a:r>
              <a:rPr spc="-13" dirty="0"/>
              <a:t> </a:t>
            </a:r>
            <a:r>
              <a:rPr dirty="0"/>
              <a:t>demographic</a:t>
            </a:r>
            <a:r>
              <a:rPr spc="-7" dirty="0"/>
              <a:t> </a:t>
            </a:r>
            <a:r>
              <a:rPr dirty="0"/>
              <a:t>identities</a:t>
            </a:r>
            <a:r>
              <a:rPr spc="-13" dirty="0"/>
              <a:t> </a:t>
            </a:r>
            <a:r>
              <a:rPr dirty="0"/>
              <a:t>are</a:t>
            </a:r>
            <a:r>
              <a:rPr spc="-7" dirty="0"/>
              <a:t> </a:t>
            </a:r>
            <a:r>
              <a:rPr spc="-13" dirty="0"/>
              <a:t>excluded?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9717" y="2147849"/>
            <a:ext cx="7026487" cy="3158067"/>
            <a:chOff x="194787" y="1610887"/>
            <a:chExt cx="5269865" cy="2368550"/>
          </a:xfrm>
        </p:grpSpPr>
        <p:sp>
          <p:nvSpPr>
            <p:cNvPr id="4" name="object 4"/>
            <p:cNvSpPr/>
            <p:nvPr/>
          </p:nvSpPr>
          <p:spPr>
            <a:xfrm>
              <a:off x="199550" y="1615650"/>
              <a:ext cx="5260340" cy="2359025"/>
            </a:xfrm>
            <a:custGeom>
              <a:avLst/>
              <a:gdLst/>
              <a:ahLst/>
              <a:cxnLst/>
              <a:rect l="l" t="t" r="r" b="b"/>
              <a:pathLst>
                <a:path w="5260340" h="2359025">
                  <a:moveTo>
                    <a:pt x="4866792" y="2358599"/>
                  </a:moveTo>
                  <a:lnTo>
                    <a:pt x="393107" y="2358599"/>
                  </a:lnTo>
                  <a:lnTo>
                    <a:pt x="343797" y="2355537"/>
                  </a:lnTo>
                  <a:lnTo>
                    <a:pt x="296314" y="2346594"/>
                  </a:lnTo>
                  <a:lnTo>
                    <a:pt x="251027" y="2332139"/>
                  </a:lnTo>
                  <a:lnTo>
                    <a:pt x="208305" y="2312541"/>
                  </a:lnTo>
                  <a:lnTo>
                    <a:pt x="168516" y="2288168"/>
                  </a:lnTo>
                  <a:lnTo>
                    <a:pt x="132029" y="2259388"/>
                  </a:lnTo>
                  <a:lnTo>
                    <a:pt x="99211" y="2226570"/>
                  </a:lnTo>
                  <a:lnTo>
                    <a:pt x="70431" y="2190083"/>
                  </a:lnTo>
                  <a:lnTo>
                    <a:pt x="46058" y="2150294"/>
                  </a:lnTo>
                  <a:lnTo>
                    <a:pt x="26460" y="2107572"/>
                  </a:lnTo>
                  <a:lnTo>
                    <a:pt x="12005" y="2062285"/>
                  </a:lnTo>
                  <a:lnTo>
                    <a:pt x="3062" y="2014802"/>
                  </a:lnTo>
                  <a:lnTo>
                    <a:pt x="0" y="1965492"/>
                  </a:lnTo>
                  <a:lnTo>
                    <a:pt x="0" y="393107"/>
                  </a:lnTo>
                  <a:lnTo>
                    <a:pt x="3062" y="343797"/>
                  </a:lnTo>
                  <a:lnTo>
                    <a:pt x="12005" y="296314"/>
                  </a:lnTo>
                  <a:lnTo>
                    <a:pt x="26460" y="251027"/>
                  </a:lnTo>
                  <a:lnTo>
                    <a:pt x="46058" y="208305"/>
                  </a:lnTo>
                  <a:lnTo>
                    <a:pt x="70431" y="168516"/>
                  </a:lnTo>
                  <a:lnTo>
                    <a:pt x="99211" y="132029"/>
                  </a:lnTo>
                  <a:lnTo>
                    <a:pt x="132029" y="99211"/>
                  </a:lnTo>
                  <a:lnTo>
                    <a:pt x="168516" y="70431"/>
                  </a:lnTo>
                  <a:lnTo>
                    <a:pt x="208305" y="46058"/>
                  </a:lnTo>
                  <a:lnTo>
                    <a:pt x="251027" y="26460"/>
                  </a:lnTo>
                  <a:lnTo>
                    <a:pt x="296314" y="12005"/>
                  </a:lnTo>
                  <a:lnTo>
                    <a:pt x="343797" y="3062"/>
                  </a:lnTo>
                  <a:lnTo>
                    <a:pt x="393107" y="0"/>
                  </a:lnTo>
                  <a:lnTo>
                    <a:pt x="4866792" y="0"/>
                  </a:lnTo>
                  <a:lnTo>
                    <a:pt x="4918463" y="3409"/>
                  </a:lnTo>
                  <a:lnTo>
                    <a:pt x="4968812" y="13468"/>
                  </a:lnTo>
                  <a:lnTo>
                    <a:pt x="5017228" y="29923"/>
                  </a:lnTo>
                  <a:lnTo>
                    <a:pt x="5063098" y="52522"/>
                  </a:lnTo>
                  <a:lnTo>
                    <a:pt x="5105813" y="81011"/>
                  </a:lnTo>
                  <a:lnTo>
                    <a:pt x="5144761" y="115138"/>
                  </a:lnTo>
                  <a:lnTo>
                    <a:pt x="5178887" y="154086"/>
                  </a:lnTo>
                  <a:lnTo>
                    <a:pt x="5207377" y="196801"/>
                  </a:lnTo>
                  <a:lnTo>
                    <a:pt x="5229976" y="242672"/>
                  </a:lnTo>
                  <a:lnTo>
                    <a:pt x="5246431" y="291087"/>
                  </a:lnTo>
                  <a:lnTo>
                    <a:pt x="5256490" y="341436"/>
                  </a:lnTo>
                  <a:lnTo>
                    <a:pt x="5259899" y="393107"/>
                  </a:lnTo>
                  <a:lnTo>
                    <a:pt x="5259899" y="1965492"/>
                  </a:lnTo>
                  <a:lnTo>
                    <a:pt x="5256837" y="2014802"/>
                  </a:lnTo>
                  <a:lnTo>
                    <a:pt x="5247894" y="2062285"/>
                  </a:lnTo>
                  <a:lnTo>
                    <a:pt x="5233439" y="2107572"/>
                  </a:lnTo>
                  <a:lnTo>
                    <a:pt x="5213841" y="2150294"/>
                  </a:lnTo>
                  <a:lnTo>
                    <a:pt x="5189468" y="2190083"/>
                  </a:lnTo>
                  <a:lnTo>
                    <a:pt x="5160688" y="2226570"/>
                  </a:lnTo>
                  <a:lnTo>
                    <a:pt x="5127870" y="2259388"/>
                  </a:lnTo>
                  <a:lnTo>
                    <a:pt x="5091383" y="2288168"/>
                  </a:lnTo>
                  <a:lnTo>
                    <a:pt x="5051594" y="2312541"/>
                  </a:lnTo>
                  <a:lnTo>
                    <a:pt x="5008872" y="2332139"/>
                  </a:lnTo>
                  <a:lnTo>
                    <a:pt x="4963585" y="2346594"/>
                  </a:lnTo>
                  <a:lnTo>
                    <a:pt x="4916102" y="2355537"/>
                  </a:lnTo>
                  <a:lnTo>
                    <a:pt x="4866792" y="2358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9550" y="1615650"/>
              <a:ext cx="5260340" cy="2359025"/>
            </a:xfrm>
            <a:custGeom>
              <a:avLst/>
              <a:gdLst/>
              <a:ahLst/>
              <a:cxnLst/>
              <a:rect l="l" t="t" r="r" b="b"/>
              <a:pathLst>
                <a:path w="5260340" h="2359025">
                  <a:moveTo>
                    <a:pt x="0" y="393107"/>
                  </a:moveTo>
                  <a:lnTo>
                    <a:pt x="3062" y="343797"/>
                  </a:lnTo>
                  <a:lnTo>
                    <a:pt x="12005" y="296314"/>
                  </a:lnTo>
                  <a:lnTo>
                    <a:pt x="26460" y="251027"/>
                  </a:lnTo>
                  <a:lnTo>
                    <a:pt x="46058" y="208305"/>
                  </a:lnTo>
                  <a:lnTo>
                    <a:pt x="70431" y="168516"/>
                  </a:lnTo>
                  <a:lnTo>
                    <a:pt x="99211" y="132029"/>
                  </a:lnTo>
                  <a:lnTo>
                    <a:pt x="132029" y="99211"/>
                  </a:lnTo>
                  <a:lnTo>
                    <a:pt x="168516" y="70431"/>
                  </a:lnTo>
                  <a:lnTo>
                    <a:pt x="208305" y="46058"/>
                  </a:lnTo>
                  <a:lnTo>
                    <a:pt x="251027" y="26460"/>
                  </a:lnTo>
                  <a:lnTo>
                    <a:pt x="296314" y="12005"/>
                  </a:lnTo>
                  <a:lnTo>
                    <a:pt x="343797" y="3062"/>
                  </a:lnTo>
                  <a:lnTo>
                    <a:pt x="393107" y="0"/>
                  </a:lnTo>
                  <a:lnTo>
                    <a:pt x="4866792" y="0"/>
                  </a:lnTo>
                  <a:lnTo>
                    <a:pt x="4918463" y="3409"/>
                  </a:lnTo>
                  <a:lnTo>
                    <a:pt x="4968812" y="13468"/>
                  </a:lnTo>
                  <a:lnTo>
                    <a:pt x="5017228" y="29923"/>
                  </a:lnTo>
                  <a:lnTo>
                    <a:pt x="5063098" y="52522"/>
                  </a:lnTo>
                  <a:lnTo>
                    <a:pt x="5105813" y="81011"/>
                  </a:lnTo>
                  <a:lnTo>
                    <a:pt x="5144761" y="115138"/>
                  </a:lnTo>
                  <a:lnTo>
                    <a:pt x="5178887" y="154086"/>
                  </a:lnTo>
                  <a:lnTo>
                    <a:pt x="5207377" y="196801"/>
                  </a:lnTo>
                  <a:lnTo>
                    <a:pt x="5229976" y="242672"/>
                  </a:lnTo>
                  <a:lnTo>
                    <a:pt x="5246431" y="291087"/>
                  </a:lnTo>
                  <a:lnTo>
                    <a:pt x="5256490" y="341436"/>
                  </a:lnTo>
                  <a:lnTo>
                    <a:pt x="5259899" y="393107"/>
                  </a:lnTo>
                  <a:lnTo>
                    <a:pt x="5259899" y="1965492"/>
                  </a:lnTo>
                  <a:lnTo>
                    <a:pt x="5256837" y="2014802"/>
                  </a:lnTo>
                  <a:lnTo>
                    <a:pt x="5247894" y="2062285"/>
                  </a:lnTo>
                  <a:lnTo>
                    <a:pt x="5233439" y="2107572"/>
                  </a:lnTo>
                  <a:lnTo>
                    <a:pt x="5213841" y="2150294"/>
                  </a:lnTo>
                  <a:lnTo>
                    <a:pt x="5189468" y="2190083"/>
                  </a:lnTo>
                  <a:lnTo>
                    <a:pt x="5160688" y="2226570"/>
                  </a:lnTo>
                  <a:lnTo>
                    <a:pt x="5127870" y="2259388"/>
                  </a:lnTo>
                  <a:lnTo>
                    <a:pt x="5091383" y="2288168"/>
                  </a:lnTo>
                  <a:lnTo>
                    <a:pt x="5051594" y="2312541"/>
                  </a:lnTo>
                  <a:lnTo>
                    <a:pt x="5008872" y="2332139"/>
                  </a:lnTo>
                  <a:lnTo>
                    <a:pt x="4963585" y="2346594"/>
                  </a:lnTo>
                  <a:lnTo>
                    <a:pt x="4916102" y="2355537"/>
                  </a:lnTo>
                  <a:lnTo>
                    <a:pt x="4866792" y="2358599"/>
                  </a:lnTo>
                  <a:lnTo>
                    <a:pt x="393107" y="2358599"/>
                  </a:lnTo>
                  <a:lnTo>
                    <a:pt x="343797" y="2355537"/>
                  </a:lnTo>
                  <a:lnTo>
                    <a:pt x="296314" y="2346594"/>
                  </a:lnTo>
                  <a:lnTo>
                    <a:pt x="251027" y="2332139"/>
                  </a:lnTo>
                  <a:lnTo>
                    <a:pt x="208305" y="2312541"/>
                  </a:lnTo>
                  <a:lnTo>
                    <a:pt x="168516" y="2288168"/>
                  </a:lnTo>
                  <a:lnTo>
                    <a:pt x="132029" y="2259388"/>
                  </a:lnTo>
                  <a:lnTo>
                    <a:pt x="99211" y="2226570"/>
                  </a:lnTo>
                  <a:lnTo>
                    <a:pt x="70431" y="2190083"/>
                  </a:lnTo>
                  <a:lnTo>
                    <a:pt x="46058" y="2150294"/>
                  </a:lnTo>
                  <a:lnTo>
                    <a:pt x="26460" y="2107572"/>
                  </a:lnTo>
                  <a:lnTo>
                    <a:pt x="12005" y="2062285"/>
                  </a:lnTo>
                  <a:lnTo>
                    <a:pt x="3062" y="2014802"/>
                  </a:lnTo>
                  <a:lnTo>
                    <a:pt x="0" y="1965492"/>
                  </a:lnTo>
                  <a:lnTo>
                    <a:pt x="0" y="39310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849" y="1897800"/>
              <a:ext cx="4686935" cy="732790"/>
            </a:xfrm>
            <a:custGeom>
              <a:avLst/>
              <a:gdLst/>
              <a:ahLst/>
              <a:cxnLst/>
              <a:rect l="l" t="t" r="r" b="b"/>
              <a:pathLst>
                <a:path w="4686935" h="732789">
                  <a:moveTo>
                    <a:pt x="4564847" y="732299"/>
                  </a:moveTo>
                  <a:lnTo>
                    <a:pt x="122052" y="732299"/>
                  </a:lnTo>
                  <a:lnTo>
                    <a:pt x="74544" y="722708"/>
                  </a:lnTo>
                  <a:lnTo>
                    <a:pt x="35748" y="696551"/>
                  </a:lnTo>
                  <a:lnTo>
                    <a:pt x="9591" y="657755"/>
                  </a:lnTo>
                  <a:lnTo>
                    <a:pt x="0" y="610247"/>
                  </a:lnTo>
                  <a:lnTo>
                    <a:pt x="0" y="122052"/>
                  </a:lnTo>
                  <a:lnTo>
                    <a:pt x="9591" y="74544"/>
                  </a:lnTo>
                  <a:lnTo>
                    <a:pt x="35748" y="35748"/>
                  </a:lnTo>
                  <a:lnTo>
                    <a:pt x="74544" y="9591"/>
                  </a:lnTo>
                  <a:lnTo>
                    <a:pt x="122052" y="0"/>
                  </a:lnTo>
                  <a:lnTo>
                    <a:pt x="4564847" y="0"/>
                  </a:lnTo>
                  <a:lnTo>
                    <a:pt x="4611555" y="9290"/>
                  </a:lnTo>
                  <a:lnTo>
                    <a:pt x="4651151" y="35748"/>
                  </a:lnTo>
                  <a:lnTo>
                    <a:pt x="4677609" y="75344"/>
                  </a:lnTo>
                  <a:lnTo>
                    <a:pt x="4686899" y="122052"/>
                  </a:lnTo>
                  <a:lnTo>
                    <a:pt x="4686899" y="610247"/>
                  </a:lnTo>
                  <a:lnTo>
                    <a:pt x="4677308" y="657755"/>
                  </a:lnTo>
                  <a:lnTo>
                    <a:pt x="4651151" y="696551"/>
                  </a:lnTo>
                  <a:lnTo>
                    <a:pt x="4612355" y="722708"/>
                  </a:lnTo>
                  <a:lnTo>
                    <a:pt x="4564847" y="7322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849" y="1897800"/>
              <a:ext cx="4686935" cy="732790"/>
            </a:xfrm>
            <a:custGeom>
              <a:avLst/>
              <a:gdLst/>
              <a:ahLst/>
              <a:cxnLst/>
              <a:rect l="l" t="t" r="r" b="b"/>
              <a:pathLst>
                <a:path w="4686935" h="732789">
                  <a:moveTo>
                    <a:pt x="0" y="122052"/>
                  </a:moveTo>
                  <a:lnTo>
                    <a:pt x="9591" y="74544"/>
                  </a:lnTo>
                  <a:lnTo>
                    <a:pt x="35748" y="35748"/>
                  </a:lnTo>
                  <a:lnTo>
                    <a:pt x="74544" y="9591"/>
                  </a:lnTo>
                  <a:lnTo>
                    <a:pt x="122052" y="0"/>
                  </a:lnTo>
                  <a:lnTo>
                    <a:pt x="4564847" y="0"/>
                  </a:lnTo>
                  <a:lnTo>
                    <a:pt x="4611555" y="9290"/>
                  </a:lnTo>
                  <a:lnTo>
                    <a:pt x="4651151" y="35748"/>
                  </a:lnTo>
                  <a:lnTo>
                    <a:pt x="4677609" y="75344"/>
                  </a:lnTo>
                  <a:lnTo>
                    <a:pt x="4686899" y="122052"/>
                  </a:lnTo>
                  <a:lnTo>
                    <a:pt x="4686899" y="610247"/>
                  </a:lnTo>
                  <a:lnTo>
                    <a:pt x="4677308" y="657755"/>
                  </a:lnTo>
                  <a:lnTo>
                    <a:pt x="4651151" y="696551"/>
                  </a:lnTo>
                  <a:lnTo>
                    <a:pt x="4612355" y="722708"/>
                  </a:lnTo>
                  <a:lnTo>
                    <a:pt x="4564847" y="732299"/>
                  </a:lnTo>
                  <a:lnTo>
                    <a:pt x="122052" y="732299"/>
                  </a:lnTo>
                  <a:lnTo>
                    <a:pt x="74544" y="722708"/>
                  </a:lnTo>
                  <a:lnTo>
                    <a:pt x="35748" y="696551"/>
                  </a:lnTo>
                  <a:lnTo>
                    <a:pt x="9591" y="657755"/>
                  </a:lnTo>
                  <a:lnTo>
                    <a:pt x="0" y="610247"/>
                  </a:lnTo>
                  <a:lnTo>
                    <a:pt x="0" y="12205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91575" y="1939900"/>
              <a:ext cx="1478280" cy="328930"/>
            </a:xfrm>
            <a:custGeom>
              <a:avLst/>
              <a:gdLst/>
              <a:ahLst/>
              <a:cxnLst/>
              <a:rect l="l" t="t" r="r" b="b"/>
              <a:pathLst>
                <a:path w="1478279" h="328930">
                  <a:moveTo>
                    <a:pt x="0" y="0"/>
                  </a:moveTo>
                  <a:lnTo>
                    <a:pt x="1477799" y="0"/>
                  </a:lnTo>
                  <a:lnTo>
                    <a:pt x="1477799" y="328499"/>
                  </a:lnTo>
                  <a:lnTo>
                    <a:pt x="0" y="3284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2849" y="2805000"/>
              <a:ext cx="4686935" cy="883285"/>
            </a:xfrm>
            <a:custGeom>
              <a:avLst/>
              <a:gdLst/>
              <a:ahLst/>
              <a:cxnLst/>
              <a:rect l="l" t="t" r="r" b="b"/>
              <a:pathLst>
                <a:path w="4686935" h="883285">
                  <a:moveTo>
                    <a:pt x="4539696" y="883199"/>
                  </a:move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6"/>
                  </a:lnTo>
                  <a:lnTo>
                    <a:pt x="0" y="147202"/>
                  </a:ln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4539696" y="0"/>
                  </a:lnTo>
                  <a:lnTo>
                    <a:pt x="4596029" y="11205"/>
                  </a:lnTo>
                  <a:lnTo>
                    <a:pt x="4643784" y="43114"/>
                  </a:lnTo>
                  <a:lnTo>
                    <a:pt x="4675694" y="90870"/>
                  </a:lnTo>
                  <a:lnTo>
                    <a:pt x="4686899" y="147202"/>
                  </a:lnTo>
                  <a:lnTo>
                    <a:pt x="4686899" y="735996"/>
                  </a:lnTo>
                  <a:lnTo>
                    <a:pt x="4679395" y="782524"/>
                  </a:lnTo>
                  <a:lnTo>
                    <a:pt x="4658498" y="822933"/>
                  </a:lnTo>
                  <a:lnTo>
                    <a:pt x="4626633" y="854798"/>
                  </a:lnTo>
                  <a:lnTo>
                    <a:pt x="4586224" y="875695"/>
                  </a:lnTo>
                  <a:lnTo>
                    <a:pt x="4539696" y="8831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2849" y="2805000"/>
              <a:ext cx="4686935" cy="883285"/>
            </a:xfrm>
            <a:custGeom>
              <a:avLst/>
              <a:gdLst/>
              <a:ahLst/>
              <a:cxnLst/>
              <a:rect l="l" t="t" r="r" b="b"/>
              <a:pathLst>
                <a:path w="4686935" h="883285">
                  <a:moveTo>
                    <a:pt x="0" y="147202"/>
                  </a:move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4539696" y="0"/>
                  </a:lnTo>
                  <a:lnTo>
                    <a:pt x="4596029" y="11205"/>
                  </a:lnTo>
                  <a:lnTo>
                    <a:pt x="4643784" y="43114"/>
                  </a:lnTo>
                  <a:lnTo>
                    <a:pt x="4675694" y="90870"/>
                  </a:lnTo>
                  <a:lnTo>
                    <a:pt x="4686899" y="147202"/>
                  </a:lnTo>
                  <a:lnTo>
                    <a:pt x="4686899" y="735996"/>
                  </a:lnTo>
                  <a:lnTo>
                    <a:pt x="4679395" y="782524"/>
                  </a:lnTo>
                  <a:lnTo>
                    <a:pt x="4658498" y="822933"/>
                  </a:lnTo>
                  <a:lnTo>
                    <a:pt x="4626633" y="854798"/>
                  </a:lnTo>
                  <a:lnTo>
                    <a:pt x="4586224" y="875695"/>
                  </a:lnTo>
                  <a:lnTo>
                    <a:pt x="4539696" y="883199"/>
                  </a:ln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6"/>
                  </a:lnTo>
                  <a:lnTo>
                    <a:pt x="0" y="1472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25319" y="2621174"/>
            <a:ext cx="5819140" cy="1930186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520575" marR="6773" indent="-1389345">
              <a:lnSpc>
                <a:spcPct val="100699"/>
              </a:lnSpc>
              <a:spcBef>
                <a:spcPts val="113"/>
              </a:spcBef>
            </a:pPr>
            <a:r>
              <a:rPr sz="2400" b="1" dirty="0">
                <a:latin typeface="Arial"/>
                <a:cs typeface="Arial"/>
              </a:rPr>
              <a:t>Extracted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frequencies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set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33" dirty="0">
                <a:latin typeface="Arial"/>
                <a:cs typeface="Arial"/>
              </a:rPr>
              <a:t>22 </a:t>
            </a:r>
            <a:r>
              <a:rPr sz="2400" b="1" dirty="0">
                <a:latin typeface="Arial"/>
                <a:cs typeface="Arial"/>
              </a:rPr>
              <a:t>regular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expressions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533">
              <a:latin typeface="Arial"/>
              <a:cs typeface="Arial"/>
            </a:endParaRPr>
          </a:p>
          <a:p>
            <a:pPr marL="16933"/>
            <a:r>
              <a:rPr sz="2400" dirty="0">
                <a:latin typeface="Arial"/>
                <a:cs typeface="Arial"/>
              </a:rPr>
              <a:t>Computed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PMI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(Church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Hanks,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1990)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145650" y="349816"/>
            <a:ext cx="2637367" cy="1190413"/>
            <a:chOff x="6859237" y="262362"/>
            <a:chExt cx="1978025" cy="892810"/>
          </a:xfrm>
        </p:grpSpPr>
        <p:sp>
          <p:nvSpPr>
            <p:cNvPr id="13" name="object 13"/>
            <p:cNvSpPr/>
            <p:nvPr/>
          </p:nvSpPr>
          <p:spPr>
            <a:xfrm>
              <a:off x="6863999" y="267124"/>
              <a:ext cx="1968500" cy="883285"/>
            </a:xfrm>
            <a:custGeom>
              <a:avLst/>
              <a:gdLst/>
              <a:ahLst/>
              <a:cxnLst/>
              <a:rect l="l" t="t" r="r" b="b"/>
              <a:pathLst>
                <a:path w="1968500" h="883285">
                  <a:moveTo>
                    <a:pt x="1821096" y="883199"/>
                  </a:move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7"/>
                  </a:lnTo>
                  <a:lnTo>
                    <a:pt x="0" y="147202"/>
                  </a:ln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1821096" y="0"/>
                  </a:lnTo>
                  <a:lnTo>
                    <a:pt x="1877429" y="11205"/>
                  </a:lnTo>
                  <a:lnTo>
                    <a:pt x="1925184" y="43114"/>
                  </a:lnTo>
                  <a:lnTo>
                    <a:pt x="1957094" y="90870"/>
                  </a:lnTo>
                  <a:lnTo>
                    <a:pt x="1968299" y="147202"/>
                  </a:lnTo>
                  <a:lnTo>
                    <a:pt x="1968299" y="735997"/>
                  </a:lnTo>
                  <a:lnTo>
                    <a:pt x="1960795" y="782524"/>
                  </a:lnTo>
                  <a:lnTo>
                    <a:pt x="1939898" y="822933"/>
                  </a:lnTo>
                  <a:lnTo>
                    <a:pt x="1908033" y="854798"/>
                  </a:lnTo>
                  <a:lnTo>
                    <a:pt x="1867624" y="875695"/>
                  </a:lnTo>
                  <a:lnTo>
                    <a:pt x="1821096" y="883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63999" y="267124"/>
              <a:ext cx="1968500" cy="883285"/>
            </a:xfrm>
            <a:custGeom>
              <a:avLst/>
              <a:gdLst/>
              <a:ahLst/>
              <a:cxnLst/>
              <a:rect l="l" t="t" r="r" b="b"/>
              <a:pathLst>
                <a:path w="1968500" h="883285">
                  <a:moveTo>
                    <a:pt x="0" y="147202"/>
                  </a:move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1821096" y="0"/>
                  </a:lnTo>
                  <a:lnTo>
                    <a:pt x="1877429" y="11205"/>
                  </a:lnTo>
                  <a:lnTo>
                    <a:pt x="1925184" y="43114"/>
                  </a:lnTo>
                  <a:lnTo>
                    <a:pt x="1957094" y="90870"/>
                  </a:lnTo>
                  <a:lnTo>
                    <a:pt x="1968299" y="147202"/>
                  </a:lnTo>
                  <a:lnTo>
                    <a:pt x="1968299" y="735997"/>
                  </a:lnTo>
                  <a:lnTo>
                    <a:pt x="1960795" y="782524"/>
                  </a:lnTo>
                  <a:lnTo>
                    <a:pt x="1939898" y="822933"/>
                  </a:lnTo>
                  <a:lnTo>
                    <a:pt x="1908033" y="854798"/>
                  </a:lnTo>
                  <a:lnTo>
                    <a:pt x="1867624" y="875695"/>
                  </a:lnTo>
                  <a:lnTo>
                    <a:pt x="1821096" y="883199"/>
                  </a:ln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7"/>
                  </a:lnTo>
                  <a:lnTo>
                    <a:pt x="0" y="1472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354453" y="359749"/>
            <a:ext cx="2217419" cy="114646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2540" algn="ctr">
              <a:lnSpc>
                <a:spcPts val="2200"/>
              </a:lnSpc>
              <a:spcBef>
                <a:spcPts val="240"/>
              </a:spcBef>
            </a:pPr>
            <a:r>
              <a:rPr sz="1867" b="1" dirty="0">
                <a:latin typeface="Arial"/>
                <a:cs typeface="Arial"/>
              </a:rPr>
              <a:t>Gender</a:t>
            </a:r>
            <a:r>
              <a:rPr sz="1867" b="1" spc="-53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identity </a:t>
            </a:r>
            <a:r>
              <a:rPr sz="1867" b="1" dirty="0">
                <a:latin typeface="Arial"/>
                <a:cs typeface="Arial"/>
              </a:rPr>
              <a:t>Sexual</a:t>
            </a:r>
            <a:r>
              <a:rPr sz="1867" b="1" spc="-4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orientatixon </a:t>
            </a:r>
            <a:r>
              <a:rPr sz="1867" b="1" spc="-27" dirty="0">
                <a:latin typeface="Arial"/>
                <a:cs typeface="Arial"/>
              </a:rPr>
              <a:t>Race</a:t>
            </a:r>
            <a:endParaRPr sz="1867">
              <a:latin typeface="Arial"/>
              <a:cs typeface="Arial"/>
            </a:endParaRPr>
          </a:p>
          <a:p>
            <a:pPr marL="847" algn="ctr">
              <a:lnSpc>
                <a:spcPts val="2133"/>
              </a:lnSpc>
            </a:pPr>
            <a:r>
              <a:rPr sz="1867" b="1" spc="-13" dirty="0">
                <a:latin typeface="Arial"/>
                <a:cs typeface="Arial"/>
              </a:rPr>
              <a:t>Religion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64033" y="1676367"/>
            <a:ext cx="5293360" cy="5082539"/>
            <a:chOff x="4548025" y="1257275"/>
            <a:chExt cx="3970020" cy="3811904"/>
          </a:xfrm>
        </p:grpSpPr>
        <p:sp>
          <p:nvSpPr>
            <p:cNvPr id="17" name="object 17"/>
            <p:cNvSpPr/>
            <p:nvPr/>
          </p:nvSpPr>
          <p:spPr>
            <a:xfrm>
              <a:off x="4567075" y="1276325"/>
              <a:ext cx="1395730" cy="3772535"/>
            </a:xfrm>
            <a:custGeom>
              <a:avLst/>
              <a:gdLst/>
              <a:ahLst/>
              <a:cxnLst/>
              <a:rect l="l" t="t" r="r" b="b"/>
              <a:pathLst>
                <a:path w="1395729" h="3772535">
                  <a:moveTo>
                    <a:pt x="44349" y="1007199"/>
                  </a:moveTo>
                  <a:lnTo>
                    <a:pt x="1376649" y="3771999"/>
                  </a:lnTo>
                </a:path>
                <a:path w="1395729" h="3772535">
                  <a:moveTo>
                    <a:pt x="0" y="641399"/>
                  </a:moveTo>
                  <a:lnTo>
                    <a:pt x="1395599" y="0"/>
                  </a:lnTo>
                </a:path>
              </a:pathLst>
            </a:custGeom>
            <a:ln w="3809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5775" y="1322225"/>
              <a:ext cx="2523649" cy="37082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36725" y="1303175"/>
              <a:ext cx="2562225" cy="3746500"/>
            </a:xfrm>
            <a:custGeom>
              <a:avLst/>
              <a:gdLst/>
              <a:ahLst/>
              <a:cxnLst/>
              <a:rect l="l" t="t" r="r" b="b"/>
              <a:pathLst>
                <a:path w="2562225" h="3746500">
                  <a:moveTo>
                    <a:pt x="0" y="0"/>
                  </a:moveTo>
                  <a:lnTo>
                    <a:pt x="2561749" y="0"/>
                  </a:lnTo>
                  <a:lnTo>
                    <a:pt x="2561749" y="3746399"/>
                  </a:lnTo>
                  <a:lnTo>
                    <a:pt x="0" y="374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1155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6538942-9694-4F8F-A81A-84002C5A59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71</a:t>
            </a:fld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717" y="2147849"/>
            <a:ext cx="7026487" cy="3158067"/>
            <a:chOff x="194787" y="1610887"/>
            <a:chExt cx="5269865" cy="2368550"/>
          </a:xfrm>
        </p:grpSpPr>
        <p:sp>
          <p:nvSpPr>
            <p:cNvPr id="3" name="object 3"/>
            <p:cNvSpPr/>
            <p:nvPr/>
          </p:nvSpPr>
          <p:spPr>
            <a:xfrm>
              <a:off x="199550" y="1615650"/>
              <a:ext cx="5260340" cy="2359025"/>
            </a:xfrm>
            <a:custGeom>
              <a:avLst/>
              <a:gdLst/>
              <a:ahLst/>
              <a:cxnLst/>
              <a:rect l="l" t="t" r="r" b="b"/>
              <a:pathLst>
                <a:path w="5260340" h="2359025">
                  <a:moveTo>
                    <a:pt x="4866792" y="2358599"/>
                  </a:moveTo>
                  <a:lnTo>
                    <a:pt x="393107" y="2358599"/>
                  </a:lnTo>
                  <a:lnTo>
                    <a:pt x="343797" y="2355537"/>
                  </a:lnTo>
                  <a:lnTo>
                    <a:pt x="296314" y="2346594"/>
                  </a:lnTo>
                  <a:lnTo>
                    <a:pt x="251027" y="2332139"/>
                  </a:lnTo>
                  <a:lnTo>
                    <a:pt x="208305" y="2312541"/>
                  </a:lnTo>
                  <a:lnTo>
                    <a:pt x="168516" y="2288168"/>
                  </a:lnTo>
                  <a:lnTo>
                    <a:pt x="132029" y="2259388"/>
                  </a:lnTo>
                  <a:lnTo>
                    <a:pt x="99211" y="2226570"/>
                  </a:lnTo>
                  <a:lnTo>
                    <a:pt x="70431" y="2190083"/>
                  </a:lnTo>
                  <a:lnTo>
                    <a:pt x="46058" y="2150294"/>
                  </a:lnTo>
                  <a:lnTo>
                    <a:pt x="26460" y="2107572"/>
                  </a:lnTo>
                  <a:lnTo>
                    <a:pt x="12005" y="2062285"/>
                  </a:lnTo>
                  <a:lnTo>
                    <a:pt x="3062" y="2014802"/>
                  </a:lnTo>
                  <a:lnTo>
                    <a:pt x="0" y="1965492"/>
                  </a:lnTo>
                  <a:lnTo>
                    <a:pt x="0" y="393107"/>
                  </a:lnTo>
                  <a:lnTo>
                    <a:pt x="3062" y="343797"/>
                  </a:lnTo>
                  <a:lnTo>
                    <a:pt x="12005" y="296314"/>
                  </a:lnTo>
                  <a:lnTo>
                    <a:pt x="26460" y="251027"/>
                  </a:lnTo>
                  <a:lnTo>
                    <a:pt x="46058" y="208305"/>
                  </a:lnTo>
                  <a:lnTo>
                    <a:pt x="70431" y="168516"/>
                  </a:lnTo>
                  <a:lnTo>
                    <a:pt x="99211" y="132029"/>
                  </a:lnTo>
                  <a:lnTo>
                    <a:pt x="132029" y="99211"/>
                  </a:lnTo>
                  <a:lnTo>
                    <a:pt x="168516" y="70431"/>
                  </a:lnTo>
                  <a:lnTo>
                    <a:pt x="208305" y="46058"/>
                  </a:lnTo>
                  <a:lnTo>
                    <a:pt x="251027" y="26460"/>
                  </a:lnTo>
                  <a:lnTo>
                    <a:pt x="296314" y="12005"/>
                  </a:lnTo>
                  <a:lnTo>
                    <a:pt x="343797" y="3062"/>
                  </a:lnTo>
                  <a:lnTo>
                    <a:pt x="393107" y="0"/>
                  </a:lnTo>
                  <a:lnTo>
                    <a:pt x="4866792" y="0"/>
                  </a:lnTo>
                  <a:lnTo>
                    <a:pt x="4918463" y="3409"/>
                  </a:lnTo>
                  <a:lnTo>
                    <a:pt x="4968812" y="13468"/>
                  </a:lnTo>
                  <a:lnTo>
                    <a:pt x="5017228" y="29923"/>
                  </a:lnTo>
                  <a:lnTo>
                    <a:pt x="5063098" y="52522"/>
                  </a:lnTo>
                  <a:lnTo>
                    <a:pt x="5105813" y="81011"/>
                  </a:lnTo>
                  <a:lnTo>
                    <a:pt x="5144761" y="115138"/>
                  </a:lnTo>
                  <a:lnTo>
                    <a:pt x="5178887" y="154086"/>
                  </a:lnTo>
                  <a:lnTo>
                    <a:pt x="5207377" y="196801"/>
                  </a:lnTo>
                  <a:lnTo>
                    <a:pt x="5229976" y="242672"/>
                  </a:lnTo>
                  <a:lnTo>
                    <a:pt x="5246431" y="291087"/>
                  </a:lnTo>
                  <a:lnTo>
                    <a:pt x="5256490" y="341436"/>
                  </a:lnTo>
                  <a:lnTo>
                    <a:pt x="5259899" y="393107"/>
                  </a:lnTo>
                  <a:lnTo>
                    <a:pt x="5259899" y="1965492"/>
                  </a:lnTo>
                  <a:lnTo>
                    <a:pt x="5256837" y="2014802"/>
                  </a:lnTo>
                  <a:lnTo>
                    <a:pt x="5247894" y="2062285"/>
                  </a:lnTo>
                  <a:lnTo>
                    <a:pt x="5233439" y="2107572"/>
                  </a:lnTo>
                  <a:lnTo>
                    <a:pt x="5213841" y="2150294"/>
                  </a:lnTo>
                  <a:lnTo>
                    <a:pt x="5189468" y="2190083"/>
                  </a:lnTo>
                  <a:lnTo>
                    <a:pt x="5160688" y="2226570"/>
                  </a:lnTo>
                  <a:lnTo>
                    <a:pt x="5127870" y="2259388"/>
                  </a:lnTo>
                  <a:lnTo>
                    <a:pt x="5091383" y="2288168"/>
                  </a:lnTo>
                  <a:lnTo>
                    <a:pt x="5051594" y="2312541"/>
                  </a:lnTo>
                  <a:lnTo>
                    <a:pt x="5008872" y="2332139"/>
                  </a:lnTo>
                  <a:lnTo>
                    <a:pt x="4963585" y="2346594"/>
                  </a:lnTo>
                  <a:lnTo>
                    <a:pt x="4916102" y="2355537"/>
                  </a:lnTo>
                  <a:lnTo>
                    <a:pt x="4866792" y="2358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9550" y="1615650"/>
              <a:ext cx="5260340" cy="2359025"/>
            </a:xfrm>
            <a:custGeom>
              <a:avLst/>
              <a:gdLst/>
              <a:ahLst/>
              <a:cxnLst/>
              <a:rect l="l" t="t" r="r" b="b"/>
              <a:pathLst>
                <a:path w="5260340" h="2359025">
                  <a:moveTo>
                    <a:pt x="0" y="393107"/>
                  </a:moveTo>
                  <a:lnTo>
                    <a:pt x="3062" y="343797"/>
                  </a:lnTo>
                  <a:lnTo>
                    <a:pt x="12005" y="296314"/>
                  </a:lnTo>
                  <a:lnTo>
                    <a:pt x="26460" y="251027"/>
                  </a:lnTo>
                  <a:lnTo>
                    <a:pt x="46058" y="208305"/>
                  </a:lnTo>
                  <a:lnTo>
                    <a:pt x="70431" y="168516"/>
                  </a:lnTo>
                  <a:lnTo>
                    <a:pt x="99211" y="132029"/>
                  </a:lnTo>
                  <a:lnTo>
                    <a:pt x="132029" y="99211"/>
                  </a:lnTo>
                  <a:lnTo>
                    <a:pt x="168516" y="70431"/>
                  </a:lnTo>
                  <a:lnTo>
                    <a:pt x="208305" y="46058"/>
                  </a:lnTo>
                  <a:lnTo>
                    <a:pt x="251027" y="26460"/>
                  </a:lnTo>
                  <a:lnTo>
                    <a:pt x="296314" y="12005"/>
                  </a:lnTo>
                  <a:lnTo>
                    <a:pt x="343797" y="3062"/>
                  </a:lnTo>
                  <a:lnTo>
                    <a:pt x="393107" y="0"/>
                  </a:lnTo>
                  <a:lnTo>
                    <a:pt x="4866792" y="0"/>
                  </a:lnTo>
                  <a:lnTo>
                    <a:pt x="4918463" y="3409"/>
                  </a:lnTo>
                  <a:lnTo>
                    <a:pt x="4968812" y="13468"/>
                  </a:lnTo>
                  <a:lnTo>
                    <a:pt x="5017228" y="29923"/>
                  </a:lnTo>
                  <a:lnTo>
                    <a:pt x="5063098" y="52522"/>
                  </a:lnTo>
                  <a:lnTo>
                    <a:pt x="5105813" y="81011"/>
                  </a:lnTo>
                  <a:lnTo>
                    <a:pt x="5144761" y="115138"/>
                  </a:lnTo>
                  <a:lnTo>
                    <a:pt x="5178887" y="154086"/>
                  </a:lnTo>
                  <a:lnTo>
                    <a:pt x="5207377" y="196801"/>
                  </a:lnTo>
                  <a:lnTo>
                    <a:pt x="5229976" y="242672"/>
                  </a:lnTo>
                  <a:lnTo>
                    <a:pt x="5246431" y="291087"/>
                  </a:lnTo>
                  <a:lnTo>
                    <a:pt x="5256490" y="341436"/>
                  </a:lnTo>
                  <a:lnTo>
                    <a:pt x="5259899" y="393107"/>
                  </a:lnTo>
                  <a:lnTo>
                    <a:pt x="5259899" y="1965492"/>
                  </a:lnTo>
                  <a:lnTo>
                    <a:pt x="5256837" y="2014802"/>
                  </a:lnTo>
                  <a:lnTo>
                    <a:pt x="5247894" y="2062285"/>
                  </a:lnTo>
                  <a:lnTo>
                    <a:pt x="5233439" y="2107572"/>
                  </a:lnTo>
                  <a:lnTo>
                    <a:pt x="5213841" y="2150294"/>
                  </a:lnTo>
                  <a:lnTo>
                    <a:pt x="5189468" y="2190083"/>
                  </a:lnTo>
                  <a:lnTo>
                    <a:pt x="5160688" y="2226570"/>
                  </a:lnTo>
                  <a:lnTo>
                    <a:pt x="5127870" y="2259388"/>
                  </a:lnTo>
                  <a:lnTo>
                    <a:pt x="5091383" y="2288168"/>
                  </a:lnTo>
                  <a:lnTo>
                    <a:pt x="5051594" y="2312541"/>
                  </a:lnTo>
                  <a:lnTo>
                    <a:pt x="5008872" y="2332139"/>
                  </a:lnTo>
                  <a:lnTo>
                    <a:pt x="4963585" y="2346594"/>
                  </a:lnTo>
                  <a:lnTo>
                    <a:pt x="4916102" y="2355537"/>
                  </a:lnTo>
                  <a:lnTo>
                    <a:pt x="4866792" y="2358599"/>
                  </a:lnTo>
                  <a:lnTo>
                    <a:pt x="393107" y="2358599"/>
                  </a:lnTo>
                  <a:lnTo>
                    <a:pt x="343797" y="2355537"/>
                  </a:lnTo>
                  <a:lnTo>
                    <a:pt x="296314" y="2346594"/>
                  </a:lnTo>
                  <a:lnTo>
                    <a:pt x="251027" y="2332139"/>
                  </a:lnTo>
                  <a:lnTo>
                    <a:pt x="208305" y="2312541"/>
                  </a:lnTo>
                  <a:lnTo>
                    <a:pt x="168516" y="2288168"/>
                  </a:lnTo>
                  <a:lnTo>
                    <a:pt x="132029" y="2259388"/>
                  </a:lnTo>
                  <a:lnTo>
                    <a:pt x="99211" y="2226570"/>
                  </a:lnTo>
                  <a:lnTo>
                    <a:pt x="70431" y="2190083"/>
                  </a:lnTo>
                  <a:lnTo>
                    <a:pt x="46058" y="2150294"/>
                  </a:lnTo>
                  <a:lnTo>
                    <a:pt x="26460" y="2107572"/>
                  </a:lnTo>
                  <a:lnTo>
                    <a:pt x="12005" y="2062285"/>
                  </a:lnTo>
                  <a:lnTo>
                    <a:pt x="3062" y="2014802"/>
                  </a:lnTo>
                  <a:lnTo>
                    <a:pt x="0" y="1965492"/>
                  </a:lnTo>
                  <a:lnTo>
                    <a:pt x="0" y="39310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849" y="1897800"/>
              <a:ext cx="4686935" cy="732790"/>
            </a:xfrm>
            <a:custGeom>
              <a:avLst/>
              <a:gdLst/>
              <a:ahLst/>
              <a:cxnLst/>
              <a:rect l="l" t="t" r="r" b="b"/>
              <a:pathLst>
                <a:path w="4686935" h="732789">
                  <a:moveTo>
                    <a:pt x="4564847" y="732299"/>
                  </a:moveTo>
                  <a:lnTo>
                    <a:pt x="122052" y="732299"/>
                  </a:lnTo>
                  <a:lnTo>
                    <a:pt x="74544" y="722708"/>
                  </a:lnTo>
                  <a:lnTo>
                    <a:pt x="35748" y="696551"/>
                  </a:lnTo>
                  <a:lnTo>
                    <a:pt x="9591" y="657755"/>
                  </a:lnTo>
                  <a:lnTo>
                    <a:pt x="0" y="610247"/>
                  </a:lnTo>
                  <a:lnTo>
                    <a:pt x="0" y="122052"/>
                  </a:lnTo>
                  <a:lnTo>
                    <a:pt x="9591" y="74544"/>
                  </a:lnTo>
                  <a:lnTo>
                    <a:pt x="35748" y="35748"/>
                  </a:lnTo>
                  <a:lnTo>
                    <a:pt x="74544" y="9591"/>
                  </a:lnTo>
                  <a:lnTo>
                    <a:pt x="122052" y="0"/>
                  </a:lnTo>
                  <a:lnTo>
                    <a:pt x="4564847" y="0"/>
                  </a:lnTo>
                  <a:lnTo>
                    <a:pt x="4611555" y="9290"/>
                  </a:lnTo>
                  <a:lnTo>
                    <a:pt x="4651151" y="35748"/>
                  </a:lnTo>
                  <a:lnTo>
                    <a:pt x="4677609" y="75344"/>
                  </a:lnTo>
                  <a:lnTo>
                    <a:pt x="4686899" y="122052"/>
                  </a:lnTo>
                  <a:lnTo>
                    <a:pt x="4686899" y="610247"/>
                  </a:lnTo>
                  <a:lnTo>
                    <a:pt x="4677308" y="657755"/>
                  </a:lnTo>
                  <a:lnTo>
                    <a:pt x="4651151" y="696551"/>
                  </a:lnTo>
                  <a:lnTo>
                    <a:pt x="4612355" y="722708"/>
                  </a:lnTo>
                  <a:lnTo>
                    <a:pt x="4564847" y="7322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849" y="1897800"/>
              <a:ext cx="4686935" cy="732790"/>
            </a:xfrm>
            <a:custGeom>
              <a:avLst/>
              <a:gdLst/>
              <a:ahLst/>
              <a:cxnLst/>
              <a:rect l="l" t="t" r="r" b="b"/>
              <a:pathLst>
                <a:path w="4686935" h="732789">
                  <a:moveTo>
                    <a:pt x="0" y="122052"/>
                  </a:moveTo>
                  <a:lnTo>
                    <a:pt x="9591" y="74544"/>
                  </a:lnTo>
                  <a:lnTo>
                    <a:pt x="35748" y="35748"/>
                  </a:lnTo>
                  <a:lnTo>
                    <a:pt x="74544" y="9591"/>
                  </a:lnTo>
                  <a:lnTo>
                    <a:pt x="122052" y="0"/>
                  </a:lnTo>
                  <a:lnTo>
                    <a:pt x="4564847" y="0"/>
                  </a:lnTo>
                  <a:lnTo>
                    <a:pt x="4611555" y="9290"/>
                  </a:lnTo>
                  <a:lnTo>
                    <a:pt x="4651151" y="35748"/>
                  </a:lnTo>
                  <a:lnTo>
                    <a:pt x="4677609" y="75344"/>
                  </a:lnTo>
                  <a:lnTo>
                    <a:pt x="4686899" y="122052"/>
                  </a:lnTo>
                  <a:lnTo>
                    <a:pt x="4686899" y="610247"/>
                  </a:lnTo>
                  <a:lnTo>
                    <a:pt x="4677308" y="657755"/>
                  </a:lnTo>
                  <a:lnTo>
                    <a:pt x="4651151" y="696551"/>
                  </a:lnTo>
                  <a:lnTo>
                    <a:pt x="4612355" y="722708"/>
                  </a:lnTo>
                  <a:lnTo>
                    <a:pt x="4564847" y="732299"/>
                  </a:lnTo>
                  <a:lnTo>
                    <a:pt x="122052" y="732299"/>
                  </a:lnTo>
                  <a:lnTo>
                    <a:pt x="74544" y="722708"/>
                  </a:lnTo>
                  <a:lnTo>
                    <a:pt x="35748" y="696551"/>
                  </a:lnTo>
                  <a:lnTo>
                    <a:pt x="9591" y="657755"/>
                  </a:lnTo>
                  <a:lnTo>
                    <a:pt x="0" y="610247"/>
                  </a:lnTo>
                  <a:lnTo>
                    <a:pt x="0" y="1220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2849" y="2805000"/>
              <a:ext cx="4686935" cy="883285"/>
            </a:xfrm>
            <a:custGeom>
              <a:avLst/>
              <a:gdLst/>
              <a:ahLst/>
              <a:cxnLst/>
              <a:rect l="l" t="t" r="r" b="b"/>
              <a:pathLst>
                <a:path w="4686935" h="883285">
                  <a:moveTo>
                    <a:pt x="4539696" y="883199"/>
                  </a:move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6"/>
                  </a:lnTo>
                  <a:lnTo>
                    <a:pt x="0" y="147202"/>
                  </a:ln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4539696" y="0"/>
                  </a:lnTo>
                  <a:lnTo>
                    <a:pt x="4596029" y="11205"/>
                  </a:lnTo>
                  <a:lnTo>
                    <a:pt x="4643784" y="43114"/>
                  </a:lnTo>
                  <a:lnTo>
                    <a:pt x="4675694" y="90870"/>
                  </a:lnTo>
                  <a:lnTo>
                    <a:pt x="4686899" y="147202"/>
                  </a:lnTo>
                  <a:lnTo>
                    <a:pt x="4686899" y="735996"/>
                  </a:lnTo>
                  <a:lnTo>
                    <a:pt x="4679395" y="782524"/>
                  </a:lnTo>
                  <a:lnTo>
                    <a:pt x="4658498" y="822933"/>
                  </a:lnTo>
                  <a:lnTo>
                    <a:pt x="4626633" y="854798"/>
                  </a:lnTo>
                  <a:lnTo>
                    <a:pt x="4586224" y="875695"/>
                  </a:lnTo>
                  <a:lnTo>
                    <a:pt x="4539696" y="8831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849" y="2805000"/>
              <a:ext cx="4686935" cy="883285"/>
            </a:xfrm>
            <a:custGeom>
              <a:avLst/>
              <a:gdLst/>
              <a:ahLst/>
              <a:cxnLst/>
              <a:rect l="l" t="t" r="r" b="b"/>
              <a:pathLst>
                <a:path w="4686935" h="883285">
                  <a:moveTo>
                    <a:pt x="0" y="147202"/>
                  </a:move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4539696" y="0"/>
                  </a:lnTo>
                  <a:lnTo>
                    <a:pt x="4596029" y="11205"/>
                  </a:lnTo>
                  <a:lnTo>
                    <a:pt x="4643784" y="43114"/>
                  </a:lnTo>
                  <a:lnTo>
                    <a:pt x="4675694" y="90870"/>
                  </a:lnTo>
                  <a:lnTo>
                    <a:pt x="4686899" y="147202"/>
                  </a:lnTo>
                  <a:lnTo>
                    <a:pt x="4686899" y="735996"/>
                  </a:lnTo>
                  <a:lnTo>
                    <a:pt x="4679395" y="782524"/>
                  </a:lnTo>
                  <a:lnTo>
                    <a:pt x="4658498" y="822933"/>
                  </a:lnTo>
                  <a:lnTo>
                    <a:pt x="4626633" y="854798"/>
                  </a:lnTo>
                  <a:lnTo>
                    <a:pt x="4586224" y="875695"/>
                  </a:lnTo>
                  <a:lnTo>
                    <a:pt x="4539696" y="883199"/>
                  </a:ln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6"/>
                  </a:lnTo>
                  <a:lnTo>
                    <a:pt x="0" y="14720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25319" y="2621173"/>
            <a:ext cx="5634567" cy="2091449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39106" marR="6773" indent="-1322459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Extracted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frequencies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33" dirty="0">
                <a:latin typeface="Arial"/>
                <a:cs typeface="Arial"/>
              </a:rPr>
              <a:t>22 </a:t>
            </a:r>
            <a:r>
              <a:rPr sz="2400" dirty="0">
                <a:latin typeface="Arial"/>
                <a:cs typeface="Arial"/>
              </a:rPr>
              <a:t>regular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expressions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3867">
              <a:latin typeface="Arial"/>
              <a:cs typeface="Arial"/>
            </a:endParaRPr>
          </a:p>
          <a:p>
            <a:pPr marL="16933" marR="513914">
              <a:lnSpc>
                <a:spcPct val="100699"/>
              </a:lnSpc>
            </a:pPr>
            <a:r>
              <a:rPr sz="2400" b="1" dirty="0">
                <a:latin typeface="Arial"/>
                <a:cs typeface="Arial"/>
              </a:rPr>
              <a:t>Computed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PMI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</a:t>
            </a:r>
            <a:r>
              <a:rPr sz="24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Church</a:t>
            </a:r>
            <a:r>
              <a:rPr sz="2400" b="1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b="1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and</a:t>
            </a:r>
            <a:r>
              <a:rPr sz="2400" b="1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b="1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Hanks,</a:t>
            </a:r>
            <a:r>
              <a:rPr sz="2400" b="1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b="1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1990</a:t>
            </a:r>
            <a:r>
              <a:rPr sz="2400" b="1" spc="-13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12967" y="680006"/>
            <a:ext cx="840486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Which</a:t>
            </a:r>
            <a:r>
              <a:rPr spc="-13" dirty="0"/>
              <a:t> </a:t>
            </a:r>
            <a:r>
              <a:rPr dirty="0"/>
              <a:t>demographic</a:t>
            </a:r>
            <a:r>
              <a:rPr spc="-7" dirty="0"/>
              <a:t> </a:t>
            </a:r>
            <a:r>
              <a:rPr dirty="0"/>
              <a:t>identities</a:t>
            </a:r>
            <a:r>
              <a:rPr spc="-13" dirty="0"/>
              <a:t> </a:t>
            </a:r>
            <a:r>
              <a:rPr dirty="0"/>
              <a:t>are</a:t>
            </a:r>
            <a:r>
              <a:rPr spc="-7" dirty="0"/>
              <a:t> </a:t>
            </a:r>
            <a:r>
              <a:rPr spc="-13" dirty="0"/>
              <a:t>excluded?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9145650" y="349816"/>
            <a:ext cx="2637367" cy="1190413"/>
            <a:chOff x="6859237" y="262362"/>
            <a:chExt cx="1978025" cy="892810"/>
          </a:xfrm>
        </p:grpSpPr>
        <p:sp>
          <p:nvSpPr>
            <p:cNvPr id="12" name="object 12"/>
            <p:cNvSpPr/>
            <p:nvPr/>
          </p:nvSpPr>
          <p:spPr>
            <a:xfrm>
              <a:off x="6863999" y="267124"/>
              <a:ext cx="1968500" cy="883285"/>
            </a:xfrm>
            <a:custGeom>
              <a:avLst/>
              <a:gdLst/>
              <a:ahLst/>
              <a:cxnLst/>
              <a:rect l="l" t="t" r="r" b="b"/>
              <a:pathLst>
                <a:path w="1968500" h="883285">
                  <a:moveTo>
                    <a:pt x="1821096" y="883199"/>
                  </a:move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7"/>
                  </a:lnTo>
                  <a:lnTo>
                    <a:pt x="0" y="147202"/>
                  </a:ln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1821096" y="0"/>
                  </a:lnTo>
                  <a:lnTo>
                    <a:pt x="1877429" y="11205"/>
                  </a:lnTo>
                  <a:lnTo>
                    <a:pt x="1925184" y="43114"/>
                  </a:lnTo>
                  <a:lnTo>
                    <a:pt x="1957094" y="90870"/>
                  </a:lnTo>
                  <a:lnTo>
                    <a:pt x="1968299" y="147202"/>
                  </a:lnTo>
                  <a:lnTo>
                    <a:pt x="1968299" y="735997"/>
                  </a:lnTo>
                  <a:lnTo>
                    <a:pt x="1960795" y="782524"/>
                  </a:lnTo>
                  <a:lnTo>
                    <a:pt x="1939898" y="822933"/>
                  </a:lnTo>
                  <a:lnTo>
                    <a:pt x="1908033" y="854798"/>
                  </a:lnTo>
                  <a:lnTo>
                    <a:pt x="1867624" y="875695"/>
                  </a:lnTo>
                  <a:lnTo>
                    <a:pt x="1821096" y="8831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63999" y="267124"/>
              <a:ext cx="1968500" cy="883285"/>
            </a:xfrm>
            <a:custGeom>
              <a:avLst/>
              <a:gdLst/>
              <a:ahLst/>
              <a:cxnLst/>
              <a:rect l="l" t="t" r="r" b="b"/>
              <a:pathLst>
                <a:path w="1968500" h="883285">
                  <a:moveTo>
                    <a:pt x="0" y="147202"/>
                  </a:moveTo>
                  <a:lnTo>
                    <a:pt x="7504" y="100675"/>
                  </a:lnTo>
                  <a:lnTo>
                    <a:pt x="28401" y="60266"/>
                  </a:lnTo>
                  <a:lnTo>
                    <a:pt x="60266" y="28401"/>
                  </a:lnTo>
                  <a:lnTo>
                    <a:pt x="100675" y="7504"/>
                  </a:lnTo>
                  <a:lnTo>
                    <a:pt x="147202" y="0"/>
                  </a:lnTo>
                  <a:lnTo>
                    <a:pt x="1821096" y="0"/>
                  </a:lnTo>
                  <a:lnTo>
                    <a:pt x="1877429" y="11205"/>
                  </a:lnTo>
                  <a:lnTo>
                    <a:pt x="1925184" y="43114"/>
                  </a:lnTo>
                  <a:lnTo>
                    <a:pt x="1957094" y="90870"/>
                  </a:lnTo>
                  <a:lnTo>
                    <a:pt x="1968299" y="147202"/>
                  </a:lnTo>
                  <a:lnTo>
                    <a:pt x="1968299" y="735997"/>
                  </a:lnTo>
                  <a:lnTo>
                    <a:pt x="1960795" y="782524"/>
                  </a:lnTo>
                  <a:lnTo>
                    <a:pt x="1939898" y="822933"/>
                  </a:lnTo>
                  <a:lnTo>
                    <a:pt x="1908033" y="854798"/>
                  </a:lnTo>
                  <a:lnTo>
                    <a:pt x="1867624" y="875695"/>
                  </a:lnTo>
                  <a:lnTo>
                    <a:pt x="1821096" y="883199"/>
                  </a:lnTo>
                  <a:lnTo>
                    <a:pt x="147202" y="883199"/>
                  </a:lnTo>
                  <a:lnTo>
                    <a:pt x="100675" y="875695"/>
                  </a:lnTo>
                  <a:lnTo>
                    <a:pt x="60266" y="854798"/>
                  </a:lnTo>
                  <a:lnTo>
                    <a:pt x="28401" y="822933"/>
                  </a:lnTo>
                  <a:lnTo>
                    <a:pt x="7504" y="782524"/>
                  </a:lnTo>
                  <a:lnTo>
                    <a:pt x="0" y="735997"/>
                  </a:lnTo>
                  <a:lnTo>
                    <a:pt x="0" y="1472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354453" y="359749"/>
            <a:ext cx="2217419" cy="114646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 indent="2540" algn="ctr">
              <a:lnSpc>
                <a:spcPts val="2200"/>
              </a:lnSpc>
              <a:spcBef>
                <a:spcPts val="240"/>
              </a:spcBef>
            </a:pPr>
            <a:r>
              <a:rPr sz="1867" b="1" dirty="0">
                <a:latin typeface="Arial"/>
                <a:cs typeface="Arial"/>
              </a:rPr>
              <a:t>Gender</a:t>
            </a:r>
            <a:r>
              <a:rPr sz="1867" b="1" spc="-53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identity </a:t>
            </a:r>
            <a:r>
              <a:rPr sz="1867" b="1" dirty="0">
                <a:latin typeface="Arial"/>
                <a:cs typeface="Arial"/>
              </a:rPr>
              <a:t>Sexual</a:t>
            </a:r>
            <a:r>
              <a:rPr sz="1867" b="1" spc="-4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orientatixon </a:t>
            </a:r>
            <a:r>
              <a:rPr sz="1867" b="1" spc="-27" dirty="0">
                <a:latin typeface="Arial"/>
                <a:cs typeface="Arial"/>
              </a:rPr>
              <a:t>Race</a:t>
            </a:r>
            <a:endParaRPr sz="1867">
              <a:latin typeface="Arial"/>
              <a:cs typeface="Arial"/>
            </a:endParaRPr>
          </a:p>
          <a:p>
            <a:pPr marL="847" algn="ctr">
              <a:lnSpc>
                <a:spcPts val="2133"/>
              </a:lnSpc>
            </a:pPr>
            <a:r>
              <a:rPr sz="1867" b="1" spc="-13" dirty="0">
                <a:latin typeface="Arial"/>
                <a:cs typeface="Arial"/>
              </a:rPr>
              <a:t>Religion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63365" y="1676367"/>
            <a:ext cx="6593840" cy="5082539"/>
            <a:chOff x="3572524" y="1257275"/>
            <a:chExt cx="4945380" cy="3811904"/>
          </a:xfrm>
        </p:grpSpPr>
        <p:sp>
          <p:nvSpPr>
            <p:cNvPr id="16" name="object 16"/>
            <p:cNvSpPr/>
            <p:nvPr/>
          </p:nvSpPr>
          <p:spPr>
            <a:xfrm>
              <a:off x="3591574" y="1276325"/>
              <a:ext cx="2371725" cy="3772535"/>
            </a:xfrm>
            <a:custGeom>
              <a:avLst/>
              <a:gdLst/>
              <a:ahLst/>
              <a:cxnLst/>
              <a:rect l="l" t="t" r="r" b="b"/>
              <a:pathLst>
                <a:path w="2371725" h="3772535">
                  <a:moveTo>
                    <a:pt x="1019849" y="1007199"/>
                  </a:moveTo>
                  <a:lnTo>
                    <a:pt x="2352149" y="3771999"/>
                  </a:lnTo>
                </a:path>
                <a:path w="2371725" h="3772535">
                  <a:moveTo>
                    <a:pt x="975499" y="641399"/>
                  </a:moveTo>
                  <a:lnTo>
                    <a:pt x="2371099" y="0"/>
                  </a:lnTo>
                </a:path>
                <a:path w="2371725" h="3772535">
                  <a:moveTo>
                    <a:pt x="0" y="663574"/>
                  </a:moveTo>
                  <a:lnTo>
                    <a:pt x="1477799" y="663574"/>
                  </a:lnTo>
                  <a:lnTo>
                    <a:pt x="1477799" y="992074"/>
                  </a:lnTo>
                  <a:lnTo>
                    <a:pt x="0" y="992074"/>
                  </a:lnTo>
                  <a:lnTo>
                    <a:pt x="0" y="663574"/>
                  </a:lnTo>
                  <a:close/>
                </a:path>
              </a:pathLst>
            </a:custGeom>
            <a:ln w="3809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75" y="1322225"/>
              <a:ext cx="2523649" cy="37082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36725" y="1303175"/>
              <a:ext cx="2562225" cy="3746500"/>
            </a:xfrm>
            <a:custGeom>
              <a:avLst/>
              <a:gdLst/>
              <a:ahLst/>
              <a:cxnLst/>
              <a:rect l="l" t="t" r="r" b="b"/>
              <a:pathLst>
                <a:path w="2562225" h="3746500">
                  <a:moveTo>
                    <a:pt x="0" y="0"/>
                  </a:moveTo>
                  <a:lnTo>
                    <a:pt x="2561749" y="0"/>
                  </a:lnTo>
                  <a:lnTo>
                    <a:pt x="2561749" y="3746399"/>
                  </a:lnTo>
                  <a:lnTo>
                    <a:pt x="0" y="374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1155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39F3D05-F063-4B15-8313-A4773779D6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72</a:t>
            </a:fld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282" y="1687731"/>
            <a:ext cx="10246268" cy="506141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09250" y="1799969"/>
            <a:ext cx="776393" cy="4790439"/>
            <a:chOff x="306937" y="1349976"/>
            <a:chExt cx="582295" cy="3592829"/>
          </a:xfrm>
        </p:grpSpPr>
        <p:sp>
          <p:nvSpPr>
            <p:cNvPr id="4" name="object 4"/>
            <p:cNvSpPr/>
            <p:nvPr/>
          </p:nvSpPr>
          <p:spPr>
            <a:xfrm>
              <a:off x="311699" y="1354739"/>
              <a:ext cx="572770" cy="3583304"/>
            </a:xfrm>
            <a:custGeom>
              <a:avLst/>
              <a:gdLst/>
              <a:ahLst/>
              <a:cxnLst/>
              <a:rect l="l" t="t" r="r" b="b"/>
              <a:pathLst>
                <a:path w="572769" h="3583304">
                  <a:moveTo>
                    <a:pt x="477248" y="3583199"/>
                  </a:moveTo>
                  <a:lnTo>
                    <a:pt x="95451" y="3583199"/>
                  </a:lnTo>
                  <a:lnTo>
                    <a:pt x="58297" y="3575698"/>
                  </a:lnTo>
                  <a:lnTo>
                    <a:pt x="27957" y="3555242"/>
                  </a:lnTo>
                  <a:lnTo>
                    <a:pt x="7501" y="3524902"/>
                  </a:lnTo>
                  <a:lnTo>
                    <a:pt x="0" y="3487747"/>
                  </a:lnTo>
                  <a:lnTo>
                    <a:pt x="0" y="95451"/>
                  </a:lnTo>
                  <a:lnTo>
                    <a:pt x="16037" y="42495"/>
                  </a:lnTo>
                  <a:lnTo>
                    <a:pt x="58924" y="7265"/>
                  </a:lnTo>
                  <a:lnTo>
                    <a:pt x="95451" y="0"/>
                  </a:lnTo>
                  <a:lnTo>
                    <a:pt x="477248" y="0"/>
                  </a:lnTo>
                  <a:lnTo>
                    <a:pt x="514402" y="7501"/>
                  </a:lnTo>
                  <a:lnTo>
                    <a:pt x="544742" y="27957"/>
                  </a:lnTo>
                  <a:lnTo>
                    <a:pt x="565198" y="58297"/>
                  </a:lnTo>
                  <a:lnTo>
                    <a:pt x="572699" y="95451"/>
                  </a:lnTo>
                  <a:lnTo>
                    <a:pt x="572699" y="3487747"/>
                  </a:lnTo>
                  <a:lnTo>
                    <a:pt x="565198" y="3524902"/>
                  </a:lnTo>
                  <a:lnTo>
                    <a:pt x="544742" y="3555242"/>
                  </a:lnTo>
                  <a:lnTo>
                    <a:pt x="514402" y="3575698"/>
                  </a:lnTo>
                  <a:lnTo>
                    <a:pt x="477248" y="3583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1699" y="1354739"/>
              <a:ext cx="572770" cy="3583304"/>
            </a:xfrm>
            <a:custGeom>
              <a:avLst/>
              <a:gdLst/>
              <a:ahLst/>
              <a:cxnLst/>
              <a:rect l="l" t="t" r="r" b="b"/>
              <a:pathLst>
                <a:path w="572769" h="3583304">
                  <a:moveTo>
                    <a:pt x="95451" y="3583199"/>
                  </a:moveTo>
                  <a:lnTo>
                    <a:pt x="58297" y="3575698"/>
                  </a:lnTo>
                  <a:lnTo>
                    <a:pt x="27957" y="3555242"/>
                  </a:lnTo>
                  <a:lnTo>
                    <a:pt x="7501" y="3524902"/>
                  </a:lnTo>
                  <a:lnTo>
                    <a:pt x="0" y="3487747"/>
                  </a:lnTo>
                  <a:lnTo>
                    <a:pt x="0" y="95451"/>
                  </a:lnTo>
                  <a:lnTo>
                    <a:pt x="16037" y="42495"/>
                  </a:lnTo>
                  <a:lnTo>
                    <a:pt x="58924" y="7265"/>
                  </a:lnTo>
                  <a:lnTo>
                    <a:pt x="95451" y="0"/>
                  </a:lnTo>
                  <a:lnTo>
                    <a:pt x="477248" y="0"/>
                  </a:lnTo>
                  <a:lnTo>
                    <a:pt x="514402" y="7501"/>
                  </a:lnTo>
                  <a:lnTo>
                    <a:pt x="544742" y="27957"/>
                  </a:lnTo>
                  <a:lnTo>
                    <a:pt x="565198" y="58297"/>
                  </a:lnTo>
                  <a:lnTo>
                    <a:pt x="572699" y="95451"/>
                  </a:lnTo>
                  <a:lnTo>
                    <a:pt x="572699" y="3487747"/>
                  </a:lnTo>
                  <a:lnTo>
                    <a:pt x="565198" y="3524902"/>
                  </a:lnTo>
                  <a:lnTo>
                    <a:pt x="544742" y="3555242"/>
                  </a:lnTo>
                  <a:lnTo>
                    <a:pt x="514402" y="3575698"/>
                  </a:lnTo>
                  <a:lnTo>
                    <a:pt x="477248" y="3583199"/>
                  </a:lnTo>
                  <a:lnTo>
                    <a:pt x="95451" y="35831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7574" y="3017518"/>
            <a:ext cx="371897" cy="235711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33">
              <a:lnSpc>
                <a:spcPts val="2933"/>
              </a:lnSpc>
            </a:pPr>
            <a:r>
              <a:rPr sz="2533" dirty="0">
                <a:latin typeface="Arial"/>
                <a:cs typeface="Arial"/>
              </a:rPr>
              <a:t>More</a:t>
            </a:r>
            <a:r>
              <a:rPr sz="2533" spc="-40" dirty="0">
                <a:latin typeface="Arial"/>
                <a:cs typeface="Arial"/>
              </a:rPr>
              <a:t> </a:t>
            </a:r>
            <a:r>
              <a:rPr sz="2533" dirty="0">
                <a:latin typeface="Arial"/>
                <a:cs typeface="Arial"/>
              </a:rPr>
              <a:t>filtered</a:t>
            </a:r>
            <a:r>
              <a:rPr sz="2533" spc="-40" dirty="0">
                <a:latin typeface="Arial"/>
                <a:cs typeface="Arial"/>
              </a:rPr>
              <a:t> </a:t>
            </a:r>
            <a:r>
              <a:rPr sz="2533" spc="-33" dirty="0">
                <a:latin typeface="Arial"/>
                <a:cs typeface="Arial"/>
              </a:rPr>
              <a:t>out</a:t>
            </a:r>
            <a:endParaRPr sz="2533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09643" y="1899949"/>
            <a:ext cx="164252" cy="4489027"/>
            <a:chOff x="1057232" y="1424962"/>
            <a:chExt cx="123189" cy="3366770"/>
          </a:xfrm>
        </p:grpSpPr>
        <p:sp>
          <p:nvSpPr>
            <p:cNvPr id="8" name="object 8"/>
            <p:cNvSpPr/>
            <p:nvPr/>
          </p:nvSpPr>
          <p:spPr>
            <a:xfrm>
              <a:off x="1118718" y="1439250"/>
              <a:ext cx="5080" cy="3208655"/>
            </a:xfrm>
            <a:custGeom>
              <a:avLst/>
              <a:gdLst/>
              <a:ahLst/>
              <a:cxnLst/>
              <a:rect l="l" t="t" r="r" b="b"/>
              <a:pathLst>
                <a:path w="5080" h="3208654">
                  <a:moveTo>
                    <a:pt x="4556" y="0"/>
                  </a:moveTo>
                  <a:lnTo>
                    <a:pt x="0" y="3208349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7232" y="4633245"/>
              <a:ext cx="122971" cy="158317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3583199" y="5037033"/>
            <a:ext cx="2167467" cy="1287780"/>
          </a:xfrm>
          <a:custGeom>
            <a:avLst/>
            <a:gdLst/>
            <a:ahLst/>
            <a:cxnLst/>
            <a:rect l="l" t="t" r="r" b="b"/>
            <a:pathLst>
              <a:path w="1625600" h="965835">
                <a:moveTo>
                  <a:pt x="0" y="160952"/>
                </a:moveTo>
                <a:lnTo>
                  <a:pt x="5749" y="118165"/>
                </a:lnTo>
                <a:lnTo>
                  <a:pt x="21974" y="79716"/>
                </a:lnTo>
                <a:lnTo>
                  <a:pt x="47142" y="47142"/>
                </a:lnTo>
                <a:lnTo>
                  <a:pt x="79716" y="21974"/>
                </a:lnTo>
                <a:lnTo>
                  <a:pt x="118165" y="5749"/>
                </a:lnTo>
                <a:lnTo>
                  <a:pt x="160953" y="0"/>
                </a:lnTo>
                <a:lnTo>
                  <a:pt x="1464146" y="0"/>
                </a:lnTo>
                <a:lnTo>
                  <a:pt x="1525741" y="12251"/>
                </a:lnTo>
                <a:lnTo>
                  <a:pt x="1577957" y="47142"/>
                </a:lnTo>
                <a:lnTo>
                  <a:pt x="1612848" y="99358"/>
                </a:lnTo>
                <a:lnTo>
                  <a:pt x="1625099" y="160952"/>
                </a:lnTo>
                <a:lnTo>
                  <a:pt x="1625099" y="804746"/>
                </a:lnTo>
                <a:lnTo>
                  <a:pt x="1619350" y="847534"/>
                </a:lnTo>
                <a:lnTo>
                  <a:pt x="1603125" y="885982"/>
                </a:lnTo>
                <a:lnTo>
                  <a:pt x="1577957" y="918557"/>
                </a:lnTo>
                <a:lnTo>
                  <a:pt x="1545382" y="943725"/>
                </a:lnTo>
                <a:lnTo>
                  <a:pt x="1506934" y="959950"/>
                </a:lnTo>
                <a:lnTo>
                  <a:pt x="1464146" y="965699"/>
                </a:lnTo>
                <a:lnTo>
                  <a:pt x="160953" y="965699"/>
                </a:lnTo>
                <a:lnTo>
                  <a:pt x="118165" y="959950"/>
                </a:lnTo>
                <a:lnTo>
                  <a:pt x="79716" y="943725"/>
                </a:lnTo>
                <a:lnTo>
                  <a:pt x="47142" y="918557"/>
                </a:lnTo>
                <a:lnTo>
                  <a:pt x="21974" y="885982"/>
                </a:lnTo>
                <a:lnTo>
                  <a:pt x="5749" y="847534"/>
                </a:lnTo>
                <a:lnTo>
                  <a:pt x="0" y="804746"/>
                </a:lnTo>
                <a:lnTo>
                  <a:pt x="0" y="160952"/>
                </a:lnTo>
                <a:close/>
              </a:path>
            </a:pathLst>
          </a:custGeom>
          <a:ln w="28574">
            <a:solidFill>
              <a:srgbClr val="0097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Which</a:t>
            </a:r>
            <a:r>
              <a:rPr spc="-13" dirty="0"/>
              <a:t> </a:t>
            </a:r>
            <a:r>
              <a:rPr dirty="0"/>
              <a:t>demographic</a:t>
            </a:r>
            <a:r>
              <a:rPr spc="-7" dirty="0"/>
              <a:t> </a:t>
            </a:r>
            <a:r>
              <a:rPr dirty="0"/>
              <a:t>identities</a:t>
            </a:r>
            <a:r>
              <a:rPr spc="-13" dirty="0"/>
              <a:t> </a:t>
            </a:r>
            <a:r>
              <a:rPr dirty="0"/>
              <a:t>are</a:t>
            </a:r>
            <a:r>
              <a:rPr spc="-7" dirty="0"/>
              <a:t> </a:t>
            </a:r>
            <a:r>
              <a:rPr spc="-13" dirty="0"/>
              <a:t>excluded?</a:t>
            </a:r>
          </a:p>
        </p:txBody>
      </p:sp>
      <p:sp>
        <p:nvSpPr>
          <p:cNvPr id="12" name="object 12"/>
          <p:cNvSpPr/>
          <p:nvPr/>
        </p:nvSpPr>
        <p:spPr>
          <a:xfrm>
            <a:off x="2656166" y="1695733"/>
            <a:ext cx="3094567" cy="405553"/>
          </a:xfrm>
          <a:custGeom>
            <a:avLst/>
            <a:gdLst/>
            <a:ahLst/>
            <a:cxnLst/>
            <a:rect l="l" t="t" r="r" b="b"/>
            <a:pathLst>
              <a:path w="2320925" h="304165">
                <a:moveTo>
                  <a:pt x="0" y="0"/>
                </a:moveTo>
                <a:lnTo>
                  <a:pt x="2320499" y="0"/>
                </a:lnTo>
                <a:lnTo>
                  <a:pt x="2320499" y="303899"/>
                </a:lnTo>
                <a:lnTo>
                  <a:pt x="0" y="3038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80867" y="2566132"/>
            <a:ext cx="3769360" cy="601133"/>
          </a:xfrm>
          <a:custGeom>
            <a:avLst/>
            <a:gdLst/>
            <a:ahLst/>
            <a:cxnLst/>
            <a:rect l="l" t="t" r="r" b="b"/>
            <a:pathLst>
              <a:path w="2827020" h="450850">
                <a:moveTo>
                  <a:pt x="0" y="0"/>
                </a:moveTo>
                <a:lnTo>
                  <a:pt x="2826899" y="0"/>
                </a:lnTo>
                <a:lnTo>
                  <a:pt x="2826899" y="450299"/>
                </a:lnTo>
                <a:lnTo>
                  <a:pt x="0" y="4502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11532" y="3796667"/>
            <a:ext cx="2167467" cy="240453"/>
          </a:xfrm>
          <a:custGeom>
            <a:avLst/>
            <a:gdLst/>
            <a:ahLst/>
            <a:cxnLst/>
            <a:rect l="l" t="t" r="r" b="b"/>
            <a:pathLst>
              <a:path w="1625600" h="180339">
                <a:moveTo>
                  <a:pt x="0" y="0"/>
                </a:moveTo>
                <a:lnTo>
                  <a:pt x="1625099" y="0"/>
                </a:lnTo>
                <a:lnTo>
                  <a:pt x="1625099" y="179999"/>
                </a:lnTo>
                <a:lnTo>
                  <a:pt x="0" y="179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2642338-4912-4E85-A3B4-D3306F1301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73</a:t>
            </a:fld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850" y="687650"/>
            <a:ext cx="11046460" cy="5483013"/>
            <a:chOff x="429637" y="515737"/>
            <a:chExt cx="8284845" cy="4112260"/>
          </a:xfrm>
        </p:grpSpPr>
        <p:sp>
          <p:nvSpPr>
            <p:cNvPr id="3" name="object 3"/>
            <p:cNvSpPr/>
            <p:nvPr/>
          </p:nvSpPr>
          <p:spPr>
            <a:xfrm>
              <a:off x="434399" y="520500"/>
              <a:ext cx="8275320" cy="4102735"/>
            </a:xfrm>
            <a:custGeom>
              <a:avLst/>
              <a:gdLst/>
              <a:ahLst/>
              <a:cxnLst/>
              <a:rect l="l" t="t" r="r" b="b"/>
              <a:pathLst>
                <a:path w="8275320" h="4102735">
                  <a:moveTo>
                    <a:pt x="7591435" y="4102499"/>
                  </a:moveTo>
                  <a:lnTo>
                    <a:pt x="683763" y="4102499"/>
                  </a:lnTo>
                  <a:lnTo>
                    <a:pt x="634932" y="4100783"/>
                  </a:lnTo>
                  <a:lnTo>
                    <a:pt x="587027" y="4095709"/>
                  </a:lnTo>
                  <a:lnTo>
                    <a:pt x="540164" y="4087395"/>
                  </a:lnTo>
                  <a:lnTo>
                    <a:pt x="494460" y="4075956"/>
                  </a:lnTo>
                  <a:lnTo>
                    <a:pt x="450029" y="4061508"/>
                  </a:lnTo>
                  <a:lnTo>
                    <a:pt x="406988" y="4044165"/>
                  </a:lnTo>
                  <a:lnTo>
                    <a:pt x="365452" y="4024045"/>
                  </a:lnTo>
                  <a:lnTo>
                    <a:pt x="325537" y="4001263"/>
                  </a:lnTo>
                  <a:lnTo>
                    <a:pt x="287358" y="3975934"/>
                  </a:lnTo>
                  <a:lnTo>
                    <a:pt x="251032" y="3948174"/>
                  </a:lnTo>
                  <a:lnTo>
                    <a:pt x="216674" y="3918099"/>
                  </a:lnTo>
                  <a:lnTo>
                    <a:pt x="184400" y="3885825"/>
                  </a:lnTo>
                  <a:lnTo>
                    <a:pt x="154325" y="3851467"/>
                  </a:lnTo>
                  <a:lnTo>
                    <a:pt x="126565" y="3815141"/>
                  </a:lnTo>
                  <a:lnTo>
                    <a:pt x="101236" y="3776962"/>
                  </a:lnTo>
                  <a:lnTo>
                    <a:pt x="78454" y="3737047"/>
                  </a:lnTo>
                  <a:lnTo>
                    <a:pt x="58334" y="3695511"/>
                  </a:lnTo>
                  <a:lnTo>
                    <a:pt x="40991" y="3652470"/>
                  </a:lnTo>
                  <a:lnTo>
                    <a:pt x="26543" y="3608039"/>
                  </a:lnTo>
                  <a:lnTo>
                    <a:pt x="15104" y="3562335"/>
                  </a:lnTo>
                  <a:lnTo>
                    <a:pt x="6790" y="3515472"/>
                  </a:lnTo>
                  <a:lnTo>
                    <a:pt x="1716" y="3467567"/>
                  </a:lnTo>
                  <a:lnTo>
                    <a:pt x="0" y="3418736"/>
                  </a:lnTo>
                  <a:lnTo>
                    <a:pt x="0" y="683763"/>
                  </a:lnTo>
                  <a:lnTo>
                    <a:pt x="1716" y="634932"/>
                  </a:lnTo>
                  <a:lnTo>
                    <a:pt x="6790" y="587027"/>
                  </a:lnTo>
                  <a:lnTo>
                    <a:pt x="15104" y="540164"/>
                  </a:lnTo>
                  <a:lnTo>
                    <a:pt x="26543" y="494460"/>
                  </a:lnTo>
                  <a:lnTo>
                    <a:pt x="40991" y="450029"/>
                  </a:lnTo>
                  <a:lnTo>
                    <a:pt x="58334" y="406988"/>
                  </a:lnTo>
                  <a:lnTo>
                    <a:pt x="78454" y="365452"/>
                  </a:lnTo>
                  <a:lnTo>
                    <a:pt x="101236" y="325537"/>
                  </a:lnTo>
                  <a:lnTo>
                    <a:pt x="126565" y="287358"/>
                  </a:lnTo>
                  <a:lnTo>
                    <a:pt x="154325" y="251032"/>
                  </a:lnTo>
                  <a:lnTo>
                    <a:pt x="184400" y="216674"/>
                  </a:lnTo>
                  <a:lnTo>
                    <a:pt x="216674" y="184400"/>
                  </a:lnTo>
                  <a:lnTo>
                    <a:pt x="251032" y="154325"/>
                  </a:lnTo>
                  <a:lnTo>
                    <a:pt x="287358" y="126565"/>
                  </a:lnTo>
                  <a:lnTo>
                    <a:pt x="325537" y="101236"/>
                  </a:lnTo>
                  <a:lnTo>
                    <a:pt x="365452" y="78454"/>
                  </a:lnTo>
                  <a:lnTo>
                    <a:pt x="406988" y="58334"/>
                  </a:lnTo>
                  <a:lnTo>
                    <a:pt x="450029" y="40991"/>
                  </a:lnTo>
                  <a:lnTo>
                    <a:pt x="494460" y="26543"/>
                  </a:lnTo>
                  <a:lnTo>
                    <a:pt x="540164" y="15104"/>
                  </a:lnTo>
                  <a:lnTo>
                    <a:pt x="587027" y="6790"/>
                  </a:lnTo>
                  <a:lnTo>
                    <a:pt x="634932" y="1716"/>
                  </a:lnTo>
                  <a:lnTo>
                    <a:pt x="683763" y="0"/>
                  </a:lnTo>
                  <a:lnTo>
                    <a:pt x="7591435" y="0"/>
                  </a:lnTo>
                  <a:lnTo>
                    <a:pt x="7640681" y="1774"/>
                  </a:lnTo>
                  <a:lnTo>
                    <a:pt x="7689385" y="7049"/>
                  </a:lnTo>
                  <a:lnTo>
                    <a:pt x="7737376" y="15753"/>
                  </a:lnTo>
                  <a:lnTo>
                    <a:pt x="7784481" y="27815"/>
                  </a:lnTo>
                  <a:lnTo>
                    <a:pt x="7830528" y="43164"/>
                  </a:lnTo>
                  <a:lnTo>
                    <a:pt x="7875345" y="61727"/>
                  </a:lnTo>
                  <a:lnTo>
                    <a:pt x="7918758" y="83434"/>
                  </a:lnTo>
                  <a:lnTo>
                    <a:pt x="7960595" y="108213"/>
                  </a:lnTo>
                  <a:lnTo>
                    <a:pt x="8000685" y="135993"/>
                  </a:lnTo>
                  <a:lnTo>
                    <a:pt x="8038854" y="166702"/>
                  </a:lnTo>
                  <a:lnTo>
                    <a:pt x="8074930" y="200269"/>
                  </a:lnTo>
                  <a:lnTo>
                    <a:pt x="8108497" y="236345"/>
                  </a:lnTo>
                  <a:lnTo>
                    <a:pt x="8139206" y="274514"/>
                  </a:lnTo>
                  <a:lnTo>
                    <a:pt x="8166986" y="314604"/>
                  </a:lnTo>
                  <a:lnTo>
                    <a:pt x="8191765" y="356441"/>
                  </a:lnTo>
                  <a:lnTo>
                    <a:pt x="8213472" y="399855"/>
                  </a:lnTo>
                  <a:lnTo>
                    <a:pt x="8232035" y="444671"/>
                  </a:lnTo>
                  <a:lnTo>
                    <a:pt x="8247384" y="490718"/>
                  </a:lnTo>
                  <a:lnTo>
                    <a:pt x="8259446" y="537823"/>
                  </a:lnTo>
                  <a:lnTo>
                    <a:pt x="8268150" y="585814"/>
                  </a:lnTo>
                  <a:lnTo>
                    <a:pt x="8273425" y="634518"/>
                  </a:lnTo>
                  <a:lnTo>
                    <a:pt x="8275199" y="683763"/>
                  </a:lnTo>
                  <a:lnTo>
                    <a:pt x="8275199" y="3418736"/>
                  </a:lnTo>
                  <a:lnTo>
                    <a:pt x="8273483" y="3467567"/>
                  </a:lnTo>
                  <a:lnTo>
                    <a:pt x="8268409" y="3515472"/>
                  </a:lnTo>
                  <a:lnTo>
                    <a:pt x="8260095" y="3562335"/>
                  </a:lnTo>
                  <a:lnTo>
                    <a:pt x="8248656" y="3608039"/>
                  </a:lnTo>
                  <a:lnTo>
                    <a:pt x="8234208" y="3652470"/>
                  </a:lnTo>
                  <a:lnTo>
                    <a:pt x="8216865" y="3695511"/>
                  </a:lnTo>
                  <a:lnTo>
                    <a:pt x="8196745" y="3737047"/>
                  </a:lnTo>
                  <a:lnTo>
                    <a:pt x="8173963" y="3776962"/>
                  </a:lnTo>
                  <a:lnTo>
                    <a:pt x="8148634" y="3815141"/>
                  </a:lnTo>
                  <a:lnTo>
                    <a:pt x="8120874" y="3851467"/>
                  </a:lnTo>
                  <a:lnTo>
                    <a:pt x="8090799" y="3885825"/>
                  </a:lnTo>
                  <a:lnTo>
                    <a:pt x="8058525" y="3918099"/>
                  </a:lnTo>
                  <a:lnTo>
                    <a:pt x="8024167" y="3948174"/>
                  </a:lnTo>
                  <a:lnTo>
                    <a:pt x="7987841" y="3975934"/>
                  </a:lnTo>
                  <a:lnTo>
                    <a:pt x="7949662" y="4001263"/>
                  </a:lnTo>
                  <a:lnTo>
                    <a:pt x="7909747" y="4024045"/>
                  </a:lnTo>
                  <a:lnTo>
                    <a:pt x="7868211" y="4044165"/>
                  </a:lnTo>
                  <a:lnTo>
                    <a:pt x="7825170" y="4061508"/>
                  </a:lnTo>
                  <a:lnTo>
                    <a:pt x="7780739" y="4075956"/>
                  </a:lnTo>
                  <a:lnTo>
                    <a:pt x="7735035" y="4087395"/>
                  </a:lnTo>
                  <a:lnTo>
                    <a:pt x="7688172" y="4095709"/>
                  </a:lnTo>
                  <a:lnTo>
                    <a:pt x="7640267" y="4100783"/>
                  </a:lnTo>
                  <a:lnTo>
                    <a:pt x="7591435" y="4102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4399" y="520500"/>
              <a:ext cx="8275320" cy="4102735"/>
            </a:xfrm>
            <a:custGeom>
              <a:avLst/>
              <a:gdLst/>
              <a:ahLst/>
              <a:cxnLst/>
              <a:rect l="l" t="t" r="r" b="b"/>
              <a:pathLst>
                <a:path w="8275320" h="4102735">
                  <a:moveTo>
                    <a:pt x="0" y="683763"/>
                  </a:moveTo>
                  <a:lnTo>
                    <a:pt x="1716" y="634932"/>
                  </a:lnTo>
                  <a:lnTo>
                    <a:pt x="6790" y="587027"/>
                  </a:lnTo>
                  <a:lnTo>
                    <a:pt x="15104" y="540164"/>
                  </a:lnTo>
                  <a:lnTo>
                    <a:pt x="26543" y="494460"/>
                  </a:lnTo>
                  <a:lnTo>
                    <a:pt x="40991" y="450029"/>
                  </a:lnTo>
                  <a:lnTo>
                    <a:pt x="58334" y="406988"/>
                  </a:lnTo>
                  <a:lnTo>
                    <a:pt x="78454" y="365452"/>
                  </a:lnTo>
                  <a:lnTo>
                    <a:pt x="101236" y="325537"/>
                  </a:lnTo>
                  <a:lnTo>
                    <a:pt x="126565" y="287358"/>
                  </a:lnTo>
                  <a:lnTo>
                    <a:pt x="154325" y="251032"/>
                  </a:lnTo>
                  <a:lnTo>
                    <a:pt x="184400" y="216674"/>
                  </a:lnTo>
                  <a:lnTo>
                    <a:pt x="216674" y="184400"/>
                  </a:lnTo>
                  <a:lnTo>
                    <a:pt x="251032" y="154325"/>
                  </a:lnTo>
                  <a:lnTo>
                    <a:pt x="287358" y="126565"/>
                  </a:lnTo>
                  <a:lnTo>
                    <a:pt x="325537" y="101236"/>
                  </a:lnTo>
                  <a:lnTo>
                    <a:pt x="365452" y="78454"/>
                  </a:lnTo>
                  <a:lnTo>
                    <a:pt x="406988" y="58334"/>
                  </a:lnTo>
                  <a:lnTo>
                    <a:pt x="450029" y="40991"/>
                  </a:lnTo>
                  <a:lnTo>
                    <a:pt x="494460" y="26543"/>
                  </a:lnTo>
                  <a:lnTo>
                    <a:pt x="540164" y="15104"/>
                  </a:lnTo>
                  <a:lnTo>
                    <a:pt x="587027" y="6790"/>
                  </a:lnTo>
                  <a:lnTo>
                    <a:pt x="634932" y="1716"/>
                  </a:lnTo>
                  <a:lnTo>
                    <a:pt x="683763" y="0"/>
                  </a:lnTo>
                  <a:lnTo>
                    <a:pt x="7591435" y="0"/>
                  </a:lnTo>
                  <a:lnTo>
                    <a:pt x="7640681" y="1774"/>
                  </a:lnTo>
                  <a:lnTo>
                    <a:pt x="7689385" y="7049"/>
                  </a:lnTo>
                  <a:lnTo>
                    <a:pt x="7737376" y="15753"/>
                  </a:lnTo>
                  <a:lnTo>
                    <a:pt x="7784481" y="27815"/>
                  </a:lnTo>
                  <a:lnTo>
                    <a:pt x="7830528" y="43164"/>
                  </a:lnTo>
                  <a:lnTo>
                    <a:pt x="7875345" y="61727"/>
                  </a:lnTo>
                  <a:lnTo>
                    <a:pt x="7918758" y="83434"/>
                  </a:lnTo>
                  <a:lnTo>
                    <a:pt x="7960595" y="108213"/>
                  </a:lnTo>
                  <a:lnTo>
                    <a:pt x="8000685" y="135993"/>
                  </a:lnTo>
                  <a:lnTo>
                    <a:pt x="8038854" y="166702"/>
                  </a:lnTo>
                  <a:lnTo>
                    <a:pt x="8074930" y="200269"/>
                  </a:lnTo>
                  <a:lnTo>
                    <a:pt x="8108497" y="236345"/>
                  </a:lnTo>
                  <a:lnTo>
                    <a:pt x="8139206" y="274514"/>
                  </a:lnTo>
                  <a:lnTo>
                    <a:pt x="8166986" y="314604"/>
                  </a:lnTo>
                  <a:lnTo>
                    <a:pt x="8191765" y="356441"/>
                  </a:lnTo>
                  <a:lnTo>
                    <a:pt x="8213472" y="399855"/>
                  </a:lnTo>
                  <a:lnTo>
                    <a:pt x="8232036" y="444671"/>
                  </a:lnTo>
                  <a:lnTo>
                    <a:pt x="8247384" y="490718"/>
                  </a:lnTo>
                  <a:lnTo>
                    <a:pt x="8259446" y="537823"/>
                  </a:lnTo>
                  <a:lnTo>
                    <a:pt x="8268150" y="585814"/>
                  </a:lnTo>
                  <a:lnTo>
                    <a:pt x="8273425" y="634518"/>
                  </a:lnTo>
                  <a:lnTo>
                    <a:pt x="8275199" y="683763"/>
                  </a:lnTo>
                  <a:lnTo>
                    <a:pt x="8275199" y="3418736"/>
                  </a:lnTo>
                  <a:lnTo>
                    <a:pt x="8273483" y="3467567"/>
                  </a:lnTo>
                  <a:lnTo>
                    <a:pt x="8268409" y="3515472"/>
                  </a:lnTo>
                  <a:lnTo>
                    <a:pt x="8260095" y="3562335"/>
                  </a:lnTo>
                  <a:lnTo>
                    <a:pt x="8248656" y="3608039"/>
                  </a:lnTo>
                  <a:lnTo>
                    <a:pt x="8234208" y="3652470"/>
                  </a:lnTo>
                  <a:lnTo>
                    <a:pt x="8216865" y="3695511"/>
                  </a:lnTo>
                  <a:lnTo>
                    <a:pt x="8196745" y="3737047"/>
                  </a:lnTo>
                  <a:lnTo>
                    <a:pt x="8173963" y="3776962"/>
                  </a:lnTo>
                  <a:lnTo>
                    <a:pt x="8148634" y="3815141"/>
                  </a:lnTo>
                  <a:lnTo>
                    <a:pt x="8120874" y="3851467"/>
                  </a:lnTo>
                  <a:lnTo>
                    <a:pt x="8090799" y="3885825"/>
                  </a:lnTo>
                  <a:lnTo>
                    <a:pt x="8058525" y="3918099"/>
                  </a:lnTo>
                  <a:lnTo>
                    <a:pt x="8024167" y="3948174"/>
                  </a:lnTo>
                  <a:lnTo>
                    <a:pt x="7987841" y="3975934"/>
                  </a:lnTo>
                  <a:lnTo>
                    <a:pt x="7949662" y="4001263"/>
                  </a:lnTo>
                  <a:lnTo>
                    <a:pt x="7909747" y="4024045"/>
                  </a:lnTo>
                  <a:lnTo>
                    <a:pt x="7868211" y="4044165"/>
                  </a:lnTo>
                  <a:lnTo>
                    <a:pt x="7825170" y="4061508"/>
                  </a:lnTo>
                  <a:lnTo>
                    <a:pt x="7780739" y="4075956"/>
                  </a:lnTo>
                  <a:lnTo>
                    <a:pt x="7735035" y="4087395"/>
                  </a:lnTo>
                  <a:lnTo>
                    <a:pt x="7688172" y="4095709"/>
                  </a:lnTo>
                  <a:lnTo>
                    <a:pt x="7640267" y="4100783"/>
                  </a:lnTo>
                  <a:lnTo>
                    <a:pt x="7591435" y="4102499"/>
                  </a:lnTo>
                  <a:lnTo>
                    <a:pt x="683763" y="4102499"/>
                  </a:lnTo>
                  <a:lnTo>
                    <a:pt x="634932" y="4100783"/>
                  </a:lnTo>
                  <a:lnTo>
                    <a:pt x="587027" y="4095709"/>
                  </a:lnTo>
                  <a:lnTo>
                    <a:pt x="540164" y="4087395"/>
                  </a:lnTo>
                  <a:lnTo>
                    <a:pt x="494460" y="4075956"/>
                  </a:lnTo>
                  <a:lnTo>
                    <a:pt x="450029" y="4061508"/>
                  </a:lnTo>
                  <a:lnTo>
                    <a:pt x="406988" y="4044165"/>
                  </a:lnTo>
                  <a:lnTo>
                    <a:pt x="365452" y="4024045"/>
                  </a:lnTo>
                  <a:lnTo>
                    <a:pt x="325537" y="4001263"/>
                  </a:lnTo>
                  <a:lnTo>
                    <a:pt x="287358" y="3975934"/>
                  </a:lnTo>
                  <a:lnTo>
                    <a:pt x="251032" y="3948174"/>
                  </a:lnTo>
                  <a:lnTo>
                    <a:pt x="216674" y="3918099"/>
                  </a:lnTo>
                  <a:lnTo>
                    <a:pt x="184400" y="3885825"/>
                  </a:lnTo>
                  <a:lnTo>
                    <a:pt x="154325" y="3851467"/>
                  </a:lnTo>
                  <a:lnTo>
                    <a:pt x="126565" y="3815141"/>
                  </a:lnTo>
                  <a:lnTo>
                    <a:pt x="101236" y="3776962"/>
                  </a:lnTo>
                  <a:lnTo>
                    <a:pt x="78454" y="3737047"/>
                  </a:lnTo>
                  <a:lnTo>
                    <a:pt x="58334" y="3695511"/>
                  </a:lnTo>
                  <a:lnTo>
                    <a:pt x="40991" y="3652470"/>
                  </a:lnTo>
                  <a:lnTo>
                    <a:pt x="26543" y="3608039"/>
                  </a:lnTo>
                  <a:lnTo>
                    <a:pt x="15104" y="3562335"/>
                  </a:lnTo>
                  <a:lnTo>
                    <a:pt x="6790" y="3515472"/>
                  </a:lnTo>
                  <a:lnTo>
                    <a:pt x="1716" y="3467567"/>
                  </a:lnTo>
                  <a:lnTo>
                    <a:pt x="0" y="3418736"/>
                  </a:lnTo>
                  <a:lnTo>
                    <a:pt x="0" y="6837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709298"/>
            <a:ext cx="14630400" cy="837772"/>
          </a:xfrm>
          <a:prstGeom prst="rect">
            <a:avLst/>
          </a:prstGeom>
        </p:spPr>
        <p:txBody>
          <a:bodyPr vert="horz" wrap="square" lIns="0" tIns="38269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715192">
              <a:spcBef>
                <a:spcPts val="133"/>
              </a:spcBef>
            </a:pPr>
            <a:r>
              <a:rPr sz="2933" dirty="0"/>
              <a:t>What</a:t>
            </a:r>
            <a:r>
              <a:rPr sz="2933" spc="-27" dirty="0"/>
              <a:t> </a:t>
            </a:r>
            <a:r>
              <a:rPr sz="2933" dirty="0"/>
              <a:t>is</a:t>
            </a:r>
            <a:r>
              <a:rPr sz="2933" spc="-20" dirty="0"/>
              <a:t> </a:t>
            </a:r>
            <a:r>
              <a:rPr sz="2933" dirty="0"/>
              <a:t>excluded</a:t>
            </a:r>
            <a:r>
              <a:rPr sz="2933" spc="-27" dirty="0"/>
              <a:t> </a:t>
            </a:r>
            <a:r>
              <a:rPr sz="2933" dirty="0"/>
              <a:t>from</a:t>
            </a:r>
            <a:r>
              <a:rPr sz="2933" spc="-20" dirty="0"/>
              <a:t> </a:t>
            </a:r>
            <a:r>
              <a:rPr sz="2933" dirty="0"/>
              <a:t>the</a:t>
            </a:r>
            <a:r>
              <a:rPr sz="2933" spc="-20" dirty="0"/>
              <a:t> </a:t>
            </a:r>
            <a:r>
              <a:rPr sz="2933" spc="-13" dirty="0"/>
              <a:t>corpus?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434199" y="2195168"/>
            <a:ext cx="7323667" cy="3208867"/>
            <a:chOff x="1825649" y="1646376"/>
            <a:chExt cx="5492750" cy="2406650"/>
          </a:xfrm>
        </p:grpSpPr>
        <p:sp>
          <p:nvSpPr>
            <p:cNvPr id="7" name="object 7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99" y="1651138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1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1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2513843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80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7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8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8"/>
                  </a:lnTo>
                  <a:lnTo>
                    <a:pt x="0" y="1003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44699" y="3431972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5354297" y="601799"/>
                  </a:move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4699" y="3431972"/>
              <a:ext cx="5454650" cy="601980"/>
            </a:xfrm>
            <a:custGeom>
              <a:avLst/>
              <a:gdLst/>
              <a:ahLst/>
              <a:cxnLst/>
              <a:rect l="l" t="t" r="r" b="b"/>
              <a:pathLst>
                <a:path w="5454650" h="601979">
                  <a:moveTo>
                    <a:pt x="0" y="100302"/>
                  </a:moveTo>
                  <a:lnTo>
                    <a:pt x="7882" y="61260"/>
                  </a:lnTo>
                  <a:lnTo>
                    <a:pt x="29377" y="29377"/>
                  </a:lnTo>
                  <a:lnTo>
                    <a:pt x="61259" y="7882"/>
                  </a:lnTo>
                  <a:lnTo>
                    <a:pt x="100301" y="0"/>
                  </a:lnTo>
                  <a:lnTo>
                    <a:pt x="5354297" y="0"/>
                  </a:lnTo>
                  <a:lnTo>
                    <a:pt x="5392681" y="7635"/>
                  </a:lnTo>
                  <a:lnTo>
                    <a:pt x="5425221" y="29378"/>
                  </a:lnTo>
                  <a:lnTo>
                    <a:pt x="5446964" y="61918"/>
                  </a:lnTo>
                  <a:lnTo>
                    <a:pt x="5454599" y="100302"/>
                  </a:lnTo>
                  <a:lnTo>
                    <a:pt x="5454599" y="501497"/>
                  </a:lnTo>
                  <a:lnTo>
                    <a:pt x="5446717" y="540540"/>
                  </a:lnTo>
                  <a:lnTo>
                    <a:pt x="5425222" y="572422"/>
                  </a:lnTo>
                  <a:lnTo>
                    <a:pt x="5393339" y="593917"/>
                  </a:lnTo>
                  <a:lnTo>
                    <a:pt x="5354297" y="601799"/>
                  </a:lnTo>
                  <a:lnTo>
                    <a:pt x="100301" y="601799"/>
                  </a:lnTo>
                  <a:lnTo>
                    <a:pt x="61259" y="593917"/>
                  </a:lnTo>
                  <a:lnTo>
                    <a:pt x="29377" y="572422"/>
                  </a:lnTo>
                  <a:lnTo>
                    <a:pt x="7882" y="540540"/>
                  </a:lnTo>
                  <a:lnTo>
                    <a:pt x="0" y="501497"/>
                  </a:lnTo>
                  <a:lnTo>
                    <a:pt x="0" y="10030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8663" y="2389444"/>
            <a:ext cx="6013027" cy="284883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Characterizing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excluded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documents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6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Which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demographic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identities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3" dirty="0">
                <a:latin typeface="Arial"/>
                <a:cs typeface="Arial"/>
              </a:rPr>
              <a:t> excluded?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Whose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English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included?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59E1E0C-7B08-41D5-93E1-827083C0D0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74</a:t>
            </a:fld>
            <a:endParaRPr 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9850" y="1885850"/>
            <a:ext cx="8592820" cy="4019127"/>
            <a:chOff x="1349887" y="1414387"/>
            <a:chExt cx="6444615" cy="3014345"/>
          </a:xfrm>
        </p:grpSpPr>
        <p:sp>
          <p:nvSpPr>
            <p:cNvPr id="3" name="object 3"/>
            <p:cNvSpPr/>
            <p:nvPr/>
          </p:nvSpPr>
          <p:spPr>
            <a:xfrm>
              <a:off x="1354649" y="1419150"/>
              <a:ext cx="6435090" cy="3004820"/>
            </a:xfrm>
            <a:custGeom>
              <a:avLst/>
              <a:gdLst/>
              <a:ahLst/>
              <a:cxnLst/>
              <a:rect l="l" t="t" r="r" b="b"/>
              <a:pathLst>
                <a:path w="6435090" h="3004820">
                  <a:moveTo>
                    <a:pt x="5933989" y="3004199"/>
                  </a:moveTo>
                  <a:lnTo>
                    <a:pt x="500709" y="3004199"/>
                  </a:lnTo>
                  <a:lnTo>
                    <a:pt x="452488" y="3001907"/>
                  </a:lnTo>
                  <a:lnTo>
                    <a:pt x="405563" y="2995171"/>
                  </a:lnTo>
                  <a:lnTo>
                    <a:pt x="360145" y="2984200"/>
                  </a:lnTo>
                  <a:lnTo>
                    <a:pt x="316443" y="2969204"/>
                  </a:lnTo>
                  <a:lnTo>
                    <a:pt x="274668" y="2950394"/>
                  </a:lnTo>
                  <a:lnTo>
                    <a:pt x="235029" y="2927978"/>
                  </a:lnTo>
                  <a:lnTo>
                    <a:pt x="197736" y="2902168"/>
                  </a:lnTo>
                  <a:lnTo>
                    <a:pt x="162999" y="2873172"/>
                  </a:lnTo>
                  <a:lnTo>
                    <a:pt x="131027" y="2841200"/>
                  </a:lnTo>
                  <a:lnTo>
                    <a:pt x="102031" y="2806463"/>
                  </a:lnTo>
                  <a:lnTo>
                    <a:pt x="76221" y="2769170"/>
                  </a:lnTo>
                  <a:lnTo>
                    <a:pt x="53805" y="2729531"/>
                  </a:lnTo>
                  <a:lnTo>
                    <a:pt x="34995" y="2687756"/>
                  </a:lnTo>
                  <a:lnTo>
                    <a:pt x="19999" y="2644054"/>
                  </a:lnTo>
                  <a:lnTo>
                    <a:pt x="9028" y="2598636"/>
                  </a:lnTo>
                  <a:lnTo>
                    <a:pt x="2292" y="2551711"/>
                  </a:lnTo>
                  <a:lnTo>
                    <a:pt x="0" y="2503489"/>
                  </a:lnTo>
                  <a:lnTo>
                    <a:pt x="0" y="500709"/>
                  </a:lnTo>
                  <a:lnTo>
                    <a:pt x="2292" y="452488"/>
                  </a:lnTo>
                  <a:lnTo>
                    <a:pt x="9028" y="405563"/>
                  </a:lnTo>
                  <a:lnTo>
                    <a:pt x="19999" y="360145"/>
                  </a:lnTo>
                  <a:lnTo>
                    <a:pt x="34995" y="316443"/>
                  </a:lnTo>
                  <a:lnTo>
                    <a:pt x="53805" y="274668"/>
                  </a:lnTo>
                  <a:lnTo>
                    <a:pt x="76221" y="235029"/>
                  </a:lnTo>
                  <a:lnTo>
                    <a:pt x="102031" y="197736"/>
                  </a:lnTo>
                  <a:lnTo>
                    <a:pt x="131027" y="162999"/>
                  </a:lnTo>
                  <a:lnTo>
                    <a:pt x="162999" y="131027"/>
                  </a:lnTo>
                  <a:lnTo>
                    <a:pt x="197736" y="102031"/>
                  </a:lnTo>
                  <a:lnTo>
                    <a:pt x="235029" y="76221"/>
                  </a:lnTo>
                  <a:lnTo>
                    <a:pt x="274668" y="53805"/>
                  </a:lnTo>
                  <a:lnTo>
                    <a:pt x="316443" y="34995"/>
                  </a:lnTo>
                  <a:lnTo>
                    <a:pt x="360145" y="19999"/>
                  </a:lnTo>
                  <a:lnTo>
                    <a:pt x="405563" y="9028"/>
                  </a:lnTo>
                  <a:lnTo>
                    <a:pt x="452488" y="2292"/>
                  </a:lnTo>
                  <a:lnTo>
                    <a:pt x="500709" y="0"/>
                  </a:lnTo>
                  <a:lnTo>
                    <a:pt x="5933989" y="0"/>
                  </a:lnTo>
                  <a:lnTo>
                    <a:pt x="5983479" y="2450"/>
                  </a:lnTo>
                  <a:lnTo>
                    <a:pt x="6032129" y="9709"/>
                  </a:lnTo>
                  <a:lnTo>
                    <a:pt x="6079614" y="21643"/>
                  </a:lnTo>
                  <a:lnTo>
                    <a:pt x="6125603" y="38114"/>
                  </a:lnTo>
                  <a:lnTo>
                    <a:pt x="6169769" y="58986"/>
                  </a:lnTo>
                  <a:lnTo>
                    <a:pt x="6211783" y="84125"/>
                  </a:lnTo>
                  <a:lnTo>
                    <a:pt x="6251318" y="113393"/>
                  </a:lnTo>
                  <a:lnTo>
                    <a:pt x="6288044" y="146654"/>
                  </a:lnTo>
                  <a:lnTo>
                    <a:pt x="6321306" y="183381"/>
                  </a:lnTo>
                  <a:lnTo>
                    <a:pt x="6350574" y="222915"/>
                  </a:lnTo>
                  <a:lnTo>
                    <a:pt x="6375713" y="264930"/>
                  </a:lnTo>
                  <a:lnTo>
                    <a:pt x="6396585" y="309096"/>
                  </a:lnTo>
                  <a:lnTo>
                    <a:pt x="6413056" y="355085"/>
                  </a:lnTo>
                  <a:lnTo>
                    <a:pt x="6424990" y="402570"/>
                  </a:lnTo>
                  <a:lnTo>
                    <a:pt x="6432249" y="451220"/>
                  </a:lnTo>
                  <a:lnTo>
                    <a:pt x="6434699" y="500709"/>
                  </a:lnTo>
                  <a:lnTo>
                    <a:pt x="6434699" y="2503489"/>
                  </a:lnTo>
                  <a:lnTo>
                    <a:pt x="6432407" y="2551711"/>
                  </a:lnTo>
                  <a:lnTo>
                    <a:pt x="6425671" y="2598636"/>
                  </a:lnTo>
                  <a:lnTo>
                    <a:pt x="6414700" y="2644054"/>
                  </a:lnTo>
                  <a:lnTo>
                    <a:pt x="6399704" y="2687756"/>
                  </a:lnTo>
                  <a:lnTo>
                    <a:pt x="6380894" y="2729531"/>
                  </a:lnTo>
                  <a:lnTo>
                    <a:pt x="6358478" y="2769170"/>
                  </a:lnTo>
                  <a:lnTo>
                    <a:pt x="6332668" y="2806463"/>
                  </a:lnTo>
                  <a:lnTo>
                    <a:pt x="6303672" y="2841200"/>
                  </a:lnTo>
                  <a:lnTo>
                    <a:pt x="6271700" y="2873172"/>
                  </a:lnTo>
                  <a:lnTo>
                    <a:pt x="6236963" y="2902168"/>
                  </a:lnTo>
                  <a:lnTo>
                    <a:pt x="6199670" y="2927978"/>
                  </a:lnTo>
                  <a:lnTo>
                    <a:pt x="6160031" y="2950394"/>
                  </a:lnTo>
                  <a:lnTo>
                    <a:pt x="6118256" y="2969204"/>
                  </a:lnTo>
                  <a:lnTo>
                    <a:pt x="6074554" y="2984200"/>
                  </a:lnTo>
                  <a:lnTo>
                    <a:pt x="6029136" y="2995171"/>
                  </a:lnTo>
                  <a:lnTo>
                    <a:pt x="5982211" y="3001907"/>
                  </a:lnTo>
                  <a:lnTo>
                    <a:pt x="5933989" y="3004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54649" y="1419150"/>
              <a:ext cx="6435090" cy="3004820"/>
            </a:xfrm>
            <a:custGeom>
              <a:avLst/>
              <a:gdLst/>
              <a:ahLst/>
              <a:cxnLst/>
              <a:rect l="l" t="t" r="r" b="b"/>
              <a:pathLst>
                <a:path w="6435090" h="3004820">
                  <a:moveTo>
                    <a:pt x="0" y="500709"/>
                  </a:moveTo>
                  <a:lnTo>
                    <a:pt x="2292" y="452488"/>
                  </a:lnTo>
                  <a:lnTo>
                    <a:pt x="9028" y="405563"/>
                  </a:lnTo>
                  <a:lnTo>
                    <a:pt x="19999" y="360145"/>
                  </a:lnTo>
                  <a:lnTo>
                    <a:pt x="34995" y="316443"/>
                  </a:lnTo>
                  <a:lnTo>
                    <a:pt x="53805" y="274668"/>
                  </a:lnTo>
                  <a:lnTo>
                    <a:pt x="76221" y="235029"/>
                  </a:lnTo>
                  <a:lnTo>
                    <a:pt x="102031" y="197736"/>
                  </a:lnTo>
                  <a:lnTo>
                    <a:pt x="131027" y="162999"/>
                  </a:lnTo>
                  <a:lnTo>
                    <a:pt x="162999" y="131027"/>
                  </a:lnTo>
                  <a:lnTo>
                    <a:pt x="197736" y="102031"/>
                  </a:lnTo>
                  <a:lnTo>
                    <a:pt x="235029" y="76221"/>
                  </a:lnTo>
                  <a:lnTo>
                    <a:pt x="274668" y="53805"/>
                  </a:lnTo>
                  <a:lnTo>
                    <a:pt x="316443" y="34995"/>
                  </a:lnTo>
                  <a:lnTo>
                    <a:pt x="360145" y="19999"/>
                  </a:lnTo>
                  <a:lnTo>
                    <a:pt x="405563" y="9028"/>
                  </a:lnTo>
                  <a:lnTo>
                    <a:pt x="452488" y="2292"/>
                  </a:lnTo>
                  <a:lnTo>
                    <a:pt x="500709" y="0"/>
                  </a:lnTo>
                  <a:lnTo>
                    <a:pt x="5933989" y="0"/>
                  </a:lnTo>
                  <a:lnTo>
                    <a:pt x="5983479" y="2450"/>
                  </a:lnTo>
                  <a:lnTo>
                    <a:pt x="6032129" y="9709"/>
                  </a:lnTo>
                  <a:lnTo>
                    <a:pt x="6079614" y="21643"/>
                  </a:lnTo>
                  <a:lnTo>
                    <a:pt x="6125603" y="38114"/>
                  </a:lnTo>
                  <a:lnTo>
                    <a:pt x="6169769" y="58986"/>
                  </a:lnTo>
                  <a:lnTo>
                    <a:pt x="6211783" y="84125"/>
                  </a:lnTo>
                  <a:lnTo>
                    <a:pt x="6251318" y="113393"/>
                  </a:lnTo>
                  <a:lnTo>
                    <a:pt x="6288044" y="146654"/>
                  </a:lnTo>
                  <a:lnTo>
                    <a:pt x="6321306" y="183381"/>
                  </a:lnTo>
                  <a:lnTo>
                    <a:pt x="6350574" y="222915"/>
                  </a:lnTo>
                  <a:lnTo>
                    <a:pt x="6375713" y="264930"/>
                  </a:lnTo>
                  <a:lnTo>
                    <a:pt x="6396585" y="309096"/>
                  </a:lnTo>
                  <a:lnTo>
                    <a:pt x="6413056" y="355085"/>
                  </a:lnTo>
                  <a:lnTo>
                    <a:pt x="6424990" y="402570"/>
                  </a:lnTo>
                  <a:lnTo>
                    <a:pt x="6432249" y="451220"/>
                  </a:lnTo>
                  <a:lnTo>
                    <a:pt x="6434699" y="500709"/>
                  </a:lnTo>
                  <a:lnTo>
                    <a:pt x="6434699" y="2503489"/>
                  </a:lnTo>
                  <a:lnTo>
                    <a:pt x="6432407" y="2551711"/>
                  </a:lnTo>
                  <a:lnTo>
                    <a:pt x="6425671" y="2598636"/>
                  </a:lnTo>
                  <a:lnTo>
                    <a:pt x="6414700" y="2644054"/>
                  </a:lnTo>
                  <a:lnTo>
                    <a:pt x="6399704" y="2687756"/>
                  </a:lnTo>
                  <a:lnTo>
                    <a:pt x="6380894" y="2729531"/>
                  </a:lnTo>
                  <a:lnTo>
                    <a:pt x="6358478" y="2769170"/>
                  </a:lnTo>
                  <a:lnTo>
                    <a:pt x="6332668" y="2806463"/>
                  </a:lnTo>
                  <a:lnTo>
                    <a:pt x="6303672" y="2841200"/>
                  </a:lnTo>
                  <a:lnTo>
                    <a:pt x="6271700" y="2873172"/>
                  </a:lnTo>
                  <a:lnTo>
                    <a:pt x="6236963" y="2902168"/>
                  </a:lnTo>
                  <a:lnTo>
                    <a:pt x="6199670" y="2927978"/>
                  </a:lnTo>
                  <a:lnTo>
                    <a:pt x="6160031" y="2950394"/>
                  </a:lnTo>
                  <a:lnTo>
                    <a:pt x="6118256" y="2969204"/>
                  </a:lnTo>
                  <a:lnTo>
                    <a:pt x="6074554" y="2984200"/>
                  </a:lnTo>
                  <a:lnTo>
                    <a:pt x="6029136" y="2995171"/>
                  </a:lnTo>
                  <a:lnTo>
                    <a:pt x="5982211" y="3001907"/>
                  </a:lnTo>
                  <a:lnTo>
                    <a:pt x="5933989" y="3004199"/>
                  </a:lnTo>
                  <a:lnTo>
                    <a:pt x="500709" y="3004199"/>
                  </a:lnTo>
                  <a:lnTo>
                    <a:pt x="452488" y="3001907"/>
                  </a:lnTo>
                  <a:lnTo>
                    <a:pt x="405563" y="2995171"/>
                  </a:lnTo>
                  <a:lnTo>
                    <a:pt x="360145" y="2984200"/>
                  </a:lnTo>
                  <a:lnTo>
                    <a:pt x="316443" y="2969204"/>
                  </a:lnTo>
                  <a:lnTo>
                    <a:pt x="274668" y="2950394"/>
                  </a:lnTo>
                  <a:lnTo>
                    <a:pt x="235029" y="2927978"/>
                  </a:lnTo>
                  <a:lnTo>
                    <a:pt x="197736" y="2902168"/>
                  </a:lnTo>
                  <a:lnTo>
                    <a:pt x="162999" y="2873172"/>
                  </a:lnTo>
                  <a:lnTo>
                    <a:pt x="131027" y="2841200"/>
                  </a:lnTo>
                  <a:lnTo>
                    <a:pt x="102031" y="2806463"/>
                  </a:lnTo>
                  <a:lnTo>
                    <a:pt x="76221" y="2769170"/>
                  </a:lnTo>
                  <a:lnTo>
                    <a:pt x="53805" y="2729531"/>
                  </a:lnTo>
                  <a:lnTo>
                    <a:pt x="34995" y="2687756"/>
                  </a:lnTo>
                  <a:lnTo>
                    <a:pt x="19999" y="2644054"/>
                  </a:lnTo>
                  <a:lnTo>
                    <a:pt x="9028" y="2598636"/>
                  </a:lnTo>
                  <a:lnTo>
                    <a:pt x="2292" y="2551711"/>
                  </a:lnTo>
                  <a:lnTo>
                    <a:pt x="0" y="2503489"/>
                  </a:lnTo>
                  <a:lnTo>
                    <a:pt x="0" y="50070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05049" y="1773200"/>
              <a:ext cx="5133975" cy="732790"/>
            </a:xfrm>
            <a:custGeom>
              <a:avLst/>
              <a:gdLst/>
              <a:ahLst/>
              <a:cxnLst/>
              <a:rect l="l" t="t" r="r" b="b"/>
              <a:pathLst>
                <a:path w="5133975" h="732789">
                  <a:moveTo>
                    <a:pt x="5011847" y="732299"/>
                  </a:moveTo>
                  <a:lnTo>
                    <a:pt x="122052" y="732299"/>
                  </a:lnTo>
                  <a:lnTo>
                    <a:pt x="74544" y="722708"/>
                  </a:lnTo>
                  <a:lnTo>
                    <a:pt x="35748" y="696551"/>
                  </a:lnTo>
                  <a:lnTo>
                    <a:pt x="9591" y="657755"/>
                  </a:lnTo>
                  <a:lnTo>
                    <a:pt x="0" y="610247"/>
                  </a:lnTo>
                  <a:lnTo>
                    <a:pt x="0" y="122052"/>
                  </a:lnTo>
                  <a:lnTo>
                    <a:pt x="9591" y="74544"/>
                  </a:lnTo>
                  <a:lnTo>
                    <a:pt x="35748" y="35748"/>
                  </a:lnTo>
                  <a:lnTo>
                    <a:pt x="74544" y="9591"/>
                  </a:lnTo>
                  <a:lnTo>
                    <a:pt x="122052" y="0"/>
                  </a:lnTo>
                  <a:lnTo>
                    <a:pt x="5011847" y="0"/>
                  </a:lnTo>
                  <a:lnTo>
                    <a:pt x="5058555" y="9290"/>
                  </a:lnTo>
                  <a:lnTo>
                    <a:pt x="5098151" y="35748"/>
                  </a:lnTo>
                  <a:lnTo>
                    <a:pt x="5124609" y="75344"/>
                  </a:lnTo>
                  <a:lnTo>
                    <a:pt x="5133900" y="122052"/>
                  </a:lnTo>
                  <a:lnTo>
                    <a:pt x="5133900" y="610247"/>
                  </a:lnTo>
                  <a:lnTo>
                    <a:pt x="5124308" y="657755"/>
                  </a:lnTo>
                  <a:lnTo>
                    <a:pt x="5098151" y="696551"/>
                  </a:lnTo>
                  <a:lnTo>
                    <a:pt x="5059356" y="722708"/>
                  </a:lnTo>
                  <a:lnTo>
                    <a:pt x="5011847" y="7322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5049" y="1773200"/>
              <a:ext cx="5133975" cy="732790"/>
            </a:xfrm>
            <a:custGeom>
              <a:avLst/>
              <a:gdLst/>
              <a:ahLst/>
              <a:cxnLst/>
              <a:rect l="l" t="t" r="r" b="b"/>
              <a:pathLst>
                <a:path w="5133975" h="732789">
                  <a:moveTo>
                    <a:pt x="0" y="122052"/>
                  </a:moveTo>
                  <a:lnTo>
                    <a:pt x="9591" y="74544"/>
                  </a:lnTo>
                  <a:lnTo>
                    <a:pt x="35748" y="35748"/>
                  </a:lnTo>
                  <a:lnTo>
                    <a:pt x="74544" y="9591"/>
                  </a:lnTo>
                  <a:lnTo>
                    <a:pt x="122052" y="0"/>
                  </a:lnTo>
                  <a:lnTo>
                    <a:pt x="5011847" y="0"/>
                  </a:lnTo>
                  <a:lnTo>
                    <a:pt x="5058555" y="9290"/>
                  </a:lnTo>
                  <a:lnTo>
                    <a:pt x="5098151" y="35748"/>
                  </a:lnTo>
                  <a:lnTo>
                    <a:pt x="5124609" y="75344"/>
                  </a:lnTo>
                  <a:lnTo>
                    <a:pt x="5133900" y="122052"/>
                  </a:lnTo>
                  <a:lnTo>
                    <a:pt x="5133900" y="610247"/>
                  </a:lnTo>
                  <a:lnTo>
                    <a:pt x="5124308" y="657755"/>
                  </a:lnTo>
                  <a:lnTo>
                    <a:pt x="5098151" y="696551"/>
                  </a:lnTo>
                  <a:lnTo>
                    <a:pt x="5059356" y="722708"/>
                  </a:lnTo>
                  <a:lnTo>
                    <a:pt x="5011847" y="732299"/>
                  </a:lnTo>
                  <a:lnTo>
                    <a:pt x="122052" y="732299"/>
                  </a:lnTo>
                  <a:lnTo>
                    <a:pt x="74544" y="722708"/>
                  </a:lnTo>
                  <a:lnTo>
                    <a:pt x="35748" y="696551"/>
                  </a:lnTo>
                  <a:lnTo>
                    <a:pt x="9591" y="657755"/>
                  </a:lnTo>
                  <a:lnTo>
                    <a:pt x="0" y="610247"/>
                  </a:lnTo>
                  <a:lnTo>
                    <a:pt x="0" y="1220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80199" y="2587275"/>
              <a:ext cx="4384040" cy="1496695"/>
            </a:xfrm>
            <a:custGeom>
              <a:avLst/>
              <a:gdLst/>
              <a:ahLst/>
              <a:cxnLst/>
              <a:rect l="l" t="t" r="r" b="b"/>
              <a:pathLst>
                <a:path w="4384040" h="1496695">
                  <a:moveTo>
                    <a:pt x="4134194" y="1496399"/>
                  </a:moveTo>
                  <a:lnTo>
                    <a:pt x="249404" y="1496399"/>
                  </a:lnTo>
                  <a:lnTo>
                    <a:pt x="204574" y="1492381"/>
                  </a:lnTo>
                  <a:lnTo>
                    <a:pt x="162379" y="1480796"/>
                  </a:lnTo>
                  <a:lnTo>
                    <a:pt x="123525" y="1462348"/>
                  </a:lnTo>
                  <a:lnTo>
                    <a:pt x="88716" y="1437743"/>
                  </a:lnTo>
                  <a:lnTo>
                    <a:pt x="58656" y="1407683"/>
                  </a:lnTo>
                  <a:lnTo>
                    <a:pt x="34051" y="1372874"/>
                  </a:lnTo>
                  <a:lnTo>
                    <a:pt x="15603" y="1334020"/>
                  </a:lnTo>
                  <a:lnTo>
                    <a:pt x="4018" y="1291825"/>
                  </a:lnTo>
                  <a:lnTo>
                    <a:pt x="0" y="1246994"/>
                  </a:lnTo>
                  <a:lnTo>
                    <a:pt x="0" y="249404"/>
                  </a:lnTo>
                  <a:lnTo>
                    <a:pt x="4018" y="204574"/>
                  </a:lnTo>
                  <a:lnTo>
                    <a:pt x="15603" y="162379"/>
                  </a:lnTo>
                  <a:lnTo>
                    <a:pt x="34051" y="123525"/>
                  </a:lnTo>
                  <a:lnTo>
                    <a:pt x="58656" y="88716"/>
                  </a:lnTo>
                  <a:lnTo>
                    <a:pt x="88716" y="58656"/>
                  </a:lnTo>
                  <a:lnTo>
                    <a:pt x="123525" y="34051"/>
                  </a:lnTo>
                  <a:lnTo>
                    <a:pt x="162379" y="15603"/>
                  </a:lnTo>
                  <a:lnTo>
                    <a:pt x="204574" y="4018"/>
                  </a:lnTo>
                  <a:lnTo>
                    <a:pt x="249404" y="0"/>
                  </a:lnTo>
                  <a:lnTo>
                    <a:pt x="4134194" y="0"/>
                  </a:lnTo>
                  <a:lnTo>
                    <a:pt x="4183078" y="4836"/>
                  </a:lnTo>
                  <a:lnTo>
                    <a:pt x="4229638" y="18984"/>
                  </a:lnTo>
                  <a:lnTo>
                    <a:pt x="4272564" y="41902"/>
                  </a:lnTo>
                  <a:lnTo>
                    <a:pt x="4310550" y="73048"/>
                  </a:lnTo>
                  <a:lnTo>
                    <a:pt x="4341696" y="111034"/>
                  </a:lnTo>
                  <a:lnTo>
                    <a:pt x="4364615" y="153961"/>
                  </a:lnTo>
                  <a:lnTo>
                    <a:pt x="4378763" y="200521"/>
                  </a:lnTo>
                  <a:lnTo>
                    <a:pt x="4383599" y="249404"/>
                  </a:lnTo>
                  <a:lnTo>
                    <a:pt x="4383599" y="1246994"/>
                  </a:lnTo>
                  <a:lnTo>
                    <a:pt x="4379581" y="1291825"/>
                  </a:lnTo>
                  <a:lnTo>
                    <a:pt x="4367996" y="1334020"/>
                  </a:lnTo>
                  <a:lnTo>
                    <a:pt x="4349548" y="1372874"/>
                  </a:lnTo>
                  <a:lnTo>
                    <a:pt x="4324943" y="1407683"/>
                  </a:lnTo>
                  <a:lnTo>
                    <a:pt x="4294883" y="1437743"/>
                  </a:lnTo>
                  <a:lnTo>
                    <a:pt x="4260074" y="1462348"/>
                  </a:lnTo>
                  <a:lnTo>
                    <a:pt x="4221220" y="1480796"/>
                  </a:lnTo>
                  <a:lnTo>
                    <a:pt x="4179025" y="1492381"/>
                  </a:lnTo>
                  <a:lnTo>
                    <a:pt x="4134194" y="1496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80199" y="2587275"/>
              <a:ext cx="4384040" cy="1496695"/>
            </a:xfrm>
            <a:custGeom>
              <a:avLst/>
              <a:gdLst/>
              <a:ahLst/>
              <a:cxnLst/>
              <a:rect l="l" t="t" r="r" b="b"/>
              <a:pathLst>
                <a:path w="4384040" h="1496695">
                  <a:moveTo>
                    <a:pt x="0" y="249404"/>
                  </a:moveTo>
                  <a:lnTo>
                    <a:pt x="4018" y="204574"/>
                  </a:lnTo>
                  <a:lnTo>
                    <a:pt x="15603" y="162379"/>
                  </a:lnTo>
                  <a:lnTo>
                    <a:pt x="34051" y="123525"/>
                  </a:lnTo>
                  <a:lnTo>
                    <a:pt x="58656" y="88716"/>
                  </a:lnTo>
                  <a:lnTo>
                    <a:pt x="88716" y="58656"/>
                  </a:lnTo>
                  <a:lnTo>
                    <a:pt x="123525" y="34051"/>
                  </a:lnTo>
                  <a:lnTo>
                    <a:pt x="162379" y="15603"/>
                  </a:lnTo>
                  <a:lnTo>
                    <a:pt x="204574" y="4018"/>
                  </a:lnTo>
                  <a:lnTo>
                    <a:pt x="249404" y="0"/>
                  </a:lnTo>
                  <a:lnTo>
                    <a:pt x="4134194" y="0"/>
                  </a:lnTo>
                  <a:lnTo>
                    <a:pt x="4183078" y="4836"/>
                  </a:lnTo>
                  <a:lnTo>
                    <a:pt x="4229638" y="18984"/>
                  </a:lnTo>
                  <a:lnTo>
                    <a:pt x="4272564" y="41902"/>
                  </a:lnTo>
                  <a:lnTo>
                    <a:pt x="4310550" y="73048"/>
                  </a:lnTo>
                  <a:lnTo>
                    <a:pt x="4341696" y="111034"/>
                  </a:lnTo>
                  <a:lnTo>
                    <a:pt x="4364615" y="153961"/>
                  </a:lnTo>
                  <a:lnTo>
                    <a:pt x="4378763" y="200521"/>
                  </a:lnTo>
                  <a:lnTo>
                    <a:pt x="4383599" y="249404"/>
                  </a:lnTo>
                  <a:lnTo>
                    <a:pt x="4383599" y="1246994"/>
                  </a:lnTo>
                  <a:lnTo>
                    <a:pt x="4379581" y="1291825"/>
                  </a:lnTo>
                  <a:lnTo>
                    <a:pt x="4367996" y="1334020"/>
                  </a:lnTo>
                  <a:lnTo>
                    <a:pt x="4349548" y="1372874"/>
                  </a:lnTo>
                  <a:lnTo>
                    <a:pt x="4324943" y="1407683"/>
                  </a:lnTo>
                  <a:lnTo>
                    <a:pt x="4294883" y="1437743"/>
                  </a:lnTo>
                  <a:lnTo>
                    <a:pt x="4260074" y="1462348"/>
                  </a:lnTo>
                  <a:lnTo>
                    <a:pt x="4221220" y="1480796"/>
                  </a:lnTo>
                  <a:lnTo>
                    <a:pt x="4179025" y="1492381"/>
                  </a:lnTo>
                  <a:lnTo>
                    <a:pt x="4134194" y="1496399"/>
                  </a:lnTo>
                  <a:lnTo>
                    <a:pt x="249404" y="1496399"/>
                  </a:lnTo>
                  <a:lnTo>
                    <a:pt x="204574" y="1492381"/>
                  </a:lnTo>
                  <a:lnTo>
                    <a:pt x="162379" y="1480796"/>
                  </a:lnTo>
                  <a:lnTo>
                    <a:pt x="123525" y="1462348"/>
                  </a:lnTo>
                  <a:lnTo>
                    <a:pt x="88716" y="1437743"/>
                  </a:lnTo>
                  <a:lnTo>
                    <a:pt x="58656" y="1407683"/>
                  </a:lnTo>
                  <a:lnTo>
                    <a:pt x="34051" y="1372874"/>
                  </a:lnTo>
                  <a:lnTo>
                    <a:pt x="15603" y="1334020"/>
                  </a:lnTo>
                  <a:lnTo>
                    <a:pt x="4018" y="1291825"/>
                  </a:lnTo>
                  <a:lnTo>
                    <a:pt x="0" y="1246994"/>
                  </a:lnTo>
                  <a:lnTo>
                    <a:pt x="0" y="24940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Whose</a:t>
            </a:r>
            <a:r>
              <a:rPr spc="-27" dirty="0"/>
              <a:t> </a:t>
            </a:r>
            <a:r>
              <a:rPr dirty="0"/>
              <a:t>English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3" dirty="0"/>
              <a:t>included?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18430" y="2639191"/>
            <a:ext cx="6438053" cy="257651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3" dirty="0">
                <a:latin typeface="Arial"/>
                <a:cs typeface="Arial"/>
              </a:rPr>
              <a:t>Dialect-</a:t>
            </a:r>
            <a:r>
              <a:rPr sz="2400" dirty="0">
                <a:latin typeface="Arial"/>
                <a:cs typeface="Arial"/>
              </a:rPr>
              <a:t>aware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topic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Blodgett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el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al.,2016</a:t>
            </a:r>
            <a:r>
              <a:rPr sz="2400" spc="-13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 marL="566406">
              <a:spcBef>
                <a:spcPts val="2260"/>
              </a:spcBef>
            </a:pPr>
            <a:r>
              <a:rPr sz="2400" dirty="0">
                <a:latin typeface="Arial"/>
                <a:cs typeface="Arial"/>
              </a:rPr>
              <a:t>Trained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60M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geolocated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tweets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60"/>
              </a:spcBef>
            </a:pPr>
            <a:endParaRPr sz="2467">
              <a:latin typeface="Arial"/>
              <a:cs typeface="Arial"/>
            </a:endParaRPr>
          </a:p>
          <a:p>
            <a:pPr marL="566406" marR="474968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Relies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census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race/ethnicity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topics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64A137-40DE-4B39-B311-A4EECFCCAF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75</a:t>
            </a:fld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3817" y="1988983"/>
            <a:ext cx="8592820" cy="3944620"/>
            <a:chOff x="1247862" y="1491737"/>
            <a:chExt cx="6444615" cy="2958465"/>
          </a:xfrm>
        </p:grpSpPr>
        <p:sp>
          <p:nvSpPr>
            <p:cNvPr id="3" name="object 3"/>
            <p:cNvSpPr/>
            <p:nvPr/>
          </p:nvSpPr>
          <p:spPr>
            <a:xfrm>
              <a:off x="1252624" y="1496500"/>
              <a:ext cx="6435090" cy="2948940"/>
            </a:xfrm>
            <a:custGeom>
              <a:avLst/>
              <a:gdLst/>
              <a:ahLst/>
              <a:cxnLst/>
              <a:rect l="l" t="t" r="r" b="b"/>
              <a:pathLst>
                <a:path w="6435090" h="2948940">
                  <a:moveTo>
                    <a:pt x="5943239" y="2948699"/>
                  </a:moveTo>
                  <a:lnTo>
                    <a:pt x="491459" y="2948699"/>
                  </a:lnTo>
                  <a:lnTo>
                    <a:pt x="444128" y="2946450"/>
                  </a:lnTo>
                  <a:lnTo>
                    <a:pt x="398070" y="2939838"/>
                  </a:lnTo>
                  <a:lnTo>
                    <a:pt x="353491" y="2929069"/>
                  </a:lnTo>
                  <a:lnTo>
                    <a:pt x="310597" y="2914351"/>
                  </a:lnTo>
                  <a:lnTo>
                    <a:pt x="269594" y="2895888"/>
                  </a:lnTo>
                  <a:lnTo>
                    <a:pt x="230687" y="2873887"/>
                  </a:lnTo>
                  <a:lnTo>
                    <a:pt x="194083" y="2848553"/>
                  </a:lnTo>
                  <a:lnTo>
                    <a:pt x="159987" y="2820092"/>
                  </a:lnTo>
                  <a:lnTo>
                    <a:pt x="128607" y="2788712"/>
                  </a:lnTo>
                  <a:lnTo>
                    <a:pt x="100146" y="2754616"/>
                  </a:lnTo>
                  <a:lnTo>
                    <a:pt x="74812" y="2718012"/>
                  </a:lnTo>
                  <a:lnTo>
                    <a:pt x="52811" y="2679105"/>
                  </a:lnTo>
                  <a:lnTo>
                    <a:pt x="34348" y="2638102"/>
                  </a:lnTo>
                  <a:lnTo>
                    <a:pt x="19630" y="2595208"/>
                  </a:lnTo>
                  <a:lnTo>
                    <a:pt x="8861" y="2550629"/>
                  </a:lnTo>
                  <a:lnTo>
                    <a:pt x="2249" y="2504571"/>
                  </a:lnTo>
                  <a:lnTo>
                    <a:pt x="0" y="2457240"/>
                  </a:lnTo>
                  <a:lnTo>
                    <a:pt x="0" y="491459"/>
                  </a:lnTo>
                  <a:lnTo>
                    <a:pt x="2249" y="444128"/>
                  </a:lnTo>
                  <a:lnTo>
                    <a:pt x="8861" y="398070"/>
                  </a:lnTo>
                  <a:lnTo>
                    <a:pt x="19630" y="353491"/>
                  </a:lnTo>
                  <a:lnTo>
                    <a:pt x="34348" y="310597"/>
                  </a:lnTo>
                  <a:lnTo>
                    <a:pt x="52811" y="269594"/>
                  </a:lnTo>
                  <a:lnTo>
                    <a:pt x="74812" y="230687"/>
                  </a:lnTo>
                  <a:lnTo>
                    <a:pt x="100146" y="194083"/>
                  </a:lnTo>
                  <a:lnTo>
                    <a:pt x="128607" y="159987"/>
                  </a:lnTo>
                  <a:lnTo>
                    <a:pt x="159987" y="128606"/>
                  </a:lnTo>
                  <a:lnTo>
                    <a:pt x="194083" y="100146"/>
                  </a:lnTo>
                  <a:lnTo>
                    <a:pt x="230687" y="74812"/>
                  </a:lnTo>
                  <a:lnTo>
                    <a:pt x="269594" y="52811"/>
                  </a:lnTo>
                  <a:lnTo>
                    <a:pt x="310597" y="34348"/>
                  </a:lnTo>
                  <a:lnTo>
                    <a:pt x="353491" y="19630"/>
                  </a:lnTo>
                  <a:lnTo>
                    <a:pt x="398070" y="8861"/>
                  </a:lnTo>
                  <a:lnTo>
                    <a:pt x="444128" y="2249"/>
                  </a:lnTo>
                  <a:lnTo>
                    <a:pt x="491459" y="0"/>
                  </a:lnTo>
                  <a:lnTo>
                    <a:pt x="5943239" y="0"/>
                  </a:lnTo>
                  <a:lnTo>
                    <a:pt x="5991814" y="2404"/>
                  </a:lnTo>
                  <a:lnTo>
                    <a:pt x="6039566" y="9530"/>
                  </a:lnTo>
                  <a:lnTo>
                    <a:pt x="6086173" y="21243"/>
                  </a:lnTo>
                  <a:lnTo>
                    <a:pt x="6131313" y="37410"/>
                  </a:lnTo>
                  <a:lnTo>
                    <a:pt x="6174664" y="57897"/>
                  </a:lnTo>
                  <a:lnTo>
                    <a:pt x="6215902" y="82571"/>
                  </a:lnTo>
                  <a:lnTo>
                    <a:pt x="6254706" y="111298"/>
                  </a:lnTo>
                  <a:lnTo>
                    <a:pt x="6290754" y="143945"/>
                  </a:lnTo>
                  <a:lnTo>
                    <a:pt x="6323401" y="179993"/>
                  </a:lnTo>
                  <a:lnTo>
                    <a:pt x="6352128" y="218797"/>
                  </a:lnTo>
                  <a:lnTo>
                    <a:pt x="6376802" y="260036"/>
                  </a:lnTo>
                  <a:lnTo>
                    <a:pt x="6397289" y="303386"/>
                  </a:lnTo>
                  <a:lnTo>
                    <a:pt x="6413456" y="348526"/>
                  </a:lnTo>
                  <a:lnTo>
                    <a:pt x="6425169" y="395133"/>
                  </a:lnTo>
                  <a:lnTo>
                    <a:pt x="6432295" y="442885"/>
                  </a:lnTo>
                  <a:lnTo>
                    <a:pt x="6434699" y="491459"/>
                  </a:lnTo>
                  <a:lnTo>
                    <a:pt x="6434699" y="2457240"/>
                  </a:lnTo>
                  <a:lnTo>
                    <a:pt x="6432450" y="2504571"/>
                  </a:lnTo>
                  <a:lnTo>
                    <a:pt x="6425838" y="2550629"/>
                  </a:lnTo>
                  <a:lnTo>
                    <a:pt x="6415069" y="2595208"/>
                  </a:lnTo>
                  <a:lnTo>
                    <a:pt x="6400351" y="2638102"/>
                  </a:lnTo>
                  <a:lnTo>
                    <a:pt x="6381888" y="2679105"/>
                  </a:lnTo>
                  <a:lnTo>
                    <a:pt x="6359886" y="2718012"/>
                  </a:lnTo>
                  <a:lnTo>
                    <a:pt x="6334553" y="2754616"/>
                  </a:lnTo>
                  <a:lnTo>
                    <a:pt x="6306092" y="2788712"/>
                  </a:lnTo>
                  <a:lnTo>
                    <a:pt x="6274711" y="2820092"/>
                  </a:lnTo>
                  <a:lnTo>
                    <a:pt x="6240616" y="2848553"/>
                  </a:lnTo>
                  <a:lnTo>
                    <a:pt x="6204012" y="2873887"/>
                  </a:lnTo>
                  <a:lnTo>
                    <a:pt x="6165105" y="2895888"/>
                  </a:lnTo>
                  <a:lnTo>
                    <a:pt x="6124102" y="2914351"/>
                  </a:lnTo>
                  <a:lnTo>
                    <a:pt x="6081207" y="2929069"/>
                  </a:lnTo>
                  <a:lnTo>
                    <a:pt x="6036628" y="2939838"/>
                  </a:lnTo>
                  <a:lnTo>
                    <a:pt x="5990570" y="2946450"/>
                  </a:lnTo>
                  <a:lnTo>
                    <a:pt x="5943239" y="2948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2624" y="1496500"/>
              <a:ext cx="6435090" cy="2948940"/>
            </a:xfrm>
            <a:custGeom>
              <a:avLst/>
              <a:gdLst/>
              <a:ahLst/>
              <a:cxnLst/>
              <a:rect l="l" t="t" r="r" b="b"/>
              <a:pathLst>
                <a:path w="6435090" h="2948940">
                  <a:moveTo>
                    <a:pt x="0" y="491459"/>
                  </a:moveTo>
                  <a:lnTo>
                    <a:pt x="2249" y="444128"/>
                  </a:lnTo>
                  <a:lnTo>
                    <a:pt x="8861" y="398070"/>
                  </a:lnTo>
                  <a:lnTo>
                    <a:pt x="19630" y="353491"/>
                  </a:lnTo>
                  <a:lnTo>
                    <a:pt x="34348" y="310597"/>
                  </a:lnTo>
                  <a:lnTo>
                    <a:pt x="52811" y="269594"/>
                  </a:lnTo>
                  <a:lnTo>
                    <a:pt x="74812" y="230687"/>
                  </a:lnTo>
                  <a:lnTo>
                    <a:pt x="100146" y="194083"/>
                  </a:lnTo>
                  <a:lnTo>
                    <a:pt x="128607" y="159987"/>
                  </a:lnTo>
                  <a:lnTo>
                    <a:pt x="159987" y="128606"/>
                  </a:lnTo>
                  <a:lnTo>
                    <a:pt x="194083" y="100146"/>
                  </a:lnTo>
                  <a:lnTo>
                    <a:pt x="230687" y="74812"/>
                  </a:lnTo>
                  <a:lnTo>
                    <a:pt x="269594" y="52811"/>
                  </a:lnTo>
                  <a:lnTo>
                    <a:pt x="310597" y="34348"/>
                  </a:lnTo>
                  <a:lnTo>
                    <a:pt x="353491" y="19630"/>
                  </a:lnTo>
                  <a:lnTo>
                    <a:pt x="398070" y="8861"/>
                  </a:lnTo>
                  <a:lnTo>
                    <a:pt x="444128" y="2249"/>
                  </a:lnTo>
                  <a:lnTo>
                    <a:pt x="491459" y="0"/>
                  </a:lnTo>
                  <a:lnTo>
                    <a:pt x="5943239" y="0"/>
                  </a:lnTo>
                  <a:lnTo>
                    <a:pt x="5991814" y="2404"/>
                  </a:lnTo>
                  <a:lnTo>
                    <a:pt x="6039566" y="9530"/>
                  </a:lnTo>
                  <a:lnTo>
                    <a:pt x="6086173" y="21243"/>
                  </a:lnTo>
                  <a:lnTo>
                    <a:pt x="6131313" y="37410"/>
                  </a:lnTo>
                  <a:lnTo>
                    <a:pt x="6174664" y="57897"/>
                  </a:lnTo>
                  <a:lnTo>
                    <a:pt x="6215902" y="82571"/>
                  </a:lnTo>
                  <a:lnTo>
                    <a:pt x="6254706" y="111298"/>
                  </a:lnTo>
                  <a:lnTo>
                    <a:pt x="6290754" y="143945"/>
                  </a:lnTo>
                  <a:lnTo>
                    <a:pt x="6323401" y="179993"/>
                  </a:lnTo>
                  <a:lnTo>
                    <a:pt x="6352128" y="218797"/>
                  </a:lnTo>
                  <a:lnTo>
                    <a:pt x="6376802" y="260036"/>
                  </a:lnTo>
                  <a:lnTo>
                    <a:pt x="6397289" y="303386"/>
                  </a:lnTo>
                  <a:lnTo>
                    <a:pt x="6413456" y="348526"/>
                  </a:lnTo>
                  <a:lnTo>
                    <a:pt x="6425169" y="395133"/>
                  </a:lnTo>
                  <a:lnTo>
                    <a:pt x="6432295" y="442885"/>
                  </a:lnTo>
                  <a:lnTo>
                    <a:pt x="6434699" y="491459"/>
                  </a:lnTo>
                  <a:lnTo>
                    <a:pt x="6434699" y="2457240"/>
                  </a:lnTo>
                  <a:lnTo>
                    <a:pt x="6432450" y="2504571"/>
                  </a:lnTo>
                  <a:lnTo>
                    <a:pt x="6425838" y="2550629"/>
                  </a:lnTo>
                  <a:lnTo>
                    <a:pt x="6415069" y="2595208"/>
                  </a:lnTo>
                  <a:lnTo>
                    <a:pt x="6400351" y="2638102"/>
                  </a:lnTo>
                  <a:lnTo>
                    <a:pt x="6381888" y="2679105"/>
                  </a:lnTo>
                  <a:lnTo>
                    <a:pt x="6359886" y="2718012"/>
                  </a:lnTo>
                  <a:lnTo>
                    <a:pt x="6334553" y="2754616"/>
                  </a:lnTo>
                  <a:lnTo>
                    <a:pt x="6306092" y="2788712"/>
                  </a:lnTo>
                  <a:lnTo>
                    <a:pt x="6274711" y="2820092"/>
                  </a:lnTo>
                  <a:lnTo>
                    <a:pt x="6240616" y="2848553"/>
                  </a:lnTo>
                  <a:lnTo>
                    <a:pt x="6204012" y="2873887"/>
                  </a:lnTo>
                  <a:lnTo>
                    <a:pt x="6165105" y="2895888"/>
                  </a:lnTo>
                  <a:lnTo>
                    <a:pt x="6124102" y="2914351"/>
                  </a:lnTo>
                  <a:lnTo>
                    <a:pt x="6081207" y="2929069"/>
                  </a:lnTo>
                  <a:lnTo>
                    <a:pt x="6036628" y="2939838"/>
                  </a:lnTo>
                  <a:lnTo>
                    <a:pt x="5990570" y="2946450"/>
                  </a:lnTo>
                  <a:lnTo>
                    <a:pt x="5943239" y="2948699"/>
                  </a:lnTo>
                  <a:lnTo>
                    <a:pt x="491459" y="2948699"/>
                  </a:lnTo>
                  <a:lnTo>
                    <a:pt x="444128" y="2946450"/>
                  </a:lnTo>
                  <a:lnTo>
                    <a:pt x="398070" y="2939838"/>
                  </a:lnTo>
                  <a:lnTo>
                    <a:pt x="353491" y="2929069"/>
                  </a:lnTo>
                  <a:lnTo>
                    <a:pt x="310597" y="2914351"/>
                  </a:lnTo>
                  <a:lnTo>
                    <a:pt x="269594" y="2895888"/>
                  </a:lnTo>
                  <a:lnTo>
                    <a:pt x="230687" y="2873887"/>
                  </a:lnTo>
                  <a:lnTo>
                    <a:pt x="194083" y="2848553"/>
                  </a:lnTo>
                  <a:lnTo>
                    <a:pt x="159987" y="2820092"/>
                  </a:lnTo>
                  <a:lnTo>
                    <a:pt x="128607" y="2788712"/>
                  </a:lnTo>
                  <a:lnTo>
                    <a:pt x="100146" y="2754616"/>
                  </a:lnTo>
                  <a:lnTo>
                    <a:pt x="74812" y="2718012"/>
                  </a:lnTo>
                  <a:lnTo>
                    <a:pt x="52811" y="2679105"/>
                  </a:lnTo>
                  <a:lnTo>
                    <a:pt x="34348" y="2638102"/>
                  </a:lnTo>
                  <a:lnTo>
                    <a:pt x="19630" y="2595208"/>
                  </a:lnTo>
                  <a:lnTo>
                    <a:pt x="8861" y="2550629"/>
                  </a:lnTo>
                  <a:lnTo>
                    <a:pt x="2249" y="2504571"/>
                  </a:lnTo>
                  <a:lnTo>
                    <a:pt x="0" y="2457240"/>
                  </a:lnTo>
                  <a:lnTo>
                    <a:pt x="0" y="49145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77800" y="1633275"/>
              <a:ext cx="4988560" cy="1016635"/>
            </a:xfrm>
            <a:custGeom>
              <a:avLst/>
              <a:gdLst/>
              <a:ahLst/>
              <a:cxnLst/>
              <a:rect l="l" t="t" r="r" b="b"/>
              <a:pathLst>
                <a:path w="4988559" h="1016635">
                  <a:moveTo>
                    <a:pt x="4819046" y="1016099"/>
                  </a:moveTo>
                  <a:lnTo>
                    <a:pt x="169353" y="1016099"/>
                  </a:lnTo>
                  <a:lnTo>
                    <a:pt x="124332" y="1010050"/>
                  </a:lnTo>
                  <a:lnTo>
                    <a:pt x="83877" y="992978"/>
                  </a:lnTo>
                  <a:lnTo>
                    <a:pt x="49602" y="966497"/>
                  </a:lnTo>
                  <a:lnTo>
                    <a:pt x="23121" y="932222"/>
                  </a:lnTo>
                  <a:lnTo>
                    <a:pt x="6049" y="891767"/>
                  </a:lnTo>
                  <a:lnTo>
                    <a:pt x="0" y="846746"/>
                  </a:lnTo>
                  <a:lnTo>
                    <a:pt x="0" y="169353"/>
                  </a:lnTo>
                  <a:lnTo>
                    <a:pt x="6049" y="124332"/>
                  </a:lnTo>
                  <a:lnTo>
                    <a:pt x="23121" y="83877"/>
                  </a:lnTo>
                  <a:lnTo>
                    <a:pt x="49602" y="49602"/>
                  </a:lnTo>
                  <a:lnTo>
                    <a:pt x="83877" y="23121"/>
                  </a:lnTo>
                  <a:lnTo>
                    <a:pt x="124332" y="6049"/>
                  </a:lnTo>
                  <a:lnTo>
                    <a:pt x="169353" y="0"/>
                  </a:lnTo>
                  <a:lnTo>
                    <a:pt x="4819046" y="0"/>
                  </a:lnTo>
                  <a:lnTo>
                    <a:pt x="4883855" y="12891"/>
                  </a:lnTo>
                  <a:lnTo>
                    <a:pt x="4938797" y="49602"/>
                  </a:lnTo>
                  <a:lnTo>
                    <a:pt x="4975508" y="104544"/>
                  </a:lnTo>
                  <a:lnTo>
                    <a:pt x="4988399" y="169353"/>
                  </a:lnTo>
                  <a:lnTo>
                    <a:pt x="4988399" y="846746"/>
                  </a:lnTo>
                  <a:lnTo>
                    <a:pt x="4982350" y="891767"/>
                  </a:lnTo>
                  <a:lnTo>
                    <a:pt x="4965278" y="932222"/>
                  </a:lnTo>
                  <a:lnTo>
                    <a:pt x="4938797" y="966497"/>
                  </a:lnTo>
                  <a:lnTo>
                    <a:pt x="4904522" y="992978"/>
                  </a:lnTo>
                  <a:lnTo>
                    <a:pt x="4864067" y="1010050"/>
                  </a:lnTo>
                  <a:lnTo>
                    <a:pt x="4819046" y="10160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77800" y="1633275"/>
              <a:ext cx="4988560" cy="1016635"/>
            </a:xfrm>
            <a:custGeom>
              <a:avLst/>
              <a:gdLst/>
              <a:ahLst/>
              <a:cxnLst/>
              <a:rect l="l" t="t" r="r" b="b"/>
              <a:pathLst>
                <a:path w="4988559" h="1016635">
                  <a:moveTo>
                    <a:pt x="0" y="169353"/>
                  </a:moveTo>
                  <a:lnTo>
                    <a:pt x="6049" y="124332"/>
                  </a:lnTo>
                  <a:lnTo>
                    <a:pt x="23121" y="83877"/>
                  </a:lnTo>
                  <a:lnTo>
                    <a:pt x="49602" y="49602"/>
                  </a:lnTo>
                  <a:lnTo>
                    <a:pt x="83877" y="23121"/>
                  </a:lnTo>
                  <a:lnTo>
                    <a:pt x="124332" y="6049"/>
                  </a:lnTo>
                  <a:lnTo>
                    <a:pt x="169353" y="0"/>
                  </a:lnTo>
                  <a:lnTo>
                    <a:pt x="4819046" y="0"/>
                  </a:lnTo>
                  <a:lnTo>
                    <a:pt x="4883855" y="12891"/>
                  </a:lnTo>
                  <a:lnTo>
                    <a:pt x="4938797" y="49602"/>
                  </a:lnTo>
                  <a:lnTo>
                    <a:pt x="4975508" y="104544"/>
                  </a:lnTo>
                  <a:lnTo>
                    <a:pt x="4988399" y="169353"/>
                  </a:lnTo>
                  <a:lnTo>
                    <a:pt x="4988399" y="846746"/>
                  </a:lnTo>
                  <a:lnTo>
                    <a:pt x="4982350" y="891767"/>
                  </a:lnTo>
                  <a:lnTo>
                    <a:pt x="4965278" y="932222"/>
                  </a:lnTo>
                  <a:lnTo>
                    <a:pt x="4938797" y="966497"/>
                  </a:lnTo>
                  <a:lnTo>
                    <a:pt x="4904522" y="992978"/>
                  </a:lnTo>
                  <a:lnTo>
                    <a:pt x="4864067" y="1010050"/>
                  </a:lnTo>
                  <a:lnTo>
                    <a:pt x="4819046" y="1016099"/>
                  </a:lnTo>
                  <a:lnTo>
                    <a:pt x="169353" y="1016099"/>
                  </a:lnTo>
                  <a:lnTo>
                    <a:pt x="124332" y="1010050"/>
                  </a:lnTo>
                  <a:lnTo>
                    <a:pt x="83877" y="992978"/>
                  </a:lnTo>
                  <a:lnTo>
                    <a:pt x="49602" y="966497"/>
                  </a:lnTo>
                  <a:lnTo>
                    <a:pt x="23121" y="932222"/>
                  </a:lnTo>
                  <a:lnTo>
                    <a:pt x="6049" y="891767"/>
                  </a:lnTo>
                  <a:lnTo>
                    <a:pt x="0" y="846746"/>
                  </a:lnTo>
                  <a:lnTo>
                    <a:pt x="0" y="169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80199" y="2760200"/>
              <a:ext cx="4384040" cy="1485900"/>
            </a:xfrm>
            <a:custGeom>
              <a:avLst/>
              <a:gdLst/>
              <a:ahLst/>
              <a:cxnLst/>
              <a:rect l="l" t="t" r="r" b="b"/>
              <a:pathLst>
                <a:path w="4384040" h="1485900">
                  <a:moveTo>
                    <a:pt x="4136044" y="1485299"/>
                  </a:moveTo>
                  <a:lnTo>
                    <a:pt x="247554" y="1485299"/>
                  </a:lnTo>
                  <a:lnTo>
                    <a:pt x="197663" y="1480270"/>
                  </a:lnTo>
                  <a:lnTo>
                    <a:pt x="151195" y="1465845"/>
                  </a:lnTo>
                  <a:lnTo>
                    <a:pt x="109144" y="1443021"/>
                  </a:lnTo>
                  <a:lnTo>
                    <a:pt x="72507" y="1412792"/>
                  </a:lnTo>
                  <a:lnTo>
                    <a:pt x="42278" y="1376155"/>
                  </a:lnTo>
                  <a:lnTo>
                    <a:pt x="19454" y="1334104"/>
                  </a:lnTo>
                  <a:lnTo>
                    <a:pt x="5029" y="1287636"/>
                  </a:lnTo>
                  <a:lnTo>
                    <a:pt x="0" y="1237744"/>
                  </a:lnTo>
                  <a:lnTo>
                    <a:pt x="0" y="247554"/>
                  </a:lnTo>
                  <a:lnTo>
                    <a:pt x="5029" y="197663"/>
                  </a:lnTo>
                  <a:lnTo>
                    <a:pt x="19454" y="151195"/>
                  </a:lnTo>
                  <a:lnTo>
                    <a:pt x="42278" y="109144"/>
                  </a:lnTo>
                  <a:lnTo>
                    <a:pt x="72507" y="72507"/>
                  </a:lnTo>
                  <a:lnTo>
                    <a:pt x="109144" y="42278"/>
                  </a:lnTo>
                  <a:lnTo>
                    <a:pt x="151195" y="19454"/>
                  </a:lnTo>
                  <a:lnTo>
                    <a:pt x="197663" y="5029"/>
                  </a:lnTo>
                  <a:lnTo>
                    <a:pt x="247554" y="0"/>
                  </a:lnTo>
                  <a:lnTo>
                    <a:pt x="4136044" y="0"/>
                  </a:lnTo>
                  <a:lnTo>
                    <a:pt x="4184566" y="4800"/>
                  </a:lnTo>
                  <a:lnTo>
                    <a:pt x="4230780" y="18844"/>
                  </a:lnTo>
                  <a:lnTo>
                    <a:pt x="4273388" y="41592"/>
                  </a:lnTo>
                  <a:lnTo>
                    <a:pt x="4311092" y="72507"/>
                  </a:lnTo>
                  <a:lnTo>
                    <a:pt x="4342008" y="110211"/>
                  </a:lnTo>
                  <a:lnTo>
                    <a:pt x="4364756" y="152819"/>
                  </a:lnTo>
                  <a:lnTo>
                    <a:pt x="4378799" y="199033"/>
                  </a:lnTo>
                  <a:lnTo>
                    <a:pt x="4383599" y="247554"/>
                  </a:lnTo>
                  <a:lnTo>
                    <a:pt x="4383599" y="1237744"/>
                  </a:lnTo>
                  <a:lnTo>
                    <a:pt x="4378570" y="1287636"/>
                  </a:lnTo>
                  <a:lnTo>
                    <a:pt x="4364145" y="1334104"/>
                  </a:lnTo>
                  <a:lnTo>
                    <a:pt x="4341321" y="1376155"/>
                  </a:lnTo>
                  <a:lnTo>
                    <a:pt x="4311092" y="1412792"/>
                  </a:lnTo>
                  <a:lnTo>
                    <a:pt x="4274455" y="1443021"/>
                  </a:lnTo>
                  <a:lnTo>
                    <a:pt x="4232404" y="1465845"/>
                  </a:lnTo>
                  <a:lnTo>
                    <a:pt x="4185935" y="1480270"/>
                  </a:lnTo>
                  <a:lnTo>
                    <a:pt x="4136044" y="1485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80199" y="2760200"/>
              <a:ext cx="4384040" cy="1485900"/>
            </a:xfrm>
            <a:custGeom>
              <a:avLst/>
              <a:gdLst/>
              <a:ahLst/>
              <a:cxnLst/>
              <a:rect l="l" t="t" r="r" b="b"/>
              <a:pathLst>
                <a:path w="4384040" h="1485900">
                  <a:moveTo>
                    <a:pt x="0" y="247554"/>
                  </a:moveTo>
                  <a:lnTo>
                    <a:pt x="5029" y="197663"/>
                  </a:lnTo>
                  <a:lnTo>
                    <a:pt x="19454" y="151195"/>
                  </a:lnTo>
                  <a:lnTo>
                    <a:pt x="42278" y="109144"/>
                  </a:lnTo>
                  <a:lnTo>
                    <a:pt x="72507" y="72507"/>
                  </a:lnTo>
                  <a:lnTo>
                    <a:pt x="109144" y="42278"/>
                  </a:lnTo>
                  <a:lnTo>
                    <a:pt x="151195" y="19454"/>
                  </a:lnTo>
                  <a:lnTo>
                    <a:pt x="197663" y="5029"/>
                  </a:lnTo>
                  <a:lnTo>
                    <a:pt x="247554" y="0"/>
                  </a:lnTo>
                  <a:lnTo>
                    <a:pt x="4136044" y="0"/>
                  </a:lnTo>
                  <a:lnTo>
                    <a:pt x="4184566" y="4800"/>
                  </a:lnTo>
                  <a:lnTo>
                    <a:pt x="4230780" y="18844"/>
                  </a:lnTo>
                  <a:lnTo>
                    <a:pt x="4273388" y="41592"/>
                  </a:lnTo>
                  <a:lnTo>
                    <a:pt x="4311092" y="72507"/>
                  </a:lnTo>
                  <a:lnTo>
                    <a:pt x="4342008" y="110211"/>
                  </a:lnTo>
                  <a:lnTo>
                    <a:pt x="4364756" y="152819"/>
                  </a:lnTo>
                  <a:lnTo>
                    <a:pt x="4378799" y="199033"/>
                  </a:lnTo>
                  <a:lnTo>
                    <a:pt x="4383599" y="247554"/>
                  </a:lnTo>
                  <a:lnTo>
                    <a:pt x="4383599" y="1237744"/>
                  </a:lnTo>
                  <a:lnTo>
                    <a:pt x="4378570" y="1287636"/>
                  </a:lnTo>
                  <a:lnTo>
                    <a:pt x="4364145" y="1334104"/>
                  </a:lnTo>
                  <a:lnTo>
                    <a:pt x="4341321" y="1376155"/>
                  </a:lnTo>
                  <a:lnTo>
                    <a:pt x="4311092" y="1412792"/>
                  </a:lnTo>
                  <a:lnTo>
                    <a:pt x="4274455" y="1443021"/>
                  </a:lnTo>
                  <a:lnTo>
                    <a:pt x="4232404" y="1465845"/>
                  </a:lnTo>
                  <a:lnTo>
                    <a:pt x="4185935" y="1480270"/>
                  </a:lnTo>
                  <a:lnTo>
                    <a:pt x="4136044" y="1485299"/>
                  </a:lnTo>
                  <a:lnTo>
                    <a:pt x="247554" y="1485299"/>
                  </a:lnTo>
                  <a:lnTo>
                    <a:pt x="197663" y="1480270"/>
                  </a:lnTo>
                  <a:lnTo>
                    <a:pt x="151195" y="1465845"/>
                  </a:lnTo>
                  <a:lnTo>
                    <a:pt x="109144" y="1443021"/>
                  </a:lnTo>
                  <a:lnTo>
                    <a:pt x="72507" y="1412792"/>
                  </a:lnTo>
                  <a:lnTo>
                    <a:pt x="42278" y="1376155"/>
                  </a:lnTo>
                  <a:lnTo>
                    <a:pt x="19454" y="1334104"/>
                  </a:lnTo>
                  <a:lnTo>
                    <a:pt x="5029" y="1287636"/>
                  </a:lnTo>
                  <a:lnTo>
                    <a:pt x="0" y="1237744"/>
                  </a:lnTo>
                  <a:lnTo>
                    <a:pt x="0" y="2475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Whose</a:t>
            </a:r>
            <a:r>
              <a:rPr spc="-27" dirty="0"/>
              <a:t> </a:t>
            </a:r>
            <a:r>
              <a:rPr dirty="0"/>
              <a:t>English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3" dirty="0"/>
              <a:t>included?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708701" y="6354715"/>
            <a:ext cx="2226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91</a:t>
            </a:r>
            <a:endParaRPr sz="1333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5901" y="6524982"/>
            <a:ext cx="3318087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067" dirty="0">
                <a:latin typeface="Arial"/>
                <a:cs typeface="Arial"/>
              </a:rPr>
              <a:t>Blodgett</a:t>
            </a:r>
            <a:r>
              <a:rPr sz="1067" spc="20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el</a:t>
            </a:r>
            <a:r>
              <a:rPr sz="1067" spc="40" dirty="0">
                <a:latin typeface="Arial"/>
                <a:cs typeface="Arial"/>
              </a:rPr>
              <a:t> </a:t>
            </a:r>
            <a:r>
              <a:rPr sz="1067" dirty="0">
                <a:latin typeface="Arial"/>
                <a:cs typeface="Arial"/>
              </a:rPr>
              <a:t>al.,2016:</a:t>
            </a:r>
            <a:r>
              <a:rPr sz="1067" spc="60" dirty="0">
                <a:latin typeface="Arial"/>
                <a:cs typeface="Arial"/>
              </a:rPr>
              <a:t> </a:t>
            </a:r>
            <a:r>
              <a:rPr sz="1067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https://aclanthology.org/D16-1120/</a:t>
            </a:r>
            <a:endParaRPr sz="1067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3903" y="2457675"/>
            <a:ext cx="5910580" cy="2986950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yields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posterior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probabilities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spc="-67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document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200">
              <a:latin typeface="Arial"/>
              <a:cs typeface="Arial"/>
            </a:endParaRPr>
          </a:p>
          <a:p>
            <a:pPr marL="1060000" indent="-489361">
              <a:buChar char="●"/>
              <a:tabLst>
                <a:tab pos="1060000" algn="l"/>
              </a:tabLst>
            </a:pPr>
            <a:r>
              <a:rPr sz="2400" spc="-13" dirty="0">
                <a:latin typeface="Arial"/>
                <a:cs typeface="Arial"/>
              </a:rPr>
              <a:t>African-American-</a:t>
            </a:r>
            <a:r>
              <a:rPr sz="2400" dirty="0">
                <a:latin typeface="Arial"/>
                <a:cs typeface="Arial"/>
              </a:rPr>
              <a:t>English</a:t>
            </a:r>
            <a:r>
              <a:rPr sz="2400" spc="6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(AAE)</a:t>
            </a:r>
            <a:endParaRPr sz="2400">
              <a:latin typeface="Arial"/>
              <a:cs typeface="Arial"/>
            </a:endParaRPr>
          </a:p>
          <a:p>
            <a:pPr marL="1060000" indent="-489361">
              <a:spcBef>
                <a:spcPts val="20"/>
              </a:spcBef>
              <a:buChar char="●"/>
              <a:tabLst>
                <a:tab pos="1060000" algn="l"/>
              </a:tabLst>
            </a:pPr>
            <a:r>
              <a:rPr sz="2400" spc="-13" dirty="0">
                <a:latin typeface="Arial"/>
                <a:cs typeface="Arial"/>
              </a:rPr>
              <a:t>Hispanic-</a:t>
            </a:r>
            <a:r>
              <a:rPr sz="2400" dirty="0">
                <a:latin typeface="Arial"/>
                <a:cs typeface="Arial"/>
              </a:rPr>
              <a:t>aligned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English</a:t>
            </a:r>
            <a:r>
              <a:rPr sz="2400" spc="-13" dirty="0">
                <a:latin typeface="Arial"/>
                <a:cs typeface="Arial"/>
              </a:rPr>
              <a:t> (Hisp)</a:t>
            </a:r>
            <a:endParaRPr sz="2400">
              <a:latin typeface="Arial"/>
              <a:cs typeface="Arial"/>
            </a:endParaRPr>
          </a:p>
          <a:p>
            <a:pPr marL="1060000" indent="-489361">
              <a:spcBef>
                <a:spcPts val="20"/>
              </a:spcBef>
              <a:buChar char="●"/>
              <a:tabLst>
                <a:tab pos="1060000" algn="l"/>
              </a:tabLst>
            </a:pPr>
            <a:r>
              <a:rPr sz="2400" spc="-13" dirty="0">
                <a:latin typeface="Arial"/>
                <a:cs typeface="Arial"/>
              </a:rPr>
              <a:t>White-</a:t>
            </a:r>
            <a:r>
              <a:rPr sz="2400" dirty="0">
                <a:latin typeface="Arial"/>
                <a:cs typeface="Arial"/>
              </a:rPr>
              <a:t>aligned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English</a:t>
            </a:r>
            <a:r>
              <a:rPr sz="2400" spc="-27" dirty="0">
                <a:latin typeface="Arial"/>
                <a:cs typeface="Arial"/>
              </a:rPr>
              <a:t> (WAE)</a:t>
            </a:r>
            <a:endParaRPr sz="2400">
              <a:latin typeface="Arial"/>
              <a:cs typeface="Arial"/>
            </a:endParaRPr>
          </a:p>
          <a:p>
            <a:pPr marL="1060000" indent="-489361">
              <a:spcBef>
                <a:spcPts val="20"/>
              </a:spcBef>
              <a:buChar char="●"/>
              <a:tabLst>
                <a:tab pos="1060000" algn="l"/>
              </a:tabLst>
            </a:pPr>
            <a:r>
              <a:rPr sz="2400" dirty="0">
                <a:latin typeface="Arial"/>
                <a:cs typeface="Arial"/>
              </a:rPr>
              <a:t>Other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English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dialects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(other)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863323-2CFE-47FA-8732-C584E561B2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76</a:t>
            </a:fld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81385" y="511355"/>
            <a:ext cx="7905327" cy="5631180"/>
            <a:chOff x="1786038" y="383516"/>
            <a:chExt cx="5928995" cy="42233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6038" y="383516"/>
              <a:ext cx="5928759" cy="422322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79031" y="2192556"/>
              <a:ext cx="1410970" cy="1000125"/>
            </a:xfrm>
            <a:custGeom>
              <a:avLst/>
              <a:gdLst/>
              <a:ahLst/>
              <a:cxnLst/>
              <a:rect l="l" t="t" r="r" b="b"/>
              <a:pathLst>
                <a:path w="1410970" h="1000125">
                  <a:moveTo>
                    <a:pt x="229715" y="999971"/>
                  </a:moveTo>
                  <a:lnTo>
                    <a:pt x="189085" y="988040"/>
                  </a:lnTo>
                  <a:lnTo>
                    <a:pt x="154166" y="964694"/>
                  </a:lnTo>
                  <a:lnTo>
                    <a:pt x="127615" y="931707"/>
                  </a:lnTo>
                  <a:lnTo>
                    <a:pt x="112087" y="890858"/>
                  </a:lnTo>
                  <a:lnTo>
                    <a:pt x="1888" y="357463"/>
                  </a:lnTo>
                  <a:lnTo>
                    <a:pt x="0" y="314013"/>
                  </a:lnTo>
                  <a:lnTo>
                    <a:pt x="11425" y="273786"/>
                  </a:lnTo>
                  <a:lnTo>
                    <a:pt x="34416" y="239399"/>
                  </a:lnTo>
                  <a:lnTo>
                    <a:pt x="67224" y="213467"/>
                  </a:lnTo>
                  <a:lnTo>
                    <a:pt x="108097" y="198609"/>
                  </a:lnTo>
                  <a:lnTo>
                    <a:pt x="1137178" y="2412"/>
                  </a:lnTo>
                  <a:lnTo>
                    <a:pt x="1163929" y="0"/>
                  </a:lnTo>
                  <a:lnTo>
                    <a:pt x="1190463" y="2804"/>
                  </a:lnTo>
                  <a:lnTo>
                    <a:pt x="1239830" y="23438"/>
                  </a:lnTo>
                  <a:lnTo>
                    <a:pt x="1277764" y="61172"/>
                  </a:lnTo>
                  <a:lnTo>
                    <a:pt x="1298488" y="110263"/>
                  </a:lnTo>
                  <a:lnTo>
                    <a:pt x="1408687" y="643658"/>
                  </a:lnTo>
                  <a:lnTo>
                    <a:pt x="1410576" y="687107"/>
                  </a:lnTo>
                  <a:lnTo>
                    <a:pt x="1399150" y="727334"/>
                  </a:lnTo>
                  <a:lnTo>
                    <a:pt x="1376159" y="761722"/>
                  </a:lnTo>
                  <a:lnTo>
                    <a:pt x="1343352" y="787653"/>
                  </a:lnTo>
                  <a:lnTo>
                    <a:pt x="1302478" y="802512"/>
                  </a:lnTo>
                  <a:lnTo>
                    <a:pt x="273397" y="998709"/>
                  </a:lnTo>
                  <a:lnTo>
                    <a:pt x="229715" y="999971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79031" y="2192556"/>
              <a:ext cx="1410970" cy="1000125"/>
            </a:xfrm>
            <a:custGeom>
              <a:avLst/>
              <a:gdLst/>
              <a:ahLst/>
              <a:cxnLst/>
              <a:rect l="l" t="t" r="r" b="b"/>
              <a:pathLst>
                <a:path w="1410970" h="1000125">
                  <a:moveTo>
                    <a:pt x="1888" y="357463"/>
                  </a:moveTo>
                  <a:lnTo>
                    <a:pt x="0" y="314013"/>
                  </a:lnTo>
                  <a:lnTo>
                    <a:pt x="11425" y="273786"/>
                  </a:lnTo>
                  <a:lnTo>
                    <a:pt x="34416" y="239399"/>
                  </a:lnTo>
                  <a:lnTo>
                    <a:pt x="67224" y="213467"/>
                  </a:lnTo>
                  <a:lnTo>
                    <a:pt x="108097" y="198609"/>
                  </a:lnTo>
                  <a:lnTo>
                    <a:pt x="1137178" y="2412"/>
                  </a:lnTo>
                  <a:lnTo>
                    <a:pt x="1163929" y="0"/>
                  </a:lnTo>
                  <a:lnTo>
                    <a:pt x="1190463" y="2804"/>
                  </a:lnTo>
                  <a:lnTo>
                    <a:pt x="1239830" y="23438"/>
                  </a:lnTo>
                  <a:lnTo>
                    <a:pt x="1277764" y="61172"/>
                  </a:lnTo>
                  <a:lnTo>
                    <a:pt x="1298488" y="110263"/>
                  </a:lnTo>
                  <a:lnTo>
                    <a:pt x="1408687" y="643658"/>
                  </a:lnTo>
                  <a:lnTo>
                    <a:pt x="1410576" y="687107"/>
                  </a:lnTo>
                  <a:lnTo>
                    <a:pt x="1399150" y="727334"/>
                  </a:lnTo>
                  <a:lnTo>
                    <a:pt x="1376159" y="761722"/>
                  </a:lnTo>
                  <a:lnTo>
                    <a:pt x="1343352" y="787653"/>
                  </a:lnTo>
                  <a:lnTo>
                    <a:pt x="1302478" y="802512"/>
                  </a:lnTo>
                  <a:lnTo>
                    <a:pt x="273397" y="998709"/>
                  </a:lnTo>
                  <a:lnTo>
                    <a:pt x="229715" y="999971"/>
                  </a:lnTo>
                  <a:lnTo>
                    <a:pt x="189085" y="988040"/>
                  </a:lnTo>
                  <a:lnTo>
                    <a:pt x="154166" y="964694"/>
                  </a:lnTo>
                  <a:lnTo>
                    <a:pt x="127615" y="931707"/>
                  </a:lnTo>
                  <a:lnTo>
                    <a:pt x="112087" y="890858"/>
                  </a:lnTo>
                  <a:lnTo>
                    <a:pt x="1888" y="3574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 rot="21000000">
            <a:off x="3598757" y="3332280"/>
            <a:ext cx="1342329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800"/>
              </a:lnSpc>
            </a:pPr>
            <a:r>
              <a:rPr sz="4800" spc="-33" dirty="0">
                <a:latin typeface="Arial"/>
                <a:cs typeface="Arial"/>
              </a:rPr>
              <a:t>6-7x</a:t>
            </a:r>
            <a:endParaRPr sz="4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74483" y="6011517"/>
            <a:ext cx="3751580" cy="537633"/>
            <a:chOff x="1705862" y="4508637"/>
            <a:chExt cx="2813685" cy="403225"/>
          </a:xfrm>
        </p:grpSpPr>
        <p:sp>
          <p:nvSpPr>
            <p:cNvPr id="8" name="object 8"/>
            <p:cNvSpPr/>
            <p:nvPr/>
          </p:nvSpPr>
          <p:spPr>
            <a:xfrm>
              <a:off x="1710625" y="4513400"/>
              <a:ext cx="2804160" cy="393700"/>
            </a:xfrm>
            <a:custGeom>
              <a:avLst/>
              <a:gdLst/>
              <a:ahLst/>
              <a:cxnLst/>
              <a:rect l="l" t="t" r="r" b="b"/>
              <a:pathLst>
                <a:path w="2804160" h="393700">
                  <a:moveTo>
                    <a:pt x="27381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2738198" y="0"/>
                  </a:lnTo>
                  <a:lnTo>
                    <a:pt x="2784585" y="19213"/>
                  </a:lnTo>
                  <a:lnTo>
                    <a:pt x="2803799" y="65601"/>
                  </a:lnTo>
                  <a:lnTo>
                    <a:pt x="2803799" y="327998"/>
                  </a:lnTo>
                  <a:lnTo>
                    <a:pt x="2798644" y="353533"/>
                  </a:lnTo>
                  <a:lnTo>
                    <a:pt x="2784585" y="374385"/>
                  </a:lnTo>
                  <a:lnTo>
                    <a:pt x="2763733" y="388444"/>
                  </a:lnTo>
                  <a:lnTo>
                    <a:pt x="2738198" y="3935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10625" y="4513400"/>
              <a:ext cx="2804160" cy="393700"/>
            </a:xfrm>
            <a:custGeom>
              <a:avLst/>
              <a:gdLst/>
              <a:ahLst/>
              <a:cxnLst/>
              <a:rect l="l" t="t" r="r" b="b"/>
              <a:pathLst>
                <a:path w="2804160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2738198" y="0"/>
                  </a:lnTo>
                  <a:lnTo>
                    <a:pt x="2784585" y="19213"/>
                  </a:lnTo>
                  <a:lnTo>
                    <a:pt x="2803799" y="65601"/>
                  </a:lnTo>
                  <a:lnTo>
                    <a:pt x="2803799" y="327998"/>
                  </a:lnTo>
                  <a:lnTo>
                    <a:pt x="2798644" y="353533"/>
                  </a:lnTo>
                  <a:lnTo>
                    <a:pt x="2784585" y="374385"/>
                  </a:lnTo>
                  <a:lnTo>
                    <a:pt x="2763733" y="388444"/>
                  </a:lnTo>
                  <a:lnTo>
                    <a:pt x="27381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78118" y="6114151"/>
            <a:ext cx="294301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More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likely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to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be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removed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274983" y="6011517"/>
            <a:ext cx="3751580" cy="537633"/>
            <a:chOff x="5456237" y="4508637"/>
            <a:chExt cx="2813685" cy="403225"/>
          </a:xfrm>
        </p:grpSpPr>
        <p:sp>
          <p:nvSpPr>
            <p:cNvPr id="12" name="object 12"/>
            <p:cNvSpPr/>
            <p:nvPr/>
          </p:nvSpPr>
          <p:spPr>
            <a:xfrm>
              <a:off x="5461000" y="4513400"/>
              <a:ext cx="2804160" cy="393700"/>
            </a:xfrm>
            <a:custGeom>
              <a:avLst/>
              <a:gdLst/>
              <a:ahLst/>
              <a:cxnLst/>
              <a:rect l="l" t="t" r="r" b="b"/>
              <a:pathLst>
                <a:path w="2804159" h="393700">
                  <a:moveTo>
                    <a:pt x="27381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2738198" y="0"/>
                  </a:lnTo>
                  <a:lnTo>
                    <a:pt x="2784585" y="19213"/>
                  </a:lnTo>
                  <a:lnTo>
                    <a:pt x="2803799" y="65601"/>
                  </a:lnTo>
                  <a:lnTo>
                    <a:pt x="2803799" y="327998"/>
                  </a:lnTo>
                  <a:lnTo>
                    <a:pt x="2798644" y="353533"/>
                  </a:lnTo>
                  <a:lnTo>
                    <a:pt x="2784585" y="374385"/>
                  </a:lnTo>
                  <a:lnTo>
                    <a:pt x="2763733" y="388444"/>
                  </a:lnTo>
                  <a:lnTo>
                    <a:pt x="2738198" y="39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61000" y="4513400"/>
              <a:ext cx="2804160" cy="393700"/>
            </a:xfrm>
            <a:custGeom>
              <a:avLst/>
              <a:gdLst/>
              <a:ahLst/>
              <a:cxnLst/>
              <a:rect l="l" t="t" r="r" b="b"/>
              <a:pathLst>
                <a:path w="2804159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2738198" y="0"/>
                  </a:lnTo>
                  <a:lnTo>
                    <a:pt x="2784585" y="19213"/>
                  </a:lnTo>
                  <a:lnTo>
                    <a:pt x="2803799" y="65601"/>
                  </a:lnTo>
                  <a:lnTo>
                    <a:pt x="2803799" y="327998"/>
                  </a:lnTo>
                  <a:lnTo>
                    <a:pt x="2798644" y="353533"/>
                  </a:lnTo>
                  <a:lnTo>
                    <a:pt x="2784585" y="374385"/>
                  </a:lnTo>
                  <a:lnTo>
                    <a:pt x="2763733" y="388444"/>
                  </a:lnTo>
                  <a:lnTo>
                    <a:pt x="27381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91631" y="6114151"/>
            <a:ext cx="291676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Less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likely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to</a:t>
            </a:r>
            <a:r>
              <a:rPr sz="1867" b="1" spc="-27" dirty="0">
                <a:latin typeface="Arial"/>
                <a:cs typeface="Arial"/>
              </a:rPr>
              <a:t> </a:t>
            </a:r>
            <a:r>
              <a:rPr sz="1867" b="1" dirty="0">
                <a:latin typeface="Arial"/>
                <a:cs typeface="Arial"/>
              </a:rPr>
              <a:t>be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removed</a:t>
            </a:r>
            <a:endParaRPr sz="1867">
              <a:latin typeface="Arial"/>
              <a:cs typeface="Arial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AC8C254-64AA-410C-8956-7B47198074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Whose</a:t>
            </a:r>
            <a:r>
              <a:rPr spc="-27" dirty="0"/>
              <a:t> </a:t>
            </a:r>
            <a:r>
              <a:rPr dirty="0"/>
              <a:t>English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3" dirty="0"/>
              <a:t>included?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76181" y="1700940"/>
            <a:ext cx="6973993" cy="4878493"/>
            <a:chOff x="1707135" y="1275705"/>
            <a:chExt cx="5230495" cy="3658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7135" y="1275705"/>
              <a:ext cx="5229983" cy="36586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74724" y="3618099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69" h="393700">
                  <a:moveTo>
                    <a:pt x="7224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74724" y="3618099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69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89284" y="4920418"/>
            <a:ext cx="7061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13" dirty="0">
                <a:solidFill>
                  <a:srgbClr val="CC0000"/>
                </a:solidFill>
                <a:latin typeface="Arial"/>
                <a:cs typeface="Arial"/>
              </a:rPr>
              <a:t>0.07%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63450" y="4817784"/>
            <a:ext cx="1064260" cy="537633"/>
            <a:chOff x="3572587" y="3613337"/>
            <a:chExt cx="798195" cy="403225"/>
          </a:xfrm>
        </p:grpSpPr>
        <p:sp>
          <p:nvSpPr>
            <p:cNvPr id="9" name="object 9"/>
            <p:cNvSpPr/>
            <p:nvPr/>
          </p:nvSpPr>
          <p:spPr>
            <a:xfrm>
              <a:off x="3577349" y="3618100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70" h="393700">
                  <a:moveTo>
                    <a:pt x="7224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77349" y="3618100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70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92784" y="4920418"/>
            <a:ext cx="7061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13" dirty="0">
                <a:solidFill>
                  <a:srgbClr val="CC0000"/>
                </a:solidFill>
                <a:latin typeface="Arial"/>
                <a:cs typeface="Arial"/>
              </a:rPr>
              <a:t>0.09%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16290" y="5342583"/>
            <a:ext cx="1717887" cy="695112"/>
            <a:chOff x="2712217" y="4006937"/>
            <a:chExt cx="1288415" cy="521334"/>
          </a:xfrm>
        </p:grpSpPr>
        <p:sp>
          <p:nvSpPr>
            <p:cNvPr id="13" name="object 13"/>
            <p:cNvSpPr/>
            <p:nvPr/>
          </p:nvSpPr>
          <p:spPr>
            <a:xfrm>
              <a:off x="3971400" y="4011700"/>
              <a:ext cx="8890" cy="427990"/>
            </a:xfrm>
            <a:custGeom>
              <a:avLst/>
              <a:gdLst/>
              <a:ahLst/>
              <a:cxnLst/>
              <a:rect l="l" t="t" r="r" b="b"/>
              <a:pathLst>
                <a:path w="8889" h="427989">
                  <a:moveTo>
                    <a:pt x="0" y="0"/>
                  </a:moveTo>
                  <a:lnTo>
                    <a:pt x="8733" y="42796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4404" y="443934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11" y="43536"/>
                  </a:moveTo>
                  <a:lnTo>
                    <a:pt x="0" y="641"/>
                  </a:lnTo>
                  <a:lnTo>
                    <a:pt x="31458" y="0"/>
                  </a:lnTo>
                  <a:lnTo>
                    <a:pt x="16611" y="435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4404" y="443934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41"/>
                  </a:moveTo>
                  <a:lnTo>
                    <a:pt x="16611" y="43536"/>
                  </a:lnTo>
                  <a:lnTo>
                    <a:pt x="31458" y="0"/>
                  </a:lnTo>
                  <a:lnTo>
                    <a:pt x="0" y="64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32665" y="4011700"/>
              <a:ext cx="36195" cy="468630"/>
            </a:xfrm>
            <a:custGeom>
              <a:avLst/>
              <a:gdLst/>
              <a:ahLst/>
              <a:cxnLst/>
              <a:rect l="l" t="t" r="r" b="b"/>
              <a:pathLst>
                <a:path w="36194" h="468629">
                  <a:moveTo>
                    <a:pt x="36109" y="0"/>
                  </a:moveTo>
                  <a:lnTo>
                    <a:pt x="0" y="46861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16979" y="44791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2365" y="44306"/>
                  </a:moveTo>
                  <a:lnTo>
                    <a:pt x="0" y="0"/>
                  </a:lnTo>
                  <a:lnTo>
                    <a:pt x="31372" y="2417"/>
                  </a:lnTo>
                  <a:lnTo>
                    <a:pt x="12365" y="4430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16979" y="44791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2365" y="44306"/>
                  </a:lnTo>
                  <a:lnTo>
                    <a:pt x="31372" y="241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C80EFBA-344C-4DE4-A33F-B92C344B17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78</a:t>
            </a:fld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43548" y="1700940"/>
            <a:ext cx="6973993" cy="4878493"/>
            <a:chOff x="1757660" y="1275705"/>
            <a:chExt cx="5230495" cy="36588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7660" y="1275705"/>
              <a:ext cx="5229983" cy="36586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25249" y="3618099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69" h="393700">
                  <a:moveTo>
                    <a:pt x="7224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25249" y="3618099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69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56651" y="4920418"/>
            <a:ext cx="7061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13" dirty="0">
                <a:solidFill>
                  <a:srgbClr val="CC0000"/>
                </a:solidFill>
                <a:latin typeface="Arial"/>
                <a:cs typeface="Arial"/>
              </a:rPr>
              <a:t>0.07%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30817" y="4817784"/>
            <a:ext cx="1064260" cy="537633"/>
            <a:chOff x="3623112" y="3613337"/>
            <a:chExt cx="798195" cy="403225"/>
          </a:xfrm>
        </p:grpSpPr>
        <p:sp>
          <p:nvSpPr>
            <p:cNvPr id="8" name="object 8"/>
            <p:cNvSpPr/>
            <p:nvPr/>
          </p:nvSpPr>
          <p:spPr>
            <a:xfrm>
              <a:off x="3627875" y="3618100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70" h="393700">
                  <a:moveTo>
                    <a:pt x="7224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27875" y="3618100"/>
              <a:ext cx="788670" cy="393700"/>
            </a:xfrm>
            <a:custGeom>
              <a:avLst/>
              <a:gdLst/>
              <a:ahLst/>
              <a:cxnLst/>
              <a:rect l="l" t="t" r="r" b="b"/>
              <a:pathLst>
                <a:path w="788670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722498" y="0"/>
                  </a:lnTo>
                  <a:lnTo>
                    <a:pt x="768885" y="19213"/>
                  </a:lnTo>
                  <a:lnTo>
                    <a:pt x="788099" y="65601"/>
                  </a:lnTo>
                  <a:lnTo>
                    <a:pt x="788099" y="327998"/>
                  </a:lnTo>
                  <a:lnTo>
                    <a:pt x="782944" y="353533"/>
                  </a:lnTo>
                  <a:lnTo>
                    <a:pt x="768885" y="374385"/>
                  </a:lnTo>
                  <a:lnTo>
                    <a:pt x="748033" y="388444"/>
                  </a:lnTo>
                  <a:lnTo>
                    <a:pt x="7224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0152" y="4920418"/>
            <a:ext cx="7061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13" dirty="0">
                <a:solidFill>
                  <a:srgbClr val="CC0000"/>
                </a:solidFill>
                <a:latin typeface="Arial"/>
                <a:cs typeface="Arial"/>
              </a:rPr>
              <a:t>0.09%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42850" y="2092816"/>
            <a:ext cx="3677073" cy="3945467"/>
            <a:chOff x="2582137" y="1569612"/>
            <a:chExt cx="2757805" cy="2959100"/>
          </a:xfrm>
        </p:grpSpPr>
        <p:sp>
          <p:nvSpPr>
            <p:cNvPr id="12" name="object 12"/>
            <p:cNvSpPr/>
            <p:nvPr/>
          </p:nvSpPr>
          <p:spPr>
            <a:xfrm>
              <a:off x="4021925" y="4011700"/>
              <a:ext cx="8890" cy="427990"/>
            </a:xfrm>
            <a:custGeom>
              <a:avLst/>
              <a:gdLst/>
              <a:ahLst/>
              <a:cxnLst/>
              <a:rect l="l" t="t" r="r" b="b"/>
              <a:pathLst>
                <a:path w="8889" h="427989">
                  <a:moveTo>
                    <a:pt x="0" y="0"/>
                  </a:moveTo>
                  <a:lnTo>
                    <a:pt x="8733" y="42796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14929" y="443934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11" y="43536"/>
                  </a:moveTo>
                  <a:lnTo>
                    <a:pt x="0" y="641"/>
                  </a:lnTo>
                  <a:lnTo>
                    <a:pt x="31458" y="0"/>
                  </a:lnTo>
                  <a:lnTo>
                    <a:pt x="16611" y="435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14929" y="443934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41"/>
                  </a:moveTo>
                  <a:lnTo>
                    <a:pt x="16611" y="43536"/>
                  </a:lnTo>
                  <a:lnTo>
                    <a:pt x="31458" y="0"/>
                  </a:lnTo>
                  <a:lnTo>
                    <a:pt x="0" y="64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83190" y="4011700"/>
              <a:ext cx="36195" cy="468630"/>
            </a:xfrm>
            <a:custGeom>
              <a:avLst/>
              <a:gdLst/>
              <a:ahLst/>
              <a:cxnLst/>
              <a:rect l="l" t="t" r="r" b="b"/>
              <a:pathLst>
                <a:path w="36194" h="468629">
                  <a:moveTo>
                    <a:pt x="36109" y="0"/>
                  </a:moveTo>
                  <a:lnTo>
                    <a:pt x="0" y="46861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67504" y="4479109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2365" y="44306"/>
                  </a:moveTo>
                  <a:lnTo>
                    <a:pt x="0" y="0"/>
                  </a:lnTo>
                  <a:lnTo>
                    <a:pt x="31372" y="2417"/>
                  </a:lnTo>
                  <a:lnTo>
                    <a:pt x="12365" y="4430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67504" y="4479109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2365" y="44306"/>
                  </a:lnTo>
                  <a:lnTo>
                    <a:pt x="31372" y="241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86900" y="1574375"/>
              <a:ext cx="2748280" cy="1917700"/>
            </a:xfrm>
            <a:custGeom>
              <a:avLst/>
              <a:gdLst/>
              <a:ahLst/>
              <a:cxnLst/>
              <a:rect l="l" t="t" r="r" b="b"/>
              <a:pathLst>
                <a:path w="2748279" h="1917700">
                  <a:moveTo>
                    <a:pt x="2428443" y="1917299"/>
                  </a:moveTo>
                  <a:lnTo>
                    <a:pt x="319556" y="1917299"/>
                  </a:lnTo>
                  <a:lnTo>
                    <a:pt x="272334" y="1913835"/>
                  </a:lnTo>
                  <a:lnTo>
                    <a:pt x="227264" y="1903770"/>
                  </a:lnTo>
                  <a:lnTo>
                    <a:pt x="184839" y="1887599"/>
                  </a:lnTo>
                  <a:lnTo>
                    <a:pt x="145554" y="1865817"/>
                  </a:lnTo>
                  <a:lnTo>
                    <a:pt x="109903" y="1838918"/>
                  </a:lnTo>
                  <a:lnTo>
                    <a:pt x="78381" y="1807396"/>
                  </a:lnTo>
                  <a:lnTo>
                    <a:pt x="51482" y="1771745"/>
                  </a:lnTo>
                  <a:lnTo>
                    <a:pt x="29700" y="1732460"/>
                  </a:lnTo>
                  <a:lnTo>
                    <a:pt x="13529" y="1690035"/>
                  </a:lnTo>
                  <a:lnTo>
                    <a:pt x="3464" y="1644965"/>
                  </a:lnTo>
                  <a:lnTo>
                    <a:pt x="0" y="1597743"/>
                  </a:lnTo>
                  <a:lnTo>
                    <a:pt x="0" y="319556"/>
                  </a:lnTo>
                  <a:lnTo>
                    <a:pt x="3464" y="272334"/>
                  </a:lnTo>
                  <a:lnTo>
                    <a:pt x="13529" y="227264"/>
                  </a:lnTo>
                  <a:lnTo>
                    <a:pt x="29700" y="184839"/>
                  </a:lnTo>
                  <a:lnTo>
                    <a:pt x="51482" y="145554"/>
                  </a:lnTo>
                  <a:lnTo>
                    <a:pt x="78381" y="109903"/>
                  </a:lnTo>
                  <a:lnTo>
                    <a:pt x="109903" y="78381"/>
                  </a:lnTo>
                  <a:lnTo>
                    <a:pt x="145554" y="51482"/>
                  </a:lnTo>
                  <a:lnTo>
                    <a:pt x="184839" y="29700"/>
                  </a:lnTo>
                  <a:lnTo>
                    <a:pt x="227264" y="13529"/>
                  </a:lnTo>
                  <a:lnTo>
                    <a:pt x="272334" y="3464"/>
                  </a:lnTo>
                  <a:lnTo>
                    <a:pt x="319556" y="0"/>
                  </a:lnTo>
                  <a:lnTo>
                    <a:pt x="2428443" y="0"/>
                  </a:lnTo>
                  <a:lnTo>
                    <a:pt x="2478735" y="3980"/>
                  </a:lnTo>
                  <a:lnTo>
                    <a:pt x="2527335" y="15686"/>
                  </a:lnTo>
                  <a:lnTo>
                    <a:pt x="2573385" y="34761"/>
                  </a:lnTo>
                  <a:lnTo>
                    <a:pt x="2616027" y="60849"/>
                  </a:lnTo>
                  <a:lnTo>
                    <a:pt x="2654403" y="93595"/>
                  </a:lnTo>
                  <a:lnTo>
                    <a:pt x="2687150" y="131972"/>
                  </a:lnTo>
                  <a:lnTo>
                    <a:pt x="2713238" y="174614"/>
                  </a:lnTo>
                  <a:lnTo>
                    <a:pt x="2732313" y="220665"/>
                  </a:lnTo>
                  <a:lnTo>
                    <a:pt x="2744019" y="269265"/>
                  </a:lnTo>
                  <a:lnTo>
                    <a:pt x="2747999" y="319556"/>
                  </a:lnTo>
                  <a:lnTo>
                    <a:pt x="2747999" y="1597743"/>
                  </a:lnTo>
                  <a:lnTo>
                    <a:pt x="2744535" y="1644965"/>
                  </a:lnTo>
                  <a:lnTo>
                    <a:pt x="2734470" y="1690035"/>
                  </a:lnTo>
                  <a:lnTo>
                    <a:pt x="2718299" y="1732460"/>
                  </a:lnTo>
                  <a:lnTo>
                    <a:pt x="2696517" y="1771745"/>
                  </a:lnTo>
                  <a:lnTo>
                    <a:pt x="2669618" y="1807396"/>
                  </a:lnTo>
                  <a:lnTo>
                    <a:pt x="2638096" y="1838918"/>
                  </a:lnTo>
                  <a:lnTo>
                    <a:pt x="2602445" y="1865817"/>
                  </a:lnTo>
                  <a:lnTo>
                    <a:pt x="2563160" y="1887599"/>
                  </a:lnTo>
                  <a:lnTo>
                    <a:pt x="2520735" y="1903770"/>
                  </a:lnTo>
                  <a:lnTo>
                    <a:pt x="2475665" y="1913835"/>
                  </a:lnTo>
                  <a:lnTo>
                    <a:pt x="2428443" y="1917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86900" y="1574375"/>
              <a:ext cx="2748280" cy="1917700"/>
            </a:xfrm>
            <a:custGeom>
              <a:avLst/>
              <a:gdLst/>
              <a:ahLst/>
              <a:cxnLst/>
              <a:rect l="l" t="t" r="r" b="b"/>
              <a:pathLst>
                <a:path w="2748279" h="1917700">
                  <a:moveTo>
                    <a:pt x="0" y="319556"/>
                  </a:moveTo>
                  <a:lnTo>
                    <a:pt x="3464" y="272334"/>
                  </a:lnTo>
                  <a:lnTo>
                    <a:pt x="13529" y="227264"/>
                  </a:lnTo>
                  <a:lnTo>
                    <a:pt x="29700" y="184839"/>
                  </a:lnTo>
                  <a:lnTo>
                    <a:pt x="51482" y="145554"/>
                  </a:lnTo>
                  <a:lnTo>
                    <a:pt x="78381" y="109903"/>
                  </a:lnTo>
                  <a:lnTo>
                    <a:pt x="109903" y="78381"/>
                  </a:lnTo>
                  <a:lnTo>
                    <a:pt x="145554" y="51482"/>
                  </a:lnTo>
                  <a:lnTo>
                    <a:pt x="184839" y="29700"/>
                  </a:lnTo>
                  <a:lnTo>
                    <a:pt x="227264" y="13529"/>
                  </a:lnTo>
                  <a:lnTo>
                    <a:pt x="272334" y="3464"/>
                  </a:lnTo>
                  <a:lnTo>
                    <a:pt x="319556" y="0"/>
                  </a:lnTo>
                  <a:lnTo>
                    <a:pt x="2428443" y="0"/>
                  </a:lnTo>
                  <a:lnTo>
                    <a:pt x="2478735" y="3980"/>
                  </a:lnTo>
                  <a:lnTo>
                    <a:pt x="2527335" y="15686"/>
                  </a:lnTo>
                  <a:lnTo>
                    <a:pt x="2573385" y="34761"/>
                  </a:lnTo>
                  <a:lnTo>
                    <a:pt x="2616027" y="60849"/>
                  </a:lnTo>
                  <a:lnTo>
                    <a:pt x="2654403" y="93595"/>
                  </a:lnTo>
                  <a:lnTo>
                    <a:pt x="2687150" y="131972"/>
                  </a:lnTo>
                  <a:lnTo>
                    <a:pt x="2713238" y="174614"/>
                  </a:lnTo>
                  <a:lnTo>
                    <a:pt x="2732313" y="220665"/>
                  </a:lnTo>
                  <a:lnTo>
                    <a:pt x="2744019" y="269265"/>
                  </a:lnTo>
                  <a:lnTo>
                    <a:pt x="2747999" y="319556"/>
                  </a:lnTo>
                  <a:lnTo>
                    <a:pt x="2747999" y="1597743"/>
                  </a:lnTo>
                  <a:lnTo>
                    <a:pt x="2744535" y="1644965"/>
                  </a:lnTo>
                  <a:lnTo>
                    <a:pt x="2734470" y="1690035"/>
                  </a:lnTo>
                  <a:lnTo>
                    <a:pt x="2718299" y="1732460"/>
                  </a:lnTo>
                  <a:lnTo>
                    <a:pt x="2696517" y="1771745"/>
                  </a:lnTo>
                  <a:lnTo>
                    <a:pt x="2669618" y="1807396"/>
                  </a:lnTo>
                  <a:lnTo>
                    <a:pt x="2638096" y="1838918"/>
                  </a:lnTo>
                  <a:lnTo>
                    <a:pt x="2602445" y="1865817"/>
                  </a:lnTo>
                  <a:lnTo>
                    <a:pt x="2563160" y="1887599"/>
                  </a:lnTo>
                  <a:lnTo>
                    <a:pt x="2520735" y="1903770"/>
                  </a:lnTo>
                  <a:lnTo>
                    <a:pt x="2475665" y="1913835"/>
                  </a:lnTo>
                  <a:lnTo>
                    <a:pt x="2428443" y="1917299"/>
                  </a:lnTo>
                  <a:lnTo>
                    <a:pt x="319556" y="1917299"/>
                  </a:lnTo>
                  <a:lnTo>
                    <a:pt x="272334" y="1913835"/>
                  </a:lnTo>
                  <a:lnTo>
                    <a:pt x="227264" y="1903770"/>
                  </a:lnTo>
                  <a:lnTo>
                    <a:pt x="184839" y="1887599"/>
                  </a:lnTo>
                  <a:lnTo>
                    <a:pt x="145554" y="1865817"/>
                  </a:lnTo>
                  <a:lnTo>
                    <a:pt x="109903" y="1838918"/>
                  </a:lnTo>
                  <a:lnTo>
                    <a:pt x="78381" y="1807396"/>
                  </a:lnTo>
                  <a:lnTo>
                    <a:pt x="51482" y="1771745"/>
                  </a:lnTo>
                  <a:lnTo>
                    <a:pt x="29700" y="1732460"/>
                  </a:lnTo>
                  <a:lnTo>
                    <a:pt x="13529" y="1690035"/>
                  </a:lnTo>
                  <a:lnTo>
                    <a:pt x="3464" y="1644965"/>
                  </a:lnTo>
                  <a:lnTo>
                    <a:pt x="0" y="1597743"/>
                  </a:lnTo>
                  <a:lnTo>
                    <a:pt x="0" y="3195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2450" y="2491102"/>
              <a:ext cx="2463165" cy="857250"/>
            </a:xfrm>
            <a:custGeom>
              <a:avLst/>
              <a:gdLst/>
              <a:ahLst/>
              <a:cxnLst/>
              <a:rect l="l" t="t" r="r" b="b"/>
              <a:pathLst>
                <a:path w="2463165" h="857250">
                  <a:moveTo>
                    <a:pt x="2319847" y="857099"/>
                  </a:moveTo>
                  <a:lnTo>
                    <a:pt x="142852" y="857099"/>
                  </a:lnTo>
                  <a:lnTo>
                    <a:pt x="97700" y="849817"/>
                  </a:lnTo>
                  <a:lnTo>
                    <a:pt x="58485" y="829537"/>
                  </a:lnTo>
                  <a:lnTo>
                    <a:pt x="27562" y="798614"/>
                  </a:lnTo>
                  <a:lnTo>
                    <a:pt x="7282" y="759399"/>
                  </a:lnTo>
                  <a:lnTo>
                    <a:pt x="0" y="714247"/>
                  </a:lnTo>
                  <a:lnTo>
                    <a:pt x="0" y="142852"/>
                  </a:lnTo>
                  <a:lnTo>
                    <a:pt x="7282" y="97700"/>
                  </a:lnTo>
                  <a:lnTo>
                    <a:pt x="27562" y="58485"/>
                  </a:lnTo>
                  <a:lnTo>
                    <a:pt x="58485" y="27562"/>
                  </a:lnTo>
                  <a:lnTo>
                    <a:pt x="97700" y="7282"/>
                  </a:lnTo>
                  <a:lnTo>
                    <a:pt x="142852" y="0"/>
                  </a:lnTo>
                  <a:lnTo>
                    <a:pt x="2319847" y="0"/>
                  </a:lnTo>
                  <a:lnTo>
                    <a:pt x="2374514" y="10873"/>
                  </a:lnTo>
                  <a:lnTo>
                    <a:pt x="2420859" y="41840"/>
                  </a:lnTo>
                  <a:lnTo>
                    <a:pt x="2451825" y="88185"/>
                  </a:lnTo>
                  <a:lnTo>
                    <a:pt x="2462699" y="142852"/>
                  </a:lnTo>
                  <a:lnTo>
                    <a:pt x="2462699" y="714247"/>
                  </a:lnTo>
                  <a:lnTo>
                    <a:pt x="2455417" y="759399"/>
                  </a:lnTo>
                  <a:lnTo>
                    <a:pt x="2435137" y="798614"/>
                  </a:lnTo>
                  <a:lnTo>
                    <a:pt x="2404214" y="829537"/>
                  </a:lnTo>
                  <a:lnTo>
                    <a:pt x="2364999" y="849817"/>
                  </a:lnTo>
                  <a:lnTo>
                    <a:pt x="2319847" y="8570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2450" y="2491102"/>
              <a:ext cx="2463165" cy="857250"/>
            </a:xfrm>
            <a:custGeom>
              <a:avLst/>
              <a:gdLst/>
              <a:ahLst/>
              <a:cxnLst/>
              <a:rect l="l" t="t" r="r" b="b"/>
              <a:pathLst>
                <a:path w="2463165" h="857250">
                  <a:moveTo>
                    <a:pt x="0" y="142852"/>
                  </a:moveTo>
                  <a:lnTo>
                    <a:pt x="7282" y="97700"/>
                  </a:lnTo>
                  <a:lnTo>
                    <a:pt x="27562" y="58485"/>
                  </a:lnTo>
                  <a:lnTo>
                    <a:pt x="58485" y="27562"/>
                  </a:lnTo>
                  <a:lnTo>
                    <a:pt x="97700" y="7282"/>
                  </a:lnTo>
                  <a:lnTo>
                    <a:pt x="142852" y="0"/>
                  </a:lnTo>
                  <a:lnTo>
                    <a:pt x="2319847" y="0"/>
                  </a:lnTo>
                  <a:lnTo>
                    <a:pt x="2374514" y="10873"/>
                  </a:lnTo>
                  <a:lnTo>
                    <a:pt x="2420859" y="41840"/>
                  </a:lnTo>
                  <a:lnTo>
                    <a:pt x="2451825" y="88185"/>
                  </a:lnTo>
                  <a:lnTo>
                    <a:pt x="2462699" y="142852"/>
                  </a:lnTo>
                  <a:lnTo>
                    <a:pt x="2462699" y="714247"/>
                  </a:lnTo>
                  <a:lnTo>
                    <a:pt x="2455417" y="759399"/>
                  </a:lnTo>
                  <a:lnTo>
                    <a:pt x="2435137" y="798614"/>
                  </a:lnTo>
                  <a:lnTo>
                    <a:pt x="2404214" y="829537"/>
                  </a:lnTo>
                  <a:lnTo>
                    <a:pt x="2364999" y="849817"/>
                  </a:lnTo>
                  <a:lnTo>
                    <a:pt x="2319847" y="857099"/>
                  </a:lnTo>
                  <a:lnTo>
                    <a:pt x="142852" y="857099"/>
                  </a:lnTo>
                  <a:lnTo>
                    <a:pt x="97700" y="849817"/>
                  </a:lnTo>
                  <a:lnTo>
                    <a:pt x="58485" y="829537"/>
                  </a:lnTo>
                  <a:lnTo>
                    <a:pt x="27562" y="798614"/>
                  </a:lnTo>
                  <a:lnTo>
                    <a:pt x="7282" y="759399"/>
                  </a:lnTo>
                  <a:lnTo>
                    <a:pt x="0" y="714247"/>
                  </a:lnTo>
                  <a:lnTo>
                    <a:pt x="0" y="1428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41882" y="2305747"/>
            <a:ext cx="2912533" cy="2112672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443642" marR="466502" algn="ctr">
              <a:lnSpc>
                <a:spcPct val="100499"/>
              </a:lnSpc>
              <a:spcBef>
                <a:spcPts val="113"/>
              </a:spcBef>
            </a:pPr>
            <a:r>
              <a:rPr sz="3067" spc="-13" dirty="0">
                <a:latin typeface="Arial"/>
                <a:cs typeface="Arial"/>
              </a:rPr>
              <a:t>Allocational Harms</a:t>
            </a:r>
            <a:endParaRPr sz="3067">
              <a:latin typeface="Arial"/>
              <a:cs typeface="Arial"/>
            </a:endParaRPr>
          </a:p>
          <a:p>
            <a:pPr marL="16086" marR="6773" indent="-847" algn="ctr">
              <a:lnSpc>
                <a:spcPts val="2707"/>
              </a:lnSpc>
              <a:spcBef>
                <a:spcPts val="947"/>
              </a:spcBef>
            </a:pPr>
            <a:r>
              <a:rPr sz="2267" dirty="0">
                <a:solidFill>
                  <a:srgbClr val="CC0000"/>
                </a:solidFill>
                <a:latin typeface="Arial"/>
                <a:cs typeface="Arial"/>
              </a:rPr>
              <a:t>Models</a:t>
            </a:r>
            <a:r>
              <a:rPr sz="2267" spc="-2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CC0000"/>
                </a:solidFill>
                <a:latin typeface="Arial"/>
                <a:cs typeface="Arial"/>
              </a:rPr>
              <a:t>aren’t</a:t>
            </a:r>
            <a:r>
              <a:rPr sz="2267" spc="-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spc="-13" dirty="0">
                <a:solidFill>
                  <a:srgbClr val="CC0000"/>
                </a:solidFill>
                <a:latin typeface="Arial"/>
                <a:cs typeface="Arial"/>
              </a:rPr>
              <a:t>trained </a:t>
            </a:r>
            <a:r>
              <a:rPr sz="2267" dirty="0">
                <a:solidFill>
                  <a:srgbClr val="CC0000"/>
                </a:solidFill>
                <a:latin typeface="Arial"/>
                <a:cs typeface="Arial"/>
              </a:rPr>
              <a:t>on</a:t>
            </a:r>
            <a:r>
              <a:rPr sz="2267" spc="-3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CC0000"/>
                </a:solidFill>
                <a:latin typeface="Arial"/>
                <a:cs typeface="Arial"/>
              </a:rPr>
              <a:t>text</a:t>
            </a:r>
            <a:r>
              <a:rPr sz="2267" spc="-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u="heavy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/>
                <a:cs typeface="Arial"/>
              </a:rPr>
              <a:t>from</a:t>
            </a:r>
            <a:r>
              <a:rPr sz="2267" spc="-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CC0000"/>
                </a:solidFill>
                <a:latin typeface="Arial"/>
                <a:cs typeface="Arial"/>
              </a:rPr>
              <a:t>and</a:t>
            </a:r>
            <a:r>
              <a:rPr sz="2267" spc="-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u="heavy" spc="-1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Arial"/>
                <a:cs typeface="Arial"/>
              </a:rPr>
              <a:t>about</a:t>
            </a:r>
            <a:r>
              <a:rPr sz="2267" spc="-1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CC0000"/>
                </a:solidFill>
                <a:latin typeface="Arial"/>
                <a:cs typeface="Arial"/>
              </a:rPr>
              <a:t>minority</a:t>
            </a:r>
            <a:r>
              <a:rPr sz="2267" spc="-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267" spc="-13" dirty="0">
                <a:solidFill>
                  <a:srgbClr val="CC0000"/>
                </a:solidFill>
                <a:latin typeface="Arial"/>
                <a:cs typeface="Arial"/>
              </a:rPr>
              <a:t>identities</a:t>
            </a:r>
            <a:endParaRPr sz="22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Whose</a:t>
            </a:r>
            <a:r>
              <a:rPr spc="-27" dirty="0"/>
              <a:t> </a:t>
            </a:r>
            <a:r>
              <a:rPr dirty="0"/>
              <a:t>English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3" dirty="0"/>
              <a:t>included?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03C6D36-5A09-48C0-9FA0-54A5CA9C6F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79</a:t>
            </a:fld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91981">
              <a:spcBef>
                <a:spcPts val="133"/>
              </a:spcBef>
            </a:pPr>
            <a:r>
              <a:rPr sz="2933" dirty="0"/>
              <a:t>Documenting</a:t>
            </a:r>
            <a:r>
              <a:rPr sz="2933" spc="-80" dirty="0"/>
              <a:t> </a:t>
            </a:r>
            <a:r>
              <a:rPr sz="2933" dirty="0"/>
              <a:t>Webtext</a:t>
            </a:r>
            <a:r>
              <a:rPr sz="2933" spc="-73" dirty="0"/>
              <a:t> </a:t>
            </a:r>
            <a:r>
              <a:rPr sz="2933" dirty="0"/>
              <a:t>Corpora:</a:t>
            </a:r>
            <a:r>
              <a:rPr sz="2933" spc="-73" dirty="0"/>
              <a:t> </a:t>
            </a:r>
            <a:r>
              <a:rPr sz="2933" spc="-13" dirty="0"/>
              <a:t>Recommendations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72150" y="1910983"/>
            <a:ext cx="7285567" cy="3434927"/>
            <a:chOff x="1779112" y="1433237"/>
            <a:chExt cx="5464175" cy="2576195"/>
          </a:xfrm>
        </p:grpSpPr>
        <p:sp>
          <p:nvSpPr>
            <p:cNvPr id="7" name="object 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xfrm>
            <a:off x="812800" y="2133602"/>
            <a:ext cx="14630400" cy="2165572"/>
          </a:xfrm>
          <a:prstGeom prst="rect">
            <a:avLst/>
          </a:prstGeom>
        </p:spPr>
        <p:txBody>
          <a:bodyPr vert="horz" wrap="square" lIns="0" tIns="1693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33"/>
              </a:spcBef>
            </a:pPr>
            <a:r>
              <a:rPr dirty="0"/>
              <a:t>Report</a:t>
            </a:r>
            <a:r>
              <a:rPr spc="-53" dirty="0"/>
              <a:t> </a:t>
            </a:r>
            <a:r>
              <a:rPr spc="-13" dirty="0"/>
              <a:t>metadata</a:t>
            </a:r>
          </a:p>
          <a:p>
            <a:pPr marL="16933" marR="6773" indent="847" algn="ctr">
              <a:lnSpc>
                <a:spcPct val="252999"/>
              </a:lnSpc>
            </a:pPr>
            <a:r>
              <a:rPr dirty="0"/>
              <a:t>Examine</a:t>
            </a:r>
            <a:r>
              <a:rPr spc="-40" dirty="0"/>
              <a:t> </a:t>
            </a:r>
            <a:r>
              <a:rPr dirty="0"/>
              <a:t>benchmark</a:t>
            </a:r>
            <a:r>
              <a:rPr spc="-27" dirty="0"/>
              <a:t> </a:t>
            </a:r>
            <a:r>
              <a:rPr spc="-13" dirty="0"/>
              <a:t>contamination </a:t>
            </a:r>
            <a:r>
              <a:rPr dirty="0"/>
              <a:t>Social</a:t>
            </a:r>
            <a:r>
              <a:rPr spc="-47" dirty="0"/>
              <a:t> </a:t>
            </a:r>
            <a:r>
              <a:rPr dirty="0"/>
              <a:t>biases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7" dirty="0"/>
              <a:t> </a:t>
            </a:r>
            <a:r>
              <a:rPr dirty="0"/>
              <a:t>representational</a:t>
            </a:r>
            <a:r>
              <a:rPr spc="-40" dirty="0"/>
              <a:t> </a:t>
            </a:r>
            <a:r>
              <a:rPr spc="-13" dirty="0"/>
              <a:t>harms </a:t>
            </a:r>
            <a:r>
              <a:rPr dirty="0"/>
              <a:t>Excluded</a:t>
            </a:r>
            <a:r>
              <a:rPr spc="-40" dirty="0"/>
              <a:t> </a:t>
            </a:r>
            <a:r>
              <a:rPr dirty="0"/>
              <a:t>voices</a:t>
            </a:r>
            <a:r>
              <a:rPr spc="-27" dirty="0"/>
              <a:t> </a:t>
            </a:r>
            <a:r>
              <a:rPr dirty="0"/>
              <a:t>and</a:t>
            </a:r>
            <a:r>
              <a:rPr spc="-27" dirty="0"/>
              <a:t> </a:t>
            </a:r>
            <a:r>
              <a:rPr spc="-13" dirty="0"/>
              <a:t>identities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2372183" y="5565683"/>
            <a:ext cx="7285567" cy="658707"/>
            <a:chOff x="1779137" y="4174262"/>
            <a:chExt cx="5464175" cy="494030"/>
          </a:xfrm>
        </p:grpSpPr>
        <p:sp>
          <p:nvSpPr>
            <p:cNvPr id="17" name="object 17"/>
            <p:cNvSpPr/>
            <p:nvPr/>
          </p:nvSpPr>
          <p:spPr>
            <a:xfrm>
              <a:off x="1783900" y="41790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3900" y="41790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63196" y="5710431"/>
            <a:ext cx="330369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dirty="0">
                <a:latin typeface="Arial"/>
                <a:cs typeface="Arial"/>
              </a:rPr>
              <a:t>Other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recommendations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17F403A-3A80-4136-9C12-AC79877B3F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80</a:t>
            </a:fld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91981">
              <a:spcBef>
                <a:spcPts val="133"/>
              </a:spcBef>
            </a:pPr>
            <a:r>
              <a:rPr sz="2933" dirty="0"/>
              <a:t>Documenting</a:t>
            </a:r>
            <a:r>
              <a:rPr sz="2933" spc="-80" dirty="0"/>
              <a:t> </a:t>
            </a:r>
            <a:r>
              <a:rPr sz="2933" dirty="0"/>
              <a:t>Webtext</a:t>
            </a:r>
            <a:r>
              <a:rPr sz="2933" spc="-73" dirty="0"/>
              <a:t> </a:t>
            </a:r>
            <a:r>
              <a:rPr sz="2933" dirty="0"/>
              <a:t>Corpora:</a:t>
            </a:r>
            <a:r>
              <a:rPr sz="2933" spc="-73" dirty="0"/>
              <a:t> </a:t>
            </a:r>
            <a:r>
              <a:rPr sz="2933" spc="-13" dirty="0"/>
              <a:t>Recommendations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33" y="1891933"/>
            <a:ext cx="7323667" cy="3454400"/>
            <a:chOff x="1764850" y="1418950"/>
            <a:chExt cx="5492750" cy="2590800"/>
          </a:xfrm>
        </p:grpSpPr>
        <p:sp>
          <p:nvSpPr>
            <p:cNvPr id="7" name="object 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xfrm>
            <a:off x="812800" y="2133602"/>
            <a:ext cx="14630400" cy="2165572"/>
          </a:xfrm>
          <a:prstGeom prst="rect">
            <a:avLst/>
          </a:prstGeom>
        </p:spPr>
        <p:txBody>
          <a:bodyPr vert="horz" wrap="square" lIns="0" tIns="1693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47" algn="ctr">
              <a:spcBef>
                <a:spcPts val="133"/>
              </a:spcBef>
            </a:pPr>
            <a:r>
              <a:rPr b="1" dirty="0">
                <a:latin typeface="Arial"/>
                <a:cs typeface="Arial"/>
              </a:rPr>
              <a:t>Report</a:t>
            </a:r>
            <a:r>
              <a:rPr b="1" spc="-40" dirty="0"/>
              <a:t> </a:t>
            </a:r>
            <a:r>
              <a:rPr b="1" dirty="0">
                <a:latin typeface="Arial"/>
                <a:cs typeface="Arial"/>
              </a:rPr>
              <a:t>website</a:t>
            </a:r>
            <a:r>
              <a:rPr b="1" spc="-27" dirty="0"/>
              <a:t> </a:t>
            </a:r>
            <a:r>
              <a:rPr b="1" spc="-13" dirty="0"/>
              <a:t>metadata</a:t>
            </a:r>
          </a:p>
          <a:p>
            <a:pPr marL="16933" marR="6773" indent="847" algn="ctr">
              <a:lnSpc>
                <a:spcPct val="252999"/>
              </a:lnSpc>
            </a:pPr>
            <a:r>
              <a:rPr dirty="0"/>
              <a:t>Examine</a:t>
            </a:r>
            <a:r>
              <a:rPr spc="-40" dirty="0"/>
              <a:t> </a:t>
            </a:r>
            <a:r>
              <a:rPr dirty="0"/>
              <a:t>benchmark</a:t>
            </a:r>
            <a:r>
              <a:rPr spc="-27" dirty="0"/>
              <a:t> </a:t>
            </a:r>
            <a:r>
              <a:rPr spc="-13" dirty="0"/>
              <a:t>contamination </a:t>
            </a:r>
            <a:r>
              <a:rPr dirty="0"/>
              <a:t>Social</a:t>
            </a:r>
            <a:r>
              <a:rPr spc="-47" dirty="0"/>
              <a:t> </a:t>
            </a:r>
            <a:r>
              <a:rPr dirty="0"/>
              <a:t>biases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7" dirty="0"/>
              <a:t> </a:t>
            </a:r>
            <a:r>
              <a:rPr dirty="0"/>
              <a:t>representational</a:t>
            </a:r>
            <a:r>
              <a:rPr spc="-40" dirty="0"/>
              <a:t> </a:t>
            </a:r>
            <a:r>
              <a:rPr spc="-13" dirty="0"/>
              <a:t>harms </a:t>
            </a:r>
            <a:r>
              <a:rPr dirty="0"/>
              <a:t>Excluded</a:t>
            </a:r>
            <a:r>
              <a:rPr spc="-40" dirty="0"/>
              <a:t> </a:t>
            </a:r>
            <a:r>
              <a:rPr dirty="0"/>
              <a:t>voices</a:t>
            </a:r>
            <a:r>
              <a:rPr spc="-27" dirty="0"/>
              <a:t> </a:t>
            </a:r>
            <a:r>
              <a:rPr dirty="0"/>
              <a:t>and</a:t>
            </a:r>
            <a:r>
              <a:rPr spc="-27" dirty="0"/>
              <a:t> </a:t>
            </a:r>
            <a:r>
              <a:rPr spc="-13" dirty="0"/>
              <a:t>identities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2372183" y="5565683"/>
            <a:ext cx="7285567" cy="658707"/>
            <a:chOff x="1779137" y="4174262"/>
            <a:chExt cx="5464175" cy="494030"/>
          </a:xfrm>
        </p:grpSpPr>
        <p:sp>
          <p:nvSpPr>
            <p:cNvPr id="17" name="object 17"/>
            <p:cNvSpPr/>
            <p:nvPr/>
          </p:nvSpPr>
          <p:spPr>
            <a:xfrm>
              <a:off x="1783900" y="41790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3900" y="41790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363196" y="5710431"/>
            <a:ext cx="330369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787"/>
              </a:lnSpc>
            </a:pPr>
            <a:r>
              <a:rPr sz="2400" dirty="0">
                <a:latin typeface="Arial"/>
                <a:cs typeface="Arial"/>
              </a:rPr>
              <a:t>Other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recommendations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FB30F70-BB26-4DDA-BD3D-7AE5AEF872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81</a:t>
            </a:fld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3450" y="1870150"/>
            <a:ext cx="10640060" cy="4154593"/>
            <a:chOff x="497587" y="1402612"/>
            <a:chExt cx="7980045" cy="3115945"/>
          </a:xfrm>
        </p:grpSpPr>
        <p:sp>
          <p:nvSpPr>
            <p:cNvPr id="3" name="object 3"/>
            <p:cNvSpPr/>
            <p:nvPr/>
          </p:nvSpPr>
          <p:spPr>
            <a:xfrm>
              <a:off x="502350" y="1407374"/>
              <a:ext cx="7970520" cy="3106420"/>
            </a:xfrm>
            <a:custGeom>
              <a:avLst/>
              <a:gdLst/>
              <a:ahLst/>
              <a:cxnLst/>
              <a:rect l="l" t="t" r="r" b="b"/>
              <a:pathLst>
                <a:path w="7970520" h="3106420">
                  <a:moveTo>
                    <a:pt x="74523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9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452389" y="0"/>
                  </a:lnTo>
                  <a:lnTo>
                    <a:pt x="7503559" y="2533"/>
                  </a:lnTo>
                  <a:lnTo>
                    <a:pt x="7553861" y="10039"/>
                  </a:lnTo>
                  <a:lnTo>
                    <a:pt x="7602958" y="22378"/>
                  </a:lnTo>
                  <a:lnTo>
                    <a:pt x="7650508" y="39408"/>
                  </a:lnTo>
                  <a:lnTo>
                    <a:pt x="7696174" y="60989"/>
                  </a:lnTo>
                  <a:lnTo>
                    <a:pt x="7739615" y="86981"/>
                  </a:lnTo>
                  <a:lnTo>
                    <a:pt x="7780492" y="117243"/>
                  </a:lnTo>
                  <a:lnTo>
                    <a:pt x="7818466" y="151633"/>
                  </a:lnTo>
                  <a:lnTo>
                    <a:pt x="7852857" y="189607"/>
                  </a:lnTo>
                  <a:lnTo>
                    <a:pt x="7883118" y="230484"/>
                  </a:lnTo>
                  <a:lnTo>
                    <a:pt x="7909110" y="273925"/>
                  </a:lnTo>
                  <a:lnTo>
                    <a:pt x="7930691" y="319591"/>
                  </a:lnTo>
                  <a:lnTo>
                    <a:pt x="7947721" y="367142"/>
                  </a:lnTo>
                  <a:lnTo>
                    <a:pt x="7960060" y="416238"/>
                  </a:lnTo>
                  <a:lnTo>
                    <a:pt x="7967566" y="466541"/>
                  </a:lnTo>
                  <a:lnTo>
                    <a:pt x="7970099" y="517710"/>
                  </a:lnTo>
                  <a:lnTo>
                    <a:pt x="7970099" y="2588489"/>
                  </a:lnTo>
                  <a:lnTo>
                    <a:pt x="7967984" y="2635611"/>
                  </a:lnTo>
                  <a:lnTo>
                    <a:pt x="7961758" y="2681548"/>
                  </a:lnTo>
                  <a:lnTo>
                    <a:pt x="7951606" y="2726117"/>
                  </a:lnTo>
                  <a:lnTo>
                    <a:pt x="7937710" y="2769135"/>
                  </a:lnTo>
                  <a:lnTo>
                    <a:pt x="7920253" y="2810419"/>
                  </a:lnTo>
                  <a:lnTo>
                    <a:pt x="7899417" y="2849787"/>
                  </a:lnTo>
                  <a:lnTo>
                    <a:pt x="7875385" y="2887056"/>
                  </a:lnTo>
                  <a:lnTo>
                    <a:pt x="7848341" y="2922043"/>
                  </a:lnTo>
                  <a:lnTo>
                    <a:pt x="7818466" y="2954566"/>
                  </a:lnTo>
                  <a:lnTo>
                    <a:pt x="7785943" y="2984441"/>
                  </a:lnTo>
                  <a:lnTo>
                    <a:pt x="7750956" y="3011485"/>
                  </a:lnTo>
                  <a:lnTo>
                    <a:pt x="7713688" y="3035517"/>
                  </a:lnTo>
                  <a:lnTo>
                    <a:pt x="7674320" y="3056353"/>
                  </a:lnTo>
                  <a:lnTo>
                    <a:pt x="7633035" y="3073810"/>
                  </a:lnTo>
                  <a:lnTo>
                    <a:pt x="7590017" y="3087706"/>
                  </a:lnTo>
                  <a:lnTo>
                    <a:pt x="7545448" y="3097858"/>
                  </a:lnTo>
                  <a:lnTo>
                    <a:pt x="7499512" y="3104084"/>
                  </a:lnTo>
                  <a:lnTo>
                    <a:pt x="74523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350" y="1407374"/>
              <a:ext cx="7970520" cy="3106420"/>
            </a:xfrm>
            <a:custGeom>
              <a:avLst/>
              <a:gdLst/>
              <a:ahLst/>
              <a:cxnLst/>
              <a:rect l="l" t="t" r="r" b="b"/>
              <a:pathLst>
                <a:path w="7970520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9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452389" y="0"/>
                  </a:lnTo>
                  <a:lnTo>
                    <a:pt x="7503559" y="2533"/>
                  </a:lnTo>
                  <a:lnTo>
                    <a:pt x="7553861" y="10039"/>
                  </a:lnTo>
                  <a:lnTo>
                    <a:pt x="7602958" y="22378"/>
                  </a:lnTo>
                  <a:lnTo>
                    <a:pt x="7650508" y="39408"/>
                  </a:lnTo>
                  <a:lnTo>
                    <a:pt x="7696174" y="60989"/>
                  </a:lnTo>
                  <a:lnTo>
                    <a:pt x="7739615" y="86981"/>
                  </a:lnTo>
                  <a:lnTo>
                    <a:pt x="7780492" y="117243"/>
                  </a:lnTo>
                  <a:lnTo>
                    <a:pt x="7818466" y="151633"/>
                  </a:lnTo>
                  <a:lnTo>
                    <a:pt x="7852857" y="189607"/>
                  </a:lnTo>
                  <a:lnTo>
                    <a:pt x="7883118" y="230484"/>
                  </a:lnTo>
                  <a:lnTo>
                    <a:pt x="7909110" y="273925"/>
                  </a:lnTo>
                  <a:lnTo>
                    <a:pt x="7930691" y="319591"/>
                  </a:lnTo>
                  <a:lnTo>
                    <a:pt x="7947721" y="367142"/>
                  </a:lnTo>
                  <a:lnTo>
                    <a:pt x="7960060" y="416238"/>
                  </a:lnTo>
                  <a:lnTo>
                    <a:pt x="7967566" y="466541"/>
                  </a:lnTo>
                  <a:lnTo>
                    <a:pt x="7970099" y="517710"/>
                  </a:lnTo>
                  <a:lnTo>
                    <a:pt x="7970099" y="2588489"/>
                  </a:lnTo>
                  <a:lnTo>
                    <a:pt x="7967984" y="2635611"/>
                  </a:lnTo>
                  <a:lnTo>
                    <a:pt x="7961758" y="2681548"/>
                  </a:lnTo>
                  <a:lnTo>
                    <a:pt x="7951606" y="2726117"/>
                  </a:lnTo>
                  <a:lnTo>
                    <a:pt x="7937710" y="2769135"/>
                  </a:lnTo>
                  <a:lnTo>
                    <a:pt x="7920253" y="2810419"/>
                  </a:lnTo>
                  <a:lnTo>
                    <a:pt x="7899417" y="2849787"/>
                  </a:lnTo>
                  <a:lnTo>
                    <a:pt x="7875385" y="2887056"/>
                  </a:lnTo>
                  <a:lnTo>
                    <a:pt x="7848341" y="2922043"/>
                  </a:lnTo>
                  <a:lnTo>
                    <a:pt x="7818466" y="2954566"/>
                  </a:lnTo>
                  <a:lnTo>
                    <a:pt x="7785943" y="2984441"/>
                  </a:lnTo>
                  <a:lnTo>
                    <a:pt x="7750956" y="3011485"/>
                  </a:lnTo>
                  <a:lnTo>
                    <a:pt x="7713688" y="3035517"/>
                  </a:lnTo>
                  <a:lnTo>
                    <a:pt x="7674320" y="3056353"/>
                  </a:lnTo>
                  <a:lnTo>
                    <a:pt x="7633035" y="3073810"/>
                  </a:lnTo>
                  <a:lnTo>
                    <a:pt x="7590017" y="3087706"/>
                  </a:lnTo>
                  <a:lnTo>
                    <a:pt x="7545448" y="3097858"/>
                  </a:lnTo>
                  <a:lnTo>
                    <a:pt x="7499512" y="3104084"/>
                  </a:lnTo>
                  <a:lnTo>
                    <a:pt x="74523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77799" y="1620449"/>
              <a:ext cx="4988560" cy="741045"/>
            </a:xfrm>
            <a:custGeom>
              <a:avLst/>
              <a:gdLst/>
              <a:ahLst/>
              <a:cxnLst/>
              <a:rect l="l" t="t" r="r" b="b"/>
              <a:pathLst>
                <a:path w="4988559" h="741044">
                  <a:moveTo>
                    <a:pt x="4864947" y="740699"/>
                  </a:moveTo>
                  <a:lnTo>
                    <a:pt x="123452" y="740699"/>
                  </a:lnTo>
                  <a:lnTo>
                    <a:pt x="75399" y="730998"/>
                  </a:lnTo>
                  <a:lnTo>
                    <a:pt x="36158" y="704541"/>
                  </a:lnTo>
                  <a:lnTo>
                    <a:pt x="9701" y="665300"/>
                  </a:lnTo>
                  <a:lnTo>
                    <a:pt x="0" y="617247"/>
                  </a:lnTo>
                  <a:lnTo>
                    <a:pt x="0" y="123452"/>
                  </a:lnTo>
                  <a:lnTo>
                    <a:pt x="9701" y="75399"/>
                  </a:lnTo>
                  <a:lnTo>
                    <a:pt x="36158" y="36158"/>
                  </a:lnTo>
                  <a:lnTo>
                    <a:pt x="75399" y="9701"/>
                  </a:lnTo>
                  <a:lnTo>
                    <a:pt x="123452" y="0"/>
                  </a:lnTo>
                  <a:lnTo>
                    <a:pt x="4864947" y="0"/>
                  </a:lnTo>
                  <a:lnTo>
                    <a:pt x="4912190" y="9397"/>
                  </a:lnTo>
                  <a:lnTo>
                    <a:pt x="4952241" y="36158"/>
                  </a:lnTo>
                  <a:lnTo>
                    <a:pt x="4979002" y="76209"/>
                  </a:lnTo>
                  <a:lnTo>
                    <a:pt x="4988399" y="123452"/>
                  </a:lnTo>
                  <a:lnTo>
                    <a:pt x="4988399" y="617247"/>
                  </a:lnTo>
                  <a:lnTo>
                    <a:pt x="4978698" y="665300"/>
                  </a:lnTo>
                  <a:lnTo>
                    <a:pt x="4952241" y="704541"/>
                  </a:lnTo>
                  <a:lnTo>
                    <a:pt x="4913000" y="730998"/>
                  </a:lnTo>
                  <a:lnTo>
                    <a:pt x="4864947" y="740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77799" y="1620449"/>
              <a:ext cx="4988560" cy="741045"/>
            </a:xfrm>
            <a:custGeom>
              <a:avLst/>
              <a:gdLst/>
              <a:ahLst/>
              <a:cxnLst/>
              <a:rect l="l" t="t" r="r" b="b"/>
              <a:pathLst>
                <a:path w="4988559" h="741044">
                  <a:moveTo>
                    <a:pt x="0" y="123452"/>
                  </a:moveTo>
                  <a:lnTo>
                    <a:pt x="9701" y="75399"/>
                  </a:lnTo>
                  <a:lnTo>
                    <a:pt x="36158" y="36158"/>
                  </a:lnTo>
                  <a:lnTo>
                    <a:pt x="75399" y="9701"/>
                  </a:lnTo>
                  <a:lnTo>
                    <a:pt x="123452" y="0"/>
                  </a:lnTo>
                  <a:lnTo>
                    <a:pt x="4864947" y="0"/>
                  </a:lnTo>
                  <a:lnTo>
                    <a:pt x="4912190" y="9397"/>
                  </a:lnTo>
                  <a:lnTo>
                    <a:pt x="4952241" y="36158"/>
                  </a:lnTo>
                  <a:lnTo>
                    <a:pt x="4979002" y="76209"/>
                  </a:lnTo>
                  <a:lnTo>
                    <a:pt x="4988399" y="123452"/>
                  </a:lnTo>
                  <a:lnTo>
                    <a:pt x="4988399" y="617247"/>
                  </a:lnTo>
                  <a:lnTo>
                    <a:pt x="4978698" y="665300"/>
                  </a:lnTo>
                  <a:lnTo>
                    <a:pt x="4952241" y="704541"/>
                  </a:lnTo>
                  <a:lnTo>
                    <a:pt x="4913000" y="730998"/>
                  </a:lnTo>
                  <a:lnTo>
                    <a:pt x="4864947" y="740699"/>
                  </a:lnTo>
                  <a:lnTo>
                    <a:pt x="123452" y="740699"/>
                  </a:lnTo>
                  <a:lnTo>
                    <a:pt x="75399" y="730998"/>
                  </a:lnTo>
                  <a:lnTo>
                    <a:pt x="36158" y="704541"/>
                  </a:lnTo>
                  <a:lnTo>
                    <a:pt x="9701" y="665300"/>
                  </a:lnTo>
                  <a:lnTo>
                    <a:pt x="0" y="617247"/>
                  </a:lnTo>
                  <a:lnTo>
                    <a:pt x="0" y="1234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Reporting</a:t>
            </a:r>
            <a:r>
              <a:rPr spc="-47" dirty="0"/>
              <a:t> </a:t>
            </a:r>
            <a:r>
              <a:rPr dirty="0"/>
              <a:t>website</a:t>
            </a:r>
            <a:r>
              <a:rPr spc="-47" dirty="0"/>
              <a:t> </a:t>
            </a:r>
            <a:r>
              <a:rPr spc="-13" dirty="0"/>
              <a:t>metadata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915977" y="2441124"/>
            <a:ext cx="59419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Report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domains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text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scraped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from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37850" y="3511317"/>
            <a:ext cx="7890933" cy="1993900"/>
            <a:chOff x="1528387" y="2633487"/>
            <a:chExt cx="5918200" cy="1495425"/>
          </a:xfrm>
        </p:grpSpPr>
        <p:sp>
          <p:nvSpPr>
            <p:cNvPr id="10" name="object 10"/>
            <p:cNvSpPr/>
            <p:nvPr/>
          </p:nvSpPr>
          <p:spPr>
            <a:xfrm>
              <a:off x="1533150" y="2638250"/>
              <a:ext cx="5908675" cy="1485900"/>
            </a:xfrm>
            <a:custGeom>
              <a:avLst/>
              <a:gdLst/>
              <a:ahLst/>
              <a:cxnLst/>
              <a:rect l="l" t="t" r="r" b="b"/>
              <a:pathLst>
                <a:path w="5908675" h="1485900">
                  <a:moveTo>
                    <a:pt x="5660944" y="1485299"/>
                  </a:moveTo>
                  <a:lnTo>
                    <a:pt x="247554" y="1485299"/>
                  </a:lnTo>
                  <a:lnTo>
                    <a:pt x="197663" y="1480270"/>
                  </a:lnTo>
                  <a:lnTo>
                    <a:pt x="151195" y="1465845"/>
                  </a:lnTo>
                  <a:lnTo>
                    <a:pt x="109144" y="1443021"/>
                  </a:lnTo>
                  <a:lnTo>
                    <a:pt x="72507" y="1412792"/>
                  </a:lnTo>
                  <a:lnTo>
                    <a:pt x="42278" y="1376155"/>
                  </a:lnTo>
                  <a:lnTo>
                    <a:pt x="19454" y="1334104"/>
                  </a:lnTo>
                  <a:lnTo>
                    <a:pt x="5029" y="1287636"/>
                  </a:lnTo>
                  <a:lnTo>
                    <a:pt x="0" y="1237744"/>
                  </a:lnTo>
                  <a:lnTo>
                    <a:pt x="0" y="247554"/>
                  </a:lnTo>
                  <a:lnTo>
                    <a:pt x="5029" y="197663"/>
                  </a:lnTo>
                  <a:lnTo>
                    <a:pt x="19454" y="151195"/>
                  </a:lnTo>
                  <a:lnTo>
                    <a:pt x="42278" y="109144"/>
                  </a:lnTo>
                  <a:lnTo>
                    <a:pt x="72507" y="72507"/>
                  </a:lnTo>
                  <a:lnTo>
                    <a:pt x="109144" y="42278"/>
                  </a:lnTo>
                  <a:lnTo>
                    <a:pt x="151195" y="19454"/>
                  </a:lnTo>
                  <a:lnTo>
                    <a:pt x="197663" y="5029"/>
                  </a:lnTo>
                  <a:lnTo>
                    <a:pt x="247554" y="0"/>
                  </a:lnTo>
                  <a:lnTo>
                    <a:pt x="5660944" y="0"/>
                  </a:lnTo>
                  <a:lnTo>
                    <a:pt x="5709466" y="4800"/>
                  </a:lnTo>
                  <a:lnTo>
                    <a:pt x="5755680" y="18844"/>
                  </a:lnTo>
                  <a:lnTo>
                    <a:pt x="5798288" y="41592"/>
                  </a:lnTo>
                  <a:lnTo>
                    <a:pt x="5835992" y="72507"/>
                  </a:lnTo>
                  <a:lnTo>
                    <a:pt x="5866908" y="110211"/>
                  </a:lnTo>
                  <a:lnTo>
                    <a:pt x="5889656" y="152819"/>
                  </a:lnTo>
                  <a:lnTo>
                    <a:pt x="5903699" y="199033"/>
                  </a:lnTo>
                  <a:lnTo>
                    <a:pt x="5908499" y="247554"/>
                  </a:lnTo>
                  <a:lnTo>
                    <a:pt x="5908499" y="1237744"/>
                  </a:lnTo>
                  <a:lnTo>
                    <a:pt x="5903470" y="1287636"/>
                  </a:lnTo>
                  <a:lnTo>
                    <a:pt x="5889045" y="1334104"/>
                  </a:lnTo>
                  <a:lnTo>
                    <a:pt x="5866221" y="1376155"/>
                  </a:lnTo>
                  <a:lnTo>
                    <a:pt x="5835992" y="1412792"/>
                  </a:lnTo>
                  <a:lnTo>
                    <a:pt x="5799355" y="1443021"/>
                  </a:lnTo>
                  <a:lnTo>
                    <a:pt x="5757304" y="1465845"/>
                  </a:lnTo>
                  <a:lnTo>
                    <a:pt x="5710835" y="1480270"/>
                  </a:lnTo>
                  <a:lnTo>
                    <a:pt x="5660944" y="1485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3150" y="2638250"/>
              <a:ext cx="5908675" cy="1485900"/>
            </a:xfrm>
            <a:custGeom>
              <a:avLst/>
              <a:gdLst/>
              <a:ahLst/>
              <a:cxnLst/>
              <a:rect l="l" t="t" r="r" b="b"/>
              <a:pathLst>
                <a:path w="5908675" h="1485900">
                  <a:moveTo>
                    <a:pt x="0" y="247554"/>
                  </a:moveTo>
                  <a:lnTo>
                    <a:pt x="5029" y="197663"/>
                  </a:lnTo>
                  <a:lnTo>
                    <a:pt x="19454" y="151195"/>
                  </a:lnTo>
                  <a:lnTo>
                    <a:pt x="42278" y="109144"/>
                  </a:lnTo>
                  <a:lnTo>
                    <a:pt x="72507" y="72507"/>
                  </a:lnTo>
                  <a:lnTo>
                    <a:pt x="109144" y="42278"/>
                  </a:lnTo>
                  <a:lnTo>
                    <a:pt x="151195" y="19454"/>
                  </a:lnTo>
                  <a:lnTo>
                    <a:pt x="197663" y="5029"/>
                  </a:lnTo>
                  <a:lnTo>
                    <a:pt x="247554" y="0"/>
                  </a:lnTo>
                  <a:lnTo>
                    <a:pt x="5660944" y="0"/>
                  </a:lnTo>
                  <a:lnTo>
                    <a:pt x="5709466" y="4800"/>
                  </a:lnTo>
                  <a:lnTo>
                    <a:pt x="5755680" y="18844"/>
                  </a:lnTo>
                  <a:lnTo>
                    <a:pt x="5798288" y="41592"/>
                  </a:lnTo>
                  <a:lnTo>
                    <a:pt x="5835992" y="72507"/>
                  </a:lnTo>
                  <a:lnTo>
                    <a:pt x="5866908" y="110211"/>
                  </a:lnTo>
                  <a:lnTo>
                    <a:pt x="5889656" y="152819"/>
                  </a:lnTo>
                  <a:lnTo>
                    <a:pt x="5903699" y="199033"/>
                  </a:lnTo>
                  <a:lnTo>
                    <a:pt x="5908499" y="247554"/>
                  </a:lnTo>
                  <a:lnTo>
                    <a:pt x="5908499" y="1237744"/>
                  </a:lnTo>
                  <a:lnTo>
                    <a:pt x="5903470" y="1287636"/>
                  </a:lnTo>
                  <a:lnTo>
                    <a:pt x="5889045" y="1334104"/>
                  </a:lnTo>
                  <a:lnTo>
                    <a:pt x="5866221" y="1376155"/>
                  </a:lnTo>
                  <a:lnTo>
                    <a:pt x="5835992" y="1412792"/>
                  </a:lnTo>
                  <a:lnTo>
                    <a:pt x="5799355" y="1443021"/>
                  </a:lnTo>
                  <a:lnTo>
                    <a:pt x="5757304" y="1465845"/>
                  </a:lnTo>
                  <a:lnTo>
                    <a:pt x="5710835" y="1480270"/>
                  </a:lnTo>
                  <a:lnTo>
                    <a:pt x="5660944" y="1485299"/>
                  </a:lnTo>
                  <a:lnTo>
                    <a:pt x="247554" y="1485299"/>
                  </a:lnTo>
                  <a:lnTo>
                    <a:pt x="197663" y="1480270"/>
                  </a:lnTo>
                  <a:lnTo>
                    <a:pt x="151195" y="1465845"/>
                  </a:lnTo>
                  <a:lnTo>
                    <a:pt x="109144" y="1443021"/>
                  </a:lnTo>
                  <a:lnTo>
                    <a:pt x="72507" y="1412792"/>
                  </a:lnTo>
                  <a:lnTo>
                    <a:pt x="42278" y="1376155"/>
                  </a:lnTo>
                  <a:lnTo>
                    <a:pt x="19454" y="1334104"/>
                  </a:lnTo>
                  <a:lnTo>
                    <a:pt x="5029" y="1287636"/>
                  </a:lnTo>
                  <a:lnTo>
                    <a:pt x="0" y="1237744"/>
                  </a:lnTo>
                  <a:lnTo>
                    <a:pt x="0" y="2475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38241" y="4110442"/>
            <a:ext cx="7313507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Data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collection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different </a:t>
            </a:r>
            <a:r>
              <a:rPr sz="2400" dirty="0">
                <a:latin typeface="Arial"/>
                <a:cs typeface="Arial"/>
              </a:rPr>
              <a:t>distribution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internet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domains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expect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72441C1-57F8-45A8-B28D-091F4D7771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82</a:t>
            </a:fld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91981">
              <a:spcBef>
                <a:spcPts val="133"/>
              </a:spcBef>
            </a:pPr>
            <a:r>
              <a:rPr sz="2933" dirty="0"/>
              <a:t>Documenting</a:t>
            </a:r>
            <a:r>
              <a:rPr sz="2933" spc="-80" dirty="0"/>
              <a:t> </a:t>
            </a:r>
            <a:r>
              <a:rPr sz="2933" dirty="0"/>
              <a:t>Webtext</a:t>
            </a:r>
            <a:r>
              <a:rPr sz="2933" spc="-73" dirty="0"/>
              <a:t> </a:t>
            </a:r>
            <a:r>
              <a:rPr sz="2933" dirty="0"/>
              <a:t>Corpora:</a:t>
            </a:r>
            <a:r>
              <a:rPr sz="2933" spc="-73" dirty="0"/>
              <a:t> </a:t>
            </a:r>
            <a:r>
              <a:rPr sz="2933" spc="-13" dirty="0"/>
              <a:t>Recommendations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00" y="1910983"/>
            <a:ext cx="7323667" cy="4313767"/>
            <a:chOff x="1764825" y="1433237"/>
            <a:chExt cx="5492750" cy="3235325"/>
          </a:xfrm>
        </p:grpSpPr>
        <p:sp>
          <p:nvSpPr>
            <p:cNvPr id="7" name="object 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xfrm>
            <a:off x="812800" y="2133602"/>
            <a:ext cx="14630400" cy="3305884"/>
          </a:xfrm>
          <a:prstGeom prst="rect">
            <a:avLst/>
          </a:prstGeom>
        </p:spPr>
        <p:txBody>
          <a:bodyPr vert="horz" wrap="square" lIns="0" tIns="1693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33"/>
              </a:spcBef>
            </a:pPr>
            <a:r>
              <a:rPr dirty="0"/>
              <a:t>Report</a:t>
            </a:r>
            <a:r>
              <a:rPr spc="-47" dirty="0"/>
              <a:t> </a:t>
            </a:r>
            <a:r>
              <a:rPr dirty="0"/>
              <a:t>website</a:t>
            </a:r>
            <a:r>
              <a:rPr spc="-40" dirty="0"/>
              <a:t> </a:t>
            </a:r>
            <a:r>
              <a:rPr spc="-13" dirty="0"/>
              <a:t>metadata</a:t>
            </a:r>
          </a:p>
          <a:p>
            <a:pPr marL="16933" marR="6773" indent="-2540" algn="ctr">
              <a:lnSpc>
                <a:spcPct val="252999"/>
              </a:lnSpc>
            </a:pPr>
            <a:r>
              <a:rPr b="1" dirty="0">
                <a:latin typeface="Arial"/>
                <a:cs typeface="Arial"/>
              </a:rPr>
              <a:t>Examine</a:t>
            </a:r>
            <a:r>
              <a:rPr b="1" spc="-67" dirty="0"/>
              <a:t> </a:t>
            </a:r>
            <a:r>
              <a:rPr b="1" dirty="0">
                <a:latin typeface="Arial"/>
                <a:cs typeface="Arial"/>
              </a:rPr>
              <a:t>benchmark</a:t>
            </a:r>
            <a:r>
              <a:rPr b="1" spc="-53" dirty="0"/>
              <a:t> </a:t>
            </a:r>
            <a:r>
              <a:rPr b="1" spc="-13" dirty="0"/>
              <a:t>contamination </a:t>
            </a:r>
            <a:r>
              <a:rPr dirty="0"/>
              <a:t>Social</a:t>
            </a:r>
            <a:r>
              <a:rPr spc="-47" dirty="0"/>
              <a:t> </a:t>
            </a:r>
            <a:r>
              <a:rPr dirty="0"/>
              <a:t>biases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7" dirty="0"/>
              <a:t> </a:t>
            </a:r>
            <a:r>
              <a:rPr dirty="0"/>
              <a:t>representational</a:t>
            </a:r>
            <a:r>
              <a:rPr spc="-40" dirty="0"/>
              <a:t> </a:t>
            </a:r>
            <a:r>
              <a:rPr spc="-13" dirty="0"/>
              <a:t>harms </a:t>
            </a:r>
            <a:r>
              <a:rPr dirty="0"/>
              <a:t>Excluded</a:t>
            </a:r>
            <a:r>
              <a:rPr spc="-40" dirty="0"/>
              <a:t> </a:t>
            </a:r>
            <a:r>
              <a:rPr dirty="0"/>
              <a:t>voices</a:t>
            </a:r>
            <a:r>
              <a:rPr spc="-27" dirty="0"/>
              <a:t> </a:t>
            </a:r>
            <a:r>
              <a:rPr dirty="0"/>
              <a:t>and</a:t>
            </a:r>
            <a:r>
              <a:rPr spc="-27" dirty="0"/>
              <a:t> </a:t>
            </a:r>
            <a:r>
              <a:rPr spc="-13" dirty="0"/>
              <a:t>identities</a:t>
            </a:r>
          </a:p>
          <a:p>
            <a:pPr>
              <a:spcBef>
                <a:spcPts val="47"/>
              </a:spcBef>
            </a:pPr>
            <a:endParaRPr sz="3467"/>
          </a:p>
          <a:p>
            <a:pPr marL="1693" algn="ctr"/>
            <a:r>
              <a:rPr dirty="0"/>
              <a:t>Other</a:t>
            </a:r>
            <a:r>
              <a:rPr spc="-7" dirty="0"/>
              <a:t> </a:t>
            </a:r>
            <a:r>
              <a:rPr spc="-13" dirty="0"/>
              <a:t>recommendations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9A3508E-1B62-4771-B2F2-169DCFF7EC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83</a:t>
            </a:fld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3450" y="1825784"/>
            <a:ext cx="10640060" cy="4154593"/>
            <a:chOff x="497587" y="1369337"/>
            <a:chExt cx="7980045" cy="3115945"/>
          </a:xfrm>
        </p:grpSpPr>
        <p:sp>
          <p:nvSpPr>
            <p:cNvPr id="3" name="object 3"/>
            <p:cNvSpPr/>
            <p:nvPr/>
          </p:nvSpPr>
          <p:spPr>
            <a:xfrm>
              <a:off x="502350" y="1374100"/>
              <a:ext cx="7970520" cy="3106420"/>
            </a:xfrm>
            <a:custGeom>
              <a:avLst/>
              <a:gdLst/>
              <a:ahLst/>
              <a:cxnLst/>
              <a:rect l="l" t="t" r="r" b="b"/>
              <a:pathLst>
                <a:path w="7970520" h="3106420">
                  <a:moveTo>
                    <a:pt x="74523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452389" y="0"/>
                  </a:lnTo>
                  <a:lnTo>
                    <a:pt x="7503559" y="2533"/>
                  </a:lnTo>
                  <a:lnTo>
                    <a:pt x="7553861" y="10039"/>
                  </a:lnTo>
                  <a:lnTo>
                    <a:pt x="7602958" y="22378"/>
                  </a:lnTo>
                  <a:lnTo>
                    <a:pt x="7650508" y="39408"/>
                  </a:lnTo>
                  <a:lnTo>
                    <a:pt x="7696174" y="60989"/>
                  </a:lnTo>
                  <a:lnTo>
                    <a:pt x="7739615" y="86981"/>
                  </a:lnTo>
                  <a:lnTo>
                    <a:pt x="7780492" y="117243"/>
                  </a:lnTo>
                  <a:lnTo>
                    <a:pt x="7818466" y="151633"/>
                  </a:lnTo>
                  <a:lnTo>
                    <a:pt x="7852857" y="189607"/>
                  </a:lnTo>
                  <a:lnTo>
                    <a:pt x="7883118" y="230484"/>
                  </a:lnTo>
                  <a:lnTo>
                    <a:pt x="7909110" y="273925"/>
                  </a:lnTo>
                  <a:lnTo>
                    <a:pt x="7930691" y="319591"/>
                  </a:lnTo>
                  <a:lnTo>
                    <a:pt x="7947721" y="367141"/>
                  </a:lnTo>
                  <a:lnTo>
                    <a:pt x="7960060" y="416238"/>
                  </a:lnTo>
                  <a:lnTo>
                    <a:pt x="7967566" y="466541"/>
                  </a:lnTo>
                  <a:lnTo>
                    <a:pt x="7970099" y="517710"/>
                  </a:lnTo>
                  <a:lnTo>
                    <a:pt x="7970099" y="2588489"/>
                  </a:lnTo>
                  <a:lnTo>
                    <a:pt x="7967984" y="2635611"/>
                  </a:lnTo>
                  <a:lnTo>
                    <a:pt x="7961758" y="2681548"/>
                  </a:lnTo>
                  <a:lnTo>
                    <a:pt x="7951606" y="2726117"/>
                  </a:lnTo>
                  <a:lnTo>
                    <a:pt x="7937710" y="2769135"/>
                  </a:lnTo>
                  <a:lnTo>
                    <a:pt x="7920253" y="2810419"/>
                  </a:lnTo>
                  <a:lnTo>
                    <a:pt x="7899417" y="2849787"/>
                  </a:lnTo>
                  <a:lnTo>
                    <a:pt x="7875385" y="2887056"/>
                  </a:lnTo>
                  <a:lnTo>
                    <a:pt x="7848341" y="2922043"/>
                  </a:lnTo>
                  <a:lnTo>
                    <a:pt x="7818466" y="2954566"/>
                  </a:lnTo>
                  <a:lnTo>
                    <a:pt x="7785943" y="2984441"/>
                  </a:lnTo>
                  <a:lnTo>
                    <a:pt x="7750956" y="3011485"/>
                  </a:lnTo>
                  <a:lnTo>
                    <a:pt x="7713688" y="3035517"/>
                  </a:lnTo>
                  <a:lnTo>
                    <a:pt x="7674320" y="3056353"/>
                  </a:lnTo>
                  <a:lnTo>
                    <a:pt x="7633035" y="3073810"/>
                  </a:lnTo>
                  <a:lnTo>
                    <a:pt x="7590017" y="3087706"/>
                  </a:lnTo>
                  <a:lnTo>
                    <a:pt x="7545448" y="3097858"/>
                  </a:lnTo>
                  <a:lnTo>
                    <a:pt x="7499512" y="3104084"/>
                  </a:lnTo>
                  <a:lnTo>
                    <a:pt x="74523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2350" y="1374100"/>
              <a:ext cx="7970520" cy="3106420"/>
            </a:xfrm>
            <a:custGeom>
              <a:avLst/>
              <a:gdLst/>
              <a:ahLst/>
              <a:cxnLst/>
              <a:rect l="l" t="t" r="r" b="b"/>
              <a:pathLst>
                <a:path w="7970520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452389" y="0"/>
                  </a:lnTo>
                  <a:lnTo>
                    <a:pt x="7503559" y="2533"/>
                  </a:lnTo>
                  <a:lnTo>
                    <a:pt x="7553861" y="10039"/>
                  </a:lnTo>
                  <a:lnTo>
                    <a:pt x="7602958" y="22378"/>
                  </a:lnTo>
                  <a:lnTo>
                    <a:pt x="7650508" y="39408"/>
                  </a:lnTo>
                  <a:lnTo>
                    <a:pt x="7696174" y="60989"/>
                  </a:lnTo>
                  <a:lnTo>
                    <a:pt x="7739615" y="86981"/>
                  </a:lnTo>
                  <a:lnTo>
                    <a:pt x="7780492" y="117243"/>
                  </a:lnTo>
                  <a:lnTo>
                    <a:pt x="7818466" y="151633"/>
                  </a:lnTo>
                  <a:lnTo>
                    <a:pt x="7852857" y="189607"/>
                  </a:lnTo>
                  <a:lnTo>
                    <a:pt x="7883118" y="230484"/>
                  </a:lnTo>
                  <a:lnTo>
                    <a:pt x="7909110" y="273925"/>
                  </a:lnTo>
                  <a:lnTo>
                    <a:pt x="7930691" y="319591"/>
                  </a:lnTo>
                  <a:lnTo>
                    <a:pt x="7947721" y="367141"/>
                  </a:lnTo>
                  <a:lnTo>
                    <a:pt x="7960060" y="416238"/>
                  </a:lnTo>
                  <a:lnTo>
                    <a:pt x="7967566" y="466541"/>
                  </a:lnTo>
                  <a:lnTo>
                    <a:pt x="7970099" y="517710"/>
                  </a:lnTo>
                  <a:lnTo>
                    <a:pt x="7970099" y="2588489"/>
                  </a:lnTo>
                  <a:lnTo>
                    <a:pt x="7967984" y="2635611"/>
                  </a:lnTo>
                  <a:lnTo>
                    <a:pt x="7961758" y="2681548"/>
                  </a:lnTo>
                  <a:lnTo>
                    <a:pt x="7951606" y="2726117"/>
                  </a:lnTo>
                  <a:lnTo>
                    <a:pt x="7937710" y="2769135"/>
                  </a:lnTo>
                  <a:lnTo>
                    <a:pt x="7920253" y="2810419"/>
                  </a:lnTo>
                  <a:lnTo>
                    <a:pt x="7899417" y="2849787"/>
                  </a:lnTo>
                  <a:lnTo>
                    <a:pt x="7875385" y="2887056"/>
                  </a:lnTo>
                  <a:lnTo>
                    <a:pt x="7848341" y="2922043"/>
                  </a:lnTo>
                  <a:lnTo>
                    <a:pt x="7818466" y="2954566"/>
                  </a:lnTo>
                  <a:lnTo>
                    <a:pt x="7785943" y="2984441"/>
                  </a:lnTo>
                  <a:lnTo>
                    <a:pt x="7750956" y="3011485"/>
                  </a:lnTo>
                  <a:lnTo>
                    <a:pt x="7713688" y="3035517"/>
                  </a:lnTo>
                  <a:lnTo>
                    <a:pt x="7674320" y="3056353"/>
                  </a:lnTo>
                  <a:lnTo>
                    <a:pt x="7633035" y="3073810"/>
                  </a:lnTo>
                  <a:lnTo>
                    <a:pt x="7590017" y="3087706"/>
                  </a:lnTo>
                  <a:lnTo>
                    <a:pt x="7545448" y="3097858"/>
                  </a:lnTo>
                  <a:lnTo>
                    <a:pt x="7499512" y="3104084"/>
                  </a:lnTo>
                  <a:lnTo>
                    <a:pt x="74523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10699" y="1620450"/>
              <a:ext cx="5553710" cy="741045"/>
            </a:xfrm>
            <a:custGeom>
              <a:avLst/>
              <a:gdLst/>
              <a:ahLst/>
              <a:cxnLst/>
              <a:rect l="l" t="t" r="r" b="b"/>
              <a:pathLst>
                <a:path w="5553709" h="741044">
                  <a:moveTo>
                    <a:pt x="5430147" y="740699"/>
                  </a:moveTo>
                  <a:lnTo>
                    <a:pt x="123452" y="740699"/>
                  </a:lnTo>
                  <a:lnTo>
                    <a:pt x="75399" y="730998"/>
                  </a:lnTo>
                  <a:lnTo>
                    <a:pt x="36158" y="704541"/>
                  </a:lnTo>
                  <a:lnTo>
                    <a:pt x="9701" y="665300"/>
                  </a:lnTo>
                  <a:lnTo>
                    <a:pt x="0" y="617247"/>
                  </a:lnTo>
                  <a:lnTo>
                    <a:pt x="0" y="123452"/>
                  </a:lnTo>
                  <a:lnTo>
                    <a:pt x="9701" y="75399"/>
                  </a:lnTo>
                  <a:lnTo>
                    <a:pt x="36158" y="36158"/>
                  </a:lnTo>
                  <a:lnTo>
                    <a:pt x="75399" y="9701"/>
                  </a:lnTo>
                  <a:lnTo>
                    <a:pt x="123452" y="0"/>
                  </a:lnTo>
                  <a:lnTo>
                    <a:pt x="5430147" y="0"/>
                  </a:lnTo>
                  <a:lnTo>
                    <a:pt x="5477390" y="9397"/>
                  </a:lnTo>
                  <a:lnTo>
                    <a:pt x="5517441" y="36158"/>
                  </a:lnTo>
                  <a:lnTo>
                    <a:pt x="5544202" y="76209"/>
                  </a:lnTo>
                  <a:lnTo>
                    <a:pt x="5553599" y="123452"/>
                  </a:lnTo>
                  <a:lnTo>
                    <a:pt x="5553599" y="617247"/>
                  </a:lnTo>
                  <a:lnTo>
                    <a:pt x="5543898" y="665300"/>
                  </a:lnTo>
                  <a:lnTo>
                    <a:pt x="5517441" y="704541"/>
                  </a:lnTo>
                  <a:lnTo>
                    <a:pt x="5478200" y="730998"/>
                  </a:lnTo>
                  <a:lnTo>
                    <a:pt x="5430147" y="740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0699" y="1620450"/>
              <a:ext cx="5553710" cy="741045"/>
            </a:xfrm>
            <a:custGeom>
              <a:avLst/>
              <a:gdLst/>
              <a:ahLst/>
              <a:cxnLst/>
              <a:rect l="l" t="t" r="r" b="b"/>
              <a:pathLst>
                <a:path w="5553709" h="741044">
                  <a:moveTo>
                    <a:pt x="0" y="123452"/>
                  </a:moveTo>
                  <a:lnTo>
                    <a:pt x="9701" y="75399"/>
                  </a:lnTo>
                  <a:lnTo>
                    <a:pt x="36158" y="36158"/>
                  </a:lnTo>
                  <a:lnTo>
                    <a:pt x="75399" y="9701"/>
                  </a:lnTo>
                  <a:lnTo>
                    <a:pt x="123452" y="0"/>
                  </a:lnTo>
                  <a:lnTo>
                    <a:pt x="5430147" y="0"/>
                  </a:lnTo>
                  <a:lnTo>
                    <a:pt x="5477390" y="9397"/>
                  </a:lnTo>
                  <a:lnTo>
                    <a:pt x="5517441" y="36158"/>
                  </a:lnTo>
                  <a:lnTo>
                    <a:pt x="5544202" y="76209"/>
                  </a:lnTo>
                  <a:lnTo>
                    <a:pt x="5553599" y="123452"/>
                  </a:lnTo>
                  <a:lnTo>
                    <a:pt x="5553599" y="617247"/>
                  </a:lnTo>
                  <a:lnTo>
                    <a:pt x="5543898" y="665300"/>
                  </a:lnTo>
                  <a:lnTo>
                    <a:pt x="5517441" y="704541"/>
                  </a:lnTo>
                  <a:lnTo>
                    <a:pt x="5478200" y="730998"/>
                  </a:lnTo>
                  <a:lnTo>
                    <a:pt x="5430147" y="740699"/>
                  </a:lnTo>
                  <a:lnTo>
                    <a:pt x="123452" y="740699"/>
                  </a:lnTo>
                  <a:lnTo>
                    <a:pt x="75399" y="730998"/>
                  </a:lnTo>
                  <a:lnTo>
                    <a:pt x="36158" y="704541"/>
                  </a:lnTo>
                  <a:lnTo>
                    <a:pt x="9701" y="665300"/>
                  </a:lnTo>
                  <a:lnTo>
                    <a:pt x="0" y="617247"/>
                  </a:lnTo>
                  <a:lnTo>
                    <a:pt x="0" y="1234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Examine</a:t>
            </a:r>
            <a:r>
              <a:rPr spc="-20" dirty="0"/>
              <a:t> </a:t>
            </a:r>
            <a:r>
              <a:rPr dirty="0"/>
              <a:t>benchmark</a:t>
            </a:r>
            <a:r>
              <a:rPr spc="-20" dirty="0"/>
              <a:t> </a:t>
            </a:r>
            <a:r>
              <a:rPr spc="-13" dirty="0"/>
              <a:t>contamination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26511" y="2441124"/>
            <a:ext cx="68241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Support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collecting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human-in-the-</a:t>
            </a:r>
            <a:r>
              <a:rPr sz="2400" spc="-27" dirty="0">
                <a:latin typeface="Arial"/>
                <a:cs typeface="Arial"/>
              </a:rPr>
              <a:t>loop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74450" y="3851284"/>
            <a:ext cx="7417647" cy="1136225"/>
            <a:chOff x="1705837" y="2888462"/>
            <a:chExt cx="5563235" cy="852169"/>
          </a:xfrm>
        </p:grpSpPr>
        <p:sp>
          <p:nvSpPr>
            <p:cNvPr id="10" name="object 10"/>
            <p:cNvSpPr/>
            <p:nvPr/>
          </p:nvSpPr>
          <p:spPr>
            <a:xfrm>
              <a:off x="1710600" y="2893224"/>
              <a:ext cx="5553710" cy="842644"/>
            </a:xfrm>
            <a:custGeom>
              <a:avLst/>
              <a:gdLst/>
              <a:ahLst/>
              <a:cxnLst/>
              <a:rect l="l" t="t" r="r" b="b"/>
              <a:pathLst>
                <a:path w="5553709" h="842645">
                  <a:moveTo>
                    <a:pt x="5413196" y="842399"/>
                  </a:moveTo>
                  <a:lnTo>
                    <a:pt x="140402" y="842399"/>
                  </a:lnTo>
                  <a:lnTo>
                    <a:pt x="96024" y="835242"/>
                  </a:lnTo>
                  <a:lnTo>
                    <a:pt x="57482" y="815310"/>
                  </a:lnTo>
                  <a:lnTo>
                    <a:pt x="27089" y="784917"/>
                  </a:lnTo>
                  <a:lnTo>
                    <a:pt x="7157" y="746375"/>
                  </a:lnTo>
                  <a:lnTo>
                    <a:pt x="0" y="701997"/>
                  </a:lnTo>
                  <a:lnTo>
                    <a:pt x="0" y="140402"/>
                  </a:lnTo>
                  <a:lnTo>
                    <a:pt x="7157" y="96024"/>
                  </a:lnTo>
                  <a:lnTo>
                    <a:pt x="27089" y="57482"/>
                  </a:lnTo>
                  <a:lnTo>
                    <a:pt x="57482" y="27089"/>
                  </a:lnTo>
                  <a:lnTo>
                    <a:pt x="96024" y="7157"/>
                  </a:lnTo>
                  <a:lnTo>
                    <a:pt x="140402" y="0"/>
                  </a:lnTo>
                  <a:lnTo>
                    <a:pt x="5413196" y="0"/>
                  </a:lnTo>
                  <a:lnTo>
                    <a:pt x="5466926" y="10687"/>
                  </a:lnTo>
                  <a:lnTo>
                    <a:pt x="5512477" y="41122"/>
                  </a:lnTo>
                  <a:lnTo>
                    <a:pt x="5542912" y="86672"/>
                  </a:lnTo>
                  <a:lnTo>
                    <a:pt x="5553599" y="140402"/>
                  </a:lnTo>
                  <a:lnTo>
                    <a:pt x="5553599" y="701997"/>
                  </a:lnTo>
                  <a:lnTo>
                    <a:pt x="5546442" y="746375"/>
                  </a:lnTo>
                  <a:lnTo>
                    <a:pt x="5526510" y="784917"/>
                  </a:lnTo>
                  <a:lnTo>
                    <a:pt x="5496117" y="815310"/>
                  </a:lnTo>
                  <a:lnTo>
                    <a:pt x="5457575" y="835242"/>
                  </a:lnTo>
                  <a:lnTo>
                    <a:pt x="5413196" y="84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0600" y="2893224"/>
              <a:ext cx="5553710" cy="842644"/>
            </a:xfrm>
            <a:custGeom>
              <a:avLst/>
              <a:gdLst/>
              <a:ahLst/>
              <a:cxnLst/>
              <a:rect l="l" t="t" r="r" b="b"/>
              <a:pathLst>
                <a:path w="5553709" h="842645">
                  <a:moveTo>
                    <a:pt x="0" y="140402"/>
                  </a:moveTo>
                  <a:lnTo>
                    <a:pt x="7157" y="96024"/>
                  </a:lnTo>
                  <a:lnTo>
                    <a:pt x="27089" y="57482"/>
                  </a:lnTo>
                  <a:lnTo>
                    <a:pt x="57482" y="27089"/>
                  </a:lnTo>
                  <a:lnTo>
                    <a:pt x="96024" y="7157"/>
                  </a:lnTo>
                  <a:lnTo>
                    <a:pt x="140402" y="0"/>
                  </a:lnTo>
                  <a:lnTo>
                    <a:pt x="5413196" y="0"/>
                  </a:lnTo>
                  <a:lnTo>
                    <a:pt x="5466926" y="10687"/>
                  </a:lnTo>
                  <a:lnTo>
                    <a:pt x="5512477" y="41122"/>
                  </a:lnTo>
                  <a:lnTo>
                    <a:pt x="5542912" y="86672"/>
                  </a:lnTo>
                  <a:lnTo>
                    <a:pt x="5553599" y="140402"/>
                  </a:lnTo>
                  <a:lnTo>
                    <a:pt x="5553599" y="701997"/>
                  </a:lnTo>
                  <a:lnTo>
                    <a:pt x="5546442" y="746375"/>
                  </a:lnTo>
                  <a:lnTo>
                    <a:pt x="5526510" y="784917"/>
                  </a:lnTo>
                  <a:lnTo>
                    <a:pt x="5496117" y="815310"/>
                  </a:lnTo>
                  <a:lnTo>
                    <a:pt x="5457575" y="835242"/>
                  </a:lnTo>
                  <a:lnTo>
                    <a:pt x="5413196" y="842399"/>
                  </a:lnTo>
                  <a:lnTo>
                    <a:pt x="140402" y="842399"/>
                  </a:lnTo>
                  <a:lnTo>
                    <a:pt x="96024" y="835242"/>
                  </a:lnTo>
                  <a:lnTo>
                    <a:pt x="57482" y="815310"/>
                  </a:lnTo>
                  <a:lnTo>
                    <a:pt x="27089" y="784917"/>
                  </a:lnTo>
                  <a:lnTo>
                    <a:pt x="7157" y="746375"/>
                  </a:lnTo>
                  <a:lnTo>
                    <a:pt x="0" y="701997"/>
                  </a:lnTo>
                  <a:lnTo>
                    <a:pt x="0" y="1404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32997" y="4205957"/>
            <a:ext cx="63000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07" dirty="0">
                <a:latin typeface="Arial"/>
                <a:cs typeface="Arial"/>
              </a:rPr>
              <a:t>To</a:t>
            </a:r>
            <a:r>
              <a:rPr sz="2400" spc="-6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reduce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contamination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benchmarks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DB727D9-2540-4082-B833-BC3592662D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84</a:t>
            </a:fld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91981">
              <a:spcBef>
                <a:spcPts val="133"/>
              </a:spcBef>
            </a:pPr>
            <a:r>
              <a:rPr sz="2933" dirty="0"/>
              <a:t>Documenting</a:t>
            </a:r>
            <a:r>
              <a:rPr sz="2933" spc="-80" dirty="0"/>
              <a:t> </a:t>
            </a:r>
            <a:r>
              <a:rPr sz="2933" dirty="0"/>
              <a:t>Webtext</a:t>
            </a:r>
            <a:r>
              <a:rPr sz="2933" spc="-73" dirty="0"/>
              <a:t> </a:t>
            </a:r>
            <a:r>
              <a:rPr sz="2933" dirty="0"/>
              <a:t>Corpora:</a:t>
            </a:r>
            <a:r>
              <a:rPr sz="2933" spc="-73" dirty="0"/>
              <a:t> </a:t>
            </a:r>
            <a:r>
              <a:rPr sz="2933" spc="-13" dirty="0"/>
              <a:t>Recommendations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00" y="1910983"/>
            <a:ext cx="7323667" cy="4313767"/>
            <a:chOff x="1764825" y="1433237"/>
            <a:chExt cx="5492750" cy="3235325"/>
          </a:xfrm>
        </p:grpSpPr>
        <p:sp>
          <p:nvSpPr>
            <p:cNvPr id="7" name="object 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991117" y="2026857"/>
            <a:ext cx="6040120" cy="396715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80" algn="ctr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Rep</a:t>
            </a:r>
            <a:r>
              <a:rPr sz="2400" spc="-1333" dirty="0">
                <a:latin typeface="Arial"/>
                <a:cs typeface="Arial"/>
              </a:rPr>
              <a:t>o</a:t>
            </a:r>
            <a:r>
              <a:rPr sz="2400" spc="-407" dirty="0">
                <a:latin typeface="Arial"/>
                <a:cs typeface="Arial"/>
              </a:rPr>
              <a:t>R</a:t>
            </a:r>
            <a:r>
              <a:rPr sz="2400" spc="-400" dirty="0">
                <a:latin typeface="Arial"/>
                <a:cs typeface="Arial"/>
              </a:rPr>
              <a:t>r</a:t>
            </a:r>
            <a:r>
              <a:rPr sz="2400" spc="-947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400" dirty="0">
                <a:latin typeface="Arial"/>
                <a:cs typeface="Arial"/>
              </a:rPr>
              <a:t> </a:t>
            </a:r>
            <a:r>
              <a:rPr sz="2400" spc="-960" dirty="0">
                <a:latin typeface="Arial"/>
                <a:cs typeface="Arial"/>
              </a:rPr>
              <a:t>p</a:t>
            </a:r>
            <a:r>
              <a:rPr sz="2400" spc="-807" dirty="0">
                <a:latin typeface="Arial"/>
                <a:cs typeface="Arial"/>
              </a:rPr>
              <a:t>w</a:t>
            </a:r>
            <a:r>
              <a:rPr sz="2400" spc="-560" dirty="0">
                <a:latin typeface="Arial"/>
                <a:cs typeface="Arial"/>
              </a:rPr>
              <a:t>o</a:t>
            </a:r>
            <a:r>
              <a:rPr sz="2400" spc="-807" dirty="0">
                <a:latin typeface="Arial"/>
                <a:cs typeface="Arial"/>
              </a:rPr>
              <a:t>e</a:t>
            </a:r>
            <a:r>
              <a:rPr sz="2400" spc="-27" dirty="0">
                <a:latin typeface="Arial"/>
                <a:cs typeface="Arial"/>
              </a:rPr>
              <a:t>r</a:t>
            </a:r>
            <a:r>
              <a:rPr sz="2400" spc="-679" dirty="0">
                <a:latin typeface="Arial"/>
                <a:cs typeface="Arial"/>
              </a:rPr>
              <a:t>t</a:t>
            </a:r>
            <a:r>
              <a:rPr sz="2400" spc="-20" dirty="0">
                <a:latin typeface="Arial"/>
                <a:cs typeface="Arial"/>
              </a:rPr>
              <a:t>b</a:t>
            </a:r>
            <a:r>
              <a:rPr sz="2400" spc="-1213" dirty="0">
                <a:latin typeface="Arial"/>
                <a:cs typeface="Arial"/>
              </a:rPr>
              <a:t>s</a:t>
            </a:r>
            <a:r>
              <a:rPr sz="2400" spc="-820" dirty="0">
                <a:latin typeface="Arial"/>
                <a:cs typeface="Arial"/>
              </a:rPr>
              <a:t>m</a:t>
            </a:r>
            <a:r>
              <a:rPr sz="2400" spc="-20" dirty="0">
                <a:latin typeface="Arial"/>
                <a:cs typeface="Arial"/>
              </a:rPr>
              <a:t>i</a:t>
            </a:r>
            <a:r>
              <a:rPr sz="2400" spc="-413" dirty="0">
                <a:latin typeface="Arial"/>
                <a:cs typeface="Arial"/>
              </a:rPr>
              <a:t>t</a:t>
            </a:r>
            <a:r>
              <a:rPr sz="2400" spc="-953" dirty="0">
                <a:latin typeface="Arial"/>
                <a:cs typeface="Arial"/>
              </a:rPr>
              <a:t>e</a:t>
            </a:r>
            <a:r>
              <a:rPr sz="2400" spc="-413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t</a:t>
            </a:r>
            <a:r>
              <a:rPr sz="2400" spc="-953" dirty="0">
                <a:latin typeface="Arial"/>
                <a:cs typeface="Arial"/>
              </a:rPr>
              <a:t>a</a:t>
            </a:r>
            <a:r>
              <a:rPr sz="2400" spc="-1080" dirty="0">
                <a:latin typeface="Arial"/>
                <a:cs typeface="Arial"/>
              </a:rPr>
              <a:t>m</a:t>
            </a:r>
            <a:r>
              <a:rPr sz="2400" spc="-287" dirty="0">
                <a:latin typeface="Arial"/>
                <a:cs typeface="Arial"/>
              </a:rPr>
              <a:t>d</a:t>
            </a:r>
            <a:r>
              <a:rPr sz="2400" spc="-1080" dirty="0">
                <a:latin typeface="Arial"/>
                <a:cs typeface="Arial"/>
              </a:rPr>
              <a:t>e</a:t>
            </a:r>
            <a:r>
              <a:rPr sz="2400" spc="-287" dirty="0">
                <a:latin typeface="Arial"/>
                <a:cs typeface="Arial"/>
              </a:rPr>
              <a:t>a</a:t>
            </a:r>
            <a:r>
              <a:rPr sz="2400" spc="-413" dirty="0">
                <a:latin typeface="Arial"/>
                <a:cs typeface="Arial"/>
              </a:rPr>
              <a:t>t</a:t>
            </a:r>
            <a:r>
              <a:rPr sz="2400" spc="-287" dirty="0">
                <a:latin typeface="Arial"/>
                <a:cs typeface="Arial"/>
              </a:rPr>
              <a:t>t</a:t>
            </a:r>
            <a:r>
              <a:rPr sz="2400" spc="-1080" dirty="0">
                <a:latin typeface="Arial"/>
                <a:cs typeface="Arial"/>
              </a:rPr>
              <a:t>a</a:t>
            </a:r>
            <a:r>
              <a:rPr sz="2400" spc="-287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33"/>
              </a:spcBef>
            </a:pPr>
            <a:endParaRPr sz="3800">
              <a:latin typeface="Arial"/>
              <a:cs typeface="Arial"/>
            </a:endParaRPr>
          </a:p>
          <a:p>
            <a:pPr marL="5927" algn="ctr"/>
            <a:r>
              <a:rPr sz="2400" dirty="0">
                <a:latin typeface="Arial"/>
                <a:cs typeface="Arial"/>
              </a:rPr>
              <a:t>Examine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benchmark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contamination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3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Social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biases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representational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harms</a:t>
            </a:r>
            <a:endParaRPr sz="2400">
              <a:latin typeface="Arial"/>
              <a:cs typeface="Arial"/>
            </a:endParaRPr>
          </a:p>
          <a:p>
            <a:pPr marL="981262" marR="965176" algn="ctr">
              <a:lnSpc>
                <a:spcPct val="240200"/>
              </a:lnSpc>
              <a:spcBef>
                <a:spcPts val="367"/>
              </a:spcBef>
            </a:pPr>
            <a:r>
              <a:rPr sz="2400" dirty="0">
                <a:latin typeface="Arial"/>
                <a:cs typeface="Arial"/>
              </a:rPr>
              <a:t>Excluded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voices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identities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recommendations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721277A-D05D-4AD0-85D8-9D64D6E4FC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85</a:t>
            </a:fld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Social</a:t>
            </a:r>
            <a:r>
              <a:rPr spc="-47" dirty="0"/>
              <a:t> </a:t>
            </a:r>
            <a:r>
              <a:rPr dirty="0"/>
              <a:t>Biases</a:t>
            </a:r>
            <a:r>
              <a:rPr spc="-33" dirty="0"/>
              <a:t> </a:t>
            </a:r>
            <a:r>
              <a:rPr dirty="0"/>
              <a:t>&amp;</a:t>
            </a:r>
            <a:r>
              <a:rPr spc="-33" dirty="0"/>
              <a:t> </a:t>
            </a:r>
            <a:r>
              <a:rPr dirty="0"/>
              <a:t>Representational</a:t>
            </a:r>
            <a:r>
              <a:rPr spc="-33" dirty="0"/>
              <a:t> </a:t>
            </a:r>
            <a:r>
              <a:rPr spc="-13" dirty="0"/>
              <a:t>harms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94649" y="1739850"/>
            <a:ext cx="10203179" cy="4154593"/>
            <a:chOff x="745987" y="1304887"/>
            <a:chExt cx="7652384" cy="3115945"/>
          </a:xfrm>
        </p:grpSpPr>
        <p:sp>
          <p:nvSpPr>
            <p:cNvPr id="4" name="object 4"/>
            <p:cNvSpPr/>
            <p:nvPr/>
          </p:nvSpPr>
          <p:spPr>
            <a:xfrm>
              <a:off x="750750" y="1309649"/>
              <a:ext cx="7642859" cy="3106420"/>
            </a:xfrm>
            <a:custGeom>
              <a:avLst/>
              <a:gdLst/>
              <a:ahLst/>
              <a:cxnLst/>
              <a:rect l="l" t="t" r="r" b="b"/>
              <a:pathLst>
                <a:path w="7642859" h="3106420">
                  <a:moveTo>
                    <a:pt x="71247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124789" y="0"/>
                  </a:lnTo>
                  <a:lnTo>
                    <a:pt x="7175959" y="2533"/>
                  </a:lnTo>
                  <a:lnTo>
                    <a:pt x="7226261" y="10039"/>
                  </a:lnTo>
                  <a:lnTo>
                    <a:pt x="7275358" y="22378"/>
                  </a:lnTo>
                  <a:lnTo>
                    <a:pt x="7322908" y="39408"/>
                  </a:lnTo>
                  <a:lnTo>
                    <a:pt x="7368574" y="60989"/>
                  </a:lnTo>
                  <a:lnTo>
                    <a:pt x="7412015" y="86981"/>
                  </a:lnTo>
                  <a:lnTo>
                    <a:pt x="7452892" y="117243"/>
                  </a:lnTo>
                  <a:lnTo>
                    <a:pt x="7490866" y="151633"/>
                  </a:lnTo>
                  <a:lnTo>
                    <a:pt x="7525257" y="189607"/>
                  </a:lnTo>
                  <a:lnTo>
                    <a:pt x="7555518" y="230484"/>
                  </a:lnTo>
                  <a:lnTo>
                    <a:pt x="7581510" y="273925"/>
                  </a:lnTo>
                  <a:lnTo>
                    <a:pt x="7603091" y="319591"/>
                  </a:lnTo>
                  <a:lnTo>
                    <a:pt x="7620121" y="367141"/>
                  </a:lnTo>
                  <a:lnTo>
                    <a:pt x="7632460" y="416238"/>
                  </a:lnTo>
                  <a:lnTo>
                    <a:pt x="7639966" y="466541"/>
                  </a:lnTo>
                  <a:lnTo>
                    <a:pt x="7642499" y="517710"/>
                  </a:lnTo>
                  <a:lnTo>
                    <a:pt x="7642499" y="2588489"/>
                  </a:lnTo>
                  <a:lnTo>
                    <a:pt x="7640384" y="2635611"/>
                  </a:lnTo>
                  <a:lnTo>
                    <a:pt x="7634158" y="2681548"/>
                  </a:lnTo>
                  <a:lnTo>
                    <a:pt x="7624006" y="2726117"/>
                  </a:lnTo>
                  <a:lnTo>
                    <a:pt x="7610110" y="2769135"/>
                  </a:lnTo>
                  <a:lnTo>
                    <a:pt x="7592653" y="2810419"/>
                  </a:lnTo>
                  <a:lnTo>
                    <a:pt x="7571817" y="2849787"/>
                  </a:lnTo>
                  <a:lnTo>
                    <a:pt x="7547785" y="2887056"/>
                  </a:lnTo>
                  <a:lnTo>
                    <a:pt x="7520741" y="2922043"/>
                  </a:lnTo>
                  <a:lnTo>
                    <a:pt x="7490866" y="2954566"/>
                  </a:lnTo>
                  <a:lnTo>
                    <a:pt x="7458343" y="2984441"/>
                  </a:lnTo>
                  <a:lnTo>
                    <a:pt x="7423356" y="3011485"/>
                  </a:lnTo>
                  <a:lnTo>
                    <a:pt x="7386088" y="3035517"/>
                  </a:lnTo>
                  <a:lnTo>
                    <a:pt x="7346720" y="3056353"/>
                  </a:lnTo>
                  <a:lnTo>
                    <a:pt x="7305435" y="3073810"/>
                  </a:lnTo>
                  <a:lnTo>
                    <a:pt x="7262417" y="3087706"/>
                  </a:lnTo>
                  <a:lnTo>
                    <a:pt x="7217848" y="3097858"/>
                  </a:lnTo>
                  <a:lnTo>
                    <a:pt x="7171912" y="3104084"/>
                  </a:lnTo>
                  <a:lnTo>
                    <a:pt x="71247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750" y="1309650"/>
              <a:ext cx="7642859" cy="3106420"/>
            </a:xfrm>
            <a:custGeom>
              <a:avLst/>
              <a:gdLst/>
              <a:ahLst/>
              <a:cxnLst/>
              <a:rect l="l" t="t" r="r" b="b"/>
              <a:pathLst>
                <a:path w="7642859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124789" y="0"/>
                  </a:lnTo>
                  <a:lnTo>
                    <a:pt x="7175959" y="2533"/>
                  </a:lnTo>
                  <a:lnTo>
                    <a:pt x="7226261" y="10039"/>
                  </a:lnTo>
                  <a:lnTo>
                    <a:pt x="7275358" y="22378"/>
                  </a:lnTo>
                  <a:lnTo>
                    <a:pt x="7322908" y="39408"/>
                  </a:lnTo>
                  <a:lnTo>
                    <a:pt x="7368574" y="60989"/>
                  </a:lnTo>
                  <a:lnTo>
                    <a:pt x="7412015" y="86981"/>
                  </a:lnTo>
                  <a:lnTo>
                    <a:pt x="7452892" y="117243"/>
                  </a:lnTo>
                  <a:lnTo>
                    <a:pt x="7490866" y="151633"/>
                  </a:lnTo>
                  <a:lnTo>
                    <a:pt x="7525257" y="189607"/>
                  </a:lnTo>
                  <a:lnTo>
                    <a:pt x="7555518" y="230484"/>
                  </a:lnTo>
                  <a:lnTo>
                    <a:pt x="7581510" y="273925"/>
                  </a:lnTo>
                  <a:lnTo>
                    <a:pt x="7603091" y="319591"/>
                  </a:lnTo>
                  <a:lnTo>
                    <a:pt x="7620121" y="367141"/>
                  </a:lnTo>
                  <a:lnTo>
                    <a:pt x="7632460" y="416238"/>
                  </a:lnTo>
                  <a:lnTo>
                    <a:pt x="7639966" y="466541"/>
                  </a:lnTo>
                  <a:lnTo>
                    <a:pt x="7642499" y="517710"/>
                  </a:lnTo>
                  <a:lnTo>
                    <a:pt x="7642499" y="2588489"/>
                  </a:lnTo>
                  <a:lnTo>
                    <a:pt x="7640384" y="2635611"/>
                  </a:lnTo>
                  <a:lnTo>
                    <a:pt x="7634158" y="2681548"/>
                  </a:lnTo>
                  <a:lnTo>
                    <a:pt x="7624006" y="2726117"/>
                  </a:lnTo>
                  <a:lnTo>
                    <a:pt x="7610110" y="2769135"/>
                  </a:lnTo>
                  <a:lnTo>
                    <a:pt x="7592653" y="2810419"/>
                  </a:lnTo>
                  <a:lnTo>
                    <a:pt x="7571817" y="2849787"/>
                  </a:lnTo>
                  <a:lnTo>
                    <a:pt x="7547785" y="2887056"/>
                  </a:lnTo>
                  <a:lnTo>
                    <a:pt x="7520741" y="2922043"/>
                  </a:lnTo>
                  <a:lnTo>
                    <a:pt x="7490866" y="2954566"/>
                  </a:lnTo>
                  <a:lnTo>
                    <a:pt x="7458343" y="2984441"/>
                  </a:lnTo>
                  <a:lnTo>
                    <a:pt x="7423356" y="3011485"/>
                  </a:lnTo>
                  <a:lnTo>
                    <a:pt x="7386088" y="3035517"/>
                  </a:lnTo>
                  <a:lnTo>
                    <a:pt x="7346720" y="3056353"/>
                  </a:lnTo>
                  <a:lnTo>
                    <a:pt x="7305435" y="3073810"/>
                  </a:lnTo>
                  <a:lnTo>
                    <a:pt x="7262417" y="3087706"/>
                  </a:lnTo>
                  <a:lnTo>
                    <a:pt x="7217848" y="3097858"/>
                  </a:lnTo>
                  <a:lnTo>
                    <a:pt x="7171912" y="3104084"/>
                  </a:lnTo>
                  <a:lnTo>
                    <a:pt x="71247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50" y="19168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2450" y="19168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1550" y="2708212"/>
              <a:ext cx="6961505" cy="1100455"/>
            </a:xfrm>
            <a:custGeom>
              <a:avLst/>
              <a:gdLst/>
              <a:ahLst/>
              <a:cxnLst/>
              <a:rect l="l" t="t" r="r" b="b"/>
              <a:pathLst>
                <a:path w="6961505" h="1100454">
                  <a:moveTo>
                    <a:pt x="6777495" y="1100399"/>
                  </a:moveTo>
                  <a:lnTo>
                    <a:pt x="183403" y="1100399"/>
                  </a:lnTo>
                  <a:lnTo>
                    <a:pt x="134647" y="1093848"/>
                  </a:lnTo>
                  <a:lnTo>
                    <a:pt x="90836" y="1075360"/>
                  </a:lnTo>
                  <a:lnTo>
                    <a:pt x="53717" y="1046682"/>
                  </a:lnTo>
                  <a:lnTo>
                    <a:pt x="25039" y="1009563"/>
                  </a:lnTo>
                  <a:lnTo>
                    <a:pt x="6551" y="965752"/>
                  </a:lnTo>
                  <a:lnTo>
                    <a:pt x="0" y="916996"/>
                  </a:lnTo>
                  <a:lnTo>
                    <a:pt x="0" y="183403"/>
                  </a:lnTo>
                  <a:lnTo>
                    <a:pt x="6551" y="134647"/>
                  </a:lnTo>
                  <a:lnTo>
                    <a:pt x="25039" y="90836"/>
                  </a:lnTo>
                  <a:lnTo>
                    <a:pt x="53717" y="53717"/>
                  </a:lnTo>
                  <a:lnTo>
                    <a:pt x="90836" y="25040"/>
                  </a:lnTo>
                  <a:lnTo>
                    <a:pt x="134647" y="6551"/>
                  </a:lnTo>
                  <a:lnTo>
                    <a:pt x="183403" y="0"/>
                  </a:lnTo>
                  <a:lnTo>
                    <a:pt x="6777495" y="0"/>
                  </a:lnTo>
                  <a:lnTo>
                    <a:pt x="6847681" y="13960"/>
                  </a:lnTo>
                  <a:lnTo>
                    <a:pt x="6907181" y="53717"/>
                  </a:lnTo>
                  <a:lnTo>
                    <a:pt x="6946939" y="113218"/>
                  </a:lnTo>
                  <a:lnTo>
                    <a:pt x="6960899" y="183403"/>
                  </a:lnTo>
                  <a:lnTo>
                    <a:pt x="6960899" y="916996"/>
                  </a:lnTo>
                  <a:lnTo>
                    <a:pt x="6954348" y="965752"/>
                  </a:lnTo>
                  <a:lnTo>
                    <a:pt x="6935860" y="1009563"/>
                  </a:lnTo>
                  <a:lnTo>
                    <a:pt x="6907182" y="1046682"/>
                  </a:lnTo>
                  <a:lnTo>
                    <a:pt x="6870063" y="1075360"/>
                  </a:lnTo>
                  <a:lnTo>
                    <a:pt x="6826252" y="1093848"/>
                  </a:lnTo>
                  <a:lnTo>
                    <a:pt x="6777495" y="1100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1550" y="2708212"/>
              <a:ext cx="6961505" cy="1100455"/>
            </a:xfrm>
            <a:custGeom>
              <a:avLst/>
              <a:gdLst/>
              <a:ahLst/>
              <a:cxnLst/>
              <a:rect l="l" t="t" r="r" b="b"/>
              <a:pathLst>
                <a:path w="6961505" h="1100454">
                  <a:moveTo>
                    <a:pt x="0" y="183403"/>
                  </a:moveTo>
                  <a:lnTo>
                    <a:pt x="6551" y="134647"/>
                  </a:lnTo>
                  <a:lnTo>
                    <a:pt x="25039" y="90836"/>
                  </a:lnTo>
                  <a:lnTo>
                    <a:pt x="53717" y="53717"/>
                  </a:lnTo>
                  <a:lnTo>
                    <a:pt x="90836" y="25040"/>
                  </a:lnTo>
                  <a:lnTo>
                    <a:pt x="134647" y="6551"/>
                  </a:lnTo>
                  <a:lnTo>
                    <a:pt x="183403" y="0"/>
                  </a:lnTo>
                  <a:lnTo>
                    <a:pt x="6777495" y="0"/>
                  </a:lnTo>
                  <a:lnTo>
                    <a:pt x="6847681" y="13960"/>
                  </a:lnTo>
                  <a:lnTo>
                    <a:pt x="6907181" y="53717"/>
                  </a:lnTo>
                  <a:lnTo>
                    <a:pt x="6946939" y="113218"/>
                  </a:lnTo>
                  <a:lnTo>
                    <a:pt x="6960899" y="183403"/>
                  </a:lnTo>
                  <a:lnTo>
                    <a:pt x="6960899" y="916996"/>
                  </a:lnTo>
                  <a:lnTo>
                    <a:pt x="6954348" y="965752"/>
                  </a:lnTo>
                  <a:lnTo>
                    <a:pt x="6935860" y="1009563"/>
                  </a:lnTo>
                  <a:lnTo>
                    <a:pt x="6907182" y="1046682"/>
                  </a:lnTo>
                  <a:lnTo>
                    <a:pt x="6870063" y="1075360"/>
                  </a:lnTo>
                  <a:lnTo>
                    <a:pt x="6826252" y="1093848"/>
                  </a:lnTo>
                  <a:lnTo>
                    <a:pt x="6777495" y="1100399"/>
                  </a:lnTo>
                  <a:lnTo>
                    <a:pt x="183403" y="1100399"/>
                  </a:lnTo>
                  <a:lnTo>
                    <a:pt x="134647" y="1093848"/>
                  </a:lnTo>
                  <a:lnTo>
                    <a:pt x="90836" y="1075360"/>
                  </a:lnTo>
                  <a:lnTo>
                    <a:pt x="53717" y="1046682"/>
                  </a:lnTo>
                  <a:lnTo>
                    <a:pt x="25039" y="1009563"/>
                  </a:lnTo>
                  <a:lnTo>
                    <a:pt x="6551" y="965752"/>
                  </a:lnTo>
                  <a:lnTo>
                    <a:pt x="0" y="916996"/>
                  </a:lnTo>
                  <a:lnTo>
                    <a:pt x="0" y="183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24390" y="2670189"/>
            <a:ext cx="7204287" cy="21147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55096">
              <a:spcBef>
                <a:spcPts val="133"/>
              </a:spcBef>
            </a:pPr>
            <a:r>
              <a:rPr sz="3067" dirty="0">
                <a:latin typeface="Arial"/>
                <a:cs typeface="Arial"/>
              </a:rPr>
              <a:t>Control</a:t>
            </a:r>
            <a:r>
              <a:rPr sz="3067" spc="-53" dirty="0">
                <a:latin typeface="Arial"/>
                <a:cs typeface="Arial"/>
              </a:rPr>
              <a:t> </a:t>
            </a:r>
            <a:r>
              <a:rPr sz="3067" dirty="0">
                <a:latin typeface="Arial"/>
                <a:cs typeface="Arial"/>
              </a:rPr>
              <a:t>the</a:t>
            </a:r>
            <a:r>
              <a:rPr sz="3067" spc="-53" dirty="0">
                <a:latin typeface="Arial"/>
                <a:cs typeface="Arial"/>
              </a:rPr>
              <a:t> </a:t>
            </a:r>
            <a:r>
              <a:rPr sz="3067" dirty="0">
                <a:latin typeface="Arial"/>
                <a:cs typeface="Arial"/>
              </a:rPr>
              <a:t>distributional</a:t>
            </a:r>
            <a:r>
              <a:rPr sz="3067" spc="-53" dirty="0">
                <a:latin typeface="Arial"/>
                <a:cs typeface="Arial"/>
              </a:rPr>
              <a:t> </a:t>
            </a:r>
            <a:r>
              <a:rPr sz="3067" spc="-13" dirty="0">
                <a:latin typeface="Arial"/>
                <a:cs typeface="Arial"/>
              </a:rPr>
              <a:t>biases</a:t>
            </a:r>
            <a:endParaRPr sz="3067">
              <a:latin typeface="Arial"/>
              <a:cs typeface="Arial"/>
            </a:endParaRPr>
          </a:p>
          <a:p>
            <a:pPr marL="16933" marR="1692444">
              <a:lnSpc>
                <a:spcPct val="201399"/>
              </a:lnSpc>
              <a:spcBef>
                <a:spcPts val="2000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subdomains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3" dirty="0">
                <a:latin typeface="Arial"/>
                <a:cs typeface="Arial"/>
              </a:rPr>
              <a:t> training </a:t>
            </a:r>
            <a:r>
              <a:rPr sz="2400" dirty="0">
                <a:latin typeface="Arial"/>
                <a:cs typeface="Arial"/>
              </a:rPr>
              <a:t>Measurement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bias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each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subdomain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32239E9-5DF3-44A6-9695-D863F2168B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86</a:t>
            </a:fld>
            <a:endParaRPr 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91981">
              <a:spcBef>
                <a:spcPts val="133"/>
              </a:spcBef>
            </a:pPr>
            <a:r>
              <a:rPr sz="2933" dirty="0"/>
              <a:t>Documenting</a:t>
            </a:r>
            <a:r>
              <a:rPr sz="2933" spc="-80" dirty="0"/>
              <a:t> </a:t>
            </a:r>
            <a:r>
              <a:rPr sz="2933" dirty="0"/>
              <a:t>Webtext</a:t>
            </a:r>
            <a:r>
              <a:rPr sz="2933" spc="-73" dirty="0"/>
              <a:t> </a:t>
            </a:r>
            <a:r>
              <a:rPr sz="2933" dirty="0"/>
              <a:t>Corpora:</a:t>
            </a:r>
            <a:r>
              <a:rPr sz="2933" spc="-73" dirty="0"/>
              <a:t> </a:t>
            </a:r>
            <a:r>
              <a:rPr sz="2933" spc="-13" dirty="0"/>
              <a:t>Recommendations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00" y="1910983"/>
            <a:ext cx="7323667" cy="4313767"/>
            <a:chOff x="1764825" y="1433237"/>
            <a:chExt cx="5492750" cy="3235325"/>
          </a:xfrm>
        </p:grpSpPr>
        <p:sp>
          <p:nvSpPr>
            <p:cNvPr id="7" name="object 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812800" y="2133602"/>
            <a:ext cx="14630400" cy="3305884"/>
          </a:xfrm>
          <a:prstGeom prst="rect">
            <a:avLst/>
          </a:prstGeom>
        </p:spPr>
        <p:txBody>
          <a:bodyPr vert="horz" wrap="square" lIns="0" tIns="1693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33"/>
              </a:spcBef>
            </a:pPr>
            <a:r>
              <a:rPr spc="-7" dirty="0"/>
              <a:t>Rep</a:t>
            </a:r>
            <a:r>
              <a:rPr spc="-1333" dirty="0"/>
              <a:t>o</a:t>
            </a:r>
            <a:r>
              <a:rPr spc="-407" dirty="0"/>
              <a:t>R</a:t>
            </a:r>
            <a:r>
              <a:rPr spc="-400" dirty="0"/>
              <a:t>r</a:t>
            </a:r>
            <a:r>
              <a:rPr spc="-947" dirty="0"/>
              <a:t>e</a:t>
            </a:r>
            <a:r>
              <a:rPr dirty="0"/>
              <a:t>t</a:t>
            </a:r>
            <a:r>
              <a:rPr spc="-400" dirty="0"/>
              <a:t> </a:t>
            </a:r>
            <a:r>
              <a:rPr spc="-960" dirty="0"/>
              <a:t>p</a:t>
            </a:r>
            <a:r>
              <a:rPr spc="-807" dirty="0"/>
              <a:t>w</a:t>
            </a:r>
            <a:r>
              <a:rPr spc="-560" dirty="0"/>
              <a:t>o</a:t>
            </a:r>
            <a:r>
              <a:rPr spc="-807" dirty="0"/>
              <a:t>e</a:t>
            </a:r>
            <a:r>
              <a:rPr spc="-27" dirty="0"/>
              <a:t>r</a:t>
            </a:r>
            <a:r>
              <a:rPr spc="-679" dirty="0"/>
              <a:t>t</a:t>
            </a:r>
            <a:r>
              <a:rPr spc="-20" dirty="0"/>
              <a:t>b</a:t>
            </a:r>
            <a:r>
              <a:rPr spc="-1213" dirty="0"/>
              <a:t>s</a:t>
            </a:r>
            <a:r>
              <a:rPr spc="-820" dirty="0"/>
              <a:t>m</a:t>
            </a:r>
            <a:r>
              <a:rPr spc="-20" dirty="0"/>
              <a:t>i</a:t>
            </a:r>
            <a:r>
              <a:rPr spc="-413" dirty="0"/>
              <a:t>t</a:t>
            </a:r>
            <a:r>
              <a:rPr spc="-953" dirty="0"/>
              <a:t>e</a:t>
            </a:r>
            <a:r>
              <a:rPr spc="-413" dirty="0"/>
              <a:t>e</a:t>
            </a:r>
            <a:r>
              <a:rPr spc="-20" dirty="0"/>
              <a:t>t</a:t>
            </a:r>
            <a:r>
              <a:rPr spc="-953" dirty="0"/>
              <a:t>a</a:t>
            </a:r>
            <a:r>
              <a:rPr spc="-1080" dirty="0"/>
              <a:t>m</a:t>
            </a:r>
            <a:r>
              <a:rPr spc="-287" dirty="0"/>
              <a:t>d</a:t>
            </a:r>
            <a:r>
              <a:rPr spc="-1080" dirty="0"/>
              <a:t>e</a:t>
            </a:r>
            <a:r>
              <a:rPr spc="-287" dirty="0"/>
              <a:t>a</a:t>
            </a:r>
            <a:r>
              <a:rPr spc="-413" dirty="0"/>
              <a:t>t</a:t>
            </a:r>
            <a:r>
              <a:rPr spc="-287" dirty="0"/>
              <a:t>t</a:t>
            </a:r>
            <a:r>
              <a:rPr spc="-1080" dirty="0"/>
              <a:t>a</a:t>
            </a:r>
            <a:r>
              <a:rPr spc="-287" dirty="0"/>
              <a:t>a</a:t>
            </a:r>
            <a:r>
              <a:rPr spc="-20" dirty="0"/>
              <a:t>data</a:t>
            </a:r>
          </a:p>
          <a:p>
            <a:pPr marL="16933" marR="6773" indent="847" algn="ctr">
              <a:lnSpc>
                <a:spcPct val="252999"/>
              </a:lnSpc>
            </a:pPr>
            <a:r>
              <a:rPr dirty="0"/>
              <a:t>Examine</a:t>
            </a:r>
            <a:r>
              <a:rPr spc="-40" dirty="0"/>
              <a:t> </a:t>
            </a:r>
            <a:r>
              <a:rPr dirty="0"/>
              <a:t>benchmark</a:t>
            </a:r>
            <a:r>
              <a:rPr spc="-27" dirty="0"/>
              <a:t> </a:t>
            </a:r>
            <a:r>
              <a:rPr spc="-13" dirty="0"/>
              <a:t>contamination </a:t>
            </a:r>
            <a:r>
              <a:rPr dirty="0"/>
              <a:t>Social</a:t>
            </a:r>
            <a:r>
              <a:rPr spc="-47" dirty="0"/>
              <a:t> </a:t>
            </a:r>
            <a:r>
              <a:rPr dirty="0"/>
              <a:t>biases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7" dirty="0"/>
              <a:t> </a:t>
            </a:r>
            <a:r>
              <a:rPr dirty="0"/>
              <a:t>representational</a:t>
            </a:r>
            <a:r>
              <a:rPr spc="-40" dirty="0"/>
              <a:t> </a:t>
            </a:r>
            <a:r>
              <a:rPr spc="-13" dirty="0"/>
              <a:t>harms </a:t>
            </a:r>
            <a:r>
              <a:rPr b="1" dirty="0">
                <a:latin typeface="Arial"/>
                <a:cs typeface="Arial"/>
              </a:rPr>
              <a:t>Excluded</a:t>
            </a:r>
            <a:r>
              <a:rPr b="1" spc="-40" dirty="0"/>
              <a:t> </a:t>
            </a:r>
            <a:r>
              <a:rPr b="1" dirty="0">
                <a:latin typeface="Arial"/>
                <a:cs typeface="Arial"/>
              </a:rPr>
              <a:t>voices</a:t>
            </a:r>
            <a:r>
              <a:rPr b="1" spc="-40" dirty="0"/>
              <a:t> </a:t>
            </a:r>
            <a:r>
              <a:rPr b="1" dirty="0">
                <a:latin typeface="Arial"/>
                <a:cs typeface="Arial"/>
              </a:rPr>
              <a:t>and</a:t>
            </a:r>
            <a:r>
              <a:rPr b="1" spc="-33" dirty="0"/>
              <a:t> </a:t>
            </a:r>
            <a:r>
              <a:rPr b="1" spc="-13" dirty="0"/>
              <a:t>identities</a:t>
            </a:r>
          </a:p>
          <a:p>
            <a:pPr>
              <a:spcBef>
                <a:spcPts val="47"/>
              </a:spcBef>
            </a:pPr>
            <a:endParaRPr sz="3467"/>
          </a:p>
          <a:p>
            <a:pPr marL="1693" algn="ctr"/>
            <a:r>
              <a:rPr dirty="0"/>
              <a:t>Other</a:t>
            </a:r>
            <a:r>
              <a:rPr spc="-7" dirty="0"/>
              <a:t> </a:t>
            </a:r>
            <a:r>
              <a:rPr spc="-13" dirty="0"/>
              <a:t>recommendations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8CDDB2A-B80D-4D2B-A34B-B210E8B7B2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87</a:t>
            </a:fld>
            <a:endParaRPr 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Excluded</a:t>
            </a:r>
            <a:r>
              <a:rPr spc="-20" dirty="0"/>
              <a:t> </a:t>
            </a:r>
            <a:r>
              <a:rPr dirty="0"/>
              <a:t>voices</a:t>
            </a:r>
            <a:r>
              <a:rPr spc="-2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3" dirty="0"/>
              <a:t>identities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0450" y="1739850"/>
            <a:ext cx="10317479" cy="4154593"/>
            <a:chOff x="660337" y="1304887"/>
            <a:chExt cx="7738109" cy="3115945"/>
          </a:xfrm>
        </p:grpSpPr>
        <p:sp>
          <p:nvSpPr>
            <p:cNvPr id="4" name="object 4"/>
            <p:cNvSpPr/>
            <p:nvPr/>
          </p:nvSpPr>
          <p:spPr>
            <a:xfrm>
              <a:off x="665100" y="1309649"/>
              <a:ext cx="7728584" cy="3106420"/>
            </a:xfrm>
            <a:custGeom>
              <a:avLst/>
              <a:gdLst/>
              <a:ahLst/>
              <a:cxnLst/>
              <a:rect l="l" t="t" r="r" b="b"/>
              <a:pathLst>
                <a:path w="7728584" h="3106420">
                  <a:moveTo>
                    <a:pt x="72102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210289" y="0"/>
                  </a:lnTo>
                  <a:lnTo>
                    <a:pt x="7261459" y="2533"/>
                  </a:lnTo>
                  <a:lnTo>
                    <a:pt x="7311761" y="10039"/>
                  </a:lnTo>
                  <a:lnTo>
                    <a:pt x="7360858" y="22378"/>
                  </a:lnTo>
                  <a:lnTo>
                    <a:pt x="7408408" y="39408"/>
                  </a:lnTo>
                  <a:lnTo>
                    <a:pt x="7454074" y="60989"/>
                  </a:lnTo>
                  <a:lnTo>
                    <a:pt x="7497515" y="86981"/>
                  </a:lnTo>
                  <a:lnTo>
                    <a:pt x="7538392" y="117243"/>
                  </a:lnTo>
                  <a:lnTo>
                    <a:pt x="7576366" y="151633"/>
                  </a:lnTo>
                  <a:lnTo>
                    <a:pt x="7610757" y="189607"/>
                  </a:lnTo>
                  <a:lnTo>
                    <a:pt x="7641018" y="230484"/>
                  </a:lnTo>
                  <a:lnTo>
                    <a:pt x="7667010" y="273925"/>
                  </a:lnTo>
                  <a:lnTo>
                    <a:pt x="7688591" y="319591"/>
                  </a:lnTo>
                  <a:lnTo>
                    <a:pt x="7705621" y="367141"/>
                  </a:lnTo>
                  <a:lnTo>
                    <a:pt x="7717960" y="416238"/>
                  </a:lnTo>
                  <a:lnTo>
                    <a:pt x="7725466" y="466541"/>
                  </a:lnTo>
                  <a:lnTo>
                    <a:pt x="7727999" y="517710"/>
                  </a:lnTo>
                  <a:lnTo>
                    <a:pt x="7727999" y="2588489"/>
                  </a:lnTo>
                  <a:lnTo>
                    <a:pt x="7725884" y="2635611"/>
                  </a:lnTo>
                  <a:lnTo>
                    <a:pt x="7719658" y="2681548"/>
                  </a:lnTo>
                  <a:lnTo>
                    <a:pt x="7709506" y="2726117"/>
                  </a:lnTo>
                  <a:lnTo>
                    <a:pt x="7695610" y="2769135"/>
                  </a:lnTo>
                  <a:lnTo>
                    <a:pt x="7678153" y="2810419"/>
                  </a:lnTo>
                  <a:lnTo>
                    <a:pt x="7657317" y="2849787"/>
                  </a:lnTo>
                  <a:lnTo>
                    <a:pt x="7633285" y="2887056"/>
                  </a:lnTo>
                  <a:lnTo>
                    <a:pt x="7606241" y="2922043"/>
                  </a:lnTo>
                  <a:lnTo>
                    <a:pt x="7576366" y="2954566"/>
                  </a:lnTo>
                  <a:lnTo>
                    <a:pt x="7543843" y="2984441"/>
                  </a:lnTo>
                  <a:lnTo>
                    <a:pt x="7508856" y="3011485"/>
                  </a:lnTo>
                  <a:lnTo>
                    <a:pt x="7471588" y="3035517"/>
                  </a:lnTo>
                  <a:lnTo>
                    <a:pt x="7432220" y="3056353"/>
                  </a:lnTo>
                  <a:lnTo>
                    <a:pt x="7390935" y="3073810"/>
                  </a:lnTo>
                  <a:lnTo>
                    <a:pt x="7347917" y="3087706"/>
                  </a:lnTo>
                  <a:lnTo>
                    <a:pt x="7303348" y="3097858"/>
                  </a:lnTo>
                  <a:lnTo>
                    <a:pt x="7257412" y="3104084"/>
                  </a:lnTo>
                  <a:lnTo>
                    <a:pt x="72102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5100" y="1309650"/>
              <a:ext cx="7728584" cy="3106420"/>
            </a:xfrm>
            <a:custGeom>
              <a:avLst/>
              <a:gdLst/>
              <a:ahLst/>
              <a:cxnLst/>
              <a:rect l="l" t="t" r="r" b="b"/>
              <a:pathLst>
                <a:path w="7728584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210289" y="0"/>
                  </a:lnTo>
                  <a:lnTo>
                    <a:pt x="7261459" y="2533"/>
                  </a:lnTo>
                  <a:lnTo>
                    <a:pt x="7311761" y="10039"/>
                  </a:lnTo>
                  <a:lnTo>
                    <a:pt x="7360858" y="22378"/>
                  </a:lnTo>
                  <a:lnTo>
                    <a:pt x="7408408" y="39408"/>
                  </a:lnTo>
                  <a:lnTo>
                    <a:pt x="7454074" y="60989"/>
                  </a:lnTo>
                  <a:lnTo>
                    <a:pt x="7497515" y="86981"/>
                  </a:lnTo>
                  <a:lnTo>
                    <a:pt x="7538392" y="117243"/>
                  </a:lnTo>
                  <a:lnTo>
                    <a:pt x="7576366" y="151633"/>
                  </a:lnTo>
                  <a:lnTo>
                    <a:pt x="7610757" y="189607"/>
                  </a:lnTo>
                  <a:lnTo>
                    <a:pt x="7641018" y="230484"/>
                  </a:lnTo>
                  <a:lnTo>
                    <a:pt x="7667010" y="273925"/>
                  </a:lnTo>
                  <a:lnTo>
                    <a:pt x="7688591" y="319591"/>
                  </a:lnTo>
                  <a:lnTo>
                    <a:pt x="7705621" y="367141"/>
                  </a:lnTo>
                  <a:lnTo>
                    <a:pt x="7717960" y="416238"/>
                  </a:lnTo>
                  <a:lnTo>
                    <a:pt x="7725466" y="466541"/>
                  </a:lnTo>
                  <a:lnTo>
                    <a:pt x="7727999" y="517710"/>
                  </a:lnTo>
                  <a:lnTo>
                    <a:pt x="7727999" y="2588489"/>
                  </a:lnTo>
                  <a:lnTo>
                    <a:pt x="7725884" y="2635611"/>
                  </a:lnTo>
                  <a:lnTo>
                    <a:pt x="7719658" y="2681548"/>
                  </a:lnTo>
                  <a:lnTo>
                    <a:pt x="7709506" y="2726117"/>
                  </a:lnTo>
                  <a:lnTo>
                    <a:pt x="7695610" y="2769135"/>
                  </a:lnTo>
                  <a:lnTo>
                    <a:pt x="7678153" y="2810419"/>
                  </a:lnTo>
                  <a:lnTo>
                    <a:pt x="7657317" y="2849787"/>
                  </a:lnTo>
                  <a:lnTo>
                    <a:pt x="7633285" y="2887056"/>
                  </a:lnTo>
                  <a:lnTo>
                    <a:pt x="7606241" y="2922043"/>
                  </a:lnTo>
                  <a:lnTo>
                    <a:pt x="7576366" y="2954566"/>
                  </a:lnTo>
                  <a:lnTo>
                    <a:pt x="7543843" y="2984441"/>
                  </a:lnTo>
                  <a:lnTo>
                    <a:pt x="7508856" y="3011485"/>
                  </a:lnTo>
                  <a:lnTo>
                    <a:pt x="7471588" y="3035517"/>
                  </a:lnTo>
                  <a:lnTo>
                    <a:pt x="7432220" y="3056353"/>
                  </a:lnTo>
                  <a:lnTo>
                    <a:pt x="7390935" y="3073810"/>
                  </a:lnTo>
                  <a:lnTo>
                    <a:pt x="7347917" y="3087706"/>
                  </a:lnTo>
                  <a:lnTo>
                    <a:pt x="7303348" y="3097858"/>
                  </a:lnTo>
                  <a:lnTo>
                    <a:pt x="7257412" y="3104084"/>
                  </a:lnTo>
                  <a:lnTo>
                    <a:pt x="72102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50" y="19168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2450" y="19168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8750" y="2708225"/>
              <a:ext cx="7301865" cy="1404620"/>
            </a:xfrm>
            <a:custGeom>
              <a:avLst/>
              <a:gdLst/>
              <a:ahLst/>
              <a:cxnLst/>
              <a:rect l="l" t="t" r="r" b="b"/>
              <a:pathLst>
                <a:path w="7301865" h="1404620">
                  <a:moveTo>
                    <a:pt x="7067644" y="1404299"/>
                  </a:moveTo>
                  <a:lnTo>
                    <a:pt x="234054" y="1404299"/>
                  </a:lnTo>
                  <a:lnTo>
                    <a:pt x="186884" y="1399544"/>
                  </a:lnTo>
                  <a:lnTo>
                    <a:pt x="142950" y="1385906"/>
                  </a:lnTo>
                  <a:lnTo>
                    <a:pt x="103192" y="1364327"/>
                  </a:lnTo>
                  <a:lnTo>
                    <a:pt x="68553" y="1335746"/>
                  </a:lnTo>
                  <a:lnTo>
                    <a:pt x="39972" y="1301107"/>
                  </a:lnTo>
                  <a:lnTo>
                    <a:pt x="18393" y="1261349"/>
                  </a:lnTo>
                  <a:lnTo>
                    <a:pt x="4755" y="1217415"/>
                  </a:lnTo>
                  <a:lnTo>
                    <a:pt x="0" y="1170245"/>
                  </a:lnTo>
                  <a:lnTo>
                    <a:pt x="0" y="234054"/>
                  </a:lnTo>
                  <a:lnTo>
                    <a:pt x="4755" y="186884"/>
                  </a:lnTo>
                  <a:lnTo>
                    <a:pt x="18393" y="142950"/>
                  </a:lnTo>
                  <a:lnTo>
                    <a:pt x="39972" y="103192"/>
                  </a:lnTo>
                  <a:lnTo>
                    <a:pt x="68553" y="68552"/>
                  </a:lnTo>
                  <a:lnTo>
                    <a:pt x="103192" y="39972"/>
                  </a:lnTo>
                  <a:lnTo>
                    <a:pt x="142950" y="18393"/>
                  </a:lnTo>
                  <a:lnTo>
                    <a:pt x="186884" y="4755"/>
                  </a:lnTo>
                  <a:lnTo>
                    <a:pt x="234054" y="0"/>
                  </a:lnTo>
                  <a:lnTo>
                    <a:pt x="7067644" y="0"/>
                  </a:lnTo>
                  <a:lnTo>
                    <a:pt x="7113519" y="4538"/>
                  </a:lnTo>
                  <a:lnTo>
                    <a:pt x="7157213" y="17816"/>
                  </a:lnTo>
                  <a:lnTo>
                    <a:pt x="7197498" y="39323"/>
                  </a:lnTo>
                  <a:lnTo>
                    <a:pt x="7233146" y="68553"/>
                  </a:lnTo>
                  <a:lnTo>
                    <a:pt x="7262375" y="104201"/>
                  </a:lnTo>
                  <a:lnTo>
                    <a:pt x="7283883" y="144485"/>
                  </a:lnTo>
                  <a:lnTo>
                    <a:pt x="7297161" y="188179"/>
                  </a:lnTo>
                  <a:lnTo>
                    <a:pt x="7301699" y="234054"/>
                  </a:lnTo>
                  <a:lnTo>
                    <a:pt x="7301699" y="1170245"/>
                  </a:lnTo>
                  <a:lnTo>
                    <a:pt x="7296944" y="1217415"/>
                  </a:lnTo>
                  <a:lnTo>
                    <a:pt x="7283306" y="1261349"/>
                  </a:lnTo>
                  <a:lnTo>
                    <a:pt x="7261727" y="1301107"/>
                  </a:lnTo>
                  <a:lnTo>
                    <a:pt x="7233146" y="1335746"/>
                  </a:lnTo>
                  <a:lnTo>
                    <a:pt x="7198507" y="1364327"/>
                  </a:lnTo>
                  <a:lnTo>
                    <a:pt x="7158749" y="1385906"/>
                  </a:lnTo>
                  <a:lnTo>
                    <a:pt x="7114815" y="1399544"/>
                  </a:lnTo>
                  <a:lnTo>
                    <a:pt x="7067644" y="14042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8750" y="2708225"/>
              <a:ext cx="7301865" cy="1404620"/>
            </a:xfrm>
            <a:custGeom>
              <a:avLst/>
              <a:gdLst/>
              <a:ahLst/>
              <a:cxnLst/>
              <a:rect l="l" t="t" r="r" b="b"/>
              <a:pathLst>
                <a:path w="7301865" h="1404620">
                  <a:moveTo>
                    <a:pt x="0" y="234054"/>
                  </a:moveTo>
                  <a:lnTo>
                    <a:pt x="4755" y="186884"/>
                  </a:lnTo>
                  <a:lnTo>
                    <a:pt x="18393" y="142950"/>
                  </a:lnTo>
                  <a:lnTo>
                    <a:pt x="39972" y="103192"/>
                  </a:lnTo>
                  <a:lnTo>
                    <a:pt x="68553" y="68552"/>
                  </a:lnTo>
                  <a:lnTo>
                    <a:pt x="103192" y="39972"/>
                  </a:lnTo>
                  <a:lnTo>
                    <a:pt x="142950" y="18393"/>
                  </a:lnTo>
                  <a:lnTo>
                    <a:pt x="186884" y="4755"/>
                  </a:lnTo>
                  <a:lnTo>
                    <a:pt x="234054" y="0"/>
                  </a:lnTo>
                  <a:lnTo>
                    <a:pt x="7067644" y="0"/>
                  </a:lnTo>
                  <a:lnTo>
                    <a:pt x="7113519" y="4538"/>
                  </a:lnTo>
                  <a:lnTo>
                    <a:pt x="7157213" y="17816"/>
                  </a:lnTo>
                  <a:lnTo>
                    <a:pt x="7197498" y="39323"/>
                  </a:lnTo>
                  <a:lnTo>
                    <a:pt x="7233146" y="68553"/>
                  </a:lnTo>
                  <a:lnTo>
                    <a:pt x="7262375" y="104201"/>
                  </a:lnTo>
                  <a:lnTo>
                    <a:pt x="7283883" y="144485"/>
                  </a:lnTo>
                  <a:lnTo>
                    <a:pt x="7297161" y="188179"/>
                  </a:lnTo>
                  <a:lnTo>
                    <a:pt x="7301699" y="234054"/>
                  </a:lnTo>
                  <a:lnTo>
                    <a:pt x="7301699" y="1170245"/>
                  </a:lnTo>
                  <a:lnTo>
                    <a:pt x="7296944" y="1217415"/>
                  </a:lnTo>
                  <a:lnTo>
                    <a:pt x="7283306" y="1261349"/>
                  </a:lnTo>
                  <a:lnTo>
                    <a:pt x="7261727" y="1301107"/>
                  </a:lnTo>
                  <a:lnTo>
                    <a:pt x="7233146" y="1335746"/>
                  </a:lnTo>
                  <a:lnTo>
                    <a:pt x="7198507" y="1364327"/>
                  </a:lnTo>
                  <a:lnTo>
                    <a:pt x="7158749" y="1385906"/>
                  </a:lnTo>
                  <a:lnTo>
                    <a:pt x="7114815" y="1399544"/>
                  </a:lnTo>
                  <a:lnTo>
                    <a:pt x="7067644" y="1404299"/>
                  </a:lnTo>
                  <a:lnTo>
                    <a:pt x="234054" y="1404299"/>
                  </a:lnTo>
                  <a:lnTo>
                    <a:pt x="186884" y="1399544"/>
                  </a:lnTo>
                  <a:lnTo>
                    <a:pt x="142950" y="1385906"/>
                  </a:lnTo>
                  <a:lnTo>
                    <a:pt x="103192" y="1364327"/>
                  </a:lnTo>
                  <a:lnTo>
                    <a:pt x="68553" y="1335746"/>
                  </a:lnTo>
                  <a:lnTo>
                    <a:pt x="39972" y="1301107"/>
                  </a:lnTo>
                  <a:lnTo>
                    <a:pt x="18393" y="1261349"/>
                  </a:lnTo>
                  <a:lnTo>
                    <a:pt x="4755" y="1217415"/>
                  </a:lnTo>
                  <a:lnTo>
                    <a:pt x="0" y="1170245"/>
                  </a:lnTo>
                  <a:lnTo>
                    <a:pt x="0" y="2340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33769" y="2540225"/>
            <a:ext cx="8382000" cy="2607295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73818" marR="1167524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Avoid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blockilst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filtering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constructing </a:t>
            </a:r>
            <a:r>
              <a:rPr sz="2400" dirty="0">
                <a:latin typeface="Arial"/>
                <a:cs typeface="Arial"/>
              </a:rPr>
              <a:t>datasets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13" dirty="0">
                <a:latin typeface="Arial"/>
                <a:cs typeface="Arial"/>
              </a:rPr>
              <a:t> web-</a:t>
            </a:r>
            <a:r>
              <a:rPr sz="2400" dirty="0">
                <a:latin typeface="Arial"/>
                <a:cs typeface="Arial"/>
              </a:rPr>
              <a:t>crawled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 marL="16933">
              <a:spcBef>
                <a:spcPts val="2373"/>
              </a:spcBef>
            </a:pPr>
            <a:r>
              <a:rPr sz="2400" dirty="0">
                <a:latin typeface="Arial"/>
                <a:cs typeface="Arial"/>
              </a:rPr>
              <a:t>Some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voices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identities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might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13" dirty="0">
                <a:latin typeface="Arial"/>
                <a:cs typeface="Arial"/>
              </a:rPr>
              <a:t> excluded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533">
              <a:latin typeface="Arial"/>
              <a:cs typeface="Arial"/>
            </a:endParaRPr>
          </a:p>
          <a:p>
            <a:pPr marL="16933"/>
            <a:r>
              <a:rPr sz="2400" dirty="0">
                <a:latin typeface="Arial"/>
                <a:cs typeface="Arial"/>
              </a:rPr>
              <a:t>Meaning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“bad”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words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heavily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depends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social</a:t>
            </a:r>
            <a:r>
              <a:rPr sz="2400" spc="-13" dirty="0">
                <a:latin typeface="Arial"/>
                <a:cs typeface="Arial"/>
              </a:rPr>
              <a:t> context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9C58C0C-F3C0-4E0E-938F-44BCAFCF29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88</a:t>
            </a:fld>
            <a:endParaRPr 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91981">
              <a:spcBef>
                <a:spcPts val="133"/>
              </a:spcBef>
            </a:pPr>
            <a:r>
              <a:rPr sz="2933" dirty="0"/>
              <a:t>Documenting</a:t>
            </a:r>
            <a:r>
              <a:rPr sz="2933" spc="-80" dirty="0"/>
              <a:t> </a:t>
            </a:r>
            <a:r>
              <a:rPr sz="2933" dirty="0"/>
              <a:t>Webtext</a:t>
            </a:r>
            <a:r>
              <a:rPr sz="2933" spc="-73" dirty="0"/>
              <a:t> </a:t>
            </a:r>
            <a:r>
              <a:rPr sz="2933" dirty="0"/>
              <a:t>Corpora:</a:t>
            </a:r>
            <a:r>
              <a:rPr sz="2933" spc="-73" dirty="0"/>
              <a:t> </a:t>
            </a:r>
            <a:r>
              <a:rPr sz="2933" spc="-13" dirty="0"/>
              <a:t>Recommendations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33" y="1910984"/>
            <a:ext cx="7323667" cy="4332393"/>
            <a:chOff x="1764850" y="1433237"/>
            <a:chExt cx="5492750" cy="3249295"/>
          </a:xfrm>
        </p:grpSpPr>
        <p:sp>
          <p:nvSpPr>
            <p:cNvPr id="7" name="object 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13207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282614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875" y="3520225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3900" y="4179024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4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3900" y="1438000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812800" y="2133602"/>
            <a:ext cx="14630400" cy="3305884"/>
          </a:xfrm>
          <a:prstGeom prst="rect">
            <a:avLst/>
          </a:prstGeom>
        </p:spPr>
        <p:txBody>
          <a:bodyPr vert="horz" wrap="square" lIns="0" tIns="1693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133"/>
              </a:spcBef>
            </a:pPr>
            <a:r>
              <a:rPr spc="-7" dirty="0"/>
              <a:t>Rep</a:t>
            </a:r>
            <a:r>
              <a:rPr spc="-1333" dirty="0"/>
              <a:t>o</a:t>
            </a:r>
            <a:r>
              <a:rPr spc="-407" dirty="0"/>
              <a:t>R</a:t>
            </a:r>
            <a:r>
              <a:rPr spc="-400" dirty="0"/>
              <a:t>r</a:t>
            </a:r>
            <a:r>
              <a:rPr spc="-947" dirty="0"/>
              <a:t>e</a:t>
            </a:r>
            <a:r>
              <a:rPr dirty="0"/>
              <a:t>t</a:t>
            </a:r>
            <a:r>
              <a:rPr spc="-400" dirty="0"/>
              <a:t> </a:t>
            </a:r>
            <a:r>
              <a:rPr spc="-960" dirty="0"/>
              <a:t>p</a:t>
            </a:r>
            <a:r>
              <a:rPr spc="-807" dirty="0"/>
              <a:t>w</a:t>
            </a:r>
            <a:r>
              <a:rPr spc="-560" dirty="0"/>
              <a:t>o</a:t>
            </a:r>
            <a:r>
              <a:rPr spc="-807" dirty="0"/>
              <a:t>e</a:t>
            </a:r>
            <a:r>
              <a:rPr spc="-27" dirty="0"/>
              <a:t>r</a:t>
            </a:r>
            <a:r>
              <a:rPr spc="-679" dirty="0"/>
              <a:t>t</a:t>
            </a:r>
            <a:r>
              <a:rPr spc="-20" dirty="0"/>
              <a:t>b</a:t>
            </a:r>
            <a:r>
              <a:rPr spc="-1213" dirty="0"/>
              <a:t>s</a:t>
            </a:r>
            <a:r>
              <a:rPr spc="-820" dirty="0"/>
              <a:t>m</a:t>
            </a:r>
            <a:r>
              <a:rPr spc="-20" dirty="0"/>
              <a:t>i</a:t>
            </a:r>
            <a:r>
              <a:rPr spc="-413" dirty="0"/>
              <a:t>t</a:t>
            </a:r>
            <a:r>
              <a:rPr spc="-953" dirty="0"/>
              <a:t>e</a:t>
            </a:r>
            <a:r>
              <a:rPr spc="-413" dirty="0"/>
              <a:t>e</a:t>
            </a:r>
            <a:r>
              <a:rPr spc="-20" dirty="0"/>
              <a:t>t</a:t>
            </a:r>
            <a:r>
              <a:rPr spc="-953" dirty="0"/>
              <a:t>a</a:t>
            </a:r>
            <a:r>
              <a:rPr spc="-1080" dirty="0"/>
              <a:t>m</a:t>
            </a:r>
            <a:r>
              <a:rPr spc="-287" dirty="0"/>
              <a:t>d</a:t>
            </a:r>
            <a:r>
              <a:rPr spc="-1080" dirty="0"/>
              <a:t>e</a:t>
            </a:r>
            <a:r>
              <a:rPr spc="-287" dirty="0"/>
              <a:t>a</a:t>
            </a:r>
            <a:r>
              <a:rPr spc="-413" dirty="0"/>
              <a:t>t</a:t>
            </a:r>
            <a:r>
              <a:rPr spc="-287" dirty="0"/>
              <a:t>t</a:t>
            </a:r>
            <a:r>
              <a:rPr spc="-1080" dirty="0"/>
              <a:t>a</a:t>
            </a:r>
            <a:r>
              <a:rPr spc="-287" dirty="0"/>
              <a:t>a</a:t>
            </a:r>
            <a:r>
              <a:rPr spc="-20" dirty="0"/>
              <a:t>data</a:t>
            </a:r>
          </a:p>
          <a:p>
            <a:pPr marL="16933" marR="6773" indent="847" algn="ctr">
              <a:lnSpc>
                <a:spcPct val="252999"/>
              </a:lnSpc>
            </a:pPr>
            <a:r>
              <a:rPr dirty="0"/>
              <a:t>Examine</a:t>
            </a:r>
            <a:r>
              <a:rPr spc="-40" dirty="0"/>
              <a:t> </a:t>
            </a:r>
            <a:r>
              <a:rPr dirty="0"/>
              <a:t>benchmark</a:t>
            </a:r>
            <a:r>
              <a:rPr spc="-27" dirty="0"/>
              <a:t> </a:t>
            </a:r>
            <a:r>
              <a:rPr spc="-13" dirty="0"/>
              <a:t>contamination </a:t>
            </a:r>
            <a:r>
              <a:rPr dirty="0"/>
              <a:t>Social</a:t>
            </a:r>
            <a:r>
              <a:rPr spc="-47" dirty="0"/>
              <a:t> </a:t>
            </a:r>
            <a:r>
              <a:rPr dirty="0"/>
              <a:t>biases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7" dirty="0"/>
              <a:t> </a:t>
            </a:r>
            <a:r>
              <a:rPr dirty="0"/>
              <a:t>representational</a:t>
            </a:r>
            <a:r>
              <a:rPr spc="-40" dirty="0"/>
              <a:t> </a:t>
            </a:r>
            <a:r>
              <a:rPr spc="-13" dirty="0"/>
              <a:t>harms </a:t>
            </a:r>
            <a:r>
              <a:rPr dirty="0"/>
              <a:t>Excluded</a:t>
            </a:r>
            <a:r>
              <a:rPr spc="-40" dirty="0"/>
              <a:t> </a:t>
            </a:r>
            <a:r>
              <a:rPr dirty="0"/>
              <a:t>voices</a:t>
            </a:r>
            <a:r>
              <a:rPr spc="-27" dirty="0"/>
              <a:t> </a:t>
            </a:r>
            <a:r>
              <a:rPr dirty="0"/>
              <a:t>and</a:t>
            </a:r>
            <a:r>
              <a:rPr spc="-27" dirty="0"/>
              <a:t> </a:t>
            </a:r>
            <a:r>
              <a:rPr spc="-13" dirty="0"/>
              <a:t>identities</a:t>
            </a:r>
          </a:p>
          <a:p>
            <a:pPr>
              <a:spcBef>
                <a:spcPts val="47"/>
              </a:spcBef>
            </a:pPr>
            <a:endParaRPr sz="3467"/>
          </a:p>
          <a:p>
            <a:pPr marL="847" algn="ctr"/>
            <a:r>
              <a:rPr b="1" dirty="0">
                <a:latin typeface="Arial"/>
                <a:cs typeface="Arial"/>
              </a:rPr>
              <a:t>Other</a:t>
            </a:r>
            <a:r>
              <a:rPr b="1" spc="-33" dirty="0"/>
              <a:t> </a:t>
            </a:r>
            <a:r>
              <a:rPr b="1" spc="-13" dirty="0"/>
              <a:t>recommendations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A8EA23A-BEA1-4108-9D68-E62D16F021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89</a:t>
            </a:fld>
            <a:endParaRPr 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21082" y="1339124"/>
            <a:ext cx="14213839" cy="583108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Other </a:t>
            </a:r>
            <a:r>
              <a:rPr spc="-13" dirty="0"/>
              <a:t>Recommendations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8617" y="1792050"/>
            <a:ext cx="5238327" cy="4154593"/>
            <a:chOff x="456462" y="1344037"/>
            <a:chExt cx="3928745" cy="3115945"/>
          </a:xfrm>
        </p:grpSpPr>
        <p:sp>
          <p:nvSpPr>
            <p:cNvPr id="4" name="object 4"/>
            <p:cNvSpPr/>
            <p:nvPr/>
          </p:nvSpPr>
          <p:spPr>
            <a:xfrm>
              <a:off x="461224" y="1348800"/>
              <a:ext cx="3919220" cy="3106420"/>
            </a:xfrm>
            <a:custGeom>
              <a:avLst/>
              <a:gdLst/>
              <a:ahLst/>
              <a:cxnLst/>
              <a:rect l="l" t="t" r="r" b="b"/>
              <a:pathLst>
                <a:path w="3919220" h="3106420">
                  <a:moveTo>
                    <a:pt x="34011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3401189" y="0"/>
                  </a:lnTo>
                  <a:lnTo>
                    <a:pt x="3452358" y="2533"/>
                  </a:lnTo>
                  <a:lnTo>
                    <a:pt x="3502661" y="10039"/>
                  </a:lnTo>
                  <a:lnTo>
                    <a:pt x="3551757" y="22378"/>
                  </a:lnTo>
                  <a:lnTo>
                    <a:pt x="3599308" y="39408"/>
                  </a:lnTo>
                  <a:lnTo>
                    <a:pt x="3644974" y="60989"/>
                  </a:lnTo>
                  <a:lnTo>
                    <a:pt x="3688415" y="86981"/>
                  </a:lnTo>
                  <a:lnTo>
                    <a:pt x="3729292" y="117243"/>
                  </a:lnTo>
                  <a:lnTo>
                    <a:pt x="3767265" y="151633"/>
                  </a:lnTo>
                  <a:lnTo>
                    <a:pt x="3801656" y="189607"/>
                  </a:lnTo>
                  <a:lnTo>
                    <a:pt x="3831918" y="230484"/>
                  </a:lnTo>
                  <a:lnTo>
                    <a:pt x="3857910" y="273925"/>
                  </a:lnTo>
                  <a:lnTo>
                    <a:pt x="3879491" y="319591"/>
                  </a:lnTo>
                  <a:lnTo>
                    <a:pt x="3896521" y="367141"/>
                  </a:lnTo>
                  <a:lnTo>
                    <a:pt x="3908860" y="416238"/>
                  </a:lnTo>
                  <a:lnTo>
                    <a:pt x="3916366" y="466541"/>
                  </a:lnTo>
                  <a:lnTo>
                    <a:pt x="3918899" y="517710"/>
                  </a:lnTo>
                  <a:lnTo>
                    <a:pt x="3918899" y="2588489"/>
                  </a:lnTo>
                  <a:lnTo>
                    <a:pt x="3916784" y="2635611"/>
                  </a:lnTo>
                  <a:lnTo>
                    <a:pt x="3910558" y="2681548"/>
                  </a:lnTo>
                  <a:lnTo>
                    <a:pt x="3900406" y="2726117"/>
                  </a:lnTo>
                  <a:lnTo>
                    <a:pt x="3886510" y="2769135"/>
                  </a:lnTo>
                  <a:lnTo>
                    <a:pt x="3869053" y="2810419"/>
                  </a:lnTo>
                  <a:lnTo>
                    <a:pt x="3848217" y="2849787"/>
                  </a:lnTo>
                  <a:lnTo>
                    <a:pt x="3824185" y="2887056"/>
                  </a:lnTo>
                  <a:lnTo>
                    <a:pt x="3797140" y="2922043"/>
                  </a:lnTo>
                  <a:lnTo>
                    <a:pt x="3767266" y="2954566"/>
                  </a:lnTo>
                  <a:lnTo>
                    <a:pt x="3734743" y="2984441"/>
                  </a:lnTo>
                  <a:lnTo>
                    <a:pt x="3699756" y="3011485"/>
                  </a:lnTo>
                  <a:lnTo>
                    <a:pt x="3662487" y="3035517"/>
                  </a:lnTo>
                  <a:lnTo>
                    <a:pt x="3623119" y="3056353"/>
                  </a:lnTo>
                  <a:lnTo>
                    <a:pt x="3581835" y="3073810"/>
                  </a:lnTo>
                  <a:lnTo>
                    <a:pt x="3538817" y="3087706"/>
                  </a:lnTo>
                  <a:lnTo>
                    <a:pt x="3494248" y="3097858"/>
                  </a:lnTo>
                  <a:lnTo>
                    <a:pt x="3448311" y="3104084"/>
                  </a:lnTo>
                  <a:lnTo>
                    <a:pt x="34011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1224" y="1348800"/>
              <a:ext cx="3919220" cy="3106420"/>
            </a:xfrm>
            <a:custGeom>
              <a:avLst/>
              <a:gdLst/>
              <a:ahLst/>
              <a:cxnLst/>
              <a:rect l="l" t="t" r="r" b="b"/>
              <a:pathLst>
                <a:path w="3919220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3401189" y="0"/>
                  </a:lnTo>
                  <a:lnTo>
                    <a:pt x="3452358" y="2533"/>
                  </a:lnTo>
                  <a:lnTo>
                    <a:pt x="3502661" y="10039"/>
                  </a:lnTo>
                  <a:lnTo>
                    <a:pt x="3551757" y="22378"/>
                  </a:lnTo>
                  <a:lnTo>
                    <a:pt x="3599308" y="39408"/>
                  </a:lnTo>
                  <a:lnTo>
                    <a:pt x="3644974" y="60989"/>
                  </a:lnTo>
                  <a:lnTo>
                    <a:pt x="3688415" y="86981"/>
                  </a:lnTo>
                  <a:lnTo>
                    <a:pt x="3729292" y="117243"/>
                  </a:lnTo>
                  <a:lnTo>
                    <a:pt x="3767265" y="151633"/>
                  </a:lnTo>
                  <a:lnTo>
                    <a:pt x="3801656" y="189607"/>
                  </a:lnTo>
                  <a:lnTo>
                    <a:pt x="3831918" y="230484"/>
                  </a:lnTo>
                  <a:lnTo>
                    <a:pt x="3857910" y="273925"/>
                  </a:lnTo>
                  <a:lnTo>
                    <a:pt x="3879491" y="319591"/>
                  </a:lnTo>
                  <a:lnTo>
                    <a:pt x="3896521" y="367141"/>
                  </a:lnTo>
                  <a:lnTo>
                    <a:pt x="3908860" y="416238"/>
                  </a:lnTo>
                  <a:lnTo>
                    <a:pt x="3916366" y="466541"/>
                  </a:lnTo>
                  <a:lnTo>
                    <a:pt x="3918899" y="517710"/>
                  </a:lnTo>
                  <a:lnTo>
                    <a:pt x="3918899" y="2588489"/>
                  </a:lnTo>
                  <a:lnTo>
                    <a:pt x="3916784" y="2635611"/>
                  </a:lnTo>
                  <a:lnTo>
                    <a:pt x="3910558" y="2681548"/>
                  </a:lnTo>
                  <a:lnTo>
                    <a:pt x="3900406" y="2726117"/>
                  </a:lnTo>
                  <a:lnTo>
                    <a:pt x="3886510" y="2769135"/>
                  </a:lnTo>
                  <a:lnTo>
                    <a:pt x="3869053" y="2810419"/>
                  </a:lnTo>
                  <a:lnTo>
                    <a:pt x="3848217" y="2849787"/>
                  </a:lnTo>
                  <a:lnTo>
                    <a:pt x="3824185" y="2887056"/>
                  </a:lnTo>
                  <a:lnTo>
                    <a:pt x="3797141" y="2922043"/>
                  </a:lnTo>
                  <a:lnTo>
                    <a:pt x="3767266" y="2954566"/>
                  </a:lnTo>
                  <a:lnTo>
                    <a:pt x="3734743" y="2984441"/>
                  </a:lnTo>
                  <a:lnTo>
                    <a:pt x="3699756" y="3011485"/>
                  </a:lnTo>
                  <a:lnTo>
                    <a:pt x="3662487" y="3035517"/>
                  </a:lnTo>
                  <a:lnTo>
                    <a:pt x="3623119" y="3056353"/>
                  </a:lnTo>
                  <a:lnTo>
                    <a:pt x="3581835" y="3073810"/>
                  </a:lnTo>
                  <a:lnTo>
                    <a:pt x="3538817" y="3087706"/>
                  </a:lnTo>
                  <a:lnTo>
                    <a:pt x="3494248" y="3097858"/>
                  </a:lnTo>
                  <a:lnTo>
                    <a:pt x="3448311" y="3104084"/>
                  </a:lnTo>
                  <a:lnTo>
                    <a:pt x="34011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0824" y="170910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35042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0824" y="170910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2409" y="2263175"/>
            <a:ext cx="4286673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Datasheets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datasets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(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Gebru</a:t>
            </a:r>
            <a:r>
              <a:rPr sz="24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al.,</a:t>
            </a:r>
            <a:r>
              <a:rPr sz="2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r>
              <a:rPr sz="2400" spc="-27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9333" y="71568"/>
            <a:ext cx="4799599" cy="35836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6067" y="538434"/>
            <a:ext cx="5685397" cy="206026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076950" y="2795900"/>
            <a:ext cx="5785273" cy="3422227"/>
            <a:chOff x="4557712" y="2096925"/>
            <a:chExt cx="4338955" cy="256667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9550" y="2096925"/>
              <a:ext cx="4259686" cy="2566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2000" y="3021424"/>
              <a:ext cx="4310380" cy="542925"/>
            </a:xfrm>
            <a:custGeom>
              <a:avLst/>
              <a:gdLst/>
              <a:ahLst/>
              <a:cxnLst/>
              <a:rect l="l" t="t" r="r" b="b"/>
              <a:pathLst>
                <a:path w="4310380" h="542925">
                  <a:moveTo>
                    <a:pt x="0" y="0"/>
                  </a:moveTo>
                  <a:lnTo>
                    <a:pt x="4309799" y="0"/>
                  </a:lnTo>
                  <a:lnTo>
                    <a:pt x="4309799" y="542399"/>
                  </a:lnTo>
                  <a:lnTo>
                    <a:pt x="0" y="542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B1F1E81-BC7D-403C-96F7-2518883B55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Other </a:t>
            </a:r>
            <a:r>
              <a:rPr spc="-13" dirty="0"/>
              <a:t>Recommendations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8617" y="1792050"/>
            <a:ext cx="5238327" cy="4154593"/>
            <a:chOff x="456462" y="1344037"/>
            <a:chExt cx="3928745" cy="3115945"/>
          </a:xfrm>
        </p:grpSpPr>
        <p:sp>
          <p:nvSpPr>
            <p:cNvPr id="4" name="object 4"/>
            <p:cNvSpPr/>
            <p:nvPr/>
          </p:nvSpPr>
          <p:spPr>
            <a:xfrm>
              <a:off x="461224" y="1348800"/>
              <a:ext cx="3919220" cy="3106420"/>
            </a:xfrm>
            <a:custGeom>
              <a:avLst/>
              <a:gdLst/>
              <a:ahLst/>
              <a:cxnLst/>
              <a:rect l="l" t="t" r="r" b="b"/>
              <a:pathLst>
                <a:path w="3919220" h="3106420">
                  <a:moveTo>
                    <a:pt x="34011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3401189" y="0"/>
                  </a:lnTo>
                  <a:lnTo>
                    <a:pt x="3452358" y="2533"/>
                  </a:lnTo>
                  <a:lnTo>
                    <a:pt x="3502661" y="10039"/>
                  </a:lnTo>
                  <a:lnTo>
                    <a:pt x="3551757" y="22378"/>
                  </a:lnTo>
                  <a:lnTo>
                    <a:pt x="3599308" y="39408"/>
                  </a:lnTo>
                  <a:lnTo>
                    <a:pt x="3644974" y="60989"/>
                  </a:lnTo>
                  <a:lnTo>
                    <a:pt x="3688415" y="86981"/>
                  </a:lnTo>
                  <a:lnTo>
                    <a:pt x="3729292" y="117243"/>
                  </a:lnTo>
                  <a:lnTo>
                    <a:pt x="3767265" y="151633"/>
                  </a:lnTo>
                  <a:lnTo>
                    <a:pt x="3801656" y="189607"/>
                  </a:lnTo>
                  <a:lnTo>
                    <a:pt x="3831918" y="230484"/>
                  </a:lnTo>
                  <a:lnTo>
                    <a:pt x="3857910" y="273925"/>
                  </a:lnTo>
                  <a:lnTo>
                    <a:pt x="3879491" y="319591"/>
                  </a:lnTo>
                  <a:lnTo>
                    <a:pt x="3896521" y="367141"/>
                  </a:lnTo>
                  <a:lnTo>
                    <a:pt x="3908860" y="416238"/>
                  </a:lnTo>
                  <a:lnTo>
                    <a:pt x="3916366" y="466541"/>
                  </a:lnTo>
                  <a:lnTo>
                    <a:pt x="3918899" y="517710"/>
                  </a:lnTo>
                  <a:lnTo>
                    <a:pt x="3918899" y="2588489"/>
                  </a:lnTo>
                  <a:lnTo>
                    <a:pt x="3916784" y="2635611"/>
                  </a:lnTo>
                  <a:lnTo>
                    <a:pt x="3910558" y="2681548"/>
                  </a:lnTo>
                  <a:lnTo>
                    <a:pt x="3900406" y="2726117"/>
                  </a:lnTo>
                  <a:lnTo>
                    <a:pt x="3886510" y="2769135"/>
                  </a:lnTo>
                  <a:lnTo>
                    <a:pt x="3869053" y="2810419"/>
                  </a:lnTo>
                  <a:lnTo>
                    <a:pt x="3848217" y="2849787"/>
                  </a:lnTo>
                  <a:lnTo>
                    <a:pt x="3824185" y="2887056"/>
                  </a:lnTo>
                  <a:lnTo>
                    <a:pt x="3797140" y="2922043"/>
                  </a:lnTo>
                  <a:lnTo>
                    <a:pt x="3767266" y="2954566"/>
                  </a:lnTo>
                  <a:lnTo>
                    <a:pt x="3734743" y="2984441"/>
                  </a:lnTo>
                  <a:lnTo>
                    <a:pt x="3699756" y="3011485"/>
                  </a:lnTo>
                  <a:lnTo>
                    <a:pt x="3662487" y="3035517"/>
                  </a:lnTo>
                  <a:lnTo>
                    <a:pt x="3623119" y="3056353"/>
                  </a:lnTo>
                  <a:lnTo>
                    <a:pt x="3581835" y="3073810"/>
                  </a:lnTo>
                  <a:lnTo>
                    <a:pt x="3538817" y="3087706"/>
                  </a:lnTo>
                  <a:lnTo>
                    <a:pt x="3494248" y="3097858"/>
                  </a:lnTo>
                  <a:lnTo>
                    <a:pt x="3448311" y="3104084"/>
                  </a:lnTo>
                  <a:lnTo>
                    <a:pt x="34011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1224" y="1348800"/>
              <a:ext cx="3919220" cy="3106420"/>
            </a:xfrm>
            <a:custGeom>
              <a:avLst/>
              <a:gdLst/>
              <a:ahLst/>
              <a:cxnLst/>
              <a:rect l="l" t="t" r="r" b="b"/>
              <a:pathLst>
                <a:path w="3919220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3401189" y="0"/>
                  </a:lnTo>
                  <a:lnTo>
                    <a:pt x="3452358" y="2533"/>
                  </a:lnTo>
                  <a:lnTo>
                    <a:pt x="3502661" y="10039"/>
                  </a:lnTo>
                  <a:lnTo>
                    <a:pt x="3551757" y="22378"/>
                  </a:lnTo>
                  <a:lnTo>
                    <a:pt x="3599308" y="39408"/>
                  </a:lnTo>
                  <a:lnTo>
                    <a:pt x="3644974" y="60989"/>
                  </a:lnTo>
                  <a:lnTo>
                    <a:pt x="3688415" y="86981"/>
                  </a:lnTo>
                  <a:lnTo>
                    <a:pt x="3729292" y="117243"/>
                  </a:lnTo>
                  <a:lnTo>
                    <a:pt x="3767265" y="151633"/>
                  </a:lnTo>
                  <a:lnTo>
                    <a:pt x="3801656" y="189607"/>
                  </a:lnTo>
                  <a:lnTo>
                    <a:pt x="3831918" y="230484"/>
                  </a:lnTo>
                  <a:lnTo>
                    <a:pt x="3857910" y="273925"/>
                  </a:lnTo>
                  <a:lnTo>
                    <a:pt x="3879491" y="319591"/>
                  </a:lnTo>
                  <a:lnTo>
                    <a:pt x="3896521" y="367141"/>
                  </a:lnTo>
                  <a:lnTo>
                    <a:pt x="3908860" y="416238"/>
                  </a:lnTo>
                  <a:lnTo>
                    <a:pt x="3916366" y="466541"/>
                  </a:lnTo>
                  <a:lnTo>
                    <a:pt x="3918899" y="517710"/>
                  </a:lnTo>
                  <a:lnTo>
                    <a:pt x="3918899" y="2588489"/>
                  </a:lnTo>
                  <a:lnTo>
                    <a:pt x="3916784" y="2635611"/>
                  </a:lnTo>
                  <a:lnTo>
                    <a:pt x="3910558" y="2681548"/>
                  </a:lnTo>
                  <a:lnTo>
                    <a:pt x="3900406" y="2726117"/>
                  </a:lnTo>
                  <a:lnTo>
                    <a:pt x="3886510" y="2769135"/>
                  </a:lnTo>
                  <a:lnTo>
                    <a:pt x="3869053" y="2810419"/>
                  </a:lnTo>
                  <a:lnTo>
                    <a:pt x="3848217" y="2849787"/>
                  </a:lnTo>
                  <a:lnTo>
                    <a:pt x="3824185" y="2887056"/>
                  </a:lnTo>
                  <a:lnTo>
                    <a:pt x="3797141" y="2922043"/>
                  </a:lnTo>
                  <a:lnTo>
                    <a:pt x="3767266" y="2954566"/>
                  </a:lnTo>
                  <a:lnTo>
                    <a:pt x="3734743" y="2984441"/>
                  </a:lnTo>
                  <a:lnTo>
                    <a:pt x="3699756" y="3011485"/>
                  </a:lnTo>
                  <a:lnTo>
                    <a:pt x="3662487" y="3035517"/>
                  </a:lnTo>
                  <a:lnTo>
                    <a:pt x="3623119" y="3056353"/>
                  </a:lnTo>
                  <a:lnTo>
                    <a:pt x="3581835" y="3073810"/>
                  </a:lnTo>
                  <a:lnTo>
                    <a:pt x="3538817" y="3087706"/>
                  </a:lnTo>
                  <a:lnTo>
                    <a:pt x="3494248" y="3097858"/>
                  </a:lnTo>
                  <a:lnTo>
                    <a:pt x="3448311" y="3104084"/>
                  </a:lnTo>
                  <a:lnTo>
                    <a:pt x="34011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0824" y="170910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35042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0824" y="170910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0824" y="257175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35042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0824" y="257175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2409" y="2263175"/>
            <a:ext cx="4286673" cy="1914413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Datasheets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datasets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(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Gebru</a:t>
            </a:r>
            <a:r>
              <a:rPr sz="24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al.,</a:t>
            </a:r>
            <a:r>
              <a:rPr sz="2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r>
              <a:rPr sz="2400" spc="-27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33"/>
              </a:spcBef>
            </a:pPr>
            <a:endParaRPr sz="2800">
              <a:latin typeface="Arial"/>
              <a:cs typeface="Arial"/>
            </a:endParaRPr>
          </a:p>
          <a:p>
            <a:pPr marL="16933" marR="582492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Data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Bender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spc="-6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&amp;</a:t>
            </a:r>
            <a:r>
              <a:rPr sz="2400" spc="-67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Friedman,</a:t>
            </a:r>
            <a:r>
              <a:rPr sz="2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r>
              <a:rPr sz="2400" spc="-13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44539" y="33239"/>
            <a:ext cx="5850467" cy="6661573"/>
            <a:chOff x="4683404" y="24929"/>
            <a:chExt cx="4387850" cy="499618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5905" y="1348800"/>
              <a:ext cx="3316543" cy="36624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3404" y="24929"/>
              <a:ext cx="4387507" cy="12558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54649" y="1333875"/>
              <a:ext cx="2991485" cy="3677920"/>
            </a:xfrm>
            <a:custGeom>
              <a:avLst/>
              <a:gdLst/>
              <a:ahLst/>
              <a:cxnLst/>
              <a:rect l="l" t="t" r="r" b="b"/>
              <a:pathLst>
                <a:path w="2991484" h="3677920">
                  <a:moveTo>
                    <a:pt x="20224" y="0"/>
                  </a:moveTo>
                  <a:lnTo>
                    <a:pt x="2172724" y="0"/>
                  </a:lnTo>
                  <a:lnTo>
                    <a:pt x="2172724" y="212099"/>
                  </a:lnTo>
                  <a:lnTo>
                    <a:pt x="20224" y="212099"/>
                  </a:lnTo>
                  <a:lnTo>
                    <a:pt x="20224" y="0"/>
                  </a:lnTo>
                  <a:close/>
                </a:path>
                <a:path w="2991484" h="3677920">
                  <a:moveTo>
                    <a:pt x="0" y="2293849"/>
                  </a:moveTo>
                  <a:lnTo>
                    <a:pt x="2990999" y="2293849"/>
                  </a:lnTo>
                  <a:lnTo>
                    <a:pt x="2990999" y="3677449"/>
                  </a:lnTo>
                  <a:lnTo>
                    <a:pt x="0" y="3677449"/>
                  </a:lnTo>
                  <a:lnTo>
                    <a:pt x="0" y="2293849"/>
                  </a:lnTo>
                  <a:close/>
                </a:path>
              </a:pathLst>
            </a:custGeom>
            <a:ln w="19049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C5B0BC3-898A-419E-976B-9C9D3B3499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91</a:t>
            </a:fld>
            <a:endParaRPr 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Other </a:t>
            </a:r>
            <a:r>
              <a:rPr spc="-13" dirty="0"/>
              <a:t>Recommendations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8617" y="1792050"/>
            <a:ext cx="5238327" cy="4154593"/>
            <a:chOff x="456462" y="1344037"/>
            <a:chExt cx="3928745" cy="3115945"/>
          </a:xfrm>
        </p:grpSpPr>
        <p:sp>
          <p:nvSpPr>
            <p:cNvPr id="4" name="object 4"/>
            <p:cNvSpPr/>
            <p:nvPr/>
          </p:nvSpPr>
          <p:spPr>
            <a:xfrm>
              <a:off x="461224" y="1348800"/>
              <a:ext cx="3919220" cy="3106420"/>
            </a:xfrm>
            <a:custGeom>
              <a:avLst/>
              <a:gdLst/>
              <a:ahLst/>
              <a:cxnLst/>
              <a:rect l="l" t="t" r="r" b="b"/>
              <a:pathLst>
                <a:path w="3919220" h="3106420">
                  <a:moveTo>
                    <a:pt x="34011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3401189" y="0"/>
                  </a:lnTo>
                  <a:lnTo>
                    <a:pt x="3452358" y="2533"/>
                  </a:lnTo>
                  <a:lnTo>
                    <a:pt x="3502661" y="10039"/>
                  </a:lnTo>
                  <a:lnTo>
                    <a:pt x="3551757" y="22378"/>
                  </a:lnTo>
                  <a:lnTo>
                    <a:pt x="3599308" y="39408"/>
                  </a:lnTo>
                  <a:lnTo>
                    <a:pt x="3644974" y="60989"/>
                  </a:lnTo>
                  <a:lnTo>
                    <a:pt x="3688415" y="86981"/>
                  </a:lnTo>
                  <a:lnTo>
                    <a:pt x="3729292" y="117243"/>
                  </a:lnTo>
                  <a:lnTo>
                    <a:pt x="3767265" y="151633"/>
                  </a:lnTo>
                  <a:lnTo>
                    <a:pt x="3801656" y="189607"/>
                  </a:lnTo>
                  <a:lnTo>
                    <a:pt x="3831918" y="230484"/>
                  </a:lnTo>
                  <a:lnTo>
                    <a:pt x="3857910" y="273925"/>
                  </a:lnTo>
                  <a:lnTo>
                    <a:pt x="3879491" y="319591"/>
                  </a:lnTo>
                  <a:lnTo>
                    <a:pt x="3896521" y="367141"/>
                  </a:lnTo>
                  <a:lnTo>
                    <a:pt x="3908860" y="416238"/>
                  </a:lnTo>
                  <a:lnTo>
                    <a:pt x="3916366" y="466541"/>
                  </a:lnTo>
                  <a:lnTo>
                    <a:pt x="3918899" y="517710"/>
                  </a:lnTo>
                  <a:lnTo>
                    <a:pt x="3918899" y="2588489"/>
                  </a:lnTo>
                  <a:lnTo>
                    <a:pt x="3916784" y="2635611"/>
                  </a:lnTo>
                  <a:lnTo>
                    <a:pt x="3910558" y="2681548"/>
                  </a:lnTo>
                  <a:lnTo>
                    <a:pt x="3900406" y="2726117"/>
                  </a:lnTo>
                  <a:lnTo>
                    <a:pt x="3886510" y="2769135"/>
                  </a:lnTo>
                  <a:lnTo>
                    <a:pt x="3869053" y="2810419"/>
                  </a:lnTo>
                  <a:lnTo>
                    <a:pt x="3848217" y="2849787"/>
                  </a:lnTo>
                  <a:lnTo>
                    <a:pt x="3824185" y="2887056"/>
                  </a:lnTo>
                  <a:lnTo>
                    <a:pt x="3797140" y="2922043"/>
                  </a:lnTo>
                  <a:lnTo>
                    <a:pt x="3767266" y="2954566"/>
                  </a:lnTo>
                  <a:lnTo>
                    <a:pt x="3734743" y="2984441"/>
                  </a:lnTo>
                  <a:lnTo>
                    <a:pt x="3699756" y="3011485"/>
                  </a:lnTo>
                  <a:lnTo>
                    <a:pt x="3662487" y="3035517"/>
                  </a:lnTo>
                  <a:lnTo>
                    <a:pt x="3623119" y="3056353"/>
                  </a:lnTo>
                  <a:lnTo>
                    <a:pt x="3581835" y="3073810"/>
                  </a:lnTo>
                  <a:lnTo>
                    <a:pt x="3538817" y="3087706"/>
                  </a:lnTo>
                  <a:lnTo>
                    <a:pt x="3494248" y="3097858"/>
                  </a:lnTo>
                  <a:lnTo>
                    <a:pt x="3448311" y="3104084"/>
                  </a:lnTo>
                  <a:lnTo>
                    <a:pt x="34011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1224" y="1348800"/>
              <a:ext cx="3919220" cy="3106420"/>
            </a:xfrm>
            <a:custGeom>
              <a:avLst/>
              <a:gdLst/>
              <a:ahLst/>
              <a:cxnLst/>
              <a:rect l="l" t="t" r="r" b="b"/>
              <a:pathLst>
                <a:path w="3919220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3401189" y="0"/>
                  </a:lnTo>
                  <a:lnTo>
                    <a:pt x="3452358" y="2533"/>
                  </a:lnTo>
                  <a:lnTo>
                    <a:pt x="3502661" y="10039"/>
                  </a:lnTo>
                  <a:lnTo>
                    <a:pt x="3551757" y="22378"/>
                  </a:lnTo>
                  <a:lnTo>
                    <a:pt x="3599308" y="39408"/>
                  </a:lnTo>
                  <a:lnTo>
                    <a:pt x="3644974" y="60989"/>
                  </a:lnTo>
                  <a:lnTo>
                    <a:pt x="3688415" y="86981"/>
                  </a:lnTo>
                  <a:lnTo>
                    <a:pt x="3729292" y="117243"/>
                  </a:lnTo>
                  <a:lnTo>
                    <a:pt x="3767265" y="151633"/>
                  </a:lnTo>
                  <a:lnTo>
                    <a:pt x="3801656" y="189607"/>
                  </a:lnTo>
                  <a:lnTo>
                    <a:pt x="3831918" y="230484"/>
                  </a:lnTo>
                  <a:lnTo>
                    <a:pt x="3857910" y="273925"/>
                  </a:lnTo>
                  <a:lnTo>
                    <a:pt x="3879491" y="319591"/>
                  </a:lnTo>
                  <a:lnTo>
                    <a:pt x="3896521" y="367141"/>
                  </a:lnTo>
                  <a:lnTo>
                    <a:pt x="3908860" y="416238"/>
                  </a:lnTo>
                  <a:lnTo>
                    <a:pt x="3916366" y="466541"/>
                  </a:lnTo>
                  <a:lnTo>
                    <a:pt x="3918899" y="517710"/>
                  </a:lnTo>
                  <a:lnTo>
                    <a:pt x="3918899" y="2588489"/>
                  </a:lnTo>
                  <a:lnTo>
                    <a:pt x="3916784" y="2635611"/>
                  </a:lnTo>
                  <a:lnTo>
                    <a:pt x="3910558" y="2681548"/>
                  </a:lnTo>
                  <a:lnTo>
                    <a:pt x="3900406" y="2726117"/>
                  </a:lnTo>
                  <a:lnTo>
                    <a:pt x="3886510" y="2769135"/>
                  </a:lnTo>
                  <a:lnTo>
                    <a:pt x="3869053" y="2810419"/>
                  </a:lnTo>
                  <a:lnTo>
                    <a:pt x="3848217" y="2849787"/>
                  </a:lnTo>
                  <a:lnTo>
                    <a:pt x="3824185" y="2887056"/>
                  </a:lnTo>
                  <a:lnTo>
                    <a:pt x="3797141" y="2922043"/>
                  </a:lnTo>
                  <a:lnTo>
                    <a:pt x="3767266" y="2954566"/>
                  </a:lnTo>
                  <a:lnTo>
                    <a:pt x="3734743" y="2984441"/>
                  </a:lnTo>
                  <a:lnTo>
                    <a:pt x="3699756" y="3011485"/>
                  </a:lnTo>
                  <a:lnTo>
                    <a:pt x="3662487" y="3035517"/>
                  </a:lnTo>
                  <a:lnTo>
                    <a:pt x="3623119" y="3056353"/>
                  </a:lnTo>
                  <a:lnTo>
                    <a:pt x="3581835" y="3073810"/>
                  </a:lnTo>
                  <a:lnTo>
                    <a:pt x="3538817" y="3087706"/>
                  </a:lnTo>
                  <a:lnTo>
                    <a:pt x="3494248" y="3097858"/>
                  </a:lnTo>
                  <a:lnTo>
                    <a:pt x="3448311" y="3104084"/>
                  </a:lnTo>
                  <a:lnTo>
                    <a:pt x="34011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0824" y="170910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35042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0824" y="170910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0824" y="257175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35042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0824" y="2571750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4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2699" y="3359399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70">
                  <a:moveTo>
                    <a:pt x="3504247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3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2699" y="3359399"/>
              <a:ext cx="3599815" cy="572770"/>
            </a:xfrm>
            <a:custGeom>
              <a:avLst/>
              <a:gdLst/>
              <a:ahLst/>
              <a:cxnLst/>
              <a:rect l="l" t="t" r="r" b="b"/>
              <a:pathLst>
                <a:path w="359981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3504247" y="0"/>
                  </a:lnTo>
                  <a:lnTo>
                    <a:pt x="3557205" y="16037"/>
                  </a:lnTo>
                  <a:lnTo>
                    <a:pt x="3592434" y="58923"/>
                  </a:lnTo>
                  <a:lnTo>
                    <a:pt x="3599699" y="95451"/>
                  </a:lnTo>
                  <a:lnTo>
                    <a:pt x="3599699" y="477247"/>
                  </a:lnTo>
                  <a:lnTo>
                    <a:pt x="3592198" y="514402"/>
                  </a:lnTo>
                  <a:lnTo>
                    <a:pt x="3571742" y="544742"/>
                  </a:lnTo>
                  <a:lnTo>
                    <a:pt x="3541402" y="565198"/>
                  </a:lnTo>
                  <a:lnTo>
                    <a:pt x="3504247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2409" y="2263176"/>
            <a:ext cx="4286673" cy="2988746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Datasheets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datasets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(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Gebru</a:t>
            </a:r>
            <a:r>
              <a:rPr sz="24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al.,</a:t>
            </a:r>
            <a:r>
              <a:rPr sz="2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2018</a:t>
            </a:r>
            <a:r>
              <a:rPr sz="2400" spc="-27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33"/>
              </a:spcBef>
            </a:pPr>
            <a:endParaRPr sz="2800">
              <a:latin typeface="Arial"/>
              <a:cs typeface="Arial"/>
            </a:endParaRPr>
          </a:p>
          <a:p>
            <a:pPr marL="16933" marR="582492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Data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Bender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spc="-6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&amp;</a:t>
            </a:r>
            <a:r>
              <a:rPr sz="2400" spc="-67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Friedman,</a:t>
            </a:r>
            <a:r>
              <a:rPr sz="24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2018</a:t>
            </a:r>
            <a:r>
              <a:rPr sz="2400" spc="-13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133">
              <a:latin typeface="Arial"/>
              <a:cs typeface="Arial"/>
            </a:endParaRPr>
          </a:p>
          <a:p>
            <a:pPr marL="99058" marR="469042">
              <a:lnSpc>
                <a:spcPct val="100699"/>
              </a:lnSpc>
              <a:spcBef>
                <a:spcPts val="7"/>
              </a:spcBef>
            </a:pPr>
            <a:r>
              <a:rPr sz="2400" dirty="0">
                <a:latin typeface="Arial"/>
                <a:cs typeface="Arial"/>
              </a:rPr>
              <a:t>Model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cards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Mitchell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et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al.,</a:t>
            </a:r>
            <a:r>
              <a:rPr sz="2400" spc="-27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2018</a:t>
            </a:r>
            <a:r>
              <a:rPr sz="2400" spc="-13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09867" y="652778"/>
            <a:ext cx="6433820" cy="5447453"/>
            <a:chOff x="4282400" y="489583"/>
            <a:chExt cx="4825365" cy="408559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2400" y="489583"/>
              <a:ext cx="4824800" cy="92956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7550" y="1495350"/>
              <a:ext cx="4234509" cy="307964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567500" y="1515775"/>
              <a:ext cx="4244975" cy="2061845"/>
            </a:xfrm>
            <a:custGeom>
              <a:avLst/>
              <a:gdLst/>
              <a:ahLst/>
              <a:cxnLst/>
              <a:rect l="l" t="t" r="r" b="b"/>
              <a:pathLst>
                <a:path w="4244975" h="2061845">
                  <a:moveTo>
                    <a:pt x="10124" y="0"/>
                  </a:moveTo>
                  <a:lnTo>
                    <a:pt x="4244624" y="0"/>
                  </a:lnTo>
                  <a:lnTo>
                    <a:pt x="4244624" y="1000499"/>
                  </a:lnTo>
                  <a:lnTo>
                    <a:pt x="10124" y="1000499"/>
                  </a:lnTo>
                  <a:lnTo>
                    <a:pt x="10124" y="0"/>
                  </a:lnTo>
                  <a:close/>
                </a:path>
                <a:path w="4244975" h="2061845">
                  <a:moveTo>
                    <a:pt x="0" y="1061024"/>
                  </a:moveTo>
                  <a:lnTo>
                    <a:pt x="4234499" y="1061024"/>
                  </a:lnTo>
                  <a:lnTo>
                    <a:pt x="4234499" y="2061524"/>
                  </a:lnTo>
                  <a:lnTo>
                    <a:pt x="0" y="2061524"/>
                  </a:lnTo>
                  <a:lnTo>
                    <a:pt x="0" y="1061024"/>
                  </a:lnTo>
                  <a:close/>
                </a:path>
              </a:pathLst>
            </a:custGeom>
            <a:ln w="952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92766" y="6327974"/>
            <a:ext cx="790194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193"/>
              </a:lnSpc>
            </a:pPr>
            <a:r>
              <a:rPr sz="1867" dirty="0">
                <a:latin typeface="Arial"/>
                <a:cs typeface="Arial"/>
              </a:rPr>
              <a:t>Dataset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life cycle:</a:t>
            </a:r>
            <a:r>
              <a:rPr sz="1867" spc="27" dirty="0">
                <a:latin typeface="Arial"/>
                <a:cs typeface="Arial"/>
              </a:rPr>
              <a:t> </a:t>
            </a:r>
            <a:r>
              <a:rPr sz="1867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https://stanford-cs324.github.io/winter2022/lectures/data/</a:t>
            </a:r>
            <a:endParaRPr sz="1867">
              <a:latin typeface="Arial"/>
              <a:cs typeface="Arial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C5CB1B6-4EAA-43F9-9F77-601B7763CF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92</a:t>
            </a:fld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Limitations</a:t>
            </a:r>
            <a:r>
              <a:rPr spc="7" dirty="0"/>
              <a:t> </a:t>
            </a:r>
            <a:r>
              <a:rPr dirty="0"/>
              <a:t>of</a:t>
            </a:r>
            <a:r>
              <a:rPr spc="7" dirty="0"/>
              <a:t> </a:t>
            </a:r>
            <a:r>
              <a:rPr dirty="0"/>
              <a:t>the</a:t>
            </a:r>
            <a:r>
              <a:rPr spc="7" dirty="0"/>
              <a:t> </a:t>
            </a:r>
            <a:r>
              <a:rPr dirty="0"/>
              <a:t>paper’s</a:t>
            </a:r>
            <a:r>
              <a:rPr spc="13" dirty="0"/>
              <a:t> </a:t>
            </a:r>
            <a:r>
              <a:rPr spc="-13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94649" y="2284550"/>
            <a:ext cx="10203179" cy="3392593"/>
            <a:chOff x="745987" y="1713412"/>
            <a:chExt cx="7652384" cy="2544445"/>
          </a:xfrm>
        </p:grpSpPr>
        <p:sp>
          <p:nvSpPr>
            <p:cNvPr id="4" name="object 4"/>
            <p:cNvSpPr/>
            <p:nvPr/>
          </p:nvSpPr>
          <p:spPr>
            <a:xfrm>
              <a:off x="750750" y="1718174"/>
              <a:ext cx="7642859" cy="2534920"/>
            </a:xfrm>
            <a:custGeom>
              <a:avLst/>
              <a:gdLst/>
              <a:ahLst/>
              <a:cxnLst/>
              <a:rect l="l" t="t" r="r" b="b"/>
              <a:pathLst>
                <a:path w="7642859" h="2534920">
                  <a:moveTo>
                    <a:pt x="7220041" y="2534699"/>
                  </a:moveTo>
                  <a:lnTo>
                    <a:pt x="422458" y="2534699"/>
                  </a:lnTo>
                  <a:lnTo>
                    <a:pt x="373190" y="2531857"/>
                  </a:lnTo>
                  <a:lnTo>
                    <a:pt x="325592" y="2523542"/>
                  </a:lnTo>
                  <a:lnTo>
                    <a:pt x="279980" y="2510071"/>
                  </a:lnTo>
                  <a:lnTo>
                    <a:pt x="236671" y="2491760"/>
                  </a:lnTo>
                  <a:lnTo>
                    <a:pt x="195983" y="2468928"/>
                  </a:lnTo>
                  <a:lnTo>
                    <a:pt x="158232" y="2441890"/>
                  </a:lnTo>
                  <a:lnTo>
                    <a:pt x="123735" y="2410964"/>
                  </a:lnTo>
                  <a:lnTo>
                    <a:pt x="92809" y="2376467"/>
                  </a:lnTo>
                  <a:lnTo>
                    <a:pt x="65771" y="2338716"/>
                  </a:lnTo>
                  <a:lnTo>
                    <a:pt x="42939" y="2298028"/>
                  </a:lnTo>
                  <a:lnTo>
                    <a:pt x="24628" y="2254719"/>
                  </a:lnTo>
                  <a:lnTo>
                    <a:pt x="11157" y="2209107"/>
                  </a:lnTo>
                  <a:lnTo>
                    <a:pt x="2842" y="2161509"/>
                  </a:lnTo>
                  <a:lnTo>
                    <a:pt x="0" y="2112241"/>
                  </a:lnTo>
                  <a:lnTo>
                    <a:pt x="0" y="422458"/>
                  </a:lnTo>
                  <a:lnTo>
                    <a:pt x="2842" y="373190"/>
                  </a:lnTo>
                  <a:lnTo>
                    <a:pt x="11157" y="325592"/>
                  </a:lnTo>
                  <a:lnTo>
                    <a:pt x="24628" y="279980"/>
                  </a:lnTo>
                  <a:lnTo>
                    <a:pt x="42939" y="236671"/>
                  </a:lnTo>
                  <a:lnTo>
                    <a:pt x="65771" y="195983"/>
                  </a:lnTo>
                  <a:lnTo>
                    <a:pt x="92809" y="158232"/>
                  </a:lnTo>
                  <a:lnTo>
                    <a:pt x="123735" y="123735"/>
                  </a:lnTo>
                  <a:lnTo>
                    <a:pt x="158232" y="92809"/>
                  </a:lnTo>
                  <a:lnTo>
                    <a:pt x="195983" y="65771"/>
                  </a:lnTo>
                  <a:lnTo>
                    <a:pt x="236671" y="42939"/>
                  </a:lnTo>
                  <a:lnTo>
                    <a:pt x="279980" y="24628"/>
                  </a:lnTo>
                  <a:lnTo>
                    <a:pt x="325592" y="11157"/>
                  </a:lnTo>
                  <a:lnTo>
                    <a:pt x="373190" y="2842"/>
                  </a:lnTo>
                  <a:lnTo>
                    <a:pt x="422458" y="0"/>
                  </a:lnTo>
                  <a:lnTo>
                    <a:pt x="7220041" y="0"/>
                  </a:lnTo>
                  <a:lnTo>
                    <a:pt x="7267710" y="2696"/>
                  </a:lnTo>
                  <a:lnTo>
                    <a:pt x="7314403" y="10671"/>
                  </a:lnTo>
                  <a:lnTo>
                    <a:pt x="7359707" y="23754"/>
                  </a:lnTo>
                  <a:lnTo>
                    <a:pt x="7403209" y="41773"/>
                  </a:lnTo>
                  <a:lnTo>
                    <a:pt x="7444494" y="64557"/>
                  </a:lnTo>
                  <a:lnTo>
                    <a:pt x="7483151" y="91935"/>
                  </a:lnTo>
                  <a:lnTo>
                    <a:pt x="7518764" y="123735"/>
                  </a:lnTo>
                  <a:lnTo>
                    <a:pt x="7550565" y="159348"/>
                  </a:lnTo>
                  <a:lnTo>
                    <a:pt x="7577942" y="198005"/>
                  </a:lnTo>
                  <a:lnTo>
                    <a:pt x="7600726" y="239290"/>
                  </a:lnTo>
                  <a:lnTo>
                    <a:pt x="7618745" y="282792"/>
                  </a:lnTo>
                  <a:lnTo>
                    <a:pt x="7631828" y="328096"/>
                  </a:lnTo>
                  <a:lnTo>
                    <a:pt x="7639803" y="374789"/>
                  </a:lnTo>
                  <a:lnTo>
                    <a:pt x="7642499" y="422458"/>
                  </a:lnTo>
                  <a:lnTo>
                    <a:pt x="7642499" y="2112241"/>
                  </a:lnTo>
                  <a:lnTo>
                    <a:pt x="7639657" y="2161509"/>
                  </a:lnTo>
                  <a:lnTo>
                    <a:pt x="7631342" y="2209107"/>
                  </a:lnTo>
                  <a:lnTo>
                    <a:pt x="7617871" y="2254719"/>
                  </a:lnTo>
                  <a:lnTo>
                    <a:pt x="7599560" y="2298028"/>
                  </a:lnTo>
                  <a:lnTo>
                    <a:pt x="7576728" y="2338716"/>
                  </a:lnTo>
                  <a:lnTo>
                    <a:pt x="7549690" y="2376467"/>
                  </a:lnTo>
                  <a:lnTo>
                    <a:pt x="7518764" y="2410964"/>
                  </a:lnTo>
                  <a:lnTo>
                    <a:pt x="7484267" y="2441890"/>
                  </a:lnTo>
                  <a:lnTo>
                    <a:pt x="7446516" y="2468928"/>
                  </a:lnTo>
                  <a:lnTo>
                    <a:pt x="7405827" y="2491760"/>
                  </a:lnTo>
                  <a:lnTo>
                    <a:pt x="7362519" y="2510071"/>
                  </a:lnTo>
                  <a:lnTo>
                    <a:pt x="7316907" y="2523542"/>
                  </a:lnTo>
                  <a:lnTo>
                    <a:pt x="7269308" y="2531857"/>
                  </a:lnTo>
                  <a:lnTo>
                    <a:pt x="7220041" y="2534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750" y="1718174"/>
              <a:ext cx="7642859" cy="2534920"/>
            </a:xfrm>
            <a:custGeom>
              <a:avLst/>
              <a:gdLst/>
              <a:ahLst/>
              <a:cxnLst/>
              <a:rect l="l" t="t" r="r" b="b"/>
              <a:pathLst>
                <a:path w="7642859" h="2534920">
                  <a:moveTo>
                    <a:pt x="0" y="422458"/>
                  </a:moveTo>
                  <a:lnTo>
                    <a:pt x="2842" y="373190"/>
                  </a:lnTo>
                  <a:lnTo>
                    <a:pt x="11157" y="325592"/>
                  </a:lnTo>
                  <a:lnTo>
                    <a:pt x="24628" y="279980"/>
                  </a:lnTo>
                  <a:lnTo>
                    <a:pt x="42939" y="236671"/>
                  </a:lnTo>
                  <a:lnTo>
                    <a:pt x="65771" y="195983"/>
                  </a:lnTo>
                  <a:lnTo>
                    <a:pt x="92809" y="158232"/>
                  </a:lnTo>
                  <a:lnTo>
                    <a:pt x="123735" y="123735"/>
                  </a:lnTo>
                  <a:lnTo>
                    <a:pt x="158232" y="92809"/>
                  </a:lnTo>
                  <a:lnTo>
                    <a:pt x="195983" y="65771"/>
                  </a:lnTo>
                  <a:lnTo>
                    <a:pt x="236671" y="42939"/>
                  </a:lnTo>
                  <a:lnTo>
                    <a:pt x="279980" y="24628"/>
                  </a:lnTo>
                  <a:lnTo>
                    <a:pt x="325592" y="11157"/>
                  </a:lnTo>
                  <a:lnTo>
                    <a:pt x="373190" y="2842"/>
                  </a:lnTo>
                  <a:lnTo>
                    <a:pt x="422458" y="0"/>
                  </a:lnTo>
                  <a:lnTo>
                    <a:pt x="7220041" y="0"/>
                  </a:lnTo>
                  <a:lnTo>
                    <a:pt x="7267710" y="2696"/>
                  </a:lnTo>
                  <a:lnTo>
                    <a:pt x="7314403" y="10671"/>
                  </a:lnTo>
                  <a:lnTo>
                    <a:pt x="7359707" y="23754"/>
                  </a:lnTo>
                  <a:lnTo>
                    <a:pt x="7403209" y="41773"/>
                  </a:lnTo>
                  <a:lnTo>
                    <a:pt x="7444494" y="64557"/>
                  </a:lnTo>
                  <a:lnTo>
                    <a:pt x="7483151" y="91935"/>
                  </a:lnTo>
                  <a:lnTo>
                    <a:pt x="7518764" y="123735"/>
                  </a:lnTo>
                  <a:lnTo>
                    <a:pt x="7550565" y="159348"/>
                  </a:lnTo>
                  <a:lnTo>
                    <a:pt x="7577942" y="198005"/>
                  </a:lnTo>
                  <a:lnTo>
                    <a:pt x="7600726" y="239290"/>
                  </a:lnTo>
                  <a:lnTo>
                    <a:pt x="7618745" y="282792"/>
                  </a:lnTo>
                  <a:lnTo>
                    <a:pt x="7631828" y="328096"/>
                  </a:lnTo>
                  <a:lnTo>
                    <a:pt x="7639803" y="374789"/>
                  </a:lnTo>
                  <a:lnTo>
                    <a:pt x="7642499" y="422458"/>
                  </a:lnTo>
                  <a:lnTo>
                    <a:pt x="7642499" y="2112241"/>
                  </a:lnTo>
                  <a:lnTo>
                    <a:pt x="7639657" y="2161509"/>
                  </a:lnTo>
                  <a:lnTo>
                    <a:pt x="7631342" y="2209107"/>
                  </a:lnTo>
                  <a:lnTo>
                    <a:pt x="7617871" y="2254719"/>
                  </a:lnTo>
                  <a:lnTo>
                    <a:pt x="7599560" y="2298028"/>
                  </a:lnTo>
                  <a:lnTo>
                    <a:pt x="7576728" y="2338716"/>
                  </a:lnTo>
                  <a:lnTo>
                    <a:pt x="7549690" y="2376467"/>
                  </a:lnTo>
                  <a:lnTo>
                    <a:pt x="7518764" y="2410964"/>
                  </a:lnTo>
                  <a:lnTo>
                    <a:pt x="7484267" y="2441890"/>
                  </a:lnTo>
                  <a:lnTo>
                    <a:pt x="7446516" y="2468928"/>
                  </a:lnTo>
                  <a:lnTo>
                    <a:pt x="7405827" y="2491760"/>
                  </a:lnTo>
                  <a:lnTo>
                    <a:pt x="7362519" y="2510071"/>
                  </a:lnTo>
                  <a:lnTo>
                    <a:pt x="7316907" y="2523542"/>
                  </a:lnTo>
                  <a:lnTo>
                    <a:pt x="7269308" y="2531857"/>
                  </a:lnTo>
                  <a:lnTo>
                    <a:pt x="7220041" y="2534699"/>
                  </a:lnTo>
                  <a:lnTo>
                    <a:pt x="422458" y="2534699"/>
                  </a:lnTo>
                  <a:lnTo>
                    <a:pt x="373190" y="2531857"/>
                  </a:lnTo>
                  <a:lnTo>
                    <a:pt x="325592" y="2523542"/>
                  </a:lnTo>
                  <a:lnTo>
                    <a:pt x="279980" y="2510071"/>
                  </a:lnTo>
                  <a:lnTo>
                    <a:pt x="236671" y="2491760"/>
                  </a:lnTo>
                  <a:lnTo>
                    <a:pt x="195983" y="2468928"/>
                  </a:lnTo>
                  <a:lnTo>
                    <a:pt x="158232" y="2441890"/>
                  </a:lnTo>
                  <a:lnTo>
                    <a:pt x="123735" y="2410964"/>
                  </a:lnTo>
                  <a:lnTo>
                    <a:pt x="92809" y="2376467"/>
                  </a:lnTo>
                  <a:lnTo>
                    <a:pt x="65771" y="2338716"/>
                  </a:lnTo>
                  <a:lnTo>
                    <a:pt x="42939" y="2298028"/>
                  </a:lnTo>
                  <a:lnTo>
                    <a:pt x="24628" y="2254719"/>
                  </a:lnTo>
                  <a:lnTo>
                    <a:pt x="11157" y="2209107"/>
                  </a:lnTo>
                  <a:lnTo>
                    <a:pt x="2842" y="2161509"/>
                  </a:lnTo>
                  <a:lnTo>
                    <a:pt x="0" y="2112241"/>
                  </a:lnTo>
                  <a:lnTo>
                    <a:pt x="0" y="42245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91549" y="2154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6843447" y="704699"/>
                  </a:moveTo>
                  <a:lnTo>
                    <a:pt x="117452" y="704699"/>
                  </a:lnTo>
                  <a:lnTo>
                    <a:pt x="71734" y="695469"/>
                  </a:lnTo>
                  <a:lnTo>
                    <a:pt x="34401" y="670298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69" y="632965"/>
                  </a:lnTo>
                  <a:lnTo>
                    <a:pt x="6926499" y="670298"/>
                  </a:lnTo>
                  <a:lnTo>
                    <a:pt x="6889165" y="695469"/>
                  </a:lnTo>
                  <a:lnTo>
                    <a:pt x="6843447" y="704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1550" y="2154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0" y="117452"/>
                  </a:move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70" y="632965"/>
                  </a:lnTo>
                  <a:lnTo>
                    <a:pt x="6926499" y="670298"/>
                  </a:lnTo>
                  <a:lnTo>
                    <a:pt x="6889165" y="695470"/>
                  </a:lnTo>
                  <a:lnTo>
                    <a:pt x="6843447" y="704699"/>
                  </a:lnTo>
                  <a:lnTo>
                    <a:pt x="117452" y="704699"/>
                  </a:lnTo>
                  <a:lnTo>
                    <a:pt x="71734" y="695470"/>
                  </a:lnTo>
                  <a:lnTo>
                    <a:pt x="34401" y="670298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1549" y="3100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6843447" y="704699"/>
                  </a:moveTo>
                  <a:lnTo>
                    <a:pt x="117452" y="704699"/>
                  </a:lnTo>
                  <a:lnTo>
                    <a:pt x="71734" y="695470"/>
                  </a:lnTo>
                  <a:lnTo>
                    <a:pt x="34401" y="670299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69" y="632965"/>
                  </a:lnTo>
                  <a:lnTo>
                    <a:pt x="6926499" y="670299"/>
                  </a:lnTo>
                  <a:lnTo>
                    <a:pt x="6889165" y="695470"/>
                  </a:lnTo>
                  <a:lnTo>
                    <a:pt x="6843447" y="704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1550" y="3100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0" y="117452"/>
                  </a:move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70" y="632965"/>
                  </a:lnTo>
                  <a:lnTo>
                    <a:pt x="6926499" y="670299"/>
                  </a:lnTo>
                  <a:lnTo>
                    <a:pt x="6889165" y="695470"/>
                  </a:lnTo>
                  <a:lnTo>
                    <a:pt x="6843447" y="704699"/>
                  </a:lnTo>
                  <a:lnTo>
                    <a:pt x="117452" y="704699"/>
                  </a:lnTo>
                  <a:lnTo>
                    <a:pt x="71734" y="695470"/>
                  </a:lnTo>
                  <a:lnTo>
                    <a:pt x="34401" y="670299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98633" y="3129757"/>
            <a:ext cx="8299027" cy="18740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Only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examined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some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issues: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location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report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issues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6933">
              <a:spcBef>
                <a:spcPts val="7"/>
              </a:spcBef>
            </a:pPr>
            <a:r>
              <a:rPr sz="2400" b="1" spc="-13" dirty="0">
                <a:latin typeface="Arial"/>
                <a:cs typeface="Arial"/>
              </a:rPr>
              <a:t>Tools</a:t>
            </a:r>
            <a:r>
              <a:rPr sz="2400" b="1" spc="-7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used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work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disproportionately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well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English: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sz="2400" dirty="0">
                <a:latin typeface="Arial"/>
                <a:cs typeface="Arial"/>
              </a:rPr>
              <a:t>generalization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languages?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63B49E4-BB98-443D-93F0-30E9848EA1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93</a:t>
            </a:fld>
            <a:endParaRPr 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Limitations</a:t>
            </a:r>
            <a:r>
              <a:rPr spc="7" dirty="0"/>
              <a:t> </a:t>
            </a:r>
            <a:r>
              <a:rPr dirty="0"/>
              <a:t>of</a:t>
            </a:r>
            <a:r>
              <a:rPr spc="7" dirty="0"/>
              <a:t> </a:t>
            </a:r>
            <a:r>
              <a:rPr dirty="0"/>
              <a:t>the</a:t>
            </a:r>
            <a:r>
              <a:rPr spc="7" dirty="0"/>
              <a:t> </a:t>
            </a:r>
            <a:r>
              <a:rPr dirty="0"/>
              <a:t>paper’s</a:t>
            </a:r>
            <a:r>
              <a:rPr spc="13" dirty="0"/>
              <a:t> </a:t>
            </a:r>
            <a:r>
              <a:rPr spc="-13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94649" y="2284550"/>
            <a:ext cx="10203179" cy="3392593"/>
            <a:chOff x="745987" y="1713412"/>
            <a:chExt cx="7652384" cy="2544445"/>
          </a:xfrm>
        </p:grpSpPr>
        <p:sp>
          <p:nvSpPr>
            <p:cNvPr id="4" name="object 4"/>
            <p:cNvSpPr/>
            <p:nvPr/>
          </p:nvSpPr>
          <p:spPr>
            <a:xfrm>
              <a:off x="750750" y="1718174"/>
              <a:ext cx="7642859" cy="2534920"/>
            </a:xfrm>
            <a:custGeom>
              <a:avLst/>
              <a:gdLst/>
              <a:ahLst/>
              <a:cxnLst/>
              <a:rect l="l" t="t" r="r" b="b"/>
              <a:pathLst>
                <a:path w="7642859" h="2534920">
                  <a:moveTo>
                    <a:pt x="7220041" y="2534699"/>
                  </a:moveTo>
                  <a:lnTo>
                    <a:pt x="422458" y="2534699"/>
                  </a:lnTo>
                  <a:lnTo>
                    <a:pt x="373190" y="2531857"/>
                  </a:lnTo>
                  <a:lnTo>
                    <a:pt x="325592" y="2523542"/>
                  </a:lnTo>
                  <a:lnTo>
                    <a:pt x="279980" y="2510071"/>
                  </a:lnTo>
                  <a:lnTo>
                    <a:pt x="236671" y="2491760"/>
                  </a:lnTo>
                  <a:lnTo>
                    <a:pt x="195983" y="2468928"/>
                  </a:lnTo>
                  <a:lnTo>
                    <a:pt x="158232" y="2441890"/>
                  </a:lnTo>
                  <a:lnTo>
                    <a:pt x="123735" y="2410964"/>
                  </a:lnTo>
                  <a:lnTo>
                    <a:pt x="92809" y="2376467"/>
                  </a:lnTo>
                  <a:lnTo>
                    <a:pt x="65771" y="2338716"/>
                  </a:lnTo>
                  <a:lnTo>
                    <a:pt x="42939" y="2298028"/>
                  </a:lnTo>
                  <a:lnTo>
                    <a:pt x="24628" y="2254719"/>
                  </a:lnTo>
                  <a:lnTo>
                    <a:pt x="11157" y="2209107"/>
                  </a:lnTo>
                  <a:lnTo>
                    <a:pt x="2842" y="2161509"/>
                  </a:lnTo>
                  <a:lnTo>
                    <a:pt x="0" y="2112241"/>
                  </a:lnTo>
                  <a:lnTo>
                    <a:pt x="0" y="422458"/>
                  </a:lnTo>
                  <a:lnTo>
                    <a:pt x="2842" y="373190"/>
                  </a:lnTo>
                  <a:lnTo>
                    <a:pt x="11157" y="325592"/>
                  </a:lnTo>
                  <a:lnTo>
                    <a:pt x="24628" y="279980"/>
                  </a:lnTo>
                  <a:lnTo>
                    <a:pt x="42939" y="236671"/>
                  </a:lnTo>
                  <a:lnTo>
                    <a:pt x="65771" y="195983"/>
                  </a:lnTo>
                  <a:lnTo>
                    <a:pt x="92809" y="158232"/>
                  </a:lnTo>
                  <a:lnTo>
                    <a:pt x="123735" y="123735"/>
                  </a:lnTo>
                  <a:lnTo>
                    <a:pt x="158232" y="92809"/>
                  </a:lnTo>
                  <a:lnTo>
                    <a:pt x="195983" y="65771"/>
                  </a:lnTo>
                  <a:lnTo>
                    <a:pt x="236671" y="42939"/>
                  </a:lnTo>
                  <a:lnTo>
                    <a:pt x="279980" y="24628"/>
                  </a:lnTo>
                  <a:lnTo>
                    <a:pt x="325592" y="11157"/>
                  </a:lnTo>
                  <a:lnTo>
                    <a:pt x="373190" y="2842"/>
                  </a:lnTo>
                  <a:lnTo>
                    <a:pt x="422458" y="0"/>
                  </a:lnTo>
                  <a:lnTo>
                    <a:pt x="7220041" y="0"/>
                  </a:lnTo>
                  <a:lnTo>
                    <a:pt x="7267710" y="2696"/>
                  </a:lnTo>
                  <a:lnTo>
                    <a:pt x="7314403" y="10671"/>
                  </a:lnTo>
                  <a:lnTo>
                    <a:pt x="7359707" y="23754"/>
                  </a:lnTo>
                  <a:lnTo>
                    <a:pt x="7403209" y="41773"/>
                  </a:lnTo>
                  <a:lnTo>
                    <a:pt x="7444494" y="64557"/>
                  </a:lnTo>
                  <a:lnTo>
                    <a:pt x="7483151" y="91935"/>
                  </a:lnTo>
                  <a:lnTo>
                    <a:pt x="7518764" y="123735"/>
                  </a:lnTo>
                  <a:lnTo>
                    <a:pt x="7550565" y="159348"/>
                  </a:lnTo>
                  <a:lnTo>
                    <a:pt x="7577942" y="198005"/>
                  </a:lnTo>
                  <a:lnTo>
                    <a:pt x="7600726" y="239290"/>
                  </a:lnTo>
                  <a:lnTo>
                    <a:pt x="7618745" y="282792"/>
                  </a:lnTo>
                  <a:lnTo>
                    <a:pt x="7631828" y="328096"/>
                  </a:lnTo>
                  <a:lnTo>
                    <a:pt x="7639803" y="374789"/>
                  </a:lnTo>
                  <a:lnTo>
                    <a:pt x="7642499" y="422458"/>
                  </a:lnTo>
                  <a:lnTo>
                    <a:pt x="7642499" y="2112241"/>
                  </a:lnTo>
                  <a:lnTo>
                    <a:pt x="7639657" y="2161509"/>
                  </a:lnTo>
                  <a:lnTo>
                    <a:pt x="7631342" y="2209107"/>
                  </a:lnTo>
                  <a:lnTo>
                    <a:pt x="7617871" y="2254719"/>
                  </a:lnTo>
                  <a:lnTo>
                    <a:pt x="7599560" y="2298028"/>
                  </a:lnTo>
                  <a:lnTo>
                    <a:pt x="7576728" y="2338716"/>
                  </a:lnTo>
                  <a:lnTo>
                    <a:pt x="7549690" y="2376467"/>
                  </a:lnTo>
                  <a:lnTo>
                    <a:pt x="7518764" y="2410964"/>
                  </a:lnTo>
                  <a:lnTo>
                    <a:pt x="7484267" y="2441890"/>
                  </a:lnTo>
                  <a:lnTo>
                    <a:pt x="7446516" y="2468928"/>
                  </a:lnTo>
                  <a:lnTo>
                    <a:pt x="7405827" y="2491760"/>
                  </a:lnTo>
                  <a:lnTo>
                    <a:pt x="7362519" y="2510071"/>
                  </a:lnTo>
                  <a:lnTo>
                    <a:pt x="7316907" y="2523542"/>
                  </a:lnTo>
                  <a:lnTo>
                    <a:pt x="7269308" y="2531857"/>
                  </a:lnTo>
                  <a:lnTo>
                    <a:pt x="7220041" y="2534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750" y="1718174"/>
              <a:ext cx="7642859" cy="2534920"/>
            </a:xfrm>
            <a:custGeom>
              <a:avLst/>
              <a:gdLst/>
              <a:ahLst/>
              <a:cxnLst/>
              <a:rect l="l" t="t" r="r" b="b"/>
              <a:pathLst>
                <a:path w="7642859" h="2534920">
                  <a:moveTo>
                    <a:pt x="0" y="422458"/>
                  </a:moveTo>
                  <a:lnTo>
                    <a:pt x="2842" y="373190"/>
                  </a:lnTo>
                  <a:lnTo>
                    <a:pt x="11157" y="325592"/>
                  </a:lnTo>
                  <a:lnTo>
                    <a:pt x="24628" y="279980"/>
                  </a:lnTo>
                  <a:lnTo>
                    <a:pt x="42939" y="236671"/>
                  </a:lnTo>
                  <a:lnTo>
                    <a:pt x="65771" y="195983"/>
                  </a:lnTo>
                  <a:lnTo>
                    <a:pt x="92809" y="158232"/>
                  </a:lnTo>
                  <a:lnTo>
                    <a:pt x="123735" y="123735"/>
                  </a:lnTo>
                  <a:lnTo>
                    <a:pt x="158232" y="92809"/>
                  </a:lnTo>
                  <a:lnTo>
                    <a:pt x="195983" y="65771"/>
                  </a:lnTo>
                  <a:lnTo>
                    <a:pt x="236671" y="42939"/>
                  </a:lnTo>
                  <a:lnTo>
                    <a:pt x="279980" y="24628"/>
                  </a:lnTo>
                  <a:lnTo>
                    <a:pt x="325592" y="11157"/>
                  </a:lnTo>
                  <a:lnTo>
                    <a:pt x="373190" y="2842"/>
                  </a:lnTo>
                  <a:lnTo>
                    <a:pt x="422458" y="0"/>
                  </a:lnTo>
                  <a:lnTo>
                    <a:pt x="7220041" y="0"/>
                  </a:lnTo>
                  <a:lnTo>
                    <a:pt x="7267710" y="2696"/>
                  </a:lnTo>
                  <a:lnTo>
                    <a:pt x="7314403" y="10671"/>
                  </a:lnTo>
                  <a:lnTo>
                    <a:pt x="7359707" y="23754"/>
                  </a:lnTo>
                  <a:lnTo>
                    <a:pt x="7403209" y="41773"/>
                  </a:lnTo>
                  <a:lnTo>
                    <a:pt x="7444494" y="64557"/>
                  </a:lnTo>
                  <a:lnTo>
                    <a:pt x="7483151" y="91935"/>
                  </a:lnTo>
                  <a:lnTo>
                    <a:pt x="7518764" y="123735"/>
                  </a:lnTo>
                  <a:lnTo>
                    <a:pt x="7550565" y="159348"/>
                  </a:lnTo>
                  <a:lnTo>
                    <a:pt x="7577942" y="198005"/>
                  </a:lnTo>
                  <a:lnTo>
                    <a:pt x="7600726" y="239290"/>
                  </a:lnTo>
                  <a:lnTo>
                    <a:pt x="7618745" y="282792"/>
                  </a:lnTo>
                  <a:lnTo>
                    <a:pt x="7631828" y="328096"/>
                  </a:lnTo>
                  <a:lnTo>
                    <a:pt x="7639803" y="374789"/>
                  </a:lnTo>
                  <a:lnTo>
                    <a:pt x="7642499" y="422458"/>
                  </a:lnTo>
                  <a:lnTo>
                    <a:pt x="7642499" y="2112241"/>
                  </a:lnTo>
                  <a:lnTo>
                    <a:pt x="7639657" y="2161509"/>
                  </a:lnTo>
                  <a:lnTo>
                    <a:pt x="7631342" y="2209107"/>
                  </a:lnTo>
                  <a:lnTo>
                    <a:pt x="7617871" y="2254719"/>
                  </a:lnTo>
                  <a:lnTo>
                    <a:pt x="7599560" y="2298028"/>
                  </a:lnTo>
                  <a:lnTo>
                    <a:pt x="7576728" y="2338716"/>
                  </a:lnTo>
                  <a:lnTo>
                    <a:pt x="7549690" y="2376467"/>
                  </a:lnTo>
                  <a:lnTo>
                    <a:pt x="7518764" y="2410964"/>
                  </a:lnTo>
                  <a:lnTo>
                    <a:pt x="7484267" y="2441890"/>
                  </a:lnTo>
                  <a:lnTo>
                    <a:pt x="7446516" y="2468928"/>
                  </a:lnTo>
                  <a:lnTo>
                    <a:pt x="7405827" y="2491760"/>
                  </a:lnTo>
                  <a:lnTo>
                    <a:pt x="7362519" y="2510071"/>
                  </a:lnTo>
                  <a:lnTo>
                    <a:pt x="7316907" y="2523542"/>
                  </a:lnTo>
                  <a:lnTo>
                    <a:pt x="7269308" y="2531857"/>
                  </a:lnTo>
                  <a:lnTo>
                    <a:pt x="7220041" y="2534699"/>
                  </a:lnTo>
                  <a:lnTo>
                    <a:pt x="422458" y="2534699"/>
                  </a:lnTo>
                  <a:lnTo>
                    <a:pt x="373190" y="2531857"/>
                  </a:lnTo>
                  <a:lnTo>
                    <a:pt x="325592" y="2523542"/>
                  </a:lnTo>
                  <a:lnTo>
                    <a:pt x="279980" y="2510071"/>
                  </a:lnTo>
                  <a:lnTo>
                    <a:pt x="236671" y="2491760"/>
                  </a:lnTo>
                  <a:lnTo>
                    <a:pt x="195983" y="2468928"/>
                  </a:lnTo>
                  <a:lnTo>
                    <a:pt x="158232" y="2441890"/>
                  </a:lnTo>
                  <a:lnTo>
                    <a:pt x="123735" y="2410964"/>
                  </a:lnTo>
                  <a:lnTo>
                    <a:pt x="92809" y="2376467"/>
                  </a:lnTo>
                  <a:lnTo>
                    <a:pt x="65771" y="2338716"/>
                  </a:lnTo>
                  <a:lnTo>
                    <a:pt x="42939" y="2298028"/>
                  </a:lnTo>
                  <a:lnTo>
                    <a:pt x="24628" y="2254719"/>
                  </a:lnTo>
                  <a:lnTo>
                    <a:pt x="11157" y="2209107"/>
                  </a:lnTo>
                  <a:lnTo>
                    <a:pt x="2842" y="2161509"/>
                  </a:lnTo>
                  <a:lnTo>
                    <a:pt x="0" y="2112241"/>
                  </a:lnTo>
                  <a:lnTo>
                    <a:pt x="0" y="42245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91549" y="2154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6843447" y="704699"/>
                  </a:moveTo>
                  <a:lnTo>
                    <a:pt x="117452" y="704699"/>
                  </a:lnTo>
                  <a:lnTo>
                    <a:pt x="71734" y="695469"/>
                  </a:lnTo>
                  <a:lnTo>
                    <a:pt x="34401" y="670298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69" y="632965"/>
                  </a:lnTo>
                  <a:lnTo>
                    <a:pt x="6926499" y="670298"/>
                  </a:lnTo>
                  <a:lnTo>
                    <a:pt x="6889165" y="695469"/>
                  </a:lnTo>
                  <a:lnTo>
                    <a:pt x="6843447" y="704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91550" y="2154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0" y="117452"/>
                  </a:move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70" y="632965"/>
                  </a:lnTo>
                  <a:lnTo>
                    <a:pt x="6926499" y="670298"/>
                  </a:lnTo>
                  <a:lnTo>
                    <a:pt x="6889165" y="695470"/>
                  </a:lnTo>
                  <a:lnTo>
                    <a:pt x="6843447" y="704699"/>
                  </a:lnTo>
                  <a:lnTo>
                    <a:pt x="117452" y="704699"/>
                  </a:lnTo>
                  <a:lnTo>
                    <a:pt x="71734" y="695470"/>
                  </a:lnTo>
                  <a:lnTo>
                    <a:pt x="34401" y="670298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91549" y="3100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6843447" y="704699"/>
                  </a:moveTo>
                  <a:lnTo>
                    <a:pt x="117452" y="704699"/>
                  </a:lnTo>
                  <a:lnTo>
                    <a:pt x="71734" y="695470"/>
                  </a:lnTo>
                  <a:lnTo>
                    <a:pt x="34401" y="670299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69" y="632965"/>
                  </a:lnTo>
                  <a:lnTo>
                    <a:pt x="6926499" y="670299"/>
                  </a:lnTo>
                  <a:lnTo>
                    <a:pt x="6889165" y="695470"/>
                  </a:lnTo>
                  <a:lnTo>
                    <a:pt x="6843447" y="704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1550" y="3100924"/>
              <a:ext cx="6961505" cy="704850"/>
            </a:xfrm>
            <a:custGeom>
              <a:avLst/>
              <a:gdLst/>
              <a:ahLst/>
              <a:cxnLst/>
              <a:rect l="l" t="t" r="r" b="b"/>
              <a:pathLst>
                <a:path w="6961505" h="704850">
                  <a:moveTo>
                    <a:pt x="0" y="117452"/>
                  </a:moveTo>
                  <a:lnTo>
                    <a:pt x="9229" y="71734"/>
                  </a:lnTo>
                  <a:lnTo>
                    <a:pt x="34401" y="34400"/>
                  </a:lnTo>
                  <a:lnTo>
                    <a:pt x="71734" y="9229"/>
                  </a:lnTo>
                  <a:lnTo>
                    <a:pt x="117452" y="0"/>
                  </a:lnTo>
                  <a:lnTo>
                    <a:pt x="6843447" y="0"/>
                  </a:lnTo>
                  <a:lnTo>
                    <a:pt x="6888394" y="8940"/>
                  </a:lnTo>
                  <a:lnTo>
                    <a:pt x="6926499" y="34400"/>
                  </a:lnTo>
                  <a:lnTo>
                    <a:pt x="6951959" y="72505"/>
                  </a:lnTo>
                  <a:lnTo>
                    <a:pt x="6960899" y="117452"/>
                  </a:lnTo>
                  <a:lnTo>
                    <a:pt x="6960899" y="587247"/>
                  </a:lnTo>
                  <a:lnTo>
                    <a:pt x="6951670" y="632965"/>
                  </a:lnTo>
                  <a:lnTo>
                    <a:pt x="6926499" y="670299"/>
                  </a:lnTo>
                  <a:lnTo>
                    <a:pt x="6889165" y="695470"/>
                  </a:lnTo>
                  <a:lnTo>
                    <a:pt x="6843447" y="704699"/>
                  </a:lnTo>
                  <a:lnTo>
                    <a:pt x="117452" y="704699"/>
                  </a:lnTo>
                  <a:lnTo>
                    <a:pt x="71734" y="695470"/>
                  </a:lnTo>
                  <a:lnTo>
                    <a:pt x="34401" y="670299"/>
                  </a:lnTo>
                  <a:lnTo>
                    <a:pt x="9229" y="632965"/>
                  </a:lnTo>
                  <a:lnTo>
                    <a:pt x="0" y="587247"/>
                  </a:lnTo>
                  <a:lnTo>
                    <a:pt x="0" y="117452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98633" y="3129757"/>
            <a:ext cx="8299027" cy="187408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Only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examined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some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issues: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location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report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issues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6933">
              <a:spcBef>
                <a:spcPts val="7"/>
              </a:spcBef>
            </a:pPr>
            <a:r>
              <a:rPr sz="2400" b="1" spc="-13" dirty="0">
                <a:latin typeface="Arial"/>
                <a:cs typeface="Arial"/>
              </a:rPr>
              <a:t>Tools</a:t>
            </a:r>
            <a:r>
              <a:rPr sz="2400" b="1" spc="-7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used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work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disproportionately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well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English: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sz="2400" dirty="0">
                <a:latin typeface="Arial"/>
                <a:cs typeface="Arial"/>
              </a:rPr>
              <a:t>generalization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languages?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3B61652-8FFC-4256-B04D-ED98D7158F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94</a:t>
            </a:fld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291101"/>
            <a:ext cx="12191999" cy="54775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7492" y="222777"/>
            <a:ext cx="6426200" cy="1020173"/>
          </a:xfrm>
          <a:prstGeom prst="rect">
            <a:avLst/>
          </a:prstGeom>
        </p:spPr>
        <p:txBody>
          <a:bodyPr vert="horz" wrap="square" lIns="0" tIns="1608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 marR="6773" indent="1185304">
              <a:lnSpc>
                <a:spcPct val="100800"/>
              </a:lnSpc>
              <a:spcBef>
                <a:spcPts val="127"/>
              </a:spcBef>
            </a:pPr>
            <a:r>
              <a:rPr dirty="0"/>
              <a:t>Search</a:t>
            </a:r>
            <a:r>
              <a:rPr spc="-27" dirty="0"/>
              <a:t> </a:t>
            </a:r>
            <a:r>
              <a:rPr dirty="0"/>
              <a:t>it</a:t>
            </a:r>
            <a:r>
              <a:rPr spc="-13" dirty="0"/>
              <a:t> </a:t>
            </a:r>
            <a:r>
              <a:rPr dirty="0"/>
              <a:t>for</a:t>
            </a:r>
            <a:r>
              <a:rPr spc="-13" dirty="0"/>
              <a:t> yourself! </a:t>
            </a:r>
            <a:r>
              <a:rPr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https://c4-search.apps.allenai.org/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CF7FB-0A96-4280-8339-A3B681756E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95</a:t>
            </a:fld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748" y="2161276"/>
            <a:ext cx="11303147" cy="281103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835883" y="814117"/>
            <a:ext cx="2970107" cy="840740"/>
            <a:chOff x="1376912" y="610587"/>
            <a:chExt cx="2227580" cy="630555"/>
          </a:xfrm>
        </p:grpSpPr>
        <p:sp>
          <p:nvSpPr>
            <p:cNvPr id="4" name="object 4"/>
            <p:cNvSpPr/>
            <p:nvPr/>
          </p:nvSpPr>
          <p:spPr>
            <a:xfrm>
              <a:off x="1381674" y="615349"/>
              <a:ext cx="2218055" cy="621030"/>
            </a:xfrm>
            <a:custGeom>
              <a:avLst/>
              <a:gdLst/>
              <a:ahLst/>
              <a:cxnLst/>
              <a:rect l="l" t="t" r="r" b="b"/>
              <a:pathLst>
                <a:path w="2218054" h="621030">
                  <a:moveTo>
                    <a:pt x="2114097" y="620999"/>
                  </a:moveTo>
                  <a:lnTo>
                    <a:pt x="103502" y="620999"/>
                  </a:lnTo>
                  <a:lnTo>
                    <a:pt x="63214" y="612866"/>
                  </a:lnTo>
                  <a:lnTo>
                    <a:pt x="30315" y="590684"/>
                  </a:lnTo>
                  <a:lnTo>
                    <a:pt x="8133" y="557785"/>
                  </a:lnTo>
                  <a:lnTo>
                    <a:pt x="0" y="517497"/>
                  </a:lnTo>
                  <a:lnTo>
                    <a:pt x="0" y="103502"/>
                  </a:lnTo>
                  <a:lnTo>
                    <a:pt x="8133" y="63214"/>
                  </a:lnTo>
                  <a:lnTo>
                    <a:pt x="30315" y="30315"/>
                  </a:lnTo>
                  <a:lnTo>
                    <a:pt x="63214" y="8133"/>
                  </a:lnTo>
                  <a:lnTo>
                    <a:pt x="103502" y="0"/>
                  </a:lnTo>
                  <a:lnTo>
                    <a:pt x="2114097" y="0"/>
                  </a:lnTo>
                  <a:lnTo>
                    <a:pt x="2153706" y="7878"/>
                  </a:lnTo>
                  <a:lnTo>
                    <a:pt x="2187284" y="30315"/>
                  </a:lnTo>
                  <a:lnTo>
                    <a:pt x="2209721" y="63893"/>
                  </a:lnTo>
                  <a:lnTo>
                    <a:pt x="2217599" y="103502"/>
                  </a:lnTo>
                  <a:lnTo>
                    <a:pt x="2217599" y="517497"/>
                  </a:lnTo>
                  <a:lnTo>
                    <a:pt x="2209466" y="557785"/>
                  </a:lnTo>
                  <a:lnTo>
                    <a:pt x="2187284" y="590684"/>
                  </a:lnTo>
                  <a:lnTo>
                    <a:pt x="2154385" y="612866"/>
                  </a:lnTo>
                  <a:lnTo>
                    <a:pt x="2114097" y="6209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1674" y="615349"/>
              <a:ext cx="2218055" cy="621030"/>
            </a:xfrm>
            <a:custGeom>
              <a:avLst/>
              <a:gdLst/>
              <a:ahLst/>
              <a:cxnLst/>
              <a:rect l="l" t="t" r="r" b="b"/>
              <a:pathLst>
                <a:path w="2218054" h="621030">
                  <a:moveTo>
                    <a:pt x="0" y="103502"/>
                  </a:moveTo>
                  <a:lnTo>
                    <a:pt x="8133" y="63214"/>
                  </a:lnTo>
                  <a:lnTo>
                    <a:pt x="30315" y="30315"/>
                  </a:lnTo>
                  <a:lnTo>
                    <a:pt x="63214" y="8133"/>
                  </a:lnTo>
                  <a:lnTo>
                    <a:pt x="103502" y="0"/>
                  </a:lnTo>
                  <a:lnTo>
                    <a:pt x="2114097" y="0"/>
                  </a:lnTo>
                  <a:lnTo>
                    <a:pt x="2153706" y="7878"/>
                  </a:lnTo>
                  <a:lnTo>
                    <a:pt x="2187284" y="30315"/>
                  </a:lnTo>
                  <a:lnTo>
                    <a:pt x="2209721" y="63893"/>
                  </a:lnTo>
                  <a:lnTo>
                    <a:pt x="2217599" y="103502"/>
                  </a:lnTo>
                  <a:lnTo>
                    <a:pt x="2217599" y="517497"/>
                  </a:lnTo>
                  <a:lnTo>
                    <a:pt x="2209466" y="557785"/>
                  </a:lnTo>
                  <a:lnTo>
                    <a:pt x="2187284" y="590684"/>
                  </a:lnTo>
                  <a:lnTo>
                    <a:pt x="2154385" y="612866"/>
                  </a:lnTo>
                  <a:lnTo>
                    <a:pt x="2114097" y="620999"/>
                  </a:lnTo>
                  <a:lnTo>
                    <a:pt x="103502" y="620999"/>
                  </a:lnTo>
                  <a:lnTo>
                    <a:pt x="63214" y="612866"/>
                  </a:lnTo>
                  <a:lnTo>
                    <a:pt x="30315" y="590684"/>
                  </a:lnTo>
                  <a:lnTo>
                    <a:pt x="8133" y="557785"/>
                  </a:lnTo>
                  <a:lnTo>
                    <a:pt x="0" y="517497"/>
                  </a:lnTo>
                  <a:lnTo>
                    <a:pt x="0" y="1035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15038" y="823663"/>
            <a:ext cx="2407919" cy="803639"/>
          </a:xfrm>
          <a:prstGeom prst="rect">
            <a:avLst/>
          </a:prstGeom>
        </p:spPr>
        <p:txBody>
          <a:bodyPr vert="horz" wrap="square" lIns="0" tIns="33867" rIns="0" bIns="0" rtlCol="0">
            <a:spAutoFit/>
          </a:bodyPr>
          <a:lstStyle/>
          <a:p>
            <a:pPr marL="794153" marR="6773" indent="-778067">
              <a:lnSpc>
                <a:spcPts val="3000"/>
              </a:lnSpc>
              <a:spcBef>
                <a:spcPts val="267"/>
              </a:spcBef>
            </a:pPr>
            <a:r>
              <a:rPr sz="2533" b="1" dirty="0">
                <a:latin typeface="Arial"/>
                <a:cs typeface="Arial"/>
              </a:rPr>
              <a:t>T5</a:t>
            </a:r>
            <a:r>
              <a:rPr sz="2533" b="1" spc="-27" dirty="0">
                <a:latin typeface="Arial"/>
                <a:cs typeface="Arial"/>
              </a:rPr>
              <a:t> </a:t>
            </a:r>
            <a:r>
              <a:rPr sz="2533" b="1" dirty="0">
                <a:latin typeface="Arial"/>
                <a:cs typeface="Arial"/>
              </a:rPr>
              <a:t>(Raffel</a:t>
            </a:r>
            <a:r>
              <a:rPr sz="2533" b="1" spc="-20" dirty="0">
                <a:latin typeface="Arial"/>
                <a:cs typeface="Arial"/>
              </a:rPr>
              <a:t> </a:t>
            </a:r>
            <a:r>
              <a:rPr sz="2533" b="1" dirty="0">
                <a:latin typeface="Arial"/>
                <a:cs typeface="Arial"/>
              </a:rPr>
              <a:t>et</a:t>
            </a:r>
            <a:r>
              <a:rPr sz="2533" b="1" spc="-20" dirty="0">
                <a:latin typeface="Arial"/>
                <a:cs typeface="Arial"/>
              </a:rPr>
              <a:t> </a:t>
            </a:r>
            <a:r>
              <a:rPr sz="2533" b="1" spc="-27" dirty="0">
                <a:latin typeface="Arial"/>
                <a:cs typeface="Arial"/>
              </a:rPr>
              <a:t>al., </a:t>
            </a:r>
            <a:r>
              <a:rPr sz="2533" b="1" spc="-13" dirty="0">
                <a:latin typeface="Arial"/>
                <a:cs typeface="Arial"/>
              </a:rPr>
              <a:t>2019)</a:t>
            </a:r>
            <a:endParaRPr sz="2533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36849" y="814117"/>
            <a:ext cx="3742267" cy="840740"/>
            <a:chOff x="4977637" y="610587"/>
            <a:chExt cx="2806700" cy="630555"/>
          </a:xfrm>
        </p:grpSpPr>
        <p:sp>
          <p:nvSpPr>
            <p:cNvPr id="8" name="object 8"/>
            <p:cNvSpPr/>
            <p:nvPr/>
          </p:nvSpPr>
          <p:spPr>
            <a:xfrm>
              <a:off x="4982400" y="615349"/>
              <a:ext cx="2797175" cy="621030"/>
            </a:xfrm>
            <a:custGeom>
              <a:avLst/>
              <a:gdLst/>
              <a:ahLst/>
              <a:cxnLst/>
              <a:rect l="l" t="t" r="r" b="b"/>
              <a:pathLst>
                <a:path w="2797175" h="621030">
                  <a:moveTo>
                    <a:pt x="2693097" y="620999"/>
                  </a:moveTo>
                  <a:lnTo>
                    <a:pt x="103501" y="620999"/>
                  </a:lnTo>
                  <a:lnTo>
                    <a:pt x="63214" y="612866"/>
                  </a:lnTo>
                  <a:lnTo>
                    <a:pt x="30315" y="590684"/>
                  </a:lnTo>
                  <a:lnTo>
                    <a:pt x="8133" y="557785"/>
                  </a:lnTo>
                  <a:lnTo>
                    <a:pt x="0" y="517497"/>
                  </a:lnTo>
                  <a:lnTo>
                    <a:pt x="0" y="103502"/>
                  </a:lnTo>
                  <a:lnTo>
                    <a:pt x="8133" y="63214"/>
                  </a:lnTo>
                  <a:lnTo>
                    <a:pt x="30315" y="30315"/>
                  </a:lnTo>
                  <a:lnTo>
                    <a:pt x="63214" y="8133"/>
                  </a:lnTo>
                  <a:lnTo>
                    <a:pt x="103501" y="0"/>
                  </a:lnTo>
                  <a:lnTo>
                    <a:pt x="2693097" y="0"/>
                  </a:lnTo>
                  <a:lnTo>
                    <a:pt x="2732706" y="7878"/>
                  </a:lnTo>
                  <a:lnTo>
                    <a:pt x="2766284" y="30315"/>
                  </a:lnTo>
                  <a:lnTo>
                    <a:pt x="2788721" y="63893"/>
                  </a:lnTo>
                  <a:lnTo>
                    <a:pt x="2796599" y="103502"/>
                  </a:lnTo>
                  <a:lnTo>
                    <a:pt x="2796599" y="517497"/>
                  </a:lnTo>
                  <a:lnTo>
                    <a:pt x="2788466" y="557785"/>
                  </a:lnTo>
                  <a:lnTo>
                    <a:pt x="2766284" y="590684"/>
                  </a:lnTo>
                  <a:lnTo>
                    <a:pt x="2733385" y="612866"/>
                  </a:lnTo>
                  <a:lnTo>
                    <a:pt x="2693097" y="6209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82400" y="615349"/>
              <a:ext cx="2797175" cy="621030"/>
            </a:xfrm>
            <a:custGeom>
              <a:avLst/>
              <a:gdLst/>
              <a:ahLst/>
              <a:cxnLst/>
              <a:rect l="l" t="t" r="r" b="b"/>
              <a:pathLst>
                <a:path w="2797175" h="621030">
                  <a:moveTo>
                    <a:pt x="0" y="103502"/>
                  </a:moveTo>
                  <a:lnTo>
                    <a:pt x="8133" y="63214"/>
                  </a:lnTo>
                  <a:lnTo>
                    <a:pt x="30315" y="30315"/>
                  </a:lnTo>
                  <a:lnTo>
                    <a:pt x="63214" y="8133"/>
                  </a:lnTo>
                  <a:lnTo>
                    <a:pt x="103501" y="0"/>
                  </a:lnTo>
                  <a:lnTo>
                    <a:pt x="2693097" y="0"/>
                  </a:lnTo>
                  <a:lnTo>
                    <a:pt x="2732706" y="7878"/>
                  </a:lnTo>
                  <a:lnTo>
                    <a:pt x="2766284" y="30315"/>
                  </a:lnTo>
                  <a:lnTo>
                    <a:pt x="2788721" y="63893"/>
                  </a:lnTo>
                  <a:lnTo>
                    <a:pt x="2796599" y="103502"/>
                  </a:lnTo>
                  <a:lnTo>
                    <a:pt x="2796599" y="517497"/>
                  </a:lnTo>
                  <a:lnTo>
                    <a:pt x="2788466" y="557785"/>
                  </a:lnTo>
                  <a:lnTo>
                    <a:pt x="2766284" y="590684"/>
                  </a:lnTo>
                  <a:lnTo>
                    <a:pt x="2733385" y="612866"/>
                  </a:lnTo>
                  <a:lnTo>
                    <a:pt x="2693097" y="620999"/>
                  </a:lnTo>
                  <a:lnTo>
                    <a:pt x="103501" y="620999"/>
                  </a:lnTo>
                  <a:lnTo>
                    <a:pt x="63214" y="612866"/>
                  </a:lnTo>
                  <a:lnTo>
                    <a:pt x="30315" y="590684"/>
                  </a:lnTo>
                  <a:lnTo>
                    <a:pt x="8133" y="557785"/>
                  </a:lnTo>
                  <a:lnTo>
                    <a:pt x="0" y="517497"/>
                  </a:lnTo>
                  <a:lnTo>
                    <a:pt x="0" y="1035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989137" y="822318"/>
            <a:ext cx="3035300" cy="803639"/>
          </a:xfrm>
          <a:prstGeom prst="rect">
            <a:avLst/>
          </a:prstGeom>
        </p:spPr>
        <p:txBody>
          <a:bodyPr vert="horz" wrap="square" lIns="0" tIns="3386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8738" marR="6773" indent="-62652">
              <a:lnSpc>
                <a:spcPts val="3000"/>
              </a:lnSpc>
              <a:spcBef>
                <a:spcPts val="267"/>
              </a:spcBef>
            </a:pPr>
            <a:r>
              <a:rPr sz="2533" b="1" dirty="0"/>
              <a:t>Switch</a:t>
            </a:r>
            <a:r>
              <a:rPr sz="2533" b="1" spc="-40" dirty="0"/>
              <a:t> </a:t>
            </a:r>
            <a:r>
              <a:rPr sz="2533" b="1" spc="-27" dirty="0"/>
              <a:t>Transformer </a:t>
            </a:r>
            <a:r>
              <a:rPr sz="2533" b="1" dirty="0"/>
              <a:t>(Fedus</a:t>
            </a:r>
            <a:r>
              <a:rPr sz="2533" b="1" spc="-27" dirty="0"/>
              <a:t> </a:t>
            </a:r>
            <a:r>
              <a:rPr sz="2533" b="1" dirty="0"/>
              <a:t>et</a:t>
            </a:r>
            <a:r>
              <a:rPr sz="2533" b="1" spc="-27" dirty="0"/>
              <a:t> </a:t>
            </a:r>
            <a:r>
              <a:rPr sz="2533" b="1" dirty="0"/>
              <a:t>al.,</a:t>
            </a:r>
            <a:r>
              <a:rPr sz="2533" b="1" spc="-20" dirty="0"/>
              <a:t> </a:t>
            </a:r>
            <a:r>
              <a:rPr sz="2533" b="1" spc="-27" dirty="0"/>
              <a:t>2021)</a:t>
            </a:r>
            <a:endParaRPr sz="2533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9FB1165-44EB-49D4-B7CC-24B4B55F0E1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96</a:t>
            </a:fld>
            <a:endParaRPr 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652317">
              <a:spcBef>
                <a:spcPts val="133"/>
              </a:spcBef>
            </a:pPr>
            <a:r>
              <a:rPr sz="2933" spc="-13" dirty="0"/>
              <a:t>Motivation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33" y="1638632"/>
            <a:ext cx="7323667" cy="4585547"/>
            <a:chOff x="1764850" y="1228974"/>
            <a:chExt cx="5492750" cy="3439160"/>
          </a:xfrm>
        </p:grpSpPr>
        <p:sp>
          <p:nvSpPr>
            <p:cNvPr id="7" name="object 7"/>
            <p:cNvSpPr/>
            <p:nvPr/>
          </p:nvSpPr>
          <p:spPr>
            <a:xfrm>
              <a:off x="1783900" y="143799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799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4444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4444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900" y="12480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900" y="12480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17816" y="1948209"/>
            <a:ext cx="6791113" cy="2386401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296214" marR="142236" indent="-1143818">
              <a:lnSpc>
                <a:spcPct val="100699"/>
              </a:lnSpc>
              <a:spcBef>
                <a:spcPts val="113"/>
              </a:spcBef>
            </a:pPr>
            <a:r>
              <a:rPr sz="2400" b="1" dirty="0">
                <a:latin typeface="Arial"/>
                <a:cs typeface="Arial"/>
              </a:rPr>
              <a:t>Dataset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7" dirty="0">
                <a:latin typeface="Arial"/>
                <a:cs typeface="Arial"/>
              </a:rPr>
              <a:t>divers</a:t>
            </a:r>
            <a:r>
              <a:rPr sz="2400" b="1" spc="-473" dirty="0">
                <a:latin typeface="Arial"/>
                <a:cs typeface="Arial"/>
              </a:rPr>
              <a:t>i</a:t>
            </a:r>
            <a:r>
              <a:rPr sz="3600" spc="-1900" baseline="-13888" dirty="0">
                <a:latin typeface="Arial"/>
                <a:cs typeface="Arial"/>
              </a:rPr>
              <a:t>R</a:t>
            </a:r>
            <a:r>
              <a:rPr sz="2400" b="1" spc="-7" dirty="0">
                <a:latin typeface="Arial"/>
                <a:cs typeface="Arial"/>
              </a:rPr>
              <a:t>t</a:t>
            </a:r>
            <a:r>
              <a:rPr sz="2400" b="1" spc="-873" dirty="0">
                <a:latin typeface="Arial"/>
                <a:cs typeface="Arial"/>
              </a:rPr>
              <a:t>y</a:t>
            </a:r>
            <a:r>
              <a:rPr sz="3600" spc="-9" baseline="-13888" dirty="0">
                <a:latin typeface="Arial"/>
                <a:cs typeface="Arial"/>
              </a:rPr>
              <a:t>e</a:t>
            </a:r>
            <a:r>
              <a:rPr sz="3600" spc="-1700" baseline="-13888" dirty="0">
                <a:latin typeface="Arial"/>
                <a:cs typeface="Arial"/>
              </a:rPr>
              <a:t>p</a:t>
            </a:r>
            <a:r>
              <a:rPr sz="2400" b="1" spc="-7" dirty="0">
                <a:latin typeface="Arial"/>
                <a:cs typeface="Arial"/>
              </a:rPr>
              <a:t>l</a:t>
            </a:r>
            <a:r>
              <a:rPr sz="2400" b="1" spc="-873" dirty="0">
                <a:latin typeface="Arial"/>
                <a:cs typeface="Arial"/>
              </a:rPr>
              <a:t>e</a:t>
            </a:r>
            <a:r>
              <a:rPr sz="3600" spc="-700" baseline="-13888" dirty="0">
                <a:latin typeface="Arial"/>
                <a:cs typeface="Arial"/>
              </a:rPr>
              <a:t>o</a:t>
            </a:r>
            <a:r>
              <a:rPr sz="2400" b="1" spc="-873" dirty="0">
                <a:latin typeface="Arial"/>
                <a:cs typeface="Arial"/>
              </a:rPr>
              <a:t>a</a:t>
            </a:r>
            <a:r>
              <a:rPr sz="3600" spc="-9" baseline="-13888" dirty="0">
                <a:latin typeface="Arial"/>
                <a:cs typeface="Arial"/>
              </a:rPr>
              <a:t>r</a:t>
            </a:r>
            <a:r>
              <a:rPr sz="3600" spc="-889" baseline="-13888" dirty="0">
                <a:latin typeface="Arial"/>
                <a:cs typeface="Arial"/>
              </a:rPr>
              <a:t>t</a:t>
            </a:r>
            <a:r>
              <a:rPr sz="2400" b="1" spc="-213" dirty="0">
                <a:latin typeface="Arial"/>
                <a:cs typeface="Arial"/>
              </a:rPr>
              <a:t>d</a:t>
            </a:r>
            <a:r>
              <a:rPr sz="3600" spc="-2689" baseline="-13888" dirty="0">
                <a:latin typeface="Arial"/>
                <a:cs typeface="Arial"/>
              </a:rPr>
              <a:t>m</a:t>
            </a:r>
            <a:r>
              <a:rPr sz="2400" b="1" dirty="0">
                <a:latin typeface="Arial"/>
                <a:cs typeface="Arial"/>
              </a:rPr>
              <a:t>s</a:t>
            </a:r>
            <a:r>
              <a:rPr sz="2400" b="1" spc="-213" dirty="0">
                <a:latin typeface="Arial"/>
                <a:cs typeface="Arial"/>
              </a:rPr>
              <a:t> </a:t>
            </a:r>
            <a:r>
              <a:rPr sz="3600" spc="-1689" baseline="-13888" dirty="0">
                <a:latin typeface="Arial"/>
                <a:cs typeface="Arial"/>
              </a:rPr>
              <a:t>e</a:t>
            </a:r>
            <a:r>
              <a:rPr sz="2400" b="1" spc="-7" dirty="0">
                <a:latin typeface="Arial"/>
                <a:cs typeface="Arial"/>
              </a:rPr>
              <a:t>t</a:t>
            </a:r>
            <a:r>
              <a:rPr sz="2400" b="1" spc="-1140" dirty="0">
                <a:latin typeface="Arial"/>
                <a:cs typeface="Arial"/>
              </a:rPr>
              <a:t>o</a:t>
            </a:r>
            <a:r>
              <a:rPr sz="3600" spc="-9" baseline="-13888" dirty="0">
                <a:latin typeface="Arial"/>
                <a:cs typeface="Arial"/>
              </a:rPr>
              <a:t>t</a:t>
            </a:r>
            <a:r>
              <a:rPr sz="3600" spc="-300" baseline="-13888" dirty="0">
                <a:latin typeface="Arial"/>
                <a:cs typeface="Arial"/>
              </a:rPr>
              <a:t>a</a:t>
            </a:r>
            <a:r>
              <a:rPr sz="2400" b="1" spc="-1273" dirty="0">
                <a:latin typeface="Arial"/>
                <a:cs typeface="Arial"/>
              </a:rPr>
              <a:t>b</a:t>
            </a:r>
            <a:r>
              <a:rPr sz="3600" spc="-109" baseline="-13888" dirty="0">
                <a:latin typeface="Arial"/>
                <a:cs typeface="Arial"/>
              </a:rPr>
              <a:t>d</a:t>
            </a:r>
            <a:r>
              <a:rPr sz="2400" b="1" spc="-1273" dirty="0">
                <a:latin typeface="Arial"/>
                <a:cs typeface="Arial"/>
              </a:rPr>
              <a:t>e</a:t>
            </a:r>
            <a:r>
              <a:rPr sz="3600" spc="-109" baseline="-13888" dirty="0">
                <a:latin typeface="Arial"/>
                <a:cs typeface="Arial"/>
              </a:rPr>
              <a:t>a</a:t>
            </a:r>
            <a:r>
              <a:rPr sz="2400" b="1" spc="-733" dirty="0">
                <a:latin typeface="Arial"/>
                <a:cs typeface="Arial"/>
              </a:rPr>
              <a:t>t</a:t>
            </a:r>
            <a:r>
              <a:rPr sz="3600" spc="-9" baseline="-13888" dirty="0">
                <a:latin typeface="Arial"/>
                <a:cs typeface="Arial"/>
              </a:rPr>
              <a:t>t</a:t>
            </a:r>
            <a:r>
              <a:rPr sz="3600" spc="-1909" baseline="-13888" dirty="0">
                <a:latin typeface="Arial"/>
                <a:cs typeface="Arial"/>
              </a:rPr>
              <a:t>a</a:t>
            </a:r>
            <a:r>
              <a:rPr sz="2400" b="1" spc="-7" dirty="0">
                <a:latin typeface="Arial"/>
                <a:cs typeface="Arial"/>
              </a:rPr>
              <a:t>te</a:t>
            </a:r>
            <a:r>
              <a:rPr sz="2400" b="1" dirty="0">
                <a:latin typeface="Arial"/>
                <a:cs typeface="Arial"/>
              </a:rPr>
              <a:t>r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downstream </a:t>
            </a:r>
            <a:r>
              <a:rPr sz="2400" b="1" dirty="0">
                <a:latin typeface="Arial"/>
                <a:cs typeface="Arial"/>
              </a:rPr>
              <a:t>generalization</a:t>
            </a:r>
            <a:r>
              <a:rPr sz="2400" b="1" spc="-7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(Rosset,</a:t>
            </a:r>
            <a:r>
              <a:rPr sz="2400" b="1" spc="-7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2019)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3200">
              <a:latin typeface="Arial"/>
              <a:cs typeface="Arial"/>
            </a:endParaRPr>
          </a:p>
          <a:p>
            <a:pPr marL="1203083" marR="23706" indent="-1170063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LLMs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acquire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domain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relatively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27" dirty="0">
                <a:latin typeface="Arial"/>
                <a:cs typeface="Arial"/>
              </a:rPr>
              <a:t> 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70554" y="4983330"/>
            <a:ext cx="6486313" cy="1081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87"/>
              </a:lnSpc>
            </a:pPr>
            <a:r>
              <a:rPr sz="2400" dirty="0">
                <a:latin typeface="MS PGothic"/>
                <a:cs typeface="MS PGothic"/>
              </a:rPr>
              <a:t>⇒</a:t>
            </a:r>
            <a:r>
              <a:rPr sz="2400" spc="-93" dirty="0">
                <a:latin typeface="MS PGothic"/>
                <a:cs typeface="MS PGothic"/>
              </a:rPr>
              <a:t> </a:t>
            </a:r>
            <a:r>
              <a:rPr sz="2400" dirty="0">
                <a:latin typeface="Arial"/>
                <a:cs typeface="Arial"/>
              </a:rPr>
              <a:t>large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smaller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quality</a:t>
            </a:r>
            <a:r>
              <a:rPr sz="2400" spc="-13" dirty="0">
                <a:latin typeface="Arial"/>
                <a:cs typeface="Arial"/>
              </a:rPr>
              <a:t> datasets</a:t>
            </a:r>
            <a:endParaRPr sz="2400">
              <a:latin typeface="Arial"/>
              <a:cs typeface="Arial"/>
            </a:endParaRPr>
          </a:p>
          <a:p>
            <a:pPr marL="520687" marR="509681" algn="ctr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may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improve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cross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domain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67" dirty="0">
                <a:latin typeface="Arial"/>
                <a:cs typeface="Arial"/>
              </a:rPr>
              <a:t>+ </a:t>
            </a:r>
            <a:r>
              <a:rPr sz="2400" spc="-13" dirty="0">
                <a:latin typeface="Arial"/>
                <a:cs typeface="Arial"/>
              </a:rPr>
              <a:t>generalization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0767C2D-2509-4440-B465-52B412F217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97</a:t>
            </a:fld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652317">
              <a:spcBef>
                <a:spcPts val="133"/>
              </a:spcBef>
            </a:pPr>
            <a:r>
              <a:rPr sz="2933" spc="-13" dirty="0"/>
              <a:t>Motivation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00" y="1657683"/>
            <a:ext cx="7323667" cy="4566920"/>
            <a:chOff x="1764825" y="1243262"/>
            <a:chExt cx="5492750" cy="3425190"/>
          </a:xfrm>
        </p:grpSpPr>
        <p:sp>
          <p:nvSpPr>
            <p:cNvPr id="7" name="object 7"/>
            <p:cNvSpPr/>
            <p:nvPr/>
          </p:nvSpPr>
          <p:spPr>
            <a:xfrm>
              <a:off x="1783900" y="143799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799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4444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4444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900" y="12480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900" y="12480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940127" y="1948208"/>
            <a:ext cx="6146800" cy="2386401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67732" marR="57572" algn="ctr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Dataset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</a:t>
            </a:r>
            <a:r>
              <a:rPr sz="2400" spc="-587" dirty="0">
                <a:latin typeface="Arial"/>
                <a:cs typeface="Arial"/>
              </a:rPr>
              <a:t>s</a:t>
            </a:r>
            <a:r>
              <a:rPr sz="3600" spc="-1729" baseline="-13888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i</a:t>
            </a:r>
            <a:r>
              <a:rPr sz="2400" spc="-60" dirty="0">
                <a:latin typeface="Arial"/>
                <a:cs typeface="Arial"/>
              </a:rPr>
              <a:t>t</a:t>
            </a:r>
            <a:r>
              <a:rPr sz="3600" spc="-1929" baseline="-13888" dirty="0">
                <a:latin typeface="Arial"/>
                <a:cs typeface="Arial"/>
              </a:rPr>
              <a:t>e</a:t>
            </a:r>
            <a:r>
              <a:rPr sz="2400" spc="73" dirty="0">
                <a:latin typeface="Arial"/>
                <a:cs typeface="Arial"/>
              </a:rPr>
              <a:t>y</a:t>
            </a:r>
            <a:r>
              <a:rPr sz="3600" spc="-1129" baseline="-13888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l</a:t>
            </a:r>
            <a:r>
              <a:rPr sz="2400" spc="-1125" dirty="0">
                <a:latin typeface="Arial"/>
                <a:cs typeface="Arial"/>
              </a:rPr>
              <a:t>e</a:t>
            </a:r>
            <a:r>
              <a:rPr sz="3600" spc="-329" baseline="-13888" dirty="0">
                <a:latin typeface="Arial"/>
                <a:cs typeface="Arial"/>
              </a:rPr>
              <a:t>o</a:t>
            </a:r>
            <a:r>
              <a:rPr sz="2400" spc="-1125" dirty="0">
                <a:latin typeface="Arial"/>
                <a:cs typeface="Arial"/>
              </a:rPr>
              <a:t>a</a:t>
            </a:r>
            <a:r>
              <a:rPr sz="3600" spc="-9" baseline="-13888" dirty="0">
                <a:latin typeface="Arial"/>
                <a:cs typeface="Arial"/>
              </a:rPr>
              <a:t>r</a:t>
            </a:r>
            <a:r>
              <a:rPr sz="3600" spc="-520" baseline="-13888" dirty="0">
                <a:latin typeface="Arial"/>
                <a:cs typeface="Arial"/>
              </a:rPr>
              <a:t>t</a:t>
            </a:r>
            <a:r>
              <a:rPr sz="2400" spc="-333" dirty="0">
                <a:latin typeface="Arial"/>
                <a:cs typeface="Arial"/>
              </a:rPr>
              <a:t>d</a:t>
            </a:r>
            <a:r>
              <a:rPr sz="3600" spc="-2509" baseline="-13888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3600" spc="-1709" baseline="-13888" dirty="0">
                <a:latin typeface="Arial"/>
                <a:cs typeface="Arial"/>
              </a:rPr>
              <a:t>e</a:t>
            </a:r>
            <a:r>
              <a:rPr sz="2400" spc="-7" dirty="0">
                <a:latin typeface="Arial"/>
                <a:cs typeface="Arial"/>
              </a:rPr>
              <a:t>t</a:t>
            </a:r>
            <a:r>
              <a:rPr sz="2400" spc="-867" dirty="0">
                <a:latin typeface="Arial"/>
                <a:cs typeface="Arial"/>
              </a:rPr>
              <a:t>o</a:t>
            </a:r>
            <a:r>
              <a:rPr sz="3600" spc="-9" baseline="-13888" dirty="0">
                <a:latin typeface="Arial"/>
                <a:cs typeface="Arial"/>
              </a:rPr>
              <a:t>t</a:t>
            </a:r>
            <a:r>
              <a:rPr sz="3600" spc="-720" baseline="-13888" dirty="0">
                <a:latin typeface="Arial"/>
                <a:cs typeface="Arial"/>
              </a:rPr>
              <a:t>a</a:t>
            </a:r>
            <a:r>
              <a:rPr sz="2400" spc="-867" dirty="0">
                <a:latin typeface="Arial"/>
                <a:cs typeface="Arial"/>
              </a:rPr>
              <a:t>b</a:t>
            </a:r>
            <a:r>
              <a:rPr sz="3600" spc="-709" baseline="-13888" dirty="0">
                <a:latin typeface="Arial"/>
                <a:cs typeface="Arial"/>
              </a:rPr>
              <a:t>d</a:t>
            </a:r>
            <a:r>
              <a:rPr sz="2400" spc="-867" dirty="0">
                <a:latin typeface="Arial"/>
                <a:cs typeface="Arial"/>
              </a:rPr>
              <a:t>e</a:t>
            </a:r>
            <a:r>
              <a:rPr sz="3600" spc="-709" baseline="-13888" dirty="0">
                <a:latin typeface="Arial"/>
                <a:cs typeface="Arial"/>
              </a:rPr>
              <a:t>a</a:t>
            </a:r>
            <a:r>
              <a:rPr sz="2400" spc="-200" dirty="0">
                <a:latin typeface="Arial"/>
                <a:cs typeface="Arial"/>
              </a:rPr>
              <a:t>t</a:t>
            </a:r>
            <a:r>
              <a:rPr sz="3600" spc="-709" baseline="-13888" dirty="0">
                <a:latin typeface="Arial"/>
                <a:cs typeface="Arial"/>
              </a:rPr>
              <a:t>t</a:t>
            </a:r>
            <a:r>
              <a:rPr sz="2400" spc="-200" dirty="0">
                <a:latin typeface="Arial"/>
                <a:cs typeface="Arial"/>
              </a:rPr>
              <a:t>t</a:t>
            </a:r>
            <a:r>
              <a:rPr sz="3600" spc="-1709" baseline="-13888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er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downstream </a:t>
            </a:r>
            <a:r>
              <a:rPr sz="2400" dirty="0">
                <a:latin typeface="Arial"/>
                <a:cs typeface="Arial"/>
              </a:rPr>
              <a:t>generalization</a:t>
            </a:r>
            <a:r>
              <a:rPr sz="2400" spc="-7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(Rosset,</a:t>
            </a:r>
            <a:r>
              <a:rPr sz="2400" spc="-7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2019)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3200">
              <a:latin typeface="Arial"/>
              <a:cs typeface="Arial"/>
            </a:endParaRPr>
          </a:p>
          <a:p>
            <a:pPr marL="34711" marR="27093" algn="ctr">
              <a:lnSpc>
                <a:spcPct val="100699"/>
              </a:lnSpc>
            </a:pPr>
            <a:r>
              <a:rPr sz="2400" b="1" dirty="0">
                <a:latin typeface="Arial"/>
                <a:cs typeface="Arial"/>
              </a:rPr>
              <a:t>LLMs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shown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acquire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knowledge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33" dirty="0">
                <a:latin typeface="Arial"/>
                <a:cs typeface="Arial"/>
              </a:rPr>
              <a:t>new </a:t>
            </a:r>
            <a:r>
              <a:rPr sz="2400" b="1" dirty="0">
                <a:latin typeface="Arial"/>
                <a:cs typeface="Arial"/>
              </a:rPr>
              <a:t>domain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with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relatively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small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70554" y="4983330"/>
            <a:ext cx="6486313" cy="1081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87"/>
              </a:lnSpc>
            </a:pPr>
            <a:r>
              <a:rPr sz="2400" dirty="0">
                <a:latin typeface="MS PGothic"/>
                <a:cs typeface="MS PGothic"/>
              </a:rPr>
              <a:t>⇒</a:t>
            </a:r>
            <a:r>
              <a:rPr sz="2400" spc="-93" dirty="0">
                <a:latin typeface="MS PGothic"/>
                <a:cs typeface="MS PGothic"/>
              </a:rPr>
              <a:t> </a:t>
            </a:r>
            <a:r>
              <a:rPr sz="2400" dirty="0">
                <a:latin typeface="Arial"/>
                <a:cs typeface="Arial"/>
              </a:rPr>
              <a:t>large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number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smaller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quality</a:t>
            </a:r>
            <a:r>
              <a:rPr sz="2400" spc="-13" dirty="0">
                <a:latin typeface="Arial"/>
                <a:cs typeface="Arial"/>
              </a:rPr>
              <a:t> datasets</a:t>
            </a:r>
            <a:endParaRPr sz="2400">
              <a:latin typeface="Arial"/>
              <a:cs typeface="Arial"/>
            </a:endParaRPr>
          </a:p>
          <a:p>
            <a:pPr marL="520687" marR="509681" algn="ctr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may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improve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cross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domain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67" dirty="0">
                <a:latin typeface="Arial"/>
                <a:cs typeface="Arial"/>
              </a:rPr>
              <a:t>+ </a:t>
            </a:r>
            <a:r>
              <a:rPr sz="2400" spc="-13" dirty="0">
                <a:latin typeface="Arial"/>
                <a:cs typeface="Arial"/>
              </a:rPr>
              <a:t>generalization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EAC7AF3-B5F0-484C-ADCF-9721461F41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98</a:t>
            </a:fld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750" y="741283"/>
            <a:ext cx="11046460" cy="5681980"/>
            <a:chOff x="368812" y="555962"/>
            <a:chExt cx="8284845" cy="4261485"/>
          </a:xfrm>
        </p:grpSpPr>
        <p:sp>
          <p:nvSpPr>
            <p:cNvPr id="3" name="object 3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7566585" y="4251599"/>
                  </a:move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574" y="560724"/>
              <a:ext cx="8275320" cy="4251960"/>
            </a:xfrm>
            <a:custGeom>
              <a:avLst/>
              <a:gdLst/>
              <a:ahLst/>
              <a:cxnLst/>
              <a:rect l="l" t="t" r="r" b="b"/>
              <a:pathLst>
                <a:path w="8275320" h="4251960">
                  <a:moveTo>
                    <a:pt x="0" y="708614"/>
                  </a:moveTo>
                  <a:lnTo>
                    <a:pt x="1634" y="660098"/>
                  </a:lnTo>
                  <a:lnTo>
                    <a:pt x="6468" y="612459"/>
                  </a:lnTo>
                  <a:lnTo>
                    <a:pt x="14396" y="565803"/>
                  </a:lnTo>
                  <a:lnTo>
                    <a:pt x="25312" y="520236"/>
                  </a:lnTo>
                  <a:lnTo>
                    <a:pt x="39110" y="475863"/>
                  </a:lnTo>
                  <a:lnTo>
                    <a:pt x="55686" y="432789"/>
                  </a:lnTo>
                  <a:lnTo>
                    <a:pt x="74933" y="391120"/>
                  </a:lnTo>
                  <a:lnTo>
                    <a:pt x="96746" y="350963"/>
                  </a:lnTo>
                  <a:lnTo>
                    <a:pt x="121020" y="312421"/>
                  </a:lnTo>
                  <a:lnTo>
                    <a:pt x="147648" y="275601"/>
                  </a:lnTo>
                  <a:lnTo>
                    <a:pt x="176526" y="240608"/>
                  </a:lnTo>
                  <a:lnTo>
                    <a:pt x="207548" y="207548"/>
                  </a:lnTo>
                  <a:lnTo>
                    <a:pt x="240608" y="176526"/>
                  </a:lnTo>
                  <a:lnTo>
                    <a:pt x="275601" y="147648"/>
                  </a:lnTo>
                  <a:lnTo>
                    <a:pt x="312421" y="121020"/>
                  </a:lnTo>
                  <a:lnTo>
                    <a:pt x="350963" y="96746"/>
                  </a:lnTo>
                  <a:lnTo>
                    <a:pt x="391120" y="74933"/>
                  </a:lnTo>
                  <a:lnTo>
                    <a:pt x="432789" y="55686"/>
                  </a:lnTo>
                  <a:lnTo>
                    <a:pt x="475863" y="39110"/>
                  </a:lnTo>
                  <a:lnTo>
                    <a:pt x="520236" y="25312"/>
                  </a:lnTo>
                  <a:lnTo>
                    <a:pt x="565803" y="14396"/>
                  </a:lnTo>
                  <a:lnTo>
                    <a:pt x="612459" y="6468"/>
                  </a:lnTo>
                  <a:lnTo>
                    <a:pt x="660098" y="1634"/>
                  </a:lnTo>
                  <a:lnTo>
                    <a:pt x="708614" y="0"/>
                  </a:lnTo>
                  <a:lnTo>
                    <a:pt x="7566585" y="0"/>
                  </a:lnTo>
                  <a:lnTo>
                    <a:pt x="7617620" y="1838"/>
                  </a:lnTo>
                  <a:lnTo>
                    <a:pt x="7668094" y="7305"/>
                  </a:lnTo>
                  <a:lnTo>
                    <a:pt x="7717829" y="16325"/>
                  </a:lnTo>
                  <a:lnTo>
                    <a:pt x="7766647" y="28826"/>
                  </a:lnTo>
                  <a:lnTo>
                    <a:pt x="7814367" y="44732"/>
                  </a:lnTo>
                  <a:lnTo>
                    <a:pt x="7860812" y="63971"/>
                  </a:lnTo>
                  <a:lnTo>
                    <a:pt x="7905803" y="86467"/>
                  </a:lnTo>
                  <a:lnTo>
                    <a:pt x="7949161" y="112146"/>
                  </a:lnTo>
                  <a:lnTo>
                    <a:pt x="7990708" y="140936"/>
                  </a:lnTo>
                  <a:lnTo>
                    <a:pt x="8030264" y="172761"/>
                  </a:lnTo>
                  <a:lnTo>
                    <a:pt x="8067651" y="207548"/>
                  </a:lnTo>
                  <a:lnTo>
                    <a:pt x="8102438" y="244935"/>
                  </a:lnTo>
                  <a:lnTo>
                    <a:pt x="8134263" y="284491"/>
                  </a:lnTo>
                  <a:lnTo>
                    <a:pt x="8163053" y="326038"/>
                  </a:lnTo>
                  <a:lnTo>
                    <a:pt x="8188733" y="369396"/>
                  </a:lnTo>
                  <a:lnTo>
                    <a:pt x="8211229" y="414387"/>
                  </a:lnTo>
                  <a:lnTo>
                    <a:pt x="8230467" y="460832"/>
                  </a:lnTo>
                  <a:lnTo>
                    <a:pt x="8246373" y="508552"/>
                  </a:lnTo>
                  <a:lnTo>
                    <a:pt x="8258874" y="557370"/>
                  </a:lnTo>
                  <a:lnTo>
                    <a:pt x="8267894" y="607105"/>
                  </a:lnTo>
                  <a:lnTo>
                    <a:pt x="8273361" y="657579"/>
                  </a:lnTo>
                  <a:lnTo>
                    <a:pt x="8275199" y="708614"/>
                  </a:lnTo>
                  <a:lnTo>
                    <a:pt x="8275199" y="3542985"/>
                  </a:lnTo>
                  <a:lnTo>
                    <a:pt x="8273565" y="3591502"/>
                  </a:lnTo>
                  <a:lnTo>
                    <a:pt x="8268731" y="3639140"/>
                  </a:lnTo>
                  <a:lnTo>
                    <a:pt x="8260803" y="3685796"/>
                  </a:lnTo>
                  <a:lnTo>
                    <a:pt x="8249887" y="3731363"/>
                  </a:lnTo>
                  <a:lnTo>
                    <a:pt x="8236089" y="3775736"/>
                  </a:lnTo>
                  <a:lnTo>
                    <a:pt x="8219513" y="3818810"/>
                  </a:lnTo>
                  <a:lnTo>
                    <a:pt x="8200266" y="3860479"/>
                  </a:lnTo>
                  <a:lnTo>
                    <a:pt x="8178453" y="3900636"/>
                  </a:lnTo>
                  <a:lnTo>
                    <a:pt x="8154179" y="3939178"/>
                  </a:lnTo>
                  <a:lnTo>
                    <a:pt x="8127551" y="3975998"/>
                  </a:lnTo>
                  <a:lnTo>
                    <a:pt x="8098673" y="4010991"/>
                  </a:lnTo>
                  <a:lnTo>
                    <a:pt x="8067651" y="4044051"/>
                  </a:lnTo>
                  <a:lnTo>
                    <a:pt x="8034591" y="4075073"/>
                  </a:lnTo>
                  <a:lnTo>
                    <a:pt x="7999598" y="4103951"/>
                  </a:lnTo>
                  <a:lnTo>
                    <a:pt x="7962778" y="4130579"/>
                  </a:lnTo>
                  <a:lnTo>
                    <a:pt x="7924237" y="4154853"/>
                  </a:lnTo>
                  <a:lnTo>
                    <a:pt x="7884079" y="4176666"/>
                  </a:lnTo>
                  <a:lnTo>
                    <a:pt x="7842410" y="4195913"/>
                  </a:lnTo>
                  <a:lnTo>
                    <a:pt x="7799336" y="4212489"/>
                  </a:lnTo>
                  <a:lnTo>
                    <a:pt x="7754963" y="4226287"/>
                  </a:lnTo>
                  <a:lnTo>
                    <a:pt x="7709396" y="4237203"/>
                  </a:lnTo>
                  <a:lnTo>
                    <a:pt x="7662740" y="4245131"/>
                  </a:lnTo>
                  <a:lnTo>
                    <a:pt x="7615102" y="4249965"/>
                  </a:lnTo>
                  <a:lnTo>
                    <a:pt x="7566585" y="4251599"/>
                  </a:lnTo>
                  <a:lnTo>
                    <a:pt x="708614" y="4251599"/>
                  </a:lnTo>
                  <a:lnTo>
                    <a:pt x="660098" y="4249965"/>
                  </a:lnTo>
                  <a:lnTo>
                    <a:pt x="612459" y="4245131"/>
                  </a:lnTo>
                  <a:lnTo>
                    <a:pt x="565803" y="4237203"/>
                  </a:lnTo>
                  <a:lnTo>
                    <a:pt x="520236" y="4226287"/>
                  </a:lnTo>
                  <a:lnTo>
                    <a:pt x="475863" y="4212489"/>
                  </a:lnTo>
                  <a:lnTo>
                    <a:pt x="432789" y="4195913"/>
                  </a:lnTo>
                  <a:lnTo>
                    <a:pt x="391120" y="4176666"/>
                  </a:lnTo>
                  <a:lnTo>
                    <a:pt x="350963" y="4154853"/>
                  </a:lnTo>
                  <a:lnTo>
                    <a:pt x="312421" y="4130579"/>
                  </a:lnTo>
                  <a:lnTo>
                    <a:pt x="275601" y="4103951"/>
                  </a:lnTo>
                  <a:lnTo>
                    <a:pt x="240608" y="4075073"/>
                  </a:lnTo>
                  <a:lnTo>
                    <a:pt x="207548" y="4044051"/>
                  </a:lnTo>
                  <a:lnTo>
                    <a:pt x="176526" y="4010991"/>
                  </a:lnTo>
                  <a:lnTo>
                    <a:pt x="147648" y="3975998"/>
                  </a:lnTo>
                  <a:lnTo>
                    <a:pt x="121020" y="3939178"/>
                  </a:lnTo>
                  <a:lnTo>
                    <a:pt x="96746" y="3900636"/>
                  </a:lnTo>
                  <a:lnTo>
                    <a:pt x="74933" y="3860479"/>
                  </a:lnTo>
                  <a:lnTo>
                    <a:pt x="55686" y="3818810"/>
                  </a:lnTo>
                  <a:lnTo>
                    <a:pt x="39110" y="3775736"/>
                  </a:lnTo>
                  <a:lnTo>
                    <a:pt x="25312" y="3731363"/>
                  </a:lnTo>
                  <a:lnTo>
                    <a:pt x="14396" y="3685796"/>
                  </a:lnTo>
                  <a:lnTo>
                    <a:pt x="6468" y="3639140"/>
                  </a:lnTo>
                  <a:lnTo>
                    <a:pt x="1634" y="3591502"/>
                  </a:lnTo>
                  <a:lnTo>
                    <a:pt x="0" y="3542985"/>
                  </a:lnTo>
                  <a:lnTo>
                    <a:pt x="0" y="70861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2800" y="677319"/>
            <a:ext cx="14630400" cy="901729"/>
          </a:xfrm>
          <a:prstGeom prst="rect">
            <a:avLst/>
          </a:prstGeom>
        </p:spPr>
        <p:txBody>
          <a:bodyPr vert="horz" wrap="square" lIns="0" tIns="44603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652317">
              <a:spcBef>
                <a:spcPts val="133"/>
              </a:spcBef>
            </a:pPr>
            <a:r>
              <a:rPr sz="2933" spc="-13" dirty="0"/>
              <a:t>Motivation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353100" y="1657683"/>
            <a:ext cx="7323667" cy="4585547"/>
            <a:chOff x="1764825" y="1243262"/>
            <a:chExt cx="5492750" cy="3439160"/>
          </a:xfrm>
        </p:grpSpPr>
        <p:sp>
          <p:nvSpPr>
            <p:cNvPr id="7" name="object 7"/>
            <p:cNvSpPr/>
            <p:nvPr/>
          </p:nvSpPr>
          <p:spPr>
            <a:xfrm>
              <a:off x="1783900" y="143799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5373898" y="484199"/>
                  </a:move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900" y="1437999"/>
              <a:ext cx="5454650" cy="484505"/>
            </a:xfrm>
            <a:custGeom>
              <a:avLst/>
              <a:gdLst/>
              <a:ahLst/>
              <a:cxnLst/>
              <a:rect l="l" t="t" r="r" b="b"/>
              <a:pathLst>
                <a:path w="5454650" h="484505">
                  <a:moveTo>
                    <a:pt x="0" y="80701"/>
                  </a:moveTo>
                  <a:lnTo>
                    <a:pt x="6341" y="49288"/>
                  </a:lnTo>
                  <a:lnTo>
                    <a:pt x="23636" y="23636"/>
                  </a:lnTo>
                  <a:lnTo>
                    <a:pt x="49288" y="6341"/>
                  </a:lnTo>
                  <a:lnTo>
                    <a:pt x="80701" y="0"/>
                  </a:lnTo>
                  <a:lnTo>
                    <a:pt x="5373898" y="0"/>
                  </a:lnTo>
                  <a:lnTo>
                    <a:pt x="5418671" y="13558"/>
                  </a:lnTo>
                  <a:lnTo>
                    <a:pt x="5448456" y="49818"/>
                  </a:lnTo>
                  <a:lnTo>
                    <a:pt x="5454599" y="80701"/>
                  </a:lnTo>
                  <a:lnTo>
                    <a:pt x="5454599" y="403498"/>
                  </a:lnTo>
                  <a:lnTo>
                    <a:pt x="5448258" y="434911"/>
                  </a:lnTo>
                  <a:lnTo>
                    <a:pt x="5430963" y="460563"/>
                  </a:lnTo>
                  <a:lnTo>
                    <a:pt x="5405311" y="477858"/>
                  </a:lnTo>
                  <a:lnTo>
                    <a:pt x="5373898" y="484199"/>
                  </a:lnTo>
                  <a:lnTo>
                    <a:pt x="80701" y="484199"/>
                  </a:lnTo>
                  <a:lnTo>
                    <a:pt x="49288" y="477858"/>
                  </a:lnTo>
                  <a:lnTo>
                    <a:pt x="23636" y="460563"/>
                  </a:lnTo>
                  <a:lnTo>
                    <a:pt x="6341" y="434911"/>
                  </a:lnTo>
                  <a:lnTo>
                    <a:pt x="0" y="403498"/>
                  </a:lnTo>
                  <a:lnTo>
                    <a:pt x="0" y="807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875" y="24444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875" y="24444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875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875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900" y="12480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900" y="124802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00882" y="1948208"/>
            <a:ext cx="6824980" cy="4198115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406390" marR="396230" algn="ctr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Dataset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</a:t>
            </a:r>
            <a:r>
              <a:rPr sz="2400" spc="-587" dirty="0">
                <a:latin typeface="Arial"/>
                <a:cs typeface="Arial"/>
              </a:rPr>
              <a:t>s</a:t>
            </a:r>
            <a:r>
              <a:rPr sz="3600" spc="-1729" baseline="-13888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i</a:t>
            </a:r>
            <a:r>
              <a:rPr sz="2400" spc="-60" dirty="0">
                <a:latin typeface="Arial"/>
                <a:cs typeface="Arial"/>
              </a:rPr>
              <a:t>t</a:t>
            </a:r>
            <a:r>
              <a:rPr sz="3600" spc="-1929" baseline="-13888" dirty="0">
                <a:latin typeface="Arial"/>
                <a:cs typeface="Arial"/>
              </a:rPr>
              <a:t>e</a:t>
            </a:r>
            <a:r>
              <a:rPr sz="2400" spc="73" dirty="0">
                <a:latin typeface="Arial"/>
                <a:cs typeface="Arial"/>
              </a:rPr>
              <a:t>y</a:t>
            </a:r>
            <a:r>
              <a:rPr sz="3600" spc="-1129" baseline="-13888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l</a:t>
            </a:r>
            <a:r>
              <a:rPr sz="2400" spc="-1125" dirty="0">
                <a:latin typeface="Arial"/>
                <a:cs typeface="Arial"/>
              </a:rPr>
              <a:t>e</a:t>
            </a:r>
            <a:r>
              <a:rPr sz="3600" spc="-329" baseline="-13888" dirty="0">
                <a:latin typeface="Arial"/>
                <a:cs typeface="Arial"/>
              </a:rPr>
              <a:t>o</a:t>
            </a:r>
            <a:r>
              <a:rPr sz="2400" spc="-1125" dirty="0">
                <a:latin typeface="Arial"/>
                <a:cs typeface="Arial"/>
              </a:rPr>
              <a:t>a</a:t>
            </a:r>
            <a:r>
              <a:rPr sz="3600" spc="-9" baseline="-13888" dirty="0">
                <a:latin typeface="Arial"/>
                <a:cs typeface="Arial"/>
              </a:rPr>
              <a:t>r</a:t>
            </a:r>
            <a:r>
              <a:rPr sz="3600" spc="-520" baseline="-13888" dirty="0">
                <a:latin typeface="Arial"/>
                <a:cs typeface="Arial"/>
              </a:rPr>
              <a:t>t</a:t>
            </a:r>
            <a:r>
              <a:rPr sz="2400" spc="-333" dirty="0">
                <a:latin typeface="Arial"/>
                <a:cs typeface="Arial"/>
              </a:rPr>
              <a:t>d</a:t>
            </a:r>
            <a:r>
              <a:rPr sz="3600" spc="-2509" baseline="-13888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3600" spc="-1709" baseline="-13888" dirty="0">
                <a:latin typeface="Arial"/>
                <a:cs typeface="Arial"/>
              </a:rPr>
              <a:t>e</a:t>
            </a:r>
            <a:r>
              <a:rPr sz="2400" spc="-7" dirty="0">
                <a:latin typeface="Arial"/>
                <a:cs typeface="Arial"/>
              </a:rPr>
              <a:t>t</a:t>
            </a:r>
            <a:r>
              <a:rPr sz="2400" spc="-867" dirty="0">
                <a:latin typeface="Arial"/>
                <a:cs typeface="Arial"/>
              </a:rPr>
              <a:t>o</a:t>
            </a:r>
            <a:r>
              <a:rPr sz="3600" spc="-9" baseline="-13888" dirty="0">
                <a:latin typeface="Arial"/>
                <a:cs typeface="Arial"/>
              </a:rPr>
              <a:t>t</a:t>
            </a:r>
            <a:r>
              <a:rPr sz="3600" spc="-720" baseline="-13888" dirty="0">
                <a:latin typeface="Arial"/>
                <a:cs typeface="Arial"/>
              </a:rPr>
              <a:t>a</a:t>
            </a:r>
            <a:r>
              <a:rPr sz="2400" spc="-867" dirty="0">
                <a:latin typeface="Arial"/>
                <a:cs typeface="Arial"/>
              </a:rPr>
              <a:t>b</a:t>
            </a:r>
            <a:r>
              <a:rPr sz="3600" spc="-709" baseline="-13888" dirty="0">
                <a:latin typeface="Arial"/>
                <a:cs typeface="Arial"/>
              </a:rPr>
              <a:t>d</a:t>
            </a:r>
            <a:r>
              <a:rPr sz="2400" spc="-867" dirty="0">
                <a:latin typeface="Arial"/>
                <a:cs typeface="Arial"/>
              </a:rPr>
              <a:t>e</a:t>
            </a:r>
            <a:r>
              <a:rPr sz="3600" spc="-709" baseline="-13888" dirty="0">
                <a:latin typeface="Arial"/>
                <a:cs typeface="Arial"/>
              </a:rPr>
              <a:t>a</a:t>
            </a:r>
            <a:r>
              <a:rPr sz="2400" spc="-200" dirty="0">
                <a:latin typeface="Arial"/>
                <a:cs typeface="Arial"/>
              </a:rPr>
              <a:t>t</a:t>
            </a:r>
            <a:r>
              <a:rPr sz="3600" spc="-709" baseline="-13888" dirty="0">
                <a:latin typeface="Arial"/>
                <a:cs typeface="Arial"/>
              </a:rPr>
              <a:t>t</a:t>
            </a:r>
            <a:r>
              <a:rPr sz="2400" spc="-200" dirty="0">
                <a:latin typeface="Arial"/>
                <a:cs typeface="Arial"/>
              </a:rPr>
              <a:t>t</a:t>
            </a:r>
            <a:r>
              <a:rPr sz="3600" spc="-1709" baseline="-13888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er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downstream </a:t>
            </a:r>
            <a:r>
              <a:rPr sz="2400" dirty="0">
                <a:latin typeface="Arial"/>
                <a:cs typeface="Arial"/>
              </a:rPr>
              <a:t>generalization</a:t>
            </a:r>
            <a:r>
              <a:rPr sz="2400" spc="-7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(Rosset,</a:t>
            </a:r>
            <a:r>
              <a:rPr sz="2400" spc="-7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2019)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3200">
              <a:latin typeface="Arial"/>
              <a:cs typeface="Arial"/>
            </a:endParaRPr>
          </a:p>
          <a:p>
            <a:pPr marL="49952" marR="40639" algn="ctr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LLMs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shown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acquire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knowledge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domain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relatively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small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27" dirty="0">
                <a:latin typeface="Arial"/>
                <a:cs typeface="Arial"/>
              </a:rPr>
              <a:t> data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 marL="593497" marR="584185" algn="ctr">
              <a:lnSpc>
                <a:spcPct val="100699"/>
              </a:lnSpc>
              <a:spcBef>
                <a:spcPts val="2240"/>
              </a:spcBef>
            </a:pPr>
            <a:r>
              <a:rPr sz="2400" b="1" dirty="0">
                <a:latin typeface="MS PGothic"/>
                <a:cs typeface="MS PGothic"/>
              </a:rPr>
              <a:t>⇒</a:t>
            </a:r>
            <a:r>
              <a:rPr sz="2400" b="1" spc="-107" dirty="0">
                <a:latin typeface="MS PGothic"/>
                <a:cs typeface="MS PGothic"/>
              </a:rPr>
              <a:t> </a:t>
            </a:r>
            <a:r>
              <a:rPr sz="2400" b="1" dirty="0">
                <a:latin typeface="Arial"/>
                <a:cs typeface="Arial"/>
              </a:rPr>
              <a:t>large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number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smaller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high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quality </a:t>
            </a:r>
            <a:r>
              <a:rPr sz="2400" b="1" dirty="0">
                <a:latin typeface="Arial"/>
                <a:cs typeface="Arial"/>
              </a:rPr>
              <a:t>datasets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may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improve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cross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domain </a:t>
            </a:r>
            <a:r>
              <a:rPr sz="2400" b="1" dirty="0">
                <a:latin typeface="Arial"/>
                <a:cs typeface="Arial"/>
              </a:rPr>
              <a:t>knowledge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+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generalization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03A2A6B-B8DD-4A97-827F-A3DD2D7629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99</a:t>
            </a:fld>
            <a:endParaRPr lang="en-US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79499" y="2723700"/>
            <a:ext cx="2033693" cy="1411393"/>
            <a:chOff x="3809624" y="2042774"/>
            <a:chExt cx="1525270" cy="1058545"/>
          </a:xfrm>
        </p:grpSpPr>
        <p:sp>
          <p:nvSpPr>
            <p:cNvPr id="3" name="object 3"/>
            <p:cNvSpPr/>
            <p:nvPr/>
          </p:nvSpPr>
          <p:spPr>
            <a:xfrm>
              <a:off x="3819149" y="2052299"/>
              <a:ext cx="1506220" cy="1039494"/>
            </a:xfrm>
            <a:custGeom>
              <a:avLst/>
              <a:gdLst/>
              <a:ahLst/>
              <a:cxnLst/>
              <a:rect l="l" t="t" r="r" b="b"/>
              <a:pathLst>
                <a:path w="1506220" h="1039494">
                  <a:moveTo>
                    <a:pt x="1332546" y="1038899"/>
                  </a:moveTo>
                  <a:lnTo>
                    <a:pt x="173153" y="1038899"/>
                  </a:lnTo>
                  <a:lnTo>
                    <a:pt x="127122" y="1032714"/>
                  </a:lnTo>
                  <a:lnTo>
                    <a:pt x="85759" y="1015259"/>
                  </a:lnTo>
                  <a:lnTo>
                    <a:pt x="50715" y="988184"/>
                  </a:lnTo>
                  <a:lnTo>
                    <a:pt x="23640" y="953140"/>
                  </a:lnTo>
                  <a:lnTo>
                    <a:pt x="6185" y="911777"/>
                  </a:lnTo>
                  <a:lnTo>
                    <a:pt x="0" y="865746"/>
                  </a:lnTo>
                  <a:lnTo>
                    <a:pt x="0" y="173153"/>
                  </a:lnTo>
                  <a:lnTo>
                    <a:pt x="6185" y="127122"/>
                  </a:lnTo>
                  <a:lnTo>
                    <a:pt x="23640" y="85759"/>
                  </a:lnTo>
                  <a:lnTo>
                    <a:pt x="50715" y="50715"/>
                  </a:lnTo>
                  <a:lnTo>
                    <a:pt x="85759" y="23640"/>
                  </a:lnTo>
                  <a:lnTo>
                    <a:pt x="127122" y="6185"/>
                  </a:lnTo>
                  <a:lnTo>
                    <a:pt x="173153" y="0"/>
                  </a:lnTo>
                  <a:lnTo>
                    <a:pt x="1332546" y="0"/>
                  </a:lnTo>
                  <a:lnTo>
                    <a:pt x="1398809" y="13180"/>
                  </a:lnTo>
                  <a:lnTo>
                    <a:pt x="1454984" y="50715"/>
                  </a:lnTo>
                  <a:lnTo>
                    <a:pt x="1492519" y="106890"/>
                  </a:lnTo>
                  <a:lnTo>
                    <a:pt x="1505699" y="173153"/>
                  </a:lnTo>
                  <a:lnTo>
                    <a:pt x="1505699" y="865746"/>
                  </a:lnTo>
                  <a:lnTo>
                    <a:pt x="1499514" y="911777"/>
                  </a:lnTo>
                  <a:lnTo>
                    <a:pt x="1482059" y="953140"/>
                  </a:lnTo>
                  <a:lnTo>
                    <a:pt x="1454984" y="988184"/>
                  </a:lnTo>
                  <a:lnTo>
                    <a:pt x="1419940" y="1015259"/>
                  </a:lnTo>
                  <a:lnTo>
                    <a:pt x="1378577" y="1032714"/>
                  </a:lnTo>
                  <a:lnTo>
                    <a:pt x="1332546" y="10388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9149" y="2052299"/>
              <a:ext cx="1506220" cy="1039494"/>
            </a:xfrm>
            <a:custGeom>
              <a:avLst/>
              <a:gdLst/>
              <a:ahLst/>
              <a:cxnLst/>
              <a:rect l="l" t="t" r="r" b="b"/>
              <a:pathLst>
                <a:path w="1506220" h="1039494">
                  <a:moveTo>
                    <a:pt x="0" y="173153"/>
                  </a:moveTo>
                  <a:lnTo>
                    <a:pt x="6185" y="127122"/>
                  </a:lnTo>
                  <a:lnTo>
                    <a:pt x="23640" y="85759"/>
                  </a:lnTo>
                  <a:lnTo>
                    <a:pt x="50715" y="50715"/>
                  </a:lnTo>
                  <a:lnTo>
                    <a:pt x="85759" y="23640"/>
                  </a:lnTo>
                  <a:lnTo>
                    <a:pt x="127122" y="6185"/>
                  </a:lnTo>
                  <a:lnTo>
                    <a:pt x="173153" y="0"/>
                  </a:lnTo>
                  <a:lnTo>
                    <a:pt x="1332546" y="0"/>
                  </a:lnTo>
                  <a:lnTo>
                    <a:pt x="1398809" y="13180"/>
                  </a:lnTo>
                  <a:lnTo>
                    <a:pt x="1454984" y="50715"/>
                  </a:lnTo>
                  <a:lnTo>
                    <a:pt x="1492519" y="106890"/>
                  </a:lnTo>
                  <a:lnTo>
                    <a:pt x="1505699" y="173153"/>
                  </a:lnTo>
                  <a:lnTo>
                    <a:pt x="1505699" y="865746"/>
                  </a:lnTo>
                  <a:lnTo>
                    <a:pt x="1499514" y="911777"/>
                  </a:lnTo>
                  <a:lnTo>
                    <a:pt x="1482059" y="953140"/>
                  </a:lnTo>
                  <a:lnTo>
                    <a:pt x="1454984" y="988184"/>
                  </a:lnTo>
                  <a:lnTo>
                    <a:pt x="1419940" y="1015259"/>
                  </a:lnTo>
                  <a:lnTo>
                    <a:pt x="1378577" y="1032714"/>
                  </a:lnTo>
                  <a:lnTo>
                    <a:pt x="1332546" y="1038899"/>
                  </a:lnTo>
                  <a:lnTo>
                    <a:pt x="173153" y="1038899"/>
                  </a:lnTo>
                  <a:lnTo>
                    <a:pt x="127122" y="1032714"/>
                  </a:lnTo>
                  <a:lnTo>
                    <a:pt x="85759" y="1015259"/>
                  </a:lnTo>
                  <a:lnTo>
                    <a:pt x="50715" y="988184"/>
                  </a:lnTo>
                  <a:lnTo>
                    <a:pt x="23640" y="953140"/>
                  </a:lnTo>
                  <a:lnTo>
                    <a:pt x="6185" y="911777"/>
                  </a:lnTo>
                  <a:lnTo>
                    <a:pt x="0" y="865746"/>
                  </a:lnTo>
                  <a:lnTo>
                    <a:pt x="0" y="173153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08188" y="3167607"/>
            <a:ext cx="1375833" cy="489087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067" b="1" dirty="0"/>
              <a:t>825</a:t>
            </a:r>
            <a:r>
              <a:rPr sz="3067" b="1" spc="-20" dirty="0"/>
              <a:t> </a:t>
            </a:r>
            <a:r>
              <a:rPr sz="3067" b="1" spc="-33" dirty="0"/>
              <a:t>GB</a:t>
            </a:r>
            <a:endParaRPr sz="3067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A9667-0F97-45F7-A3EF-76AB7CF4F8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100</a:t>
            </a:fld>
            <a:endParaRPr 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Relative</a:t>
            </a:r>
            <a:r>
              <a:rPr spc="-20" dirty="0"/>
              <a:t> </a:t>
            </a:r>
            <a:r>
              <a:rPr spc="-13" dirty="0"/>
              <a:t>component-</a:t>
            </a:r>
            <a:r>
              <a:rPr dirty="0"/>
              <a:t>wise</a:t>
            </a:r>
            <a:r>
              <a:rPr spc="-7" dirty="0"/>
              <a:t> </a:t>
            </a:r>
            <a:r>
              <a:rPr spc="-53" dirty="0"/>
              <a:t>GPT-</a:t>
            </a:r>
            <a:r>
              <a:rPr dirty="0"/>
              <a:t>3</a:t>
            </a:r>
            <a:r>
              <a:rPr spc="-7" dirty="0"/>
              <a:t> </a:t>
            </a:r>
            <a:r>
              <a:rPr dirty="0"/>
              <a:t>Pile </a:t>
            </a:r>
            <a:r>
              <a:rPr spc="-13" dirty="0"/>
              <a:t>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1271" y="2245632"/>
            <a:ext cx="8564880" cy="16380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540" algn="ctr">
              <a:spcBef>
                <a:spcPts val="133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Components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GPT-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underperforms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  <a:p>
            <a:pPr algn="ctr">
              <a:spcBef>
                <a:spcPts val="2027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≈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Pile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components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most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dissimilar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GPT-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pre-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corpus</a:t>
            </a:r>
            <a:endParaRPr sz="2400">
              <a:latin typeface="Arial"/>
              <a:cs typeface="Arial"/>
            </a:endParaRPr>
          </a:p>
          <a:p>
            <a:pPr algn="ctr">
              <a:spcBef>
                <a:spcPts val="2033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Good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candidates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supplementing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GPT-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pre-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training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7C11B-2E79-4883-B145-C8F4FF9E7D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101</a:t>
            </a:fld>
            <a:endParaRPr 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How</a:t>
            </a:r>
            <a:r>
              <a:rPr spc="-7" dirty="0"/>
              <a:t> </a:t>
            </a:r>
            <a:r>
              <a:rPr dirty="0"/>
              <a:t>to</a:t>
            </a:r>
            <a:r>
              <a:rPr spc="7" dirty="0"/>
              <a:t> </a:t>
            </a:r>
            <a:r>
              <a:rPr spc="-13" dirty="0"/>
              <a:t>compare?</a:t>
            </a:r>
            <a:r>
              <a:rPr spc="-180" dirty="0"/>
              <a:t> </a:t>
            </a:r>
            <a:r>
              <a:rPr dirty="0"/>
              <a:t>A</a:t>
            </a:r>
            <a:r>
              <a:rPr spc="-180" dirty="0"/>
              <a:t> </a:t>
            </a:r>
            <a:r>
              <a:rPr dirty="0"/>
              <a:t>proxy</a:t>
            </a:r>
            <a:r>
              <a:rPr spc="13" dirty="0"/>
              <a:t> </a:t>
            </a:r>
            <a:r>
              <a:rPr spc="-13" dirty="0"/>
              <a:t>measure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1621807"/>
            <a:ext cx="9918700" cy="14328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GPT-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trained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scratch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Pile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vs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original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GPT-</a:t>
            </a:r>
            <a:r>
              <a:rPr sz="2400" spc="-67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625671" indent="-558786">
              <a:spcBef>
                <a:spcPts val="2033"/>
              </a:spcBef>
              <a:buAutoNum type="arabicPeriod"/>
              <a:tabLst>
                <a:tab pos="625671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measure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improvement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GPT2-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Pile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GPT-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component</a:t>
            </a:r>
            <a:endParaRPr sz="2400">
              <a:latin typeface="Arial"/>
              <a:cs typeface="Arial"/>
            </a:endParaRPr>
          </a:p>
          <a:p>
            <a:pPr marL="625671" indent="-558786">
              <a:spcBef>
                <a:spcPts val="427"/>
              </a:spcBef>
              <a:buAutoNum type="arabicPeriod"/>
              <a:tabLst>
                <a:tab pos="625671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normalize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setting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OpenWebText2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zero.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A8443-ADE1-4140-8A1B-CAF11C0756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102</a:t>
            </a:fld>
            <a:endParaRPr lang="en-US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43093" y="2413913"/>
            <a:ext cx="8328660" cy="2782147"/>
            <a:chOff x="1157319" y="1810435"/>
            <a:chExt cx="6246495" cy="20866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7319" y="1810435"/>
              <a:ext cx="6211633" cy="16133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7738" y="3454496"/>
              <a:ext cx="4215733" cy="44196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27103" y="5301507"/>
            <a:ext cx="73160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difference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intrinsic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difficulty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set</a:t>
            </a:r>
            <a:r>
              <a:rPr sz="2400" b="1" i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i="1" spc="-27" dirty="0">
                <a:latin typeface="Arial"/>
                <a:cs typeface="Arial"/>
              </a:rPr>
              <a:t>owt2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2800" y="716096"/>
            <a:ext cx="14630400" cy="824176"/>
          </a:xfrm>
          <a:prstGeom prst="rect">
            <a:avLst/>
          </a:prstGeom>
        </p:spPr>
        <p:txBody>
          <a:bodyPr vert="horz" wrap="square" lIns="0" tIns="45044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10016">
              <a:spcBef>
                <a:spcPts val="133"/>
              </a:spcBef>
            </a:pPr>
            <a:r>
              <a:rPr sz="2400" b="1" dirty="0"/>
              <a:t>How</a:t>
            </a:r>
            <a:r>
              <a:rPr sz="2400" b="1" spc="-40" dirty="0"/>
              <a:t> </a:t>
            </a:r>
            <a:r>
              <a:rPr sz="2400" b="1" dirty="0"/>
              <a:t>much</a:t>
            </a:r>
            <a:r>
              <a:rPr sz="2400" b="1" spc="-20" dirty="0"/>
              <a:t> </a:t>
            </a:r>
            <a:r>
              <a:rPr sz="2400" b="1" dirty="0"/>
              <a:t>harder</a:t>
            </a:r>
            <a:r>
              <a:rPr sz="2400" b="1" spc="-20" dirty="0"/>
              <a:t> </a:t>
            </a:r>
            <a:r>
              <a:rPr sz="2400" b="1" dirty="0"/>
              <a:t>set</a:t>
            </a:r>
            <a:r>
              <a:rPr sz="2400" b="1" spc="-20" dirty="0"/>
              <a:t> </a:t>
            </a:r>
            <a:r>
              <a:rPr sz="2400" b="1" dirty="0"/>
              <a:t>was</a:t>
            </a:r>
            <a:r>
              <a:rPr sz="2400" b="1" spc="-20" dirty="0"/>
              <a:t> </a:t>
            </a:r>
            <a:r>
              <a:rPr sz="2400" b="1" dirty="0"/>
              <a:t>for</a:t>
            </a:r>
            <a:r>
              <a:rPr sz="2400" b="1" spc="-20" dirty="0"/>
              <a:t> </a:t>
            </a:r>
            <a:r>
              <a:rPr sz="2400" b="1" spc="-40" dirty="0"/>
              <a:t>GPT-</a:t>
            </a:r>
            <a:r>
              <a:rPr sz="2400" b="1" dirty="0"/>
              <a:t>3</a:t>
            </a:r>
            <a:r>
              <a:rPr sz="2400" b="1" spc="-20" dirty="0"/>
              <a:t> </a:t>
            </a:r>
            <a:r>
              <a:rPr sz="2400" b="1" dirty="0"/>
              <a:t>than</a:t>
            </a:r>
            <a:r>
              <a:rPr sz="2400" b="1" spc="-20" dirty="0"/>
              <a:t> </a:t>
            </a:r>
            <a:r>
              <a:rPr sz="2400" b="1" spc="-27" dirty="0"/>
              <a:t>owt2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2238" y="1667974"/>
            <a:ext cx="5620977" cy="58929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30AE2-BE98-4EE0-BB34-D107221ED5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103</a:t>
            </a:fld>
            <a:endParaRPr lang="en-US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8327" y="683094"/>
            <a:ext cx="10426128" cy="510839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0683" y="649817"/>
            <a:ext cx="919480" cy="5075767"/>
            <a:chOff x="150512" y="487362"/>
            <a:chExt cx="689610" cy="3806825"/>
          </a:xfrm>
        </p:grpSpPr>
        <p:sp>
          <p:nvSpPr>
            <p:cNvPr id="4" name="object 4"/>
            <p:cNvSpPr/>
            <p:nvPr/>
          </p:nvSpPr>
          <p:spPr>
            <a:xfrm>
              <a:off x="155274" y="492125"/>
              <a:ext cx="680085" cy="3797300"/>
            </a:xfrm>
            <a:custGeom>
              <a:avLst/>
              <a:gdLst/>
              <a:ahLst/>
              <a:cxnLst/>
              <a:rect l="l" t="t" r="r" b="b"/>
              <a:pathLst>
                <a:path w="680085" h="3797300">
                  <a:moveTo>
                    <a:pt x="566247" y="3797099"/>
                  </a:moveTo>
                  <a:lnTo>
                    <a:pt x="113252" y="3797099"/>
                  </a:lnTo>
                  <a:lnTo>
                    <a:pt x="69169" y="3788200"/>
                  </a:lnTo>
                  <a:lnTo>
                    <a:pt x="33170" y="3763929"/>
                  </a:lnTo>
                  <a:lnTo>
                    <a:pt x="8899" y="3727930"/>
                  </a:lnTo>
                  <a:lnTo>
                    <a:pt x="0" y="3683847"/>
                  </a:lnTo>
                  <a:lnTo>
                    <a:pt x="0" y="113252"/>
                  </a:lnTo>
                  <a:lnTo>
                    <a:pt x="8620" y="69912"/>
                  </a:lnTo>
                  <a:lnTo>
                    <a:pt x="33170" y="33170"/>
                  </a:lnTo>
                  <a:lnTo>
                    <a:pt x="69912" y="8620"/>
                  </a:lnTo>
                  <a:lnTo>
                    <a:pt x="113252" y="0"/>
                  </a:lnTo>
                  <a:lnTo>
                    <a:pt x="566247" y="0"/>
                  </a:lnTo>
                  <a:lnTo>
                    <a:pt x="610330" y="8899"/>
                  </a:lnTo>
                  <a:lnTo>
                    <a:pt x="646329" y="33170"/>
                  </a:lnTo>
                  <a:lnTo>
                    <a:pt x="670600" y="69169"/>
                  </a:lnTo>
                  <a:lnTo>
                    <a:pt x="679499" y="113252"/>
                  </a:lnTo>
                  <a:lnTo>
                    <a:pt x="679499" y="3683847"/>
                  </a:lnTo>
                  <a:lnTo>
                    <a:pt x="670600" y="3727930"/>
                  </a:lnTo>
                  <a:lnTo>
                    <a:pt x="646329" y="3763929"/>
                  </a:lnTo>
                  <a:lnTo>
                    <a:pt x="610330" y="3788200"/>
                  </a:lnTo>
                  <a:lnTo>
                    <a:pt x="566247" y="37970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5274" y="492125"/>
              <a:ext cx="680085" cy="3797300"/>
            </a:xfrm>
            <a:custGeom>
              <a:avLst/>
              <a:gdLst/>
              <a:ahLst/>
              <a:cxnLst/>
              <a:rect l="l" t="t" r="r" b="b"/>
              <a:pathLst>
                <a:path w="680085" h="3797300">
                  <a:moveTo>
                    <a:pt x="113252" y="3797099"/>
                  </a:moveTo>
                  <a:lnTo>
                    <a:pt x="69169" y="3788200"/>
                  </a:lnTo>
                  <a:lnTo>
                    <a:pt x="33170" y="3763929"/>
                  </a:lnTo>
                  <a:lnTo>
                    <a:pt x="8899" y="3727930"/>
                  </a:lnTo>
                  <a:lnTo>
                    <a:pt x="0" y="3683847"/>
                  </a:lnTo>
                  <a:lnTo>
                    <a:pt x="0" y="113252"/>
                  </a:lnTo>
                  <a:lnTo>
                    <a:pt x="8620" y="69912"/>
                  </a:lnTo>
                  <a:lnTo>
                    <a:pt x="33170" y="33170"/>
                  </a:lnTo>
                  <a:lnTo>
                    <a:pt x="69912" y="8620"/>
                  </a:lnTo>
                  <a:lnTo>
                    <a:pt x="113252" y="0"/>
                  </a:lnTo>
                  <a:lnTo>
                    <a:pt x="566247" y="0"/>
                  </a:lnTo>
                  <a:lnTo>
                    <a:pt x="610330" y="8899"/>
                  </a:lnTo>
                  <a:lnTo>
                    <a:pt x="646329" y="33170"/>
                  </a:lnTo>
                  <a:lnTo>
                    <a:pt x="670600" y="69169"/>
                  </a:lnTo>
                  <a:lnTo>
                    <a:pt x="679499" y="113252"/>
                  </a:lnTo>
                  <a:lnTo>
                    <a:pt x="679499" y="3683847"/>
                  </a:lnTo>
                  <a:lnTo>
                    <a:pt x="670600" y="3727930"/>
                  </a:lnTo>
                  <a:lnTo>
                    <a:pt x="646329" y="3763929"/>
                  </a:lnTo>
                  <a:lnTo>
                    <a:pt x="610330" y="3788200"/>
                  </a:lnTo>
                  <a:lnTo>
                    <a:pt x="566247" y="3797099"/>
                  </a:lnTo>
                  <a:lnTo>
                    <a:pt x="113252" y="3797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9464" y="1080792"/>
            <a:ext cx="448841" cy="421555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33">
              <a:lnSpc>
                <a:spcPts val="3520"/>
              </a:lnSpc>
            </a:pPr>
            <a:r>
              <a:rPr sz="3067" dirty="0">
                <a:latin typeface="Arial"/>
                <a:cs typeface="Arial"/>
              </a:rPr>
              <a:t>Difference</a:t>
            </a:r>
            <a:r>
              <a:rPr sz="3067" spc="-73" dirty="0">
                <a:latin typeface="Arial"/>
                <a:cs typeface="Arial"/>
              </a:rPr>
              <a:t> </a:t>
            </a:r>
            <a:r>
              <a:rPr sz="3067" dirty="0">
                <a:latin typeface="Arial"/>
                <a:cs typeface="Arial"/>
              </a:rPr>
              <a:t>in</a:t>
            </a:r>
            <a:r>
              <a:rPr sz="3067" spc="-73" dirty="0">
                <a:latin typeface="Arial"/>
                <a:cs typeface="Arial"/>
              </a:rPr>
              <a:t> </a:t>
            </a:r>
            <a:r>
              <a:rPr sz="3067" dirty="0">
                <a:latin typeface="Arial"/>
                <a:cs typeface="Arial"/>
              </a:rPr>
              <a:t>difficulty</a:t>
            </a:r>
            <a:r>
              <a:rPr sz="3067" spc="-67" dirty="0">
                <a:latin typeface="Arial"/>
                <a:cs typeface="Arial"/>
              </a:rPr>
              <a:t> →</a:t>
            </a:r>
            <a:endParaRPr sz="3067">
              <a:latin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271BB5-A6E1-41C7-A195-2A073F9C7F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8327" y="683094"/>
            <a:ext cx="10426128" cy="510839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0683" y="649817"/>
            <a:ext cx="919480" cy="5075767"/>
            <a:chOff x="150512" y="487362"/>
            <a:chExt cx="689610" cy="3806825"/>
          </a:xfrm>
        </p:grpSpPr>
        <p:sp>
          <p:nvSpPr>
            <p:cNvPr id="4" name="object 4"/>
            <p:cNvSpPr/>
            <p:nvPr/>
          </p:nvSpPr>
          <p:spPr>
            <a:xfrm>
              <a:off x="155274" y="492125"/>
              <a:ext cx="680085" cy="3797300"/>
            </a:xfrm>
            <a:custGeom>
              <a:avLst/>
              <a:gdLst/>
              <a:ahLst/>
              <a:cxnLst/>
              <a:rect l="l" t="t" r="r" b="b"/>
              <a:pathLst>
                <a:path w="680085" h="3797300">
                  <a:moveTo>
                    <a:pt x="566247" y="3797099"/>
                  </a:moveTo>
                  <a:lnTo>
                    <a:pt x="113252" y="3797099"/>
                  </a:lnTo>
                  <a:lnTo>
                    <a:pt x="69169" y="3788200"/>
                  </a:lnTo>
                  <a:lnTo>
                    <a:pt x="33170" y="3763929"/>
                  </a:lnTo>
                  <a:lnTo>
                    <a:pt x="8899" y="3727930"/>
                  </a:lnTo>
                  <a:lnTo>
                    <a:pt x="0" y="3683847"/>
                  </a:lnTo>
                  <a:lnTo>
                    <a:pt x="0" y="113252"/>
                  </a:lnTo>
                  <a:lnTo>
                    <a:pt x="8620" y="69912"/>
                  </a:lnTo>
                  <a:lnTo>
                    <a:pt x="33170" y="33170"/>
                  </a:lnTo>
                  <a:lnTo>
                    <a:pt x="69912" y="8620"/>
                  </a:lnTo>
                  <a:lnTo>
                    <a:pt x="113252" y="0"/>
                  </a:lnTo>
                  <a:lnTo>
                    <a:pt x="566247" y="0"/>
                  </a:lnTo>
                  <a:lnTo>
                    <a:pt x="610330" y="8899"/>
                  </a:lnTo>
                  <a:lnTo>
                    <a:pt x="646329" y="33170"/>
                  </a:lnTo>
                  <a:lnTo>
                    <a:pt x="670600" y="69169"/>
                  </a:lnTo>
                  <a:lnTo>
                    <a:pt x="679499" y="113252"/>
                  </a:lnTo>
                  <a:lnTo>
                    <a:pt x="679499" y="3683847"/>
                  </a:lnTo>
                  <a:lnTo>
                    <a:pt x="670600" y="3727930"/>
                  </a:lnTo>
                  <a:lnTo>
                    <a:pt x="646329" y="3763929"/>
                  </a:lnTo>
                  <a:lnTo>
                    <a:pt x="610330" y="3788200"/>
                  </a:lnTo>
                  <a:lnTo>
                    <a:pt x="566247" y="37970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5274" y="492125"/>
              <a:ext cx="680085" cy="3797300"/>
            </a:xfrm>
            <a:custGeom>
              <a:avLst/>
              <a:gdLst/>
              <a:ahLst/>
              <a:cxnLst/>
              <a:rect l="l" t="t" r="r" b="b"/>
              <a:pathLst>
                <a:path w="680085" h="3797300">
                  <a:moveTo>
                    <a:pt x="113252" y="3797099"/>
                  </a:moveTo>
                  <a:lnTo>
                    <a:pt x="69169" y="3788200"/>
                  </a:lnTo>
                  <a:lnTo>
                    <a:pt x="33170" y="3763929"/>
                  </a:lnTo>
                  <a:lnTo>
                    <a:pt x="8899" y="3727930"/>
                  </a:lnTo>
                  <a:lnTo>
                    <a:pt x="0" y="3683847"/>
                  </a:lnTo>
                  <a:lnTo>
                    <a:pt x="0" y="113252"/>
                  </a:lnTo>
                  <a:lnTo>
                    <a:pt x="8620" y="69912"/>
                  </a:lnTo>
                  <a:lnTo>
                    <a:pt x="33170" y="33170"/>
                  </a:lnTo>
                  <a:lnTo>
                    <a:pt x="69912" y="8620"/>
                  </a:lnTo>
                  <a:lnTo>
                    <a:pt x="113252" y="0"/>
                  </a:lnTo>
                  <a:lnTo>
                    <a:pt x="566247" y="0"/>
                  </a:lnTo>
                  <a:lnTo>
                    <a:pt x="610330" y="8899"/>
                  </a:lnTo>
                  <a:lnTo>
                    <a:pt x="646329" y="33170"/>
                  </a:lnTo>
                  <a:lnTo>
                    <a:pt x="670600" y="69169"/>
                  </a:lnTo>
                  <a:lnTo>
                    <a:pt x="679499" y="113252"/>
                  </a:lnTo>
                  <a:lnTo>
                    <a:pt x="679499" y="3683847"/>
                  </a:lnTo>
                  <a:lnTo>
                    <a:pt x="670600" y="3727930"/>
                  </a:lnTo>
                  <a:lnTo>
                    <a:pt x="646329" y="3763929"/>
                  </a:lnTo>
                  <a:lnTo>
                    <a:pt x="610330" y="3788200"/>
                  </a:lnTo>
                  <a:lnTo>
                    <a:pt x="566247" y="3797099"/>
                  </a:lnTo>
                  <a:lnTo>
                    <a:pt x="113252" y="3797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9464" y="1080792"/>
            <a:ext cx="448841" cy="421555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6933">
              <a:lnSpc>
                <a:spcPts val="3520"/>
              </a:lnSpc>
            </a:pPr>
            <a:r>
              <a:rPr sz="3067" dirty="0">
                <a:latin typeface="Arial"/>
                <a:cs typeface="Arial"/>
              </a:rPr>
              <a:t>Difference</a:t>
            </a:r>
            <a:r>
              <a:rPr sz="3067" spc="-73" dirty="0">
                <a:latin typeface="Arial"/>
                <a:cs typeface="Arial"/>
              </a:rPr>
              <a:t> </a:t>
            </a:r>
            <a:r>
              <a:rPr sz="3067" dirty="0">
                <a:latin typeface="Arial"/>
                <a:cs typeface="Arial"/>
              </a:rPr>
              <a:t>in</a:t>
            </a:r>
            <a:r>
              <a:rPr sz="3067" spc="-73" dirty="0">
                <a:latin typeface="Arial"/>
                <a:cs typeface="Arial"/>
              </a:rPr>
              <a:t> </a:t>
            </a:r>
            <a:r>
              <a:rPr sz="3067" dirty="0">
                <a:latin typeface="Arial"/>
                <a:cs typeface="Arial"/>
              </a:rPr>
              <a:t>difficulty</a:t>
            </a:r>
            <a:r>
              <a:rPr sz="3067" spc="-67" dirty="0">
                <a:latin typeface="Arial"/>
                <a:cs typeface="Arial"/>
              </a:rPr>
              <a:t> →</a:t>
            </a:r>
            <a:endParaRPr sz="3067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26233" y="467383"/>
            <a:ext cx="8008620" cy="1877060"/>
            <a:chOff x="3019674" y="350537"/>
            <a:chExt cx="6006465" cy="1407795"/>
          </a:xfrm>
        </p:grpSpPr>
        <p:sp>
          <p:nvSpPr>
            <p:cNvPr id="8" name="object 8"/>
            <p:cNvSpPr/>
            <p:nvPr/>
          </p:nvSpPr>
          <p:spPr>
            <a:xfrm>
              <a:off x="3024437" y="355299"/>
              <a:ext cx="5996940" cy="1398270"/>
            </a:xfrm>
            <a:custGeom>
              <a:avLst/>
              <a:gdLst/>
              <a:ahLst/>
              <a:cxnLst/>
              <a:rect l="l" t="t" r="r" b="b"/>
              <a:pathLst>
                <a:path w="5996940" h="1398270">
                  <a:moveTo>
                    <a:pt x="5763694" y="1397999"/>
                  </a:moveTo>
                  <a:lnTo>
                    <a:pt x="233004" y="1397999"/>
                  </a:lnTo>
                  <a:lnTo>
                    <a:pt x="186046" y="1393266"/>
                  </a:lnTo>
                  <a:lnTo>
                    <a:pt x="142308" y="1379689"/>
                  </a:lnTo>
                  <a:lnTo>
                    <a:pt x="102729" y="1358206"/>
                  </a:lnTo>
                  <a:lnTo>
                    <a:pt x="68245" y="1329754"/>
                  </a:lnTo>
                  <a:lnTo>
                    <a:pt x="39793" y="1295270"/>
                  </a:lnTo>
                  <a:lnTo>
                    <a:pt x="18310" y="1255691"/>
                  </a:lnTo>
                  <a:lnTo>
                    <a:pt x="4733" y="1211953"/>
                  </a:lnTo>
                  <a:lnTo>
                    <a:pt x="0" y="1164995"/>
                  </a:lnTo>
                  <a:lnTo>
                    <a:pt x="0" y="233004"/>
                  </a:lnTo>
                  <a:lnTo>
                    <a:pt x="4733" y="186046"/>
                  </a:lnTo>
                  <a:lnTo>
                    <a:pt x="18310" y="142308"/>
                  </a:lnTo>
                  <a:lnTo>
                    <a:pt x="39793" y="102729"/>
                  </a:lnTo>
                  <a:lnTo>
                    <a:pt x="68245" y="68245"/>
                  </a:lnTo>
                  <a:lnTo>
                    <a:pt x="102729" y="39793"/>
                  </a:lnTo>
                  <a:lnTo>
                    <a:pt x="142308" y="18310"/>
                  </a:lnTo>
                  <a:lnTo>
                    <a:pt x="186046" y="4733"/>
                  </a:lnTo>
                  <a:lnTo>
                    <a:pt x="233004" y="0"/>
                  </a:lnTo>
                  <a:lnTo>
                    <a:pt x="5763694" y="0"/>
                  </a:lnTo>
                  <a:lnTo>
                    <a:pt x="5809364" y="4518"/>
                  </a:lnTo>
                  <a:lnTo>
                    <a:pt x="5852862" y="17736"/>
                  </a:lnTo>
                  <a:lnTo>
                    <a:pt x="5892966" y="39147"/>
                  </a:lnTo>
                  <a:lnTo>
                    <a:pt x="5928454" y="68245"/>
                  </a:lnTo>
                  <a:lnTo>
                    <a:pt x="5957552" y="103733"/>
                  </a:lnTo>
                  <a:lnTo>
                    <a:pt x="5978963" y="143837"/>
                  </a:lnTo>
                  <a:lnTo>
                    <a:pt x="5992181" y="187335"/>
                  </a:lnTo>
                  <a:lnTo>
                    <a:pt x="5996699" y="233004"/>
                  </a:lnTo>
                  <a:lnTo>
                    <a:pt x="5996699" y="1164995"/>
                  </a:lnTo>
                  <a:lnTo>
                    <a:pt x="5991966" y="1211953"/>
                  </a:lnTo>
                  <a:lnTo>
                    <a:pt x="5978389" y="1255691"/>
                  </a:lnTo>
                  <a:lnTo>
                    <a:pt x="5956906" y="1295270"/>
                  </a:lnTo>
                  <a:lnTo>
                    <a:pt x="5928454" y="1329754"/>
                  </a:lnTo>
                  <a:lnTo>
                    <a:pt x="5893970" y="1358206"/>
                  </a:lnTo>
                  <a:lnTo>
                    <a:pt x="5854391" y="1379689"/>
                  </a:lnTo>
                  <a:lnTo>
                    <a:pt x="5810653" y="1393266"/>
                  </a:lnTo>
                  <a:lnTo>
                    <a:pt x="5763694" y="13979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4437" y="355299"/>
              <a:ext cx="5996940" cy="1398270"/>
            </a:xfrm>
            <a:custGeom>
              <a:avLst/>
              <a:gdLst/>
              <a:ahLst/>
              <a:cxnLst/>
              <a:rect l="l" t="t" r="r" b="b"/>
              <a:pathLst>
                <a:path w="5996940" h="1398270">
                  <a:moveTo>
                    <a:pt x="0" y="233004"/>
                  </a:moveTo>
                  <a:lnTo>
                    <a:pt x="4733" y="186046"/>
                  </a:lnTo>
                  <a:lnTo>
                    <a:pt x="18310" y="142308"/>
                  </a:lnTo>
                  <a:lnTo>
                    <a:pt x="39793" y="102729"/>
                  </a:lnTo>
                  <a:lnTo>
                    <a:pt x="68245" y="68245"/>
                  </a:lnTo>
                  <a:lnTo>
                    <a:pt x="102729" y="39793"/>
                  </a:lnTo>
                  <a:lnTo>
                    <a:pt x="142308" y="18310"/>
                  </a:lnTo>
                  <a:lnTo>
                    <a:pt x="186046" y="4733"/>
                  </a:lnTo>
                  <a:lnTo>
                    <a:pt x="233004" y="0"/>
                  </a:lnTo>
                  <a:lnTo>
                    <a:pt x="5763694" y="0"/>
                  </a:lnTo>
                  <a:lnTo>
                    <a:pt x="5809364" y="4518"/>
                  </a:lnTo>
                  <a:lnTo>
                    <a:pt x="5852862" y="17736"/>
                  </a:lnTo>
                  <a:lnTo>
                    <a:pt x="5892966" y="39147"/>
                  </a:lnTo>
                  <a:lnTo>
                    <a:pt x="5928454" y="68245"/>
                  </a:lnTo>
                  <a:lnTo>
                    <a:pt x="5957552" y="103733"/>
                  </a:lnTo>
                  <a:lnTo>
                    <a:pt x="5978963" y="143837"/>
                  </a:lnTo>
                  <a:lnTo>
                    <a:pt x="5992181" y="187335"/>
                  </a:lnTo>
                  <a:lnTo>
                    <a:pt x="5996699" y="233004"/>
                  </a:lnTo>
                  <a:lnTo>
                    <a:pt x="5996699" y="1164995"/>
                  </a:lnTo>
                  <a:lnTo>
                    <a:pt x="5991966" y="1211953"/>
                  </a:lnTo>
                  <a:lnTo>
                    <a:pt x="5978389" y="1255691"/>
                  </a:lnTo>
                  <a:lnTo>
                    <a:pt x="5956906" y="1295270"/>
                  </a:lnTo>
                  <a:lnTo>
                    <a:pt x="5928454" y="1329754"/>
                  </a:lnTo>
                  <a:lnTo>
                    <a:pt x="5893970" y="1358206"/>
                  </a:lnTo>
                  <a:lnTo>
                    <a:pt x="5854391" y="1379689"/>
                  </a:lnTo>
                  <a:lnTo>
                    <a:pt x="5810653" y="1393266"/>
                  </a:lnTo>
                  <a:lnTo>
                    <a:pt x="5763694" y="1397999"/>
                  </a:lnTo>
                  <a:lnTo>
                    <a:pt x="233004" y="1397999"/>
                  </a:lnTo>
                  <a:lnTo>
                    <a:pt x="186046" y="1393266"/>
                  </a:lnTo>
                  <a:lnTo>
                    <a:pt x="142308" y="1379689"/>
                  </a:lnTo>
                  <a:lnTo>
                    <a:pt x="102729" y="1358206"/>
                  </a:lnTo>
                  <a:lnTo>
                    <a:pt x="68245" y="1329754"/>
                  </a:lnTo>
                  <a:lnTo>
                    <a:pt x="39793" y="1295270"/>
                  </a:lnTo>
                  <a:lnTo>
                    <a:pt x="18310" y="1255691"/>
                  </a:lnTo>
                  <a:lnTo>
                    <a:pt x="4733" y="1211953"/>
                  </a:lnTo>
                  <a:lnTo>
                    <a:pt x="0" y="1164995"/>
                  </a:lnTo>
                  <a:lnTo>
                    <a:pt x="0" y="23300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447859" y="1191960"/>
            <a:ext cx="7165340" cy="406885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b="1" dirty="0"/>
              <a:t>majority</a:t>
            </a:r>
            <a:r>
              <a:rPr sz="2533" b="1" spc="-47" dirty="0"/>
              <a:t> </a:t>
            </a:r>
            <a:r>
              <a:rPr sz="2533" b="1" dirty="0"/>
              <a:t>of</a:t>
            </a:r>
            <a:r>
              <a:rPr sz="2533" b="1" spc="-27" dirty="0"/>
              <a:t> </a:t>
            </a:r>
            <a:r>
              <a:rPr sz="2533" b="1" dirty="0"/>
              <a:t>Pile</a:t>
            </a:r>
            <a:r>
              <a:rPr sz="2533" b="1" spc="-33" dirty="0"/>
              <a:t> </a:t>
            </a:r>
            <a:r>
              <a:rPr sz="2533" b="1" dirty="0"/>
              <a:t>components</a:t>
            </a:r>
            <a:r>
              <a:rPr sz="2533" b="1" spc="-27" dirty="0"/>
              <a:t> </a:t>
            </a:r>
            <a:r>
              <a:rPr sz="2533" b="1" dirty="0"/>
              <a:t>are</a:t>
            </a:r>
            <a:r>
              <a:rPr sz="2533" b="1" spc="-20" dirty="0"/>
              <a:t> </a:t>
            </a:r>
            <a:r>
              <a:rPr sz="2533" b="1" u="heavy" dirty="0">
                <a:uFill>
                  <a:solidFill>
                    <a:srgbClr val="000000"/>
                  </a:solidFill>
                </a:uFill>
              </a:rPr>
              <a:t>not</a:t>
            </a:r>
            <a:r>
              <a:rPr sz="2533" b="1" spc="-27" dirty="0"/>
              <a:t> </a:t>
            </a:r>
            <a:r>
              <a:rPr sz="2533" b="1" spc="-13" dirty="0"/>
              <a:t>redundant</a:t>
            </a:r>
            <a:endParaRPr sz="2533"/>
          </a:p>
        </p:txBody>
      </p:sp>
      <p:grpSp>
        <p:nvGrpSpPr>
          <p:cNvPr id="11" name="object 11"/>
          <p:cNvGrpSpPr/>
          <p:nvPr/>
        </p:nvGrpSpPr>
        <p:grpSpPr>
          <a:xfrm>
            <a:off x="2826650" y="5822150"/>
            <a:ext cx="2458719" cy="524087"/>
            <a:chOff x="2119987" y="4366612"/>
            <a:chExt cx="1844039" cy="393065"/>
          </a:xfrm>
        </p:grpSpPr>
        <p:sp>
          <p:nvSpPr>
            <p:cNvPr id="12" name="object 12"/>
            <p:cNvSpPr/>
            <p:nvPr/>
          </p:nvSpPr>
          <p:spPr>
            <a:xfrm>
              <a:off x="2124749" y="4371375"/>
              <a:ext cx="1834514" cy="383540"/>
            </a:xfrm>
            <a:custGeom>
              <a:avLst/>
              <a:gdLst/>
              <a:ahLst/>
              <a:cxnLst/>
              <a:rect l="l" t="t" r="r" b="b"/>
              <a:pathLst>
                <a:path w="1834514" h="383539">
                  <a:moveTo>
                    <a:pt x="1770648" y="383099"/>
                  </a:moveTo>
                  <a:lnTo>
                    <a:pt x="63851" y="383099"/>
                  </a:lnTo>
                  <a:lnTo>
                    <a:pt x="38997" y="378082"/>
                  </a:lnTo>
                  <a:lnTo>
                    <a:pt x="18701" y="364398"/>
                  </a:lnTo>
                  <a:lnTo>
                    <a:pt x="5017" y="344102"/>
                  </a:lnTo>
                  <a:lnTo>
                    <a:pt x="0" y="319248"/>
                  </a:lnTo>
                  <a:lnTo>
                    <a:pt x="0" y="63851"/>
                  </a:lnTo>
                  <a:lnTo>
                    <a:pt x="5017" y="38997"/>
                  </a:lnTo>
                  <a:lnTo>
                    <a:pt x="18701" y="18701"/>
                  </a:lnTo>
                  <a:lnTo>
                    <a:pt x="38997" y="5017"/>
                  </a:lnTo>
                  <a:lnTo>
                    <a:pt x="63851" y="0"/>
                  </a:lnTo>
                  <a:lnTo>
                    <a:pt x="1770648" y="0"/>
                  </a:lnTo>
                  <a:lnTo>
                    <a:pt x="1815798" y="18701"/>
                  </a:lnTo>
                  <a:lnTo>
                    <a:pt x="1834499" y="63851"/>
                  </a:lnTo>
                  <a:lnTo>
                    <a:pt x="1834499" y="319248"/>
                  </a:lnTo>
                  <a:lnTo>
                    <a:pt x="1829482" y="344102"/>
                  </a:lnTo>
                  <a:lnTo>
                    <a:pt x="1815798" y="364398"/>
                  </a:lnTo>
                  <a:lnTo>
                    <a:pt x="1795502" y="378082"/>
                  </a:lnTo>
                  <a:lnTo>
                    <a:pt x="1770648" y="3830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24749" y="4371375"/>
              <a:ext cx="1834514" cy="383540"/>
            </a:xfrm>
            <a:custGeom>
              <a:avLst/>
              <a:gdLst/>
              <a:ahLst/>
              <a:cxnLst/>
              <a:rect l="l" t="t" r="r" b="b"/>
              <a:pathLst>
                <a:path w="1834514" h="383539">
                  <a:moveTo>
                    <a:pt x="0" y="63851"/>
                  </a:moveTo>
                  <a:lnTo>
                    <a:pt x="5017" y="38997"/>
                  </a:lnTo>
                  <a:lnTo>
                    <a:pt x="18701" y="18701"/>
                  </a:lnTo>
                  <a:lnTo>
                    <a:pt x="38997" y="5017"/>
                  </a:lnTo>
                  <a:lnTo>
                    <a:pt x="63851" y="0"/>
                  </a:lnTo>
                  <a:lnTo>
                    <a:pt x="1770648" y="0"/>
                  </a:lnTo>
                  <a:lnTo>
                    <a:pt x="1815798" y="18701"/>
                  </a:lnTo>
                  <a:lnTo>
                    <a:pt x="1834499" y="63851"/>
                  </a:lnTo>
                  <a:lnTo>
                    <a:pt x="1834499" y="319248"/>
                  </a:lnTo>
                  <a:lnTo>
                    <a:pt x="1829482" y="344102"/>
                  </a:lnTo>
                  <a:lnTo>
                    <a:pt x="1815798" y="364398"/>
                  </a:lnTo>
                  <a:lnTo>
                    <a:pt x="1795502" y="378082"/>
                  </a:lnTo>
                  <a:lnTo>
                    <a:pt x="1770648" y="383099"/>
                  </a:lnTo>
                  <a:lnTo>
                    <a:pt x="63851" y="383099"/>
                  </a:lnTo>
                  <a:lnTo>
                    <a:pt x="38997" y="378082"/>
                  </a:lnTo>
                  <a:lnTo>
                    <a:pt x="18701" y="364398"/>
                  </a:lnTo>
                  <a:lnTo>
                    <a:pt x="5017" y="344102"/>
                  </a:lnTo>
                  <a:lnTo>
                    <a:pt x="0" y="319248"/>
                  </a:lnTo>
                  <a:lnTo>
                    <a:pt x="0" y="638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56871" y="5917785"/>
            <a:ext cx="179832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b="1" spc="-40" dirty="0">
                <a:latin typeface="Arial"/>
                <a:cs typeface="Arial"/>
              </a:rPr>
              <a:t>GPT-</a:t>
            </a:r>
            <a:r>
              <a:rPr sz="1867" b="1" dirty="0">
                <a:latin typeface="Arial"/>
                <a:cs typeface="Arial"/>
              </a:rPr>
              <a:t>2 Pile </a:t>
            </a:r>
            <a:r>
              <a:rPr sz="1867" b="1" spc="-27" dirty="0">
                <a:latin typeface="Arial"/>
                <a:cs typeface="Arial"/>
              </a:rPr>
              <a:t>wins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999050" y="5822150"/>
            <a:ext cx="2458719" cy="524087"/>
            <a:chOff x="6749287" y="4366612"/>
            <a:chExt cx="1844039" cy="393065"/>
          </a:xfrm>
        </p:grpSpPr>
        <p:sp>
          <p:nvSpPr>
            <p:cNvPr id="16" name="object 16"/>
            <p:cNvSpPr/>
            <p:nvPr/>
          </p:nvSpPr>
          <p:spPr>
            <a:xfrm>
              <a:off x="6754049" y="4371375"/>
              <a:ext cx="1834514" cy="383540"/>
            </a:xfrm>
            <a:custGeom>
              <a:avLst/>
              <a:gdLst/>
              <a:ahLst/>
              <a:cxnLst/>
              <a:rect l="l" t="t" r="r" b="b"/>
              <a:pathLst>
                <a:path w="1834515" h="383539">
                  <a:moveTo>
                    <a:pt x="1770648" y="383099"/>
                  </a:moveTo>
                  <a:lnTo>
                    <a:pt x="63851" y="383099"/>
                  </a:lnTo>
                  <a:lnTo>
                    <a:pt x="38997" y="378082"/>
                  </a:lnTo>
                  <a:lnTo>
                    <a:pt x="18701" y="364398"/>
                  </a:lnTo>
                  <a:lnTo>
                    <a:pt x="5017" y="344102"/>
                  </a:lnTo>
                  <a:lnTo>
                    <a:pt x="0" y="319248"/>
                  </a:lnTo>
                  <a:lnTo>
                    <a:pt x="0" y="63851"/>
                  </a:lnTo>
                  <a:lnTo>
                    <a:pt x="5017" y="38997"/>
                  </a:lnTo>
                  <a:lnTo>
                    <a:pt x="18701" y="18701"/>
                  </a:lnTo>
                  <a:lnTo>
                    <a:pt x="38997" y="5017"/>
                  </a:lnTo>
                  <a:lnTo>
                    <a:pt x="63851" y="0"/>
                  </a:lnTo>
                  <a:lnTo>
                    <a:pt x="1770648" y="0"/>
                  </a:lnTo>
                  <a:lnTo>
                    <a:pt x="1815798" y="18701"/>
                  </a:lnTo>
                  <a:lnTo>
                    <a:pt x="1834499" y="63851"/>
                  </a:lnTo>
                  <a:lnTo>
                    <a:pt x="1834499" y="319248"/>
                  </a:lnTo>
                  <a:lnTo>
                    <a:pt x="1829482" y="344102"/>
                  </a:lnTo>
                  <a:lnTo>
                    <a:pt x="1815798" y="364398"/>
                  </a:lnTo>
                  <a:lnTo>
                    <a:pt x="1795502" y="378082"/>
                  </a:lnTo>
                  <a:lnTo>
                    <a:pt x="1770648" y="3830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54049" y="4371375"/>
              <a:ext cx="1834514" cy="383540"/>
            </a:xfrm>
            <a:custGeom>
              <a:avLst/>
              <a:gdLst/>
              <a:ahLst/>
              <a:cxnLst/>
              <a:rect l="l" t="t" r="r" b="b"/>
              <a:pathLst>
                <a:path w="1834515" h="383539">
                  <a:moveTo>
                    <a:pt x="0" y="63851"/>
                  </a:moveTo>
                  <a:lnTo>
                    <a:pt x="5017" y="38997"/>
                  </a:lnTo>
                  <a:lnTo>
                    <a:pt x="18701" y="18701"/>
                  </a:lnTo>
                  <a:lnTo>
                    <a:pt x="38997" y="5017"/>
                  </a:lnTo>
                  <a:lnTo>
                    <a:pt x="63851" y="0"/>
                  </a:lnTo>
                  <a:lnTo>
                    <a:pt x="1770648" y="0"/>
                  </a:lnTo>
                  <a:lnTo>
                    <a:pt x="1815798" y="18701"/>
                  </a:lnTo>
                  <a:lnTo>
                    <a:pt x="1834499" y="63851"/>
                  </a:lnTo>
                  <a:lnTo>
                    <a:pt x="1834499" y="319248"/>
                  </a:lnTo>
                  <a:lnTo>
                    <a:pt x="1829482" y="344102"/>
                  </a:lnTo>
                  <a:lnTo>
                    <a:pt x="1815798" y="364398"/>
                  </a:lnTo>
                  <a:lnTo>
                    <a:pt x="1795502" y="378082"/>
                  </a:lnTo>
                  <a:lnTo>
                    <a:pt x="1770648" y="383099"/>
                  </a:lnTo>
                  <a:lnTo>
                    <a:pt x="63851" y="383099"/>
                  </a:lnTo>
                  <a:lnTo>
                    <a:pt x="38997" y="378082"/>
                  </a:lnTo>
                  <a:lnTo>
                    <a:pt x="18701" y="364398"/>
                  </a:lnTo>
                  <a:lnTo>
                    <a:pt x="5017" y="344102"/>
                  </a:lnTo>
                  <a:lnTo>
                    <a:pt x="0" y="319248"/>
                  </a:lnTo>
                  <a:lnTo>
                    <a:pt x="0" y="638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388620" y="5778085"/>
            <a:ext cx="1678093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75719" marR="6773" indent="-559631">
              <a:lnSpc>
                <a:spcPts val="2200"/>
              </a:lnSpc>
              <a:spcBef>
                <a:spcPts val="240"/>
              </a:spcBef>
            </a:pPr>
            <a:r>
              <a:rPr sz="1867" b="1" dirty="0">
                <a:latin typeface="Arial"/>
                <a:cs typeface="Arial"/>
              </a:rPr>
              <a:t>Original</a:t>
            </a:r>
            <a:r>
              <a:rPr sz="1867" b="1" spc="-20" dirty="0">
                <a:latin typeface="Arial"/>
                <a:cs typeface="Arial"/>
              </a:rPr>
              <a:t> </a:t>
            </a:r>
            <a:r>
              <a:rPr sz="1867" b="1" spc="-40" dirty="0">
                <a:latin typeface="Arial"/>
                <a:cs typeface="Arial"/>
              </a:rPr>
              <a:t>GPT-</a:t>
            </a:r>
            <a:r>
              <a:rPr sz="1867" b="1" spc="-67" dirty="0">
                <a:latin typeface="Arial"/>
                <a:cs typeface="Arial"/>
              </a:rPr>
              <a:t>3 </a:t>
            </a:r>
            <a:r>
              <a:rPr sz="1867" b="1" spc="-27" dirty="0">
                <a:latin typeface="Arial"/>
                <a:cs typeface="Arial"/>
              </a:rPr>
              <a:t>wins</a:t>
            </a:r>
            <a:endParaRPr sz="1867">
              <a:latin typeface="Arial"/>
              <a:cs typeface="Arial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F382602-FAFF-48D8-8BC6-12CDDCF578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105</a:t>
            </a:fld>
            <a:endParaRPr lang="en-US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850" y="1077849"/>
            <a:ext cx="11046460" cy="4702387"/>
            <a:chOff x="429637" y="808387"/>
            <a:chExt cx="8284845" cy="3526790"/>
          </a:xfrm>
        </p:grpSpPr>
        <p:sp>
          <p:nvSpPr>
            <p:cNvPr id="3" name="object 3"/>
            <p:cNvSpPr/>
            <p:nvPr/>
          </p:nvSpPr>
          <p:spPr>
            <a:xfrm>
              <a:off x="434399" y="813149"/>
              <a:ext cx="8275320" cy="3517265"/>
            </a:xfrm>
            <a:custGeom>
              <a:avLst/>
              <a:gdLst/>
              <a:ahLst/>
              <a:cxnLst/>
              <a:rect l="l" t="t" r="r" b="b"/>
              <a:pathLst>
                <a:path w="8275320" h="3517265">
                  <a:moveTo>
                    <a:pt x="7688988" y="3517199"/>
                  </a:moveTo>
                  <a:lnTo>
                    <a:pt x="586211" y="3517199"/>
                  </a:lnTo>
                  <a:lnTo>
                    <a:pt x="538133" y="3515256"/>
                  </a:lnTo>
                  <a:lnTo>
                    <a:pt x="491125" y="3509527"/>
                  </a:lnTo>
                  <a:lnTo>
                    <a:pt x="445338" y="3500163"/>
                  </a:lnTo>
                  <a:lnTo>
                    <a:pt x="400923" y="3487314"/>
                  </a:lnTo>
                  <a:lnTo>
                    <a:pt x="358031" y="3471132"/>
                  </a:lnTo>
                  <a:lnTo>
                    <a:pt x="316813" y="3451768"/>
                  </a:lnTo>
                  <a:lnTo>
                    <a:pt x="277420" y="3429372"/>
                  </a:lnTo>
                  <a:lnTo>
                    <a:pt x="240002" y="3404095"/>
                  </a:lnTo>
                  <a:lnTo>
                    <a:pt x="204711" y="3376088"/>
                  </a:lnTo>
                  <a:lnTo>
                    <a:pt x="171697" y="3345502"/>
                  </a:lnTo>
                  <a:lnTo>
                    <a:pt x="141111" y="3312488"/>
                  </a:lnTo>
                  <a:lnTo>
                    <a:pt x="113104" y="3277197"/>
                  </a:lnTo>
                  <a:lnTo>
                    <a:pt x="87827" y="3239779"/>
                  </a:lnTo>
                  <a:lnTo>
                    <a:pt x="65431" y="3200386"/>
                  </a:lnTo>
                  <a:lnTo>
                    <a:pt x="46067" y="3159168"/>
                  </a:lnTo>
                  <a:lnTo>
                    <a:pt x="29885" y="3116276"/>
                  </a:lnTo>
                  <a:lnTo>
                    <a:pt x="17036" y="3071861"/>
                  </a:lnTo>
                  <a:lnTo>
                    <a:pt x="7672" y="3026074"/>
                  </a:lnTo>
                  <a:lnTo>
                    <a:pt x="1943" y="2979066"/>
                  </a:lnTo>
                  <a:lnTo>
                    <a:pt x="0" y="2930988"/>
                  </a:lnTo>
                  <a:lnTo>
                    <a:pt x="0" y="586211"/>
                  </a:lnTo>
                  <a:lnTo>
                    <a:pt x="1943" y="538133"/>
                  </a:lnTo>
                  <a:lnTo>
                    <a:pt x="7672" y="491125"/>
                  </a:lnTo>
                  <a:lnTo>
                    <a:pt x="17036" y="445338"/>
                  </a:lnTo>
                  <a:lnTo>
                    <a:pt x="29885" y="400923"/>
                  </a:lnTo>
                  <a:lnTo>
                    <a:pt x="46067" y="358031"/>
                  </a:lnTo>
                  <a:lnTo>
                    <a:pt x="65431" y="316813"/>
                  </a:lnTo>
                  <a:lnTo>
                    <a:pt x="87827" y="277420"/>
                  </a:lnTo>
                  <a:lnTo>
                    <a:pt x="113104" y="240002"/>
                  </a:lnTo>
                  <a:lnTo>
                    <a:pt x="141111" y="204711"/>
                  </a:lnTo>
                  <a:lnTo>
                    <a:pt x="171697" y="171697"/>
                  </a:lnTo>
                  <a:lnTo>
                    <a:pt x="204711" y="141111"/>
                  </a:lnTo>
                  <a:lnTo>
                    <a:pt x="240002" y="113104"/>
                  </a:lnTo>
                  <a:lnTo>
                    <a:pt x="277420" y="87828"/>
                  </a:lnTo>
                  <a:lnTo>
                    <a:pt x="316813" y="65431"/>
                  </a:lnTo>
                  <a:lnTo>
                    <a:pt x="358031" y="46067"/>
                  </a:lnTo>
                  <a:lnTo>
                    <a:pt x="400923" y="29885"/>
                  </a:lnTo>
                  <a:lnTo>
                    <a:pt x="445338" y="17036"/>
                  </a:lnTo>
                  <a:lnTo>
                    <a:pt x="491125" y="7672"/>
                  </a:lnTo>
                  <a:lnTo>
                    <a:pt x="538133" y="1943"/>
                  </a:lnTo>
                  <a:lnTo>
                    <a:pt x="586211" y="0"/>
                  </a:lnTo>
                  <a:lnTo>
                    <a:pt x="7688988" y="0"/>
                  </a:lnTo>
                  <a:lnTo>
                    <a:pt x="7740531" y="2268"/>
                  </a:lnTo>
                  <a:lnTo>
                    <a:pt x="7791333" y="9000"/>
                  </a:lnTo>
                  <a:lnTo>
                    <a:pt x="7841123" y="20083"/>
                  </a:lnTo>
                  <a:lnTo>
                    <a:pt x="7889632" y="35406"/>
                  </a:lnTo>
                  <a:lnTo>
                    <a:pt x="7936589" y="54856"/>
                  </a:lnTo>
                  <a:lnTo>
                    <a:pt x="7981724" y="78322"/>
                  </a:lnTo>
                  <a:lnTo>
                    <a:pt x="8024768" y="105692"/>
                  </a:lnTo>
                  <a:lnTo>
                    <a:pt x="8065451" y="136855"/>
                  </a:lnTo>
                  <a:lnTo>
                    <a:pt x="8103502" y="171697"/>
                  </a:lnTo>
                  <a:lnTo>
                    <a:pt x="8138344" y="209748"/>
                  </a:lnTo>
                  <a:lnTo>
                    <a:pt x="8169506" y="250431"/>
                  </a:lnTo>
                  <a:lnTo>
                    <a:pt x="8196876" y="293475"/>
                  </a:lnTo>
                  <a:lnTo>
                    <a:pt x="8220343" y="338610"/>
                  </a:lnTo>
                  <a:lnTo>
                    <a:pt x="8239793" y="385567"/>
                  </a:lnTo>
                  <a:lnTo>
                    <a:pt x="8255115" y="434076"/>
                  </a:lnTo>
                  <a:lnTo>
                    <a:pt x="8266199" y="483866"/>
                  </a:lnTo>
                  <a:lnTo>
                    <a:pt x="8272931" y="534668"/>
                  </a:lnTo>
                  <a:lnTo>
                    <a:pt x="8275199" y="586211"/>
                  </a:lnTo>
                  <a:lnTo>
                    <a:pt x="8275199" y="2930988"/>
                  </a:lnTo>
                  <a:lnTo>
                    <a:pt x="8273256" y="2979066"/>
                  </a:lnTo>
                  <a:lnTo>
                    <a:pt x="8267527" y="3026074"/>
                  </a:lnTo>
                  <a:lnTo>
                    <a:pt x="8258163" y="3071861"/>
                  </a:lnTo>
                  <a:lnTo>
                    <a:pt x="8245314" y="3116276"/>
                  </a:lnTo>
                  <a:lnTo>
                    <a:pt x="8229132" y="3159168"/>
                  </a:lnTo>
                  <a:lnTo>
                    <a:pt x="8209768" y="3200386"/>
                  </a:lnTo>
                  <a:lnTo>
                    <a:pt x="8187371" y="3239779"/>
                  </a:lnTo>
                  <a:lnTo>
                    <a:pt x="8162095" y="3277197"/>
                  </a:lnTo>
                  <a:lnTo>
                    <a:pt x="8134088" y="3312488"/>
                  </a:lnTo>
                  <a:lnTo>
                    <a:pt x="8103502" y="3345502"/>
                  </a:lnTo>
                  <a:lnTo>
                    <a:pt x="8070488" y="3376088"/>
                  </a:lnTo>
                  <a:lnTo>
                    <a:pt x="8035197" y="3404095"/>
                  </a:lnTo>
                  <a:lnTo>
                    <a:pt x="7997779" y="3429372"/>
                  </a:lnTo>
                  <a:lnTo>
                    <a:pt x="7958386" y="3451768"/>
                  </a:lnTo>
                  <a:lnTo>
                    <a:pt x="7917168" y="3471132"/>
                  </a:lnTo>
                  <a:lnTo>
                    <a:pt x="7874276" y="3487314"/>
                  </a:lnTo>
                  <a:lnTo>
                    <a:pt x="7829861" y="3500163"/>
                  </a:lnTo>
                  <a:lnTo>
                    <a:pt x="7784074" y="3509527"/>
                  </a:lnTo>
                  <a:lnTo>
                    <a:pt x="7737066" y="3515256"/>
                  </a:lnTo>
                  <a:lnTo>
                    <a:pt x="7688988" y="351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4399" y="813149"/>
              <a:ext cx="8275320" cy="3517265"/>
            </a:xfrm>
            <a:custGeom>
              <a:avLst/>
              <a:gdLst/>
              <a:ahLst/>
              <a:cxnLst/>
              <a:rect l="l" t="t" r="r" b="b"/>
              <a:pathLst>
                <a:path w="8275320" h="3517265">
                  <a:moveTo>
                    <a:pt x="0" y="586211"/>
                  </a:moveTo>
                  <a:lnTo>
                    <a:pt x="1943" y="538133"/>
                  </a:lnTo>
                  <a:lnTo>
                    <a:pt x="7672" y="491125"/>
                  </a:lnTo>
                  <a:lnTo>
                    <a:pt x="17036" y="445338"/>
                  </a:lnTo>
                  <a:lnTo>
                    <a:pt x="29885" y="400923"/>
                  </a:lnTo>
                  <a:lnTo>
                    <a:pt x="46067" y="358031"/>
                  </a:lnTo>
                  <a:lnTo>
                    <a:pt x="65431" y="316813"/>
                  </a:lnTo>
                  <a:lnTo>
                    <a:pt x="87827" y="277420"/>
                  </a:lnTo>
                  <a:lnTo>
                    <a:pt x="113104" y="240002"/>
                  </a:lnTo>
                  <a:lnTo>
                    <a:pt x="141111" y="204711"/>
                  </a:lnTo>
                  <a:lnTo>
                    <a:pt x="171697" y="171697"/>
                  </a:lnTo>
                  <a:lnTo>
                    <a:pt x="204711" y="141111"/>
                  </a:lnTo>
                  <a:lnTo>
                    <a:pt x="240002" y="113104"/>
                  </a:lnTo>
                  <a:lnTo>
                    <a:pt x="277420" y="87828"/>
                  </a:lnTo>
                  <a:lnTo>
                    <a:pt x="316813" y="65431"/>
                  </a:lnTo>
                  <a:lnTo>
                    <a:pt x="358031" y="46067"/>
                  </a:lnTo>
                  <a:lnTo>
                    <a:pt x="400923" y="29885"/>
                  </a:lnTo>
                  <a:lnTo>
                    <a:pt x="445338" y="17036"/>
                  </a:lnTo>
                  <a:lnTo>
                    <a:pt x="491125" y="7672"/>
                  </a:lnTo>
                  <a:lnTo>
                    <a:pt x="538133" y="1943"/>
                  </a:lnTo>
                  <a:lnTo>
                    <a:pt x="586211" y="0"/>
                  </a:lnTo>
                  <a:lnTo>
                    <a:pt x="7688988" y="0"/>
                  </a:lnTo>
                  <a:lnTo>
                    <a:pt x="7740531" y="2268"/>
                  </a:lnTo>
                  <a:lnTo>
                    <a:pt x="7791333" y="9000"/>
                  </a:lnTo>
                  <a:lnTo>
                    <a:pt x="7841123" y="20083"/>
                  </a:lnTo>
                  <a:lnTo>
                    <a:pt x="7889632" y="35406"/>
                  </a:lnTo>
                  <a:lnTo>
                    <a:pt x="7936589" y="54856"/>
                  </a:lnTo>
                  <a:lnTo>
                    <a:pt x="7981724" y="78322"/>
                  </a:lnTo>
                  <a:lnTo>
                    <a:pt x="8024768" y="105692"/>
                  </a:lnTo>
                  <a:lnTo>
                    <a:pt x="8065451" y="136855"/>
                  </a:lnTo>
                  <a:lnTo>
                    <a:pt x="8103502" y="171697"/>
                  </a:lnTo>
                  <a:lnTo>
                    <a:pt x="8138344" y="209748"/>
                  </a:lnTo>
                  <a:lnTo>
                    <a:pt x="8169506" y="250431"/>
                  </a:lnTo>
                  <a:lnTo>
                    <a:pt x="8196876" y="293475"/>
                  </a:lnTo>
                  <a:lnTo>
                    <a:pt x="8220343" y="338610"/>
                  </a:lnTo>
                  <a:lnTo>
                    <a:pt x="8239793" y="385567"/>
                  </a:lnTo>
                  <a:lnTo>
                    <a:pt x="8255115" y="434076"/>
                  </a:lnTo>
                  <a:lnTo>
                    <a:pt x="8266199" y="483866"/>
                  </a:lnTo>
                  <a:lnTo>
                    <a:pt x="8272931" y="534668"/>
                  </a:lnTo>
                  <a:lnTo>
                    <a:pt x="8275199" y="586211"/>
                  </a:lnTo>
                  <a:lnTo>
                    <a:pt x="8275199" y="2930988"/>
                  </a:lnTo>
                  <a:lnTo>
                    <a:pt x="8273256" y="2979066"/>
                  </a:lnTo>
                  <a:lnTo>
                    <a:pt x="8267527" y="3026074"/>
                  </a:lnTo>
                  <a:lnTo>
                    <a:pt x="8258163" y="3071861"/>
                  </a:lnTo>
                  <a:lnTo>
                    <a:pt x="8245314" y="3116276"/>
                  </a:lnTo>
                  <a:lnTo>
                    <a:pt x="8229132" y="3159168"/>
                  </a:lnTo>
                  <a:lnTo>
                    <a:pt x="8209768" y="3200386"/>
                  </a:lnTo>
                  <a:lnTo>
                    <a:pt x="8187371" y="3239779"/>
                  </a:lnTo>
                  <a:lnTo>
                    <a:pt x="8162095" y="3277197"/>
                  </a:lnTo>
                  <a:lnTo>
                    <a:pt x="8134088" y="3312488"/>
                  </a:lnTo>
                  <a:lnTo>
                    <a:pt x="8103502" y="3345502"/>
                  </a:lnTo>
                  <a:lnTo>
                    <a:pt x="8070488" y="3376088"/>
                  </a:lnTo>
                  <a:lnTo>
                    <a:pt x="8035197" y="3404095"/>
                  </a:lnTo>
                  <a:lnTo>
                    <a:pt x="7997779" y="3429372"/>
                  </a:lnTo>
                  <a:lnTo>
                    <a:pt x="7958386" y="3451768"/>
                  </a:lnTo>
                  <a:lnTo>
                    <a:pt x="7917168" y="3471132"/>
                  </a:lnTo>
                  <a:lnTo>
                    <a:pt x="7874276" y="3487314"/>
                  </a:lnTo>
                  <a:lnTo>
                    <a:pt x="7829861" y="3500163"/>
                  </a:lnTo>
                  <a:lnTo>
                    <a:pt x="7784074" y="3509527"/>
                  </a:lnTo>
                  <a:lnTo>
                    <a:pt x="7737066" y="3515256"/>
                  </a:lnTo>
                  <a:lnTo>
                    <a:pt x="7688988" y="3517199"/>
                  </a:lnTo>
                  <a:lnTo>
                    <a:pt x="586211" y="3517199"/>
                  </a:lnTo>
                  <a:lnTo>
                    <a:pt x="538133" y="3515256"/>
                  </a:lnTo>
                  <a:lnTo>
                    <a:pt x="491125" y="3509527"/>
                  </a:lnTo>
                  <a:lnTo>
                    <a:pt x="445338" y="3500163"/>
                  </a:lnTo>
                  <a:lnTo>
                    <a:pt x="400923" y="3487314"/>
                  </a:lnTo>
                  <a:lnTo>
                    <a:pt x="358031" y="3471132"/>
                  </a:lnTo>
                  <a:lnTo>
                    <a:pt x="316813" y="3451768"/>
                  </a:lnTo>
                  <a:lnTo>
                    <a:pt x="277420" y="3429372"/>
                  </a:lnTo>
                  <a:lnTo>
                    <a:pt x="240002" y="3404095"/>
                  </a:lnTo>
                  <a:lnTo>
                    <a:pt x="204711" y="3376088"/>
                  </a:lnTo>
                  <a:lnTo>
                    <a:pt x="171697" y="3345502"/>
                  </a:lnTo>
                  <a:lnTo>
                    <a:pt x="141111" y="3312488"/>
                  </a:lnTo>
                  <a:lnTo>
                    <a:pt x="113104" y="3277197"/>
                  </a:lnTo>
                  <a:lnTo>
                    <a:pt x="87827" y="3239779"/>
                  </a:lnTo>
                  <a:lnTo>
                    <a:pt x="65431" y="3200386"/>
                  </a:lnTo>
                  <a:lnTo>
                    <a:pt x="46067" y="3159168"/>
                  </a:lnTo>
                  <a:lnTo>
                    <a:pt x="29885" y="3116276"/>
                  </a:lnTo>
                  <a:lnTo>
                    <a:pt x="17036" y="3071861"/>
                  </a:lnTo>
                  <a:lnTo>
                    <a:pt x="7672" y="3026074"/>
                  </a:lnTo>
                  <a:lnTo>
                    <a:pt x="1943" y="2979066"/>
                  </a:lnTo>
                  <a:lnTo>
                    <a:pt x="0" y="2930988"/>
                  </a:lnTo>
                  <a:lnTo>
                    <a:pt x="0" y="58621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15171" y="1401827"/>
            <a:ext cx="5157893" cy="468440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2933" dirty="0"/>
              <a:t>Key</a:t>
            </a:r>
            <a:r>
              <a:rPr sz="2933" spc="-47" dirty="0"/>
              <a:t> </a:t>
            </a:r>
            <a:r>
              <a:rPr sz="2933" dirty="0"/>
              <a:t>takeaways:</a:t>
            </a:r>
            <a:r>
              <a:rPr sz="2933" spc="-80" dirty="0"/>
              <a:t> </a:t>
            </a:r>
            <a:r>
              <a:rPr sz="2933" dirty="0"/>
              <a:t>The</a:t>
            </a:r>
            <a:r>
              <a:rPr sz="2933" spc="-33" dirty="0"/>
              <a:t> </a:t>
            </a:r>
            <a:r>
              <a:rPr sz="2933" dirty="0"/>
              <a:t>Pile</a:t>
            </a:r>
            <a:r>
              <a:rPr sz="2933" spc="-27" dirty="0"/>
              <a:t> </a:t>
            </a:r>
            <a:r>
              <a:rPr sz="2933" spc="-13" dirty="0"/>
              <a:t>paper</a:t>
            </a:r>
            <a:endParaRPr sz="2933"/>
          </a:p>
        </p:txBody>
      </p:sp>
      <p:grpSp>
        <p:nvGrpSpPr>
          <p:cNvPr id="6" name="object 6"/>
          <p:cNvGrpSpPr/>
          <p:nvPr/>
        </p:nvGrpSpPr>
        <p:grpSpPr>
          <a:xfrm>
            <a:off x="2453217" y="2280016"/>
            <a:ext cx="7285567" cy="2971800"/>
            <a:chOff x="1839912" y="1710012"/>
            <a:chExt cx="5464175" cy="2228850"/>
          </a:xfrm>
        </p:grpSpPr>
        <p:sp>
          <p:nvSpPr>
            <p:cNvPr id="7" name="object 7"/>
            <p:cNvSpPr/>
            <p:nvPr/>
          </p:nvSpPr>
          <p:spPr>
            <a:xfrm>
              <a:off x="1844674" y="29111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75" y="291117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4699" y="17147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9F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17147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30284" y="2386391"/>
            <a:ext cx="6731000" cy="2545419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algn="ctr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Training</a:t>
            </a:r>
            <a:r>
              <a:rPr sz="2400" spc="-7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dataset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sourced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u="heavy" spc="-1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smaller,</a:t>
            </a:r>
            <a:r>
              <a:rPr sz="2400" b="1" u="heavy" spc="-5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1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higher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quality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sources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outperforms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33" dirty="0"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  <a:p>
            <a:pPr algn="ctr">
              <a:spcBef>
                <a:spcPts val="20"/>
              </a:spcBef>
            </a:pPr>
            <a:r>
              <a:rPr sz="2400" spc="-13" dirty="0">
                <a:latin typeface="Arial"/>
                <a:cs typeface="Arial"/>
              </a:rPr>
              <a:t>web-</a:t>
            </a:r>
            <a:r>
              <a:rPr sz="2400" dirty="0">
                <a:latin typeface="Arial"/>
                <a:cs typeface="Arial"/>
              </a:rPr>
              <a:t>crawled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 marL="290398" marR="283626" algn="ctr">
              <a:lnSpc>
                <a:spcPct val="100699"/>
              </a:lnSpc>
              <a:spcBef>
                <a:spcPts val="2240"/>
              </a:spcBef>
            </a:pPr>
            <a:r>
              <a:rPr sz="2400" dirty="0">
                <a:latin typeface="Arial"/>
                <a:cs typeface="Arial"/>
              </a:rPr>
              <a:t>Analysis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pejorative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content,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gender/religion </a:t>
            </a:r>
            <a:r>
              <a:rPr sz="2400" dirty="0">
                <a:latin typeface="Arial"/>
                <a:cs typeface="Arial"/>
              </a:rPr>
              <a:t>biases: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qualitatively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similar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previous</a:t>
            </a:r>
            <a:r>
              <a:rPr sz="2400" spc="-13" dirty="0">
                <a:latin typeface="Arial"/>
                <a:cs typeface="Arial"/>
              </a:rPr>
              <a:t> work.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73CB7A-FC12-4A36-A610-8D31922025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106</a:t>
            </a:fld>
            <a:endParaRPr lang="en-US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892" y="1170683"/>
            <a:ext cx="11716213" cy="26168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067" y="4646399"/>
            <a:ext cx="6810984" cy="9896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7237" y="4238899"/>
            <a:ext cx="4720964" cy="17755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AFA0-793D-4684-9A54-5E37ACE552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4649" y="899850"/>
            <a:ext cx="10203179" cy="5058833"/>
            <a:chOff x="745987" y="674887"/>
            <a:chExt cx="7652384" cy="3794125"/>
          </a:xfrm>
        </p:grpSpPr>
        <p:sp>
          <p:nvSpPr>
            <p:cNvPr id="3" name="object 3"/>
            <p:cNvSpPr/>
            <p:nvPr/>
          </p:nvSpPr>
          <p:spPr>
            <a:xfrm>
              <a:off x="750750" y="679649"/>
              <a:ext cx="7642859" cy="3784600"/>
            </a:xfrm>
            <a:custGeom>
              <a:avLst/>
              <a:gdLst/>
              <a:ahLst/>
              <a:cxnLst/>
              <a:rect l="l" t="t" r="r" b="b"/>
              <a:pathLst>
                <a:path w="7642859" h="3784600">
                  <a:moveTo>
                    <a:pt x="7011787" y="3784199"/>
                  </a:moveTo>
                  <a:lnTo>
                    <a:pt x="630712" y="3784199"/>
                  </a:lnTo>
                  <a:lnTo>
                    <a:pt x="583641" y="3782470"/>
                  </a:lnTo>
                  <a:lnTo>
                    <a:pt x="537510" y="3777361"/>
                  </a:lnTo>
                  <a:lnTo>
                    <a:pt x="492440" y="3768996"/>
                  </a:lnTo>
                  <a:lnTo>
                    <a:pt x="448554" y="3757496"/>
                  </a:lnTo>
                  <a:lnTo>
                    <a:pt x="405973" y="3742983"/>
                  </a:lnTo>
                  <a:lnTo>
                    <a:pt x="364820" y="3725579"/>
                  </a:lnTo>
                  <a:lnTo>
                    <a:pt x="325215" y="3705407"/>
                  </a:lnTo>
                  <a:lnTo>
                    <a:pt x="287283" y="3682588"/>
                  </a:lnTo>
                  <a:lnTo>
                    <a:pt x="251143" y="3657244"/>
                  </a:lnTo>
                  <a:lnTo>
                    <a:pt x="216918" y="3629496"/>
                  </a:lnTo>
                  <a:lnTo>
                    <a:pt x="184731" y="3599468"/>
                  </a:lnTo>
                  <a:lnTo>
                    <a:pt x="154703" y="3567281"/>
                  </a:lnTo>
                  <a:lnTo>
                    <a:pt x="126955" y="3533056"/>
                  </a:lnTo>
                  <a:lnTo>
                    <a:pt x="101611" y="3496916"/>
                  </a:lnTo>
                  <a:lnTo>
                    <a:pt x="78792" y="3458984"/>
                  </a:lnTo>
                  <a:lnTo>
                    <a:pt x="58620" y="3419379"/>
                  </a:lnTo>
                  <a:lnTo>
                    <a:pt x="41216" y="3378226"/>
                  </a:lnTo>
                  <a:lnTo>
                    <a:pt x="26703" y="3335645"/>
                  </a:lnTo>
                  <a:lnTo>
                    <a:pt x="15203" y="3291759"/>
                  </a:lnTo>
                  <a:lnTo>
                    <a:pt x="6838" y="3246689"/>
                  </a:lnTo>
                  <a:lnTo>
                    <a:pt x="1729" y="3200558"/>
                  </a:lnTo>
                  <a:lnTo>
                    <a:pt x="0" y="3153487"/>
                  </a:lnTo>
                  <a:lnTo>
                    <a:pt x="0" y="630712"/>
                  </a:lnTo>
                  <a:lnTo>
                    <a:pt x="1729" y="583641"/>
                  </a:lnTo>
                  <a:lnTo>
                    <a:pt x="6838" y="537510"/>
                  </a:lnTo>
                  <a:lnTo>
                    <a:pt x="15203" y="492440"/>
                  </a:lnTo>
                  <a:lnTo>
                    <a:pt x="26703" y="448554"/>
                  </a:lnTo>
                  <a:lnTo>
                    <a:pt x="41216" y="405973"/>
                  </a:lnTo>
                  <a:lnTo>
                    <a:pt x="58620" y="364820"/>
                  </a:lnTo>
                  <a:lnTo>
                    <a:pt x="78792" y="325215"/>
                  </a:lnTo>
                  <a:lnTo>
                    <a:pt x="101611" y="287283"/>
                  </a:lnTo>
                  <a:lnTo>
                    <a:pt x="126955" y="251143"/>
                  </a:lnTo>
                  <a:lnTo>
                    <a:pt x="154703" y="216918"/>
                  </a:lnTo>
                  <a:lnTo>
                    <a:pt x="184731" y="184731"/>
                  </a:lnTo>
                  <a:lnTo>
                    <a:pt x="216918" y="154703"/>
                  </a:lnTo>
                  <a:lnTo>
                    <a:pt x="251143" y="126955"/>
                  </a:lnTo>
                  <a:lnTo>
                    <a:pt x="287283" y="101611"/>
                  </a:lnTo>
                  <a:lnTo>
                    <a:pt x="325215" y="78792"/>
                  </a:lnTo>
                  <a:lnTo>
                    <a:pt x="364820" y="58620"/>
                  </a:lnTo>
                  <a:lnTo>
                    <a:pt x="405973" y="41216"/>
                  </a:lnTo>
                  <a:lnTo>
                    <a:pt x="448554" y="26703"/>
                  </a:lnTo>
                  <a:lnTo>
                    <a:pt x="492440" y="15203"/>
                  </a:lnTo>
                  <a:lnTo>
                    <a:pt x="537510" y="6838"/>
                  </a:lnTo>
                  <a:lnTo>
                    <a:pt x="583641" y="1729"/>
                  </a:lnTo>
                  <a:lnTo>
                    <a:pt x="630712" y="0"/>
                  </a:lnTo>
                  <a:lnTo>
                    <a:pt x="7011787" y="0"/>
                  </a:lnTo>
                  <a:lnTo>
                    <a:pt x="7061729" y="1978"/>
                  </a:lnTo>
                  <a:lnTo>
                    <a:pt x="7111048" y="7857"/>
                  </a:lnTo>
                  <a:lnTo>
                    <a:pt x="7159532" y="17546"/>
                  </a:lnTo>
                  <a:lnTo>
                    <a:pt x="7206970" y="30960"/>
                  </a:lnTo>
                  <a:lnTo>
                    <a:pt x="7253150" y="48010"/>
                  </a:lnTo>
                  <a:lnTo>
                    <a:pt x="7297860" y="68608"/>
                  </a:lnTo>
                  <a:lnTo>
                    <a:pt x="7340889" y="92667"/>
                  </a:lnTo>
                  <a:lnTo>
                    <a:pt x="7382024" y="120099"/>
                  </a:lnTo>
                  <a:lnTo>
                    <a:pt x="7421055" y="150816"/>
                  </a:lnTo>
                  <a:lnTo>
                    <a:pt x="7457768" y="184731"/>
                  </a:lnTo>
                  <a:lnTo>
                    <a:pt x="7491683" y="221444"/>
                  </a:lnTo>
                  <a:lnTo>
                    <a:pt x="7522400" y="260475"/>
                  </a:lnTo>
                  <a:lnTo>
                    <a:pt x="7549832" y="301610"/>
                  </a:lnTo>
                  <a:lnTo>
                    <a:pt x="7573891" y="344639"/>
                  </a:lnTo>
                  <a:lnTo>
                    <a:pt x="7594489" y="389349"/>
                  </a:lnTo>
                  <a:lnTo>
                    <a:pt x="7611539" y="435529"/>
                  </a:lnTo>
                  <a:lnTo>
                    <a:pt x="7624953" y="482967"/>
                  </a:lnTo>
                  <a:lnTo>
                    <a:pt x="7634642" y="531451"/>
                  </a:lnTo>
                  <a:lnTo>
                    <a:pt x="7640521" y="580770"/>
                  </a:lnTo>
                  <a:lnTo>
                    <a:pt x="7642499" y="630712"/>
                  </a:lnTo>
                  <a:lnTo>
                    <a:pt x="7642499" y="3153487"/>
                  </a:lnTo>
                  <a:lnTo>
                    <a:pt x="7640769" y="3200558"/>
                  </a:lnTo>
                  <a:lnTo>
                    <a:pt x="7635661" y="3246689"/>
                  </a:lnTo>
                  <a:lnTo>
                    <a:pt x="7627296" y="3291759"/>
                  </a:lnTo>
                  <a:lnTo>
                    <a:pt x="7615796" y="3335645"/>
                  </a:lnTo>
                  <a:lnTo>
                    <a:pt x="7601283" y="3378226"/>
                  </a:lnTo>
                  <a:lnTo>
                    <a:pt x="7583879" y="3419379"/>
                  </a:lnTo>
                  <a:lnTo>
                    <a:pt x="7563707" y="3458984"/>
                  </a:lnTo>
                  <a:lnTo>
                    <a:pt x="7540888" y="3496916"/>
                  </a:lnTo>
                  <a:lnTo>
                    <a:pt x="7515543" y="3533056"/>
                  </a:lnTo>
                  <a:lnTo>
                    <a:pt x="7487796" y="3567281"/>
                  </a:lnTo>
                  <a:lnTo>
                    <a:pt x="7457768" y="3599468"/>
                  </a:lnTo>
                  <a:lnTo>
                    <a:pt x="7425581" y="3629496"/>
                  </a:lnTo>
                  <a:lnTo>
                    <a:pt x="7391356" y="3657244"/>
                  </a:lnTo>
                  <a:lnTo>
                    <a:pt x="7355216" y="3682588"/>
                  </a:lnTo>
                  <a:lnTo>
                    <a:pt x="7317283" y="3705407"/>
                  </a:lnTo>
                  <a:lnTo>
                    <a:pt x="7277679" y="3725579"/>
                  </a:lnTo>
                  <a:lnTo>
                    <a:pt x="7236526" y="3742983"/>
                  </a:lnTo>
                  <a:lnTo>
                    <a:pt x="7193945" y="3757496"/>
                  </a:lnTo>
                  <a:lnTo>
                    <a:pt x="7150059" y="3768996"/>
                  </a:lnTo>
                  <a:lnTo>
                    <a:pt x="7104989" y="3777361"/>
                  </a:lnTo>
                  <a:lnTo>
                    <a:pt x="7058858" y="3782470"/>
                  </a:lnTo>
                  <a:lnTo>
                    <a:pt x="7011787" y="3784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0750" y="679649"/>
              <a:ext cx="7642859" cy="3784600"/>
            </a:xfrm>
            <a:custGeom>
              <a:avLst/>
              <a:gdLst/>
              <a:ahLst/>
              <a:cxnLst/>
              <a:rect l="l" t="t" r="r" b="b"/>
              <a:pathLst>
                <a:path w="7642859" h="3784600">
                  <a:moveTo>
                    <a:pt x="0" y="630712"/>
                  </a:moveTo>
                  <a:lnTo>
                    <a:pt x="1729" y="583641"/>
                  </a:lnTo>
                  <a:lnTo>
                    <a:pt x="6838" y="537510"/>
                  </a:lnTo>
                  <a:lnTo>
                    <a:pt x="15203" y="492440"/>
                  </a:lnTo>
                  <a:lnTo>
                    <a:pt x="26703" y="448554"/>
                  </a:lnTo>
                  <a:lnTo>
                    <a:pt x="41216" y="405973"/>
                  </a:lnTo>
                  <a:lnTo>
                    <a:pt x="58620" y="364820"/>
                  </a:lnTo>
                  <a:lnTo>
                    <a:pt x="78792" y="325215"/>
                  </a:lnTo>
                  <a:lnTo>
                    <a:pt x="101611" y="287283"/>
                  </a:lnTo>
                  <a:lnTo>
                    <a:pt x="126955" y="251143"/>
                  </a:lnTo>
                  <a:lnTo>
                    <a:pt x="154703" y="216918"/>
                  </a:lnTo>
                  <a:lnTo>
                    <a:pt x="184731" y="184731"/>
                  </a:lnTo>
                  <a:lnTo>
                    <a:pt x="216918" y="154703"/>
                  </a:lnTo>
                  <a:lnTo>
                    <a:pt x="251143" y="126955"/>
                  </a:lnTo>
                  <a:lnTo>
                    <a:pt x="287283" y="101611"/>
                  </a:lnTo>
                  <a:lnTo>
                    <a:pt x="325215" y="78792"/>
                  </a:lnTo>
                  <a:lnTo>
                    <a:pt x="364820" y="58620"/>
                  </a:lnTo>
                  <a:lnTo>
                    <a:pt x="405973" y="41216"/>
                  </a:lnTo>
                  <a:lnTo>
                    <a:pt x="448554" y="26703"/>
                  </a:lnTo>
                  <a:lnTo>
                    <a:pt x="492440" y="15203"/>
                  </a:lnTo>
                  <a:lnTo>
                    <a:pt x="537510" y="6838"/>
                  </a:lnTo>
                  <a:lnTo>
                    <a:pt x="583641" y="1729"/>
                  </a:lnTo>
                  <a:lnTo>
                    <a:pt x="630712" y="0"/>
                  </a:lnTo>
                  <a:lnTo>
                    <a:pt x="7011787" y="0"/>
                  </a:lnTo>
                  <a:lnTo>
                    <a:pt x="7061729" y="1978"/>
                  </a:lnTo>
                  <a:lnTo>
                    <a:pt x="7111048" y="7857"/>
                  </a:lnTo>
                  <a:lnTo>
                    <a:pt x="7159532" y="17546"/>
                  </a:lnTo>
                  <a:lnTo>
                    <a:pt x="7206970" y="30960"/>
                  </a:lnTo>
                  <a:lnTo>
                    <a:pt x="7253150" y="48010"/>
                  </a:lnTo>
                  <a:lnTo>
                    <a:pt x="7297860" y="68608"/>
                  </a:lnTo>
                  <a:lnTo>
                    <a:pt x="7340889" y="92667"/>
                  </a:lnTo>
                  <a:lnTo>
                    <a:pt x="7382024" y="120099"/>
                  </a:lnTo>
                  <a:lnTo>
                    <a:pt x="7421055" y="150816"/>
                  </a:lnTo>
                  <a:lnTo>
                    <a:pt x="7457768" y="184731"/>
                  </a:lnTo>
                  <a:lnTo>
                    <a:pt x="7491683" y="221444"/>
                  </a:lnTo>
                  <a:lnTo>
                    <a:pt x="7522400" y="260475"/>
                  </a:lnTo>
                  <a:lnTo>
                    <a:pt x="7549832" y="301610"/>
                  </a:lnTo>
                  <a:lnTo>
                    <a:pt x="7573891" y="344639"/>
                  </a:lnTo>
                  <a:lnTo>
                    <a:pt x="7594489" y="389349"/>
                  </a:lnTo>
                  <a:lnTo>
                    <a:pt x="7611539" y="435529"/>
                  </a:lnTo>
                  <a:lnTo>
                    <a:pt x="7624953" y="482967"/>
                  </a:lnTo>
                  <a:lnTo>
                    <a:pt x="7634642" y="531451"/>
                  </a:lnTo>
                  <a:lnTo>
                    <a:pt x="7640521" y="580770"/>
                  </a:lnTo>
                  <a:lnTo>
                    <a:pt x="7642499" y="630712"/>
                  </a:lnTo>
                  <a:lnTo>
                    <a:pt x="7642499" y="3153487"/>
                  </a:lnTo>
                  <a:lnTo>
                    <a:pt x="7640770" y="3200558"/>
                  </a:lnTo>
                  <a:lnTo>
                    <a:pt x="7635661" y="3246689"/>
                  </a:lnTo>
                  <a:lnTo>
                    <a:pt x="7627296" y="3291759"/>
                  </a:lnTo>
                  <a:lnTo>
                    <a:pt x="7615796" y="3335645"/>
                  </a:lnTo>
                  <a:lnTo>
                    <a:pt x="7601283" y="3378226"/>
                  </a:lnTo>
                  <a:lnTo>
                    <a:pt x="7583879" y="3419379"/>
                  </a:lnTo>
                  <a:lnTo>
                    <a:pt x="7563707" y="3458984"/>
                  </a:lnTo>
                  <a:lnTo>
                    <a:pt x="7540888" y="3496916"/>
                  </a:lnTo>
                  <a:lnTo>
                    <a:pt x="7515543" y="3533056"/>
                  </a:lnTo>
                  <a:lnTo>
                    <a:pt x="7487796" y="3567281"/>
                  </a:lnTo>
                  <a:lnTo>
                    <a:pt x="7457768" y="3599468"/>
                  </a:lnTo>
                  <a:lnTo>
                    <a:pt x="7425581" y="3629496"/>
                  </a:lnTo>
                  <a:lnTo>
                    <a:pt x="7391356" y="3657244"/>
                  </a:lnTo>
                  <a:lnTo>
                    <a:pt x="7355216" y="3682588"/>
                  </a:lnTo>
                  <a:lnTo>
                    <a:pt x="7317283" y="3705407"/>
                  </a:lnTo>
                  <a:lnTo>
                    <a:pt x="7277679" y="3725579"/>
                  </a:lnTo>
                  <a:lnTo>
                    <a:pt x="7236526" y="3742983"/>
                  </a:lnTo>
                  <a:lnTo>
                    <a:pt x="7193945" y="3757496"/>
                  </a:lnTo>
                  <a:lnTo>
                    <a:pt x="7150059" y="3768996"/>
                  </a:lnTo>
                  <a:lnTo>
                    <a:pt x="7104989" y="3777361"/>
                  </a:lnTo>
                  <a:lnTo>
                    <a:pt x="7058858" y="3782470"/>
                  </a:lnTo>
                  <a:lnTo>
                    <a:pt x="7011787" y="3784199"/>
                  </a:lnTo>
                  <a:lnTo>
                    <a:pt x="630712" y="3784199"/>
                  </a:lnTo>
                  <a:lnTo>
                    <a:pt x="583641" y="3782470"/>
                  </a:lnTo>
                  <a:lnTo>
                    <a:pt x="537510" y="3777361"/>
                  </a:lnTo>
                  <a:lnTo>
                    <a:pt x="492440" y="3768996"/>
                  </a:lnTo>
                  <a:lnTo>
                    <a:pt x="448554" y="3757496"/>
                  </a:lnTo>
                  <a:lnTo>
                    <a:pt x="405973" y="3742983"/>
                  </a:lnTo>
                  <a:lnTo>
                    <a:pt x="364820" y="3725579"/>
                  </a:lnTo>
                  <a:lnTo>
                    <a:pt x="325215" y="3705407"/>
                  </a:lnTo>
                  <a:lnTo>
                    <a:pt x="287283" y="3682588"/>
                  </a:lnTo>
                  <a:lnTo>
                    <a:pt x="251143" y="3657244"/>
                  </a:lnTo>
                  <a:lnTo>
                    <a:pt x="216918" y="3629496"/>
                  </a:lnTo>
                  <a:lnTo>
                    <a:pt x="184731" y="3599468"/>
                  </a:lnTo>
                  <a:lnTo>
                    <a:pt x="154703" y="3567281"/>
                  </a:lnTo>
                  <a:lnTo>
                    <a:pt x="126955" y="3533056"/>
                  </a:lnTo>
                  <a:lnTo>
                    <a:pt x="101611" y="3496916"/>
                  </a:lnTo>
                  <a:lnTo>
                    <a:pt x="78792" y="3458984"/>
                  </a:lnTo>
                  <a:lnTo>
                    <a:pt x="58620" y="3419379"/>
                  </a:lnTo>
                  <a:lnTo>
                    <a:pt x="41216" y="3378226"/>
                  </a:lnTo>
                  <a:lnTo>
                    <a:pt x="26703" y="3335645"/>
                  </a:lnTo>
                  <a:lnTo>
                    <a:pt x="15203" y="3291759"/>
                  </a:lnTo>
                  <a:lnTo>
                    <a:pt x="6838" y="3246689"/>
                  </a:lnTo>
                  <a:lnTo>
                    <a:pt x="1729" y="3200558"/>
                  </a:lnTo>
                  <a:lnTo>
                    <a:pt x="0" y="3153487"/>
                  </a:lnTo>
                  <a:lnTo>
                    <a:pt x="0" y="63071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42450" y="1121662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50" y="1121662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98757" y="1561339"/>
            <a:ext cx="2194560" cy="5915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Motivation</a:t>
            </a:r>
            <a:endParaRPr sz="3733"/>
          </a:p>
        </p:txBody>
      </p:sp>
      <p:grpSp>
        <p:nvGrpSpPr>
          <p:cNvPr id="8" name="object 8"/>
          <p:cNvGrpSpPr/>
          <p:nvPr/>
        </p:nvGrpSpPr>
        <p:grpSpPr>
          <a:xfrm>
            <a:off x="1383916" y="2675450"/>
            <a:ext cx="9359053" cy="2867660"/>
            <a:chOff x="1037937" y="2006587"/>
            <a:chExt cx="7019290" cy="2150745"/>
          </a:xfrm>
        </p:grpSpPr>
        <p:sp>
          <p:nvSpPr>
            <p:cNvPr id="9" name="object 9"/>
            <p:cNvSpPr/>
            <p:nvPr/>
          </p:nvSpPr>
          <p:spPr>
            <a:xfrm>
              <a:off x="1091550" y="2011349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68654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1550" y="2011349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1550" y="2795312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68654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91550" y="2795312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2700" y="3579274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68654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3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2700" y="3579274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3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24909" y="2666175"/>
            <a:ext cx="9157545" cy="2704757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81278" marR="189649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Existing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language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modeling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datasets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contain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many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near-duplicate examples</a:t>
            </a:r>
            <a:endParaRPr sz="2400">
              <a:latin typeface="Arial"/>
              <a:cs typeface="Arial"/>
            </a:endParaRPr>
          </a:p>
          <a:p>
            <a:pPr marR="6773" algn="r">
              <a:spcBef>
                <a:spcPts val="2147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123</a:t>
            </a:r>
            <a:endParaRPr sz="1333">
              <a:latin typeface="Arial"/>
              <a:cs typeface="Arial"/>
            </a:endParaRPr>
          </a:p>
          <a:p>
            <a:pPr marL="81278">
              <a:spcBef>
                <a:spcPts val="152"/>
              </a:spcBef>
              <a:tabLst>
                <a:tab pos="5620879" algn="l"/>
              </a:tabLst>
            </a:pPr>
            <a:r>
              <a:rPr sz="2400" dirty="0">
                <a:latin typeface="Arial"/>
                <a:cs typeface="Arial"/>
              </a:rPr>
              <a:t>Long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repetitive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substrings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b="1" dirty="0">
                <a:solidFill>
                  <a:srgbClr val="CC0000"/>
                </a:solidFill>
                <a:latin typeface="Arial"/>
                <a:cs typeface="Arial"/>
              </a:rPr>
              <a:t>%3</a:t>
            </a:r>
            <a:r>
              <a:rPr sz="2400" b="1" spc="-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C0000"/>
                </a:solidFill>
                <a:latin typeface="Arial"/>
                <a:cs typeface="Arial"/>
              </a:rPr>
              <a:t>of</a:t>
            </a:r>
            <a:r>
              <a:rPr sz="2400" b="1" spc="-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b="1" spc="-33" dirty="0">
                <a:solidFill>
                  <a:srgbClr val="CC0000"/>
                </a:solidFill>
                <a:latin typeface="Arial"/>
                <a:cs typeface="Arial"/>
              </a:rPr>
              <a:t>C4</a:t>
            </a:r>
            <a:r>
              <a:rPr sz="2400" b="1" dirty="0">
                <a:solidFill>
                  <a:srgbClr val="CC0000"/>
                </a:solidFill>
                <a:latin typeface="Arial"/>
                <a:cs typeface="Arial"/>
              </a:rPr>
              <a:t>	10M</a:t>
            </a:r>
            <a:r>
              <a:rPr sz="2400" b="1" spc="-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b="1" spc="-13" dirty="0">
                <a:solidFill>
                  <a:srgbClr val="CC0000"/>
                </a:solidFill>
                <a:latin typeface="Arial"/>
                <a:cs typeface="Arial"/>
              </a:rPr>
              <a:t>documents</a:t>
            </a:r>
            <a:r>
              <a:rPr sz="2400" spc="-13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 marL="16933">
              <a:spcBef>
                <a:spcPts val="2280"/>
              </a:spcBef>
            </a:pPr>
            <a:r>
              <a:rPr sz="2400" dirty="0">
                <a:latin typeface="Arial"/>
                <a:cs typeface="Arial"/>
              </a:rPr>
              <a:t>This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encourages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C0000"/>
                </a:solidFill>
                <a:latin typeface="Arial"/>
                <a:cs typeface="Arial"/>
              </a:rPr>
              <a:t>memorization</a:t>
            </a:r>
            <a:r>
              <a:rPr sz="2400" b="1" spc="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discourages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spc="-13" dirty="0">
                <a:solidFill>
                  <a:srgbClr val="CC0000"/>
                </a:solidFill>
                <a:latin typeface="Arial"/>
                <a:cs typeface="Arial"/>
              </a:rPr>
              <a:t>generalization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13732" y="4106273"/>
            <a:ext cx="419947" cy="55033"/>
            <a:chOff x="4960299" y="3079704"/>
            <a:chExt cx="314960" cy="41275"/>
          </a:xfrm>
        </p:grpSpPr>
        <p:sp>
          <p:nvSpPr>
            <p:cNvPr id="17" name="object 17"/>
            <p:cNvSpPr/>
            <p:nvPr/>
          </p:nvSpPr>
          <p:spPr>
            <a:xfrm>
              <a:off x="4960299" y="3100199"/>
              <a:ext cx="267335" cy="0"/>
            </a:xfrm>
            <a:custGeom>
              <a:avLst/>
              <a:gdLst/>
              <a:ahLst/>
              <a:cxnLst/>
              <a:rect l="l" t="t" r="r" b="b"/>
              <a:pathLst>
                <a:path w="267335">
                  <a:moveTo>
                    <a:pt x="0" y="0"/>
                  </a:moveTo>
                  <a:lnTo>
                    <a:pt x="2668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27149" y="3084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27149" y="30844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3C9C62E-7A89-4B45-8D2D-78BAD67A70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108</a:t>
            </a:fld>
            <a:endParaRPr lang="en-US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14562" y="6354715"/>
            <a:ext cx="3166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124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4683" y="1267017"/>
            <a:ext cx="11661987" cy="2755052"/>
            <a:chOff x="266012" y="950262"/>
            <a:chExt cx="8746490" cy="20662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012" y="2091549"/>
              <a:ext cx="8746215" cy="9248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45900" y="955025"/>
              <a:ext cx="2449195" cy="393700"/>
            </a:xfrm>
            <a:custGeom>
              <a:avLst/>
              <a:gdLst/>
              <a:ahLst/>
              <a:cxnLst/>
              <a:rect l="l" t="t" r="r" b="b"/>
              <a:pathLst>
                <a:path w="2449195" h="393700">
                  <a:moveTo>
                    <a:pt x="23829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2382998" y="0"/>
                  </a:lnTo>
                  <a:lnTo>
                    <a:pt x="2429385" y="19214"/>
                  </a:lnTo>
                  <a:lnTo>
                    <a:pt x="2448599" y="65601"/>
                  </a:lnTo>
                  <a:lnTo>
                    <a:pt x="2448599" y="327998"/>
                  </a:lnTo>
                  <a:lnTo>
                    <a:pt x="2443444" y="353533"/>
                  </a:lnTo>
                  <a:lnTo>
                    <a:pt x="2429385" y="374385"/>
                  </a:lnTo>
                  <a:lnTo>
                    <a:pt x="2408533" y="388444"/>
                  </a:lnTo>
                  <a:lnTo>
                    <a:pt x="2382998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5900" y="955025"/>
              <a:ext cx="2449195" cy="393700"/>
            </a:xfrm>
            <a:custGeom>
              <a:avLst/>
              <a:gdLst/>
              <a:ahLst/>
              <a:cxnLst/>
              <a:rect l="l" t="t" r="r" b="b"/>
              <a:pathLst>
                <a:path w="2449195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2382998" y="0"/>
                  </a:lnTo>
                  <a:lnTo>
                    <a:pt x="2429385" y="19214"/>
                  </a:lnTo>
                  <a:lnTo>
                    <a:pt x="2448599" y="65601"/>
                  </a:lnTo>
                  <a:lnTo>
                    <a:pt x="2448599" y="327998"/>
                  </a:lnTo>
                  <a:lnTo>
                    <a:pt x="2443444" y="353533"/>
                  </a:lnTo>
                  <a:lnTo>
                    <a:pt x="2429385" y="374385"/>
                  </a:lnTo>
                  <a:lnTo>
                    <a:pt x="2408533" y="388444"/>
                  </a:lnTo>
                  <a:lnTo>
                    <a:pt x="23829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990717" y="4438784"/>
            <a:ext cx="6965527" cy="537633"/>
            <a:chOff x="2243037" y="3329087"/>
            <a:chExt cx="5224145" cy="403225"/>
          </a:xfrm>
        </p:grpSpPr>
        <p:sp>
          <p:nvSpPr>
            <p:cNvPr id="8" name="object 8"/>
            <p:cNvSpPr/>
            <p:nvPr/>
          </p:nvSpPr>
          <p:spPr>
            <a:xfrm>
              <a:off x="2247800" y="3333849"/>
              <a:ext cx="5214620" cy="393700"/>
            </a:xfrm>
            <a:custGeom>
              <a:avLst/>
              <a:gdLst/>
              <a:ahLst/>
              <a:cxnLst/>
              <a:rect l="l" t="t" r="r" b="b"/>
              <a:pathLst>
                <a:path w="5214620" h="393700">
                  <a:moveTo>
                    <a:pt x="5148698" y="393599"/>
                  </a:move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5148698" y="0"/>
                  </a:lnTo>
                  <a:lnTo>
                    <a:pt x="5195085" y="19213"/>
                  </a:lnTo>
                  <a:lnTo>
                    <a:pt x="5214299" y="65601"/>
                  </a:lnTo>
                  <a:lnTo>
                    <a:pt x="5214299" y="327998"/>
                  </a:lnTo>
                  <a:lnTo>
                    <a:pt x="5209144" y="353533"/>
                  </a:lnTo>
                  <a:lnTo>
                    <a:pt x="5195085" y="374385"/>
                  </a:lnTo>
                  <a:lnTo>
                    <a:pt x="5174233" y="388444"/>
                  </a:lnTo>
                  <a:lnTo>
                    <a:pt x="5148698" y="3935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800" y="3333849"/>
              <a:ext cx="5214620" cy="393700"/>
            </a:xfrm>
            <a:custGeom>
              <a:avLst/>
              <a:gdLst/>
              <a:ahLst/>
              <a:cxnLst/>
              <a:rect l="l" t="t" r="r" b="b"/>
              <a:pathLst>
                <a:path w="5214620" h="393700">
                  <a:moveTo>
                    <a:pt x="0" y="65601"/>
                  </a:moveTo>
                  <a:lnTo>
                    <a:pt x="5155" y="40066"/>
                  </a:lnTo>
                  <a:lnTo>
                    <a:pt x="19214" y="19214"/>
                  </a:lnTo>
                  <a:lnTo>
                    <a:pt x="40066" y="5155"/>
                  </a:lnTo>
                  <a:lnTo>
                    <a:pt x="65601" y="0"/>
                  </a:lnTo>
                  <a:lnTo>
                    <a:pt x="5148698" y="0"/>
                  </a:lnTo>
                  <a:lnTo>
                    <a:pt x="5195085" y="19213"/>
                  </a:lnTo>
                  <a:lnTo>
                    <a:pt x="5214299" y="65601"/>
                  </a:lnTo>
                  <a:lnTo>
                    <a:pt x="5214299" y="327998"/>
                  </a:lnTo>
                  <a:lnTo>
                    <a:pt x="5209144" y="353533"/>
                  </a:lnTo>
                  <a:lnTo>
                    <a:pt x="5195085" y="374385"/>
                  </a:lnTo>
                  <a:lnTo>
                    <a:pt x="5174233" y="388444"/>
                  </a:lnTo>
                  <a:lnTo>
                    <a:pt x="5148698" y="393599"/>
                  </a:lnTo>
                  <a:lnTo>
                    <a:pt x="65601" y="393599"/>
                  </a:lnTo>
                  <a:lnTo>
                    <a:pt x="40066" y="388444"/>
                  </a:lnTo>
                  <a:lnTo>
                    <a:pt x="19214" y="374385"/>
                  </a:lnTo>
                  <a:lnTo>
                    <a:pt x="5155" y="353533"/>
                  </a:lnTo>
                  <a:lnTo>
                    <a:pt x="0" y="327998"/>
                  </a:lnTo>
                  <a:lnTo>
                    <a:pt x="0" y="65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89795" y="4541418"/>
            <a:ext cx="43662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Arial"/>
                <a:cs typeface="Arial"/>
              </a:rPr>
              <a:t>Example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of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near-duplicates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in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C4</a:t>
            </a:r>
            <a:r>
              <a:rPr sz="1867" spc="-13" dirty="0">
                <a:latin typeface="Arial"/>
                <a:cs typeface="Arial"/>
              </a:rPr>
              <a:t> dataset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9993" y="1369651"/>
            <a:ext cx="16552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solidFill>
                  <a:srgbClr val="CC0000"/>
                </a:solidFill>
                <a:latin typeface="Arial"/>
                <a:cs typeface="Arial"/>
              </a:rPr>
              <a:t>near-</a:t>
            </a:r>
            <a:r>
              <a:rPr sz="1867" spc="-13" dirty="0">
                <a:solidFill>
                  <a:srgbClr val="CC0000"/>
                </a:solidFill>
                <a:latin typeface="Arial"/>
                <a:cs typeface="Arial"/>
              </a:rPr>
              <a:t>duplicates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9716" y="1791817"/>
            <a:ext cx="11785600" cy="1145540"/>
            <a:chOff x="217287" y="1343862"/>
            <a:chExt cx="8839200" cy="8591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287" y="1729824"/>
              <a:ext cx="8839199" cy="3840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97159" y="1348624"/>
              <a:ext cx="1373505" cy="826769"/>
            </a:xfrm>
            <a:custGeom>
              <a:avLst/>
              <a:gdLst/>
              <a:ahLst/>
              <a:cxnLst/>
              <a:rect l="l" t="t" r="r" b="b"/>
              <a:pathLst>
                <a:path w="1373504" h="826769">
                  <a:moveTo>
                    <a:pt x="1373039" y="0"/>
                  </a:moveTo>
                  <a:lnTo>
                    <a:pt x="0" y="82672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60129" y="2161867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0" y="35774"/>
                  </a:moveTo>
                  <a:lnTo>
                    <a:pt x="28915" y="0"/>
                  </a:lnTo>
                  <a:lnTo>
                    <a:pt x="45146" y="26956"/>
                  </a:lnTo>
                  <a:lnTo>
                    <a:pt x="0" y="3577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60129" y="2161867"/>
              <a:ext cx="45720" cy="36195"/>
            </a:xfrm>
            <a:custGeom>
              <a:avLst/>
              <a:gdLst/>
              <a:ahLst/>
              <a:cxnLst/>
              <a:rect l="l" t="t" r="r" b="b"/>
              <a:pathLst>
                <a:path w="45720" h="36194">
                  <a:moveTo>
                    <a:pt x="28915" y="0"/>
                  </a:moveTo>
                  <a:lnTo>
                    <a:pt x="0" y="35774"/>
                  </a:lnTo>
                  <a:lnTo>
                    <a:pt x="45146" y="26956"/>
                  </a:lnTo>
                  <a:lnTo>
                    <a:pt x="2891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70200" y="1348624"/>
              <a:ext cx="1544955" cy="797560"/>
            </a:xfrm>
            <a:custGeom>
              <a:avLst/>
              <a:gdLst/>
              <a:ahLst/>
              <a:cxnLst/>
              <a:rect l="l" t="t" r="r" b="b"/>
              <a:pathLst>
                <a:path w="1544954" h="797560">
                  <a:moveTo>
                    <a:pt x="0" y="0"/>
                  </a:moveTo>
                  <a:lnTo>
                    <a:pt x="1544909" y="7969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07897" y="2131641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45627" y="33799"/>
                  </a:moveTo>
                  <a:lnTo>
                    <a:pt x="0" y="27963"/>
                  </a:lnTo>
                  <a:lnTo>
                    <a:pt x="14426" y="0"/>
                  </a:lnTo>
                  <a:lnTo>
                    <a:pt x="45627" y="3379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07897" y="2131641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27963"/>
                  </a:moveTo>
                  <a:lnTo>
                    <a:pt x="45627" y="33799"/>
                  </a:lnTo>
                  <a:lnTo>
                    <a:pt x="14426" y="0"/>
                  </a:lnTo>
                  <a:lnTo>
                    <a:pt x="0" y="279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663167" y="90594"/>
            <a:ext cx="21598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27" dirty="0">
                <a:latin typeface="Arial"/>
                <a:cs typeface="Arial"/>
              </a:rPr>
              <a:t>Table</a:t>
            </a:r>
            <a:r>
              <a:rPr sz="1333" spc="-20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is</a:t>
            </a:r>
            <a:r>
              <a:rPr sz="1333" spc="-20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from</a:t>
            </a:r>
            <a:r>
              <a:rPr sz="1333" spc="-20" dirty="0">
                <a:latin typeface="Arial"/>
                <a:cs typeface="Arial"/>
              </a:rPr>
              <a:t> </a:t>
            </a:r>
            <a:r>
              <a:rPr sz="1333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Lee</a:t>
            </a:r>
            <a:r>
              <a:rPr sz="1333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333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et</a:t>
            </a:r>
            <a:r>
              <a:rPr sz="1333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333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al,</a:t>
            </a:r>
            <a:r>
              <a:rPr sz="1333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333" u="sng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2022</a:t>
            </a:r>
            <a:endParaRPr sz="1333">
              <a:latin typeface="Arial"/>
              <a:cs typeface="Arial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39690B7-301B-41CB-BF9B-99AE3AC99B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5595" y="3673150"/>
            <a:ext cx="3166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125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94649" y="1351850"/>
            <a:ext cx="10203179" cy="4154593"/>
            <a:chOff x="745987" y="1013887"/>
            <a:chExt cx="7652384" cy="3115945"/>
          </a:xfrm>
        </p:grpSpPr>
        <p:sp>
          <p:nvSpPr>
            <p:cNvPr id="4" name="object 4"/>
            <p:cNvSpPr/>
            <p:nvPr/>
          </p:nvSpPr>
          <p:spPr>
            <a:xfrm>
              <a:off x="750750" y="1018650"/>
              <a:ext cx="7642859" cy="3106420"/>
            </a:xfrm>
            <a:custGeom>
              <a:avLst/>
              <a:gdLst/>
              <a:ahLst/>
              <a:cxnLst/>
              <a:rect l="l" t="t" r="r" b="b"/>
              <a:pathLst>
                <a:path w="7642859" h="3106420">
                  <a:moveTo>
                    <a:pt x="71247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124789" y="0"/>
                  </a:lnTo>
                  <a:lnTo>
                    <a:pt x="7175959" y="2533"/>
                  </a:lnTo>
                  <a:lnTo>
                    <a:pt x="7226261" y="10039"/>
                  </a:lnTo>
                  <a:lnTo>
                    <a:pt x="7275358" y="22378"/>
                  </a:lnTo>
                  <a:lnTo>
                    <a:pt x="7322908" y="39408"/>
                  </a:lnTo>
                  <a:lnTo>
                    <a:pt x="7368574" y="60989"/>
                  </a:lnTo>
                  <a:lnTo>
                    <a:pt x="7412015" y="86981"/>
                  </a:lnTo>
                  <a:lnTo>
                    <a:pt x="7452892" y="117243"/>
                  </a:lnTo>
                  <a:lnTo>
                    <a:pt x="7490866" y="151633"/>
                  </a:lnTo>
                  <a:lnTo>
                    <a:pt x="7525257" y="189607"/>
                  </a:lnTo>
                  <a:lnTo>
                    <a:pt x="7555518" y="230484"/>
                  </a:lnTo>
                  <a:lnTo>
                    <a:pt x="7581510" y="273925"/>
                  </a:lnTo>
                  <a:lnTo>
                    <a:pt x="7603091" y="319591"/>
                  </a:lnTo>
                  <a:lnTo>
                    <a:pt x="7620121" y="367141"/>
                  </a:lnTo>
                  <a:lnTo>
                    <a:pt x="7632460" y="416238"/>
                  </a:lnTo>
                  <a:lnTo>
                    <a:pt x="7639966" y="466541"/>
                  </a:lnTo>
                  <a:lnTo>
                    <a:pt x="7642499" y="517710"/>
                  </a:lnTo>
                  <a:lnTo>
                    <a:pt x="7642499" y="2588489"/>
                  </a:lnTo>
                  <a:lnTo>
                    <a:pt x="7640384" y="2635611"/>
                  </a:lnTo>
                  <a:lnTo>
                    <a:pt x="7634158" y="2681548"/>
                  </a:lnTo>
                  <a:lnTo>
                    <a:pt x="7624006" y="2726117"/>
                  </a:lnTo>
                  <a:lnTo>
                    <a:pt x="7610110" y="2769135"/>
                  </a:lnTo>
                  <a:lnTo>
                    <a:pt x="7592653" y="2810419"/>
                  </a:lnTo>
                  <a:lnTo>
                    <a:pt x="7571817" y="2849787"/>
                  </a:lnTo>
                  <a:lnTo>
                    <a:pt x="7547785" y="2887056"/>
                  </a:lnTo>
                  <a:lnTo>
                    <a:pt x="7520741" y="2922043"/>
                  </a:lnTo>
                  <a:lnTo>
                    <a:pt x="7490866" y="2954566"/>
                  </a:lnTo>
                  <a:lnTo>
                    <a:pt x="7458343" y="2984441"/>
                  </a:lnTo>
                  <a:lnTo>
                    <a:pt x="7423356" y="3011485"/>
                  </a:lnTo>
                  <a:lnTo>
                    <a:pt x="7386088" y="3035517"/>
                  </a:lnTo>
                  <a:lnTo>
                    <a:pt x="7346720" y="3056353"/>
                  </a:lnTo>
                  <a:lnTo>
                    <a:pt x="7305435" y="3073810"/>
                  </a:lnTo>
                  <a:lnTo>
                    <a:pt x="7262417" y="3087706"/>
                  </a:lnTo>
                  <a:lnTo>
                    <a:pt x="7217848" y="3097858"/>
                  </a:lnTo>
                  <a:lnTo>
                    <a:pt x="7171912" y="3104084"/>
                  </a:lnTo>
                  <a:lnTo>
                    <a:pt x="71247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750" y="1018650"/>
              <a:ext cx="7642859" cy="3106420"/>
            </a:xfrm>
            <a:custGeom>
              <a:avLst/>
              <a:gdLst/>
              <a:ahLst/>
              <a:cxnLst/>
              <a:rect l="l" t="t" r="r" b="b"/>
              <a:pathLst>
                <a:path w="7642859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124789" y="0"/>
                  </a:lnTo>
                  <a:lnTo>
                    <a:pt x="7175959" y="2533"/>
                  </a:lnTo>
                  <a:lnTo>
                    <a:pt x="7226261" y="10039"/>
                  </a:lnTo>
                  <a:lnTo>
                    <a:pt x="7275358" y="22378"/>
                  </a:lnTo>
                  <a:lnTo>
                    <a:pt x="7322908" y="39408"/>
                  </a:lnTo>
                  <a:lnTo>
                    <a:pt x="7368574" y="60989"/>
                  </a:lnTo>
                  <a:lnTo>
                    <a:pt x="7412015" y="86981"/>
                  </a:lnTo>
                  <a:lnTo>
                    <a:pt x="7452892" y="117243"/>
                  </a:lnTo>
                  <a:lnTo>
                    <a:pt x="7490866" y="151633"/>
                  </a:lnTo>
                  <a:lnTo>
                    <a:pt x="7525257" y="189607"/>
                  </a:lnTo>
                  <a:lnTo>
                    <a:pt x="7555518" y="230484"/>
                  </a:lnTo>
                  <a:lnTo>
                    <a:pt x="7581510" y="273925"/>
                  </a:lnTo>
                  <a:lnTo>
                    <a:pt x="7603091" y="319591"/>
                  </a:lnTo>
                  <a:lnTo>
                    <a:pt x="7620121" y="367141"/>
                  </a:lnTo>
                  <a:lnTo>
                    <a:pt x="7632460" y="416238"/>
                  </a:lnTo>
                  <a:lnTo>
                    <a:pt x="7639966" y="466541"/>
                  </a:lnTo>
                  <a:lnTo>
                    <a:pt x="7642499" y="517710"/>
                  </a:lnTo>
                  <a:lnTo>
                    <a:pt x="7642499" y="2588489"/>
                  </a:lnTo>
                  <a:lnTo>
                    <a:pt x="7640384" y="2635611"/>
                  </a:lnTo>
                  <a:lnTo>
                    <a:pt x="7634158" y="2681548"/>
                  </a:lnTo>
                  <a:lnTo>
                    <a:pt x="7624006" y="2726117"/>
                  </a:lnTo>
                  <a:lnTo>
                    <a:pt x="7610110" y="2769135"/>
                  </a:lnTo>
                  <a:lnTo>
                    <a:pt x="7592653" y="2810419"/>
                  </a:lnTo>
                  <a:lnTo>
                    <a:pt x="7571817" y="2849787"/>
                  </a:lnTo>
                  <a:lnTo>
                    <a:pt x="7547785" y="2887056"/>
                  </a:lnTo>
                  <a:lnTo>
                    <a:pt x="7520741" y="2922043"/>
                  </a:lnTo>
                  <a:lnTo>
                    <a:pt x="7490866" y="2954566"/>
                  </a:lnTo>
                  <a:lnTo>
                    <a:pt x="7458343" y="2984441"/>
                  </a:lnTo>
                  <a:lnTo>
                    <a:pt x="7423356" y="3011485"/>
                  </a:lnTo>
                  <a:lnTo>
                    <a:pt x="7386088" y="3035517"/>
                  </a:lnTo>
                  <a:lnTo>
                    <a:pt x="7346720" y="3056353"/>
                  </a:lnTo>
                  <a:lnTo>
                    <a:pt x="7305435" y="3073810"/>
                  </a:lnTo>
                  <a:lnTo>
                    <a:pt x="7262417" y="3087706"/>
                  </a:lnTo>
                  <a:lnTo>
                    <a:pt x="7217848" y="3097858"/>
                  </a:lnTo>
                  <a:lnTo>
                    <a:pt x="7171912" y="3104084"/>
                  </a:lnTo>
                  <a:lnTo>
                    <a:pt x="71247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50" y="1548812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2450" y="1548812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324940" y="2130873"/>
            <a:ext cx="5542280" cy="5915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/>
              <a:t>Deduplication</a:t>
            </a:r>
            <a:r>
              <a:rPr sz="3733" spc="-133" dirty="0"/>
              <a:t> </a:t>
            </a:r>
            <a:r>
              <a:rPr sz="3733" spc="-13" dirty="0"/>
              <a:t>Approaches</a:t>
            </a:r>
            <a:endParaRPr sz="3733"/>
          </a:p>
        </p:txBody>
      </p:sp>
      <p:grpSp>
        <p:nvGrpSpPr>
          <p:cNvPr id="9" name="object 9"/>
          <p:cNvGrpSpPr/>
          <p:nvPr/>
        </p:nvGrpSpPr>
        <p:grpSpPr>
          <a:xfrm>
            <a:off x="1449049" y="3216618"/>
            <a:ext cx="9294707" cy="1673013"/>
            <a:chOff x="1086787" y="2412463"/>
            <a:chExt cx="6971030" cy="1254760"/>
          </a:xfrm>
        </p:grpSpPr>
        <p:sp>
          <p:nvSpPr>
            <p:cNvPr id="10" name="object 10"/>
            <p:cNvSpPr/>
            <p:nvPr/>
          </p:nvSpPr>
          <p:spPr>
            <a:xfrm>
              <a:off x="1091550" y="2417226"/>
              <a:ext cx="6961505" cy="1245235"/>
            </a:xfrm>
            <a:custGeom>
              <a:avLst/>
              <a:gdLst/>
              <a:ahLst/>
              <a:cxnLst/>
              <a:rect l="l" t="t" r="r" b="b"/>
              <a:pathLst>
                <a:path w="6961505" h="1245235">
                  <a:moveTo>
                    <a:pt x="6753445" y="1244699"/>
                  </a:moveTo>
                  <a:lnTo>
                    <a:pt x="207454" y="1244699"/>
                  </a:lnTo>
                  <a:lnTo>
                    <a:pt x="159886" y="1239220"/>
                  </a:lnTo>
                  <a:lnTo>
                    <a:pt x="116221" y="1223614"/>
                  </a:lnTo>
                  <a:lnTo>
                    <a:pt x="77702" y="1199124"/>
                  </a:lnTo>
                  <a:lnTo>
                    <a:pt x="45575" y="1166997"/>
                  </a:lnTo>
                  <a:lnTo>
                    <a:pt x="21085" y="1128478"/>
                  </a:lnTo>
                  <a:lnTo>
                    <a:pt x="5479" y="1084813"/>
                  </a:lnTo>
                  <a:lnTo>
                    <a:pt x="0" y="1037245"/>
                  </a:lnTo>
                  <a:lnTo>
                    <a:pt x="0" y="207454"/>
                  </a:lnTo>
                  <a:lnTo>
                    <a:pt x="5479" y="159886"/>
                  </a:lnTo>
                  <a:lnTo>
                    <a:pt x="21085" y="116221"/>
                  </a:lnTo>
                  <a:lnTo>
                    <a:pt x="45575" y="77702"/>
                  </a:lnTo>
                  <a:lnTo>
                    <a:pt x="77702" y="45575"/>
                  </a:lnTo>
                  <a:lnTo>
                    <a:pt x="116221" y="21085"/>
                  </a:lnTo>
                  <a:lnTo>
                    <a:pt x="159886" y="5479"/>
                  </a:lnTo>
                  <a:lnTo>
                    <a:pt x="207454" y="0"/>
                  </a:lnTo>
                  <a:lnTo>
                    <a:pt x="6753445" y="0"/>
                  </a:lnTo>
                  <a:lnTo>
                    <a:pt x="6794107" y="4023"/>
                  </a:lnTo>
                  <a:lnTo>
                    <a:pt x="6832835" y="15791"/>
                  </a:lnTo>
                  <a:lnTo>
                    <a:pt x="6868541" y="34854"/>
                  </a:lnTo>
                  <a:lnTo>
                    <a:pt x="6900138" y="60761"/>
                  </a:lnTo>
                  <a:lnTo>
                    <a:pt x="6926045" y="92358"/>
                  </a:lnTo>
                  <a:lnTo>
                    <a:pt x="6945108" y="128065"/>
                  </a:lnTo>
                  <a:lnTo>
                    <a:pt x="6956876" y="166793"/>
                  </a:lnTo>
                  <a:lnTo>
                    <a:pt x="6960899" y="207454"/>
                  </a:lnTo>
                  <a:lnTo>
                    <a:pt x="6960899" y="1037245"/>
                  </a:lnTo>
                  <a:lnTo>
                    <a:pt x="6955420" y="1084813"/>
                  </a:lnTo>
                  <a:lnTo>
                    <a:pt x="6939814" y="1128478"/>
                  </a:lnTo>
                  <a:lnTo>
                    <a:pt x="6915324" y="1166997"/>
                  </a:lnTo>
                  <a:lnTo>
                    <a:pt x="6883197" y="1199124"/>
                  </a:lnTo>
                  <a:lnTo>
                    <a:pt x="6844678" y="1223614"/>
                  </a:lnTo>
                  <a:lnTo>
                    <a:pt x="6801013" y="1239220"/>
                  </a:lnTo>
                  <a:lnTo>
                    <a:pt x="6753445" y="1244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1550" y="2417226"/>
              <a:ext cx="6961505" cy="1245235"/>
            </a:xfrm>
            <a:custGeom>
              <a:avLst/>
              <a:gdLst/>
              <a:ahLst/>
              <a:cxnLst/>
              <a:rect l="l" t="t" r="r" b="b"/>
              <a:pathLst>
                <a:path w="6961505" h="1245235">
                  <a:moveTo>
                    <a:pt x="0" y="207454"/>
                  </a:moveTo>
                  <a:lnTo>
                    <a:pt x="5479" y="159886"/>
                  </a:lnTo>
                  <a:lnTo>
                    <a:pt x="21085" y="116221"/>
                  </a:lnTo>
                  <a:lnTo>
                    <a:pt x="45575" y="77702"/>
                  </a:lnTo>
                  <a:lnTo>
                    <a:pt x="77702" y="45575"/>
                  </a:lnTo>
                  <a:lnTo>
                    <a:pt x="116221" y="21085"/>
                  </a:lnTo>
                  <a:lnTo>
                    <a:pt x="159886" y="5479"/>
                  </a:lnTo>
                  <a:lnTo>
                    <a:pt x="207454" y="0"/>
                  </a:lnTo>
                  <a:lnTo>
                    <a:pt x="6753445" y="0"/>
                  </a:lnTo>
                  <a:lnTo>
                    <a:pt x="6794107" y="4023"/>
                  </a:lnTo>
                  <a:lnTo>
                    <a:pt x="6832835" y="15791"/>
                  </a:lnTo>
                  <a:lnTo>
                    <a:pt x="6868541" y="34854"/>
                  </a:lnTo>
                  <a:lnTo>
                    <a:pt x="6900138" y="60761"/>
                  </a:lnTo>
                  <a:lnTo>
                    <a:pt x="6926045" y="92358"/>
                  </a:lnTo>
                  <a:lnTo>
                    <a:pt x="6945108" y="128065"/>
                  </a:lnTo>
                  <a:lnTo>
                    <a:pt x="6956876" y="166793"/>
                  </a:lnTo>
                  <a:lnTo>
                    <a:pt x="6960899" y="207454"/>
                  </a:lnTo>
                  <a:lnTo>
                    <a:pt x="6960899" y="1037245"/>
                  </a:lnTo>
                  <a:lnTo>
                    <a:pt x="6955420" y="1084813"/>
                  </a:lnTo>
                  <a:lnTo>
                    <a:pt x="6939814" y="1128478"/>
                  </a:lnTo>
                  <a:lnTo>
                    <a:pt x="6915324" y="1166997"/>
                  </a:lnTo>
                  <a:lnTo>
                    <a:pt x="6883197" y="1199124"/>
                  </a:lnTo>
                  <a:lnTo>
                    <a:pt x="6844678" y="1223614"/>
                  </a:lnTo>
                  <a:lnTo>
                    <a:pt x="6801013" y="1239220"/>
                  </a:lnTo>
                  <a:lnTo>
                    <a:pt x="6753445" y="1244699"/>
                  </a:lnTo>
                  <a:lnTo>
                    <a:pt x="207454" y="1244699"/>
                  </a:lnTo>
                  <a:lnTo>
                    <a:pt x="159886" y="1239220"/>
                  </a:lnTo>
                  <a:lnTo>
                    <a:pt x="116221" y="1223614"/>
                  </a:lnTo>
                  <a:lnTo>
                    <a:pt x="77702" y="1199124"/>
                  </a:lnTo>
                  <a:lnTo>
                    <a:pt x="45575" y="1166997"/>
                  </a:lnTo>
                  <a:lnTo>
                    <a:pt x="21085" y="1128478"/>
                  </a:lnTo>
                  <a:lnTo>
                    <a:pt x="5479" y="1084813"/>
                  </a:lnTo>
                  <a:lnTo>
                    <a:pt x="0" y="1037245"/>
                  </a:lnTo>
                  <a:lnTo>
                    <a:pt x="0" y="2074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33781" y="3471193"/>
            <a:ext cx="4165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E</a:t>
            </a:r>
            <a:r>
              <a:rPr sz="1733" dirty="0">
                <a:latin typeface="Arial"/>
                <a:cs typeface="Arial"/>
              </a:rPr>
              <a:t>XACT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1733" dirty="0">
                <a:latin typeface="Arial"/>
                <a:cs typeface="Arial"/>
              </a:rPr>
              <a:t>UBSTR:</a:t>
            </a:r>
            <a:r>
              <a:rPr sz="1733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Exact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Substr</a:t>
            </a:r>
            <a:r>
              <a:rPr sz="2400" spc="-13" dirty="0">
                <a:latin typeface="Arial"/>
                <a:cs typeface="Arial"/>
              </a:rPr>
              <a:t>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782" y="4207793"/>
            <a:ext cx="35737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N</a:t>
            </a:r>
            <a:r>
              <a:rPr sz="1733" dirty="0">
                <a:latin typeface="Arial"/>
                <a:cs typeface="Arial"/>
              </a:rPr>
              <a:t>EAR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1733" dirty="0">
                <a:latin typeface="Arial"/>
                <a:cs typeface="Arial"/>
              </a:rPr>
              <a:t>UP:</a:t>
            </a:r>
            <a:r>
              <a:rPr sz="1733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Near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Dup</a:t>
            </a:r>
            <a:r>
              <a:rPr sz="2400" spc="-13" dirty="0">
                <a:latin typeface="Arial"/>
                <a:cs typeface="Arial"/>
              </a:rPr>
              <a:t>licates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FAB8D7B-F16B-4639-BC9A-95080781D3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110</a:t>
            </a:fld>
            <a:endParaRPr lang="en-US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5595" y="3673150"/>
            <a:ext cx="3166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126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94649" y="1351850"/>
            <a:ext cx="10203179" cy="4154593"/>
            <a:chOff x="745987" y="1013887"/>
            <a:chExt cx="7652384" cy="3115945"/>
          </a:xfrm>
        </p:grpSpPr>
        <p:sp>
          <p:nvSpPr>
            <p:cNvPr id="4" name="object 4"/>
            <p:cNvSpPr/>
            <p:nvPr/>
          </p:nvSpPr>
          <p:spPr>
            <a:xfrm>
              <a:off x="750750" y="1018650"/>
              <a:ext cx="7642859" cy="3106420"/>
            </a:xfrm>
            <a:custGeom>
              <a:avLst/>
              <a:gdLst/>
              <a:ahLst/>
              <a:cxnLst/>
              <a:rect l="l" t="t" r="r" b="b"/>
              <a:pathLst>
                <a:path w="7642859" h="3106420">
                  <a:moveTo>
                    <a:pt x="7124789" y="3106199"/>
                  </a:move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124789" y="0"/>
                  </a:lnTo>
                  <a:lnTo>
                    <a:pt x="7175959" y="2533"/>
                  </a:lnTo>
                  <a:lnTo>
                    <a:pt x="7226261" y="10039"/>
                  </a:lnTo>
                  <a:lnTo>
                    <a:pt x="7275358" y="22378"/>
                  </a:lnTo>
                  <a:lnTo>
                    <a:pt x="7322908" y="39408"/>
                  </a:lnTo>
                  <a:lnTo>
                    <a:pt x="7368574" y="60989"/>
                  </a:lnTo>
                  <a:lnTo>
                    <a:pt x="7412015" y="86981"/>
                  </a:lnTo>
                  <a:lnTo>
                    <a:pt x="7452892" y="117243"/>
                  </a:lnTo>
                  <a:lnTo>
                    <a:pt x="7490866" y="151633"/>
                  </a:lnTo>
                  <a:lnTo>
                    <a:pt x="7525257" y="189607"/>
                  </a:lnTo>
                  <a:lnTo>
                    <a:pt x="7555518" y="230484"/>
                  </a:lnTo>
                  <a:lnTo>
                    <a:pt x="7581510" y="273925"/>
                  </a:lnTo>
                  <a:lnTo>
                    <a:pt x="7603091" y="319591"/>
                  </a:lnTo>
                  <a:lnTo>
                    <a:pt x="7620121" y="367141"/>
                  </a:lnTo>
                  <a:lnTo>
                    <a:pt x="7632460" y="416238"/>
                  </a:lnTo>
                  <a:lnTo>
                    <a:pt x="7639966" y="466541"/>
                  </a:lnTo>
                  <a:lnTo>
                    <a:pt x="7642499" y="517710"/>
                  </a:lnTo>
                  <a:lnTo>
                    <a:pt x="7642499" y="2588489"/>
                  </a:lnTo>
                  <a:lnTo>
                    <a:pt x="7640384" y="2635611"/>
                  </a:lnTo>
                  <a:lnTo>
                    <a:pt x="7634158" y="2681548"/>
                  </a:lnTo>
                  <a:lnTo>
                    <a:pt x="7624006" y="2726117"/>
                  </a:lnTo>
                  <a:lnTo>
                    <a:pt x="7610110" y="2769135"/>
                  </a:lnTo>
                  <a:lnTo>
                    <a:pt x="7592653" y="2810419"/>
                  </a:lnTo>
                  <a:lnTo>
                    <a:pt x="7571817" y="2849787"/>
                  </a:lnTo>
                  <a:lnTo>
                    <a:pt x="7547785" y="2887056"/>
                  </a:lnTo>
                  <a:lnTo>
                    <a:pt x="7520741" y="2922043"/>
                  </a:lnTo>
                  <a:lnTo>
                    <a:pt x="7490866" y="2954566"/>
                  </a:lnTo>
                  <a:lnTo>
                    <a:pt x="7458343" y="2984441"/>
                  </a:lnTo>
                  <a:lnTo>
                    <a:pt x="7423356" y="3011485"/>
                  </a:lnTo>
                  <a:lnTo>
                    <a:pt x="7386088" y="3035517"/>
                  </a:lnTo>
                  <a:lnTo>
                    <a:pt x="7346720" y="3056353"/>
                  </a:lnTo>
                  <a:lnTo>
                    <a:pt x="7305435" y="3073810"/>
                  </a:lnTo>
                  <a:lnTo>
                    <a:pt x="7262417" y="3087706"/>
                  </a:lnTo>
                  <a:lnTo>
                    <a:pt x="7217848" y="3097858"/>
                  </a:lnTo>
                  <a:lnTo>
                    <a:pt x="7171912" y="3104084"/>
                  </a:lnTo>
                  <a:lnTo>
                    <a:pt x="7124789" y="310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750" y="1018650"/>
              <a:ext cx="7642859" cy="3106420"/>
            </a:xfrm>
            <a:custGeom>
              <a:avLst/>
              <a:gdLst/>
              <a:ahLst/>
              <a:cxnLst/>
              <a:rect l="l" t="t" r="r" b="b"/>
              <a:pathLst>
                <a:path w="7642859" h="3106420">
                  <a:moveTo>
                    <a:pt x="0" y="517710"/>
                  </a:moveTo>
                  <a:lnTo>
                    <a:pt x="2115" y="470588"/>
                  </a:lnTo>
                  <a:lnTo>
                    <a:pt x="8341" y="424651"/>
                  </a:lnTo>
                  <a:lnTo>
                    <a:pt x="18493" y="380082"/>
                  </a:lnTo>
                  <a:lnTo>
                    <a:pt x="32389" y="337064"/>
                  </a:lnTo>
                  <a:lnTo>
                    <a:pt x="49846" y="295780"/>
                  </a:lnTo>
                  <a:lnTo>
                    <a:pt x="70682" y="256412"/>
                  </a:lnTo>
                  <a:lnTo>
                    <a:pt x="94714" y="219143"/>
                  </a:lnTo>
                  <a:lnTo>
                    <a:pt x="121758" y="184156"/>
                  </a:lnTo>
                  <a:lnTo>
                    <a:pt x="151633" y="151633"/>
                  </a:lnTo>
                  <a:lnTo>
                    <a:pt x="184156" y="121758"/>
                  </a:lnTo>
                  <a:lnTo>
                    <a:pt x="219143" y="94714"/>
                  </a:lnTo>
                  <a:lnTo>
                    <a:pt x="256412" y="70682"/>
                  </a:lnTo>
                  <a:lnTo>
                    <a:pt x="295780" y="49846"/>
                  </a:lnTo>
                  <a:lnTo>
                    <a:pt x="337064" y="32389"/>
                  </a:lnTo>
                  <a:lnTo>
                    <a:pt x="380082" y="18493"/>
                  </a:lnTo>
                  <a:lnTo>
                    <a:pt x="424651" y="8341"/>
                  </a:lnTo>
                  <a:lnTo>
                    <a:pt x="470588" y="2115"/>
                  </a:lnTo>
                  <a:lnTo>
                    <a:pt x="517710" y="0"/>
                  </a:lnTo>
                  <a:lnTo>
                    <a:pt x="7124789" y="0"/>
                  </a:lnTo>
                  <a:lnTo>
                    <a:pt x="7175959" y="2533"/>
                  </a:lnTo>
                  <a:lnTo>
                    <a:pt x="7226261" y="10039"/>
                  </a:lnTo>
                  <a:lnTo>
                    <a:pt x="7275358" y="22378"/>
                  </a:lnTo>
                  <a:lnTo>
                    <a:pt x="7322908" y="39408"/>
                  </a:lnTo>
                  <a:lnTo>
                    <a:pt x="7368574" y="60989"/>
                  </a:lnTo>
                  <a:lnTo>
                    <a:pt x="7412015" y="86981"/>
                  </a:lnTo>
                  <a:lnTo>
                    <a:pt x="7452892" y="117243"/>
                  </a:lnTo>
                  <a:lnTo>
                    <a:pt x="7490866" y="151633"/>
                  </a:lnTo>
                  <a:lnTo>
                    <a:pt x="7525257" y="189607"/>
                  </a:lnTo>
                  <a:lnTo>
                    <a:pt x="7555518" y="230484"/>
                  </a:lnTo>
                  <a:lnTo>
                    <a:pt x="7581510" y="273925"/>
                  </a:lnTo>
                  <a:lnTo>
                    <a:pt x="7603091" y="319591"/>
                  </a:lnTo>
                  <a:lnTo>
                    <a:pt x="7620121" y="367141"/>
                  </a:lnTo>
                  <a:lnTo>
                    <a:pt x="7632460" y="416238"/>
                  </a:lnTo>
                  <a:lnTo>
                    <a:pt x="7639966" y="466541"/>
                  </a:lnTo>
                  <a:lnTo>
                    <a:pt x="7642499" y="517710"/>
                  </a:lnTo>
                  <a:lnTo>
                    <a:pt x="7642499" y="2588489"/>
                  </a:lnTo>
                  <a:lnTo>
                    <a:pt x="7640384" y="2635611"/>
                  </a:lnTo>
                  <a:lnTo>
                    <a:pt x="7634158" y="2681548"/>
                  </a:lnTo>
                  <a:lnTo>
                    <a:pt x="7624006" y="2726117"/>
                  </a:lnTo>
                  <a:lnTo>
                    <a:pt x="7610110" y="2769135"/>
                  </a:lnTo>
                  <a:lnTo>
                    <a:pt x="7592653" y="2810419"/>
                  </a:lnTo>
                  <a:lnTo>
                    <a:pt x="7571817" y="2849787"/>
                  </a:lnTo>
                  <a:lnTo>
                    <a:pt x="7547785" y="2887056"/>
                  </a:lnTo>
                  <a:lnTo>
                    <a:pt x="7520741" y="2922043"/>
                  </a:lnTo>
                  <a:lnTo>
                    <a:pt x="7490866" y="2954566"/>
                  </a:lnTo>
                  <a:lnTo>
                    <a:pt x="7458343" y="2984441"/>
                  </a:lnTo>
                  <a:lnTo>
                    <a:pt x="7423356" y="3011485"/>
                  </a:lnTo>
                  <a:lnTo>
                    <a:pt x="7386088" y="3035517"/>
                  </a:lnTo>
                  <a:lnTo>
                    <a:pt x="7346720" y="3056353"/>
                  </a:lnTo>
                  <a:lnTo>
                    <a:pt x="7305435" y="3073810"/>
                  </a:lnTo>
                  <a:lnTo>
                    <a:pt x="7262417" y="3087706"/>
                  </a:lnTo>
                  <a:lnTo>
                    <a:pt x="7217848" y="3097858"/>
                  </a:lnTo>
                  <a:lnTo>
                    <a:pt x="7171912" y="3104084"/>
                  </a:lnTo>
                  <a:lnTo>
                    <a:pt x="7124789" y="3106199"/>
                  </a:lnTo>
                  <a:lnTo>
                    <a:pt x="517710" y="3106199"/>
                  </a:lnTo>
                  <a:lnTo>
                    <a:pt x="470588" y="3104084"/>
                  </a:lnTo>
                  <a:lnTo>
                    <a:pt x="424651" y="3097858"/>
                  </a:lnTo>
                  <a:lnTo>
                    <a:pt x="380082" y="3087706"/>
                  </a:lnTo>
                  <a:lnTo>
                    <a:pt x="337064" y="3073810"/>
                  </a:lnTo>
                  <a:lnTo>
                    <a:pt x="295780" y="3056353"/>
                  </a:lnTo>
                  <a:lnTo>
                    <a:pt x="256412" y="3035517"/>
                  </a:lnTo>
                  <a:lnTo>
                    <a:pt x="219143" y="3011485"/>
                  </a:lnTo>
                  <a:lnTo>
                    <a:pt x="184156" y="2984441"/>
                  </a:lnTo>
                  <a:lnTo>
                    <a:pt x="151633" y="2954566"/>
                  </a:lnTo>
                  <a:lnTo>
                    <a:pt x="121758" y="2922043"/>
                  </a:lnTo>
                  <a:lnTo>
                    <a:pt x="94714" y="2887056"/>
                  </a:lnTo>
                  <a:lnTo>
                    <a:pt x="70682" y="2849787"/>
                  </a:lnTo>
                  <a:lnTo>
                    <a:pt x="49846" y="2810419"/>
                  </a:lnTo>
                  <a:lnTo>
                    <a:pt x="32389" y="2769135"/>
                  </a:lnTo>
                  <a:lnTo>
                    <a:pt x="18493" y="2726117"/>
                  </a:lnTo>
                  <a:lnTo>
                    <a:pt x="8341" y="2681548"/>
                  </a:lnTo>
                  <a:lnTo>
                    <a:pt x="2115" y="2635611"/>
                  </a:lnTo>
                  <a:lnTo>
                    <a:pt x="0" y="2588489"/>
                  </a:lnTo>
                  <a:lnTo>
                    <a:pt x="0" y="51771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50" y="16258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2450" y="16258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37759" y="2233639"/>
            <a:ext cx="2716952" cy="5915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cap="small" spc="-247" dirty="0"/>
              <a:t>ExactSubstr</a:t>
            </a:r>
            <a:endParaRPr sz="3733"/>
          </a:p>
        </p:txBody>
      </p:sp>
      <p:grpSp>
        <p:nvGrpSpPr>
          <p:cNvPr id="9" name="object 9"/>
          <p:cNvGrpSpPr/>
          <p:nvPr/>
        </p:nvGrpSpPr>
        <p:grpSpPr>
          <a:xfrm>
            <a:off x="1449049" y="3216618"/>
            <a:ext cx="9294707" cy="1673013"/>
            <a:chOff x="1086787" y="2412463"/>
            <a:chExt cx="6971030" cy="1254760"/>
          </a:xfrm>
        </p:grpSpPr>
        <p:sp>
          <p:nvSpPr>
            <p:cNvPr id="10" name="object 10"/>
            <p:cNvSpPr/>
            <p:nvPr/>
          </p:nvSpPr>
          <p:spPr>
            <a:xfrm>
              <a:off x="1091550" y="2417226"/>
              <a:ext cx="6961505" cy="1245235"/>
            </a:xfrm>
            <a:custGeom>
              <a:avLst/>
              <a:gdLst/>
              <a:ahLst/>
              <a:cxnLst/>
              <a:rect l="l" t="t" r="r" b="b"/>
              <a:pathLst>
                <a:path w="6961505" h="1245235">
                  <a:moveTo>
                    <a:pt x="6753445" y="1244699"/>
                  </a:moveTo>
                  <a:lnTo>
                    <a:pt x="207454" y="1244699"/>
                  </a:lnTo>
                  <a:lnTo>
                    <a:pt x="159886" y="1239220"/>
                  </a:lnTo>
                  <a:lnTo>
                    <a:pt x="116221" y="1223614"/>
                  </a:lnTo>
                  <a:lnTo>
                    <a:pt x="77702" y="1199124"/>
                  </a:lnTo>
                  <a:lnTo>
                    <a:pt x="45575" y="1166997"/>
                  </a:lnTo>
                  <a:lnTo>
                    <a:pt x="21085" y="1128478"/>
                  </a:lnTo>
                  <a:lnTo>
                    <a:pt x="5479" y="1084813"/>
                  </a:lnTo>
                  <a:lnTo>
                    <a:pt x="0" y="1037245"/>
                  </a:lnTo>
                  <a:lnTo>
                    <a:pt x="0" y="207454"/>
                  </a:lnTo>
                  <a:lnTo>
                    <a:pt x="5479" y="159886"/>
                  </a:lnTo>
                  <a:lnTo>
                    <a:pt x="21085" y="116221"/>
                  </a:lnTo>
                  <a:lnTo>
                    <a:pt x="45575" y="77702"/>
                  </a:lnTo>
                  <a:lnTo>
                    <a:pt x="77702" y="45575"/>
                  </a:lnTo>
                  <a:lnTo>
                    <a:pt x="116221" y="21085"/>
                  </a:lnTo>
                  <a:lnTo>
                    <a:pt x="159886" y="5479"/>
                  </a:lnTo>
                  <a:lnTo>
                    <a:pt x="207454" y="0"/>
                  </a:lnTo>
                  <a:lnTo>
                    <a:pt x="6753445" y="0"/>
                  </a:lnTo>
                  <a:lnTo>
                    <a:pt x="6794107" y="4023"/>
                  </a:lnTo>
                  <a:lnTo>
                    <a:pt x="6832835" y="15791"/>
                  </a:lnTo>
                  <a:lnTo>
                    <a:pt x="6868541" y="34854"/>
                  </a:lnTo>
                  <a:lnTo>
                    <a:pt x="6900138" y="60761"/>
                  </a:lnTo>
                  <a:lnTo>
                    <a:pt x="6926045" y="92358"/>
                  </a:lnTo>
                  <a:lnTo>
                    <a:pt x="6945108" y="128065"/>
                  </a:lnTo>
                  <a:lnTo>
                    <a:pt x="6956876" y="166793"/>
                  </a:lnTo>
                  <a:lnTo>
                    <a:pt x="6960899" y="207454"/>
                  </a:lnTo>
                  <a:lnTo>
                    <a:pt x="6960899" y="1037245"/>
                  </a:lnTo>
                  <a:lnTo>
                    <a:pt x="6955420" y="1084813"/>
                  </a:lnTo>
                  <a:lnTo>
                    <a:pt x="6939814" y="1128478"/>
                  </a:lnTo>
                  <a:lnTo>
                    <a:pt x="6915324" y="1166997"/>
                  </a:lnTo>
                  <a:lnTo>
                    <a:pt x="6883197" y="1199124"/>
                  </a:lnTo>
                  <a:lnTo>
                    <a:pt x="6844678" y="1223614"/>
                  </a:lnTo>
                  <a:lnTo>
                    <a:pt x="6801013" y="1239220"/>
                  </a:lnTo>
                  <a:lnTo>
                    <a:pt x="6753445" y="1244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1550" y="2417226"/>
              <a:ext cx="6961505" cy="1245235"/>
            </a:xfrm>
            <a:custGeom>
              <a:avLst/>
              <a:gdLst/>
              <a:ahLst/>
              <a:cxnLst/>
              <a:rect l="l" t="t" r="r" b="b"/>
              <a:pathLst>
                <a:path w="6961505" h="1245235">
                  <a:moveTo>
                    <a:pt x="0" y="207454"/>
                  </a:moveTo>
                  <a:lnTo>
                    <a:pt x="5479" y="159886"/>
                  </a:lnTo>
                  <a:lnTo>
                    <a:pt x="21085" y="116221"/>
                  </a:lnTo>
                  <a:lnTo>
                    <a:pt x="45575" y="77702"/>
                  </a:lnTo>
                  <a:lnTo>
                    <a:pt x="77702" y="45575"/>
                  </a:lnTo>
                  <a:lnTo>
                    <a:pt x="116221" y="21085"/>
                  </a:lnTo>
                  <a:lnTo>
                    <a:pt x="159886" y="5479"/>
                  </a:lnTo>
                  <a:lnTo>
                    <a:pt x="207454" y="0"/>
                  </a:lnTo>
                  <a:lnTo>
                    <a:pt x="6753445" y="0"/>
                  </a:lnTo>
                  <a:lnTo>
                    <a:pt x="6794107" y="4023"/>
                  </a:lnTo>
                  <a:lnTo>
                    <a:pt x="6832835" y="15791"/>
                  </a:lnTo>
                  <a:lnTo>
                    <a:pt x="6868541" y="34854"/>
                  </a:lnTo>
                  <a:lnTo>
                    <a:pt x="6900138" y="60761"/>
                  </a:lnTo>
                  <a:lnTo>
                    <a:pt x="6926045" y="92358"/>
                  </a:lnTo>
                  <a:lnTo>
                    <a:pt x="6945108" y="128065"/>
                  </a:lnTo>
                  <a:lnTo>
                    <a:pt x="6956876" y="166793"/>
                  </a:lnTo>
                  <a:lnTo>
                    <a:pt x="6960899" y="207454"/>
                  </a:lnTo>
                  <a:lnTo>
                    <a:pt x="6960899" y="1037245"/>
                  </a:lnTo>
                  <a:lnTo>
                    <a:pt x="6955420" y="1084813"/>
                  </a:lnTo>
                  <a:lnTo>
                    <a:pt x="6939814" y="1128478"/>
                  </a:lnTo>
                  <a:lnTo>
                    <a:pt x="6915324" y="1166997"/>
                  </a:lnTo>
                  <a:lnTo>
                    <a:pt x="6883197" y="1199124"/>
                  </a:lnTo>
                  <a:lnTo>
                    <a:pt x="6844678" y="1223614"/>
                  </a:lnTo>
                  <a:lnTo>
                    <a:pt x="6801013" y="1239220"/>
                  </a:lnTo>
                  <a:lnTo>
                    <a:pt x="6753445" y="1244699"/>
                  </a:lnTo>
                  <a:lnTo>
                    <a:pt x="207454" y="1244699"/>
                  </a:lnTo>
                  <a:lnTo>
                    <a:pt x="159886" y="1239220"/>
                  </a:lnTo>
                  <a:lnTo>
                    <a:pt x="116221" y="1223614"/>
                  </a:lnTo>
                  <a:lnTo>
                    <a:pt x="77702" y="1199124"/>
                  </a:lnTo>
                  <a:lnTo>
                    <a:pt x="45575" y="1166997"/>
                  </a:lnTo>
                  <a:lnTo>
                    <a:pt x="21085" y="1128478"/>
                  </a:lnTo>
                  <a:lnTo>
                    <a:pt x="5479" y="1084813"/>
                  </a:lnTo>
                  <a:lnTo>
                    <a:pt x="0" y="1037245"/>
                  </a:lnTo>
                  <a:lnTo>
                    <a:pt x="0" y="2074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33781" y="3267993"/>
            <a:ext cx="87409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examples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a</a:t>
            </a:r>
            <a:r>
              <a:rPr sz="2400" b="1" i="1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b</a:t>
            </a:r>
            <a:r>
              <a:rPr sz="2400" b="1" i="1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share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substring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least</a:t>
            </a:r>
            <a:r>
              <a:rPr sz="2400" spc="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50</a:t>
            </a:r>
            <a:r>
              <a:rPr sz="2400" b="1" spc="-13" dirty="0">
                <a:latin typeface="Arial"/>
                <a:cs typeface="Arial"/>
              </a:rPr>
              <a:t> tokens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781" y="4004593"/>
            <a:ext cx="61671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Then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remove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substring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either </a:t>
            </a:r>
            <a:r>
              <a:rPr sz="2400" b="1" i="1" dirty="0">
                <a:latin typeface="Arial"/>
                <a:cs typeface="Arial"/>
              </a:rPr>
              <a:t>a</a:t>
            </a:r>
            <a:r>
              <a:rPr sz="2400" b="1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i="1" spc="-67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A792576-0943-4841-A8C3-1A1C5103BD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111</a:t>
            </a:fld>
            <a:endParaRPr lang="en-US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5595" y="3673150"/>
            <a:ext cx="3166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127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94649" y="1360116"/>
            <a:ext cx="10203179" cy="4876800"/>
            <a:chOff x="745987" y="1020087"/>
            <a:chExt cx="7652384" cy="3657600"/>
          </a:xfrm>
        </p:grpSpPr>
        <p:sp>
          <p:nvSpPr>
            <p:cNvPr id="4" name="object 4"/>
            <p:cNvSpPr/>
            <p:nvPr/>
          </p:nvSpPr>
          <p:spPr>
            <a:xfrm>
              <a:off x="750750" y="1024850"/>
              <a:ext cx="7642859" cy="3648075"/>
            </a:xfrm>
            <a:custGeom>
              <a:avLst/>
              <a:gdLst/>
              <a:ahLst/>
              <a:cxnLst/>
              <a:rect l="l" t="t" r="r" b="b"/>
              <a:pathLst>
                <a:path w="7642859" h="3648075">
                  <a:moveTo>
                    <a:pt x="7034487" y="3647999"/>
                  </a:moveTo>
                  <a:lnTo>
                    <a:pt x="608012" y="3647999"/>
                  </a:lnTo>
                  <a:lnTo>
                    <a:pt x="560496" y="3646170"/>
                  </a:lnTo>
                  <a:lnTo>
                    <a:pt x="513980" y="3640772"/>
                  </a:lnTo>
                  <a:lnTo>
                    <a:pt x="468600" y="3631941"/>
                  </a:lnTo>
                  <a:lnTo>
                    <a:pt x="424490" y="3619812"/>
                  </a:lnTo>
                  <a:lnTo>
                    <a:pt x="381786" y="3604520"/>
                  </a:lnTo>
                  <a:lnTo>
                    <a:pt x="340623" y="3586200"/>
                  </a:lnTo>
                  <a:lnTo>
                    <a:pt x="301136" y="3564988"/>
                  </a:lnTo>
                  <a:lnTo>
                    <a:pt x="263460" y="3541018"/>
                  </a:lnTo>
                  <a:lnTo>
                    <a:pt x="227731" y="3514426"/>
                  </a:lnTo>
                  <a:lnTo>
                    <a:pt x="194083" y="3485347"/>
                  </a:lnTo>
                  <a:lnTo>
                    <a:pt x="162652" y="3453916"/>
                  </a:lnTo>
                  <a:lnTo>
                    <a:pt x="133573" y="3420268"/>
                  </a:lnTo>
                  <a:lnTo>
                    <a:pt x="106981" y="3384538"/>
                  </a:lnTo>
                  <a:lnTo>
                    <a:pt x="83011" y="3346863"/>
                  </a:lnTo>
                  <a:lnTo>
                    <a:pt x="61799" y="3307376"/>
                  </a:lnTo>
                  <a:lnTo>
                    <a:pt x="43479" y="3266213"/>
                  </a:lnTo>
                  <a:lnTo>
                    <a:pt x="28187" y="3223509"/>
                  </a:lnTo>
                  <a:lnTo>
                    <a:pt x="16058" y="3179399"/>
                  </a:lnTo>
                  <a:lnTo>
                    <a:pt x="7227" y="3134019"/>
                  </a:lnTo>
                  <a:lnTo>
                    <a:pt x="1829" y="3087503"/>
                  </a:lnTo>
                  <a:lnTo>
                    <a:pt x="0" y="3039987"/>
                  </a:lnTo>
                  <a:lnTo>
                    <a:pt x="0" y="608012"/>
                  </a:lnTo>
                  <a:lnTo>
                    <a:pt x="1829" y="560496"/>
                  </a:lnTo>
                  <a:lnTo>
                    <a:pt x="7227" y="513980"/>
                  </a:lnTo>
                  <a:lnTo>
                    <a:pt x="16058" y="468600"/>
                  </a:lnTo>
                  <a:lnTo>
                    <a:pt x="28187" y="424490"/>
                  </a:lnTo>
                  <a:lnTo>
                    <a:pt x="43479" y="381786"/>
                  </a:lnTo>
                  <a:lnTo>
                    <a:pt x="61799" y="340623"/>
                  </a:lnTo>
                  <a:lnTo>
                    <a:pt x="83011" y="301136"/>
                  </a:lnTo>
                  <a:lnTo>
                    <a:pt x="106981" y="263460"/>
                  </a:lnTo>
                  <a:lnTo>
                    <a:pt x="133573" y="227731"/>
                  </a:lnTo>
                  <a:lnTo>
                    <a:pt x="162652" y="194083"/>
                  </a:lnTo>
                  <a:lnTo>
                    <a:pt x="194083" y="162652"/>
                  </a:lnTo>
                  <a:lnTo>
                    <a:pt x="227731" y="133573"/>
                  </a:lnTo>
                  <a:lnTo>
                    <a:pt x="263460" y="106981"/>
                  </a:lnTo>
                  <a:lnTo>
                    <a:pt x="301136" y="83011"/>
                  </a:lnTo>
                  <a:lnTo>
                    <a:pt x="340623" y="61799"/>
                  </a:lnTo>
                  <a:lnTo>
                    <a:pt x="381786" y="43479"/>
                  </a:lnTo>
                  <a:lnTo>
                    <a:pt x="424490" y="28187"/>
                  </a:lnTo>
                  <a:lnTo>
                    <a:pt x="468600" y="16058"/>
                  </a:lnTo>
                  <a:lnTo>
                    <a:pt x="513980" y="7227"/>
                  </a:lnTo>
                  <a:lnTo>
                    <a:pt x="560496" y="1829"/>
                  </a:lnTo>
                  <a:lnTo>
                    <a:pt x="608012" y="0"/>
                  </a:lnTo>
                  <a:lnTo>
                    <a:pt x="7034487" y="0"/>
                  </a:lnTo>
                  <a:lnTo>
                    <a:pt x="7082631" y="1907"/>
                  </a:lnTo>
                  <a:lnTo>
                    <a:pt x="7130175" y="7574"/>
                  </a:lnTo>
                  <a:lnTo>
                    <a:pt x="7176915" y="16915"/>
                  </a:lnTo>
                  <a:lnTo>
                    <a:pt x="7222646" y="29846"/>
                  </a:lnTo>
                  <a:lnTo>
                    <a:pt x="7267164" y="46282"/>
                  </a:lnTo>
                  <a:lnTo>
                    <a:pt x="7310265" y="66139"/>
                  </a:lnTo>
                  <a:lnTo>
                    <a:pt x="7351745" y="89332"/>
                  </a:lnTo>
                  <a:lnTo>
                    <a:pt x="7391399" y="115776"/>
                  </a:lnTo>
                  <a:lnTo>
                    <a:pt x="7429025" y="145388"/>
                  </a:lnTo>
                  <a:lnTo>
                    <a:pt x="7464417" y="178082"/>
                  </a:lnTo>
                  <a:lnTo>
                    <a:pt x="7497111" y="213474"/>
                  </a:lnTo>
                  <a:lnTo>
                    <a:pt x="7526723" y="251100"/>
                  </a:lnTo>
                  <a:lnTo>
                    <a:pt x="7553167" y="290754"/>
                  </a:lnTo>
                  <a:lnTo>
                    <a:pt x="7576360" y="332234"/>
                  </a:lnTo>
                  <a:lnTo>
                    <a:pt x="7596217" y="375335"/>
                  </a:lnTo>
                  <a:lnTo>
                    <a:pt x="7612653" y="419853"/>
                  </a:lnTo>
                  <a:lnTo>
                    <a:pt x="7625584" y="465584"/>
                  </a:lnTo>
                  <a:lnTo>
                    <a:pt x="7634925" y="512324"/>
                  </a:lnTo>
                  <a:lnTo>
                    <a:pt x="7640592" y="559867"/>
                  </a:lnTo>
                  <a:lnTo>
                    <a:pt x="7642499" y="608012"/>
                  </a:lnTo>
                  <a:lnTo>
                    <a:pt x="7642499" y="3039987"/>
                  </a:lnTo>
                  <a:lnTo>
                    <a:pt x="7640670" y="3087503"/>
                  </a:lnTo>
                  <a:lnTo>
                    <a:pt x="7635272" y="3134019"/>
                  </a:lnTo>
                  <a:lnTo>
                    <a:pt x="7626441" y="3179399"/>
                  </a:lnTo>
                  <a:lnTo>
                    <a:pt x="7614312" y="3223509"/>
                  </a:lnTo>
                  <a:lnTo>
                    <a:pt x="7599020" y="3266213"/>
                  </a:lnTo>
                  <a:lnTo>
                    <a:pt x="7580700" y="3307376"/>
                  </a:lnTo>
                  <a:lnTo>
                    <a:pt x="7559488" y="3346863"/>
                  </a:lnTo>
                  <a:lnTo>
                    <a:pt x="7535518" y="3384538"/>
                  </a:lnTo>
                  <a:lnTo>
                    <a:pt x="7508926" y="3420268"/>
                  </a:lnTo>
                  <a:lnTo>
                    <a:pt x="7479847" y="3453916"/>
                  </a:lnTo>
                  <a:lnTo>
                    <a:pt x="7448416" y="3485347"/>
                  </a:lnTo>
                  <a:lnTo>
                    <a:pt x="7414768" y="3514426"/>
                  </a:lnTo>
                  <a:lnTo>
                    <a:pt x="7379038" y="3541018"/>
                  </a:lnTo>
                  <a:lnTo>
                    <a:pt x="7341363" y="3564988"/>
                  </a:lnTo>
                  <a:lnTo>
                    <a:pt x="7301875" y="3586200"/>
                  </a:lnTo>
                  <a:lnTo>
                    <a:pt x="7260712" y="3604520"/>
                  </a:lnTo>
                  <a:lnTo>
                    <a:pt x="7218008" y="3619812"/>
                  </a:lnTo>
                  <a:lnTo>
                    <a:pt x="7173899" y="3631941"/>
                  </a:lnTo>
                  <a:lnTo>
                    <a:pt x="7128518" y="3640772"/>
                  </a:lnTo>
                  <a:lnTo>
                    <a:pt x="7082003" y="3646170"/>
                  </a:lnTo>
                  <a:lnTo>
                    <a:pt x="7034487" y="3647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0750" y="1024850"/>
              <a:ext cx="7642859" cy="3648075"/>
            </a:xfrm>
            <a:custGeom>
              <a:avLst/>
              <a:gdLst/>
              <a:ahLst/>
              <a:cxnLst/>
              <a:rect l="l" t="t" r="r" b="b"/>
              <a:pathLst>
                <a:path w="7642859" h="3648075">
                  <a:moveTo>
                    <a:pt x="0" y="608012"/>
                  </a:moveTo>
                  <a:lnTo>
                    <a:pt x="1829" y="560496"/>
                  </a:lnTo>
                  <a:lnTo>
                    <a:pt x="7227" y="513980"/>
                  </a:lnTo>
                  <a:lnTo>
                    <a:pt x="16058" y="468600"/>
                  </a:lnTo>
                  <a:lnTo>
                    <a:pt x="28187" y="424490"/>
                  </a:lnTo>
                  <a:lnTo>
                    <a:pt x="43479" y="381786"/>
                  </a:lnTo>
                  <a:lnTo>
                    <a:pt x="61799" y="340623"/>
                  </a:lnTo>
                  <a:lnTo>
                    <a:pt x="83011" y="301136"/>
                  </a:lnTo>
                  <a:lnTo>
                    <a:pt x="106981" y="263460"/>
                  </a:lnTo>
                  <a:lnTo>
                    <a:pt x="133573" y="227731"/>
                  </a:lnTo>
                  <a:lnTo>
                    <a:pt x="162652" y="194083"/>
                  </a:lnTo>
                  <a:lnTo>
                    <a:pt x="194083" y="162652"/>
                  </a:lnTo>
                  <a:lnTo>
                    <a:pt x="227731" y="133573"/>
                  </a:lnTo>
                  <a:lnTo>
                    <a:pt x="263460" y="106981"/>
                  </a:lnTo>
                  <a:lnTo>
                    <a:pt x="301136" y="83011"/>
                  </a:lnTo>
                  <a:lnTo>
                    <a:pt x="340623" y="61799"/>
                  </a:lnTo>
                  <a:lnTo>
                    <a:pt x="381786" y="43479"/>
                  </a:lnTo>
                  <a:lnTo>
                    <a:pt x="424490" y="28187"/>
                  </a:lnTo>
                  <a:lnTo>
                    <a:pt x="468600" y="16058"/>
                  </a:lnTo>
                  <a:lnTo>
                    <a:pt x="513980" y="7227"/>
                  </a:lnTo>
                  <a:lnTo>
                    <a:pt x="560496" y="1829"/>
                  </a:lnTo>
                  <a:lnTo>
                    <a:pt x="608012" y="0"/>
                  </a:lnTo>
                  <a:lnTo>
                    <a:pt x="7034487" y="0"/>
                  </a:lnTo>
                  <a:lnTo>
                    <a:pt x="7082631" y="1907"/>
                  </a:lnTo>
                  <a:lnTo>
                    <a:pt x="7130175" y="7574"/>
                  </a:lnTo>
                  <a:lnTo>
                    <a:pt x="7176915" y="16915"/>
                  </a:lnTo>
                  <a:lnTo>
                    <a:pt x="7222646" y="29846"/>
                  </a:lnTo>
                  <a:lnTo>
                    <a:pt x="7267164" y="46282"/>
                  </a:lnTo>
                  <a:lnTo>
                    <a:pt x="7310265" y="66139"/>
                  </a:lnTo>
                  <a:lnTo>
                    <a:pt x="7351745" y="89332"/>
                  </a:lnTo>
                  <a:lnTo>
                    <a:pt x="7391399" y="115776"/>
                  </a:lnTo>
                  <a:lnTo>
                    <a:pt x="7429025" y="145388"/>
                  </a:lnTo>
                  <a:lnTo>
                    <a:pt x="7464417" y="178082"/>
                  </a:lnTo>
                  <a:lnTo>
                    <a:pt x="7497111" y="213474"/>
                  </a:lnTo>
                  <a:lnTo>
                    <a:pt x="7526723" y="251100"/>
                  </a:lnTo>
                  <a:lnTo>
                    <a:pt x="7553167" y="290754"/>
                  </a:lnTo>
                  <a:lnTo>
                    <a:pt x="7576360" y="332234"/>
                  </a:lnTo>
                  <a:lnTo>
                    <a:pt x="7596217" y="375335"/>
                  </a:lnTo>
                  <a:lnTo>
                    <a:pt x="7612653" y="419853"/>
                  </a:lnTo>
                  <a:lnTo>
                    <a:pt x="7625584" y="465584"/>
                  </a:lnTo>
                  <a:lnTo>
                    <a:pt x="7634925" y="512324"/>
                  </a:lnTo>
                  <a:lnTo>
                    <a:pt x="7640592" y="559867"/>
                  </a:lnTo>
                  <a:lnTo>
                    <a:pt x="7642499" y="608012"/>
                  </a:lnTo>
                  <a:lnTo>
                    <a:pt x="7642499" y="3039987"/>
                  </a:lnTo>
                  <a:lnTo>
                    <a:pt x="7640670" y="3087503"/>
                  </a:lnTo>
                  <a:lnTo>
                    <a:pt x="7635272" y="3134019"/>
                  </a:lnTo>
                  <a:lnTo>
                    <a:pt x="7626441" y="3179399"/>
                  </a:lnTo>
                  <a:lnTo>
                    <a:pt x="7614312" y="3223509"/>
                  </a:lnTo>
                  <a:lnTo>
                    <a:pt x="7599020" y="3266213"/>
                  </a:lnTo>
                  <a:lnTo>
                    <a:pt x="7580700" y="3307376"/>
                  </a:lnTo>
                  <a:lnTo>
                    <a:pt x="7559488" y="3346863"/>
                  </a:lnTo>
                  <a:lnTo>
                    <a:pt x="7535518" y="3384538"/>
                  </a:lnTo>
                  <a:lnTo>
                    <a:pt x="7508926" y="3420268"/>
                  </a:lnTo>
                  <a:lnTo>
                    <a:pt x="7479847" y="3453916"/>
                  </a:lnTo>
                  <a:lnTo>
                    <a:pt x="7448416" y="3485347"/>
                  </a:lnTo>
                  <a:lnTo>
                    <a:pt x="7414768" y="3514426"/>
                  </a:lnTo>
                  <a:lnTo>
                    <a:pt x="7379038" y="3541018"/>
                  </a:lnTo>
                  <a:lnTo>
                    <a:pt x="7341363" y="3564988"/>
                  </a:lnTo>
                  <a:lnTo>
                    <a:pt x="7301875" y="3586200"/>
                  </a:lnTo>
                  <a:lnTo>
                    <a:pt x="7260712" y="3604520"/>
                  </a:lnTo>
                  <a:lnTo>
                    <a:pt x="7218008" y="3619812"/>
                  </a:lnTo>
                  <a:lnTo>
                    <a:pt x="7173899" y="3631941"/>
                  </a:lnTo>
                  <a:lnTo>
                    <a:pt x="7128518" y="3640772"/>
                  </a:lnTo>
                  <a:lnTo>
                    <a:pt x="7082003" y="3646170"/>
                  </a:lnTo>
                  <a:lnTo>
                    <a:pt x="7034487" y="3647999"/>
                  </a:lnTo>
                  <a:lnTo>
                    <a:pt x="608012" y="3647999"/>
                  </a:lnTo>
                  <a:lnTo>
                    <a:pt x="560496" y="3646170"/>
                  </a:lnTo>
                  <a:lnTo>
                    <a:pt x="513980" y="3640772"/>
                  </a:lnTo>
                  <a:lnTo>
                    <a:pt x="468600" y="3631941"/>
                  </a:lnTo>
                  <a:lnTo>
                    <a:pt x="424490" y="3619812"/>
                  </a:lnTo>
                  <a:lnTo>
                    <a:pt x="381786" y="3604520"/>
                  </a:lnTo>
                  <a:lnTo>
                    <a:pt x="340623" y="3586200"/>
                  </a:lnTo>
                  <a:lnTo>
                    <a:pt x="301136" y="3564988"/>
                  </a:lnTo>
                  <a:lnTo>
                    <a:pt x="263460" y="3541018"/>
                  </a:lnTo>
                  <a:lnTo>
                    <a:pt x="227731" y="3514426"/>
                  </a:lnTo>
                  <a:lnTo>
                    <a:pt x="194083" y="3485347"/>
                  </a:lnTo>
                  <a:lnTo>
                    <a:pt x="162652" y="3453916"/>
                  </a:lnTo>
                  <a:lnTo>
                    <a:pt x="133573" y="3420268"/>
                  </a:lnTo>
                  <a:lnTo>
                    <a:pt x="106981" y="3384538"/>
                  </a:lnTo>
                  <a:lnTo>
                    <a:pt x="83011" y="3346863"/>
                  </a:lnTo>
                  <a:lnTo>
                    <a:pt x="61799" y="3307376"/>
                  </a:lnTo>
                  <a:lnTo>
                    <a:pt x="43479" y="3266213"/>
                  </a:lnTo>
                  <a:lnTo>
                    <a:pt x="28187" y="3223509"/>
                  </a:lnTo>
                  <a:lnTo>
                    <a:pt x="16058" y="3179399"/>
                  </a:lnTo>
                  <a:lnTo>
                    <a:pt x="7227" y="3134019"/>
                  </a:lnTo>
                  <a:lnTo>
                    <a:pt x="1829" y="3087503"/>
                  </a:lnTo>
                  <a:lnTo>
                    <a:pt x="0" y="3039987"/>
                  </a:lnTo>
                  <a:lnTo>
                    <a:pt x="0" y="60801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50" y="14244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2450" y="14244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153532" y="1965105"/>
            <a:ext cx="1884680" cy="5915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cap="small" spc="-227" dirty="0"/>
              <a:t>NearDup</a:t>
            </a:r>
            <a:endParaRPr sz="3733"/>
          </a:p>
        </p:txBody>
      </p:sp>
      <p:grpSp>
        <p:nvGrpSpPr>
          <p:cNvPr id="9" name="object 9"/>
          <p:cNvGrpSpPr/>
          <p:nvPr/>
        </p:nvGrpSpPr>
        <p:grpSpPr>
          <a:xfrm>
            <a:off x="1449049" y="3108682"/>
            <a:ext cx="9294707" cy="2511213"/>
            <a:chOff x="1086787" y="2331511"/>
            <a:chExt cx="6971030" cy="1883410"/>
          </a:xfrm>
        </p:grpSpPr>
        <p:sp>
          <p:nvSpPr>
            <p:cNvPr id="10" name="object 10"/>
            <p:cNvSpPr/>
            <p:nvPr/>
          </p:nvSpPr>
          <p:spPr>
            <a:xfrm>
              <a:off x="1091550" y="2336274"/>
              <a:ext cx="6961505" cy="1873885"/>
            </a:xfrm>
            <a:custGeom>
              <a:avLst/>
              <a:gdLst/>
              <a:ahLst/>
              <a:cxnLst/>
              <a:rect l="l" t="t" r="r" b="b"/>
              <a:pathLst>
                <a:path w="6961505" h="1873885">
                  <a:moveTo>
                    <a:pt x="6648643" y="1873499"/>
                  </a:moveTo>
                  <a:lnTo>
                    <a:pt x="312256" y="1873499"/>
                  </a:lnTo>
                  <a:lnTo>
                    <a:pt x="266113" y="1870114"/>
                  </a:lnTo>
                  <a:lnTo>
                    <a:pt x="222072" y="1860279"/>
                  </a:lnTo>
                  <a:lnTo>
                    <a:pt x="180616" y="1844478"/>
                  </a:lnTo>
                  <a:lnTo>
                    <a:pt x="142229" y="1823193"/>
                  </a:lnTo>
                  <a:lnTo>
                    <a:pt x="107393" y="1796908"/>
                  </a:lnTo>
                  <a:lnTo>
                    <a:pt x="76591" y="1766106"/>
                  </a:lnTo>
                  <a:lnTo>
                    <a:pt x="50306" y="1731270"/>
                  </a:lnTo>
                  <a:lnTo>
                    <a:pt x="29021" y="1692883"/>
                  </a:lnTo>
                  <a:lnTo>
                    <a:pt x="13220" y="1651427"/>
                  </a:lnTo>
                  <a:lnTo>
                    <a:pt x="3385" y="1607386"/>
                  </a:lnTo>
                  <a:lnTo>
                    <a:pt x="0" y="1561243"/>
                  </a:lnTo>
                  <a:lnTo>
                    <a:pt x="0" y="312256"/>
                  </a:lnTo>
                  <a:lnTo>
                    <a:pt x="3385" y="266113"/>
                  </a:lnTo>
                  <a:lnTo>
                    <a:pt x="13220" y="222072"/>
                  </a:lnTo>
                  <a:lnTo>
                    <a:pt x="29021" y="180616"/>
                  </a:lnTo>
                  <a:lnTo>
                    <a:pt x="50306" y="142229"/>
                  </a:lnTo>
                  <a:lnTo>
                    <a:pt x="76591" y="107393"/>
                  </a:lnTo>
                  <a:lnTo>
                    <a:pt x="107393" y="76591"/>
                  </a:lnTo>
                  <a:lnTo>
                    <a:pt x="142229" y="50306"/>
                  </a:lnTo>
                  <a:lnTo>
                    <a:pt x="180616" y="29021"/>
                  </a:lnTo>
                  <a:lnTo>
                    <a:pt x="222072" y="13220"/>
                  </a:lnTo>
                  <a:lnTo>
                    <a:pt x="266113" y="3385"/>
                  </a:lnTo>
                  <a:lnTo>
                    <a:pt x="312256" y="0"/>
                  </a:lnTo>
                  <a:lnTo>
                    <a:pt x="6648643" y="0"/>
                  </a:lnTo>
                  <a:lnTo>
                    <a:pt x="6697786" y="3889"/>
                  </a:lnTo>
                  <a:lnTo>
                    <a:pt x="6745276" y="15327"/>
                  </a:lnTo>
                  <a:lnTo>
                    <a:pt x="6790274" y="33966"/>
                  </a:lnTo>
                  <a:lnTo>
                    <a:pt x="6831942" y="59459"/>
                  </a:lnTo>
                  <a:lnTo>
                    <a:pt x="6869442" y="91457"/>
                  </a:lnTo>
                  <a:lnTo>
                    <a:pt x="6901440" y="128957"/>
                  </a:lnTo>
                  <a:lnTo>
                    <a:pt x="6926933" y="170625"/>
                  </a:lnTo>
                  <a:lnTo>
                    <a:pt x="6945571" y="215623"/>
                  </a:lnTo>
                  <a:lnTo>
                    <a:pt x="6957010" y="263113"/>
                  </a:lnTo>
                  <a:lnTo>
                    <a:pt x="6960899" y="312256"/>
                  </a:lnTo>
                  <a:lnTo>
                    <a:pt x="6960899" y="1561243"/>
                  </a:lnTo>
                  <a:lnTo>
                    <a:pt x="6957514" y="1607386"/>
                  </a:lnTo>
                  <a:lnTo>
                    <a:pt x="6947679" y="1651427"/>
                  </a:lnTo>
                  <a:lnTo>
                    <a:pt x="6931878" y="1692883"/>
                  </a:lnTo>
                  <a:lnTo>
                    <a:pt x="6910593" y="1731270"/>
                  </a:lnTo>
                  <a:lnTo>
                    <a:pt x="6884308" y="1766106"/>
                  </a:lnTo>
                  <a:lnTo>
                    <a:pt x="6853506" y="1796908"/>
                  </a:lnTo>
                  <a:lnTo>
                    <a:pt x="6818670" y="1823193"/>
                  </a:lnTo>
                  <a:lnTo>
                    <a:pt x="6780283" y="1844478"/>
                  </a:lnTo>
                  <a:lnTo>
                    <a:pt x="6738827" y="1860279"/>
                  </a:lnTo>
                  <a:lnTo>
                    <a:pt x="6694786" y="1870114"/>
                  </a:lnTo>
                  <a:lnTo>
                    <a:pt x="6648643" y="1873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1550" y="2336274"/>
              <a:ext cx="6961505" cy="1873885"/>
            </a:xfrm>
            <a:custGeom>
              <a:avLst/>
              <a:gdLst/>
              <a:ahLst/>
              <a:cxnLst/>
              <a:rect l="l" t="t" r="r" b="b"/>
              <a:pathLst>
                <a:path w="6961505" h="1873885">
                  <a:moveTo>
                    <a:pt x="0" y="312256"/>
                  </a:moveTo>
                  <a:lnTo>
                    <a:pt x="3385" y="266113"/>
                  </a:lnTo>
                  <a:lnTo>
                    <a:pt x="13220" y="222072"/>
                  </a:lnTo>
                  <a:lnTo>
                    <a:pt x="29021" y="180616"/>
                  </a:lnTo>
                  <a:lnTo>
                    <a:pt x="50306" y="142229"/>
                  </a:lnTo>
                  <a:lnTo>
                    <a:pt x="76591" y="107393"/>
                  </a:lnTo>
                  <a:lnTo>
                    <a:pt x="107393" y="76591"/>
                  </a:lnTo>
                  <a:lnTo>
                    <a:pt x="142229" y="50306"/>
                  </a:lnTo>
                  <a:lnTo>
                    <a:pt x="180616" y="29021"/>
                  </a:lnTo>
                  <a:lnTo>
                    <a:pt x="222072" y="13220"/>
                  </a:lnTo>
                  <a:lnTo>
                    <a:pt x="266113" y="3385"/>
                  </a:lnTo>
                  <a:lnTo>
                    <a:pt x="312256" y="0"/>
                  </a:lnTo>
                  <a:lnTo>
                    <a:pt x="6648643" y="0"/>
                  </a:lnTo>
                  <a:lnTo>
                    <a:pt x="6697786" y="3889"/>
                  </a:lnTo>
                  <a:lnTo>
                    <a:pt x="6745276" y="15327"/>
                  </a:lnTo>
                  <a:lnTo>
                    <a:pt x="6790274" y="33966"/>
                  </a:lnTo>
                  <a:lnTo>
                    <a:pt x="6831942" y="59459"/>
                  </a:lnTo>
                  <a:lnTo>
                    <a:pt x="6869442" y="91457"/>
                  </a:lnTo>
                  <a:lnTo>
                    <a:pt x="6901440" y="128957"/>
                  </a:lnTo>
                  <a:lnTo>
                    <a:pt x="6926933" y="170625"/>
                  </a:lnTo>
                  <a:lnTo>
                    <a:pt x="6945571" y="215623"/>
                  </a:lnTo>
                  <a:lnTo>
                    <a:pt x="6957010" y="263113"/>
                  </a:lnTo>
                  <a:lnTo>
                    <a:pt x="6960899" y="312256"/>
                  </a:lnTo>
                  <a:lnTo>
                    <a:pt x="6960899" y="1561243"/>
                  </a:lnTo>
                  <a:lnTo>
                    <a:pt x="6957514" y="1607386"/>
                  </a:lnTo>
                  <a:lnTo>
                    <a:pt x="6947679" y="1651427"/>
                  </a:lnTo>
                  <a:lnTo>
                    <a:pt x="6931878" y="1692883"/>
                  </a:lnTo>
                  <a:lnTo>
                    <a:pt x="6910593" y="1731270"/>
                  </a:lnTo>
                  <a:lnTo>
                    <a:pt x="6884308" y="1766106"/>
                  </a:lnTo>
                  <a:lnTo>
                    <a:pt x="6853506" y="1796908"/>
                  </a:lnTo>
                  <a:lnTo>
                    <a:pt x="6818670" y="1823193"/>
                  </a:lnTo>
                  <a:lnTo>
                    <a:pt x="6780283" y="1844478"/>
                  </a:lnTo>
                  <a:lnTo>
                    <a:pt x="6738827" y="1860279"/>
                  </a:lnTo>
                  <a:lnTo>
                    <a:pt x="6694786" y="1870114"/>
                  </a:lnTo>
                  <a:lnTo>
                    <a:pt x="6648643" y="1873499"/>
                  </a:lnTo>
                  <a:lnTo>
                    <a:pt x="312256" y="1873499"/>
                  </a:lnTo>
                  <a:lnTo>
                    <a:pt x="266113" y="1870114"/>
                  </a:lnTo>
                  <a:lnTo>
                    <a:pt x="222072" y="1860279"/>
                  </a:lnTo>
                  <a:lnTo>
                    <a:pt x="180616" y="1844478"/>
                  </a:lnTo>
                  <a:lnTo>
                    <a:pt x="142229" y="1823193"/>
                  </a:lnTo>
                  <a:lnTo>
                    <a:pt x="107393" y="1796908"/>
                  </a:lnTo>
                  <a:lnTo>
                    <a:pt x="76591" y="1766106"/>
                  </a:lnTo>
                  <a:lnTo>
                    <a:pt x="50306" y="1731270"/>
                  </a:lnTo>
                  <a:lnTo>
                    <a:pt x="29021" y="1692883"/>
                  </a:lnTo>
                  <a:lnTo>
                    <a:pt x="13220" y="1651427"/>
                  </a:lnTo>
                  <a:lnTo>
                    <a:pt x="3385" y="1607386"/>
                  </a:lnTo>
                  <a:lnTo>
                    <a:pt x="0" y="1561243"/>
                  </a:lnTo>
                  <a:lnTo>
                    <a:pt x="0" y="31225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74708" y="3782456"/>
            <a:ext cx="7950200" cy="114554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Given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documents </a:t>
            </a:r>
            <a:r>
              <a:rPr sz="2400" b="1" i="1" dirty="0">
                <a:latin typeface="Arial"/>
                <a:cs typeface="Arial"/>
              </a:rPr>
              <a:t>x</a:t>
            </a:r>
            <a:r>
              <a:rPr sz="1467" b="1" i="1" dirty="0">
                <a:latin typeface="Arial"/>
                <a:cs typeface="Arial"/>
              </a:rPr>
              <a:t>i</a:t>
            </a:r>
            <a:r>
              <a:rPr sz="1467" b="1" i="1" spc="2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b="1" i="1" spc="-33" dirty="0">
                <a:latin typeface="Arial"/>
                <a:cs typeface="Arial"/>
              </a:rPr>
              <a:t>x</a:t>
            </a:r>
            <a:r>
              <a:rPr sz="1467" b="1" i="1" spc="-33" dirty="0">
                <a:latin typeface="Arial"/>
                <a:cs typeface="Arial"/>
              </a:rPr>
              <a:t>j</a:t>
            </a:r>
            <a:endParaRPr sz="1467">
              <a:latin typeface="Arial"/>
              <a:cs typeface="Arial"/>
            </a:endParaRPr>
          </a:p>
          <a:p>
            <a:pPr>
              <a:spcBef>
                <a:spcPts val="7"/>
              </a:spcBef>
            </a:pPr>
            <a:endParaRPr sz="2533">
              <a:latin typeface="Arial"/>
              <a:cs typeface="Arial"/>
            </a:endParaRPr>
          </a:p>
          <a:p>
            <a:pPr marL="16933"/>
            <a:r>
              <a:rPr sz="2400" dirty="0">
                <a:latin typeface="Arial"/>
                <a:cs typeface="Arial"/>
              </a:rPr>
              <a:t>Let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d</a:t>
            </a:r>
            <a:r>
              <a:rPr sz="1467" b="1" i="1" dirty="0">
                <a:latin typeface="Arial"/>
                <a:cs typeface="Arial"/>
              </a:rPr>
              <a:t>i</a:t>
            </a:r>
            <a:r>
              <a:rPr sz="1467" b="1" i="1" spc="2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d</a:t>
            </a:r>
            <a:r>
              <a:rPr sz="1467" b="1" i="1" dirty="0">
                <a:latin typeface="Arial"/>
                <a:cs typeface="Arial"/>
              </a:rPr>
              <a:t>j</a:t>
            </a:r>
            <a:r>
              <a:rPr sz="1467" b="1" i="1" spc="2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n-grams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7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x</a:t>
            </a:r>
            <a:r>
              <a:rPr sz="1467" b="1" i="1" dirty="0">
                <a:latin typeface="Arial"/>
                <a:cs typeface="Arial"/>
              </a:rPr>
              <a:t>i</a:t>
            </a:r>
            <a:r>
              <a:rPr sz="1467" b="1" i="1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x</a:t>
            </a:r>
            <a:r>
              <a:rPr sz="1467" b="1" i="1" dirty="0">
                <a:latin typeface="Arial"/>
                <a:cs typeface="Arial"/>
              </a:rPr>
              <a:t>j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13" dirty="0">
                <a:latin typeface="Arial"/>
                <a:cs typeface="Arial"/>
              </a:rPr>
              <a:t> respectively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418F9A6-32C6-4DE4-BA82-4CBCBA7967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112</a:t>
            </a:fld>
            <a:endParaRPr 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5982" y="2411350"/>
            <a:ext cx="10827173" cy="2203873"/>
            <a:chOff x="776986" y="1808512"/>
            <a:chExt cx="8120380" cy="16529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986" y="1959991"/>
              <a:ext cx="4300601" cy="4676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99275" y="1813274"/>
              <a:ext cx="1748155" cy="393700"/>
            </a:xfrm>
            <a:custGeom>
              <a:avLst/>
              <a:gdLst/>
              <a:ahLst/>
              <a:cxnLst/>
              <a:rect l="l" t="t" r="r" b="b"/>
              <a:pathLst>
                <a:path w="1748154" h="393700">
                  <a:moveTo>
                    <a:pt x="1697573" y="393599"/>
                  </a:moveTo>
                  <a:lnTo>
                    <a:pt x="50526" y="393599"/>
                  </a:lnTo>
                  <a:lnTo>
                    <a:pt x="30859" y="389629"/>
                  </a:lnTo>
                  <a:lnTo>
                    <a:pt x="14798" y="378801"/>
                  </a:lnTo>
                  <a:lnTo>
                    <a:pt x="3970" y="362740"/>
                  </a:lnTo>
                  <a:lnTo>
                    <a:pt x="0" y="343073"/>
                  </a:lnTo>
                  <a:lnTo>
                    <a:pt x="0" y="50526"/>
                  </a:lnTo>
                  <a:lnTo>
                    <a:pt x="3970" y="30859"/>
                  </a:lnTo>
                  <a:lnTo>
                    <a:pt x="14798" y="14798"/>
                  </a:lnTo>
                  <a:lnTo>
                    <a:pt x="30859" y="3970"/>
                  </a:lnTo>
                  <a:lnTo>
                    <a:pt x="50526" y="0"/>
                  </a:lnTo>
                  <a:lnTo>
                    <a:pt x="1697573" y="0"/>
                  </a:lnTo>
                  <a:lnTo>
                    <a:pt x="1733300" y="14798"/>
                  </a:lnTo>
                  <a:lnTo>
                    <a:pt x="1748099" y="50526"/>
                  </a:lnTo>
                  <a:lnTo>
                    <a:pt x="1748099" y="343073"/>
                  </a:lnTo>
                  <a:lnTo>
                    <a:pt x="1744129" y="362740"/>
                  </a:lnTo>
                  <a:lnTo>
                    <a:pt x="1733301" y="378801"/>
                  </a:lnTo>
                  <a:lnTo>
                    <a:pt x="1717240" y="389629"/>
                  </a:lnTo>
                  <a:lnTo>
                    <a:pt x="1697573" y="39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99275" y="1813274"/>
              <a:ext cx="1748155" cy="393700"/>
            </a:xfrm>
            <a:custGeom>
              <a:avLst/>
              <a:gdLst/>
              <a:ahLst/>
              <a:cxnLst/>
              <a:rect l="l" t="t" r="r" b="b"/>
              <a:pathLst>
                <a:path w="1748154" h="393700">
                  <a:moveTo>
                    <a:pt x="0" y="50526"/>
                  </a:moveTo>
                  <a:lnTo>
                    <a:pt x="3970" y="30859"/>
                  </a:lnTo>
                  <a:lnTo>
                    <a:pt x="14798" y="14798"/>
                  </a:lnTo>
                  <a:lnTo>
                    <a:pt x="30859" y="3970"/>
                  </a:lnTo>
                  <a:lnTo>
                    <a:pt x="50526" y="0"/>
                  </a:lnTo>
                  <a:lnTo>
                    <a:pt x="1697573" y="0"/>
                  </a:lnTo>
                  <a:lnTo>
                    <a:pt x="1733300" y="14798"/>
                  </a:lnTo>
                  <a:lnTo>
                    <a:pt x="1748099" y="50526"/>
                  </a:lnTo>
                  <a:lnTo>
                    <a:pt x="1748099" y="343073"/>
                  </a:lnTo>
                  <a:lnTo>
                    <a:pt x="1744129" y="362740"/>
                  </a:lnTo>
                  <a:lnTo>
                    <a:pt x="1733301" y="378801"/>
                  </a:lnTo>
                  <a:lnTo>
                    <a:pt x="1717240" y="389629"/>
                  </a:lnTo>
                  <a:lnTo>
                    <a:pt x="1697573" y="393599"/>
                  </a:lnTo>
                  <a:lnTo>
                    <a:pt x="50526" y="393599"/>
                  </a:lnTo>
                  <a:lnTo>
                    <a:pt x="30859" y="389629"/>
                  </a:lnTo>
                  <a:lnTo>
                    <a:pt x="14798" y="378801"/>
                  </a:lnTo>
                  <a:lnTo>
                    <a:pt x="3970" y="362740"/>
                  </a:lnTo>
                  <a:lnTo>
                    <a:pt x="0" y="343073"/>
                  </a:lnTo>
                  <a:lnTo>
                    <a:pt x="0" y="5052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90213" y="2010074"/>
              <a:ext cx="509270" cy="90805"/>
            </a:xfrm>
            <a:custGeom>
              <a:avLst/>
              <a:gdLst/>
              <a:ahLst/>
              <a:cxnLst/>
              <a:rect l="l" t="t" r="r" b="b"/>
              <a:pathLst>
                <a:path w="509270" h="90805">
                  <a:moveTo>
                    <a:pt x="509061" y="0"/>
                  </a:moveTo>
                  <a:lnTo>
                    <a:pt x="0" y="90412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5570" y="2059981"/>
              <a:ext cx="109670" cy="810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94824" y="2427649"/>
              <a:ext cx="1697989" cy="1028700"/>
            </a:xfrm>
            <a:custGeom>
              <a:avLst/>
              <a:gdLst/>
              <a:ahLst/>
              <a:cxnLst/>
              <a:rect l="l" t="t" r="r" b="b"/>
              <a:pathLst>
                <a:path w="1697990" h="1028700">
                  <a:moveTo>
                    <a:pt x="1526296" y="1028399"/>
                  </a:moveTo>
                  <a:lnTo>
                    <a:pt x="171402" y="1028399"/>
                  </a:lnTo>
                  <a:lnTo>
                    <a:pt x="125837" y="1022277"/>
                  </a:lnTo>
                  <a:lnTo>
                    <a:pt x="84892" y="1004998"/>
                  </a:lnTo>
                  <a:lnTo>
                    <a:pt x="50202" y="978197"/>
                  </a:lnTo>
                  <a:lnTo>
                    <a:pt x="23401" y="943507"/>
                  </a:lnTo>
                  <a:lnTo>
                    <a:pt x="6122" y="902562"/>
                  </a:lnTo>
                  <a:lnTo>
                    <a:pt x="0" y="856996"/>
                  </a:lnTo>
                  <a:lnTo>
                    <a:pt x="0" y="171403"/>
                  </a:lnTo>
                  <a:lnTo>
                    <a:pt x="6122" y="125837"/>
                  </a:lnTo>
                  <a:lnTo>
                    <a:pt x="23401" y="84892"/>
                  </a:lnTo>
                  <a:lnTo>
                    <a:pt x="50202" y="50202"/>
                  </a:lnTo>
                  <a:lnTo>
                    <a:pt x="84892" y="23401"/>
                  </a:lnTo>
                  <a:lnTo>
                    <a:pt x="125837" y="6122"/>
                  </a:lnTo>
                  <a:lnTo>
                    <a:pt x="171402" y="0"/>
                  </a:lnTo>
                  <a:lnTo>
                    <a:pt x="1526296" y="0"/>
                  </a:lnTo>
                  <a:lnTo>
                    <a:pt x="1591889" y="13047"/>
                  </a:lnTo>
                  <a:lnTo>
                    <a:pt x="1647496" y="50202"/>
                  </a:lnTo>
                  <a:lnTo>
                    <a:pt x="1684652" y="105810"/>
                  </a:lnTo>
                  <a:lnTo>
                    <a:pt x="1697699" y="171403"/>
                  </a:lnTo>
                  <a:lnTo>
                    <a:pt x="1697699" y="856996"/>
                  </a:lnTo>
                  <a:lnTo>
                    <a:pt x="1691577" y="902562"/>
                  </a:lnTo>
                  <a:lnTo>
                    <a:pt x="1674298" y="943507"/>
                  </a:lnTo>
                  <a:lnTo>
                    <a:pt x="1647497" y="978197"/>
                  </a:lnTo>
                  <a:lnTo>
                    <a:pt x="1612807" y="1004998"/>
                  </a:lnTo>
                  <a:lnTo>
                    <a:pt x="1571862" y="1022277"/>
                  </a:lnTo>
                  <a:lnTo>
                    <a:pt x="1526296" y="1028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94824" y="2427649"/>
              <a:ext cx="1697989" cy="1028700"/>
            </a:xfrm>
            <a:custGeom>
              <a:avLst/>
              <a:gdLst/>
              <a:ahLst/>
              <a:cxnLst/>
              <a:rect l="l" t="t" r="r" b="b"/>
              <a:pathLst>
                <a:path w="1697990" h="1028700">
                  <a:moveTo>
                    <a:pt x="0" y="171403"/>
                  </a:moveTo>
                  <a:lnTo>
                    <a:pt x="6122" y="125837"/>
                  </a:lnTo>
                  <a:lnTo>
                    <a:pt x="23401" y="84892"/>
                  </a:lnTo>
                  <a:lnTo>
                    <a:pt x="50202" y="50202"/>
                  </a:lnTo>
                  <a:lnTo>
                    <a:pt x="84892" y="23401"/>
                  </a:lnTo>
                  <a:lnTo>
                    <a:pt x="125837" y="6122"/>
                  </a:lnTo>
                  <a:lnTo>
                    <a:pt x="171402" y="0"/>
                  </a:lnTo>
                  <a:lnTo>
                    <a:pt x="1526296" y="0"/>
                  </a:lnTo>
                  <a:lnTo>
                    <a:pt x="1591889" y="13047"/>
                  </a:lnTo>
                  <a:lnTo>
                    <a:pt x="1647496" y="50202"/>
                  </a:lnTo>
                  <a:lnTo>
                    <a:pt x="1684652" y="105810"/>
                  </a:lnTo>
                  <a:lnTo>
                    <a:pt x="1697699" y="171403"/>
                  </a:lnTo>
                  <a:lnTo>
                    <a:pt x="1697699" y="856996"/>
                  </a:lnTo>
                  <a:lnTo>
                    <a:pt x="1691577" y="902562"/>
                  </a:lnTo>
                  <a:lnTo>
                    <a:pt x="1674298" y="943507"/>
                  </a:lnTo>
                  <a:lnTo>
                    <a:pt x="1647497" y="978197"/>
                  </a:lnTo>
                  <a:lnTo>
                    <a:pt x="1612807" y="1004998"/>
                  </a:lnTo>
                  <a:lnTo>
                    <a:pt x="1571862" y="1022277"/>
                  </a:lnTo>
                  <a:lnTo>
                    <a:pt x="1526296" y="1028399"/>
                  </a:lnTo>
                  <a:lnTo>
                    <a:pt x="171402" y="1028399"/>
                  </a:lnTo>
                  <a:lnTo>
                    <a:pt x="125837" y="1022277"/>
                  </a:lnTo>
                  <a:lnTo>
                    <a:pt x="84892" y="1004998"/>
                  </a:lnTo>
                  <a:lnTo>
                    <a:pt x="50202" y="978197"/>
                  </a:lnTo>
                  <a:lnTo>
                    <a:pt x="23401" y="943507"/>
                  </a:lnTo>
                  <a:lnTo>
                    <a:pt x="6122" y="902562"/>
                  </a:lnTo>
                  <a:lnTo>
                    <a:pt x="0" y="856996"/>
                  </a:lnTo>
                  <a:lnTo>
                    <a:pt x="0" y="171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815" y="3763681"/>
            <a:ext cx="7927427" cy="5813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2236" y="5085587"/>
            <a:ext cx="6462557" cy="88336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850265" y="1077700"/>
            <a:ext cx="6492240" cy="776393"/>
            <a:chOff x="2137699" y="808274"/>
            <a:chExt cx="4869180" cy="582295"/>
          </a:xfrm>
        </p:grpSpPr>
        <p:sp>
          <p:nvSpPr>
            <p:cNvPr id="13" name="object 13"/>
            <p:cNvSpPr/>
            <p:nvPr/>
          </p:nvSpPr>
          <p:spPr>
            <a:xfrm>
              <a:off x="2142462" y="81303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42462" y="81303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153548" y="1149839"/>
            <a:ext cx="1884680" cy="5915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cap="small" spc="-227" dirty="0"/>
              <a:t>NearDup</a:t>
            </a:r>
            <a:endParaRPr sz="3733"/>
          </a:p>
        </p:txBody>
      </p:sp>
      <p:sp>
        <p:nvSpPr>
          <p:cNvPr id="16" name="object 16"/>
          <p:cNvSpPr txBox="1"/>
          <p:nvPr/>
        </p:nvSpPr>
        <p:spPr>
          <a:xfrm>
            <a:off x="7716133" y="2374284"/>
            <a:ext cx="3892127" cy="21498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19"/>
              </a:lnSpc>
              <a:spcBef>
                <a:spcPts val="133"/>
              </a:spcBef>
            </a:pPr>
            <a:r>
              <a:rPr sz="1867" b="1" dirty="0">
                <a:latin typeface="Arial"/>
                <a:cs typeface="Arial"/>
              </a:rPr>
              <a:t>Jaccard</a:t>
            </a:r>
            <a:r>
              <a:rPr sz="1867" b="1" spc="-47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Index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dirty="0">
                <a:latin typeface="Arial"/>
                <a:cs typeface="Arial"/>
              </a:rPr>
              <a:t>(</a:t>
            </a:r>
            <a:r>
              <a:rPr sz="1867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Jaccard,</a:t>
            </a:r>
            <a:r>
              <a:rPr sz="1867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867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1912</a:t>
            </a:r>
            <a:r>
              <a:rPr sz="1867" spc="-27" dirty="0">
                <a:latin typeface="Arial"/>
                <a:cs typeface="Arial"/>
              </a:rPr>
              <a:t>)</a:t>
            </a:r>
            <a:endParaRPr sz="1867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2400">
              <a:latin typeface="Arial"/>
              <a:cs typeface="Arial"/>
            </a:endParaRPr>
          </a:p>
          <a:p>
            <a:pPr marL="2057349">
              <a:spcBef>
                <a:spcPts val="7"/>
              </a:spcBef>
            </a:pPr>
            <a:r>
              <a:rPr sz="1867" dirty="0">
                <a:latin typeface="Arial"/>
                <a:cs typeface="Arial"/>
              </a:rPr>
              <a:t>If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above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27" dirty="0">
                <a:solidFill>
                  <a:srgbClr val="CC0000"/>
                </a:solidFill>
                <a:latin typeface="Arial"/>
                <a:cs typeface="Arial"/>
              </a:rPr>
              <a:t>0.8</a:t>
            </a:r>
            <a:r>
              <a:rPr sz="1867" spc="-27" dirty="0">
                <a:latin typeface="Arial"/>
                <a:cs typeface="Arial"/>
              </a:rPr>
              <a:t>,</a:t>
            </a:r>
            <a:endParaRPr sz="1867">
              <a:latin typeface="Arial"/>
              <a:cs typeface="Arial"/>
            </a:endParaRPr>
          </a:p>
          <a:p>
            <a:pPr marL="2057349" marR="6773">
              <a:lnSpc>
                <a:spcPct val="102400"/>
              </a:lnSpc>
              <a:spcBef>
                <a:spcPts val="413"/>
              </a:spcBef>
            </a:pPr>
            <a:r>
              <a:rPr sz="1867" b="1" i="1" dirty="0">
                <a:latin typeface="Arial"/>
                <a:cs typeface="Arial"/>
              </a:rPr>
              <a:t>x</a:t>
            </a:r>
            <a:r>
              <a:rPr sz="1333" b="1" i="1" dirty="0">
                <a:latin typeface="Arial"/>
                <a:cs typeface="Arial"/>
              </a:rPr>
              <a:t>i</a:t>
            </a:r>
            <a:r>
              <a:rPr sz="1333" b="1" i="1" spc="133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and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b="1" i="1" dirty="0">
                <a:latin typeface="Arial"/>
                <a:cs typeface="Arial"/>
              </a:rPr>
              <a:t>x</a:t>
            </a:r>
            <a:r>
              <a:rPr sz="1333" b="1" i="1" dirty="0">
                <a:latin typeface="Arial"/>
                <a:cs typeface="Arial"/>
              </a:rPr>
              <a:t>j</a:t>
            </a:r>
            <a:r>
              <a:rPr sz="1333" b="1" i="1" spc="272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are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spc="-67" dirty="0">
                <a:latin typeface="Arial"/>
                <a:cs typeface="Arial"/>
              </a:rPr>
              <a:t>a </a:t>
            </a:r>
            <a:r>
              <a:rPr sz="1867" b="1" dirty="0">
                <a:latin typeface="Arial"/>
                <a:cs typeface="Arial"/>
              </a:rPr>
              <a:t>potential</a:t>
            </a:r>
            <a:r>
              <a:rPr sz="1867" b="1" spc="-60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match</a:t>
            </a:r>
            <a:r>
              <a:rPr sz="1867" spc="-13" dirty="0">
                <a:latin typeface="Arial"/>
                <a:cs typeface="Arial"/>
              </a:rPr>
              <a:t>. </a:t>
            </a:r>
            <a:r>
              <a:rPr sz="1867" dirty="0">
                <a:solidFill>
                  <a:srgbClr val="CC0000"/>
                </a:solidFill>
                <a:latin typeface="Arial"/>
                <a:cs typeface="Arial"/>
              </a:rPr>
              <a:t>b=20</a:t>
            </a:r>
            <a:r>
              <a:rPr sz="1867" dirty="0">
                <a:latin typeface="Arial"/>
                <a:cs typeface="Arial"/>
              </a:rPr>
              <a:t>,</a:t>
            </a:r>
            <a:r>
              <a:rPr sz="1867" spc="-33" dirty="0">
                <a:latin typeface="Arial"/>
                <a:cs typeface="Arial"/>
              </a:rPr>
              <a:t> </a:t>
            </a:r>
            <a:r>
              <a:rPr sz="1867" spc="-13" dirty="0">
                <a:solidFill>
                  <a:srgbClr val="CC0000"/>
                </a:solidFill>
                <a:latin typeface="Arial"/>
                <a:cs typeface="Arial"/>
              </a:rPr>
              <a:t>r=450</a:t>
            </a:r>
            <a:endParaRPr sz="1867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69707" y="3909767"/>
            <a:ext cx="436091" cy="16331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8333717" y="5221350"/>
            <a:ext cx="2600113" cy="1129453"/>
            <a:chOff x="6250287" y="3916012"/>
            <a:chExt cx="1950085" cy="847090"/>
          </a:xfrm>
        </p:grpSpPr>
        <p:sp>
          <p:nvSpPr>
            <p:cNvPr id="19" name="object 19"/>
            <p:cNvSpPr/>
            <p:nvPr/>
          </p:nvSpPr>
          <p:spPr>
            <a:xfrm>
              <a:off x="6255049" y="3920775"/>
              <a:ext cx="1940560" cy="837565"/>
            </a:xfrm>
            <a:custGeom>
              <a:avLst/>
              <a:gdLst/>
              <a:ahLst/>
              <a:cxnLst/>
              <a:rect l="l" t="t" r="r" b="b"/>
              <a:pathLst>
                <a:path w="1940559" h="837564">
                  <a:moveTo>
                    <a:pt x="1800596" y="836999"/>
                  </a:moveTo>
                  <a:lnTo>
                    <a:pt x="139502" y="836999"/>
                  </a:lnTo>
                  <a:lnTo>
                    <a:pt x="95409" y="829888"/>
                  </a:lnTo>
                  <a:lnTo>
                    <a:pt x="57114" y="810084"/>
                  </a:lnTo>
                  <a:lnTo>
                    <a:pt x="26915" y="779885"/>
                  </a:lnTo>
                  <a:lnTo>
                    <a:pt x="7111" y="741590"/>
                  </a:lnTo>
                  <a:lnTo>
                    <a:pt x="0" y="697497"/>
                  </a:lnTo>
                  <a:lnTo>
                    <a:pt x="0" y="139502"/>
                  </a:lnTo>
                  <a:lnTo>
                    <a:pt x="7111" y="95409"/>
                  </a:lnTo>
                  <a:lnTo>
                    <a:pt x="26915" y="57114"/>
                  </a:lnTo>
                  <a:lnTo>
                    <a:pt x="57114" y="26915"/>
                  </a:lnTo>
                  <a:lnTo>
                    <a:pt x="95409" y="7111"/>
                  </a:lnTo>
                  <a:lnTo>
                    <a:pt x="139502" y="0"/>
                  </a:lnTo>
                  <a:lnTo>
                    <a:pt x="1800596" y="0"/>
                  </a:lnTo>
                  <a:lnTo>
                    <a:pt x="1853982" y="10618"/>
                  </a:lnTo>
                  <a:lnTo>
                    <a:pt x="1899240" y="40859"/>
                  </a:lnTo>
                  <a:lnTo>
                    <a:pt x="1929480" y="86117"/>
                  </a:lnTo>
                  <a:lnTo>
                    <a:pt x="1940099" y="139502"/>
                  </a:lnTo>
                  <a:lnTo>
                    <a:pt x="1940099" y="697497"/>
                  </a:lnTo>
                  <a:lnTo>
                    <a:pt x="1932988" y="741590"/>
                  </a:lnTo>
                  <a:lnTo>
                    <a:pt x="1913184" y="779885"/>
                  </a:lnTo>
                  <a:lnTo>
                    <a:pt x="1882985" y="810084"/>
                  </a:lnTo>
                  <a:lnTo>
                    <a:pt x="1844690" y="829888"/>
                  </a:lnTo>
                  <a:lnTo>
                    <a:pt x="1800596" y="8369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5049" y="3920775"/>
              <a:ext cx="1940560" cy="837565"/>
            </a:xfrm>
            <a:custGeom>
              <a:avLst/>
              <a:gdLst/>
              <a:ahLst/>
              <a:cxnLst/>
              <a:rect l="l" t="t" r="r" b="b"/>
              <a:pathLst>
                <a:path w="1940559" h="837564">
                  <a:moveTo>
                    <a:pt x="0" y="139502"/>
                  </a:moveTo>
                  <a:lnTo>
                    <a:pt x="7111" y="95409"/>
                  </a:lnTo>
                  <a:lnTo>
                    <a:pt x="26915" y="57114"/>
                  </a:lnTo>
                  <a:lnTo>
                    <a:pt x="57114" y="26915"/>
                  </a:lnTo>
                  <a:lnTo>
                    <a:pt x="95409" y="7111"/>
                  </a:lnTo>
                  <a:lnTo>
                    <a:pt x="139502" y="0"/>
                  </a:lnTo>
                  <a:lnTo>
                    <a:pt x="1800596" y="0"/>
                  </a:lnTo>
                  <a:lnTo>
                    <a:pt x="1853982" y="10618"/>
                  </a:lnTo>
                  <a:lnTo>
                    <a:pt x="1899240" y="40859"/>
                  </a:lnTo>
                  <a:lnTo>
                    <a:pt x="1929480" y="86117"/>
                  </a:lnTo>
                  <a:lnTo>
                    <a:pt x="1940099" y="139502"/>
                  </a:lnTo>
                  <a:lnTo>
                    <a:pt x="1940099" y="697497"/>
                  </a:lnTo>
                  <a:lnTo>
                    <a:pt x="1932988" y="741590"/>
                  </a:lnTo>
                  <a:lnTo>
                    <a:pt x="1913184" y="779885"/>
                  </a:lnTo>
                  <a:lnTo>
                    <a:pt x="1882985" y="810084"/>
                  </a:lnTo>
                  <a:lnTo>
                    <a:pt x="1844690" y="829888"/>
                  </a:lnTo>
                  <a:lnTo>
                    <a:pt x="1800596" y="836999"/>
                  </a:lnTo>
                  <a:lnTo>
                    <a:pt x="139502" y="836999"/>
                  </a:lnTo>
                  <a:lnTo>
                    <a:pt x="95409" y="829888"/>
                  </a:lnTo>
                  <a:lnTo>
                    <a:pt x="57114" y="810084"/>
                  </a:lnTo>
                  <a:lnTo>
                    <a:pt x="26915" y="779885"/>
                  </a:lnTo>
                  <a:lnTo>
                    <a:pt x="7111" y="741590"/>
                  </a:lnTo>
                  <a:lnTo>
                    <a:pt x="0" y="697497"/>
                  </a:lnTo>
                  <a:lnTo>
                    <a:pt x="0" y="1395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91912" y="5375490"/>
            <a:ext cx="2043853" cy="716564"/>
          </a:xfrm>
          <a:prstGeom prst="rect">
            <a:avLst/>
          </a:prstGeom>
        </p:spPr>
        <p:txBody>
          <a:bodyPr vert="horz" wrap="square" lIns="0" tIns="77047" rIns="0" bIns="0" rtlCol="0">
            <a:spAutoFit/>
          </a:bodyPr>
          <a:lstStyle/>
          <a:p>
            <a:pPr marL="16933">
              <a:spcBef>
                <a:spcPts val="607"/>
              </a:spcBef>
            </a:pPr>
            <a:r>
              <a:rPr sz="1867" dirty="0">
                <a:latin typeface="Arial"/>
                <a:cs typeface="Arial"/>
              </a:rPr>
              <a:t>If</a:t>
            </a:r>
            <a:r>
              <a:rPr sz="1867" spc="-27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above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CC0000"/>
                </a:solidFill>
                <a:latin typeface="Arial"/>
                <a:cs typeface="Arial"/>
              </a:rPr>
              <a:t>0.8</a:t>
            </a:r>
            <a:r>
              <a:rPr sz="1867" dirty="0">
                <a:latin typeface="Arial"/>
                <a:cs typeface="Arial"/>
              </a:rPr>
              <a:t>,</a:t>
            </a:r>
            <a:r>
              <a:rPr sz="1867" spc="-20" dirty="0">
                <a:latin typeface="Arial"/>
                <a:cs typeface="Arial"/>
              </a:rPr>
              <a:t> </a:t>
            </a:r>
            <a:r>
              <a:rPr sz="1867" b="1" i="1" dirty="0">
                <a:latin typeface="Arial"/>
                <a:cs typeface="Arial"/>
              </a:rPr>
              <a:t>x</a:t>
            </a:r>
            <a:r>
              <a:rPr sz="1333" b="1" i="1" dirty="0">
                <a:latin typeface="Arial"/>
                <a:cs typeface="Arial"/>
              </a:rPr>
              <a:t>i</a:t>
            </a:r>
            <a:r>
              <a:rPr sz="1333" b="1" i="1" spc="133" dirty="0">
                <a:latin typeface="Arial"/>
                <a:cs typeface="Arial"/>
              </a:rPr>
              <a:t> </a:t>
            </a:r>
            <a:r>
              <a:rPr sz="1867" spc="-33" dirty="0">
                <a:latin typeface="Arial"/>
                <a:cs typeface="Arial"/>
              </a:rPr>
              <a:t>and</a:t>
            </a:r>
            <a:endParaRPr sz="1867">
              <a:latin typeface="Arial"/>
              <a:cs typeface="Arial"/>
            </a:endParaRPr>
          </a:p>
          <a:p>
            <a:pPr marL="16933">
              <a:spcBef>
                <a:spcPts val="467"/>
              </a:spcBef>
            </a:pPr>
            <a:r>
              <a:rPr sz="1867" b="1" i="1" dirty="0">
                <a:latin typeface="Arial"/>
                <a:cs typeface="Arial"/>
              </a:rPr>
              <a:t>x</a:t>
            </a:r>
            <a:r>
              <a:rPr sz="1333" b="1" i="1" dirty="0">
                <a:latin typeface="Arial"/>
                <a:cs typeface="Arial"/>
              </a:rPr>
              <a:t>j</a:t>
            </a:r>
            <a:r>
              <a:rPr sz="1333" b="1" i="1" spc="272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are</a:t>
            </a:r>
            <a:r>
              <a:rPr sz="1867" spc="-13" dirty="0">
                <a:latin typeface="Arial"/>
                <a:cs typeface="Arial"/>
              </a:rPr>
              <a:t> </a:t>
            </a:r>
            <a:r>
              <a:rPr sz="1867" b="1" spc="-13" dirty="0">
                <a:latin typeface="Arial"/>
                <a:cs typeface="Arial"/>
              </a:rPr>
              <a:t>duplicates</a:t>
            </a:r>
            <a:endParaRPr sz="1867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11090" y="5550111"/>
            <a:ext cx="641773" cy="248920"/>
            <a:chOff x="5783317" y="4162583"/>
            <a:chExt cx="481330" cy="186690"/>
          </a:xfrm>
        </p:grpSpPr>
        <p:sp>
          <p:nvSpPr>
            <p:cNvPr id="23" name="object 23"/>
            <p:cNvSpPr/>
            <p:nvPr/>
          </p:nvSpPr>
          <p:spPr>
            <a:xfrm>
              <a:off x="5874152" y="4201702"/>
              <a:ext cx="381000" cy="137795"/>
            </a:xfrm>
            <a:custGeom>
              <a:avLst/>
              <a:gdLst/>
              <a:ahLst/>
              <a:cxnLst/>
              <a:rect l="l" t="t" r="r" b="b"/>
              <a:pathLst>
                <a:path w="381000" h="137795">
                  <a:moveTo>
                    <a:pt x="380896" y="13757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83317" y="4162583"/>
              <a:ext cx="111048" cy="7823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778362" y="6486323"/>
            <a:ext cx="316653" cy="205976"/>
          </a:xfrm>
          <a:prstGeom prst="rect">
            <a:avLst/>
          </a:prstGeom>
        </p:spPr>
        <p:txBody>
          <a:bodyPr vert="horz" wrap="square" lIns="0" tIns="847" rIns="0" bIns="0" rtlCol="0">
            <a:spAutoFit/>
          </a:bodyPr>
          <a:lstStyle/>
          <a:p>
            <a:pPr marL="16933">
              <a:spcBef>
                <a:spcPts val="7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128</a:t>
            </a:r>
            <a:endParaRPr sz="1333">
              <a:latin typeface="Arial"/>
              <a:cs typeface="Arial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CF3392C-92BC-4ACD-8342-9B9A214A13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113</a:t>
            </a:fld>
            <a:endParaRPr 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5595" y="3673150"/>
            <a:ext cx="3166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129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4683" y="587016"/>
            <a:ext cx="10463107" cy="5650653"/>
            <a:chOff x="551012" y="440262"/>
            <a:chExt cx="7847330" cy="4237990"/>
          </a:xfrm>
        </p:grpSpPr>
        <p:sp>
          <p:nvSpPr>
            <p:cNvPr id="4" name="object 4"/>
            <p:cNvSpPr/>
            <p:nvPr/>
          </p:nvSpPr>
          <p:spPr>
            <a:xfrm>
              <a:off x="555774" y="445025"/>
              <a:ext cx="7837805" cy="4228465"/>
            </a:xfrm>
            <a:custGeom>
              <a:avLst/>
              <a:gdLst/>
              <a:ahLst/>
              <a:cxnLst/>
              <a:rect l="l" t="t" r="r" b="b"/>
              <a:pathLst>
                <a:path w="7837805" h="4228465">
                  <a:moveTo>
                    <a:pt x="7132835" y="4227899"/>
                  </a:moveTo>
                  <a:lnTo>
                    <a:pt x="704664" y="4227899"/>
                  </a:lnTo>
                  <a:lnTo>
                    <a:pt x="656418" y="4226274"/>
                  </a:lnTo>
                  <a:lnTo>
                    <a:pt x="609045" y="4221467"/>
                  </a:lnTo>
                  <a:lnTo>
                    <a:pt x="562649" y="4213583"/>
                  </a:lnTo>
                  <a:lnTo>
                    <a:pt x="517336" y="4202728"/>
                  </a:lnTo>
                  <a:lnTo>
                    <a:pt x="473210" y="4189007"/>
                  </a:lnTo>
                  <a:lnTo>
                    <a:pt x="430377" y="4172524"/>
                  </a:lnTo>
                  <a:lnTo>
                    <a:pt x="388940" y="4153384"/>
                  </a:lnTo>
                  <a:lnTo>
                    <a:pt x="349006" y="4131692"/>
                  </a:lnTo>
                  <a:lnTo>
                    <a:pt x="310679" y="4107554"/>
                  </a:lnTo>
                  <a:lnTo>
                    <a:pt x="274064" y="4081074"/>
                  </a:lnTo>
                  <a:lnTo>
                    <a:pt x="239267" y="4052357"/>
                  </a:lnTo>
                  <a:lnTo>
                    <a:pt x="206391" y="4021508"/>
                  </a:lnTo>
                  <a:lnTo>
                    <a:pt x="175542" y="3988632"/>
                  </a:lnTo>
                  <a:lnTo>
                    <a:pt x="146825" y="3953835"/>
                  </a:lnTo>
                  <a:lnTo>
                    <a:pt x="120345" y="3917220"/>
                  </a:lnTo>
                  <a:lnTo>
                    <a:pt x="96207" y="3878893"/>
                  </a:lnTo>
                  <a:lnTo>
                    <a:pt x="74515" y="3838959"/>
                  </a:lnTo>
                  <a:lnTo>
                    <a:pt x="55375" y="3797523"/>
                  </a:lnTo>
                  <a:lnTo>
                    <a:pt x="38892" y="3754689"/>
                  </a:lnTo>
                  <a:lnTo>
                    <a:pt x="25171" y="3710563"/>
                  </a:lnTo>
                  <a:lnTo>
                    <a:pt x="14316" y="3665250"/>
                  </a:lnTo>
                  <a:lnTo>
                    <a:pt x="6432" y="3618854"/>
                  </a:lnTo>
                  <a:lnTo>
                    <a:pt x="1625" y="3571481"/>
                  </a:lnTo>
                  <a:lnTo>
                    <a:pt x="0" y="3523235"/>
                  </a:lnTo>
                  <a:lnTo>
                    <a:pt x="0" y="704664"/>
                  </a:lnTo>
                  <a:lnTo>
                    <a:pt x="1625" y="656418"/>
                  </a:lnTo>
                  <a:lnTo>
                    <a:pt x="6432" y="609045"/>
                  </a:lnTo>
                  <a:lnTo>
                    <a:pt x="14316" y="562649"/>
                  </a:lnTo>
                  <a:lnTo>
                    <a:pt x="25171" y="517336"/>
                  </a:lnTo>
                  <a:lnTo>
                    <a:pt x="38892" y="473210"/>
                  </a:lnTo>
                  <a:lnTo>
                    <a:pt x="55375" y="430377"/>
                  </a:lnTo>
                  <a:lnTo>
                    <a:pt x="74515" y="388940"/>
                  </a:lnTo>
                  <a:lnTo>
                    <a:pt x="96207" y="349006"/>
                  </a:lnTo>
                  <a:lnTo>
                    <a:pt x="120345" y="310679"/>
                  </a:lnTo>
                  <a:lnTo>
                    <a:pt x="146825" y="274064"/>
                  </a:lnTo>
                  <a:lnTo>
                    <a:pt x="175542" y="239267"/>
                  </a:lnTo>
                  <a:lnTo>
                    <a:pt x="206391" y="206391"/>
                  </a:lnTo>
                  <a:lnTo>
                    <a:pt x="239267" y="175542"/>
                  </a:lnTo>
                  <a:lnTo>
                    <a:pt x="274064" y="146825"/>
                  </a:lnTo>
                  <a:lnTo>
                    <a:pt x="310679" y="120345"/>
                  </a:lnTo>
                  <a:lnTo>
                    <a:pt x="349006" y="96207"/>
                  </a:lnTo>
                  <a:lnTo>
                    <a:pt x="388940" y="74515"/>
                  </a:lnTo>
                  <a:lnTo>
                    <a:pt x="430377" y="55375"/>
                  </a:lnTo>
                  <a:lnTo>
                    <a:pt x="473210" y="38892"/>
                  </a:lnTo>
                  <a:lnTo>
                    <a:pt x="517336" y="25171"/>
                  </a:lnTo>
                  <a:lnTo>
                    <a:pt x="562649" y="14316"/>
                  </a:lnTo>
                  <a:lnTo>
                    <a:pt x="609045" y="6432"/>
                  </a:lnTo>
                  <a:lnTo>
                    <a:pt x="656418" y="1625"/>
                  </a:lnTo>
                  <a:lnTo>
                    <a:pt x="704664" y="0"/>
                  </a:lnTo>
                  <a:lnTo>
                    <a:pt x="7132835" y="0"/>
                  </a:lnTo>
                  <a:lnTo>
                    <a:pt x="7183586" y="1828"/>
                  </a:lnTo>
                  <a:lnTo>
                    <a:pt x="7233778" y="7264"/>
                  </a:lnTo>
                  <a:lnTo>
                    <a:pt x="7283236" y="16234"/>
                  </a:lnTo>
                  <a:lnTo>
                    <a:pt x="7331781" y="28665"/>
                  </a:lnTo>
                  <a:lnTo>
                    <a:pt x="7379236" y="44483"/>
                  </a:lnTo>
                  <a:lnTo>
                    <a:pt x="7425422" y="63614"/>
                  </a:lnTo>
                  <a:lnTo>
                    <a:pt x="7470162" y="85984"/>
                  </a:lnTo>
                  <a:lnTo>
                    <a:pt x="7513279" y="111521"/>
                  </a:lnTo>
                  <a:lnTo>
                    <a:pt x="7554594" y="140150"/>
                  </a:lnTo>
                  <a:lnTo>
                    <a:pt x="7593929" y="171798"/>
                  </a:lnTo>
                  <a:lnTo>
                    <a:pt x="7631108" y="206391"/>
                  </a:lnTo>
                  <a:lnTo>
                    <a:pt x="7665701" y="243570"/>
                  </a:lnTo>
                  <a:lnTo>
                    <a:pt x="7697349" y="282905"/>
                  </a:lnTo>
                  <a:lnTo>
                    <a:pt x="7725978" y="324220"/>
                  </a:lnTo>
                  <a:lnTo>
                    <a:pt x="7751514" y="367337"/>
                  </a:lnTo>
                  <a:lnTo>
                    <a:pt x="7773885" y="412077"/>
                  </a:lnTo>
                  <a:lnTo>
                    <a:pt x="7793016" y="458263"/>
                  </a:lnTo>
                  <a:lnTo>
                    <a:pt x="7808834" y="505718"/>
                  </a:lnTo>
                  <a:lnTo>
                    <a:pt x="7821265" y="554263"/>
                  </a:lnTo>
                  <a:lnTo>
                    <a:pt x="7830235" y="603720"/>
                  </a:lnTo>
                  <a:lnTo>
                    <a:pt x="7835671" y="653913"/>
                  </a:lnTo>
                  <a:lnTo>
                    <a:pt x="7837499" y="704664"/>
                  </a:lnTo>
                  <a:lnTo>
                    <a:pt x="7837499" y="3523235"/>
                  </a:lnTo>
                  <a:lnTo>
                    <a:pt x="7835874" y="3571481"/>
                  </a:lnTo>
                  <a:lnTo>
                    <a:pt x="7831067" y="3618854"/>
                  </a:lnTo>
                  <a:lnTo>
                    <a:pt x="7823183" y="3665250"/>
                  </a:lnTo>
                  <a:lnTo>
                    <a:pt x="7812328" y="3710563"/>
                  </a:lnTo>
                  <a:lnTo>
                    <a:pt x="7798607" y="3754689"/>
                  </a:lnTo>
                  <a:lnTo>
                    <a:pt x="7782123" y="3797523"/>
                  </a:lnTo>
                  <a:lnTo>
                    <a:pt x="7762984" y="3838959"/>
                  </a:lnTo>
                  <a:lnTo>
                    <a:pt x="7741292" y="3878893"/>
                  </a:lnTo>
                  <a:lnTo>
                    <a:pt x="7717154" y="3917220"/>
                  </a:lnTo>
                  <a:lnTo>
                    <a:pt x="7690674" y="3953835"/>
                  </a:lnTo>
                  <a:lnTo>
                    <a:pt x="7661957" y="3988632"/>
                  </a:lnTo>
                  <a:lnTo>
                    <a:pt x="7631108" y="4021508"/>
                  </a:lnTo>
                  <a:lnTo>
                    <a:pt x="7598232" y="4052357"/>
                  </a:lnTo>
                  <a:lnTo>
                    <a:pt x="7563435" y="4081074"/>
                  </a:lnTo>
                  <a:lnTo>
                    <a:pt x="7526820" y="4107554"/>
                  </a:lnTo>
                  <a:lnTo>
                    <a:pt x="7488493" y="4131692"/>
                  </a:lnTo>
                  <a:lnTo>
                    <a:pt x="7448559" y="4153384"/>
                  </a:lnTo>
                  <a:lnTo>
                    <a:pt x="7407122" y="4172524"/>
                  </a:lnTo>
                  <a:lnTo>
                    <a:pt x="7364289" y="4189007"/>
                  </a:lnTo>
                  <a:lnTo>
                    <a:pt x="7320163" y="4202728"/>
                  </a:lnTo>
                  <a:lnTo>
                    <a:pt x="7274850" y="4213583"/>
                  </a:lnTo>
                  <a:lnTo>
                    <a:pt x="7228454" y="4221467"/>
                  </a:lnTo>
                  <a:lnTo>
                    <a:pt x="7181081" y="4226274"/>
                  </a:lnTo>
                  <a:lnTo>
                    <a:pt x="7132835" y="4227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5774" y="445025"/>
              <a:ext cx="7837805" cy="4228465"/>
            </a:xfrm>
            <a:custGeom>
              <a:avLst/>
              <a:gdLst/>
              <a:ahLst/>
              <a:cxnLst/>
              <a:rect l="l" t="t" r="r" b="b"/>
              <a:pathLst>
                <a:path w="7837805" h="4228465">
                  <a:moveTo>
                    <a:pt x="0" y="704664"/>
                  </a:moveTo>
                  <a:lnTo>
                    <a:pt x="1625" y="656418"/>
                  </a:lnTo>
                  <a:lnTo>
                    <a:pt x="6432" y="609045"/>
                  </a:lnTo>
                  <a:lnTo>
                    <a:pt x="14316" y="562649"/>
                  </a:lnTo>
                  <a:lnTo>
                    <a:pt x="25171" y="517336"/>
                  </a:lnTo>
                  <a:lnTo>
                    <a:pt x="38892" y="473210"/>
                  </a:lnTo>
                  <a:lnTo>
                    <a:pt x="55375" y="430377"/>
                  </a:lnTo>
                  <a:lnTo>
                    <a:pt x="74515" y="388940"/>
                  </a:lnTo>
                  <a:lnTo>
                    <a:pt x="96207" y="349006"/>
                  </a:lnTo>
                  <a:lnTo>
                    <a:pt x="120345" y="310679"/>
                  </a:lnTo>
                  <a:lnTo>
                    <a:pt x="146825" y="274064"/>
                  </a:lnTo>
                  <a:lnTo>
                    <a:pt x="175542" y="239267"/>
                  </a:lnTo>
                  <a:lnTo>
                    <a:pt x="206391" y="206391"/>
                  </a:lnTo>
                  <a:lnTo>
                    <a:pt x="239267" y="175542"/>
                  </a:lnTo>
                  <a:lnTo>
                    <a:pt x="274064" y="146825"/>
                  </a:lnTo>
                  <a:lnTo>
                    <a:pt x="310679" y="120345"/>
                  </a:lnTo>
                  <a:lnTo>
                    <a:pt x="349006" y="96207"/>
                  </a:lnTo>
                  <a:lnTo>
                    <a:pt x="388940" y="74515"/>
                  </a:lnTo>
                  <a:lnTo>
                    <a:pt x="430377" y="55375"/>
                  </a:lnTo>
                  <a:lnTo>
                    <a:pt x="473210" y="38892"/>
                  </a:lnTo>
                  <a:lnTo>
                    <a:pt x="517336" y="25171"/>
                  </a:lnTo>
                  <a:lnTo>
                    <a:pt x="562649" y="14316"/>
                  </a:lnTo>
                  <a:lnTo>
                    <a:pt x="609045" y="6432"/>
                  </a:lnTo>
                  <a:lnTo>
                    <a:pt x="656418" y="1625"/>
                  </a:lnTo>
                  <a:lnTo>
                    <a:pt x="704664" y="0"/>
                  </a:lnTo>
                  <a:lnTo>
                    <a:pt x="7132835" y="0"/>
                  </a:lnTo>
                  <a:lnTo>
                    <a:pt x="7183586" y="1828"/>
                  </a:lnTo>
                  <a:lnTo>
                    <a:pt x="7233778" y="7264"/>
                  </a:lnTo>
                  <a:lnTo>
                    <a:pt x="7283236" y="16234"/>
                  </a:lnTo>
                  <a:lnTo>
                    <a:pt x="7331781" y="28665"/>
                  </a:lnTo>
                  <a:lnTo>
                    <a:pt x="7379236" y="44483"/>
                  </a:lnTo>
                  <a:lnTo>
                    <a:pt x="7425422" y="63614"/>
                  </a:lnTo>
                  <a:lnTo>
                    <a:pt x="7470162" y="85984"/>
                  </a:lnTo>
                  <a:lnTo>
                    <a:pt x="7513279" y="111521"/>
                  </a:lnTo>
                  <a:lnTo>
                    <a:pt x="7554594" y="140150"/>
                  </a:lnTo>
                  <a:lnTo>
                    <a:pt x="7593929" y="171798"/>
                  </a:lnTo>
                  <a:lnTo>
                    <a:pt x="7631108" y="206391"/>
                  </a:lnTo>
                  <a:lnTo>
                    <a:pt x="7665701" y="243570"/>
                  </a:lnTo>
                  <a:lnTo>
                    <a:pt x="7697349" y="282905"/>
                  </a:lnTo>
                  <a:lnTo>
                    <a:pt x="7725978" y="324220"/>
                  </a:lnTo>
                  <a:lnTo>
                    <a:pt x="7751514" y="367337"/>
                  </a:lnTo>
                  <a:lnTo>
                    <a:pt x="7773885" y="412077"/>
                  </a:lnTo>
                  <a:lnTo>
                    <a:pt x="7793016" y="458263"/>
                  </a:lnTo>
                  <a:lnTo>
                    <a:pt x="7808834" y="505718"/>
                  </a:lnTo>
                  <a:lnTo>
                    <a:pt x="7821265" y="554263"/>
                  </a:lnTo>
                  <a:lnTo>
                    <a:pt x="7830235" y="603720"/>
                  </a:lnTo>
                  <a:lnTo>
                    <a:pt x="7835671" y="653913"/>
                  </a:lnTo>
                  <a:lnTo>
                    <a:pt x="7837499" y="704664"/>
                  </a:lnTo>
                  <a:lnTo>
                    <a:pt x="7837499" y="3523235"/>
                  </a:lnTo>
                  <a:lnTo>
                    <a:pt x="7835874" y="3571481"/>
                  </a:lnTo>
                  <a:lnTo>
                    <a:pt x="7831067" y="3618854"/>
                  </a:lnTo>
                  <a:lnTo>
                    <a:pt x="7823183" y="3665250"/>
                  </a:lnTo>
                  <a:lnTo>
                    <a:pt x="7812328" y="3710563"/>
                  </a:lnTo>
                  <a:lnTo>
                    <a:pt x="7798607" y="3754689"/>
                  </a:lnTo>
                  <a:lnTo>
                    <a:pt x="7782123" y="3797523"/>
                  </a:lnTo>
                  <a:lnTo>
                    <a:pt x="7762984" y="3838959"/>
                  </a:lnTo>
                  <a:lnTo>
                    <a:pt x="7741292" y="3878893"/>
                  </a:lnTo>
                  <a:lnTo>
                    <a:pt x="7717154" y="3917220"/>
                  </a:lnTo>
                  <a:lnTo>
                    <a:pt x="7690674" y="3953835"/>
                  </a:lnTo>
                  <a:lnTo>
                    <a:pt x="7661957" y="3988632"/>
                  </a:lnTo>
                  <a:lnTo>
                    <a:pt x="7631108" y="4021508"/>
                  </a:lnTo>
                  <a:lnTo>
                    <a:pt x="7598232" y="4052357"/>
                  </a:lnTo>
                  <a:lnTo>
                    <a:pt x="7563435" y="4081074"/>
                  </a:lnTo>
                  <a:lnTo>
                    <a:pt x="7526820" y="4107554"/>
                  </a:lnTo>
                  <a:lnTo>
                    <a:pt x="7488493" y="4131692"/>
                  </a:lnTo>
                  <a:lnTo>
                    <a:pt x="7448559" y="4153384"/>
                  </a:lnTo>
                  <a:lnTo>
                    <a:pt x="7407122" y="4172524"/>
                  </a:lnTo>
                  <a:lnTo>
                    <a:pt x="7364289" y="4189007"/>
                  </a:lnTo>
                  <a:lnTo>
                    <a:pt x="7320163" y="4202728"/>
                  </a:lnTo>
                  <a:lnTo>
                    <a:pt x="7274850" y="4213583"/>
                  </a:lnTo>
                  <a:lnTo>
                    <a:pt x="7228454" y="4221467"/>
                  </a:lnTo>
                  <a:lnTo>
                    <a:pt x="7181081" y="4226274"/>
                  </a:lnTo>
                  <a:lnTo>
                    <a:pt x="7132835" y="4227899"/>
                  </a:lnTo>
                  <a:lnTo>
                    <a:pt x="704664" y="4227899"/>
                  </a:lnTo>
                  <a:lnTo>
                    <a:pt x="656418" y="4226274"/>
                  </a:lnTo>
                  <a:lnTo>
                    <a:pt x="609045" y="4221467"/>
                  </a:lnTo>
                  <a:lnTo>
                    <a:pt x="562649" y="4213583"/>
                  </a:lnTo>
                  <a:lnTo>
                    <a:pt x="517336" y="4202728"/>
                  </a:lnTo>
                  <a:lnTo>
                    <a:pt x="473210" y="4189007"/>
                  </a:lnTo>
                  <a:lnTo>
                    <a:pt x="430377" y="4172524"/>
                  </a:lnTo>
                  <a:lnTo>
                    <a:pt x="388940" y="4153384"/>
                  </a:lnTo>
                  <a:lnTo>
                    <a:pt x="349006" y="4131692"/>
                  </a:lnTo>
                  <a:lnTo>
                    <a:pt x="310679" y="4107554"/>
                  </a:lnTo>
                  <a:lnTo>
                    <a:pt x="274064" y="4081074"/>
                  </a:lnTo>
                  <a:lnTo>
                    <a:pt x="239267" y="4052357"/>
                  </a:lnTo>
                  <a:lnTo>
                    <a:pt x="206391" y="4021508"/>
                  </a:lnTo>
                  <a:lnTo>
                    <a:pt x="175542" y="3988632"/>
                  </a:lnTo>
                  <a:lnTo>
                    <a:pt x="146825" y="3953835"/>
                  </a:lnTo>
                  <a:lnTo>
                    <a:pt x="120345" y="3917220"/>
                  </a:lnTo>
                  <a:lnTo>
                    <a:pt x="96207" y="3878893"/>
                  </a:lnTo>
                  <a:lnTo>
                    <a:pt x="74515" y="3838959"/>
                  </a:lnTo>
                  <a:lnTo>
                    <a:pt x="55375" y="3797523"/>
                  </a:lnTo>
                  <a:lnTo>
                    <a:pt x="38892" y="3754689"/>
                  </a:lnTo>
                  <a:lnTo>
                    <a:pt x="25171" y="3710563"/>
                  </a:lnTo>
                  <a:lnTo>
                    <a:pt x="14316" y="3665250"/>
                  </a:lnTo>
                  <a:lnTo>
                    <a:pt x="6432" y="3618854"/>
                  </a:lnTo>
                  <a:lnTo>
                    <a:pt x="1625" y="3571481"/>
                  </a:lnTo>
                  <a:lnTo>
                    <a:pt x="0" y="3523235"/>
                  </a:lnTo>
                  <a:lnTo>
                    <a:pt x="0" y="7046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49" y="6766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2449" y="6766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88684" y="962400"/>
            <a:ext cx="1615440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spc="-13" dirty="0">
                <a:latin typeface="Arial"/>
                <a:cs typeface="Arial"/>
              </a:rPr>
              <a:t>Results</a:t>
            </a:r>
            <a:endParaRPr sz="3733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49049" y="2125117"/>
            <a:ext cx="9294707" cy="776393"/>
            <a:chOff x="1086787" y="1593837"/>
            <a:chExt cx="6971030" cy="582295"/>
          </a:xfrm>
        </p:grpSpPr>
        <p:sp>
          <p:nvSpPr>
            <p:cNvPr id="10" name="object 10"/>
            <p:cNvSpPr/>
            <p:nvPr/>
          </p:nvSpPr>
          <p:spPr>
            <a:xfrm>
              <a:off x="1091550" y="1598599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68654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1550" y="1598599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90041" y="2115842"/>
            <a:ext cx="8925560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b="1" spc="-33" dirty="0">
                <a:latin typeface="Arial"/>
                <a:cs typeface="Arial"/>
              </a:rPr>
              <a:t>Train-</a:t>
            </a:r>
            <a:r>
              <a:rPr sz="2400" b="1" dirty="0">
                <a:latin typeface="Arial"/>
                <a:cs typeface="Arial"/>
              </a:rPr>
              <a:t>test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overlap,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61-</a:t>
            </a:r>
            <a:r>
              <a:rPr sz="2400" b="1" dirty="0">
                <a:latin typeface="Arial"/>
                <a:cs typeface="Arial"/>
              </a:rPr>
              <a:t>word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sequence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repeated</a:t>
            </a:r>
            <a:r>
              <a:rPr sz="2400" b="1" spc="-13" dirty="0">
                <a:latin typeface="Arial"/>
                <a:cs typeface="Arial"/>
              </a:rPr>
              <a:t> 61,036 </a:t>
            </a:r>
            <a:r>
              <a:rPr sz="2400" b="1" dirty="0">
                <a:latin typeface="Arial"/>
                <a:cs typeface="Arial"/>
              </a:rPr>
              <a:t>times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C4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61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times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validation</a:t>
            </a:r>
            <a:r>
              <a:rPr sz="2400" b="1" spc="-27" dirty="0">
                <a:latin typeface="Arial"/>
                <a:cs typeface="Arial"/>
              </a:rPr>
              <a:t> sets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483" y="3360667"/>
            <a:ext cx="9097032" cy="2722632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8A7C6AE-3E2D-4436-A55E-9D9424B70E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5595" y="3673150"/>
            <a:ext cx="3166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130</a:t>
            </a:r>
            <a:endParaRPr sz="1333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34683" y="587016"/>
            <a:ext cx="10463107" cy="5650653"/>
            <a:chOff x="551012" y="440262"/>
            <a:chExt cx="7847330" cy="4237990"/>
          </a:xfrm>
        </p:grpSpPr>
        <p:sp>
          <p:nvSpPr>
            <p:cNvPr id="4" name="object 4"/>
            <p:cNvSpPr/>
            <p:nvPr/>
          </p:nvSpPr>
          <p:spPr>
            <a:xfrm>
              <a:off x="555774" y="445025"/>
              <a:ext cx="7837805" cy="4228465"/>
            </a:xfrm>
            <a:custGeom>
              <a:avLst/>
              <a:gdLst/>
              <a:ahLst/>
              <a:cxnLst/>
              <a:rect l="l" t="t" r="r" b="b"/>
              <a:pathLst>
                <a:path w="7837805" h="4228465">
                  <a:moveTo>
                    <a:pt x="7132835" y="4227899"/>
                  </a:moveTo>
                  <a:lnTo>
                    <a:pt x="704664" y="4227899"/>
                  </a:lnTo>
                  <a:lnTo>
                    <a:pt x="656418" y="4226274"/>
                  </a:lnTo>
                  <a:lnTo>
                    <a:pt x="609045" y="4221467"/>
                  </a:lnTo>
                  <a:lnTo>
                    <a:pt x="562649" y="4213583"/>
                  </a:lnTo>
                  <a:lnTo>
                    <a:pt x="517336" y="4202728"/>
                  </a:lnTo>
                  <a:lnTo>
                    <a:pt x="473210" y="4189007"/>
                  </a:lnTo>
                  <a:lnTo>
                    <a:pt x="430377" y="4172524"/>
                  </a:lnTo>
                  <a:lnTo>
                    <a:pt x="388940" y="4153384"/>
                  </a:lnTo>
                  <a:lnTo>
                    <a:pt x="349006" y="4131692"/>
                  </a:lnTo>
                  <a:lnTo>
                    <a:pt x="310679" y="4107554"/>
                  </a:lnTo>
                  <a:lnTo>
                    <a:pt x="274064" y="4081074"/>
                  </a:lnTo>
                  <a:lnTo>
                    <a:pt x="239267" y="4052357"/>
                  </a:lnTo>
                  <a:lnTo>
                    <a:pt x="206391" y="4021508"/>
                  </a:lnTo>
                  <a:lnTo>
                    <a:pt x="175542" y="3988632"/>
                  </a:lnTo>
                  <a:lnTo>
                    <a:pt x="146825" y="3953835"/>
                  </a:lnTo>
                  <a:lnTo>
                    <a:pt x="120345" y="3917220"/>
                  </a:lnTo>
                  <a:lnTo>
                    <a:pt x="96207" y="3878893"/>
                  </a:lnTo>
                  <a:lnTo>
                    <a:pt x="74515" y="3838959"/>
                  </a:lnTo>
                  <a:lnTo>
                    <a:pt x="55375" y="3797523"/>
                  </a:lnTo>
                  <a:lnTo>
                    <a:pt x="38892" y="3754689"/>
                  </a:lnTo>
                  <a:lnTo>
                    <a:pt x="25171" y="3710563"/>
                  </a:lnTo>
                  <a:lnTo>
                    <a:pt x="14316" y="3665250"/>
                  </a:lnTo>
                  <a:lnTo>
                    <a:pt x="6432" y="3618854"/>
                  </a:lnTo>
                  <a:lnTo>
                    <a:pt x="1625" y="3571481"/>
                  </a:lnTo>
                  <a:lnTo>
                    <a:pt x="0" y="3523235"/>
                  </a:lnTo>
                  <a:lnTo>
                    <a:pt x="0" y="704664"/>
                  </a:lnTo>
                  <a:lnTo>
                    <a:pt x="1625" y="656418"/>
                  </a:lnTo>
                  <a:lnTo>
                    <a:pt x="6432" y="609045"/>
                  </a:lnTo>
                  <a:lnTo>
                    <a:pt x="14316" y="562649"/>
                  </a:lnTo>
                  <a:lnTo>
                    <a:pt x="25171" y="517336"/>
                  </a:lnTo>
                  <a:lnTo>
                    <a:pt x="38892" y="473210"/>
                  </a:lnTo>
                  <a:lnTo>
                    <a:pt x="55375" y="430377"/>
                  </a:lnTo>
                  <a:lnTo>
                    <a:pt x="74515" y="388940"/>
                  </a:lnTo>
                  <a:lnTo>
                    <a:pt x="96207" y="349006"/>
                  </a:lnTo>
                  <a:lnTo>
                    <a:pt x="120345" y="310679"/>
                  </a:lnTo>
                  <a:lnTo>
                    <a:pt x="146825" y="274064"/>
                  </a:lnTo>
                  <a:lnTo>
                    <a:pt x="175542" y="239267"/>
                  </a:lnTo>
                  <a:lnTo>
                    <a:pt x="206391" y="206391"/>
                  </a:lnTo>
                  <a:lnTo>
                    <a:pt x="239267" y="175542"/>
                  </a:lnTo>
                  <a:lnTo>
                    <a:pt x="274064" y="146825"/>
                  </a:lnTo>
                  <a:lnTo>
                    <a:pt x="310679" y="120345"/>
                  </a:lnTo>
                  <a:lnTo>
                    <a:pt x="349006" y="96207"/>
                  </a:lnTo>
                  <a:lnTo>
                    <a:pt x="388940" y="74515"/>
                  </a:lnTo>
                  <a:lnTo>
                    <a:pt x="430377" y="55375"/>
                  </a:lnTo>
                  <a:lnTo>
                    <a:pt x="473210" y="38892"/>
                  </a:lnTo>
                  <a:lnTo>
                    <a:pt x="517336" y="25171"/>
                  </a:lnTo>
                  <a:lnTo>
                    <a:pt x="562649" y="14316"/>
                  </a:lnTo>
                  <a:lnTo>
                    <a:pt x="609045" y="6432"/>
                  </a:lnTo>
                  <a:lnTo>
                    <a:pt x="656418" y="1625"/>
                  </a:lnTo>
                  <a:lnTo>
                    <a:pt x="704664" y="0"/>
                  </a:lnTo>
                  <a:lnTo>
                    <a:pt x="7132835" y="0"/>
                  </a:lnTo>
                  <a:lnTo>
                    <a:pt x="7183586" y="1828"/>
                  </a:lnTo>
                  <a:lnTo>
                    <a:pt x="7233778" y="7264"/>
                  </a:lnTo>
                  <a:lnTo>
                    <a:pt x="7283236" y="16234"/>
                  </a:lnTo>
                  <a:lnTo>
                    <a:pt x="7331781" y="28665"/>
                  </a:lnTo>
                  <a:lnTo>
                    <a:pt x="7379236" y="44483"/>
                  </a:lnTo>
                  <a:lnTo>
                    <a:pt x="7425422" y="63614"/>
                  </a:lnTo>
                  <a:lnTo>
                    <a:pt x="7470162" y="85984"/>
                  </a:lnTo>
                  <a:lnTo>
                    <a:pt x="7513279" y="111521"/>
                  </a:lnTo>
                  <a:lnTo>
                    <a:pt x="7554594" y="140150"/>
                  </a:lnTo>
                  <a:lnTo>
                    <a:pt x="7593929" y="171798"/>
                  </a:lnTo>
                  <a:lnTo>
                    <a:pt x="7631108" y="206391"/>
                  </a:lnTo>
                  <a:lnTo>
                    <a:pt x="7665701" y="243570"/>
                  </a:lnTo>
                  <a:lnTo>
                    <a:pt x="7697349" y="282905"/>
                  </a:lnTo>
                  <a:lnTo>
                    <a:pt x="7725978" y="324220"/>
                  </a:lnTo>
                  <a:lnTo>
                    <a:pt x="7751514" y="367337"/>
                  </a:lnTo>
                  <a:lnTo>
                    <a:pt x="7773885" y="412077"/>
                  </a:lnTo>
                  <a:lnTo>
                    <a:pt x="7793016" y="458263"/>
                  </a:lnTo>
                  <a:lnTo>
                    <a:pt x="7808834" y="505718"/>
                  </a:lnTo>
                  <a:lnTo>
                    <a:pt x="7821265" y="554263"/>
                  </a:lnTo>
                  <a:lnTo>
                    <a:pt x="7830235" y="603720"/>
                  </a:lnTo>
                  <a:lnTo>
                    <a:pt x="7835671" y="653913"/>
                  </a:lnTo>
                  <a:lnTo>
                    <a:pt x="7837499" y="704664"/>
                  </a:lnTo>
                  <a:lnTo>
                    <a:pt x="7837499" y="3523235"/>
                  </a:lnTo>
                  <a:lnTo>
                    <a:pt x="7835874" y="3571481"/>
                  </a:lnTo>
                  <a:lnTo>
                    <a:pt x="7831067" y="3618854"/>
                  </a:lnTo>
                  <a:lnTo>
                    <a:pt x="7823183" y="3665250"/>
                  </a:lnTo>
                  <a:lnTo>
                    <a:pt x="7812328" y="3710563"/>
                  </a:lnTo>
                  <a:lnTo>
                    <a:pt x="7798607" y="3754689"/>
                  </a:lnTo>
                  <a:lnTo>
                    <a:pt x="7782123" y="3797523"/>
                  </a:lnTo>
                  <a:lnTo>
                    <a:pt x="7762984" y="3838959"/>
                  </a:lnTo>
                  <a:lnTo>
                    <a:pt x="7741292" y="3878893"/>
                  </a:lnTo>
                  <a:lnTo>
                    <a:pt x="7717154" y="3917220"/>
                  </a:lnTo>
                  <a:lnTo>
                    <a:pt x="7690674" y="3953835"/>
                  </a:lnTo>
                  <a:lnTo>
                    <a:pt x="7661957" y="3988632"/>
                  </a:lnTo>
                  <a:lnTo>
                    <a:pt x="7631108" y="4021508"/>
                  </a:lnTo>
                  <a:lnTo>
                    <a:pt x="7598232" y="4052357"/>
                  </a:lnTo>
                  <a:lnTo>
                    <a:pt x="7563435" y="4081074"/>
                  </a:lnTo>
                  <a:lnTo>
                    <a:pt x="7526820" y="4107554"/>
                  </a:lnTo>
                  <a:lnTo>
                    <a:pt x="7488493" y="4131692"/>
                  </a:lnTo>
                  <a:lnTo>
                    <a:pt x="7448559" y="4153384"/>
                  </a:lnTo>
                  <a:lnTo>
                    <a:pt x="7407122" y="4172524"/>
                  </a:lnTo>
                  <a:lnTo>
                    <a:pt x="7364289" y="4189007"/>
                  </a:lnTo>
                  <a:lnTo>
                    <a:pt x="7320163" y="4202728"/>
                  </a:lnTo>
                  <a:lnTo>
                    <a:pt x="7274850" y="4213583"/>
                  </a:lnTo>
                  <a:lnTo>
                    <a:pt x="7228454" y="4221467"/>
                  </a:lnTo>
                  <a:lnTo>
                    <a:pt x="7181081" y="4226274"/>
                  </a:lnTo>
                  <a:lnTo>
                    <a:pt x="7132835" y="42278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5774" y="445025"/>
              <a:ext cx="7837805" cy="4228465"/>
            </a:xfrm>
            <a:custGeom>
              <a:avLst/>
              <a:gdLst/>
              <a:ahLst/>
              <a:cxnLst/>
              <a:rect l="l" t="t" r="r" b="b"/>
              <a:pathLst>
                <a:path w="7837805" h="4228465">
                  <a:moveTo>
                    <a:pt x="0" y="704664"/>
                  </a:moveTo>
                  <a:lnTo>
                    <a:pt x="1625" y="656418"/>
                  </a:lnTo>
                  <a:lnTo>
                    <a:pt x="6432" y="609045"/>
                  </a:lnTo>
                  <a:lnTo>
                    <a:pt x="14316" y="562649"/>
                  </a:lnTo>
                  <a:lnTo>
                    <a:pt x="25171" y="517336"/>
                  </a:lnTo>
                  <a:lnTo>
                    <a:pt x="38892" y="473210"/>
                  </a:lnTo>
                  <a:lnTo>
                    <a:pt x="55375" y="430377"/>
                  </a:lnTo>
                  <a:lnTo>
                    <a:pt x="74515" y="388940"/>
                  </a:lnTo>
                  <a:lnTo>
                    <a:pt x="96207" y="349006"/>
                  </a:lnTo>
                  <a:lnTo>
                    <a:pt x="120345" y="310679"/>
                  </a:lnTo>
                  <a:lnTo>
                    <a:pt x="146825" y="274064"/>
                  </a:lnTo>
                  <a:lnTo>
                    <a:pt x="175542" y="239267"/>
                  </a:lnTo>
                  <a:lnTo>
                    <a:pt x="206391" y="206391"/>
                  </a:lnTo>
                  <a:lnTo>
                    <a:pt x="239267" y="175542"/>
                  </a:lnTo>
                  <a:lnTo>
                    <a:pt x="274064" y="146825"/>
                  </a:lnTo>
                  <a:lnTo>
                    <a:pt x="310679" y="120345"/>
                  </a:lnTo>
                  <a:lnTo>
                    <a:pt x="349006" y="96207"/>
                  </a:lnTo>
                  <a:lnTo>
                    <a:pt x="388940" y="74515"/>
                  </a:lnTo>
                  <a:lnTo>
                    <a:pt x="430377" y="55375"/>
                  </a:lnTo>
                  <a:lnTo>
                    <a:pt x="473210" y="38892"/>
                  </a:lnTo>
                  <a:lnTo>
                    <a:pt x="517336" y="25171"/>
                  </a:lnTo>
                  <a:lnTo>
                    <a:pt x="562649" y="14316"/>
                  </a:lnTo>
                  <a:lnTo>
                    <a:pt x="609045" y="6432"/>
                  </a:lnTo>
                  <a:lnTo>
                    <a:pt x="656418" y="1625"/>
                  </a:lnTo>
                  <a:lnTo>
                    <a:pt x="704664" y="0"/>
                  </a:lnTo>
                  <a:lnTo>
                    <a:pt x="7132835" y="0"/>
                  </a:lnTo>
                  <a:lnTo>
                    <a:pt x="7183586" y="1828"/>
                  </a:lnTo>
                  <a:lnTo>
                    <a:pt x="7233778" y="7264"/>
                  </a:lnTo>
                  <a:lnTo>
                    <a:pt x="7283236" y="16234"/>
                  </a:lnTo>
                  <a:lnTo>
                    <a:pt x="7331781" y="28665"/>
                  </a:lnTo>
                  <a:lnTo>
                    <a:pt x="7379236" y="44483"/>
                  </a:lnTo>
                  <a:lnTo>
                    <a:pt x="7425422" y="63614"/>
                  </a:lnTo>
                  <a:lnTo>
                    <a:pt x="7470162" y="85984"/>
                  </a:lnTo>
                  <a:lnTo>
                    <a:pt x="7513279" y="111521"/>
                  </a:lnTo>
                  <a:lnTo>
                    <a:pt x="7554594" y="140150"/>
                  </a:lnTo>
                  <a:lnTo>
                    <a:pt x="7593929" y="171798"/>
                  </a:lnTo>
                  <a:lnTo>
                    <a:pt x="7631108" y="206391"/>
                  </a:lnTo>
                  <a:lnTo>
                    <a:pt x="7665701" y="243570"/>
                  </a:lnTo>
                  <a:lnTo>
                    <a:pt x="7697349" y="282905"/>
                  </a:lnTo>
                  <a:lnTo>
                    <a:pt x="7725978" y="324220"/>
                  </a:lnTo>
                  <a:lnTo>
                    <a:pt x="7751514" y="367337"/>
                  </a:lnTo>
                  <a:lnTo>
                    <a:pt x="7773885" y="412077"/>
                  </a:lnTo>
                  <a:lnTo>
                    <a:pt x="7793016" y="458263"/>
                  </a:lnTo>
                  <a:lnTo>
                    <a:pt x="7808834" y="505718"/>
                  </a:lnTo>
                  <a:lnTo>
                    <a:pt x="7821265" y="554263"/>
                  </a:lnTo>
                  <a:lnTo>
                    <a:pt x="7830235" y="603720"/>
                  </a:lnTo>
                  <a:lnTo>
                    <a:pt x="7835671" y="653913"/>
                  </a:lnTo>
                  <a:lnTo>
                    <a:pt x="7837499" y="704664"/>
                  </a:lnTo>
                  <a:lnTo>
                    <a:pt x="7837499" y="3523235"/>
                  </a:lnTo>
                  <a:lnTo>
                    <a:pt x="7835874" y="3571481"/>
                  </a:lnTo>
                  <a:lnTo>
                    <a:pt x="7831067" y="3618854"/>
                  </a:lnTo>
                  <a:lnTo>
                    <a:pt x="7823183" y="3665250"/>
                  </a:lnTo>
                  <a:lnTo>
                    <a:pt x="7812328" y="3710563"/>
                  </a:lnTo>
                  <a:lnTo>
                    <a:pt x="7798607" y="3754689"/>
                  </a:lnTo>
                  <a:lnTo>
                    <a:pt x="7782123" y="3797523"/>
                  </a:lnTo>
                  <a:lnTo>
                    <a:pt x="7762984" y="3838959"/>
                  </a:lnTo>
                  <a:lnTo>
                    <a:pt x="7741292" y="3878893"/>
                  </a:lnTo>
                  <a:lnTo>
                    <a:pt x="7717154" y="3917220"/>
                  </a:lnTo>
                  <a:lnTo>
                    <a:pt x="7690674" y="3953835"/>
                  </a:lnTo>
                  <a:lnTo>
                    <a:pt x="7661957" y="3988632"/>
                  </a:lnTo>
                  <a:lnTo>
                    <a:pt x="7631108" y="4021508"/>
                  </a:lnTo>
                  <a:lnTo>
                    <a:pt x="7598232" y="4052357"/>
                  </a:lnTo>
                  <a:lnTo>
                    <a:pt x="7563435" y="4081074"/>
                  </a:lnTo>
                  <a:lnTo>
                    <a:pt x="7526820" y="4107554"/>
                  </a:lnTo>
                  <a:lnTo>
                    <a:pt x="7488493" y="4131692"/>
                  </a:lnTo>
                  <a:lnTo>
                    <a:pt x="7448559" y="4153384"/>
                  </a:lnTo>
                  <a:lnTo>
                    <a:pt x="7407122" y="4172524"/>
                  </a:lnTo>
                  <a:lnTo>
                    <a:pt x="7364289" y="4189007"/>
                  </a:lnTo>
                  <a:lnTo>
                    <a:pt x="7320163" y="4202728"/>
                  </a:lnTo>
                  <a:lnTo>
                    <a:pt x="7274850" y="4213583"/>
                  </a:lnTo>
                  <a:lnTo>
                    <a:pt x="7228454" y="4221467"/>
                  </a:lnTo>
                  <a:lnTo>
                    <a:pt x="7181081" y="4226274"/>
                  </a:lnTo>
                  <a:lnTo>
                    <a:pt x="7132835" y="4227899"/>
                  </a:lnTo>
                  <a:lnTo>
                    <a:pt x="704664" y="4227899"/>
                  </a:lnTo>
                  <a:lnTo>
                    <a:pt x="656418" y="4226274"/>
                  </a:lnTo>
                  <a:lnTo>
                    <a:pt x="609045" y="4221467"/>
                  </a:lnTo>
                  <a:lnTo>
                    <a:pt x="562649" y="4213583"/>
                  </a:lnTo>
                  <a:lnTo>
                    <a:pt x="517336" y="4202728"/>
                  </a:lnTo>
                  <a:lnTo>
                    <a:pt x="473210" y="4189007"/>
                  </a:lnTo>
                  <a:lnTo>
                    <a:pt x="430377" y="4172524"/>
                  </a:lnTo>
                  <a:lnTo>
                    <a:pt x="388940" y="4153384"/>
                  </a:lnTo>
                  <a:lnTo>
                    <a:pt x="349006" y="4131692"/>
                  </a:lnTo>
                  <a:lnTo>
                    <a:pt x="310679" y="4107554"/>
                  </a:lnTo>
                  <a:lnTo>
                    <a:pt x="274064" y="4081074"/>
                  </a:lnTo>
                  <a:lnTo>
                    <a:pt x="239267" y="4052357"/>
                  </a:lnTo>
                  <a:lnTo>
                    <a:pt x="206391" y="4021508"/>
                  </a:lnTo>
                  <a:lnTo>
                    <a:pt x="175542" y="3988632"/>
                  </a:lnTo>
                  <a:lnTo>
                    <a:pt x="146825" y="3953835"/>
                  </a:lnTo>
                  <a:lnTo>
                    <a:pt x="120345" y="3917220"/>
                  </a:lnTo>
                  <a:lnTo>
                    <a:pt x="96207" y="3878893"/>
                  </a:lnTo>
                  <a:lnTo>
                    <a:pt x="74515" y="3838959"/>
                  </a:lnTo>
                  <a:lnTo>
                    <a:pt x="55375" y="3797523"/>
                  </a:lnTo>
                  <a:lnTo>
                    <a:pt x="38892" y="3754689"/>
                  </a:lnTo>
                  <a:lnTo>
                    <a:pt x="25171" y="3710563"/>
                  </a:lnTo>
                  <a:lnTo>
                    <a:pt x="14316" y="3665250"/>
                  </a:lnTo>
                  <a:lnTo>
                    <a:pt x="6432" y="3618854"/>
                  </a:lnTo>
                  <a:lnTo>
                    <a:pt x="1625" y="3571481"/>
                  </a:lnTo>
                  <a:lnTo>
                    <a:pt x="0" y="3523235"/>
                  </a:lnTo>
                  <a:lnTo>
                    <a:pt x="0" y="7046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42449" y="6766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47636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42449" y="676687"/>
              <a:ext cx="4859655" cy="572770"/>
            </a:xfrm>
            <a:custGeom>
              <a:avLst/>
              <a:gdLst/>
              <a:ahLst/>
              <a:cxnLst/>
              <a:rect l="l" t="t" r="r" b="b"/>
              <a:pathLst>
                <a:path w="485965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4763648" y="0"/>
                  </a:lnTo>
                  <a:lnTo>
                    <a:pt x="4816605" y="16037"/>
                  </a:lnTo>
                  <a:lnTo>
                    <a:pt x="4851834" y="58924"/>
                  </a:lnTo>
                  <a:lnTo>
                    <a:pt x="4859099" y="95451"/>
                  </a:lnTo>
                  <a:lnTo>
                    <a:pt x="4859099" y="477247"/>
                  </a:lnTo>
                  <a:lnTo>
                    <a:pt x="4851598" y="514402"/>
                  </a:lnTo>
                  <a:lnTo>
                    <a:pt x="4831142" y="544742"/>
                  </a:lnTo>
                  <a:lnTo>
                    <a:pt x="4800802" y="565198"/>
                  </a:lnTo>
                  <a:lnTo>
                    <a:pt x="47636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12800" y="688682"/>
            <a:ext cx="14630400" cy="879003"/>
          </a:xfrm>
          <a:prstGeom prst="rect">
            <a:avLst/>
          </a:prstGeom>
        </p:spPr>
        <p:txBody>
          <a:bodyPr vert="horz" wrap="square" lIns="0" tIns="30160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792014">
              <a:spcBef>
                <a:spcPts val="133"/>
              </a:spcBef>
            </a:pPr>
            <a:r>
              <a:rPr sz="3733" spc="-13" dirty="0"/>
              <a:t>Results</a:t>
            </a:r>
            <a:endParaRPr sz="3733"/>
          </a:p>
        </p:txBody>
      </p:sp>
      <p:grpSp>
        <p:nvGrpSpPr>
          <p:cNvPr id="9" name="object 9"/>
          <p:cNvGrpSpPr/>
          <p:nvPr/>
        </p:nvGrpSpPr>
        <p:grpSpPr>
          <a:xfrm>
            <a:off x="1449049" y="2125117"/>
            <a:ext cx="9294707" cy="1675553"/>
            <a:chOff x="1086787" y="1593837"/>
            <a:chExt cx="6971030" cy="1256665"/>
          </a:xfrm>
        </p:grpSpPr>
        <p:sp>
          <p:nvSpPr>
            <p:cNvPr id="10" name="object 10"/>
            <p:cNvSpPr/>
            <p:nvPr/>
          </p:nvSpPr>
          <p:spPr>
            <a:xfrm>
              <a:off x="1091550" y="1598599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68654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1550" y="1598599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91550" y="2272624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68654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91550" y="2272624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90041" y="2115842"/>
            <a:ext cx="8925560" cy="1296679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>
              <a:lnSpc>
                <a:spcPct val="100699"/>
              </a:lnSpc>
              <a:spcBef>
                <a:spcPts val="113"/>
              </a:spcBef>
            </a:pPr>
            <a:r>
              <a:rPr sz="2400" b="1" spc="-33" dirty="0">
                <a:latin typeface="Arial"/>
                <a:cs typeface="Arial"/>
              </a:rPr>
              <a:t>Train-</a:t>
            </a:r>
            <a:r>
              <a:rPr sz="2400" b="1" dirty="0">
                <a:latin typeface="Arial"/>
                <a:cs typeface="Arial"/>
              </a:rPr>
              <a:t>test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overlap,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61-</a:t>
            </a:r>
            <a:r>
              <a:rPr sz="2400" b="1" dirty="0">
                <a:latin typeface="Arial"/>
                <a:cs typeface="Arial"/>
              </a:rPr>
              <a:t>word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sequence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repeated</a:t>
            </a:r>
            <a:r>
              <a:rPr sz="2400" b="1" spc="-13" dirty="0">
                <a:latin typeface="Arial"/>
                <a:cs typeface="Arial"/>
              </a:rPr>
              <a:t> 61,036 </a:t>
            </a:r>
            <a:r>
              <a:rPr sz="2400" b="1" dirty="0">
                <a:latin typeface="Arial"/>
                <a:cs typeface="Arial"/>
              </a:rPr>
              <a:t>times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set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61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times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validation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33" dirty="0">
                <a:latin typeface="Arial"/>
                <a:cs typeface="Arial"/>
              </a:rPr>
              <a:t>set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1292"/>
              </a:spcBef>
            </a:pPr>
            <a:r>
              <a:rPr sz="2400" b="1" dirty="0">
                <a:latin typeface="Arial"/>
                <a:cs typeface="Arial"/>
              </a:rPr>
              <a:t>Deduplicating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reduces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emitting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49049" y="3985550"/>
            <a:ext cx="9294707" cy="776393"/>
            <a:chOff x="1086787" y="2989162"/>
            <a:chExt cx="6971030" cy="582295"/>
          </a:xfrm>
        </p:grpSpPr>
        <p:sp>
          <p:nvSpPr>
            <p:cNvPr id="16" name="object 16"/>
            <p:cNvSpPr/>
            <p:nvPr/>
          </p:nvSpPr>
          <p:spPr>
            <a:xfrm>
              <a:off x="1091550" y="2993924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6865448" y="572700"/>
                  </a:moveTo>
                  <a:lnTo>
                    <a:pt x="95451" y="572700"/>
                  </a:lnTo>
                  <a:lnTo>
                    <a:pt x="58297" y="565199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9"/>
                  </a:lnTo>
                  <a:lnTo>
                    <a:pt x="6865448" y="572700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91550" y="2993924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7"/>
                  </a:lnTo>
                  <a:lnTo>
                    <a:pt x="6953634" y="58924"/>
                  </a:lnTo>
                  <a:lnTo>
                    <a:pt x="6960899" y="95451"/>
                  </a:lnTo>
                  <a:lnTo>
                    <a:pt x="6960899" y="477248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9"/>
                  </a:lnTo>
                  <a:lnTo>
                    <a:pt x="6865448" y="572700"/>
                  </a:lnTo>
                  <a:lnTo>
                    <a:pt x="95451" y="572700"/>
                  </a:lnTo>
                  <a:lnTo>
                    <a:pt x="58297" y="565199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90042" y="3382840"/>
            <a:ext cx="8689340" cy="13401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memorized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factor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10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times</a:t>
            </a:r>
            <a:endParaRPr sz="2400">
              <a:latin typeface="Arial"/>
              <a:cs typeface="Arial"/>
            </a:endParaRPr>
          </a:p>
          <a:p>
            <a:pPr marL="16933" marR="6773">
              <a:lnSpc>
                <a:spcPct val="100699"/>
              </a:lnSpc>
              <a:spcBef>
                <a:spcPts val="1773"/>
              </a:spcBef>
            </a:pPr>
            <a:r>
              <a:rPr sz="2400" dirty="0">
                <a:latin typeface="Arial"/>
                <a:cs typeface="Arial"/>
              </a:rPr>
              <a:t>Found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deduplicated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datasets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b="1" spc="-27" dirty="0">
                <a:latin typeface="Arial"/>
                <a:cs typeface="Arial"/>
              </a:rPr>
              <a:t>more </a:t>
            </a:r>
            <a:r>
              <a:rPr sz="2400" b="1" spc="-13" dirty="0">
                <a:latin typeface="Arial"/>
                <a:cs typeface="Arial"/>
              </a:rPr>
              <a:t>efficient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49049" y="4884250"/>
            <a:ext cx="9294707" cy="776393"/>
            <a:chOff x="1086787" y="3663187"/>
            <a:chExt cx="6971030" cy="582295"/>
          </a:xfrm>
        </p:grpSpPr>
        <p:sp>
          <p:nvSpPr>
            <p:cNvPr id="20" name="object 20"/>
            <p:cNvSpPr/>
            <p:nvPr/>
          </p:nvSpPr>
          <p:spPr>
            <a:xfrm>
              <a:off x="1091550" y="3667950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68654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6"/>
                  </a:lnTo>
                  <a:lnTo>
                    <a:pt x="6953634" y="58923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91550" y="3667950"/>
              <a:ext cx="6961505" cy="572770"/>
            </a:xfrm>
            <a:custGeom>
              <a:avLst/>
              <a:gdLst/>
              <a:ahLst/>
              <a:cxnLst/>
              <a:rect l="l" t="t" r="r" b="b"/>
              <a:pathLst>
                <a:path w="6961505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6865448" y="0"/>
                  </a:lnTo>
                  <a:lnTo>
                    <a:pt x="6918405" y="16036"/>
                  </a:lnTo>
                  <a:lnTo>
                    <a:pt x="6953634" y="58923"/>
                  </a:lnTo>
                  <a:lnTo>
                    <a:pt x="6960899" y="95451"/>
                  </a:lnTo>
                  <a:lnTo>
                    <a:pt x="6960899" y="477247"/>
                  </a:lnTo>
                  <a:lnTo>
                    <a:pt x="6953398" y="514402"/>
                  </a:lnTo>
                  <a:lnTo>
                    <a:pt x="6932942" y="544742"/>
                  </a:lnTo>
                  <a:lnTo>
                    <a:pt x="6902602" y="565198"/>
                  </a:lnTo>
                  <a:lnTo>
                    <a:pt x="68654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90041" y="5059124"/>
            <a:ext cx="88747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Found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deduplicating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does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hurt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perplexity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B541914-C88B-450C-88F9-BAA3E9C19F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115</a:t>
            </a:fld>
            <a:endParaRPr lang="en-US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850" y="379683"/>
            <a:ext cx="11046460" cy="6053667"/>
            <a:chOff x="429637" y="284762"/>
            <a:chExt cx="8284845" cy="4540250"/>
          </a:xfrm>
        </p:grpSpPr>
        <p:sp>
          <p:nvSpPr>
            <p:cNvPr id="3" name="object 3"/>
            <p:cNvSpPr/>
            <p:nvPr/>
          </p:nvSpPr>
          <p:spPr>
            <a:xfrm>
              <a:off x="2202924" y="515349"/>
              <a:ext cx="4770120" cy="525780"/>
            </a:xfrm>
            <a:custGeom>
              <a:avLst/>
              <a:gdLst/>
              <a:ahLst/>
              <a:cxnLst/>
              <a:rect l="l" t="t" r="r" b="b"/>
              <a:pathLst>
                <a:path w="4770120" h="525780">
                  <a:moveTo>
                    <a:pt x="4682098" y="525599"/>
                  </a:move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4682098" y="0"/>
                  </a:lnTo>
                  <a:lnTo>
                    <a:pt x="4730699" y="14718"/>
                  </a:lnTo>
                  <a:lnTo>
                    <a:pt x="4763031" y="54078"/>
                  </a:lnTo>
                  <a:lnTo>
                    <a:pt x="4769699" y="87601"/>
                  </a:lnTo>
                  <a:lnTo>
                    <a:pt x="4769699" y="437998"/>
                  </a:lnTo>
                  <a:lnTo>
                    <a:pt x="4762815" y="472096"/>
                  </a:lnTo>
                  <a:lnTo>
                    <a:pt x="4744042" y="499942"/>
                  </a:lnTo>
                  <a:lnTo>
                    <a:pt x="4716197" y="518715"/>
                  </a:lnTo>
                  <a:lnTo>
                    <a:pt x="4682098" y="5255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02924" y="515349"/>
              <a:ext cx="4770120" cy="525780"/>
            </a:xfrm>
            <a:custGeom>
              <a:avLst/>
              <a:gdLst/>
              <a:ahLst/>
              <a:cxnLst/>
              <a:rect l="l" t="t" r="r" b="b"/>
              <a:pathLst>
                <a:path w="4770120" h="525780">
                  <a:moveTo>
                    <a:pt x="0" y="87601"/>
                  </a:move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4682098" y="0"/>
                  </a:lnTo>
                  <a:lnTo>
                    <a:pt x="4730699" y="14718"/>
                  </a:lnTo>
                  <a:lnTo>
                    <a:pt x="4763031" y="54078"/>
                  </a:lnTo>
                  <a:lnTo>
                    <a:pt x="4769699" y="87601"/>
                  </a:lnTo>
                  <a:lnTo>
                    <a:pt x="4769699" y="437998"/>
                  </a:lnTo>
                  <a:lnTo>
                    <a:pt x="4762815" y="472096"/>
                  </a:lnTo>
                  <a:lnTo>
                    <a:pt x="4744042" y="499942"/>
                  </a:lnTo>
                  <a:lnTo>
                    <a:pt x="4716197" y="518715"/>
                  </a:lnTo>
                  <a:lnTo>
                    <a:pt x="4682098" y="525599"/>
                  </a:ln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4399" y="289524"/>
              <a:ext cx="8275320" cy="4530725"/>
            </a:xfrm>
            <a:custGeom>
              <a:avLst/>
              <a:gdLst/>
              <a:ahLst/>
              <a:cxnLst/>
              <a:rect l="l" t="t" r="r" b="b"/>
              <a:pathLst>
                <a:path w="8275320" h="4530725">
                  <a:moveTo>
                    <a:pt x="7520134" y="4530299"/>
                  </a:moveTo>
                  <a:lnTo>
                    <a:pt x="755065" y="4530299"/>
                  </a:lnTo>
                  <a:lnTo>
                    <a:pt x="707313" y="4528814"/>
                  </a:lnTo>
                  <a:lnTo>
                    <a:pt x="660351" y="4524416"/>
                  </a:lnTo>
                  <a:lnTo>
                    <a:pt x="614266" y="4517195"/>
                  </a:lnTo>
                  <a:lnTo>
                    <a:pt x="569148" y="4507239"/>
                  </a:lnTo>
                  <a:lnTo>
                    <a:pt x="525084" y="4494636"/>
                  </a:lnTo>
                  <a:lnTo>
                    <a:pt x="482163" y="4479475"/>
                  </a:lnTo>
                  <a:lnTo>
                    <a:pt x="440474" y="4461844"/>
                  </a:lnTo>
                  <a:lnTo>
                    <a:pt x="400105" y="4441832"/>
                  </a:lnTo>
                  <a:lnTo>
                    <a:pt x="361144" y="4419527"/>
                  </a:lnTo>
                  <a:lnTo>
                    <a:pt x="323680" y="4395017"/>
                  </a:lnTo>
                  <a:lnTo>
                    <a:pt x="287801" y="4368391"/>
                  </a:lnTo>
                  <a:lnTo>
                    <a:pt x="253596" y="4339738"/>
                  </a:lnTo>
                  <a:lnTo>
                    <a:pt x="221153" y="4309146"/>
                  </a:lnTo>
                  <a:lnTo>
                    <a:pt x="190561" y="4276703"/>
                  </a:lnTo>
                  <a:lnTo>
                    <a:pt x="161908" y="4242498"/>
                  </a:lnTo>
                  <a:lnTo>
                    <a:pt x="135282" y="4206619"/>
                  </a:lnTo>
                  <a:lnTo>
                    <a:pt x="110772" y="4169155"/>
                  </a:lnTo>
                  <a:lnTo>
                    <a:pt x="88467" y="4130194"/>
                  </a:lnTo>
                  <a:lnTo>
                    <a:pt x="68455" y="4089825"/>
                  </a:lnTo>
                  <a:lnTo>
                    <a:pt x="50824" y="4048136"/>
                  </a:lnTo>
                  <a:lnTo>
                    <a:pt x="35663" y="4005215"/>
                  </a:lnTo>
                  <a:lnTo>
                    <a:pt x="23060" y="3961151"/>
                  </a:lnTo>
                  <a:lnTo>
                    <a:pt x="13104" y="3916033"/>
                  </a:lnTo>
                  <a:lnTo>
                    <a:pt x="5883" y="3869948"/>
                  </a:lnTo>
                  <a:lnTo>
                    <a:pt x="1485" y="3822986"/>
                  </a:lnTo>
                  <a:lnTo>
                    <a:pt x="0" y="3775234"/>
                  </a:lnTo>
                  <a:lnTo>
                    <a:pt x="0" y="755065"/>
                  </a:lnTo>
                  <a:lnTo>
                    <a:pt x="1485" y="707313"/>
                  </a:lnTo>
                  <a:lnTo>
                    <a:pt x="5883" y="660351"/>
                  </a:lnTo>
                  <a:lnTo>
                    <a:pt x="13104" y="614266"/>
                  </a:lnTo>
                  <a:lnTo>
                    <a:pt x="23060" y="569148"/>
                  </a:lnTo>
                  <a:lnTo>
                    <a:pt x="35663" y="525084"/>
                  </a:lnTo>
                  <a:lnTo>
                    <a:pt x="50824" y="482163"/>
                  </a:lnTo>
                  <a:lnTo>
                    <a:pt x="68455" y="440474"/>
                  </a:lnTo>
                  <a:lnTo>
                    <a:pt x="88467" y="400105"/>
                  </a:lnTo>
                  <a:lnTo>
                    <a:pt x="110772" y="361144"/>
                  </a:lnTo>
                  <a:lnTo>
                    <a:pt x="135282" y="323680"/>
                  </a:lnTo>
                  <a:lnTo>
                    <a:pt x="161908" y="287801"/>
                  </a:lnTo>
                  <a:lnTo>
                    <a:pt x="190561" y="253596"/>
                  </a:lnTo>
                  <a:lnTo>
                    <a:pt x="221153" y="221153"/>
                  </a:lnTo>
                  <a:lnTo>
                    <a:pt x="253596" y="190561"/>
                  </a:lnTo>
                  <a:lnTo>
                    <a:pt x="287801" y="161908"/>
                  </a:lnTo>
                  <a:lnTo>
                    <a:pt x="323680" y="135282"/>
                  </a:lnTo>
                  <a:lnTo>
                    <a:pt x="361144" y="110772"/>
                  </a:lnTo>
                  <a:lnTo>
                    <a:pt x="400105" y="88467"/>
                  </a:lnTo>
                  <a:lnTo>
                    <a:pt x="440474" y="68455"/>
                  </a:lnTo>
                  <a:lnTo>
                    <a:pt x="482163" y="50824"/>
                  </a:lnTo>
                  <a:lnTo>
                    <a:pt x="525084" y="35663"/>
                  </a:lnTo>
                  <a:lnTo>
                    <a:pt x="569148" y="23060"/>
                  </a:lnTo>
                  <a:lnTo>
                    <a:pt x="614266" y="13104"/>
                  </a:lnTo>
                  <a:lnTo>
                    <a:pt x="660351" y="5883"/>
                  </a:lnTo>
                  <a:lnTo>
                    <a:pt x="707313" y="1485"/>
                  </a:lnTo>
                  <a:lnTo>
                    <a:pt x="755065" y="0"/>
                  </a:lnTo>
                  <a:lnTo>
                    <a:pt x="7520134" y="0"/>
                  </a:lnTo>
                  <a:lnTo>
                    <a:pt x="7570003" y="1647"/>
                  </a:lnTo>
                  <a:lnTo>
                    <a:pt x="7619383" y="6548"/>
                  </a:lnTo>
                  <a:lnTo>
                    <a:pt x="7668128" y="14642"/>
                  </a:lnTo>
                  <a:lnTo>
                    <a:pt x="7716091" y="25868"/>
                  </a:lnTo>
                  <a:lnTo>
                    <a:pt x="7763126" y="40167"/>
                  </a:lnTo>
                  <a:lnTo>
                    <a:pt x="7809085" y="57475"/>
                  </a:lnTo>
                  <a:lnTo>
                    <a:pt x="7853823" y="77734"/>
                  </a:lnTo>
                  <a:lnTo>
                    <a:pt x="7897192" y="100883"/>
                  </a:lnTo>
                  <a:lnTo>
                    <a:pt x="7939045" y="126859"/>
                  </a:lnTo>
                  <a:lnTo>
                    <a:pt x="7979237" y="155604"/>
                  </a:lnTo>
                  <a:lnTo>
                    <a:pt x="8017619" y="187055"/>
                  </a:lnTo>
                  <a:lnTo>
                    <a:pt x="8054046" y="221153"/>
                  </a:lnTo>
                  <a:lnTo>
                    <a:pt x="8088144" y="257580"/>
                  </a:lnTo>
                  <a:lnTo>
                    <a:pt x="8119595" y="295963"/>
                  </a:lnTo>
                  <a:lnTo>
                    <a:pt x="8148340" y="336154"/>
                  </a:lnTo>
                  <a:lnTo>
                    <a:pt x="8174316" y="378008"/>
                  </a:lnTo>
                  <a:lnTo>
                    <a:pt x="8197465" y="421376"/>
                  </a:lnTo>
                  <a:lnTo>
                    <a:pt x="8217724" y="466114"/>
                  </a:lnTo>
                  <a:lnTo>
                    <a:pt x="8235032" y="512073"/>
                  </a:lnTo>
                  <a:lnTo>
                    <a:pt x="8249331" y="559108"/>
                  </a:lnTo>
                  <a:lnTo>
                    <a:pt x="8260557" y="607071"/>
                  </a:lnTo>
                  <a:lnTo>
                    <a:pt x="8268651" y="655816"/>
                  </a:lnTo>
                  <a:lnTo>
                    <a:pt x="8273552" y="705196"/>
                  </a:lnTo>
                  <a:lnTo>
                    <a:pt x="8275199" y="755065"/>
                  </a:lnTo>
                  <a:lnTo>
                    <a:pt x="8275199" y="3775234"/>
                  </a:lnTo>
                  <a:lnTo>
                    <a:pt x="8273714" y="3822986"/>
                  </a:lnTo>
                  <a:lnTo>
                    <a:pt x="8269316" y="3869948"/>
                  </a:lnTo>
                  <a:lnTo>
                    <a:pt x="8262095" y="3916033"/>
                  </a:lnTo>
                  <a:lnTo>
                    <a:pt x="8252139" y="3961151"/>
                  </a:lnTo>
                  <a:lnTo>
                    <a:pt x="8239536" y="4005215"/>
                  </a:lnTo>
                  <a:lnTo>
                    <a:pt x="8224375" y="4048136"/>
                  </a:lnTo>
                  <a:lnTo>
                    <a:pt x="8206744" y="4089825"/>
                  </a:lnTo>
                  <a:lnTo>
                    <a:pt x="8186732" y="4130194"/>
                  </a:lnTo>
                  <a:lnTo>
                    <a:pt x="8164427" y="4169155"/>
                  </a:lnTo>
                  <a:lnTo>
                    <a:pt x="8139917" y="4206619"/>
                  </a:lnTo>
                  <a:lnTo>
                    <a:pt x="8113291" y="4242498"/>
                  </a:lnTo>
                  <a:lnTo>
                    <a:pt x="8084638" y="4276703"/>
                  </a:lnTo>
                  <a:lnTo>
                    <a:pt x="8054046" y="4309146"/>
                  </a:lnTo>
                  <a:lnTo>
                    <a:pt x="8021603" y="4339738"/>
                  </a:lnTo>
                  <a:lnTo>
                    <a:pt x="7987398" y="4368391"/>
                  </a:lnTo>
                  <a:lnTo>
                    <a:pt x="7951519" y="4395017"/>
                  </a:lnTo>
                  <a:lnTo>
                    <a:pt x="7914055" y="4419527"/>
                  </a:lnTo>
                  <a:lnTo>
                    <a:pt x="7875094" y="4441832"/>
                  </a:lnTo>
                  <a:lnTo>
                    <a:pt x="7834725" y="4461844"/>
                  </a:lnTo>
                  <a:lnTo>
                    <a:pt x="7793036" y="4479475"/>
                  </a:lnTo>
                  <a:lnTo>
                    <a:pt x="7750115" y="4494636"/>
                  </a:lnTo>
                  <a:lnTo>
                    <a:pt x="7706051" y="4507239"/>
                  </a:lnTo>
                  <a:lnTo>
                    <a:pt x="7660933" y="4517195"/>
                  </a:lnTo>
                  <a:lnTo>
                    <a:pt x="7614848" y="4524416"/>
                  </a:lnTo>
                  <a:lnTo>
                    <a:pt x="7567886" y="4528814"/>
                  </a:lnTo>
                  <a:lnTo>
                    <a:pt x="7520134" y="4530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4399" y="289524"/>
              <a:ext cx="8275320" cy="4530725"/>
            </a:xfrm>
            <a:custGeom>
              <a:avLst/>
              <a:gdLst/>
              <a:ahLst/>
              <a:cxnLst/>
              <a:rect l="l" t="t" r="r" b="b"/>
              <a:pathLst>
                <a:path w="8275320" h="4530725">
                  <a:moveTo>
                    <a:pt x="0" y="755065"/>
                  </a:moveTo>
                  <a:lnTo>
                    <a:pt x="1485" y="707313"/>
                  </a:lnTo>
                  <a:lnTo>
                    <a:pt x="5883" y="660351"/>
                  </a:lnTo>
                  <a:lnTo>
                    <a:pt x="13104" y="614266"/>
                  </a:lnTo>
                  <a:lnTo>
                    <a:pt x="23060" y="569148"/>
                  </a:lnTo>
                  <a:lnTo>
                    <a:pt x="35663" y="525084"/>
                  </a:lnTo>
                  <a:lnTo>
                    <a:pt x="50824" y="482163"/>
                  </a:lnTo>
                  <a:lnTo>
                    <a:pt x="68455" y="440474"/>
                  </a:lnTo>
                  <a:lnTo>
                    <a:pt x="88467" y="400105"/>
                  </a:lnTo>
                  <a:lnTo>
                    <a:pt x="110772" y="361144"/>
                  </a:lnTo>
                  <a:lnTo>
                    <a:pt x="135282" y="323680"/>
                  </a:lnTo>
                  <a:lnTo>
                    <a:pt x="161908" y="287801"/>
                  </a:lnTo>
                  <a:lnTo>
                    <a:pt x="190561" y="253596"/>
                  </a:lnTo>
                  <a:lnTo>
                    <a:pt x="221153" y="221153"/>
                  </a:lnTo>
                  <a:lnTo>
                    <a:pt x="253596" y="190561"/>
                  </a:lnTo>
                  <a:lnTo>
                    <a:pt x="287801" y="161908"/>
                  </a:lnTo>
                  <a:lnTo>
                    <a:pt x="323680" y="135282"/>
                  </a:lnTo>
                  <a:lnTo>
                    <a:pt x="361144" y="110772"/>
                  </a:lnTo>
                  <a:lnTo>
                    <a:pt x="400105" y="88467"/>
                  </a:lnTo>
                  <a:lnTo>
                    <a:pt x="440474" y="68455"/>
                  </a:lnTo>
                  <a:lnTo>
                    <a:pt x="482163" y="50824"/>
                  </a:lnTo>
                  <a:lnTo>
                    <a:pt x="525084" y="35663"/>
                  </a:lnTo>
                  <a:lnTo>
                    <a:pt x="569148" y="23060"/>
                  </a:lnTo>
                  <a:lnTo>
                    <a:pt x="614266" y="13104"/>
                  </a:lnTo>
                  <a:lnTo>
                    <a:pt x="660351" y="5883"/>
                  </a:lnTo>
                  <a:lnTo>
                    <a:pt x="707313" y="1485"/>
                  </a:lnTo>
                  <a:lnTo>
                    <a:pt x="755065" y="0"/>
                  </a:lnTo>
                  <a:lnTo>
                    <a:pt x="7520134" y="0"/>
                  </a:lnTo>
                  <a:lnTo>
                    <a:pt x="7570003" y="1647"/>
                  </a:lnTo>
                  <a:lnTo>
                    <a:pt x="7619383" y="6548"/>
                  </a:lnTo>
                  <a:lnTo>
                    <a:pt x="7668128" y="14642"/>
                  </a:lnTo>
                  <a:lnTo>
                    <a:pt x="7716091" y="25868"/>
                  </a:lnTo>
                  <a:lnTo>
                    <a:pt x="7763126" y="40167"/>
                  </a:lnTo>
                  <a:lnTo>
                    <a:pt x="7809085" y="57475"/>
                  </a:lnTo>
                  <a:lnTo>
                    <a:pt x="7853823" y="77734"/>
                  </a:lnTo>
                  <a:lnTo>
                    <a:pt x="7897192" y="100883"/>
                  </a:lnTo>
                  <a:lnTo>
                    <a:pt x="7939045" y="126859"/>
                  </a:lnTo>
                  <a:lnTo>
                    <a:pt x="7979237" y="155604"/>
                  </a:lnTo>
                  <a:lnTo>
                    <a:pt x="8017619" y="187055"/>
                  </a:lnTo>
                  <a:lnTo>
                    <a:pt x="8054046" y="221153"/>
                  </a:lnTo>
                  <a:lnTo>
                    <a:pt x="8088144" y="257580"/>
                  </a:lnTo>
                  <a:lnTo>
                    <a:pt x="8119595" y="295963"/>
                  </a:lnTo>
                  <a:lnTo>
                    <a:pt x="8148340" y="336154"/>
                  </a:lnTo>
                  <a:lnTo>
                    <a:pt x="8174316" y="378008"/>
                  </a:lnTo>
                  <a:lnTo>
                    <a:pt x="8197465" y="421376"/>
                  </a:lnTo>
                  <a:lnTo>
                    <a:pt x="8217724" y="466114"/>
                  </a:lnTo>
                  <a:lnTo>
                    <a:pt x="8235032" y="512073"/>
                  </a:lnTo>
                  <a:lnTo>
                    <a:pt x="8249331" y="559108"/>
                  </a:lnTo>
                  <a:lnTo>
                    <a:pt x="8260557" y="607071"/>
                  </a:lnTo>
                  <a:lnTo>
                    <a:pt x="8268651" y="655816"/>
                  </a:lnTo>
                  <a:lnTo>
                    <a:pt x="8273552" y="705196"/>
                  </a:lnTo>
                  <a:lnTo>
                    <a:pt x="8275199" y="755065"/>
                  </a:lnTo>
                  <a:lnTo>
                    <a:pt x="8275199" y="3775234"/>
                  </a:lnTo>
                  <a:lnTo>
                    <a:pt x="8273714" y="3822986"/>
                  </a:lnTo>
                  <a:lnTo>
                    <a:pt x="8269316" y="3869948"/>
                  </a:lnTo>
                  <a:lnTo>
                    <a:pt x="8262095" y="3916033"/>
                  </a:lnTo>
                  <a:lnTo>
                    <a:pt x="8252139" y="3961151"/>
                  </a:lnTo>
                  <a:lnTo>
                    <a:pt x="8239536" y="4005215"/>
                  </a:lnTo>
                  <a:lnTo>
                    <a:pt x="8224375" y="4048136"/>
                  </a:lnTo>
                  <a:lnTo>
                    <a:pt x="8206744" y="4089825"/>
                  </a:lnTo>
                  <a:lnTo>
                    <a:pt x="8186732" y="4130194"/>
                  </a:lnTo>
                  <a:lnTo>
                    <a:pt x="8164427" y="4169155"/>
                  </a:lnTo>
                  <a:lnTo>
                    <a:pt x="8139917" y="4206619"/>
                  </a:lnTo>
                  <a:lnTo>
                    <a:pt x="8113291" y="4242498"/>
                  </a:lnTo>
                  <a:lnTo>
                    <a:pt x="8084638" y="4276703"/>
                  </a:lnTo>
                  <a:lnTo>
                    <a:pt x="8054046" y="4309146"/>
                  </a:lnTo>
                  <a:lnTo>
                    <a:pt x="8021603" y="4339738"/>
                  </a:lnTo>
                  <a:lnTo>
                    <a:pt x="7987398" y="4368391"/>
                  </a:lnTo>
                  <a:lnTo>
                    <a:pt x="7951519" y="4395017"/>
                  </a:lnTo>
                  <a:lnTo>
                    <a:pt x="7914055" y="4419527"/>
                  </a:lnTo>
                  <a:lnTo>
                    <a:pt x="7875094" y="4441832"/>
                  </a:lnTo>
                  <a:lnTo>
                    <a:pt x="7834725" y="4461844"/>
                  </a:lnTo>
                  <a:lnTo>
                    <a:pt x="7793036" y="4479475"/>
                  </a:lnTo>
                  <a:lnTo>
                    <a:pt x="7750115" y="4494636"/>
                  </a:lnTo>
                  <a:lnTo>
                    <a:pt x="7706051" y="4507239"/>
                  </a:lnTo>
                  <a:lnTo>
                    <a:pt x="7660933" y="4517195"/>
                  </a:lnTo>
                  <a:lnTo>
                    <a:pt x="7614848" y="4524416"/>
                  </a:lnTo>
                  <a:lnTo>
                    <a:pt x="7567886" y="4528814"/>
                  </a:lnTo>
                  <a:lnTo>
                    <a:pt x="7520134" y="4530299"/>
                  </a:lnTo>
                  <a:lnTo>
                    <a:pt x="755065" y="4530299"/>
                  </a:lnTo>
                  <a:lnTo>
                    <a:pt x="707313" y="4528814"/>
                  </a:lnTo>
                  <a:lnTo>
                    <a:pt x="660351" y="4524416"/>
                  </a:lnTo>
                  <a:lnTo>
                    <a:pt x="614266" y="4517195"/>
                  </a:lnTo>
                  <a:lnTo>
                    <a:pt x="569148" y="4507239"/>
                  </a:lnTo>
                  <a:lnTo>
                    <a:pt x="525084" y="4494636"/>
                  </a:lnTo>
                  <a:lnTo>
                    <a:pt x="482163" y="4479475"/>
                  </a:lnTo>
                  <a:lnTo>
                    <a:pt x="440474" y="4461844"/>
                  </a:lnTo>
                  <a:lnTo>
                    <a:pt x="400105" y="4441832"/>
                  </a:lnTo>
                  <a:lnTo>
                    <a:pt x="361144" y="4419527"/>
                  </a:lnTo>
                  <a:lnTo>
                    <a:pt x="323680" y="4395017"/>
                  </a:lnTo>
                  <a:lnTo>
                    <a:pt x="287801" y="4368391"/>
                  </a:lnTo>
                  <a:lnTo>
                    <a:pt x="253596" y="4339738"/>
                  </a:lnTo>
                  <a:lnTo>
                    <a:pt x="221153" y="4309146"/>
                  </a:lnTo>
                  <a:lnTo>
                    <a:pt x="190561" y="4276703"/>
                  </a:lnTo>
                  <a:lnTo>
                    <a:pt x="161908" y="4242498"/>
                  </a:lnTo>
                  <a:lnTo>
                    <a:pt x="135282" y="4206619"/>
                  </a:lnTo>
                  <a:lnTo>
                    <a:pt x="110772" y="4169155"/>
                  </a:lnTo>
                  <a:lnTo>
                    <a:pt x="88467" y="4130194"/>
                  </a:lnTo>
                  <a:lnTo>
                    <a:pt x="68455" y="4089825"/>
                  </a:lnTo>
                  <a:lnTo>
                    <a:pt x="50824" y="4048136"/>
                  </a:lnTo>
                  <a:lnTo>
                    <a:pt x="35663" y="4005215"/>
                  </a:lnTo>
                  <a:lnTo>
                    <a:pt x="23060" y="3961151"/>
                  </a:lnTo>
                  <a:lnTo>
                    <a:pt x="13104" y="3916033"/>
                  </a:lnTo>
                  <a:lnTo>
                    <a:pt x="5883" y="3869948"/>
                  </a:lnTo>
                  <a:lnTo>
                    <a:pt x="1485" y="3822986"/>
                  </a:lnTo>
                  <a:lnTo>
                    <a:pt x="0" y="3775234"/>
                  </a:lnTo>
                  <a:lnTo>
                    <a:pt x="0" y="7550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44699" y="24683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99" y="24683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44699" y="122087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122087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29044" y="1727857"/>
            <a:ext cx="6326293" cy="2636342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algn="ctr">
              <a:lnSpc>
                <a:spcPct val="100699"/>
              </a:lnSpc>
              <a:spcBef>
                <a:spcPts val="113"/>
              </a:spcBef>
            </a:pPr>
            <a:r>
              <a:rPr sz="2400" b="1" dirty="0">
                <a:latin typeface="Arial"/>
                <a:cs typeface="Arial"/>
              </a:rPr>
              <a:t>Duplicates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between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testing </a:t>
            </a:r>
            <a:r>
              <a:rPr sz="2400" b="1" dirty="0">
                <a:latin typeface="Arial"/>
                <a:cs typeface="Arial"/>
              </a:rPr>
              <a:t>sets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encourage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C0000"/>
                </a:solidFill>
                <a:latin typeface="Arial"/>
                <a:cs typeface="Arial"/>
              </a:rPr>
              <a:t>memorize</a:t>
            </a:r>
            <a:r>
              <a:rPr sz="2400" b="1" spc="-27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b="1" spc="-33" dirty="0">
                <a:latin typeface="Arial"/>
                <a:cs typeface="Arial"/>
              </a:rPr>
              <a:t>the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2400">
              <a:latin typeface="Arial"/>
              <a:cs typeface="Arial"/>
            </a:endParaRPr>
          </a:p>
          <a:p>
            <a:pPr marL="108371" marR="93978" algn="ctr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Deduplication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harm,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sometimes </a:t>
            </a:r>
            <a:r>
              <a:rPr sz="2400" dirty="0">
                <a:latin typeface="Arial"/>
                <a:cs typeface="Arial"/>
              </a:rPr>
              <a:t>improves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perplexity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53250" y="4848083"/>
            <a:ext cx="7285567" cy="1376680"/>
            <a:chOff x="1839937" y="3636062"/>
            <a:chExt cx="5464175" cy="1032510"/>
          </a:xfrm>
        </p:grpSpPr>
        <p:sp>
          <p:nvSpPr>
            <p:cNvPr id="13" name="object 13"/>
            <p:cNvSpPr/>
            <p:nvPr/>
          </p:nvSpPr>
          <p:spPr>
            <a:xfrm>
              <a:off x="1844699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44699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44511" y="5322757"/>
            <a:ext cx="53009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Deduplication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faster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61383" y="680783"/>
            <a:ext cx="6817360" cy="713740"/>
            <a:chOff x="1996037" y="510587"/>
            <a:chExt cx="5113020" cy="535305"/>
          </a:xfrm>
        </p:grpSpPr>
        <p:sp>
          <p:nvSpPr>
            <p:cNvPr id="17" name="object 17"/>
            <p:cNvSpPr/>
            <p:nvPr/>
          </p:nvSpPr>
          <p:spPr>
            <a:xfrm>
              <a:off x="2000799" y="515349"/>
              <a:ext cx="5103495" cy="525780"/>
            </a:xfrm>
            <a:custGeom>
              <a:avLst/>
              <a:gdLst/>
              <a:ahLst/>
              <a:cxnLst/>
              <a:rect l="l" t="t" r="r" b="b"/>
              <a:pathLst>
                <a:path w="5103495" h="525780">
                  <a:moveTo>
                    <a:pt x="5015398" y="525599"/>
                  </a:move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5015398" y="0"/>
                  </a:lnTo>
                  <a:lnTo>
                    <a:pt x="5063999" y="14718"/>
                  </a:lnTo>
                  <a:lnTo>
                    <a:pt x="5096331" y="54078"/>
                  </a:lnTo>
                  <a:lnTo>
                    <a:pt x="5102999" y="87601"/>
                  </a:lnTo>
                  <a:lnTo>
                    <a:pt x="5102999" y="437998"/>
                  </a:lnTo>
                  <a:lnTo>
                    <a:pt x="5096115" y="472096"/>
                  </a:lnTo>
                  <a:lnTo>
                    <a:pt x="5077342" y="499942"/>
                  </a:lnTo>
                  <a:lnTo>
                    <a:pt x="5049497" y="518715"/>
                  </a:lnTo>
                  <a:lnTo>
                    <a:pt x="5015398" y="5255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0799" y="515349"/>
              <a:ext cx="5103495" cy="525780"/>
            </a:xfrm>
            <a:custGeom>
              <a:avLst/>
              <a:gdLst/>
              <a:ahLst/>
              <a:cxnLst/>
              <a:rect l="l" t="t" r="r" b="b"/>
              <a:pathLst>
                <a:path w="5103495" h="525780">
                  <a:moveTo>
                    <a:pt x="0" y="87601"/>
                  </a:move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5015398" y="0"/>
                  </a:lnTo>
                  <a:lnTo>
                    <a:pt x="5063999" y="14718"/>
                  </a:lnTo>
                  <a:lnTo>
                    <a:pt x="5096331" y="54078"/>
                  </a:lnTo>
                  <a:lnTo>
                    <a:pt x="5102999" y="87601"/>
                  </a:lnTo>
                  <a:lnTo>
                    <a:pt x="5102999" y="437998"/>
                  </a:lnTo>
                  <a:lnTo>
                    <a:pt x="5096115" y="472096"/>
                  </a:lnTo>
                  <a:lnTo>
                    <a:pt x="5077342" y="499942"/>
                  </a:lnTo>
                  <a:lnTo>
                    <a:pt x="5049497" y="518715"/>
                  </a:lnTo>
                  <a:lnTo>
                    <a:pt x="5015398" y="525599"/>
                  </a:ln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812800" y="830308"/>
            <a:ext cx="14630400" cy="595752"/>
          </a:xfrm>
          <a:prstGeom prst="rect">
            <a:avLst/>
          </a:prstGeom>
        </p:spPr>
        <p:txBody>
          <a:bodyPr vert="horz" wrap="square" lIns="0" tIns="14301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3322">
              <a:spcBef>
                <a:spcPts val="133"/>
              </a:spcBef>
            </a:pPr>
            <a:r>
              <a:rPr sz="2933" dirty="0"/>
              <a:t>Key</a:t>
            </a:r>
            <a:r>
              <a:rPr sz="2933" spc="-53" dirty="0"/>
              <a:t> </a:t>
            </a:r>
            <a:r>
              <a:rPr sz="2933" dirty="0"/>
              <a:t>takeaways:</a:t>
            </a:r>
            <a:r>
              <a:rPr sz="2933" spc="-53" dirty="0"/>
              <a:t> </a:t>
            </a:r>
            <a:r>
              <a:rPr sz="2933" dirty="0"/>
              <a:t>Deduplicating</a:t>
            </a:r>
            <a:r>
              <a:rPr sz="2933" spc="-53" dirty="0"/>
              <a:t> </a:t>
            </a:r>
            <a:r>
              <a:rPr sz="2933" spc="-13" dirty="0"/>
              <a:t>paper</a:t>
            </a:r>
            <a:endParaRPr sz="2933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6091591-1207-42BE-B454-2A2B5FFCB7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116</a:t>
            </a:fld>
            <a:endParaRPr lang="en-US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850" y="379683"/>
            <a:ext cx="11046460" cy="6053667"/>
            <a:chOff x="429637" y="284762"/>
            <a:chExt cx="8284845" cy="4540250"/>
          </a:xfrm>
        </p:grpSpPr>
        <p:sp>
          <p:nvSpPr>
            <p:cNvPr id="3" name="object 3"/>
            <p:cNvSpPr/>
            <p:nvPr/>
          </p:nvSpPr>
          <p:spPr>
            <a:xfrm>
              <a:off x="434399" y="289524"/>
              <a:ext cx="8275320" cy="4530725"/>
            </a:xfrm>
            <a:custGeom>
              <a:avLst/>
              <a:gdLst/>
              <a:ahLst/>
              <a:cxnLst/>
              <a:rect l="l" t="t" r="r" b="b"/>
              <a:pathLst>
                <a:path w="8275320" h="4530725">
                  <a:moveTo>
                    <a:pt x="7520134" y="4530299"/>
                  </a:moveTo>
                  <a:lnTo>
                    <a:pt x="755065" y="4530299"/>
                  </a:lnTo>
                  <a:lnTo>
                    <a:pt x="707313" y="4528814"/>
                  </a:lnTo>
                  <a:lnTo>
                    <a:pt x="660351" y="4524416"/>
                  </a:lnTo>
                  <a:lnTo>
                    <a:pt x="614266" y="4517195"/>
                  </a:lnTo>
                  <a:lnTo>
                    <a:pt x="569148" y="4507239"/>
                  </a:lnTo>
                  <a:lnTo>
                    <a:pt x="525084" y="4494636"/>
                  </a:lnTo>
                  <a:lnTo>
                    <a:pt x="482163" y="4479475"/>
                  </a:lnTo>
                  <a:lnTo>
                    <a:pt x="440474" y="4461844"/>
                  </a:lnTo>
                  <a:lnTo>
                    <a:pt x="400105" y="4441832"/>
                  </a:lnTo>
                  <a:lnTo>
                    <a:pt x="361144" y="4419527"/>
                  </a:lnTo>
                  <a:lnTo>
                    <a:pt x="323680" y="4395017"/>
                  </a:lnTo>
                  <a:lnTo>
                    <a:pt x="287801" y="4368391"/>
                  </a:lnTo>
                  <a:lnTo>
                    <a:pt x="253596" y="4339738"/>
                  </a:lnTo>
                  <a:lnTo>
                    <a:pt x="221153" y="4309146"/>
                  </a:lnTo>
                  <a:lnTo>
                    <a:pt x="190561" y="4276703"/>
                  </a:lnTo>
                  <a:lnTo>
                    <a:pt x="161908" y="4242498"/>
                  </a:lnTo>
                  <a:lnTo>
                    <a:pt x="135282" y="4206619"/>
                  </a:lnTo>
                  <a:lnTo>
                    <a:pt x="110772" y="4169155"/>
                  </a:lnTo>
                  <a:lnTo>
                    <a:pt x="88467" y="4130194"/>
                  </a:lnTo>
                  <a:lnTo>
                    <a:pt x="68455" y="4089825"/>
                  </a:lnTo>
                  <a:lnTo>
                    <a:pt x="50824" y="4048136"/>
                  </a:lnTo>
                  <a:lnTo>
                    <a:pt x="35663" y="4005215"/>
                  </a:lnTo>
                  <a:lnTo>
                    <a:pt x="23060" y="3961151"/>
                  </a:lnTo>
                  <a:lnTo>
                    <a:pt x="13104" y="3916033"/>
                  </a:lnTo>
                  <a:lnTo>
                    <a:pt x="5883" y="3869948"/>
                  </a:lnTo>
                  <a:lnTo>
                    <a:pt x="1485" y="3822986"/>
                  </a:lnTo>
                  <a:lnTo>
                    <a:pt x="0" y="3775234"/>
                  </a:lnTo>
                  <a:lnTo>
                    <a:pt x="0" y="755065"/>
                  </a:lnTo>
                  <a:lnTo>
                    <a:pt x="1485" y="707313"/>
                  </a:lnTo>
                  <a:lnTo>
                    <a:pt x="5883" y="660351"/>
                  </a:lnTo>
                  <a:lnTo>
                    <a:pt x="13104" y="614266"/>
                  </a:lnTo>
                  <a:lnTo>
                    <a:pt x="23060" y="569148"/>
                  </a:lnTo>
                  <a:lnTo>
                    <a:pt x="35663" y="525084"/>
                  </a:lnTo>
                  <a:lnTo>
                    <a:pt x="50824" y="482163"/>
                  </a:lnTo>
                  <a:lnTo>
                    <a:pt x="68455" y="440474"/>
                  </a:lnTo>
                  <a:lnTo>
                    <a:pt x="88467" y="400105"/>
                  </a:lnTo>
                  <a:lnTo>
                    <a:pt x="110772" y="361144"/>
                  </a:lnTo>
                  <a:lnTo>
                    <a:pt x="135282" y="323680"/>
                  </a:lnTo>
                  <a:lnTo>
                    <a:pt x="161908" y="287801"/>
                  </a:lnTo>
                  <a:lnTo>
                    <a:pt x="190561" y="253596"/>
                  </a:lnTo>
                  <a:lnTo>
                    <a:pt x="221153" y="221153"/>
                  </a:lnTo>
                  <a:lnTo>
                    <a:pt x="253596" y="190561"/>
                  </a:lnTo>
                  <a:lnTo>
                    <a:pt x="287801" y="161908"/>
                  </a:lnTo>
                  <a:lnTo>
                    <a:pt x="323680" y="135282"/>
                  </a:lnTo>
                  <a:lnTo>
                    <a:pt x="361144" y="110772"/>
                  </a:lnTo>
                  <a:lnTo>
                    <a:pt x="400105" y="88467"/>
                  </a:lnTo>
                  <a:lnTo>
                    <a:pt x="440474" y="68455"/>
                  </a:lnTo>
                  <a:lnTo>
                    <a:pt x="482163" y="50824"/>
                  </a:lnTo>
                  <a:lnTo>
                    <a:pt x="525084" y="35663"/>
                  </a:lnTo>
                  <a:lnTo>
                    <a:pt x="569148" y="23060"/>
                  </a:lnTo>
                  <a:lnTo>
                    <a:pt x="614266" y="13104"/>
                  </a:lnTo>
                  <a:lnTo>
                    <a:pt x="660351" y="5883"/>
                  </a:lnTo>
                  <a:lnTo>
                    <a:pt x="707313" y="1485"/>
                  </a:lnTo>
                  <a:lnTo>
                    <a:pt x="755065" y="0"/>
                  </a:lnTo>
                  <a:lnTo>
                    <a:pt x="7520134" y="0"/>
                  </a:lnTo>
                  <a:lnTo>
                    <a:pt x="7570003" y="1647"/>
                  </a:lnTo>
                  <a:lnTo>
                    <a:pt x="7619383" y="6548"/>
                  </a:lnTo>
                  <a:lnTo>
                    <a:pt x="7668128" y="14642"/>
                  </a:lnTo>
                  <a:lnTo>
                    <a:pt x="7716091" y="25868"/>
                  </a:lnTo>
                  <a:lnTo>
                    <a:pt x="7763126" y="40167"/>
                  </a:lnTo>
                  <a:lnTo>
                    <a:pt x="7809085" y="57475"/>
                  </a:lnTo>
                  <a:lnTo>
                    <a:pt x="7853823" y="77734"/>
                  </a:lnTo>
                  <a:lnTo>
                    <a:pt x="7897192" y="100883"/>
                  </a:lnTo>
                  <a:lnTo>
                    <a:pt x="7939045" y="126859"/>
                  </a:lnTo>
                  <a:lnTo>
                    <a:pt x="7979237" y="155604"/>
                  </a:lnTo>
                  <a:lnTo>
                    <a:pt x="8017619" y="187055"/>
                  </a:lnTo>
                  <a:lnTo>
                    <a:pt x="8054046" y="221153"/>
                  </a:lnTo>
                  <a:lnTo>
                    <a:pt x="8088144" y="257580"/>
                  </a:lnTo>
                  <a:lnTo>
                    <a:pt x="8119595" y="295963"/>
                  </a:lnTo>
                  <a:lnTo>
                    <a:pt x="8148340" y="336154"/>
                  </a:lnTo>
                  <a:lnTo>
                    <a:pt x="8174316" y="378008"/>
                  </a:lnTo>
                  <a:lnTo>
                    <a:pt x="8197465" y="421376"/>
                  </a:lnTo>
                  <a:lnTo>
                    <a:pt x="8217724" y="466114"/>
                  </a:lnTo>
                  <a:lnTo>
                    <a:pt x="8235032" y="512073"/>
                  </a:lnTo>
                  <a:lnTo>
                    <a:pt x="8249331" y="559108"/>
                  </a:lnTo>
                  <a:lnTo>
                    <a:pt x="8260557" y="607071"/>
                  </a:lnTo>
                  <a:lnTo>
                    <a:pt x="8268651" y="655816"/>
                  </a:lnTo>
                  <a:lnTo>
                    <a:pt x="8273552" y="705196"/>
                  </a:lnTo>
                  <a:lnTo>
                    <a:pt x="8275199" y="755065"/>
                  </a:lnTo>
                  <a:lnTo>
                    <a:pt x="8275199" y="3775234"/>
                  </a:lnTo>
                  <a:lnTo>
                    <a:pt x="8273714" y="3822986"/>
                  </a:lnTo>
                  <a:lnTo>
                    <a:pt x="8269316" y="3869948"/>
                  </a:lnTo>
                  <a:lnTo>
                    <a:pt x="8262095" y="3916033"/>
                  </a:lnTo>
                  <a:lnTo>
                    <a:pt x="8252139" y="3961151"/>
                  </a:lnTo>
                  <a:lnTo>
                    <a:pt x="8239536" y="4005215"/>
                  </a:lnTo>
                  <a:lnTo>
                    <a:pt x="8224375" y="4048136"/>
                  </a:lnTo>
                  <a:lnTo>
                    <a:pt x="8206744" y="4089825"/>
                  </a:lnTo>
                  <a:lnTo>
                    <a:pt x="8186732" y="4130194"/>
                  </a:lnTo>
                  <a:lnTo>
                    <a:pt x="8164427" y="4169155"/>
                  </a:lnTo>
                  <a:lnTo>
                    <a:pt x="8139917" y="4206619"/>
                  </a:lnTo>
                  <a:lnTo>
                    <a:pt x="8113291" y="4242498"/>
                  </a:lnTo>
                  <a:lnTo>
                    <a:pt x="8084638" y="4276703"/>
                  </a:lnTo>
                  <a:lnTo>
                    <a:pt x="8054046" y="4309146"/>
                  </a:lnTo>
                  <a:lnTo>
                    <a:pt x="8021603" y="4339738"/>
                  </a:lnTo>
                  <a:lnTo>
                    <a:pt x="7987398" y="4368391"/>
                  </a:lnTo>
                  <a:lnTo>
                    <a:pt x="7951519" y="4395017"/>
                  </a:lnTo>
                  <a:lnTo>
                    <a:pt x="7914055" y="4419527"/>
                  </a:lnTo>
                  <a:lnTo>
                    <a:pt x="7875094" y="4441832"/>
                  </a:lnTo>
                  <a:lnTo>
                    <a:pt x="7834725" y="4461844"/>
                  </a:lnTo>
                  <a:lnTo>
                    <a:pt x="7793036" y="4479475"/>
                  </a:lnTo>
                  <a:lnTo>
                    <a:pt x="7750115" y="4494636"/>
                  </a:lnTo>
                  <a:lnTo>
                    <a:pt x="7706051" y="4507239"/>
                  </a:lnTo>
                  <a:lnTo>
                    <a:pt x="7660933" y="4517195"/>
                  </a:lnTo>
                  <a:lnTo>
                    <a:pt x="7614848" y="4524416"/>
                  </a:lnTo>
                  <a:lnTo>
                    <a:pt x="7567886" y="4528814"/>
                  </a:lnTo>
                  <a:lnTo>
                    <a:pt x="7520134" y="4530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4399" y="289524"/>
              <a:ext cx="8275320" cy="4530725"/>
            </a:xfrm>
            <a:custGeom>
              <a:avLst/>
              <a:gdLst/>
              <a:ahLst/>
              <a:cxnLst/>
              <a:rect l="l" t="t" r="r" b="b"/>
              <a:pathLst>
                <a:path w="8275320" h="4530725">
                  <a:moveTo>
                    <a:pt x="0" y="755065"/>
                  </a:moveTo>
                  <a:lnTo>
                    <a:pt x="1485" y="707313"/>
                  </a:lnTo>
                  <a:lnTo>
                    <a:pt x="5883" y="660351"/>
                  </a:lnTo>
                  <a:lnTo>
                    <a:pt x="13104" y="614266"/>
                  </a:lnTo>
                  <a:lnTo>
                    <a:pt x="23060" y="569148"/>
                  </a:lnTo>
                  <a:lnTo>
                    <a:pt x="35663" y="525084"/>
                  </a:lnTo>
                  <a:lnTo>
                    <a:pt x="50824" y="482163"/>
                  </a:lnTo>
                  <a:lnTo>
                    <a:pt x="68455" y="440474"/>
                  </a:lnTo>
                  <a:lnTo>
                    <a:pt x="88467" y="400105"/>
                  </a:lnTo>
                  <a:lnTo>
                    <a:pt x="110772" y="361144"/>
                  </a:lnTo>
                  <a:lnTo>
                    <a:pt x="135282" y="323680"/>
                  </a:lnTo>
                  <a:lnTo>
                    <a:pt x="161908" y="287801"/>
                  </a:lnTo>
                  <a:lnTo>
                    <a:pt x="190561" y="253596"/>
                  </a:lnTo>
                  <a:lnTo>
                    <a:pt x="221153" y="221153"/>
                  </a:lnTo>
                  <a:lnTo>
                    <a:pt x="253596" y="190561"/>
                  </a:lnTo>
                  <a:lnTo>
                    <a:pt x="287801" y="161908"/>
                  </a:lnTo>
                  <a:lnTo>
                    <a:pt x="323680" y="135282"/>
                  </a:lnTo>
                  <a:lnTo>
                    <a:pt x="361144" y="110772"/>
                  </a:lnTo>
                  <a:lnTo>
                    <a:pt x="400105" y="88467"/>
                  </a:lnTo>
                  <a:lnTo>
                    <a:pt x="440474" y="68455"/>
                  </a:lnTo>
                  <a:lnTo>
                    <a:pt x="482163" y="50824"/>
                  </a:lnTo>
                  <a:lnTo>
                    <a:pt x="525084" y="35663"/>
                  </a:lnTo>
                  <a:lnTo>
                    <a:pt x="569148" y="23060"/>
                  </a:lnTo>
                  <a:lnTo>
                    <a:pt x="614266" y="13104"/>
                  </a:lnTo>
                  <a:lnTo>
                    <a:pt x="660351" y="5883"/>
                  </a:lnTo>
                  <a:lnTo>
                    <a:pt x="707313" y="1485"/>
                  </a:lnTo>
                  <a:lnTo>
                    <a:pt x="755065" y="0"/>
                  </a:lnTo>
                  <a:lnTo>
                    <a:pt x="7520134" y="0"/>
                  </a:lnTo>
                  <a:lnTo>
                    <a:pt x="7570003" y="1647"/>
                  </a:lnTo>
                  <a:lnTo>
                    <a:pt x="7619383" y="6548"/>
                  </a:lnTo>
                  <a:lnTo>
                    <a:pt x="7668128" y="14642"/>
                  </a:lnTo>
                  <a:lnTo>
                    <a:pt x="7716091" y="25868"/>
                  </a:lnTo>
                  <a:lnTo>
                    <a:pt x="7763126" y="40167"/>
                  </a:lnTo>
                  <a:lnTo>
                    <a:pt x="7809085" y="57475"/>
                  </a:lnTo>
                  <a:lnTo>
                    <a:pt x="7853823" y="77734"/>
                  </a:lnTo>
                  <a:lnTo>
                    <a:pt x="7897192" y="100883"/>
                  </a:lnTo>
                  <a:lnTo>
                    <a:pt x="7939045" y="126859"/>
                  </a:lnTo>
                  <a:lnTo>
                    <a:pt x="7979237" y="155604"/>
                  </a:lnTo>
                  <a:lnTo>
                    <a:pt x="8017619" y="187055"/>
                  </a:lnTo>
                  <a:lnTo>
                    <a:pt x="8054046" y="221153"/>
                  </a:lnTo>
                  <a:lnTo>
                    <a:pt x="8088144" y="257580"/>
                  </a:lnTo>
                  <a:lnTo>
                    <a:pt x="8119595" y="295963"/>
                  </a:lnTo>
                  <a:lnTo>
                    <a:pt x="8148340" y="336154"/>
                  </a:lnTo>
                  <a:lnTo>
                    <a:pt x="8174316" y="378008"/>
                  </a:lnTo>
                  <a:lnTo>
                    <a:pt x="8197465" y="421376"/>
                  </a:lnTo>
                  <a:lnTo>
                    <a:pt x="8217724" y="466114"/>
                  </a:lnTo>
                  <a:lnTo>
                    <a:pt x="8235032" y="512073"/>
                  </a:lnTo>
                  <a:lnTo>
                    <a:pt x="8249331" y="559108"/>
                  </a:lnTo>
                  <a:lnTo>
                    <a:pt x="8260557" y="607071"/>
                  </a:lnTo>
                  <a:lnTo>
                    <a:pt x="8268651" y="655816"/>
                  </a:lnTo>
                  <a:lnTo>
                    <a:pt x="8273552" y="705196"/>
                  </a:lnTo>
                  <a:lnTo>
                    <a:pt x="8275199" y="755065"/>
                  </a:lnTo>
                  <a:lnTo>
                    <a:pt x="8275199" y="3775234"/>
                  </a:lnTo>
                  <a:lnTo>
                    <a:pt x="8273714" y="3822986"/>
                  </a:lnTo>
                  <a:lnTo>
                    <a:pt x="8269316" y="3869948"/>
                  </a:lnTo>
                  <a:lnTo>
                    <a:pt x="8262095" y="3916033"/>
                  </a:lnTo>
                  <a:lnTo>
                    <a:pt x="8252139" y="3961151"/>
                  </a:lnTo>
                  <a:lnTo>
                    <a:pt x="8239536" y="4005215"/>
                  </a:lnTo>
                  <a:lnTo>
                    <a:pt x="8224375" y="4048136"/>
                  </a:lnTo>
                  <a:lnTo>
                    <a:pt x="8206744" y="4089825"/>
                  </a:lnTo>
                  <a:lnTo>
                    <a:pt x="8186732" y="4130194"/>
                  </a:lnTo>
                  <a:lnTo>
                    <a:pt x="8164427" y="4169155"/>
                  </a:lnTo>
                  <a:lnTo>
                    <a:pt x="8139917" y="4206619"/>
                  </a:lnTo>
                  <a:lnTo>
                    <a:pt x="8113291" y="4242498"/>
                  </a:lnTo>
                  <a:lnTo>
                    <a:pt x="8084638" y="4276703"/>
                  </a:lnTo>
                  <a:lnTo>
                    <a:pt x="8054046" y="4309146"/>
                  </a:lnTo>
                  <a:lnTo>
                    <a:pt x="8021603" y="4339738"/>
                  </a:lnTo>
                  <a:lnTo>
                    <a:pt x="7987398" y="4368391"/>
                  </a:lnTo>
                  <a:lnTo>
                    <a:pt x="7951519" y="4395017"/>
                  </a:lnTo>
                  <a:lnTo>
                    <a:pt x="7914055" y="4419527"/>
                  </a:lnTo>
                  <a:lnTo>
                    <a:pt x="7875094" y="4441832"/>
                  </a:lnTo>
                  <a:lnTo>
                    <a:pt x="7834725" y="4461844"/>
                  </a:lnTo>
                  <a:lnTo>
                    <a:pt x="7793036" y="4479475"/>
                  </a:lnTo>
                  <a:lnTo>
                    <a:pt x="7750115" y="4494636"/>
                  </a:lnTo>
                  <a:lnTo>
                    <a:pt x="7706051" y="4507239"/>
                  </a:lnTo>
                  <a:lnTo>
                    <a:pt x="7660933" y="4517195"/>
                  </a:lnTo>
                  <a:lnTo>
                    <a:pt x="7614848" y="4524416"/>
                  </a:lnTo>
                  <a:lnTo>
                    <a:pt x="7567886" y="4528814"/>
                  </a:lnTo>
                  <a:lnTo>
                    <a:pt x="7520134" y="4530299"/>
                  </a:lnTo>
                  <a:lnTo>
                    <a:pt x="755065" y="4530299"/>
                  </a:lnTo>
                  <a:lnTo>
                    <a:pt x="707313" y="4528814"/>
                  </a:lnTo>
                  <a:lnTo>
                    <a:pt x="660351" y="4524416"/>
                  </a:lnTo>
                  <a:lnTo>
                    <a:pt x="614266" y="4517195"/>
                  </a:lnTo>
                  <a:lnTo>
                    <a:pt x="569148" y="4507239"/>
                  </a:lnTo>
                  <a:lnTo>
                    <a:pt x="525084" y="4494636"/>
                  </a:lnTo>
                  <a:lnTo>
                    <a:pt x="482163" y="4479475"/>
                  </a:lnTo>
                  <a:lnTo>
                    <a:pt x="440474" y="4461844"/>
                  </a:lnTo>
                  <a:lnTo>
                    <a:pt x="400105" y="4441832"/>
                  </a:lnTo>
                  <a:lnTo>
                    <a:pt x="361144" y="4419527"/>
                  </a:lnTo>
                  <a:lnTo>
                    <a:pt x="323680" y="4395017"/>
                  </a:lnTo>
                  <a:lnTo>
                    <a:pt x="287801" y="4368391"/>
                  </a:lnTo>
                  <a:lnTo>
                    <a:pt x="253596" y="4339738"/>
                  </a:lnTo>
                  <a:lnTo>
                    <a:pt x="221153" y="4309146"/>
                  </a:lnTo>
                  <a:lnTo>
                    <a:pt x="190561" y="4276703"/>
                  </a:lnTo>
                  <a:lnTo>
                    <a:pt x="161908" y="4242498"/>
                  </a:lnTo>
                  <a:lnTo>
                    <a:pt x="135282" y="4206619"/>
                  </a:lnTo>
                  <a:lnTo>
                    <a:pt x="110772" y="4169155"/>
                  </a:lnTo>
                  <a:lnTo>
                    <a:pt x="88467" y="4130194"/>
                  </a:lnTo>
                  <a:lnTo>
                    <a:pt x="68455" y="4089825"/>
                  </a:lnTo>
                  <a:lnTo>
                    <a:pt x="50824" y="4048136"/>
                  </a:lnTo>
                  <a:lnTo>
                    <a:pt x="35663" y="4005215"/>
                  </a:lnTo>
                  <a:lnTo>
                    <a:pt x="23060" y="3961151"/>
                  </a:lnTo>
                  <a:lnTo>
                    <a:pt x="13104" y="3916033"/>
                  </a:lnTo>
                  <a:lnTo>
                    <a:pt x="5883" y="3869948"/>
                  </a:lnTo>
                  <a:lnTo>
                    <a:pt x="1485" y="3822986"/>
                  </a:lnTo>
                  <a:lnTo>
                    <a:pt x="0" y="3775234"/>
                  </a:lnTo>
                  <a:lnTo>
                    <a:pt x="0" y="7550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4699" y="24683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4699" y="24683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84979" y="3575341"/>
            <a:ext cx="6615007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379186" marR="6773" indent="-1363099">
              <a:lnSpc>
                <a:spcPct val="100699"/>
              </a:lnSpc>
              <a:spcBef>
                <a:spcPts val="113"/>
              </a:spcBef>
            </a:pPr>
            <a:r>
              <a:rPr sz="2400" b="1" dirty="0">
                <a:latin typeface="Arial"/>
                <a:cs typeface="Arial"/>
              </a:rPr>
              <a:t>Deduplication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does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harm,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sometimes </a:t>
            </a:r>
            <a:r>
              <a:rPr sz="2400" b="1" dirty="0">
                <a:latin typeface="Arial"/>
                <a:cs typeface="Arial"/>
              </a:rPr>
              <a:t>improves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perplexity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53250" y="1621483"/>
            <a:ext cx="7285567" cy="1376680"/>
            <a:chOff x="1839937" y="1216112"/>
            <a:chExt cx="5464175" cy="1032510"/>
          </a:xfrm>
        </p:grpSpPr>
        <p:sp>
          <p:nvSpPr>
            <p:cNvPr id="9" name="object 9"/>
            <p:cNvSpPr/>
            <p:nvPr/>
          </p:nvSpPr>
          <p:spPr>
            <a:xfrm>
              <a:off x="1844699" y="12208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699" y="12208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31091" y="1912009"/>
            <a:ext cx="6929120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211661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Duplicates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testing</a:t>
            </a:r>
            <a:r>
              <a:rPr sz="2400" spc="-27" dirty="0">
                <a:latin typeface="Arial"/>
                <a:cs typeface="Arial"/>
              </a:rPr>
              <a:t> sets </a:t>
            </a:r>
            <a:r>
              <a:rPr sz="2400" dirty="0">
                <a:latin typeface="Arial"/>
                <a:cs typeface="Arial"/>
              </a:rPr>
              <a:t>encourage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memorize</a:t>
            </a:r>
            <a:r>
              <a:rPr sz="2400" spc="-3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53250" y="4848083"/>
            <a:ext cx="7285567" cy="1376680"/>
            <a:chOff x="1839937" y="3636062"/>
            <a:chExt cx="5464175" cy="1032510"/>
          </a:xfrm>
        </p:grpSpPr>
        <p:sp>
          <p:nvSpPr>
            <p:cNvPr id="13" name="object 13"/>
            <p:cNvSpPr/>
            <p:nvPr/>
          </p:nvSpPr>
          <p:spPr>
            <a:xfrm>
              <a:off x="1844699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44699" y="364082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44511" y="5322757"/>
            <a:ext cx="53009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Arial"/>
                <a:cs typeface="Arial"/>
              </a:rPr>
              <a:t>Deduplication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faster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61383" y="680783"/>
            <a:ext cx="6817360" cy="713740"/>
            <a:chOff x="1996037" y="510587"/>
            <a:chExt cx="5113020" cy="535305"/>
          </a:xfrm>
        </p:grpSpPr>
        <p:sp>
          <p:nvSpPr>
            <p:cNvPr id="17" name="object 17"/>
            <p:cNvSpPr/>
            <p:nvPr/>
          </p:nvSpPr>
          <p:spPr>
            <a:xfrm>
              <a:off x="2000799" y="515349"/>
              <a:ext cx="5103495" cy="525780"/>
            </a:xfrm>
            <a:custGeom>
              <a:avLst/>
              <a:gdLst/>
              <a:ahLst/>
              <a:cxnLst/>
              <a:rect l="l" t="t" r="r" b="b"/>
              <a:pathLst>
                <a:path w="5103495" h="525780">
                  <a:moveTo>
                    <a:pt x="5015398" y="525599"/>
                  </a:move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5015398" y="0"/>
                  </a:lnTo>
                  <a:lnTo>
                    <a:pt x="5063999" y="14718"/>
                  </a:lnTo>
                  <a:lnTo>
                    <a:pt x="5096331" y="54078"/>
                  </a:lnTo>
                  <a:lnTo>
                    <a:pt x="5102999" y="87601"/>
                  </a:lnTo>
                  <a:lnTo>
                    <a:pt x="5102999" y="437998"/>
                  </a:lnTo>
                  <a:lnTo>
                    <a:pt x="5096115" y="472096"/>
                  </a:lnTo>
                  <a:lnTo>
                    <a:pt x="5077342" y="499942"/>
                  </a:lnTo>
                  <a:lnTo>
                    <a:pt x="5049497" y="518715"/>
                  </a:lnTo>
                  <a:lnTo>
                    <a:pt x="5015398" y="5255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00799" y="515349"/>
              <a:ext cx="5103495" cy="525780"/>
            </a:xfrm>
            <a:custGeom>
              <a:avLst/>
              <a:gdLst/>
              <a:ahLst/>
              <a:cxnLst/>
              <a:rect l="l" t="t" r="r" b="b"/>
              <a:pathLst>
                <a:path w="5103495" h="525780">
                  <a:moveTo>
                    <a:pt x="0" y="87601"/>
                  </a:move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5015398" y="0"/>
                  </a:lnTo>
                  <a:lnTo>
                    <a:pt x="5063999" y="14718"/>
                  </a:lnTo>
                  <a:lnTo>
                    <a:pt x="5096331" y="54078"/>
                  </a:lnTo>
                  <a:lnTo>
                    <a:pt x="5102999" y="87601"/>
                  </a:lnTo>
                  <a:lnTo>
                    <a:pt x="5102999" y="437998"/>
                  </a:lnTo>
                  <a:lnTo>
                    <a:pt x="5096115" y="472096"/>
                  </a:lnTo>
                  <a:lnTo>
                    <a:pt x="5077342" y="499942"/>
                  </a:lnTo>
                  <a:lnTo>
                    <a:pt x="5049497" y="518715"/>
                  </a:lnTo>
                  <a:lnTo>
                    <a:pt x="5015398" y="525599"/>
                  </a:ln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812800" y="830308"/>
            <a:ext cx="14630400" cy="595752"/>
          </a:xfrm>
          <a:prstGeom prst="rect">
            <a:avLst/>
          </a:prstGeom>
        </p:spPr>
        <p:txBody>
          <a:bodyPr vert="horz" wrap="square" lIns="0" tIns="14301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3322">
              <a:spcBef>
                <a:spcPts val="133"/>
              </a:spcBef>
            </a:pPr>
            <a:r>
              <a:rPr sz="2933" dirty="0"/>
              <a:t>Key</a:t>
            </a:r>
            <a:r>
              <a:rPr sz="2933" spc="-53" dirty="0"/>
              <a:t> </a:t>
            </a:r>
            <a:r>
              <a:rPr sz="2933" dirty="0"/>
              <a:t>takeaways:</a:t>
            </a:r>
            <a:r>
              <a:rPr sz="2933" spc="-53" dirty="0"/>
              <a:t> </a:t>
            </a:r>
            <a:r>
              <a:rPr sz="2933" dirty="0"/>
              <a:t>Deduplicating</a:t>
            </a:r>
            <a:r>
              <a:rPr sz="2933" spc="-53" dirty="0"/>
              <a:t> </a:t>
            </a:r>
            <a:r>
              <a:rPr sz="2933" spc="-13" dirty="0"/>
              <a:t>paper</a:t>
            </a:r>
            <a:endParaRPr sz="2933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9D149B1-207A-4DB2-9135-E1D656E6FD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117</a:t>
            </a:fld>
            <a:endParaRPr lang="en-US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2850" y="379683"/>
            <a:ext cx="11046460" cy="6053667"/>
            <a:chOff x="429637" y="284762"/>
            <a:chExt cx="8284845" cy="4540250"/>
          </a:xfrm>
        </p:grpSpPr>
        <p:sp>
          <p:nvSpPr>
            <p:cNvPr id="3" name="object 3"/>
            <p:cNvSpPr/>
            <p:nvPr/>
          </p:nvSpPr>
          <p:spPr>
            <a:xfrm>
              <a:off x="434399" y="289524"/>
              <a:ext cx="8275320" cy="4530725"/>
            </a:xfrm>
            <a:custGeom>
              <a:avLst/>
              <a:gdLst/>
              <a:ahLst/>
              <a:cxnLst/>
              <a:rect l="l" t="t" r="r" b="b"/>
              <a:pathLst>
                <a:path w="8275320" h="4530725">
                  <a:moveTo>
                    <a:pt x="7520134" y="4530299"/>
                  </a:moveTo>
                  <a:lnTo>
                    <a:pt x="755065" y="4530299"/>
                  </a:lnTo>
                  <a:lnTo>
                    <a:pt x="707313" y="4528814"/>
                  </a:lnTo>
                  <a:lnTo>
                    <a:pt x="660351" y="4524416"/>
                  </a:lnTo>
                  <a:lnTo>
                    <a:pt x="614266" y="4517195"/>
                  </a:lnTo>
                  <a:lnTo>
                    <a:pt x="569148" y="4507239"/>
                  </a:lnTo>
                  <a:lnTo>
                    <a:pt x="525084" y="4494636"/>
                  </a:lnTo>
                  <a:lnTo>
                    <a:pt x="482163" y="4479475"/>
                  </a:lnTo>
                  <a:lnTo>
                    <a:pt x="440474" y="4461844"/>
                  </a:lnTo>
                  <a:lnTo>
                    <a:pt x="400105" y="4441832"/>
                  </a:lnTo>
                  <a:lnTo>
                    <a:pt x="361144" y="4419527"/>
                  </a:lnTo>
                  <a:lnTo>
                    <a:pt x="323680" y="4395017"/>
                  </a:lnTo>
                  <a:lnTo>
                    <a:pt x="287801" y="4368391"/>
                  </a:lnTo>
                  <a:lnTo>
                    <a:pt x="253596" y="4339738"/>
                  </a:lnTo>
                  <a:lnTo>
                    <a:pt x="221153" y="4309146"/>
                  </a:lnTo>
                  <a:lnTo>
                    <a:pt x="190561" y="4276703"/>
                  </a:lnTo>
                  <a:lnTo>
                    <a:pt x="161908" y="4242498"/>
                  </a:lnTo>
                  <a:lnTo>
                    <a:pt x="135282" y="4206619"/>
                  </a:lnTo>
                  <a:lnTo>
                    <a:pt x="110772" y="4169155"/>
                  </a:lnTo>
                  <a:lnTo>
                    <a:pt x="88467" y="4130194"/>
                  </a:lnTo>
                  <a:lnTo>
                    <a:pt x="68455" y="4089825"/>
                  </a:lnTo>
                  <a:lnTo>
                    <a:pt x="50824" y="4048136"/>
                  </a:lnTo>
                  <a:lnTo>
                    <a:pt x="35663" y="4005215"/>
                  </a:lnTo>
                  <a:lnTo>
                    <a:pt x="23060" y="3961151"/>
                  </a:lnTo>
                  <a:lnTo>
                    <a:pt x="13104" y="3916033"/>
                  </a:lnTo>
                  <a:lnTo>
                    <a:pt x="5883" y="3869948"/>
                  </a:lnTo>
                  <a:lnTo>
                    <a:pt x="1485" y="3822986"/>
                  </a:lnTo>
                  <a:lnTo>
                    <a:pt x="0" y="3775234"/>
                  </a:lnTo>
                  <a:lnTo>
                    <a:pt x="0" y="755065"/>
                  </a:lnTo>
                  <a:lnTo>
                    <a:pt x="1485" y="707313"/>
                  </a:lnTo>
                  <a:lnTo>
                    <a:pt x="5883" y="660351"/>
                  </a:lnTo>
                  <a:lnTo>
                    <a:pt x="13104" y="614266"/>
                  </a:lnTo>
                  <a:lnTo>
                    <a:pt x="23060" y="569148"/>
                  </a:lnTo>
                  <a:lnTo>
                    <a:pt x="35663" y="525084"/>
                  </a:lnTo>
                  <a:lnTo>
                    <a:pt x="50824" y="482163"/>
                  </a:lnTo>
                  <a:lnTo>
                    <a:pt x="68455" y="440474"/>
                  </a:lnTo>
                  <a:lnTo>
                    <a:pt x="88467" y="400105"/>
                  </a:lnTo>
                  <a:lnTo>
                    <a:pt x="110772" y="361144"/>
                  </a:lnTo>
                  <a:lnTo>
                    <a:pt x="135282" y="323680"/>
                  </a:lnTo>
                  <a:lnTo>
                    <a:pt x="161908" y="287801"/>
                  </a:lnTo>
                  <a:lnTo>
                    <a:pt x="190561" y="253596"/>
                  </a:lnTo>
                  <a:lnTo>
                    <a:pt x="221153" y="221153"/>
                  </a:lnTo>
                  <a:lnTo>
                    <a:pt x="253596" y="190561"/>
                  </a:lnTo>
                  <a:lnTo>
                    <a:pt x="287801" y="161908"/>
                  </a:lnTo>
                  <a:lnTo>
                    <a:pt x="323680" y="135282"/>
                  </a:lnTo>
                  <a:lnTo>
                    <a:pt x="361144" y="110772"/>
                  </a:lnTo>
                  <a:lnTo>
                    <a:pt x="400105" y="88467"/>
                  </a:lnTo>
                  <a:lnTo>
                    <a:pt x="440474" y="68455"/>
                  </a:lnTo>
                  <a:lnTo>
                    <a:pt x="482163" y="50824"/>
                  </a:lnTo>
                  <a:lnTo>
                    <a:pt x="525084" y="35663"/>
                  </a:lnTo>
                  <a:lnTo>
                    <a:pt x="569148" y="23060"/>
                  </a:lnTo>
                  <a:lnTo>
                    <a:pt x="614266" y="13104"/>
                  </a:lnTo>
                  <a:lnTo>
                    <a:pt x="660351" y="5883"/>
                  </a:lnTo>
                  <a:lnTo>
                    <a:pt x="707313" y="1485"/>
                  </a:lnTo>
                  <a:lnTo>
                    <a:pt x="755065" y="0"/>
                  </a:lnTo>
                  <a:lnTo>
                    <a:pt x="7520134" y="0"/>
                  </a:lnTo>
                  <a:lnTo>
                    <a:pt x="7570003" y="1647"/>
                  </a:lnTo>
                  <a:lnTo>
                    <a:pt x="7619383" y="6548"/>
                  </a:lnTo>
                  <a:lnTo>
                    <a:pt x="7668128" y="14642"/>
                  </a:lnTo>
                  <a:lnTo>
                    <a:pt x="7716091" y="25868"/>
                  </a:lnTo>
                  <a:lnTo>
                    <a:pt x="7763126" y="40167"/>
                  </a:lnTo>
                  <a:lnTo>
                    <a:pt x="7809085" y="57475"/>
                  </a:lnTo>
                  <a:lnTo>
                    <a:pt x="7853823" y="77734"/>
                  </a:lnTo>
                  <a:lnTo>
                    <a:pt x="7897192" y="100883"/>
                  </a:lnTo>
                  <a:lnTo>
                    <a:pt x="7939045" y="126859"/>
                  </a:lnTo>
                  <a:lnTo>
                    <a:pt x="7979237" y="155604"/>
                  </a:lnTo>
                  <a:lnTo>
                    <a:pt x="8017619" y="187055"/>
                  </a:lnTo>
                  <a:lnTo>
                    <a:pt x="8054046" y="221153"/>
                  </a:lnTo>
                  <a:lnTo>
                    <a:pt x="8088144" y="257580"/>
                  </a:lnTo>
                  <a:lnTo>
                    <a:pt x="8119595" y="295963"/>
                  </a:lnTo>
                  <a:lnTo>
                    <a:pt x="8148340" y="336154"/>
                  </a:lnTo>
                  <a:lnTo>
                    <a:pt x="8174316" y="378008"/>
                  </a:lnTo>
                  <a:lnTo>
                    <a:pt x="8197465" y="421376"/>
                  </a:lnTo>
                  <a:lnTo>
                    <a:pt x="8217724" y="466114"/>
                  </a:lnTo>
                  <a:lnTo>
                    <a:pt x="8235032" y="512073"/>
                  </a:lnTo>
                  <a:lnTo>
                    <a:pt x="8249331" y="559108"/>
                  </a:lnTo>
                  <a:lnTo>
                    <a:pt x="8260557" y="607071"/>
                  </a:lnTo>
                  <a:lnTo>
                    <a:pt x="8268651" y="655816"/>
                  </a:lnTo>
                  <a:lnTo>
                    <a:pt x="8273552" y="705196"/>
                  </a:lnTo>
                  <a:lnTo>
                    <a:pt x="8275199" y="755065"/>
                  </a:lnTo>
                  <a:lnTo>
                    <a:pt x="8275199" y="3775234"/>
                  </a:lnTo>
                  <a:lnTo>
                    <a:pt x="8273714" y="3822986"/>
                  </a:lnTo>
                  <a:lnTo>
                    <a:pt x="8269316" y="3869948"/>
                  </a:lnTo>
                  <a:lnTo>
                    <a:pt x="8262095" y="3916033"/>
                  </a:lnTo>
                  <a:lnTo>
                    <a:pt x="8252139" y="3961151"/>
                  </a:lnTo>
                  <a:lnTo>
                    <a:pt x="8239536" y="4005215"/>
                  </a:lnTo>
                  <a:lnTo>
                    <a:pt x="8224375" y="4048136"/>
                  </a:lnTo>
                  <a:lnTo>
                    <a:pt x="8206744" y="4089825"/>
                  </a:lnTo>
                  <a:lnTo>
                    <a:pt x="8186732" y="4130194"/>
                  </a:lnTo>
                  <a:lnTo>
                    <a:pt x="8164427" y="4169155"/>
                  </a:lnTo>
                  <a:lnTo>
                    <a:pt x="8139917" y="4206619"/>
                  </a:lnTo>
                  <a:lnTo>
                    <a:pt x="8113291" y="4242498"/>
                  </a:lnTo>
                  <a:lnTo>
                    <a:pt x="8084638" y="4276703"/>
                  </a:lnTo>
                  <a:lnTo>
                    <a:pt x="8054046" y="4309146"/>
                  </a:lnTo>
                  <a:lnTo>
                    <a:pt x="8021603" y="4339738"/>
                  </a:lnTo>
                  <a:lnTo>
                    <a:pt x="7987398" y="4368391"/>
                  </a:lnTo>
                  <a:lnTo>
                    <a:pt x="7951519" y="4395017"/>
                  </a:lnTo>
                  <a:lnTo>
                    <a:pt x="7914055" y="4419527"/>
                  </a:lnTo>
                  <a:lnTo>
                    <a:pt x="7875094" y="4441832"/>
                  </a:lnTo>
                  <a:lnTo>
                    <a:pt x="7834725" y="4461844"/>
                  </a:lnTo>
                  <a:lnTo>
                    <a:pt x="7793036" y="4479475"/>
                  </a:lnTo>
                  <a:lnTo>
                    <a:pt x="7750115" y="4494636"/>
                  </a:lnTo>
                  <a:lnTo>
                    <a:pt x="7706051" y="4507239"/>
                  </a:lnTo>
                  <a:lnTo>
                    <a:pt x="7660933" y="4517195"/>
                  </a:lnTo>
                  <a:lnTo>
                    <a:pt x="7614848" y="4524416"/>
                  </a:lnTo>
                  <a:lnTo>
                    <a:pt x="7567886" y="4528814"/>
                  </a:lnTo>
                  <a:lnTo>
                    <a:pt x="7520134" y="4530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4399" y="289524"/>
              <a:ext cx="8275320" cy="4530725"/>
            </a:xfrm>
            <a:custGeom>
              <a:avLst/>
              <a:gdLst/>
              <a:ahLst/>
              <a:cxnLst/>
              <a:rect l="l" t="t" r="r" b="b"/>
              <a:pathLst>
                <a:path w="8275320" h="4530725">
                  <a:moveTo>
                    <a:pt x="0" y="755065"/>
                  </a:moveTo>
                  <a:lnTo>
                    <a:pt x="1485" y="707313"/>
                  </a:lnTo>
                  <a:lnTo>
                    <a:pt x="5883" y="660351"/>
                  </a:lnTo>
                  <a:lnTo>
                    <a:pt x="13104" y="614266"/>
                  </a:lnTo>
                  <a:lnTo>
                    <a:pt x="23060" y="569148"/>
                  </a:lnTo>
                  <a:lnTo>
                    <a:pt x="35663" y="525084"/>
                  </a:lnTo>
                  <a:lnTo>
                    <a:pt x="50824" y="482163"/>
                  </a:lnTo>
                  <a:lnTo>
                    <a:pt x="68455" y="440474"/>
                  </a:lnTo>
                  <a:lnTo>
                    <a:pt x="88467" y="400105"/>
                  </a:lnTo>
                  <a:lnTo>
                    <a:pt x="110772" y="361144"/>
                  </a:lnTo>
                  <a:lnTo>
                    <a:pt x="135282" y="323680"/>
                  </a:lnTo>
                  <a:lnTo>
                    <a:pt x="161908" y="287801"/>
                  </a:lnTo>
                  <a:lnTo>
                    <a:pt x="190561" y="253596"/>
                  </a:lnTo>
                  <a:lnTo>
                    <a:pt x="221153" y="221153"/>
                  </a:lnTo>
                  <a:lnTo>
                    <a:pt x="253596" y="190561"/>
                  </a:lnTo>
                  <a:lnTo>
                    <a:pt x="287801" y="161908"/>
                  </a:lnTo>
                  <a:lnTo>
                    <a:pt x="323680" y="135282"/>
                  </a:lnTo>
                  <a:lnTo>
                    <a:pt x="361144" y="110772"/>
                  </a:lnTo>
                  <a:lnTo>
                    <a:pt x="400105" y="88467"/>
                  </a:lnTo>
                  <a:lnTo>
                    <a:pt x="440474" y="68455"/>
                  </a:lnTo>
                  <a:lnTo>
                    <a:pt x="482163" y="50824"/>
                  </a:lnTo>
                  <a:lnTo>
                    <a:pt x="525084" y="35663"/>
                  </a:lnTo>
                  <a:lnTo>
                    <a:pt x="569148" y="23060"/>
                  </a:lnTo>
                  <a:lnTo>
                    <a:pt x="614266" y="13104"/>
                  </a:lnTo>
                  <a:lnTo>
                    <a:pt x="660351" y="5883"/>
                  </a:lnTo>
                  <a:lnTo>
                    <a:pt x="707313" y="1485"/>
                  </a:lnTo>
                  <a:lnTo>
                    <a:pt x="755065" y="0"/>
                  </a:lnTo>
                  <a:lnTo>
                    <a:pt x="7520134" y="0"/>
                  </a:lnTo>
                  <a:lnTo>
                    <a:pt x="7570003" y="1647"/>
                  </a:lnTo>
                  <a:lnTo>
                    <a:pt x="7619383" y="6548"/>
                  </a:lnTo>
                  <a:lnTo>
                    <a:pt x="7668128" y="14642"/>
                  </a:lnTo>
                  <a:lnTo>
                    <a:pt x="7716091" y="25868"/>
                  </a:lnTo>
                  <a:lnTo>
                    <a:pt x="7763126" y="40167"/>
                  </a:lnTo>
                  <a:lnTo>
                    <a:pt x="7809085" y="57475"/>
                  </a:lnTo>
                  <a:lnTo>
                    <a:pt x="7853823" y="77734"/>
                  </a:lnTo>
                  <a:lnTo>
                    <a:pt x="7897192" y="100883"/>
                  </a:lnTo>
                  <a:lnTo>
                    <a:pt x="7939045" y="126859"/>
                  </a:lnTo>
                  <a:lnTo>
                    <a:pt x="7979237" y="155604"/>
                  </a:lnTo>
                  <a:lnTo>
                    <a:pt x="8017619" y="187055"/>
                  </a:lnTo>
                  <a:lnTo>
                    <a:pt x="8054046" y="221153"/>
                  </a:lnTo>
                  <a:lnTo>
                    <a:pt x="8088144" y="257580"/>
                  </a:lnTo>
                  <a:lnTo>
                    <a:pt x="8119595" y="295963"/>
                  </a:lnTo>
                  <a:lnTo>
                    <a:pt x="8148340" y="336154"/>
                  </a:lnTo>
                  <a:lnTo>
                    <a:pt x="8174316" y="378008"/>
                  </a:lnTo>
                  <a:lnTo>
                    <a:pt x="8197465" y="421376"/>
                  </a:lnTo>
                  <a:lnTo>
                    <a:pt x="8217724" y="466114"/>
                  </a:lnTo>
                  <a:lnTo>
                    <a:pt x="8235032" y="512073"/>
                  </a:lnTo>
                  <a:lnTo>
                    <a:pt x="8249331" y="559108"/>
                  </a:lnTo>
                  <a:lnTo>
                    <a:pt x="8260557" y="607071"/>
                  </a:lnTo>
                  <a:lnTo>
                    <a:pt x="8268651" y="655816"/>
                  </a:lnTo>
                  <a:lnTo>
                    <a:pt x="8273552" y="705196"/>
                  </a:lnTo>
                  <a:lnTo>
                    <a:pt x="8275199" y="755065"/>
                  </a:lnTo>
                  <a:lnTo>
                    <a:pt x="8275199" y="3775234"/>
                  </a:lnTo>
                  <a:lnTo>
                    <a:pt x="8273714" y="3822986"/>
                  </a:lnTo>
                  <a:lnTo>
                    <a:pt x="8269316" y="3869948"/>
                  </a:lnTo>
                  <a:lnTo>
                    <a:pt x="8262095" y="3916033"/>
                  </a:lnTo>
                  <a:lnTo>
                    <a:pt x="8252139" y="3961151"/>
                  </a:lnTo>
                  <a:lnTo>
                    <a:pt x="8239536" y="4005215"/>
                  </a:lnTo>
                  <a:lnTo>
                    <a:pt x="8224375" y="4048136"/>
                  </a:lnTo>
                  <a:lnTo>
                    <a:pt x="8206744" y="4089825"/>
                  </a:lnTo>
                  <a:lnTo>
                    <a:pt x="8186732" y="4130194"/>
                  </a:lnTo>
                  <a:lnTo>
                    <a:pt x="8164427" y="4169155"/>
                  </a:lnTo>
                  <a:lnTo>
                    <a:pt x="8139917" y="4206619"/>
                  </a:lnTo>
                  <a:lnTo>
                    <a:pt x="8113291" y="4242498"/>
                  </a:lnTo>
                  <a:lnTo>
                    <a:pt x="8084638" y="4276703"/>
                  </a:lnTo>
                  <a:lnTo>
                    <a:pt x="8054046" y="4309146"/>
                  </a:lnTo>
                  <a:lnTo>
                    <a:pt x="8021603" y="4339738"/>
                  </a:lnTo>
                  <a:lnTo>
                    <a:pt x="7987398" y="4368391"/>
                  </a:lnTo>
                  <a:lnTo>
                    <a:pt x="7951519" y="4395017"/>
                  </a:lnTo>
                  <a:lnTo>
                    <a:pt x="7914055" y="4419527"/>
                  </a:lnTo>
                  <a:lnTo>
                    <a:pt x="7875094" y="4441832"/>
                  </a:lnTo>
                  <a:lnTo>
                    <a:pt x="7834725" y="4461844"/>
                  </a:lnTo>
                  <a:lnTo>
                    <a:pt x="7793036" y="4479475"/>
                  </a:lnTo>
                  <a:lnTo>
                    <a:pt x="7750115" y="4494636"/>
                  </a:lnTo>
                  <a:lnTo>
                    <a:pt x="7706051" y="4507239"/>
                  </a:lnTo>
                  <a:lnTo>
                    <a:pt x="7660933" y="4517195"/>
                  </a:lnTo>
                  <a:lnTo>
                    <a:pt x="7614848" y="4524416"/>
                  </a:lnTo>
                  <a:lnTo>
                    <a:pt x="7567886" y="4528814"/>
                  </a:lnTo>
                  <a:lnTo>
                    <a:pt x="7520134" y="4530299"/>
                  </a:lnTo>
                  <a:lnTo>
                    <a:pt x="755065" y="4530299"/>
                  </a:lnTo>
                  <a:lnTo>
                    <a:pt x="707313" y="4528814"/>
                  </a:lnTo>
                  <a:lnTo>
                    <a:pt x="660351" y="4524416"/>
                  </a:lnTo>
                  <a:lnTo>
                    <a:pt x="614266" y="4517195"/>
                  </a:lnTo>
                  <a:lnTo>
                    <a:pt x="569148" y="4507239"/>
                  </a:lnTo>
                  <a:lnTo>
                    <a:pt x="525084" y="4494636"/>
                  </a:lnTo>
                  <a:lnTo>
                    <a:pt x="482163" y="4479475"/>
                  </a:lnTo>
                  <a:lnTo>
                    <a:pt x="440474" y="4461844"/>
                  </a:lnTo>
                  <a:lnTo>
                    <a:pt x="400105" y="4441832"/>
                  </a:lnTo>
                  <a:lnTo>
                    <a:pt x="361144" y="4419527"/>
                  </a:lnTo>
                  <a:lnTo>
                    <a:pt x="323680" y="4395017"/>
                  </a:lnTo>
                  <a:lnTo>
                    <a:pt x="287801" y="4368391"/>
                  </a:lnTo>
                  <a:lnTo>
                    <a:pt x="253596" y="4339738"/>
                  </a:lnTo>
                  <a:lnTo>
                    <a:pt x="221153" y="4309146"/>
                  </a:lnTo>
                  <a:lnTo>
                    <a:pt x="190561" y="4276703"/>
                  </a:lnTo>
                  <a:lnTo>
                    <a:pt x="161908" y="4242498"/>
                  </a:lnTo>
                  <a:lnTo>
                    <a:pt x="135282" y="4206619"/>
                  </a:lnTo>
                  <a:lnTo>
                    <a:pt x="110772" y="4169155"/>
                  </a:lnTo>
                  <a:lnTo>
                    <a:pt x="88467" y="4130194"/>
                  </a:lnTo>
                  <a:lnTo>
                    <a:pt x="68455" y="4089825"/>
                  </a:lnTo>
                  <a:lnTo>
                    <a:pt x="50824" y="4048136"/>
                  </a:lnTo>
                  <a:lnTo>
                    <a:pt x="35663" y="4005215"/>
                  </a:lnTo>
                  <a:lnTo>
                    <a:pt x="23060" y="3961151"/>
                  </a:lnTo>
                  <a:lnTo>
                    <a:pt x="13104" y="3916033"/>
                  </a:lnTo>
                  <a:lnTo>
                    <a:pt x="5883" y="3869948"/>
                  </a:lnTo>
                  <a:lnTo>
                    <a:pt x="1485" y="3822986"/>
                  </a:lnTo>
                  <a:lnTo>
                    <a:pt x="0" y="3775234"/>
                  </a:lnTo>
                  <a:lnTo>
                    <a:pt x="0" y="7550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4699" y="24683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44699" y="2468374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44699" y="122087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5284196" y="1022399"/>
                  </a:move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lnTo>
                    <a:pt x="6086" y="125103"/>
                  </a:lnTo>
                  <a:lnTo>
                    <a:pt x="23265" y="84397"/>
                  </a:lnTo>
                  <a:lnTo>
                    <a:pt x="49910" y="49909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10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44699" y="1220875"/>
              <a:ext cx="5454650" cy="1022985"/>
            </a:xfrm>
            <a:custGeom>
              <a:avLst/>
              <a:gdLst/>
              <a:ahLst/>
              <a:cxnLst/>
              <a:rect l="l" t="t" r="r" b="b"/>
              <a:pathLst>
                <a:path w="5454650" h="1022985">
                  <a:moveTo>
                    <a:pt x="0" y="170403"/>
                  </a:moveTo>
                  <a:lnTo>
                    <a:pt x="6086" y="125103"/>
                  </a:lnTo>
                  <a:lnTo>
                    <a:pt x="23265" y="84397"/>
                  </a:lnTo>
                  <a:lnTo>
                    <a:pt x="49909" y="49910"/>
                  </a:lnTo>
                  <a:lnTo>
                    <a:pt x="84397" y="23265"/>
                  </a:lnTo>
                  <a:lnTo>
                    <a:pt x="125103" y="6086"/>
                  </a:lnTo>
                  <a:lnTo>
                    <a:pt x="170403" y="0"/>
                  </a:lnTo>
                  <a:lnTo>
                    <a:pt x="5284196" y="0"/>
                  </a:lnTo>
                  <a:lnTo>
                    <a:pt x="5349406" y="12971"/>
                  </a:lnTo>
                  <a:lnTo>
                    <a:pt x="5404689" y="49909"/>
                  </a:lnTo>
                  <a:lnTo>
                    <a:pt x="5441628" y="105192"/>
                  </a:lnTo>
                  <a:lnTo>
                    <a:pt x="5454599" y="170403"/>
                  </a:lnTo>
                  <a:lnTo>
                    <a:pt x="5454599" y="851996"/>
                  </a:lnTo>
                  <a:lnTo>
                    <a:pt x="5448512" y="897296"/>
                  </a:lnTo>
                  <a:lnTo>
                    <a:pt x="5431334" y="938002"/>
                  </a:lnTo>
                  <a:lnTo>
                    <a:pt x="5404689" y="972489"/>
                  </a:lnTo>
                  <a:lnTo>
                    <a:pt x="5370202" y="999134"/>
                  </a:lnTo>
                  <a:lnTo>
                    <a:pt x="5329496" y="1016313"/>
                  </a:lnTo>
                  <a:lnTo>
                    <a:pt x="5284196" y="1022399"/>
                  </a:lnTo>
                  <a:lnTo>
                    <a:pt x="170403" y="1022399"/>
                  </a:lnTo>
                  <a:lnTo>
                    <a:pt x="125103" y="1016313"/>
                  </a:lnTo>
                  <a:lnTo>
                    <a:pt x="84397" y="999134"/>
                  </a:lnTo>
                  <a:lnTo>
                    <a:pt x="49909" y="972489"/>
                  </a:lnTo>
                  <a:lnTo>
                    <a:pt x="23265" y="938002"/>
                  </a:lnTo>
                  <a:lnTo>
                    <a:pt x="6086" y="897296"/>
                  </a:lnTo>
                  <a:lnTo>
                    <a:pt x="0" y="851996"/>
                  </a:lnTo>
                  <a:lnTo>
                    <a:pt x="0" y="17040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31091" y="1912009"/>
            <a:ext cx="6929120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211661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Duplicates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testing</a:t>
            </a:r>
            <a:r>
              <a:rPr sz="2400" spc="-27" dirty="0">
                <a:latin typeface="Arial"/>
                <a:cs typeface="Arial"/>
              </a:rPr>
              <a:t> sets </a:t>
            </a:r>
            <a:r>
              <a:rPr sz="2400" dirty="0">
                <a:latin typeface="Arial"/>
                <a:cs typeface="Arial"/>
              </a:rPr>
              <a:t>encourage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C0000"/>
                </a:solidFill>
                <a:latin typeface="Arial"/>
                <a:cs typeface="Arial"/>
              </a:rPr>
              <a:t>memorize</a:t>
            </a:r>
            <a:r>
              <a:rPr sz="2400" spc="-3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34199" y="4829033"/>
            <a:ext cx="7323667" cy="897467"/>
            <a:chOff x="1825649" y="3621775"/>
            <a:chExt cx="5492750" cy="673100"/>
          </a:xfrm>
        </p:grpSpPr>
        <p:sp>
          <p:nvSpPr>
            <p:cNvPr id="11" name="object 11"/>
            <p:cNvSpPr/>
            <p:nvPr/>
          </p:nvSpPr>
          <p:spPr>
            <a:xfrm>
              <a:off x="1844699" y="3640825"/>
              <a:ext cx="5454650" cy="635000"/>
            </a:xfrm>
            <a:custGeom>
              <a:avLst/>
              <a:gdLst/>
              <a:ahLst/>
              <a:cxnLst/>
              <a:rect l="l" t="t" r="r" b="b"/>
              <a:pathLst>
                <a:path w="5454650" h="635000">
                  <a:moveTo>
                    <a:pt x="5348847" y="634499"/>
                  </a:moveTo>
                  <a:lnTo>
                    <a:pt x="105752" y="634499"/>
                  </a:lnTo>
                  <a:lnTo>
                    <a:pt x="64588" y="626189"/>
                  </a:lnTo>
                  <a:lnTo>
                    <a:pt x="30974" y="603525"/>
                  </a:lnTo>
                  <a:lnTo>
                    <a:pt x="8310" y="569911"/>
                  </a:lnTo>
                  <a:lnTo>
                    <a:pt x="0" y="528747"/>
                  </a:lnTo>
                  <a:lnTo>
                    <a:pt x="0" y="105751"/>
                  </a:lnTo>
                  <a:lnTo>
                    <a:pt x="8310" y="64588"/>
                  </a:lnTo>
                  <a:lnTo>
                    <a:pt x="30974" y="30974"/>
                  </a:lnTo>
                  <a:lnTo>
                    <a:pt x="64588" y="8310"/>
                  </a:lnTo>
                  <a:lnTo>
                    <a:pt x="105752" y="0"/>
                  </a:lnTo>
                  <a:lnTo>
                    <a:pt x="5348847" y="0"/>
                  </a:lnTo>
                  <a:lnTo>
                    <a:pt x="5389317" y="8049"/>
                  </a:lnTo>
                  <a:lnTo>
                    <a:pt x="5423625" y="30974"/>
                  </a:lnTo>
                  <a:lnTo>
                    <a:pt x="5446550" y="65282"/>
                  </a:lnTo>
                  <a:lnTo>
                    <a:pt x="5454599" y="105751"/>
                  </a:lnTo>
                  <a:lnTo>
                    <a:pt x="5454599" y="528747"/>
                  </a:lnTo>
                  <a:lnTo>
                    <a:pt x="5446289" y="569911"/>
                  </a:lnTo>
                  <a:lnTo>
                    <a:pt x="5423625" y="603525"/>
                  </a:lnTo>
                  <a:lnTo>
                    <a:pt x="5390011" y="626189"/>
                  </a:lnTo>
                  <a:lnTo>
                    <a:pt x="5348847" y="634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44699" y="3640825"/>
              <a:ext cx="5454650" cy="635000"/>
            </a:xfrm>
            <a:custGeom>
              <a:avLst/>
              <a:gdLst/>
              <a:ahLst/>
              <a:cxnLst/>
              <a:rect l="l" t="t" r="r" b="b"/>
              <a:pathLst>
                <a:path w="5454650" h="635000">
                  <a:moveTo>
                    <a:pt x="0" y="105751"/>
                  </a:moveTo>
                  <a:lnTo>
                    <a:pt x="8310" y="64588"/>
                  </a:lnTo>
                  <a:lnTo>
                    <a:pt x="30974" y="30974"/>
                  </a:lnTo>
                  <a:lnTo>
                    <a:pt x="64588" y="8310"/>
                  </a:lnTo>
                  <a:lnTo>
                    <a:pt x="105752" y="0"/>
                  </a:lnTo>
                  <a:lnTo>
                    <a:pt x="5348847" y="0"/>
                  </a:lnTo>
                  <a:lnTo>
                    <a:pt x="5389317" y="8049"/>
                  </a:lnTo>
                  <a:lnTo>
                    <a:pt x="5423625" y="30974"/>
                  </a:lnTo>
                  <a:lnTo>
                    <a:pt x="5446550" y="65282"/>
                  </a:lnTo>
                  <a:lnTo>
                    <a:pt x="5454599" y="105751"/>
                  </a:lnTo>
                  <a:lnTo>
                    <a:pt x="5454599" y="528747"/>
                  </a:lnTo>
                  <a:lnTo>
                    <a:pt x="5446289" y="569911"/>
                  </a:lnTo>
                  <a:lnTo>
                    <a:pt x="5423625" y="603525"/>
                  </a:lnTo>
                  <a:lnTo>
                    <a:pt x="5390011" y="626189"/>
                  </a:lnTo>
                  <a:lnTo>
                    <a:pt x="5348847" y="634499"/>
                  </a:lnTo>
                  <a:lnTo>
                    <a:pt x="105752" y="634499"/>
                  </a:lnTo>
                  <a:lnTo>
                    <a:pt x="64588" y="626189"/>
                  </a:lnTo>
                  <a:lnTo>
                    <a:pt x="30974" y="603525"/>
                  </a:lnTo>
                  <a:lnTo>
                    <a:pt x="8310" y="569911"/>
                  </a:lnTo>
                  <a:lnTo>
                    <a:pt x="0" y="528747"/>
                  </a:lnTo>
                  <a:lnTo>
                    <a:pt x="0" y="105751"/>
                  </a:lnTo>
                  <a:close/>
                </a:path>
              </a:pathLst>
            </a:custGeom>
            <a:ln w="380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20945" y="3575341"/>
            <a:ext cx="6146800" cy="1920055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086" marR="6773" algn="ctr">
              <a:lnSpc>
                <a:spcPct val="100699"/>
              </a:lnSpc>
              <a:spcBef>
                <a:spcPts val="113"/>
              </a:spcBef>
            </a:pPr>
            <a:r>
              <a:rPr sz="2400" dirty="0">
                <a:latin typeface="Arial"/>
                <a:cs typeface="Arial"/>
              </a:rPr>
              <a:t>Deduplication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harm,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sometimes </a:t>
            </a:r>
            <a:r>
              <a:rPr sz="2400" dirty="0">
                <a:latin typeface="Arial"/>
                <a:cs typeface="Arial"/>
              </a:rPr>
              <a:t>improves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model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perplexity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4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Deduplication</a:t>
            </a:r>
            <a:r>
              <a:rPr sz="2400" b="1" spc="-5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makes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training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faster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61383" y="680783"/>
            <a:ext cx="6817360" cy="713740"/>
            <a:chOff x="1996037" y="510587"/>
            <a:chExt cx="5113020" cy="535305"/>
          </a:xfrm>
        </p:grpSpPr>
        <p:sp>
          <p:nvSpPr>
            <p:cNvPr id="15" name="object 15"/>
            <p:cNvSpPr/>
            <p:nvPr/>
          </p:nvSpPr>
          <p:spPr>
            <a:xfrm>
              <a:off x="2000799" y="515349"/>
              <a:ext cx="5103495" cy="525780"/>
            </a:xfrm>
            <a:custGeom>
              <a:avLst/>
              <a:gdLst/>
              <a:ahLst/>
              <a:cxnLst/>
              <a:rect l="l" t="t" r="r" b="b"/>
              <a:pathLst>
                <a:path w="5103495" h="525780">
                  <a:moveTo>
                    <a:pt x="5015398" y="525599"/>
                  </a:move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5015398" y="0"/>
                  </a:lnTo>
                  <a:lnTo>
                    <a:pt x="5063999" y="14718"/>
                  </a:lnTo>
                  <a:lnTo>
                    <a:pt x="5096331" y="54078"/>
                  </a:lnTo>
                  <a:lnTo>
                    <a:pt x="5102999" y="87601"/>
                  </a:lnTo>
                  <a:lnTo>
                    <a:pt x="5102999" y="437998"/>
                  </a:lnTo>
                  <a:lnTo>
                    <a:pt x="5096115" y="472096"/>
                  </a:lnTo>
                  <a:lnTo>
                    <a:pt x="5077342" y="499942"/>
                  </a:lnTo>
                  <a:lnTo>
                    <a:pt x="5049497" y="518715"/>
                  </a:lnTo>
                  <a:lnTo>
                    <a:pt x="5015398" y="5255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00799" y="515349"/>
              <a:ext cx="5103495" cy="525780"/>
            </a:xfrm>
            <a:custGeom>
              <a:avLst/>
              <a:gdLst/>
              <a:ahLst/>
              <a:cxnLst/>
              <a:rect l="l" t="t" r="r" b="b"/>
              <a:pathLst>
                <a:path w="5103495" h="525780">
                  <a:moveTo>
                    <a:pt x="0" y="87601"/>
                  </a:moveTo>
                  <a:lnTo>
                    <a:pt x="6884" y="53503"/>
                  </a:lnTo>
                  <a:lnTo>
                    <a:pt x="25657" y="25657"/>
                  </a:lnTo>
                  <a:lnTo>
                    <a:pt x="53503" y="6884"/>
                  </a:lnTo>
                  <a:lnTo>
                    <a:pt x="87601" y="0"/>
                  </a:lnTo>
                  <a:lnTo>
                    <a:pt x="5015398" y="0"/>
                  </a:lnTo>
                  <a:lnTo>
                    <a:pt x="5063999" y="14718"/>
                  </a:lnTo>
                  <a:lnTo>
                    <a:pt x="5096331" y="54078"/>
                  </a:lnTo>
                  <a:lnTo>
                    <a:pt x="5102999" y="87601"/>
                  </a:lnTo>
                  <a:lnTo>
                    <a:pt x="5102999" y="437998"/>
                  </a:lnTo>
                  <a:lnTo>
                    <a:pt x="5096115" y="472096"/>
                  </a:lnTo>
                  <a:lnTo>
                    <a:pt x="5077342" y="499942"/>
                  </a:lnTo>
                  <a:lnTo>
                    <a:pt x="5049497" y="518715"/>
                  </a:lnTo>
                  <a:lnTo>
                    <a:pt x="5015398" y="525599"/>
                  </a:lnTo>
                  <a:lnTo>
                    <a:pt x="87601" y="525599"/>
                  </a:lnTo>
                  <a:lnTo>
                    <a:pt x="53503" y="518715"/>
                  </a:lnTo>
                  <a:lnTo>
                    <a:pt x="25657" y="499942"/>
                  </a:lnTo>
                  <a:lnTo>
                    <a:pt x="6884" y="472096"/>
                  </a:lnTo>
                  <a:lnTo>
                    <a:pt x="0" y="437998"/>
                  </a:lnTo>
                  <a:lnTo>
                    <a:pt x="0" y="876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812800" y="830308"/>
            <a:ext cx="14630400" cy="595752"/>
          </a:xfrm>
          <a:prstGeom prst="rect">
            <a:avLst/>
          </a:prstGeom>
        </p:spPr>
        <p:txBody>
          <a:bodyPr vert="horz" wrap="square" lIns="0" tIns="14301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3322">
              <a:spcBef>
                <a:spcPts val="133"/>
              </a:spcBef>
            </a:pPr>
            <a:r>
              <a:rPr sz="2933" dirty="0"/>
              <a:t>Key</a:t>
            </a:r>
            <a:r>
              <a:rPr sz="2933" spc="-53" dirty="0"/>
              <a:t> </a:t>
            </a:r>
            <a:r>
              <a:rPr sz="2933" dirty="0"/>
              <a:t>takeaways:</a:t>
            </a:r>
            <a:r>
              <a:rPr sz="2933" spc="-53" dirty="0"/>
              <a:t> </a:t>
            </a:r>
            <a:r>
              <a:rPr sz="2933" dirty="0"/>
              <a:t>Deduplicating</a:t>
            </a:r>
            <a:r>
              <a:rPr sz="2933" spc="-53" dirty="0"/>
              <a:t> </a:t>
            </a:r>
            <a:r>
              <a:rPr sz="2933" spc="-13" dirty="0"/>
              <a:t>paper</a:t>
            </a:r>
            <a:endParaRPr sz="2933"/>
          </a:p>
        </p:txBody>
      </p:sp>
      <p:sp>
        <p:nvSpPr>
          <p:cNvPr id="18" name="object 18"/>
          <p:cNvSpPr txBox="1"/>
          <p:nvPr/>
        </p:nvSpPr>
        <p:spPr>
          <a:xfrm>
            <a:off x="2556967" y="6071627"/>
            <a:ext cx="657436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latin typeface="Arial"/>
                <a:cs typeface="Arial"/>
              </a:rPr>
              <a:t>More</a:t>
            </a:r>
            <a:r>
              <a:rPr sz="1333" spc="-4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detailed</a:t>
            </a:r>
            <a:r>
              <a:rPr sz="1333" spc="-47" dirty="0">
                <a:latin typeface="Arial"/>
                <a:cs typeface="Arial"/>
              </a:rPr>
              <a:t> </a:t>
            </a:r>
            <a:r>
              <a:rPr sz="1333" dirty="0">
                <a:latin typeface="Arial"/>
                <a:cs typeface="Arial"/>
              </a:rPr>
              <a:t>summary:</a:t>
            </a:r>
            <a:r>
              <a:rPr sz="1333" spc="-27" dirty="0">
                <a:latin typeface="Arial"/>
                <a:cs typeface="Arial"/>
              </a:rPr>
              <a:t> </a:t>
            </a:r>
            <a:r>
              <a:rPr sz="1333" u="sng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https://twitter.com/katherine1ee/status/1415496898241339400</a:t>
            </a:r>
            <a:endParaRPr sz="1333">
              <a:latin typeface="Arial"/>
              <a:cs typeface="Arial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8A422A3-B0F7-4E7A-A871-2F06970978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118</a:t>
            </a:fld>
            <a:endParaRPr lang="en-US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250" y="326450"/>
            <a:ext cx="11579860" cy="6205220"/>
            <a:chOff x="229687" y="244837"/>
            <a:chExt cx="8684895" cy="4653915"/>
          </a:xfrm>
        </p:grpSpPr>
        <p:sp>
          <p:nvSpPr>
            <p:cNvPr id="3" name="object 3"/>
            <p:cNvSpPr/>
            <p:nvPr/>
          </p:nvSpPr>
          <p:spPr>
            <a:xfrm>
              <a:off x="234450" y="249600"/>
              <a:ext cx="8675370" cy="4644390"/>
            </a:xfrm>
            <a:custGeom>
              <a:avLst/>
              <a:gdLst/>
              <a:ahLst/>
              <a:cxnLst/>
              <a:rect l="l" t="t" r="r" b="b"/>
              <a:pathLst>
                <a:path w="8675370" h="4644390">
                  <a:moveTo>
                    <a:pt x="7901034" y="4644299"/>
                  </a:moveTo>
                  <a:lnTo>
                    <a:pt x="774065" y="4644299"/>
                  </a:lnTo>
                  <a:lnTo>
                    <a:pt x="725112" y="4642777"/>
                  </a:lnTo>
                  <a:lnTo>
                    <a:pt x="676968" y="4638268"/>
                  </a:lnTo>
                  <a:lnTo>
                    <a:pt x="629724" y="4630866"/>
                  </a:lnTo>
                  <a:lnTo>
                    <a:pt x="583470" y="4620659"/>
                  </a:lnTo>
                  <a:lnTo>
                    <a:pt x="538297" y="4607739"/>
                  </a:lnTo>
                  <a:lnTo>
                    <a:pt x="494296" y="4592196"/>
                  </a:lnTo>
                  <a:lnTo>
                    <a:pt x="451558" y="4574121"/>
                  </a:lnTo>
                  <a:lnTo>
                    <a:pt x="410173" y="4553606"/>
                  </a:lnTo>
                  <a:lnTo>
                    <a:pt x="370232" y="4530739"/>
                  </a:lnTo>
                  <a:lnTo>
                    <a:pt x="331825" y="4505613"/>
                  </a:lnTo>
                  <a:lnTo>
                    <a:pt x="295043" y="4478317"/>
                  </a:lnTo>
                  <a:lnTo>
                    <a:pt x="259977" y="4448943"/>
                  </a:lnTo>
                  <a:lnTo>
                    <a:pt x="226718" y="4417581"/>
                  </a:lnTo>
                  <a:lnTo>
                    <a:pt x="195356" y="4384322"/>
                  </a:lnTo>
                  <a:lnTo>
                    <a:pt x="165982" y="4349256"/>
                  </a:lnTo>
                  <a:lnTo>
                    <a:pt x="138686" y="4312474"/>
                  </a:lnTo>
                  <a:lnTo>
                    <a:pt x="113560" y="4274067"/>
                  </a:lnTo>
                  <a:lnTo>
                    <a:pt x="90693" y="4234126"/>
                  </a:lnTo>
                  <a:lnTo>
                    <a:pt x="70178" y="4192741"/>
                  </a:lnTo>
                  <a:lnTo>
                    <a:pt x="52103" y="4150003"/>
                  </a:lnTo>
                  <a:lnTo>
                    <a:pt x="36560" y="4106002"/>
                  </a:lnTo>
                  <a:lnTo>
                    <a:pt x="23640" y="4060829"/>
                  </a:lnTo>
                  <a:lnTo>
                    <a:pt x="13433" y="4014575"/>
                  </a:lnTo>
                  <a:lnTo>
                    <a:pt x="6031" y="3967331"/>
                  </a:lnTo>
                  <a:lnTo>
                    <a:pt x="1522" y="3919187"/>
                  </a:lnTo>
                  <a:lnTo>
                    <a:pt x="0" y="3870234"/>
                  </a:lnTo>
                  <a:lnTo>
                    <a:pt x="0" y="774065"/>
                  </a:lnTo>
                  <a:lnTo>
                    <a:pt x="1522" y="725112"/>
                  </a:lnTo>
                  <a:lnTo>
                    <a:pt x="6031" y="676968"/>
                  </a:lnTo>
                  <a:lnTo>
                    <a:pt x="13433" y="629724"/>
                  </a:lnTo>
                  <a:lnTo>
                    <a:pt x="23640" y="583470"/>
                  </a:lnTo>
                  <a:lnTo>
                    <a:pt x="36560" y="538297"/>
                  </a:lnTo>
                  <a:lnTo>
                    <a:pt x="52103" y="494296"/>
                  </a:lnTo>
                  <a:lnTo>
                    <a:pt x="70178" y="451558"/>
                  </a:lnTo>
                  <a:lnTo>
                    <a:pt x="90693" y="410173"/>
                  </a:lnTo>
                  <a:lnTo>
                    <a:pt x="113560" y="370232"/>
                  </a:lnTo>
                  <a:lnTo>
                    <a:pt x="138686" y="331825"/>
                  </a:lnTo>
                  <a:lnTo>
                    <a:pt x="165982" y="295043"/>
                  </a:lnTo>
                  <a:lnTo>
                    <a:pt x="195356" y="259977"/>
                  </a:lnTo>
                  <a:lnTo>
                    <a:pt x="226718" y="226718"/>
                  </a:lnTo>
                  <a:lnTo>
                    <a:pt x="259977" y="195356"/>
                  </a:lnTo>
                  <a:lnTo>
                    <a:pt x="295043" y="165982"/>
                  </a:lnTo>
                  <a:lnTo>
                    <a:pt x="331825" y="138686"/>
                  </a:lnTo>
                  <a:lnTo>
                    <a:pt x="370232" y="113560"/>
                  </a:lnTo>
                  <a:lnTo>
                    <a:pt x="410173" y="90693"/>
                  </a:lnTo>
                  <a:lnTo>
                    <a:pt x="451558" y="70178"/>
                  </a:lnTo>
                  <a:lnTo>
                    <a:pt x="494296" y="52103"/>
                  </a:lnTo>
                  <a:lnTo>
                    <a:pt x="538297" y="36560"/>
                  </a:lnTo>
                  <a:lnTo>
                    <a:pt x="583470" y="23640"/>
                  </a:lnTo>
                  <a:lnTo>
                    <a:pt x="629724" y="13433"/>
                  </a:lnTo>
                  <a:lnTo>
                    <a:pt x="676968" y="6031"/>
                  </a:lnTo>
                  <a:lnTo>
                    <a:pt x="725112" y="1522"/>
                  </a:lnTo>
                  <a:lnTo>
                    <a:pt x="774065" y="0"/>
                  </a:lnTo>
                  <a:lnTo>
                    <a:pt x="7901034" y="0"/>
                  </a:lnTo>
                  <a:lnTo>
                    <a:pt x="7952158" y="1688"/>
                  </a:lnTo>
                  <a:lnTo>
                    <a:pt x="8002780" y="6713"/>
                  </a:lnTo>
                  <a:lnTo>
                    <a:pt x="8052752" y="15010"/>
                  </a:lnTo>
                  <a:lnTo>
                    <a:pt x="8101922" y="26519"/>
                  </a:lnTo>
                  <a:lnTo>
                    <a:pt x="8150141" y="41177"/>
                  </a:lnTo>
                  <a:lnTo>
                    <a:pt x="8197256" y="58922"/>
                  </a:lnTo>
                  <a:lnTo>
                    <a:pt x="8243120" y="79690"/>
                  </a:lnTo>
                  <a:lnTo>
                    <a:pt x="8287580" y="103421"/>
                  </a:lnTo>
                  <a:lnTo>
                    <a:pt x="8330486" y="130052"/>
                  </a:lnTo>
                  <a:lnTo>
                    <a:pt x="8371689" y="159519"/>
                  </a:lnTo>
                  <a:lnTo>
                    <a:pt x="8411037" y="191762"/>
                  </a:lnTo>
                  <a:lnTo>
                    <a:pt x="8448381" y="226718"/>
                  </a:lnTo>
                  <a:lnTo>
                    <a:pt x="8483337" y="264062"/>
                  </a:lnTo>
                  <a:lnTo>
                    <a:pt x="8515579" y="303410"/>
                  </a:lnTo>
                  <a:lnTo>
                    <a:pt x="8545047" y="344613"/>
                  </a:lnTo>
                  <a:lnTo>
                    <a:pt x="8571678" y="387520"/>
                  </a:lnTo>
                  <a:lnTo>
                    <a:pt x="8595409" y="431980"/>
                  </a:lnTo>
                  <a:lnTo>
                    <a:pt x="8616177" y="477843"/>
                  </a:lnTo>
                  <a:lnTo>
                    <a:pt x="8633922" y="524959"/>
                  </a:lnTo>
                  <a:lnTo>
                    <a:pt x="8648580" y="573177"/>
                  </a:lnTo>
                  <a:lnTo>
                    <a:pt x="8660089" y="622347"/>
                  </a:lnTo>
                  <a:lnTo>
                    <a:pt x="8668386" y="672319"/>
                  </a:lnTo>
                  <a:lnTo>
                    <a:pt x="8673411" y="722942"/>
                  </a:lnTo>
                  <a:lnTo>
                    <a:pt x="8675099" y="774065"/>
                  </a:lnTo>
                  <a:lnTo>
                    <a:pt x="8675099" y="3870234"/>
                  </a:lnTo>
                  <a:lnTo>
                    <a:pt x="8673577" y="3919187"/>
                  </a:lnTo>
                  <a:lnTo>
                    <a:pt x="8669068" y="3967331"/>
                  </a:lnTo>
                  <a:lnTo>
                    <a:pt x="8661666" y="4014575"/>
                  </a:lnTo>
                  <a:lnTo>
                    <a:pt x="8651459" y="4060829"/>
                  </a:lnTo>
                  <a:lnTo>
                    <a:pt x="8638539" y="4106002"/>
                  </a:lnTo>
                  <a:lnTo>
                    <a:pt x="8622996" y="4150003"/>
                  </a:lnTo>
                  <a:lnTo>
                    <a:pt x="8604921" y="4192741"/>
                  </a:lnTo>
                  <a:lnTo>
                    <a:pt x="8584406" y="4234126"/>
                  </a:lnTo>
                  <a:lnTo>
                    <a:pt x="8561539" y="4274067"/>
                  </a:lnTo>
                  <a:lnTo>
                    <a:pt x="8536413" y="4312474"/>
                  </a:lnTo>
                  <a:lnTo>
                    <a:pt x="8509117" y="4349256"/>
                  </a:lnTo>
                  <a:lnTo>
                    <a:pt x="8479743" y="4384322"/>
                  </a:lnTo>
                  <a:lnTo>
                    <a:pt x="8448381" y="4417581"/>
                  </a:lnTo>
                  <a:lnTo>
                    <a:pt x="8415122" y="4448943"/>
                  </a:lnTo>
                  <a:lnTo>
                    <a:pt x="8380056" y="4478317"/>
                  </a:lnTo>
                  <a:lnTo>
                    <a:pt x="8343274" y="4505613"/>
                  </a:lnTo>
                  <a:lnTo>
                    <a:pt x="8304867" y="4530739"/>
                  </a:lnTo>
                  <a:lnTo>
                    <a:pt x="8264926" y="4553606"/>
                  </a:lnTo>
                  <a:lnTo>
                    <a:pt x="8223541" y="4574121"/>
                  </a:lnTo>
                  <a:lnTo>
                    <a:pt x="8180803" y="4592196"/>
                  </a:lnTo>
                  <a:lnTo>
                    <a:pt x="8136802" y="4607739"/>
                  </a:lnTo>
                  <a:lnTo>
                    <a:pt x="8091629" y="4620659"/>
                  </a:lnTo>
                  <a:lnTo>
                    <a:pt x="8045375" y="4630866"/>
                  </a:lnTo>
                  <a:lnTo>
                    <a:pt x="7998131" y="4638268"/>
                  </a:lnTo>
                  <a:lnTo>
                    <a:pt x="7949987" y="4642777"/>
                  </a:lnTo>
                  <a:lnTo>
                    <a:pt x="7901034" y="4644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4450" y="249600"/>
              <a:ext cx="8675370" cy="4644390"/>
            </a:xfrm>
            <a:custGeom>
              <a:avLst/>
              <a:gdLst/>
              <a:ahLst/>
              <a:cxnLst/>
              <a:rect l="l" t="t" r="r" b="b"/>
              <a:pathLst>
                <a:path w="8675370" h="4644390">
                  <a:moveTo>
                    <a:pt x="0" y="774065"/>
                  </a:moveTo>
                  <a:lnTo>
                    <a:pt x="1522" y="725112"/>
                  </a:lnTo>
                  <a:lnTo>
                    <a:pt x="6031" y="676968"/>
                  </a:lnTo>
                  <a:lnTo>
                    <a:pt x="13433" y="629724"/>
                  </a:lnTo>
                  <a:lnTo>
                    <a:pt x="23640" y="583470"/>
                  </a:lnTo>
                  <a:lnTo>
                    <a:pt x="36560" y="538297"/>
                  </a:lnTo>
                  <a:lnTo>
                    <a:pt x="52103" y="494296"/>
                  </a:lnTo>
                  <a:lnTo>
                    <a:pt x="70178" y="451558"/>
                  </a:lnTo>
                  <a:lnTo>
                    <a:pt x="90693" y="410173"/>
                  </a:lnTo>
                  <a:lnTo>
                    <a:pt x="113560" y="370232"/>
                  </a:lnTo>
                  <a:lnTo>
                    <a:pt x="138686" y="331825"/>
                  </a:lnTo>
                  <a:lnTo>
                    <a:pt x="165982" y="295043"/>
                  </a:lnTo>
                  <a:lnTo>
                    <a:pt x="195356" y="259977"/>
                  </a:lnTo>
                  <a:lnTo>
                    <a:pt x="226718" y="226718"/>
                  </a:lnTo>
                  <a:lnTo>
                    <a:pt x="259977" y="195356"/>
                  </a:lnTo>
                  <a:lnTo>
                    <a:pt x="295043" y="165982"/>
                  </a:lnTo>
                  <a:lnTo>
                    <a:pt x="331825" y="138686"/>
                  </a:lnTo>
                  <a:lnTo>
                    <a:pt x="370232" y="113560"/>
                  </a:lnTo>
                  <a:lnTo>
                    <a:pt x="410173" y="90693"/>
                  </a:lnTo>
                  <a:lnTo>
                    <a:pt x="451558" y="70178"/>
                  </a:lnTo>
                  <a:lnTo>
                    <a:pt x="494296" y="52103"/>
                  </a:lnTo>
                  <a:lnTo>
                    <a:pt x="538297" y="36560"/>
                  </a:lnTo>
                  <a:lnTo>
                    <a:pt x="583470" y="23640"/>
                  </a:lnTo>
                  <a:lnTo>
                    <a:pt x="629724" y="13433"/>
                  </a:lnTo>
                  <a:lnTo>
                    <a:pt x="676968" y="6031"/>
                  </a:lnTo>
                  <a:lnTo>
                    <a:pt x="725112" y="1522"/>
                  </a:lnTo>
                  <a:lnTo>
                    <a:pt x="774065" y="0"/>
                  </a:lnTo>
                  <a:lnTo>
                    <a:pt x="7901034" y="0"/>
                  </a:lnTo>
                  <a:lnTo>
                    <a:pt x="7952158" y="1688"/>
                  </a:lnTo>
                  <a:lnTo>
                    <a:pt x="8002780" y="6713"/>
                  </a:lnTo>
                  <a:lnTo>
                    <a:pt x="8052752" y="15010"/>
                  </a:lnTo>
                  <a:lnTo>
                    <a:pt x="8101922" y="26519"/>
                  </a:lnTo>
                  <a:lnTo>
                    <a:pt x="8150141" y="41177"/>
                  </a:lnTo>
                  <a:lnTo>
                    <a:pt x="8197256" y="58922"/>
                  </a:lnTo>
                  <a:lnTo>
                    <a:pt x="8243120" y="79690"/>
                  </a:lnTo>
                  <a:lnTo>
                    <a:pt x="8287580" y="103421"/>
                  </a:lnTo>
                  <a:lnTo>
                    <a:pt x="8330486" y="130052"/>
                  </a:lnTo>
                  <a:lnTo>
                    <a:pt x="8371689" y="159519"/>
                  </a:lnTo>
                  <a:lnTo>
                    <a:pt x="8411037" y="191762"/>
                  </a:lnTo>
                  <a:lnTo>
                    <a:pt x="8448381" y="226718"/>
                  </a:lnTo>
                  <a:lnTo>
                    <a:pt x="8483337" y="264062"/>
                  </a:lnTo>
                  <a:lnTo>
                    <a:pt x="8515579" y="303410"/>
                  </a:lnTo>
                  <a:lnTo>
                    <a:pt x="8545047" y="344613"/>
                  </a:lnTo>
                  <a:lnTo>
                    <a:pt x="8571678" y="387520"/>
                  </a:lnTo>
                  <a:lnTo>
                    <a:pt x="8595409" y="431980"/>
                  </a:lnTo>
                  <a:lnTo>
                    <a:pt x="8616177" y="477843"/>
                  </a:lnTo>
                  <a:lnTo>
                    <a:pt x="8633922" y="524959"/>
                  </a:lnTo>
                  <a:lnTo>
                    <a:pt x="8648580" y="573177"/>
                  </a:lnTo>
                  <a:lnTo>
                    <a:pt x="8660089" y="622347"/>
                  </a:lnTo>
                  <a:lnTo>
                    <a:pt x="8668386" y="672319"/>
                  </a:lnTo>
                  <a:lnTo>
                    <a:pt x="8673411" y="722942"/>
                  </a:lnTo>
                  <a:lnTo>
                    <a:pt x="8675099" y="774065"/>
                  </a:lnTo>
                  <a:lnTo>
                    <a:pt x="8675099" y="3870234"/>
                  </a:lnTo>
                  <a:lnTo>
                    <a:pt x="8673577" y="3919187"/>
                  </a:lnTo>
                  <a:lnTo>
                    <a:pt x="8669068" y="3967331"/>
                  </a:lnTo>
                  <a:lnTo>
                    <a:pt x="8661666" y="4014575"/>
                  </a:lnTo>
                  <a:lnTo>
                    <a:pt x="8651459" y="4060829"/>
                  </a:lnTo>
                  <a:lnTo>
                    <a:pt x="8638539" y="4106002"/>
                  </a:lnTo>
                  <a:lnTo>
                    <a:pt x="8622996" y="4150003"/>
                  </a:lnTo>
                  <a:lnTo>
                    <a:pt x="8604921" y="4192741"/>
                  </a:lnTo>
                  <a:lnTo>
                    <a:pt x="8584406" y="4234126"/>
                  </a:lnTo>
                  <a:lnTo>
                    <a:pt x="8561539" y="4274067"/>
                  </a:lnTo>
                  <a:lnTo>
                    <a:pt x="8536413" y="4312474"/>
                  </a:lnTo>
                  <a:lnTo>
                    <a:pt x="8509117" y="4349256"/>
                  </a:lnTo>
                  <a:lnTo>
                    <a:pt x="8479743" y="4384322"/>
                  </a:lnTo>
                  <a:lnTo>
                    <a:pt x="8448381" y="4417581"/>
                  </a:lnTo>
                  <a:lnTo>
                    <a:pt x="8415122" y="4448943"/>
                  </a:lnTo>
                  <a:lnTo>
                    <a:pt x="8380056" y="4478317"/>
                  </a:lnTo>
                  <a:lnTo>
                    <a:pt x="8343274" y="4505613"/>
                  </a:lnTo>
                  <a:lnTo>
                    <a:pt x="8304867" y="4530739"/>
                  </a:lnTo>
                  <a:lnTo>
                    <a:pt x="8264926" y="4553606"/>
                  </a:lnTo>
                  <a:lnTo>
                    <a:pt x="8223541" y="4574121"/>
                  </a:lnTo>
                  <a:lnTo>
                    <a:pt x="8180803" y="4592196"/>
                  </a:lnTo>
                  <a:lnTo>
                    <a:pt x="8136802" y="4607739"/>
                  </a:lnTo>
                  <a:lnTo>
                    <a:pt x="8091629" y="4620659"/>
                  </a:lnTo>
                  <a:lnTo>
                    <a:pt x="8045375" y="4630866"/>
                  </a:lnTo>
                  <a:lnTo>
                    <a:pt x="7998131" y="4638268"/>
                  </a:lnTo>
                  <a:lnTo>
                    <a:pt x="7949987" y="4642777"/>
                  </a:lnTo>
                  <a:lnTo>
                    <a:pt x="7901034" y="4644299"/>
                  </a:lnTo>
                  <a:lnTo>
                    <a:pt x="774065" y="4644299"/>
                  </a:lnTo>
                  <a:lnTo>
                    <a:pt x="725112" y="4642777"/>
                  </a:lnTo>
                  <a:lnTo>
                    <a:pt x="676968" y="4638268"/>
                  </a:lnTo>
                  <a:lnTo>
                    <a:pt x="629724" y="4630866"/>
                  </a:lnTo>
                  <a:lnTo>
                    <a:pt x="583470" y="4620659"/>
                  </a:lnTo>
                  <a:lnTo>
                    <a:pt x="538297" y="4607739"/>
                  </a:lnTo>
                  <a:lnTo>
                    <a:pt x="494296" y="4592196"/>
                  </a:lnTo>
                  <a:lnTo>
                    <a:pt x="451558" y="4574121"/>
                  </a:lnTo>
                  <a:lnTo>
                    <a:pt x="410173" y="4553606"/>
                  </a:lnTo>
                  <a:lnTo>
                    <a:pt x="370232" y="4530739"/>
                  </a:lnTo>
                  <a:lnTo>
                    <a:pt x="331825" y="4505613"/>
                  </a:lnTo>
                  <a:lnTo>
                    <a:pt x="295043" y="4478317"/>
                  </a:lnTo>
                  <a:lnTo>
                    <a:pt x="259977" y="4448943"/>
                  </a:lnTo>
                  <a:lnTo>
                    <a:pt x="226718" y="4417581"/>
                  </a:lnTo>
                  <a:lnTo>
                    <a:pt x="195356" y="4384322"/>
                  </a:lnTo>
                  <a:lnTo>
                    <a:pt x="165982" y="4349256"/>
                  </a:lnTo>
                  <a:lnTo>
                    <a:pt x="138686" y="4312474"/>
                  </a:lnTo>
                  <a:lnTo>
                    <a:pt x="113560" y="4274067"/>
                  </a:lnTo>
                  <a:lnTo>
                    <a:pt x="90693" y="4234126"/>
                  </a:lnTo>
                  <a:lnTo>
                    <a:pt x="70178" y="4192741"/>
                  </a:lnTo>
                  <a:lnTo>
                    <a:pt x="52103" y="4150003"/>
                  </a:lnTo>
                  <a:lnTo>
                    <a:pt x="36560" y="4106002"/>
                  </a:lnTo>
                  <a:lnTo>
                    <a:pt x="23640" y="4060829"/>
                  </a:lnTo>
                  <a:lnTo>
                    <a:pt x="13433" y="4014575"/>
                  </a:lnTo>
                  <a:lnTo>
                    <a:pt x="6031" y="3967331"/>
                  </a:lnTo>
                  <a:lnTo>
                    <a:pt x="1522" y="3919187"/>
                  </a:lnTo>
                  <a:lnTo>
                    <a:pt x="0" y="3870234"/>
                  </a:lnTo>
                  <a:lnTo>
                    <a:pt x="0" y="7740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4850" y="1192974"/>
              <a:ext cx="8348980" cy="996315"/>
            </a:xfrm>
            <a:custGeom>
              <a:avLst/>
              <a:gdLst/>
              <a:ahLst/>
              <a:cxnLst/>
              <a:rect l="l" t="t" r="r" b="b"/>
              <a:pathLst>
                <a:path w="8348980" h="996314">
                  <a:moveTo>
                    <a:pt x="8182746" y="995699"/>
                  </a:moveTo>
                  <a:lnTo>
                    <a:pt x="165953" y="995699"/>
                  </a:lnTo>
                  <a:lnTo>
                    <a:pt x="121836" y="989771"/>
                  </a:lnTo>
                  <a:lnTo>
                    <a:pt x="82193" y="973042"/>
                  </a:lnTo>
                  <a:lnTo>
                    <a:pt x="48606" y="947093"/>
                  </a:lnTo>
                  <a:lnTo>
                    <a:pt x="22657" y="913506"/>
                  </a:lnTo>
                  <a:lnTo>
                    <a:pt x="5928" y="873863"/>
                  </a:lnTo>
                  <a:lnTo>
                    <a:pt x="0" y="829746"/>
                  </a:lnTo>
                  <a:lnTo>
                    <a:pt x="0" y="165953"/>
                  </a:lnTo>
                  <a:lnTo>
                    <a:pt x="5928" y="121836"/>
                  </a:lnTo>
                  <a:lnTo>
                    <a:pt x="22657" y="82193"/>
                  </a:lnTo>
                  <a:lnTo>
                    <a:pt x="48606" y="48606"/>
                  </a:lnTo>
                  <a:lnTo>
                    <a:pt x="82193" y="22657"/>
                  </a:lnTo>
                  <a:lnTo>
                    <a:pt x="121836" y="5928"/>
                  </a:lnTo>
                  <a:lnTo>
                    <a:pt x="165953" y="0"/>
                  </a:lnTo>
                  <a:lnTo>
                    <a:pt x="8182746" y="0"/>
                  </a:lnTo>
                  <a:lnTo>
                    <a:pt x="8246254" y="12632"/>
                  </a:lnTo>
                  <a:lnTo>
                    <a:pt x="8300093" y="48606"/>
                  </a:lnTo>
                  <a:lnTo>
                    <a:pt x="8336067" y="102445"/>
                  </a:lnTo>
                  <a:lnTo>
                    <a:pt x="8348699" y="165953"/>
                  </a:lnTo>
                  <a:lnTo>
                    <a:pt x="8348699" y="829746"/>
                  </a:lnTo>
                  <a:lnTo>
                    <a:pt x="8342771" y="873863"/>
                  </a:lnTo>
                  <a:lnTo>
                    <a:pt x="8326042" y="913506"/>
                  </a:lnTo>
                  <a:lnTo>
                    <a:pt x="8300093" y="947093"/>
                  </a:lnTo>
                  <a:lnTo>
                    <a:pt x="8266506" y="973042"/>
                  </a:lnTo>
                  <a:lnTo>
                    <a:pt x="8226863" y="989771"/>
                  </a:lnTo>
                  <a:lnTo>
                    <a:pt x="8182746" y="995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4850" y="1192974"/>
              <a:ext cx="8348980" cy="996315"/>
            </a:xfrm>
            <a:custGeom>
              <a:avLst/>
              <a:gdLst/>
              <a:ahLst/>
              <a:cxnLst/>
              <a:rect l="l" t="t" r="r" b="b"/>
              <a:pathLst>
                <a:path w="8348980" h="996314">
                  <a:moveTo>
                    <a:pt x="0" y="165953"/>
                  </a:moveTo>
                  <a:lnTo>
                    <a:pt x="5928" y="121836"/>
                  </a:lnTo>
                  <a:lnTo>
                    <a:pt x="22657" y="82193"/>
                  </a:lnTo>
                  <a:lnTo>
                    <a:pt x="48606" y="48606"/>
                  </a:lnTo>
                  <a:lnTo>
                    <a:pt x="82193" y="22657"/>
                  </a:lnTo>
                  <a:lnTo>
                    <a:pt x="121836" y="5928"/>
                  </a:lnTo>
                  <a:lnTo>
                    <a:pt x="165953" y="0"/>
                  </a:lnTo>
                  <a:lnTo>
                    <a:pt x="8182746" y="0"/>
                  </a:lnTo>
                  <a:lnTo>
                    <a:pt x="8246254" y="12632"/>
                  </a:lnTo>
                  <a:lnTo>
                    <a:pt x="8300093" y="48606"/>
                  </a:lnTo>
                  <a:lnTo>
                    <a:pt x="8336067" y="102445"/>
                  </a:lnTo>
                  <a:lnTo>
                    <a:pt x="8348699" y="165953"/>
                  </a:lnTo>
                  <a:lnTo>
                    <a:pt x="8348699" y="829746"/>
                  </a:lnTo>
                  <a:lnTo>
                    <a:pt x="8342771" y="873863"/>
                  </a:lnTo>
                  <a:lnTo>
                    <a:pt x="8326042" y="913506"/>
                  </a:lnTo>
                  <a:lnTo>
                    <a:pt x="8300093" y="947093"/>
                  </a:lnTo>
                  <a:lnTo>
                    <a:pt x="8266506" y="973042"/>
                  </a:lnTo>
                  <a:lnTo>
                    <a:pt x="8226863" y="989771"/>
                  </a:lnTo>
                  <a:lnTo>
                    <a:pt x="8182746" y="995699"/>
                  </a:lnTo>
                  <a:lnTo>
                    <a:pt x="165953" y="995699"/>
                  </a:lnTo>
                  <a:lnTo>
                    <a:pt x="121836" y="989771"/>
                  </a:lnTo>
                  <a:lnTo>
                    <a:pt x="82193" y="973042"/>
                  </a:lnTo>
                  <a:lnTo>
                    <a:pt x="48606" y="947093"/>
                  </a:lnTo>
                  <a:lnTo>
                    <a:pt x="22657" y="913506"/>
                  </a:lnTo>
                  <a:lnTo>
                    <a:pt x="5928" y="873863"/>
                  </a:lnTo>
                  <a:lnTo>
                    <a:pt x="0" y="829746"/>
                  </a:lnTo>
                  <a:lnTo>
                    <a:pt x="0" y="165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4850" y="2285399"/>
              <a:ext cx="8348980" cy="996315"/>
            </a:xfrm>
            <a:custGeom>
              <a:avLst/>
              <a:gdLst/>
              <a:ahLst/>
              <a:cxnLst/>
              <a:rect l="l" t="t" r="r" b="b"/>
              <a:pathLst>
                <a:path w="8348980" h="996314">
                  <a:moveTo>
                    <a:pt x="8182746" y="995699"/>
                  </a:moveTo>
                  <a:lnTo>
                    <a:pt x="165953" y="995699"/>
                  </a:lnTo>
                  <a:lnTo>
                    <a:pt x="121836" y="989771"/>
                  </a:lnTo>
                  <a:lnTo>
                    <a:pt x="82193" y="973042"/>
                  </a:lnTo>
                  <a:lnTo>
                    <a:pt x="48606" y="947093"/>
                  </a:lnTo>
                  <a:lnTo>
                    <a:pt x="22657" y="913506"/>
                  </a:lnTo>
                  <a:lnTo>
                    <a:pt x="5928" y="873863"/>
                  </a:lnTo>
                  <a:lnTo>
                    <a:pt x="0" y="829746"/>
                  </a:lnTo>
                  <a:lnTo>
                    <a:pt x="0" y="165953"/>
                  </a:lnTo>
                  <a:lnTo>
                    <a:pt x="5928" y="121836"/>
                  </a:lnTo>
                  <a:lnTo>
                    <a:pt x="22657" y="82193"/>
                  </a:lnTo>
                  <a:lnTo>
                    <a:pt x="48606" y="48606"/>
                  </a:lnTo>
                  <a:lnTo>
                    <a:pt x="82193" y="22657"/>
                  </a:lnTo>
                  <a:lnTo>
                    <a:pt x="121836" y="5928"/>
                  </a:lnTo>
                  <a:lnTo>
                    <a:pt x="165953" y="0"/>
                  </a:lnTo>
                  <a:lnTo>
                    <a:pt x="8182746" y="0"/>
                  </a:lnTo>
                  <a:lnTo>
                    <a:pt x="8246254" y="12632"/>
                  </a:lnTo>
                  <a:lnTo>
                    <a:pt x="8300093" y="48606"/>
                  </a:lnTo>
                  <a:lnTo>
                    <a:pt x="8336067" y="102445"/>
                  </a:lnTo>
                  <a:lnTo>
                    <a:pt x="8348699" y="165953"/>
                  </a:lnTo>
                  <a:lnTo>
                    <a:pt x="8348699" y="829746"/>
                  </a:lnTo>
                  <a:lnTo>
                    <a:pt x="8342771" y="873863"/>
                  </a:lnTo>
                  <a:lnTo>
                    <a:pt x="8326042" y="913506"/>
                  </a:lnTo>
                  <a:lnTo>
                    <a:pt x="8300093" y="947093"/>
                  </a:lnTo>
                  <a:lnTo>
                    <a:pt x="8266506" y="973042"/>
                  </a:lnTo>
                  <a:lnTo>
                    <a:pt x="8226863" y="989771"/>
                  </a:lnTo>
                  <a:lnTo>
                    <a:pt x="8182746" y="995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4850" y="2285399"/>
              <a:ext cx="8348980" cy="996315"/>
            </a:xfrm>
            <a:custGeom>
              <a:avLst/>
              <a:gdLst/>
              <a:ahLst/>
              <a:cxnLst/>
              <a:rect l="l" t="t" r="r" b="b"/>
              <a:pathLst>
                <a:path w="8348980" h="996314">
                  <a:moveTo>
                    <a:pt x="0" y="165953"/>
                  </a:moveTo>
                  <a:lnTo>
                    <a:pt x="5928" y="121836"/>
                  </a:lnTo>
                  <a:lnTo>
                    <a:pt x="22657" y="82193"/>
                  </a:lnTo>
                  <a:lnTo>
                    <a:pt x="48606" y="48606"/>
                  </a:lnTo>
                  <a:lnTo>
                    <a:pt x="82193" y="22657"/>
                  </a:lnTo>
                  <a:lnTo>
                    <a:pt x="121836" y="5928"/>
                  </a:lnTo>
                  <a:lnTo>
                    <a:pt x="165953" y="0"/>
                  </a:lnTo>
                  <a:lnTo>
                    <a:pt x="8182746" y="0"/>
                  </a:lnTo>
                  <a:lnTo>
                    <a:pt x="8246254" y="12632"/>
                  </a:lnTo>
                  <a:lnTo>
                    <a:pt x="8300093" y="48606"/>
                  </a:lnTo>
                  <a:lnTo>
                    <a:pt x="8336067" y="102445"/>
                  </a:lnTo>
                  <a:lnTo>
                    <a:pt x="8348699" y="165953"/>
                  </a:lnTo>
                  <a:lnTo>
                    <a:pt x="8348699" y="829746"/>
                  </a:lnTo>
                  <a:lnTo>
                    <a:pt x="8342771" y="873863"/>
                  </a:lnTo>
                  <a:lnTo>
                    <a:pt x="8326042" y="913506"/>
                  </a:lnTo>
                  <a:lnTo>
                    <a:pt x="8300093" y="947093"/>
                  </a:lnTo>
                  <a:lnTo>
                    <a:pt x="8266506" y="973042"/>
                  </a:lnTo>
                  <a:lnTo>
                    <a:pt x="8226863" y="989771"/>
                  </a:lnTo>
                  <a:lnTo>
                    <a:pt x="8182746" y="995699"/>
                  </a:lnTo>
                  <a:lnTo>
                    <a:pt x="165953" y="995699"/>
                  </a:lnTo>
                  <a:lnTo>
                    <a:pt x="121836" y="989771"/>
                  </a:lnTo>
                  <a:lnTo>
                    <a:pt x="82193" y="973042"/>
                  </a:lnTo>
                  <a:lnTo>
                    <a:pt x="48606" y="947093"/>
                  </a:lnTo>
                  <a:lnTo>
                    <a:pt x="22657" y="913506"/>
                  </a:lnTo>
                  <a:lnTo>
                    <a:pt x="5928" y="873863"/>
                  </a:lnTo>
                  <a:lnTo>
                    <a:pt x="0" y="829746"/>
                  </a:lnTo>
                  <a:lnTo>
                    <a:pt x="0" y="165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4850" y="3377812"/>
              <a:ext cx="8348980" cy="996315"/>
            </a:xfrm>
            <a:custGeom>
              <a:avLst/>
              <a:gdLst/>
              <a:ahLst/>
              <a:cxnLst/>
              <a:rect l="l" t="t" r="r" b="b"/>
              <a:pathLst>
                <a:path w="8348980" h="996314">
                  <a:moveTo>
                    <a:pt x="8182746" y="995699"/>
                  </a:moveTo>
                  <a:lnTo>
                    <a:pt x="165953" y="995699"/>
                  </a:lnTo>
                  <a:lnTo>
                    <a:pt x="121836" y="989771"/>
                  </a:lnTo>
                  <a:lnTo>
                    <a:pt x="82193" y="973042"/>
                  </a:lnTo>
                  <a:lnTo>
                    <a:pt x="48606" y="947093"/>
                  </a:lnTo>
                  <a:lnTo>
                    <a:pt x="22657" y="913506"/>
                  </a:lnTo>
                  <a:lnTo>
                    <a:pt x="5928" y="873863"/>
                  </a:lnTo>
                  <a:lnTo>
                    <a:pt x="0" y="829746"/>
                  </a:lnTo>
                  <a:lnTo>
                    <a:pt x="0" y="165952"/>
                  </a:lnTo>
                  <a:lnTo>
                    <a:pt x="5928" y="121836"/>
                  </a:lnTo>
                  <a:lnTo>
                    <a:pt x="22657" y="82193"/>
                  </a:lnTo>
                  <a:lnTo>
                    <a:pt x="48606" y="48606"/>
                  </a:lnTo>
                  <a:lnTo>
                    <a:pt x="82193" y="22657"/>
                  </a:lnTo>
                  <a:lnTo>
                    <a:pt x="121836" y="5928"/>
                  </a:lnTo>
                  <a:lnTo>
                    <a:pt x="165953" y="0"/>
                  </a:lnTo>
                  <a:lnTo>
                    <a:pt x="8182746" y="0"/>
                  </a:lnTo>
                  <a:lnTo>
                    <a:pt x="8246254" y="12632"/>
                  </a:lnTo>
                  <a:lnTo>
                    <a:pt x="8300093" y="48606"/>
                  </a:lnTo>
                  <a:lnTo>
                    <a:pt x="8336067" y="102445"/>
                  </a:lnTo>
                  <a:lnTo>
                    <a:pt x="8348699" y="165952"/>
                  </a:lnTo>
                  <a:lnTo>
                    <a:pt x="8348699" y="829746"/>
                  </a:lnTo>
                  <a:lnTo>
                    <a:pt x="8342771" y="873863"/>
                  </a:lnTo>
                  <a:lnTo>
                    <a:pt x="8326042" y="913506"/>
                  </a:lnTo>
                  <a:lnTo>
                    <a:pt x="8300093" y="947093"/>
                  </a:lnTo>
                  <a:lnTo>
                    <a:pt x="8266506" y="973042"/>
                  </a:lnTo>
                  <a:lnTo>
                    <a:pt x="8226863" y="989771"/>
                  </a:lnTo>
                  <a:lnTo>
                    <a:pt x="8182746" y="995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4850" y="3377812"/>
              <a:ext cx="8348980" cy="996315"/>
            </a:xfrm>
            <a:custGeom>
              <a:avLst/>
              <a:gdLst/>
              <a:ahLst/>
              <a:cxnLst/>
              <a:rect l="l" t="t" r="r" b="b"/>
              <a:pathLst>
                <a:path w="8348980" h="996314">
                  <a:moveTo>
                    <a:pt x="0" y="165952"/>
                  </a:moveTo>
                  <a:lnTo>
                    <a:pt x="5928" y="121836"/>
                  </a:lnTo>
                  <a:lnTo>
                    <a:pt x="22657" y="82193"/>
                  </a:lnTo>
                  <a:lnTo>
                    <a:pt x="48606" y="48606"/>
                  </a:lnTo>
                  <a:lnTo>
                    <a:pt x="82193" y="22657"/>
                  </a:lnTo>
                  <a:lnTo>
                    <a:pt x="121836" y="5928"/>
                  </a:lnTo>
                  <a:lnTo>
                    <a:pt x="165953" y="0"/>
                  </a:lnTo>
                  <a:lnTo>
                    <a:pt x="8182746" y="0"/>
                  </a:lnTo>
                  <a:lnTo>
                    <a:pt x="8246254" y="12632"/>
                  </a:lnTo>
                  <a:lnTo>
                    <a:pt x="8300093" y="48606"/>
                  </a:lnTo>
                  <a:lnTo>
                    <a:pt x="8336067" y="102445"/>
                  </a:lnTo>
                  <a:lnTo>
                    <a:pt x="8348699" y="165952"/>
                  </a:lnTo>
                  <a:lnTo>
                    <a:pt x="8348699" y="829746"/>
                  </a:lnTo>
                  <a:lnTo>
                    <a:pt x="8342771" y="873863"/>
                  </a:lnTo>
                  <a:lnTo>
                    <a:pt x="8326042" y="913506"/>
                  </a:lnTo>
                  <a:lnTo>
                    <a:pt x="8300093" y="947093"/>
                  </a:lnTo>
                  <a:lnTo>
                    <a:pt x="8266506" y="973042"/>
                  </a:lnTo>
                  <a:lnTo>
                    <a:pt x="8226863" y="989771"/>
                  </a:lnTo>
                  <a:lnTo>
                    <a:pt x="8182746" y="995699"/>
                  </a:lnTo>
                  <a:lnTo>
                    <a:pt x="165953" y="995699"/>
                  </a:lnTo>
                  <a:lnTo>
                    <a:pt x="121836" y="989771"/>
                  </a:lnTo>
                  <a:lnTo>
                    <a:pt x="82193" y="973042"/>
                  </a:lnTo>
                  <a:lnTo>
                    <a:pt x="48606" y="947093"/>
                  </a:lnTo>
                  <a:lnTo>
                    <a:pt x="22657" y="913506"/>
                  </a:lnTo>
                  <a:lnTo>
                    <a:pt x="5928" y="873863"/>
                  </a:lnTo>
                  <a:lnTo>
                    <a:pt x="0" y="829746"/>
                  </a:lnTo>
                  <a:lnTo>
                    <a:pt x="0" y="1659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8641" y="1672857"/>
            <a:ext cx="10432627" cy="393349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Dodge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et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al.,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2021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(main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paper)</a:t>
            </a:r>
            <a:endParaRPr sz="2400">
              <a:latin typeface="Arial"/>
              <a:cs typeface="Arial"/>
            </a:endParaRPr>
          </a:p>
          <a:p>
            <a:pPr marL="626518" marR="1124345">
              <a:lnSpc>
                <a:spcPct val="100699"/>
              </a:lnSpc>
            </a:pPr>
            <a:r>
              <a:rPr sz="2400" dirty="0">
                <a:latin typeface="Arial"/>
                <a:cs typeface="Arial"/>
              </a:rPr>
              <a:t>Propose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levels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documentation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web-</a:t>
            </a:r>
            <a:r>
              <a:rPr sz="2400" dirty="0">
                <a:latin typeface="Arial"/>
                <a:cs typeface="Arial"/>
              </a:rPr>
              <a:t>crawled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datasets </a:t>
            </a:r>
            <a:r>
              <a:rPr sz="2400" dirty="0">
                <a:latin typeface="Arial"/>
                <a:cs typeface="Arial"/>
              </a:rPr>
              <a:t>Recommendations</a:t>
            </a:r>
            <a:r>
              <a:rPr sz="2400" spc="-5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future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documentation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efforts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3667">
              <a:latin typeface="Arial"/>
              <a:cs typeface="Arial"/>
            </a:endParaRPr>
          </a:p>
          <a:p>
            <a:pPr marL="16933"/>
            <a:r>
              <a:rPr sz="2400" b="1" dirty="0">
                <a:latin typeface="Arial"/>
                <a:cs typeface="Arial"/>
              </a:rPr>
              <a:t>Gao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al.,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2020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(The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Pile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paper)</a:t>
            </a:r>
            <a:endParaRPr sz="2400">
              <a:latin typeface="Arial"/>
              <a:cs typeface="Arial"/>
            </a:endParaRPr>
          </a:p>
          <a:p>
            <a:pPr marL="626518">
              <a:spcBef>
                <a:spcPts val="20"/>
              </a:spcBef>
            </a:pPr>
            <a:r>
              <a:rPr sz="2400" dirty="0">
                <a:latin typeface="Arial"/>
                <a:cs typeface="Arial"/>
              </a:rPr>
              <a:t>New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dataset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combining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22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high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quality,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diverse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sources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267">
              <a:latin typeface="Arial"/>
              <a:cs typeface="Arial"/>
            </a:endParaRPr>
          </a:p>
          <a:p>
            <a:pPr marL="16933"/>
            <a:r>
              <a:rPr sz="2400" b="1" dirty="0">
                <a:latin typeface="Arial"/>
                <a:cs typeface="Arial"/>
              </a:rPr>
              <a:t>Lee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et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al.,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2022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(The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Deduplication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paper)</a:t>
            </a:r>
            <a:endParaRPr sz="2400">
              <a:latin typeface="Arial"/>
              <a:cs typeface="Arial"/>
            </a:endParaRPr>
          </a:p>
          <a:p>
            <a:pPr marL="626518">
              <a:spcBef>
                <a:spcPts val="20"/>
              </a:spcBef>
            </a:pPr>
            <a:r>
              <a:rPr sz="2400" dirty="0">
                <a:latin typeface="Arial"/>
                <a:cs typeface="Arial"/>
              </a:rPr>
              <a:t>Deduplication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does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harm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perplexity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makes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3" dirty="0">
                <a:latin typeface="Arial"/>
                <a:cs typeface="Arial"/>
              </a:rPr>
              <a:t>faster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12517" y="532583"/>
            <a:ext cx="3880273" cy="855133"/>
            <a:chOff x="3084387" y="399437"/>
            <a:chExt cx="2910205" cy="641350"/>
          </a:xfrm>
        </p:grpSpPr>
        <p:sp>
          <p:nvSpPr>
            <p:cNvPr id="13" name="object 13"/>
            <p:cNvSpPr/>
            <p:nvPr/>
          </p:nvSpPr>
          <p:spPr>
            <a:xfrm>
              <a:off x="3089149" y="404199"/>
              <a:ext cx="2900680" cy="631825"/>
            </a:xfrm>
            <a:custGeom>
              <a:avLst/>
              <a:gdLst/>
              <a:ahLst/>
              <a:cxnLst/>
              <a:rect l="l" t="t" r="r" b="b"/>
              <a:pathLst>
                <a:path w="2900679" h="631825">
                  <a:moveTo>
                    <a:pt x="2794847" y="631499"/>
                  </a:moveTo>
                  <a:lnTo>
                    <a:pt x="105252" y="631499"/>
                  </a:lnTo>
                  <a:lnTo>
                    <a:pt x="64283" y="623228"/>
                  </a:lnTo>
                  <a:lnTo>
                    <a:pt x="30827" y="600672"/>
                  </a:lnTo>
                  <a:lnTo>
                    <a:pt x="8271" y="567216"/>
                  </a:lnTo>
                  <a:lnTo>
                    <a:pt x="0" y="526247"/>
                  </a:lnTo>
                  <a:lnTo>
                    <a:pt x="0" y="105252"/>
                  </a:lnTo>
                  <a:lnTo>
                    <a:pt x="8271" y="64283"/>
                  </a:lnTo>
                  <a:lnTo>
                    <a:pt x="30827" y="30827"/>
                  </a:lnTo>
                  <a:lnTo>
                    <a:pt x="64283" y="8271"/>
                  </a:lnTo>
                  <a:lnTo>
                    <a:pt x="105252" y="0"/>
                  </a:lnTo>
                  <a:lnTo>
                    <a:pt x="2794847" y="0"/>
                  </a:lnTo>
                  <a:lnTo>
                    <a:pt x="2835126" y="8011"/>
                  </a:lnTo>
                  <a:lnTo>
                    <a:pt x="2869272" y="30827"/>
                  </a:lnTo>
                  <a:lnTo>
                    <a:pt x="2892088" y="64973"/>
                  </a:lnTo>
                  <a:lnTo>
                    <a:pt x="2900099" y="105252"/>
                  </a:lnTo>
                  <a:lnTo>
                    <a:pt x="2900099" y="526247"/>
                  </a:lnTo>
                  <a:lnTo>
                    <a:pt x="2891828" y="567216"/>
                  </a:lnTo>
                  <a:lnTo>
                    <a:pt x="2869272" y="600672"/>
                  </a:lnTo>
                  <a:lnTo>
                    <a:pt x="2835816" y="623228"/>
                  </a:lnTo>
                  <a:lnTo>
                    <a:pt x="2794847" y="631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89150" y="404199"/>
              <a:ext cx="2900680" cy="631825"/>
            </a:xfrm>
            <a:custGeom>
              <a:avLst/>
              <a:gdLst/>
              <a:ahLst/>
              <a:cxnLst/>
              <a:rect l="l" t="t" r="r" b="b"/>
              <a:pathLst>
                <a:path w="2900679" h="631825">
                  <a:moveTo>
                    <a:pt x="0" y="105252"/>
                  </a:moveTo>
                  <a:lnTo>
                    <a:pt x="8271" y="64283"/>
                  </a:lnTo>
                  <a:lnTo>
                    <a:pt x="30827" y="30827"/>
                  </a:lnTo>
                  <a:lnTo>
                    <a:pt x="64283" y="8271"/>
                  </a:lnTo>
                  <a:lnTo>
                    <a:pt x="105252" y="0"/>
                  </a:lnTo>
                  <a:lnTo>
                    <a:pt x="2794847" y="0"/>
                  </a:lnTo>
                  <a:lnTo>
                    <a:pt x="2835126" y="8011"/>
                  </a:lnTo>
                  <a:lnTo>
                    <a:pt x="2869272" y="30827"/>
                  </a:lnTo>
                  <a:lnTo>
                    <a:pt x="2892088" y="64973"/>
                  </a:lnTo>
                  <a:lnTo>
                    <a:pt x="2900099" y="105252"/>
                  </a:lnTo>
                  <a:lnTo>
                    <a:pt x="2900099" y="526247"/>
                  </a:lnTo>
                  <a:lnTo>
                    <a:pt x="2891828" y="567216"/>
                  </a:lnTo>
                  <a:lnTo>
                    <a:pt x="2869272" y="600672"/>
                  </a:lnTo>
                  <a:lnTo>
                    <a:pt x="2835816" y="623228"/>
                  </a:lnTo>
                  <a:lnTo>
                    <a:pt x="2794847" y="631499"/>
                  </a:lnTo>
                  <a:lnTo>
                    <a:pt x="105252" y="631499"/>
                  </a:lnTo>
                  <a:lnTo>
                    <a:pt x="64283" y="623228"/>
                  </a:lnTo>
                  <a:lnTo>
                    <a:pt x="30827" y="600672"/>
                  </a:lnTo>
                  <a:lnTo>
                    <a:pt x="8271" y="567216"/>
                  </a:lnTo>
                  <a:lnTo>
                    <a:pt x="0" y="526247"/>
                  </a:lnTo>
                  <a:lnTo>
                    <a:pt x="0" y="1052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12800" y="832408"/>
            <a:ext cx="14630400" cy="5915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524474">
              <a:spcBef>
                <a:spcPts val="133"/>
              </a:spcBef>
            </a:pPr>
            <a:r>
              <a:rPr sz="3733" spc="-13" dirty="0"/>
              <a:t>Summary</a:t>
            </a:r>
            <a:endParaRPr sz="3733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AF95797-776C-4C1B-8BFC-7C84F1640B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119</a:t>
            </a:fld>
            <a:endParaRPr lang="en-US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spc="-13" dirty="0"/>
              <a:t>High-</a:t>
            </a:r>
            <a:r>
              <a:rPr dirty="0"/>
              <a:t>level</a:t>
            </a:r>
            <a:r>
              <a:rPr spc="-27" dirty="0"/>
              <a:t> </a:t>
            </a:r>
            <a:r>
              <a:rPr dirty="0"/>
              <a:t>discussion</a:t>
            </a:r>
            <a:r>
              <a:rPr spc="-27" dirty="0"/>
              <a:t> </a:t>
            </a:r>
            <a:r>
              <a:rPr spc="-13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1621807"/>
            <a:ext cx="10485120" cy="22754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So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far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only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focussed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existing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datasets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documentation…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other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angles?</a:t>
            </a:r>
            <a:endParaRPr sz="2400">
              <a:latin typeface="Arial"/>
              <a:cs typeface="Arial"/>
            </a:endParaRPr>
          </a:p>
          <a:p>
            <a:pPr marL="16933" marR="1025288">
              <a:lnSpc>
                <a:spcPct val="170600"/>
              </a:lnSpc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should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ecosystem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created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look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like?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Best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practices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creating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maintain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quality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security?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2027"/>
              </a:spcBef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Idea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belongs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groups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rather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individuals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D57BC-9AB2-48D5-A875-523132A621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120</a:t>
            </a:fld>
            <a:endParaRPr lang="en-US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14562" y="6354715"/>
            <a:ext cx="31665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33" dirty="0">
                <a:solidFill>
                  <a:srgbClr val="595959"/>
                </a:solidFill>
                <a:latin typeface="Arial"/>
                <a:cs typeface="Arial"/>
              </a:rPr>
              <a:t>136</a:t>
            </a:r>
            <a:endParaRPr sz="1333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8499" y="557656"/>
            <a:ext cx="3166533" cy="512106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4139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98674">
              <a:spcBef>
                <a:spcPts val="1113"/>
              </a:spcBef>
            </a:pPr>
            <a:r>
              <a:rPr sz="2400" b="1" dirty="0"/>
              <a:t>“Data</a:t>
            </a:r>
            <a:r>
              <a:rPr sz="2400" b="1" spc="-33" dirty="0"/>
              <a:t> </a:t>
            </a:r>
            <a:r>
              <a:rPr sz="2400" b="1" spc="-13" dirty="0"/>
              <a:t>Helpers”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922750" y="1687417"/>
            <a:ext cx="1800013" cy="1322492"/>
            <a:chOff x="692062" y="1265562"/>
            <a:chExt cx="1350010" cy="991869"/>
          </a:xfrm>
        </p:grpSpPr>
        <p:sp>
          <p:nvSpPr>
            <p:cNvPr id="5" name="object 5"/>
            <p:cNvSpPr/>
            <p:nvPr/>
          </p:nvSpPr>
          <p:spPr>
            <a:xfrm>
              <a:off x="696825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4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6825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4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98918" y="2088556"/>
            <a:ext cx="84751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b="1" spc="-13" dirty="0">
                <a:latin typeface="Arial"/>
                <a:cs typeface="Arial"/>
              </a:rPr>
              <a:t>Lawyers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06621" y="1687417"/>
            <a:ext cx="3453553" cy="1322492"/>
            <a:chOff x="1279965" y="1265562"/>
            <a:chExt cx="2590165" cy="99186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9965" y="1770787"/>
              <a:ext cx="173819" cy="16359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24999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4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24999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4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72435" y="1981283"/>
            <a:ext cx="976207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indent="181182">
              <a:lnSpc>
                <a:spcPct val="102299"/>
              </a:lnSpc>
              <a:spcBef>
                <a:spcPts val="93"/>
              </a:spcBef>
            </a:pPr>
            <a:r>
              <a:rPr sz="1467" b="1" spc="-13" dirty="0">
                <a:latin typeface="Arial"/>
                <a:cs typeface="Arial"/>
              </a:rPr>
              <a:t>Rights Advocates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3150" y="2468999"/>
            <a:ext cx="3832860" cy="2871893"/>
            <a:chOff x="407362" y="1851749"/>
            <a:chExt cx="2874645" cy="215392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140" y="1851749"/>
              <a:ext cx="173819" cy="16359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12124" y="2408024"/>
              <a:ext cx="1624965" cy="1593215"/>
            </a:xfrm>
            <a:custGeom>
              <a:avLst/>
              <a:gdLst/>
              <a:ahLst/>
              <a:cxnLst/>
              <a:rect l="l" t="t" r="r" b="b"/>
              <a:pathLst>
                <a:path w="1624964" h="1593214">
                  <a:moveTo>
                    <a:pt x="812399" y="1592699"/>
                  </a:moveTo>
                  <a:lnTo>
                    <a:pt x="764665" y="1591348"/>
                  </a:lnTo>
                  <a:lnTo>
                    <a:pt x="717656" y="1587342"/>
                  </a:lnTo>
                  <a:lnTo>
                    <a:pt x="671451" y="1580757"/>
                  </a:lnTo>
                  <a:lnTo>
                    <a:pt x="626124" y="1571667"/>
                  </a:lnTo>
                  <a:lnTo>
                    <a:pt x="581751" y="1560148"/>
                  </a:lnTo>
                  <a:lnTo>
                    <a:pt x="538410" y="1546273"/>
                  </a:lnTo>
                  <a:lnTo>
                    <a:pt x="496177" y="1530118"/>
                  </a:lnTo>
                  <a:lnTo>
                    <a:pt x="455127" y="1511758"/>
                  </a:lnTo>
                  <a:lnTo>
                    <a:pt x="415336" y="1491266"/>
                  </a:lnTo>
                  <a:lnTo>
                    <a:pt x="376881" y="1468717"/>
                  </a:lnTo>
                  <a:lnTo>
                    <a:pt x="339839" y="1444187"/>
                  </a:lnTo>
                  <a:lnTo>
                    <a:pt x="304285" y="1417750"/>
                  </a:lnTo>
                  <a:lnTo>
                    <a:pt x="270295" y="1389481"/>
                  </a:lnTo>
                  <a:lnTo>
                    <a:pt x="237946" y="1359454"/>
                  </a:lnTo>
                  <a:lnTo>
                    <a:pt x="207314" y="1327744"/>
                  </a:lnTo>
                  <a:lnTo>
                    <a:pt x="178475" y="1294426"/>
                  </a:lnTo>
                  <a:lnTo>
                    <a:pt x="151505" y="1259574"/>
                  </a:lnTo>
                  <a:lnTo>
                    <a:pt x="126480" y="1223263"/>
                  </a:lnTo>
                  <a:lnTo>
                    <a:pt x="103478" y="1185568"/>
                  </a:lnTo>
                  <a:lnTo>
                    <a:pt x="82573" y="1146564"/>
                  </a:lnTo>
                  <a:lnTo>
                    <a:pt x="63842" y="1106325"/>
                  </a:lnTo>
                  <a:lnTo>
                    <a:pt x="47361" y="1064926"/>
                  </a:lnTo>
                  <a:lnTo>
                    <a:pt x="33207" y="1022441"/>
                  </a:lnTo>
                  <a:lnTo>
                    <a:pt x="21456" y="978945"/>
                  </a:lnTo>
                  <a:lnTo>
                    <a:pt x="12183" y="934514"/>
                  </a:lnTo>
                  <a:lnTo>
                    <a:pt x="5465" y="889221"/>
                  </a:lnTo>
                  <a:lnTo>
                    <a:pt x="1379" y="843141"/>
                  </a:lnTo>
                  <a:lnTo>
                    <a:pt x="0" y="796349"/>
                  </a:lnTo>
                  <a:lnTo>
                    <a:pt x="1379" y="749558"/>
                  </a:lnTo>
                  <a:lnTo>
                    <a:pt x="5465" y="703478"/>
                  </a:lnTo>
                  <a:lnTo>
                    <a:pt x="12183" y="658185"/>
                  </a:lnTo>
                  <a:lnTo>
                    <a:pt x="21456" y="613754"/>
                  </a:lnTo>
                  <a:lnTo>
                    <a:pt x="33207" y="570258"/>
                  </a:lnTo>
                  <a:lnTo>
                    <a:pt x="47361" y="527773"/>
                  </a:lnTo>
                  <a:lnTo>
                    <a:pt x="63842" y="486374"/>
                  </a:lnTo>
                  <a:lnTo>
                    <a:pt x="82573" y="446135"/>
                  </a:lnTo>
                  <a:lnTo>
                    <a:pt x="103478" y="407131"/>
                  </a:lnTo>
                  <a:lnTo>
                    <a:pt x="126480" y="369436"/>
                  </a:lnTo>
                  <a:lnTo>
                    <a:pt x="151505" y="333125"/>
                  </a:lnTo>
                  <a:lnTo>
                    <a:pt x="178475" y="298273"/>
                  </a:lnTo>
                  <a:lnTo>
                    <a:pt x="207314" y="264955"/>
                  </a:lnTo>
                  <a:lnTo>
                    <a:pt x="237946" y="233245"/>
                  </a:lnTo>
                  <a:lnTo>
                    <a:pt x="270295" y="203218"/>
                  </a:lnTo>
                  <a:lnTo>
                    <a:pt x="304285" y="174949"/>
                  </a:lnTo>
                  <a:lnTo>
                    <a:pt x="339839" y="148512"/>
                  </a:lnTo>
                  <a:lnTo>
                    <a:pt x="376881" y="123982"/>
                  </a:lnTo>
                  <a:lnTo>
                    <a:pt x="415336" y="101433"/>
                  </a:lnTo>
                  <a:lnTo>
                    <a:pt x="455127" y="80941"/>
                  </a:lnTo>
                  <a:lnTo>
                    <a:pt x="496177" y="62581"/>
                  </a:lnTo>
                  <a:lnTo>
                    <a:pt x="538410" y="46426"/>
                  </a:lnTo>
                  <a:lnTo>
                    <a:pt x="581751" y="32551"/>
                  </a:lnTo>
                  <a:lnTo>
                    <a:pt x="626124" y="21032"/>
                  </a:lnTo>
                  <a:lnTo>
                    <a:pt x="671451" y="11942"/>
                  </a:lnTo>
                  <a:lnTo>
                    <a:pt x="717656" y="5357"/>
                  </a:lnTo>
                  <a:lnTo>
                    <a:pt x="764665" y="1351"/>
                  </a:lnTo>
                  <a:lnTo>
                    <a:pt x="812399" y="0"/>
                  </a:lnTo>
                  <a:lnTo>
                    <a:pt x="861944" y="1480"/>
                  </a:lnTo>
                  <a:lnTo>
                    <a:pt x="911051" y="5890"/>
                  </a:lnTo>
                  <a:lnTo>
                    <a:pt x="959597" y="13177"/>
                  </a:lnTo>
                  <a:lnTo>
                    <a:pt x="1007457" y="23292"/>
                  </a:lnTo>
                  <a:lnTo>
                    <a:pt x="1054507" y="36184"/>
                  </a:lnTo>
                  <a:lnTo>
                    <a:pt x="1100623" y="51802"/>
                  </a:lnTo>
                  <a:lnTo>
                    <a:pt x="1145680" y="70097"/>
                  </a:lnTo>
                  <a:lnTo>
                    <a:pt x="1189556" y="91018"/>
                  </a:lnTo>
                  <a:lnTo>
                    <a:pt x="1232125" y="114514"/>
                  </a:lnTo>
                  <a:lnTo>
                    <a:pt x="1273263" y="140535"/>
                  </a:lnTo>
                  <a:lnTo>
                    <a:pt x="1312847" y="169031"/>
                  </a:lnTo>
                  <a:lnTo>
                    <a:pt x="1350751" y="199951"/>
                  </a:lnTo>
                  <a:lnTo>
                    <a:pt x="1386853" y="233245"/>
                  </a:lnTo>
                  <a:lnTo>
                    <a:pt x="1420818" y="268633"/>
                  </a:lnTo>
                  <a:lnTo>
                    <a:pt x="1452361" y="305789"/>
                  </a:lnTo>
                  <a:lnTo>
                    <a:pt x="1481432" y="344591"/>
                  </a:lnTo>
                  <a:lnTo>
                    <a:pt x="1507977" y="384916"/>
                  </a:lnTo>
                  <a:lnTo>
                    <a:pt x="1531947" y="426644"/>
                  </a:lnTo>
                  <a:lnTo>
                    <a:pt x="1553289" y="469653"/>
                  </a:lnTo>
                  <a:lnTo>
                    <a:pt x="1571953" y="513821"/>
                  </a:lnTo>
                  <a:lnTo>
                    <a:pt x="1587886" y="559025"/>
                  </a:lnTo>
                  <a:lnTo>
                    <a:pt x="1601038" y="605146"/>
                  </a:lnTo>
                  <a:lnTo>
                    <a:pt x="1611356" y="652060"/>
                  </a:lnTo>
                  <a:lnTo>
                    <a:pt x="1618791" y="699647"/>
                  </a:lnTo>
                  <a:lnTo>
                    <a:pt x="1623289" y="747784"/>
                  </a:lnTo>
                  <a:lnTo>
                    <a:pt x="1624799" y="796349"/>
                  </a:lnTo>
                  <a:lnTo>
                    <a:pt x="1623420" y="843141"/>
                  </a:lnTo>
                  <a:lnTo>
                    <a:pt x="1619334" y="889221"/>
                  </a:lnTo>
                  <a:lnTo>
                    <a:pt x="1612616" y="934514"/>
                  </a:lnTo>
                  <a:lnTo>
                    <a:pt x="1603343" y="978945"/>
                  </a:lnTo>
                  <a:lnTo>
                    <a:pt x="1591592" y="1022441"/>
                  </a:lnTo>
                  <a:lnTo>
                    <a:pt x="1577438" y="1064926"/>
                  </a:lnTo>
                  <a:lnTo>
                    <a:pt x="1560957" y="1106325"/>
                  </a:lnTo>
                  <a:lnTo>
                    <a:pt x="1542226" y="1146564"/>
                  </a:lnTo>
                  <a:lnTo>
                    <a:pt x="1521321" y="1185568"/>
                  </a:lnTo>
                  <a:lnTo>
                    <a:pt x="1498319" y="1223263"/>
                  </a:lnTo>
                  <a:lnTo>
                    <a:pt x="1473294" y="1259574"/>
                  </a:lnTo>
                  <a:lnTo>
                    <a:pt x="1446324" y="1294426"/>
                  </a:lnTo>
                  <a:lnTo>
                    <a:pt x="1417485" y="1327744"/>
                  </a:lnTo>
                  <a:lnTo>
                    <a:pt x="1386853" y="1359454"/>
                  </a:lnTo>
                  <a:lnTo>
                    <a:pt x="1354504" y="1389481"/>
                  </a:lnTo>
                  <a:lnTo>
                    <a:pt x="1320514" y="1417750"/>
                  </a:lnTo>
                  <a:lnTo>
                    <a:pt x="1284960" y="1444187"/>
                  </a:lnTo>
                  <a:lnTo>
                    <a:pt x="1247918" y="1468717"/>
                  </a:lnTo>
                  <a:lnTo>
                    <a:pt x="1209463" y="1491266"/>
                  </a:lnTo>
                  <a:lnTo>
                    <a:pt x="1169672" y="1511758"/>
                  </a:lnTo>
                  <a:lnTo>
                    <a:pt x="1128622" y="1530118"/>
                  </a:lnTo>
                  <a:lnTo>
                    <a:pt x="1086389" y="1546273"/>
                  </a:lnTo>
                  <a:lnTo>
                    <a:pt x="1043048" y="1560148"/>
                  </a:lnTo>
                  <a:lnTo>
                    <a:pt x="998675" y="1571667"/>
                  </a:lnTo>
                  <a:lnTo>
                    <a:pt x="953348" y="1580757"/>
                  </a:lnTo>
                  <a:lnTo>
                    <a:pt x="907143" y="1587342"/>
                  </a:lnTo>
                  <a:lnTo>
                    <a:pt x="860134" y="1591348"/>
                  </a:lnTo>
                  <a:lnTo>
                    <a:pt x="812399" y="1592699"/>
                  </a:lnTo>
                  <a:close/>
                </a:path>
              </a:pathLst>
            </a:custGeom>
            <a:solidFill>
              <a:srgbClr val="EAD1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2124" y="2408024"/>
              <a:ext cx="1624965" cy="1593215"/>
            </a:xfrm>
            <a:custGeom>
              <a:avLst/>
              <a:gdLst/>
              <a:ahLst/>
              <a:cxnLst/>
              <a:rect l="l" t="t" r="r" b="b"/>
              <a:pathLst>
                <a:path w="1624964" h="1593214">
                  <a:moveTo>
                    <a:pt x="0" y="796349"/>
                  </a:moveTo>
                  <a:lnTo>
                    <a:pt x="1379" y="749558"/>
                  </a:lnTo>
                  <a:lnTo>
                    <a:pt x="5465" y="703478"/>
                  </a:lnTo>
                  <a:lnTo>
                    <a:pt x="12183" y="658185"/>
                  </a:lnTo>
                  <a:lnTo>
                    <a:pt x="21456" y="613754"/>
                  </a:lnTo>
                  <a:lnTo>
                    <a:pt x="33207" y="570258"/>
                  </a:lnTo>
                  <a:lnTo>
                    <a:pt x="47361" y="527773"/>
                  </a:lnTo>
                  <a:lnTo>
                    <a:pt x="63842" y="486374"/>
                  </a:lnTo>
                  <a:lnTo>
                    <a:pt x="82573" y="446135"/>
                  </a:lnTo>
                  <a:lnTo>
                    <a:pt x="103478" y="407131"/>
                  </a:lnTo>
                  <a:lnTo>
                    <a:pt x="126480" y="369436"/>
                  </a:lnTo>
                  <a:lnTo>
                    <a:pt x="151505" y="333125"/>
                  </a:lnTo>
                  <a:lnTo>
                    <a:pt x="178475" y="298273"/>
                  </a:lnTo>
                  <a:lnTo>
                    <a:pt x="207314" y="264955"/>
                  </a:lnTo>
                  <a:lnTo>
                    <a:pt x="237946" y="233245"/>
                  </a:lnTo>
                  <a:lnTo>
                    <a:pt x="270295" y="203218"/>
                  </a:lnTo>
                  <a:lnTo>
                    <a:pt x="304285" y="174949"/>
                  </a:lnTo>
                  <a:lnTo>
                    <a:pt x="339839" y="148512"/>
                  </a:lnTo>
                  <a:lnTo>
                    <a:pt x="376881" y="123982"/>
                  </a:lnTo>
                  <a:lnTo>
                    <a:pt x="415336" y="101433"/>
                  </a:lnTo>
                  <a:lnTo>
                    <a:pt x="455127" y="80941"/>
                  </a:lnTo>
                  <a:lnTo>
                    <a:pt x="496177" y="62581"/>
                  </a:lnTo>
                  <a:lnTo>
                    <a:pt x="538410" y="46426"/>
                  </a:lnTo>
                  <a:lnTo>
                    <a:pt x="581751" y="32551"/>
                  </a:lnTo>
                  <a:lnTo>
                    <a:pt x="626124" y="21032"/>
                  </a:lnTo>
                  <a:lnTo>
                    <a:pt x="671451" y="11942"/>
                  </a:lnTo>
                  <a:lnTo>
                    <a:pt x="717656" y="5357"/>
                  </a:lnTo>
                  <a:lnTo>
                    <a:pt x="764665" y="1351"/>
                  </a:lnTo>
                  <a:lnTo>
                    <a:pt x="812399" y="0"/>
                  </a:lnTo>
                  <a:lnTo>
                    <a:pt x="861944" y="1480"/>
                  </a:lnTo>
                  <a:lnTo>
                    <a:pt x="911051" y="5890"/>
                  </a:lnTo>
                  <a:lnTo>
                    <a:pt x="959597" y="13177"/>
                  </a:lnTo>
                  <a:lnTo>
                    <a:pt x="1007457" y="23292"/>
                  </a:lnTo>
                  <a:lnTo>
                    <a:pt x="1054507" y="36184"/>
                  </a:lnTo>
                  <a:lnTo>
                    <a:pt x="1100623" y="51802"/>
                  </a:lnTo>
                  <a:lnTo>
                    <a:pt x="1145680" y="70097"/>
                  </a:lnTo>
                  <a:lnTo>
                    <a:pt x="1189556" y="91018"/>
                  </a:lnTo>
                  <a:lnTo>
                    <a:pt x="1232125" y="114514"/>
                  </a:lnTo>
                  <a:lnTo>
                    <a:pt x="1273263" y="140535"/>
                  </a:lnTo>
                  <a:lnTo>
                    <a:pt x="1312847" y="169031"/>
                  </a:lnTo>
                  <a:lnTo>
                    <a:pt x="1350751" y="199951"/>
                  </a:lnTo>
                  <a:lnTo>
                    <a:pt x="1386853" y="233245"/>
                  </a:lnTo>
                  <a:lnTo>
                    <a:pt x="1420818" y="268633"/>
                  </a:lnTo>
                  <a:lnTo>
                    <a:pt x="1452361" y="305789"/>
                  </a:lnTo>
                  <a:lnTo>
                    <a:pt x="1481432" y="344591"/>
                  </a:lnTo>
                  <a:lnTo>
                    <a:pt x="1507977" y="384916"/>
                  </a:lnTo>
                  <a:lnTo>
                    <a:pt x="1531947" y="426644"/>
                  </a:lnTo>
                  <a:lnTo>
                    <a:pt x="1553289" y="469653"/>
                  </a:lnTo>
                  <a:lnTo>
                    <a:pt x="1571953" y="513821"/>
                  </a:lnTo>
                  <a:lnTo>
                    <a:pt x="1587886" y="559025"/>
                  </a:lnTo>
                  <a:lnTo>
                    <a:pt x="1601038" y="605146"/>
                  </a:lnTo>
                  <a:lnTo>
                    <a:pt x="1611356" y="652060"/>
                  </a:lnTo>
                  <a:lnTo>
                    <a:pt x="1618791" y="699647"/>
                  </a:lnTo>
                  <a:lnTo>
                    <a:pt x="1623289" y="747784"/>
                  </a:lnTo>
                  <a:lnTo>
                    <a:pt x="1624799" y="796349"/>
                  </a:lnTo>
                  <a:lnTo>
                    <a:pt x="1623420" y="843141"/>
                  </a:lnTo>
                  <a:lnTo>
                    <a:pt x="1619334" y="889221"/>
                  </a:lnTo>
                  <a:lnTo>
                    <a:pt x="1612616" y="934514"/>
                  </a:lnTo>
                  <a:lnTo>
                    <a:pt x="1603343" y="978945"/>
                  </a:lnTo>
                  <a:lnTo>
                    <a:pt x="1591592" y="1022441"/>
                  </a:lnTo>
                  <a:lnTo>
                    <a:pt x="1577438" y="1064926"/>
                  </a:lnTo>
                  <a:lnTo>
                    <a:pt x="1560957" y="1106325"/>
                  </a:lnTo>
                  <a:lnTo>
                    <a:pt x="1542226" y="1146564"/>
                  </a:lnTo>
                  <a:lnTo>
                    <a:pt x="1521321" y="1185568"/>
                  </a:lnTo>
                  <a:lnTo>
                    <a:pt x="1498319" y="1223263"/>
                  </a:lnTo>
                  <a:lnTo>
                    <a:pt x="1473294" y="1259574"/>
                  </a:lnTo>
                  <a:lnTo>
                    <a:pt x="1446324" y="1294426"/>
                  </a:lnTo>
                  <a:lnTo>
                    <a:pt x="1417485" y="1327744"/>
                  </a:lnTo>
                  <a:lnTo>
                    <a:pt x="1386853" y="1359454"/>
                  </a:lnTo>
                  <a:lnTo>
                    <a:pt x="1354504" y="1389481"/>
                  </a:lnTo>
                  <a:lnTo>
                    <a:pt x="1320514" y="1417750"/>
                  </a:lnTo>
                  <a:lnTo>
                    <a:pt x="1284960" y="1444187"/>
                  </a:lnTo>
                  <a:lnTo>
                    <a:pt x="1247918" y="1468717"/>
                  </a:lnTo>
                  <a:lnTo>
                    <a:pt x="1209463" y="1491266"/>
                  </a:lnTo>
                  <a:lnTo>
                    <a:pt x="1169672" y="1511758"/>
                  </a:lnTo>
                  <a:lnTo>
                    <a:pt x="1128622" y="1530118"/>
                  </a:lnTo>
                  <a:lnTo>
                    <a:pt x="1086389" y="1546273"/>
                  </a:lnTo>
                  <a:lnTo>
                    <a:pt x="1043048" y="1560148"/>
                  </a:lnTo>
                  <a:lnTo>
                    <a:pt x="998675" y="1571667"/>
                  </a:lnTo>
                  <a:lnTo>
                    <a:pt x="953348" y="1580757"/>
                  </a:lnTo>
                  <a:lnTo>
                    <a:pt x="907143" y="1587342"/>
                  </a:lnTo>
                  <a:lnTo>
                    <a:pt x="860134" y="1591348"/>
                  </a:lnTo>
                  <a:lnTo>
                    <a:pt x="812399" y="1592699"/>
                  </a:lnTo>
                  <a:lnTo>
                    <a:pt x="764665" y="1591348"/>
                  </a:lnTo>
                  <a:lnTo>
                    <a:pt x="717656" y="1587342"/>
                  </a:lnTo>
                  <a:lnTo>
                    <a:pt x="671451" y="1580757"/>
                  </a:lnTo>
                  <a:lnTo>
                    <a:pt x="626124" y="1571667"/>
                  </a:lnTo>
                  <a:lnTo>
                    <a:pt x="581751" y="1560148"/>
                  </a:lnTo>
                  <a:lnTo>
                    <a:pt x="538410" y="1546273"/>
                  </a:lnTo>
                  <a:lnTo>
                    <a:pt x="496177" y="1530118"/>
                  </a:lnTo>
                  <a:lnTo>
                    <a:pt x="455127" y="1511758"/>
                  </a:lnTo>
                  <a:lnTo>
                    <a:pt x="415336" y="1491266"/>
                  </a:lnTo>
                  <a:lnTo>
                    <a:pt x="376881" y="1468717"/>
                  </a:lnTo>
                  <a:lnTo>
                    <a:pt x="339839" y="1444187"/>
                  </a:lnTo>
                  <a:lnTo>
                    <a:pt x="304285" y="1417750"/>
                  </a:lnTo>
                  <a:lnTo>
                    <a:pt x="270295" y="1389481"/>
                  </a:lnTo>
                  <a:lnTo>
                    <a:pt x="237946" y="1359454"/>
                  </a:lnTo>
                  <a:lnTo>
                    <a:pt x="207314" y="1327744"/>
                  </a:lnTo>
                  <a:lnTo>
                    <a:pt x="178475" y="1294426"/>
                  </a:lnTo>
                  <a:lnTo>
                    <a:pt x="151505" y="1259574"/>
                  </a:lnTo>
                  <a:lnTo>
                    <a:pt x="126480" y="1223263"/>
                  </a:lnTo>
                  <a:lnTo>
                    <a:pt x="103478" y="1185568"/>
                  </a:lnTo>
                  <a:lnTo>
                    <a:pt x="82573" y="1146564"/>
                  </a:lnTo>
                  <a:lnTo>
                    <a:pt x="63842" y="1106325"/>
                  </a:lnTo>
                  <a:lnTo>
                    <a:pt x="47361" y="1064926"/>
                  </a:lnTo>
                  <a:lnTo>
                    <a:pt x="33207" y="1022441"/>
                  </a:lnTo>
                  <a:lnTo>
                    <a:pt x="21456" y="978945"/>
                  </a:lnTo>
                  <a:lnTo>
                    <a:pt x="12183" y="934514"/>
                  </a:lnTo>
                  <a:lnTo>
                    <a:pt x="5465" y="889221"/>
                  </a:lnTo>
                  <a:lnTo>
                    <a:pt x="1379" y="843141"/>
                  </a:lnTo>
                  <a:lnTo>
                    <a:pt x="0" y="796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65266" y="475466"/>
            <a:ext cx="3166533" cy="525721"/>
          </a:xfrm>
          <a:prstGeom prst="rect">
            <a:avLst/>
          </a:prstGeom>
          <a:solidFill>
            <a:srgbClr val="CEE1F3"/>
          </a:solidFill>
          <a:ln w="9524">
            <a:solidFill>
              <a:srgbClr val="595959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53243">
              <a:spcBef>
                <a:spcPts val="1060"/>
              </a:spcBef>
            </a:pPr>
            <a:r>
              <a:rPr sz="2533" b="1" dirty="0">
                <a:latin typeface="Arial"/>
                <a:cs typeface="Arial"/>
              </a:rPr>
              <a:t>“Data</a:t>
            </a:r>
            <a:r>
              <a:rPr sz="2533" b="1" spc="-33" dirty="0">
                <a:latin typeface="Arial"/>
                <a:cs typeface="Arial"/>
              </a:rPr>
              <a:t> </a:t>
            </a:r>
            <a:r>
              <a:rPr sz="2533" b="1" spc="-13" dirty="0">
                <a:latin typeface="Arial"/>
                <a:cs typeface="Arial"/>
              </a:rPr>
              <a:t>Custodians”</a:t>
            </a:r>
            <a:endParaRPr sz="253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0101" y="5541633"/>
            <a:ext cx="2065020" cy="679673"/>
          </a:xfrm>
          <a:prstGeom prst="rect">
            <a:avLst/>
          </a:prstGeom>
          <a:solidFill>
            <a:srgbClr val="EAD1DC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547"/>
              </a:lnSpc>
            </a:pPr>
            <a:r>
              <a:rPr sz="2400" b="1" spc="-13" dirty="0">
                <a:latin typeface="Arial"/>
                <a:cs typeface="Arial"/>
              </a:rPr>
              <a:t>“Data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60"/>
              </a:lnSpc>
              <a:spcBef>
                <a:spcPts val="20"/>
              </a:spcBef>
            </a:pPr>
            <a:r>
              <a:rPr sz="2400" b="1" spc="-13" dirty="0">
                <a:latin typeface="Arial"/>
                <a:cs typeface="Arial"/>
              </a:rPr>
              <a:t>Modelers”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27666" y="5541633"/>
            <a:ext cx="2065020" cy="679673"/>
          </a:xfrm>
          <a:prstGeom prst="rect">
            <a:avLst/>
          </a:prstGeom>
          <a:solidFill>
            <a:srgbClr val="FFF1CC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547"/>
              </a:lnSpc>
            </a:pPr>
            <a:r>
              <a:rPr sz="2400" b="1" spc="-13" dirty="0">
                <a:latin typeface="Arial"/>
                <a:cs typeface="Arial"/>
              </a:rPr>
              <a:t>“Data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60"/>
              </a:lnSpc>
              <a:spcBef>
                <a:spcPts val="20"/>
              </a:spcBef>
            </a:pPr>
            <a:r>
              <a:rPr sz="2400" b="1" spc="-13" dirty="0">
                <a:latin typeface="Arial"/>
                <a:cs typeface="Arial"/>
              </a:rPr>
              <a:t>Steward”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9653" y="3690925"/>
            <a:ext cx="1186180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330192">
              <a:lnSpc>
                <a:spcPct val="100699"/>
              </a:lnSpc>
              <a:spcBef>
                <a:spcPts val="113"/>
              </a:spcBef>
            </a:pPr>
            <a:r>
              <a:rPr sz="2400" b="1" spc="-33" dirty="0">
                <a:latin typeface="Arial"/>
                <a:cs typeface="Arial"/>
              </a:rPr>
              <a:t>Big </a:t>
            </a:r>
            <a:r>
              <a:rPr sz="2400" b="1" spc="-13" dirty="0">
                <a:latin typeface="Arial"/>
                <a:cs typeface="Arial"/>
              </a:rPr>
              <a:t>Science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53189" y="3204349"/>
            <a:ext cx="4097020" cy="2136987"/>
            <a:chOff x="939891" y="2403262"/>
            <a:chExt cx="3072765" cy="160274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891" y="3349863"/>
              <a:ext cx="569267" cy="26789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382650" y="2408024"/>
              <a:ext cx="1624965" cy="1593215"/>
            </a:xfrm>
            <a:custGeom>
              <a:avLst/>
              <a:gdLst/>
              <a:ahLst/>
              <a:cxnLst/>
              <a:rect l="l" t="t" r="r" b="b"/>
              <a:pathLst>
                <a:path w="1624964" h="1593214">
                  <a:moveTo>
                    <a:pt x="812399" y="1592699"/>
                  </a:moveTo>
                  <a:lnTo>
                    <a:pt x="764665" y="1591348"/>
                  </a:lnTo>
                  <a:lnTo>
                    <a:pt x="717656" y="1587342"/>
                  </a:lnTo>
                  <a:lnTo>
                    <a:pt x="671451" y="1580757"/>
                  </a:lnTo>
                  <a:lnTo>
                    <a:pt x="626124" y="1571667"/>
                  </a:lnTo>
                  <a:lnTo>
                    <a:pt x="581751" y="1560148"/>
                  </a:lnTo>
                  <a:lnTo>
                    <a:pt x="538410" y="1546273"/>
                  </a:lnTo>
                  <a:lnTo>
                    <a:pt x="496177" y="1530118"/>
                  </a:lnTo>
                  <a:lnTo>
                    <a:pt x="455127" y="1511758"/>
                  </a:lnTo>
                  <a:lnTo>
                    <a:pt x="415336" y="1491266"/>
                  </a:lnTo>
                  <a:lnTo>
                    <a:pt x="376881" y="1468717"/>
                  </a:lnTo>
                  <a:lnTo>
                    <a:pt x="339839" y="1444187"/>
                  </a:lnTo>
                  <a:lnTo>
                    <a:pt x="304285" y="1417750"/>
                  </a:lnTo>
                  <a:lnTo>
                    <a:pt x="270295" y="1389481"/>
                  </a:lnTo>
                  <a:lnTo>
                    <a:pt x="237946" y="1359454"/>
                  </a:lnTo>
                  <a:lnTo>
                    <a:pt x="207314" y="1327744"/>
                  </a:lnTo>
                  <a:lnTo>
                    <a:pt x="178475" y="1294426"/>
                  </a:lnTo>
                  <a:lnTo>
                    <a:pt x="151505" y="1259574"/>
                  </a:lnTo>
                  <a:lnTo>
                    <a:pt x="126480" y="1223263"/>
                  </a:lnTo>
                  <a:lnTo>
                    <a:pt x="103478" y="1185568"/>
                  </a:lnTo>
                  <a:lnTo>
                    <a:pt x="82573" y="1146564"/>
                  </a:lnTo>
                  <a:lnTo>
                    <a:pt x="63842" y="1106325"/>
                  </a:lnTo>
                  <a:lnTo>
                    <a:pt x="47361" y="1064926"/>
                  </a:lnTo>
                  <a:lnTo>
                    <a:pt x="33207" y="1022441"/>
                  </a:lnTo>
                  <a:lnTo>
                    <a:pt x="21456" y="978945"/>
                  </a:lnTo>
                  <a:lnTo>
                    <a:pt x="12183" y="934514"/>
                  </a:lnTo>
                  <a:lnTo>
                    <a:pt x="5465" y="889221"/>
                  </a:lnTo>
                  <a:lnTo>
                    <a:pt x="1379" y="843141"/>
                  </a:lnTo>
                  <a:lnTo>
                    <a:pt x="0" y="796349"/>
                  </a:lnTo>
                  <a:lnTo>
                    <a:pt x="1379" y="749558"/>
                  </a:lnTo>
                  <a:lnTo>
                    <a:pt x="5465" y="703478"/>
                  </a:lnTo>
                  <a:lnTo>
                    <a:pt x="12183" y="658185"/>
                  </a:lnTo>
                  <a:lnTo>
                    <a:pt x="21456" y="613754"/>
                  </a:lnTo>
                  <a:lnTo>
                    <a:pt x="33207" y="570258"/>
                  </a:lnTo>
                  <a:lnTo>
                    <a:pt x="47361" y="527773"/>
                  </a:lnTo>
                  <a:lnTo>
                    <a:pt x="63842" y="486374"/>
                  </a:lnTo>
                  <a:lnTo>
                    <a:pt x="82573" y="446135"/>
                  </a:lnTo>
                  <a:lnTo>
                    <a:pt x="103478" y="407131"/>
                  </a:lnTo>
                  <a:lnTo>
                    <a:pt x="126480" y="369436"/>
                  </a:lnTo>
                  <a:lnTo>
                    <a:pt x="151505" y="333125"/>
                  </a:lnTo>
                  <a:lnTo>
                    <a:pt x="178475" y="298273"/>
                  </a:lnTo>
                  <a:lnTo>
                    <a:pt x="207314" y="264955"/>
                  </a:lnTo>
                  <a:lnTo>
                    <a:pt x="237946" y="233245"/>
                  </a:lnTo>
                  <a:lnTo>
                    <a:pt x="270295" y="203218"/>
                  </a:lnTo>
                  <a:lnTo>
                    <a:pt x="304285" y="174949"/>
                  </a:lnTo>
                  <a:lnTo>
                    <a:pt x="339839" y="148512"/>
                  </a:lnTo>
                  <a:lnTo>
                    <a:pt x="376881" y="123982"/>
                  </a:lnTo>
                  <a:lnTo>
                    <a:pt x="415336" y="101433"/>
                  </a:lnTo>
                  <a:lnTo>
                    <a:pt x="455127" y="80941"/>
                  </a:lnTo>
                  <a:lnTo>
                    <a:pt x="496177" y="62581"/>
                  </a:lnTo>
                  <a:lnTo>
                    <a:pt x="538410" y="46426"/>
                  </a:lnTo>
                  <a:lnTo>
                    <a:pt x="581751" y="32551"/>
                  </a:lnTo>
                  <a:lnTo>
                    <a:pt x="626124" y="21032"/>
                  </a:lnTo>
                  <a:lnTo>
                    <a:pt x="671451" y="11942"/>
                  </a:lnTo>
                  <a:lnTo>
                    <a:pt x="717656" y="5357"/>
                  </a:lnTo>
                  <a:lnTo>
                    <a:pt x="764665" y="1351"/>
                  </a:lnTo>
                  <a:lnTo>
                    <a:pt x="812399" y="0"/>
                  </a:lnTo>
                  <a:lnTo>
                    <a:pt x="861944" y="1480"/>
                  </a:lnTo>
                  <a:lnTo>
                    <a:pt x="911051" y="5890"/>
                  </a:lnTo>
                  <a:lnTo>
                    <a:pt x="959597" y="13177"/>
                  </a:lnTo>
                  <a:lnTo>
                    <a:pt x="1007457" y="23292"/>
                  </a:lnTo>
                  <a:lnTo>
                    <a:pt x="1054507" y="36184"/>
                  </a:lnTo>
                  <a:lnTo>
                    <a:pt x="1100622" y="51802"/>
                  </a:lnTo>
                  <a:lnTo>
                    <a:pt x="1145680" y="70097"/>
                  </a:lnTo>
                  <a:lnTo>
                    <a:pt x="1189556" y="91018"/>
                  </a:lnTo>
                  <a:lnTo>
                    <a:pt x="1232125" y="114514"/>
                  </a:lnTo>
                  <a:lnTo>
                    <a:pt x="1273263" y="140535"/>
                  </a:lnTo>
                  <a:lnTo>
                    <a:pt x="1312847" y="169031"/>
                  </a:lnTo>
                  <a:lnTo>
                    <a:pt x="1350751" y="199951"/>
                  </a:lnTo>
                  <a:lnTo>
                    <a:pt x="1386853" y="233245"/>
                  </a:lnTo>
                  <a:lnTo>
                    <a:pt x="1420818" y="268633"/>
                  </a:lnTo>
                  <a:lnTo>
                    <a:pt x="1452361" y="305789"/>
                  </a:lnTo>
                  <a:lnTo>
                    <a:pt x="1481432" y="344591"/>
                  </a:lnTo>
                  <a:lnTo>
                    <a:pt x="1507977" y="384916"/>
                  </a:lnTo>
                  <a:lnTo>
                    <a:pt x="1531947" y="426644"/>
                  </a:lnTo>
                  <a:lnTo>
                    <a:pt x="1553289" y="469653"/>
                  </a:lnTo>
                  <a:lnTo>
                    <a:pt x="1571953" y="513821"/>
                  </a:lnTo>
                  <a:lnTo>
                    <a:pt x="1587886" y="559025"/>
                  </a:lnTo>
                  <a:lnTo>
                    <a:pt x="1601038" y="605146"/>
                  </a:lnTo>
                  <a:lnTo>
                    <a:pt x="1611356" y="652060"/>
                  </a:lnTo>
                  <a:lnTo>
                    <a:pt x="1618791" y="699647"/>
                  </a:lnTo>
                  <a:lnTo>
                    <a:pt x="1623289" y="747784"/>
                  </a:lnTo>
                  <a:lnTo>
                    <a:pt x="1624799" y="796349"/>
                  </a:lnTo>
                  <a:lnTo>
                    <a:pt x="1623420" y="843141"/>
                  </a:lnTo>
                  <a:lnTo>
                    <a:pt x="1619334" y="889221"/>
                  </a:lnTo>
                  <a:lnTo>
                    <a:pt x="1612616" y="934514"/>
                  </a:lnTo>
                  <a:lnTo>
                    <a:pt x="1603343" y="978945"/>
                  </a:lnTo>
                  <a:lnTo>
                    <a:pt x="1591592" y="1022441"/>
                  </a:lnTo>
                  <a:lnTo>
                    <a:pt x="1577438" y="1064926"/>
                  </a:lnTo>
                  <a:lnTo>
                    <a:pt x="1560957" y="1106325"/>
                  </a:lnTo>
                  <a:lnTo>
                    <a:pt x="1542226" y="1146564"/>
                  </a:lnTo>
                  <a:lnTo>
                    <a:pt x="1521321" y="1185568"/>
                  </a:lnTo>
                  <a:lnTo>
                    <a:pt x="1498319" y="1223263"/>
                  </a:lnTo>
                  <a:lnTo>
                    <a:pt x="1473294" y="1259574"/>
                  </a:lnTo>
                  <a:lnTo>
                    <a:pt x="1446324" y="1294426"/>
                  </a:lnTo>
                  <a:lnTo>
                    <a:pt x="1417485" y="1327744"/>
                  </a:lnTo>
                  <a:lnTo>
                    <a:pt x="1386853" y="1359454"/>
                  </a:lnTo>
                  <a:lnTo>
                    <a:pt x="1354504" y="1389481"/>
                  </a:lnTo>
                  <a:lnTo>
                    <a:pt x="1320514" y="1417750"/>
                  </a:lnTo>
                  <a:lnTo>
                    <a:pt x="1284960" y="1444187"/>
                  </a:lnTo>
                  <a:lnTo>
                    <a:pt x="1247918" y="1468717"/>
                  </a:lnTo>
                  <a:lnTo>
                    <a:pt x="1209463" y="1491266"/>
                  </a:lnTo>
                  <a:lnTo>
                    <a:pt x="1169672" y="1511758"/>
                  </a:lnTo>
                  <a:lnTo>
                    <a:pt x="1128622" y="1530118"/>
                  </a:lnTo>
                  <a:lnTo>
                    <a:pt x="1086389" y="1546273"/>
                  </a:lnTo>
                  <a:lnTo>
                    <a:pt x="1043048" y="1560148"/>
                  </a:lnTo>
                  <a:lnTo>
                    <a:pt x="998675" y="1571667"/>
                  </a:lnTo>
                  <a:lnTo>
                    <a:pt x="953348" y="1580757"/>
                  </a:lnTo>
                  <a:lnTo>
                    <a:pt x="907143" y="1587342"/>
                  </a:lnTo>
                  <a:lnTo>
                    <a:pt x="860134" y="1591348"/>
                  </a:lnTo>
                  <a:lnTo>
                    <a:pt x="812399" y="1592699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82650" y="2408024"/>
              <a:ext cx="1624965" cy="1593215"/>
            </a:xfrm>
            <a:custGeom>
              <a:avLst/>
              <a:gdLst/>
              <a:ahLst/>
              <a:cxnLst/>
              <a:rect l="l" t="t" r="r" b="b"/>
              <a:pathLst>
                <a:path w="1624964" h="1593214">
                  <a:moveTo>
                    <a:pt x="0" y="796349"/>
                  </a:moveTo>
                  <a:lnTo>
                    <a:pt x="1379" y="749558"/>
                  </a:lnTo>
                  <a:lnTo>
                    <a:pt x="5465" y="703478"/>
                  </a:lnTo>
                  <a:lnTo>
                    <a:pt x="12183" y="658185"/>
                  </a:lnTo>
                  <a:lnTo>
                    <a:pt x="21456" y="613754"/>
                  </a:lnTo>
                  <a:lnTo>
                    <a:pt x="33207" y="570258"/>
                  </a:lnTo>
                  <a:lnTo>
                    <a:pt x="47361" y="527773"/>
                  </a:lnTo>
                  <a:lnTo>
                    <a:pt x="63842" y="486374"/>
                  </a:lnTo>
                  <a:lnTo>
                    <a:pt x="82573" y="446135"/>
                  </a:lnTo>
                  <a:lnTo>
                    <a:pt x="103478" y="407131"/>
                  </a:lnTo>
                  <a:lnTo>
                    <a:pt x="126480" y="369436"/>
                  </a:lnTo>
                  <a:lnTo>
                    <a:pt x="151505" y="333125"/>
                  </a:lnTo>
                  <a:lnTo>
                    <a:pt x="178475" y="298273"/>
                  </a:lnTo>
                  <a:lnTo>
                    <a:pt x="207314" y="264955"/>
                  </a:lnTo>
                  <a:lnTo>
                    <a:pt x="237946" y="233245"/>
                  </a:lnTo>
                  <a:lnTo>
                    <a:pt x="270295" y="203218"/>
                  </a:lnTo>
                  <a:lnTo>
                    <a:pt x="304285" y="174949"/>
                  </a:lnTo>
                  <a:lnTo>
                    <a:pt x="339839" y="148512"/>
                  </a:lnTo>
                  <a:lnTo>
                    <a:pt x="376881" y="123982"/>
                  </a:lnTo>
                  <a:lnTo>
                    <a:pt x="415336" y="101433"/>
                  </a:lnTo>
                  <a:lnTo>
                    <a:pt x="455127" y="80941"/>
                  </a:lnTo>
                  <a:lnTo>
                    <a:pt x="496177" y="62581"/>
                  </a:lnTo>
                  <a:lnTo>
                    <a:pt x="538410" y="46426"/>
                  </a:lnTo>
                  <a:lnTo>
                    <a:pt x="581751" y="32551"/>
                  </a:lnTo>
                  <a:lnTo>
                    <a:pt x="626124" y="21032"/>
                  </a:lnTo>
                  <a:lnTo>
                    <a:pt x="671451" y="11942"/>
                  </a:lnTo>
                  <a:lnTo>
                    <a:pt x="717656" y="5357"/>
                  </a:lnTo>
                  <a:lnTo>
                    <a:pt x="764665" y="1351"/>
                  </a:lnTo>
                  <a:lnTo>
                    <a:pt x="812399" y="0"/>
                  </a:lnTo>
                  <a:lnTo>
                    <a:pt x="861944" y="1480"/>
                  </a:lnTo>
                  <a:lnTo>
                    <a:pt x="911051" y="5890"/>
                  </a:lnTo>
                  <a:lnTo>
                    <a:pt x="959597" y="13177"/>
                  </a:lnTo>
                  <a:lnTo>
                    <a:pt x="1007457" y="23292"/>
                  </a:lnTo>
                  <a:lnTo>
                    <a:pt x="1054507" y="36184"/>
                  </a:lnTo>
                  <a:lnTo>
                    <a:pt x="1100622" y="51802"/>
                  </a:lnTo>
                  <a:lnTo>
                    <a:pt x="1145680" y="70097"/>
                  </a:lnTo>
                  <a:lnTo>
                    <a:pt x="1189556" y="91018"/>
                  </a:lnTo>
                  <a:lnTo>
                    <a:pt x="1232125" y="114514"/>
                  </a:lnTo>
                  <a:lnTo>
                    <a:pt x="1273263" y="140535"/>
                  </a:lnTo>
                  <a:lnTo>
                    <a:pt x="1312847" y="169031"/>
                  </a:lnTo>
                  <a:lnTo>
                    <a:pt x="1350751" y="199951"/>
                  </a:lnTo>
                  <a:lnTo>
                    <a:pt x="1386853" y="233245"/>
                  </a:lnTo>
                  <a:lnTo>
                    <a:pt x="1420818" y="268633"/>
                  </a:lnTo>
                  <a:lnTo>
                    <a:pt x="1452361" y="305789"/>
                  </a:lnTo>
                  <a:lnTo>
                    <a:pt x="1481432" y="344591"/>
                  </a:lnTo>
                  <a:lnTo>
                    <a:pt x="1507977" y="384916"/>
                  </a:lnTo>
                  <a:lnTo>
                    <a:pt x="1531947" y="426644"/>
                  </a:lnTo>
                  <a:lnTo>
                    <a:pt x="1553289" y="469653"/>
                  </a:lnTo>
                  <a:lnTo>
                    <a:pt x="1571953" y="513821"/>
                  </a:lnTo>
                  <a:lnTo>
                    <a:pt x="1587886" y="559025"/>
                  </a:lnTo>
                  <a:lnTo>
                    <a:pt x="1601038" y="605146"/>
                  </a:lnTo>
                  <a:lnTo>
                    <a:pt x="1611356" y="652060"/>
                  </a:lnTo>
                  <a:lnTo>
                    <a:pt x="1618791" y="699647"/>
                  </a:lnTo>
                  <a:lnTo>
                    <a:pt x="1623289" y="747784"/>
                  </a:lnTo>
                  <a:lnTo>
                    <a:pt x="1624799" y="796349"/>
                  </a:lnTo>
                  <a:lnTo>
                    <a:pt x="1623420" y="843141"/>
                  </a:lnTo>
                  <a:lnTo>
                    <a:pt x="1619334" y="889221"/>
                  </a:lnTo>
                  <a:lnTo>
                    <a:pt x="1612616" y="934514"/>
                  </a:lnTo>
                  <a:lnTo>
                    <a:pt x="1603343" y="978945"/>
                  </a:lnTo>
                  <a:lnTo>
                    <a:pt x="1591592" y="1022441"/>
                  </a:lnTo>
                  <a:lnTo>
                    <a:pt x="1577438" y="1064926"/>
                  </a:lnTo>
                  <a:lnTo>
                    <a:pt x="1560957" y="1106325"/>
                  </a:lnTo>
                  <a:lnTo>
                    <a:pt x="1542226" y="1146564"/>
                  </a:lnTo>
                  <a:lnTo>
                    <a:pt x="1521321" y="1185568"/>
                  </a:lnTo>
                  <a:lnTo>
                    <a:pt x="1498319" y="1223263"/>
                  </a:lnTo>
                  <a:lnTo>
                    <a:pt x="1473294" y="1259574"/>
                  </a:lnTo>
                  <a:lnTo>
                    <a:pt x="1446324" y="1294426"/>
                  </a:lnTo>
                  <a:lnTo>
                    <a:pt x="1417485" y="1327744"/>
                  </a:lnTo>
                  <a:lnTo>
                    <a:pt x="1386853" y="1359454"/>
                  </a:lnTo>
                  <a:lnTo>
                    <a:pt x="1354504" y="1389481"/>
                  </a:lnTo>
                  <a:lnTo>
                    <a:pt x="1320514" y="1417750"/>
                  </a:lnTo>
                  <a:lnTo>
                    <a:pt x="1284960" y="1444187"/>
                  </a:lnTo>
                  <a:lnTo>
                    <a:pt x="1247918" y="1468717"/>
                  </a:lnTo>
                  <a:lnTo>
                    <a:pt x="1209463" y="1491266"/>
                  </a:lnTo>
                  <a:lnTo>
                    <a:pt x="1169672" y="1511758"/>
                  </a:lnTo>
                  <a:lnTo>
                    <a:pt x="1128622" y="1530118"/>
                  </a:lnTo>
                  <a:lnTo>
                    <a:pt x="1086389" y="1546273"/>
                  </a:lnTo>
                  <a:lnTo>
                    <a:pt x="1043048" y="1560148"/>
                  </a:lnTo>
                  <a:lnTo>
                    <a:pt x="998675" y="1571667"/>
                  </a:lnTo>
                  <a:lnTo>
                    <a:pt x="953348" y="1580757"/>
                  </a:lnTo>
                  <a:lnTo>
                    <a:pt x="907143" y="1587342"/>
                  </a:lnTo>
                  <a:lnTo>
                    <a:pt x="860134" y="1591348"/>
                  </a:lnTo>
                  <a:lnTo>
                    <a:pt x="812399" y="1592699"/>
                  </a:lnTo>
                  <a:lnTo>
                    <a:pt x="764665" y="1591348"/>
                  </a:lnTo>
                  <a:lnTo>
                    <a:pt x="717656" y="1587342"/>
                  </a:lnTo>
                  <a:lnTo>
                    <a:pt x="671451" y="1580757"/>
                  </a:lnTo>
                  <a:lnTo>
                    <a:pt x="626124" y="1571667"/>
                  </a:lnTo>
                  <a:lnTo>
                    <a:pt x="581751" y="1560148"/>
                  </a:lnTo>
                  <a:lnTo>
                    <a:pt x="538410" y="1546273"/>
                  </a:lnTo>
                  <a:lnTo>
                    <a:pt x="496177" y="1530118"/>
                  </a:lnTo>
                  <a:lnTo>
                    <a:pt x="455127" y="1511758"/>
                  </a:lnTo>
                  <a:lnTo>
                    <a:pt x="415336" y="1491266"/>
                  </a:lnTo>
                  <a:lnTo>
                    <a:pt x="376881" y="1468717"/>
                  </a:lnTo>
                  <a:lnTo>
                    <a:pt x="339839" y="1444187"/>
                  </a:lnTo>
                  <a:lnTo>
                    <a:pt x="304285" y="1417750"/>
                  </a:lnTo>
                  <a:lnTo>
                    <a:pt x="270295" y="1389481"/>
                  </a:lnTo>
                  <a:lnTo>
                    <a:pt x="237946" y="1359454"/>
                  </a:lnTo>
                  <a:lnTo>
                    <a:pt x="207314" y="1327744"/>
                  </a:lnTo>
                  <a:lnTo>
                    <a:pt x="178475" y="1294426"/>
                  </a:lnTo>
                  <a:lnTo>
                    <a:pt x="151505" y="1259574"/>
                  </a:lnTo>
                  <a:lnTo>
                    <a:pt x="126480" y="1223263"/>
                  </a:lnTo>
                  <a:lnTo>
                    <a:pt x="103478" y="1185568"/>
                  </a:lnTo>
                  <a:lnTo>
                    <a:pt x="82573" y="1146564"/>
                  </a:lnTo>
                  <a:lnTo>
                    <a:pt x="63842" y="1106325"/>
                  </a:lnTo>
                  <a:lnTo>
                    <a:pt x="47361" y="1064926"/>
                  </a:lnTo>
                  <a:lnTo>
                    <a:pt x="33207" y="1022441"/>
                  </a:lnTo>
                  <a:lnTo>
                    <a:pt x="21456" y="978945"/>
                  </a:lnTo>
                  <a:lnTo>
                    <a:pt x="12183" y="934514"/>
                  </a:lnTo>
                  <a:lnTo>
                    <a:pt x="5465" y="889221"/>
                  </a:lnTo>
                  <a:lnTo>
                    <a:pt x="1379" y="843141"/>
                  </a:lnTo>
                  <a:lnTo>
                    <a:pt x="0" y="7963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1837" y="3294699"/>
              <a:ext cx="347638" cy="16359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9233" y="3466149"/>
              <a:ext cx="521458" cy="16359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8262" y="3466149"/>
              <a:ext cx="173819" cy="16359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643376" y="3448016"/>
            <a:ext cx="1234440" cy="1384524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indent="-847" algn="ctr">
              <a:lnSpc>
                <a:spcPct val="102299"/>
              </a:lnSpc>
              <a:spcBef>
                <a:spcPts val="93"/>
              </a:spcBef>
            </a:pPr>
            <a:r>
              <a:rPr sz="1467" b="1" spc="-27" dirty="0">
                <a:latin typeface="Arial"/>
                <a:cs typeface="Arial"/>
              </a:rPr>
              <a:t>Data </a:t>
            </a:r>
            <a:r>
              <a:rPr sz="1467" b="1" spc="-13" dirty="0">
                <a:latin typeface="Arial"/>
                <a:cs typeface="Arial"/>
              </a:rPr>
              <a:t>stewardship Organization: </a:t>
            </a:r>
            <a:r>
              <a:rPr sz="1467" b="1" dirty="0">
                <a:latin typeface="Arial"/>
                <a:cs typeface="Arial"/>
              </a:rPr>
              <a:t>Committee</a:t>
            </a:r>
            <a:r>
              <a:rPr sz="1467" b="1" spc="-60" dirty="0">
                <a:latin typeface="Arial"/>
                <a:cs typeface="Arial"/>
              </a:rPr>
              <a:t> </a:t>
            </a:r>
            <a:r>
              <a:rPr sz="1467" b="1" spc="-47" dirty="0">
                <a:latin typeface="Arial"/>
                <a:cs typeface="Arial"/>
              </a:rPr>
              <a:t>of</a:t>
            </a:r>
            <a:endParaRPr sz="1467">
              <a:latin typeface="Arial"/>
              <a:cs typeface="Arial"/>
            </a:endParaRPr>
          </a:p>
          <a:p>
            <a:pPr marL="822093">
              <a:spcBef>
                <a:spcPts val="40"/>
              </a:spcBef>
            </a:pPr>
            <a:r>
              <a:rPr sz="1467" b="1" dirty="0">
                <a:latin typeface="Arial"/>
                <a:cs typeface="Arial"/>
              </a:rPr>
              <a:t>,</a:t>
            </a:r>
            <a:endParaRPr sz="1467">
              <a:latin typeface="Arial"/>
              <a:cs typeface="Arial"/>
            </a:endParaRPr>
          </a:p>
          <a:p>
            <a:pPr marL="770447">
              <a:spcBef>
                <a:spcPts val="40"/>
              </a:spcBef>
              <a:tabLst>
                <a:tab pos="1105719" algn="l"/>
              </a:tabLst>
            </a:pPr>
            <a:r>
              <a:rPr sz="1467" b="1" spc="-67" dirty="0">
                <a:latin typeface="Arial"/>
                <a:cs typeface="Arial"/>
              </a:rPr>
              <a:t>,</a:t>
            </a:r>
            <a:r>
              <a:rPr sz="1467" b="1" dirty="0">
                <a:latin typeface="Arial"/>
                <a:cs typeface="Arial"/>
              </a:rPr>
              <a:t>	</a:t>
            </a:r>
            <a:r>
              <a:rPr sz="1467" b="1" spc="-67" dirty="0">
                <a:latin typeface="Arial"/>
                <a:cs typeface="Arial"/>
              </a:rPr>
              <a:t>,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28307" y="1687416"/>
            <a:ext cx="4192693" cy="3381587"/>
            <a:chOff x="3021230" y="1265562"/>
            <a:chExt cx="3144520" cy="2536190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1230" y="3637599"/>
              <a:ext cx="347638" cy="16359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820499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4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20499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4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869412" y="2095583"/>
            <a:ext cx="9033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Arial"/>
                <a:cs typeface="Arial"/>
              </a:rPr>
              <a:t>Data</a:t>
            </a:r>
            <a:r>
              <a:rPr sz="1467" b="1" spc="-27" dirty="0">
                <a:latin typeface="Arial"/>
                <a:cs typeface="Arial"/>
              </a:rPr>
              <a:t> Host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420983" y="2354699"/>
            <a:ext cx="1800013" cy="3688927"/>
            <a:chOff x="4815737" y="1766024"/>
            <a:chExt cx="1350010" cy="2766695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3640" y="1766024"/>
              <a:ext cx="173819" cy="16359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820499" y="35457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5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20499" y="3545725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5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69412" y="5129449"/>
            <a:ext cx="9033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Arial"/>
                <a:cs typeface="Arial"/>
              </a:rPr>
              <a:t>Data</a:t>
            </a:r>
            <a:r>
              <a:rPr sz="1467" b="1" spc="-27" dirty="0">
                <a:latin typeface="Arial"/>
                <a:cs typeface="Arial"/>
              </a:rPr>
              <a:t> Host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20983" y="3204349"/>
            <a:ext cx="1800013" cy="2402840"/>
            <a:chOff x="4815737" y="2403262"/>
            <a:chExt cx="1350010" cy="1802130"/>
          </a:xfrm>
        </p:grpSpPr>
        <p:sp>
          <p:nvSpPr>
            <p:cNvPr id="40" name="object 40"/>
            <p:cNvSpPr/>
            <p:nvPr/>
          </p:nvSpPr>
          <p:spPr>
            <a:xfrm>
              <a:off x="4820499" y="24080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5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820499" y="24080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5" h="982345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6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6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3640" y="4041424"/>
              <a:ext cx="173819" cy="163594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869412" y="3612516"/>
            <a:ext cx="90339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Arial"/>
                <a:cs typeface="Arial"/>
              </a:rPr>
              <a:t>Data</a:t>
            </a:r>
            <a:r>
              <a:rPr sz="1467" b="1" spc="-27" dirty="0">
                <a:latin typeface="Arial"/>
                <a:cs typeface="Arial"/>
              </a:rPr>
              <a:t> Host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204854" y="2022283"/>
            <a:ext cx="2843953" cy="2067560"/>
            <a:chOff x="5403640" y="1516712"/>
            <a:chExt cx="2132965" cy="1550670"/>
          </a:xfrm>
        </p:grpSpPr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03640" y="2903724"/>
              <a:ext cx="173819" cy="16359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191300" y="152147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4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191300" y="152147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4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197199" y="3612517"/>
            <a:ext cx="1946487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1928658" algn="l"/>
              </a:tabLst>
            </a:pPr>
            <a:r>
              <a:rPr sz="1467" u="heavy" dirty="0">
                <a:uFill>
                  <a:solidFill>
                    <a:srgbClr val="595959"/>
                  </a:solidFill>
                </a:uFill>
                <a:latin typeface="Times New Roman"/>
                <a:cs typeface="Times New Roman"/>
              </a:rPr>
              <a:t>	</a:t>
            </a:r>
            <a:endParaRPr sz="1467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53949" y="2316150"/>
            <a:ext cx="789940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indent="175256">
              <a:lnSpc>
                <a:spcPct val="102299"/>
              </a:lnSpc>
              <a:spcBef>
                <a:spcPts val="93"/>
              </a:spcBef>
            </a:pPr>
            <a:r>
              <a:rPr sz="1467" b="1" spc="-27" dirty="0">
                <a:latin typeface="Arial"/>
                <a:cs typeface="Arial"/>
              </a:rPr>
              <a:t>Data </a:t>
            </a:r>
            <a:r>
              <a:rPr sz="1467" b="1" spc="-13" dirty="0">
                <a:latin typeface="Arial"/>
                <a:cs typeface="Arial"/>
              </a:rPr>
              <a:t>Provider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248716" y="2803866"/>
            <a:ext cx="1800013" cy="2464647"/>
            <a:chOff x="6186537" y="2102899"/>
            <a:chExt cx="1350010" cy="1848485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4440" y="2102899"/>
              <a:ext cx="173819" cy="16359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191299" y="2964375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5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191299" y="2964375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5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3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3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753949" y="4240017"/>
            <a:ext cx="789940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indent="175256">
              <a:lnSpc>
                <a:spcPct val="102299"/>
              </a:lnSpc>
              <a:spcBef>
                <a:spcPts val="93"/>
              </a:spcBef>
            </a:pPr>
            <a:r>
              <a:rPr sz="1467" b="1" spc="-27" dirty="0">
                <a:latin typeface="Arial"/>
                <a:cs typeface="Arial"/>
              </a:rPr>
              <a:t>Data </a:t>
            </a:r>
            <a:r>
              <a:rPr sz="1467" b="1" spc="-13" dirty="0">
                <a:latin typeface="Arial"/>
                <a:cs typeface="Arial"/>
              </a:rPr>
              <a:t>Provider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032588" y="1687417"/>
            <a:ext cx="2843953" cy="3258820"/>
            <a:chOff x="6774440" y="1265562"/>
            <a:chExt cx="2132965" cy="2444115"/>
          </a:xfrm>
        </p:grpSpPr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4440" y="3545799"/>
              <a:ext cx="173819" cy="16359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7562100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4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562100" y="1270324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4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0581682" y="1866983"/>
            <a:ext cx="789940" cy="688051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indent="-847" algn="ctr">
              <a:lnSpc>
                <a:spcPct val="102299"/>
              </a:lnSpc>
              <a:spcBef>
                <a:spcPts val="93"/>
              </a:spcBef>
            </a:pPr>
            <a:r>
              <a:rPr sz="1467" b="1" spc="-27" dirty="0">
                <a:latin typeface="Arial"/>
                <a:cs typeface="Arial"/>
              </a:rPr>
              <a:t>Data </a:t>
            </a:r>
            <a:r>
              <a:rPr sz="1467" b="1" spc="-13" dirty="0">
                <a:latin typeface="Arial"/>
                <a:cs typeface="Arial"/>
              </a:rPr>
              <a:t>Provider Library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0076450" y="2583299"/>
            <a:ext cx="1909233" cy="1943947"/>
            <a:chOff x="7557337" y="1937474"/>
            <a:chExt cx="1431925" cy="1457960"/>
          </a:xfrm>
        </p:grpSpPr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45240" y="1937474"/>
              <a:ext cx="173819" cy="16359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562099" y="2408024"/>
              <a:ext cx="1422400" cy="982344"/>
            </a:xfrm>
            <a:custGeom>
              <a:avLst/>
              <a:gdLst/>
              <a:ahLst/>
              <a:cxnLst/>
              <a:rect l="l" t="t" r="r" b="b"/>
              <a:pathLst>
                <a:path w="1422400" h="982345">
                  <a:moveTo>
                    <a:pt x="710999" y="982199"/>
                  </a:moveTo>
                  <a:lnTo>
                    <a:pt x="655435" y="980722"/>
                  </a:lnTo>
                  <a:lnTo>
                    <a:pt x="601041" y="976362"/>
                  </a:lnTo>
                  <a:lnTo>
                    <a:pt x="547974" y="969229"/>
                  </a:lnTo>
                  <a:lnTo>
                    <a:pt x="496393" y="959432"/>
                  </a:lnTo>
                  <a:lnTo>
                    <a:pt x="446455" y="947081"/>
                  </a:lnTo>
                  <a:lnTo>
                    <a:pt x="398320" y="932284"/>
                  </a:lnTo>
                  <a:lnTo>
                    <a:pt x="352144" y="915150"/>
                  </a:lnTo>
                  <a:lnTo>
                    <a:pt x="308087" y="895789"/>
                  </a:lnTo>
                  <a:lnTo>
                    <a:pt x="266305" y="874310"/>
                  </a:lnTo>
                  <a:lnTo>
                    <a:pt x="226958" y="850823"/>
                  </a:lnTo>
                  <a:lnTo>
                    <a:pt x="190203" y="825435"/>
                  </a:lnTo>
                  <a:lnTo>
                    <a:pt x="156198" y="798257"/>
                  </a:lnTo>
                  <a:lnTo>
                    <a:pt x="125102" y="769398"/>
                  </a:lnTo>
                  <a:lnTo>
                    <a:pt x="97072" y="738967"/>
                  </a:lnTo>
                  <a:lnTo>
                    <a:pt x="72266" y="707073"/>
                  </a:lnTo>
                  <a:lnTo>
                    <a:pt x="50843" y="673825"/>
                  </a:lnTo>
                  <a:lnTo>
                    <a:pt x="32961" y="639332"/>
                  </a:lnTo>
                  <a:lnTo>
                    <a:pt x="18778" y="603704"/>
                  </a:lnTo>
                  <a:lnTo>
                    <a:pt x="2139" y="529479"/>
                  </a:lnTo>
                  <a:lnTo>
                    <a:pt x="0" y="491099"/>
                  </a:lnTo>
                  <a:lnTo>
                    <a:pt x="2139" y="452720"/>
                  </a:lnTo>
                  <a:lnTo>
                    <a:pt x="18778" y="378495"/>
                  </a:lnTo>
                  <a:lnTo>
                    <a:pt x="32961" y="342867"/>
                  </a:lnTo>
                  <a:lnTo>
                    <a:pt x="50843" y="308374"/>
                  </a:lnTo>
                  <a:lnTo>
                    <a:pt x="72266" y="275126"/>
                  </a:lnTo>
                  <a:lnTo>
                    <a:pt x="97072" y="243232"/>
                  </a:lnTo>
                  <a:lnTo>
                    <a:pt x="125102" y="212801"/>
                  </a:lnTo>
                  <a:lnTo>
                    <a:pt x="156198" y="183942"/>
                  </a:lnTo>
                  <a:lnTo>
                    <a:pt x="190203" y="156764"/>
                  </a:lnTo>
                  <a:lnTo>
                    <a:pt x="226958" y="131376"/>
                  </a:lnTo>
                  <a:lnTo>
                    <a:pt x="266305" y="107889"/>
                  </a:lnTo>
                  <a:lnTo>
                    <a:pt x="308087" y="86410"/>
                  </a:lnTo>
                  <a:lnTo>
                    <a:pt x="352144" y="67049"/>
                  </a:lnTo>
                  <a:lnTo>
                    <a:pt x="398320" y="49915"/>
                  </a:lnTo>
                  <a:lnTo>
                    <a:pt x="446455" y="35118"/>
                  </a:lnTo>
                  <a:lnTo>
                    <a:pt x="496393" y="22767"/>
                  </a:lnTo>
                  <a:lnTo>
                    <a:pt x="547974" y="12970"/>
                  </a:lnTo>
                  <a:lnTo>
                    <a:pt x="601041" y="5837"/>
                  </a:lnTo>
                  <a:lnTo>
                    <a:pt x="655435" y="1477"/>
                  </a:lnTo>
                  <a:lnTo>
                    <a:pt x="710999" y="0"/>
                  </a:lnTo>
                  <a:lnTo>
                    <a:pt x="766564" y="1477"/>
                  </a:lnTo>
                  <a:lnTo>
                    <a:pt x="820958" y="5837"/>
                  </a:lnTo>
                  <a:lnTo>
                    <a:pt x="874025" y="12970"/>
                  </a:lnTo>
                  <a:lnTo>
                    <a:pt x="925606" y="22767"/>
                  </a:lnTo>
                  <a:lnTo>
                    <a:pt x="975544" y="35118"/>
                  </a:lnTo>
                  <a:lnTo>
                    <a:pt x="1023679" y="49915"/>
                  </a:lnTo>
                  <a:lnTo>
                    <a:pt x="1069855" y="67049"/>
                  </a:lnTo>
                  <a:lnTo>
                    <a:pt x="1113912" y="86410"/>
                  </a:lnTo>
                  <a:lnTo>
                    <a:pt x="1155694" y="107889"/>
                  </a:lnTo>
                  <a:lnTo>
                    <a:pt x="1195041" y="131376"/>
                  </a:lnTo>
                  <a:lnTo>
                    <a:pt x="1231796" y="156764"/>
                  </a:lnTo>
                  <a:lnTo>
                    <a:pt x="1265801" y="183942"/>
                  </a:lnTo>
                  <a:lnTo>
                    <a:pt x="1296897" y="212801"/>
                  </a:lnTo>
                  <a:lnTo>
                    <a:pt x="1324927" y="243232"/>
                  </a:lnTo>
                  <a:lnTo>
                    <a:pt x="1349733" y="275126"/>
                  </a:lnTo>
                  <a:lnTo>
                    <a:pt x="1371156" y="308374"/>
                  </a:lnTo>
                  <a:lnTo>
                    <a:pt x="1389038" y="342867"/>
                  </a:lnTo>
                  <a:lnTo>
                    <a:pt x="1403221" y="378495"/>
                  </a:lnTo>
                  <a:lnTo>
                    <a:pt x="1419860" y="452720"/>
                  </a:lnTo>
                  <a:lnTo>
                    <a:pt x="1421999" y="491099"/>
                  </a:lnTo>
                  <a:lnTo>
                    <a:pt x="1419860" y="529479"/>
                  </a:lnTo>
                  <a:lnTo>
                    <a:pt x="1403221" y="603704"/>
                  </a:lnTo>
                  <a:lnTo>
                    <a:pt x="1389038" y="639332"/>
                  </a:lnTo>
                  <a:lnTo>
                    <a:pt x="1371156" y="673825"/>
                  </a:lnTo>
                  <a:lnTo>
                    <a:pt x="1349733" y="707073"/>
                  </a:lnTo>
                  <a:lnTo>
                    <a:pt x="1324927" y="738967"/>
                  </a:lnTo>
                  <a:lnTo>
                    <a:pt x="1296897" y="769398"/>
                  </a:lnTo>
                  <a:lnTo>
                    <a:pt x="1265801" y="798257"/>
                  </a:lnTo>
                  <a:lnTo>
                    <a:pt x="1231796" y="825435"/>
                  </a:lnTo>
                  <a:lnTo>
                    <a:pt x="1195041" y="850823"/>
                  </a:lnTo>
                  <a:lnTo>
                    <a:pt x="1155694" y="874310"/>
                  </a:lnTo>
                  <a:lnTo>
                    <a:pt x="1113912" y="895789"/>
                  </a:lnTo>
                  <a:lnTo>
                    <a:pt x="1069855" y="915150"/>
                  </a:lnTo>
                  <a:lnTo>
                    <a:pt x="1023679" y="932284"/>
                  </a:lnTo>
                  <a:lnTo>
                    <a:pt x="975544" y="947081"/>
                  </a:lnTo>
                  <a:lnTo>
                    <a:pt x="925606" y="959432"/>
                  </a:lnTo>
                  <a:lnTo>
                    <a:pt x="874025" y="969229"/>
                  </a:lnTo>
                  <a:lnTo>
                    <a:pt x="820958" y="976362"/>
                  </a:lnTo>
                  <a:lnTo>
                    <a:pt x="766564" y="980722"/>
                  </a:lnTo>
                  <a:lnTo>
                    <a:pt x="710999" y="982199"/>
                  </a:lnTo>
                  <a:close/>
                </a:path>
              </a:pathLst>
            </a:custGeom>
            <a:solidFill>
              <a:srgbClr val="CE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562099" y="2408024"/>
              <a:ext cx="1422400" cy="982344"/>
            </a:xfrm>
            <a:custGeom>
              <a:avLst/>
              <a:gdLst/>
              <a:ahLst/>
              <a:cxnLst/>
              <a:rect l="l" t="t" r="r" b="b"/>
              <a:pathLst>
                <a:path w="1422400" h="982345">
                  <a:moveTo>
                    <a:pt x="0" y="491099"/>
                  </a:moveTo>
                  <a:lnTo>
                    <a:pt x="2139" y="452720"/>
                  </a:lnTo>
                  <a:lnTo>
                    <a:pt x="8451" y="415149"/>
                  </a:lnTo>
                  <a:lnTo>
                    <a:pt x="32961" y="342867"/>
                  </a:lnTo>
                  <a:lnTo>
                    <a:pt x="50843" y="308374"/>
                  </a:lnTo>
                  <a:lnTo>
                    <a:pt x="72266" y="275126"/>
                  </a:lnTo>
                  <a:lnTo>
                    <a:pt x="97072" y="243232"/>
                  </a:lnTo>
                  <a:lnTo>
                    <a:pt x="125102" y="212801"/>
                  </a:lnTo>
                  <a:lnTo>
                    <a:pt x="156198" y="183942"/>
                  </a:lnTo>
                  <a:lnTo>
                    <a:pt x="190203" y="156764"/>
                  </a:lnTo>
                  <a:lnTo>
                    <a:pt x="226958" y="131376"/>
                  </a:lnTo>
                  <a:lnTo>
                    <a:pt x="266305" y="107889"/>
                  </a:lnTo>
                  <a:lnTo>
                    <a:pt x="308087" y="86410"/>
                  </a:lnTo>
                  <a:lnTo>
                    <a:pt x="352144" y="67049"/>
                  </a:lnTo>
                  <a:lnTo>
                    <a:pt x="398320" y="49915"/>
                  </a:lnTo>
                  <a:lnTo>
                    <a:pt x="446455" y="35118"/>
                  </a:lnTo>
                  <a:lnTo>
                    <a:pt x="496393" y="22767"/>
                  </a:lnTo>
                  <a:lnTo>
                    <a:pt x="547974" y="12970"/>
                  </a:lnTo>
                  <a:lnTo>
                    <a:pt x="601041" y="5837"/>
                  </a:lnTo>
                  <a:lnTo>
                    <a:pt x="655435" y="1477"/>
                  </a:lnTo>
                  <a:lnTo>
                    <a:pt x="710999" y="0"/>
                  </a:lnTo>
                  <a:lnTo>
                    <a:pt x="766564" y="1477"/>
                  </a:lnTo>
                  <a:lnTo>
                    <a:pt x="820958" y="5837"/>
                  </a:lnTo>
                  <a:lnTo>
                    <a:pt x="874025" y="12970"/>
                  </a:lnTo>
                  <a:lnTo>
                    <a:pt x="925606" y="22767"/>
                  </a:lnTo>
                  <a:lnTo>
                    <a:pt x="975544" y="35118"/>
                  </a:lnTo>
                  <a:lnTo>
                    <a:pt x="1023679" y="49915"/>
                  </a:lnTo>
                  <a:lnTo>
                    <a:pt x="1069855" y="67049"/>
                  </a:lnTo>
                  <a:lnTo>
                    <a:pt x="1113912" y="86410"/>
                  </a:lnTo>
                  <a:lnTo>
                    <a:pt x="1155694" y="107889"/>
                  </a:lnTo>
                  <a:lnTo>
                    <a:pt x="1195041" y="131376"/>
                  </a:lnTo>
                  <a:lnTo>
                    <a:pt x="1231796" y="156764"/>
                  </a:lnTo>
                  <a:lnTo>
                    <a:pt x="1265801" y="183942"/>
                  </a:lnTo>
                  <a:lnTo>
                    <a:pt x="1296897" y="212801"/>
                  </a:lnTo>
                  <a:lnTo>
                    <a:pt x="1324927" y="243232"/>
                  </a:lnTo>
                  <a:lnTo>
                    <a:pt x="1349733" y="275126"/>
                  </a:lnTo>
                  <a:lnTo>
                    <a:pt x="1371156" y="308374"/>
                  </a:lnTo>
                  <a:lnTo>
                    <a:pt x="1389038" y="342867"/>
                  </a:lnTo>
                  <a:lnTo>
                    <a:pt x="1403221" y="378495"/>
                  </a:lnTo>
                  <a:lnTo>
                    <a:pt x="1419860" y="452720"/>
                  </a:lnTo>
                  <a:lnTo>
                    <a:pt x="1421999" y="491099"/>
                  </a:lnTo>
                  <a:lnTo>
                    <a:pt x="1419860" y="529479"/>
                  </a:lnTo>
                  <a:lnTo>
                    <a:pt x="1403221" y="603704"/>
                  </a:lnTo>
                  <a:lnTo>
                    <a:pt x="1389038" y="639332"/>
                  </a:lnTo>
                  <a:lnTo>
                    <a:pt x="1371156" y="673825"/>
                  </a:lnTo>
                  <a:lnTo>
                    <a:pt x="1349733" y="707073"/>
                  </a:lnTo>
                  <a:lnTo>
                    <a:pt x="1324927" y="738967"/>
                  </a:lnTo>
                  <a:lnTo>
                    <a:pt x="1296897" y="769398"/>
                  </a:lnTo>
                  <a:lnTo>
                    <a:pt x="1265801" y="798257"/>
                  </a:lnTo>
                  <a:lnTo>
                    <a:pt x="1231796" y="825435"/>
                  </a:lnTo>
                  <a:lnTo>
                    <a:pt x="1195041" y="850823"/>
                  </a:lnTo>
                  <a:lnTo>
                    <a:pt x="1155694" y="874310"/>
                  </a:lnTo>
                  <a:lnTo>
                    <a:pt x="1113912" y="895789"/>
                  </a:lnTo>
                  <a:lnTo>
                    <a:pt x="1069855" y="915150"/>
                  </a:lnTo>
                  <a:lnTo>
                    <a:pt x="1023679" y="932284"/>
                  </a:lnTo>
                  <a:lnTo>
                    <a:pt x="975544" y="947081"/>
                  </a:lnTo>
                  <a:lnTo>
                    <a:pt x="925606" y="959432"/>
                  </a:lnTo>
                  <a:lnTo>
                    <a:pt x="874025" y="969229"/>
                  </a:lnTo>
                  <a:lnTo>
                    <a:pt x="820958" y="976362"/>
                  </a:lnTo>
                  <a:lnTo>
                    <a:pt x="766564" y="980722"/>
                  </a:lnTo>
                  <a:lnTo>
                    <a:pt x="710999" y="982199"/>
                  </a:lnTo>
                  <a:lnTo>
                    <a:pt x="655435" y="980722"/>
                  </a:lnTo>
                  <a:lnTo>
                    <a:pt x="601041" y="976362"/>
                  </a:lnTo>
                  <a:lnTo>
                    <a:pt x="547974" y="969229"/>
                  </a:lnTo>
                  <a:lnTo>
                    <a:pt x="496393" y="959432"/>
                  </a:lnTo>
                  <a:lnTo>
                    <a:pt x="446455" y="947081"/>
                  </a:lnTo>
                  <a:lnTo>
                    <a:pt x="398320" y="932284"/>
                  </a:lnTo>
                  <a:lnTo>
                    <a:pt x="352144" y="915150"/>
                  </a:lnTo>
                  <a:lnTo>
                    <a:pt x="308087" y="895789"/>
                  </a:lnTo>
                  <a:lnTo>
                    <a:pt x="266305" y="874310"/>
                  </a:lnTo>
                  <a:lnTo>
                    <a:pt x="226958" y="850823"/>
                  </a:lnTo>
                  <a:lnTo>
                    <a:pt x="190203" y="825435"/>
                  </a:lnTo>
                  <a:lnTo>
                    <a:pt x="156198" y="798257"/>
                  </a:lnTo>
                  <a:lnTo>
                    <a:pt x="125102" y="769398"/>
                  </a:lnTo>
                  <a:lnTo>
                    <a:pt x="97072" y="738967"/>
                  </a:lnTo>
                  <a:lnTo>
                    <a:pt x="72266" y="707073"/>
                  </a:lnTo>
                  <a:lnTo>
                    <a:pt x="50843" y="673825"/>
                  </a:lnTo>
                  <a:lnTo>
                    <a:pt x="32961" y="639332"/>
                  </a:lnTo>
                  <a:lnTo>
                    <a:pt x="18778" y="603704"/>
                  </a:lnTo>
                  <a:lnTo>
                    <a:pt x="2139" y="529479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481094" y="3269616"/>
            <a:ext cx="1098973" cy="91830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indent="847" algn="ctr">
              <a:lnSpc>
                <a:spcPct val="102299"/>
              </a:lnSpc>
              <a:spcBef>
                <a:spcPts val="93"/>
              </a:spcBef>
            </a:pPr>
            <a:r>
              <a:rPr sz="1467" b="1" spc="-27" dirty="0">
                <a:latin typeface="Arial"/>
                <a:cs typeface="Arial"/>
              </a:rPr>
              <a:t>Data </a:t>
            </a:r>
            <a:r>
              <a:rPr sz="1467" b="1" spc="-13" dirty="0">
                <a:latin typeface="Arial"/>
                <a:cs typeface="Arial"/>
              </a:rPr>
              <a:t>Provider Commercial Company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0076450" y="4214533"/>
            <a:ext cx="1800013" cy="1816100"/>
            <a:chOff x="7557337" y="3160899"/>
            <a:chExt cx="1350010" cy="1362075"/>
          </a:xfrm>
        </p:grpSpPr>
        <p:pic>
          <p:nvPicPr>
            <p:cNvPr id="66" name="object 6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9280" y="3160899"/>
              <a:ext cx="347638" cy="163594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7562099" y="3535625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5">
                  <a:moveTo>
                    <a:pt x="670049" y="982199"/>
                  </a:move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6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6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562099" y="3535625"/>
              <a:ext cx="1340485" cy="982344"/>
            </a:xfrm>
            <a:custGeom>
              <a:avLst/>
              <a:gdLst/>
              <a:ahLst/>
              <a:cxnLst/>
              <a:rect l="l" t="t" r="r" b="b"/>
              <a:pathLst>
                <a:path w="1340484" h="982345">
                  <a:moveTo>
                    <a:pt x="0" y="491099"/>
                  </a:moveTo>
                  <a:lnTo>
                    <a:pt x="2221" y="450822"/>
                  </a:lnTo>
                  <a:lnTo>
                    <a:pt x="8769" y="411441"/>
                  </a:lnTo>
                  <a:lnTo>
                    <a:pt x="19473" y="373082"/>
                  </a:lnTo>
                  <a:lnTo>
                    <a:pt x="34159" y="335874"/>
                  </a:lnTo>
                  <a:lnTo>
                    <a:pt x="52655" y="299941"/>
                  </a:lnTo>
                  <a:lnTo>
                    <a:pt x="74789" y="265411"/>
                  </a:lnTo>
                  <a:lnTo>
                    <a:pt x="100388" y="232409"/>
                  </a:lnTo>
                  <a:lnTo>
                    <a:pt x="129280" y="201062"/>
                  </a:lnTo>
                  <a:lnTo>
                    <a:pt x="161292" y="171497"/>
                  </a:lnTo>
                  <a:lnTo>
                    <a:pt x="196253" y="143839"/>
                  </a:lnTo>
                  <a:lnTo>
                    <a:pt x="233988" y="118216"/>
                  </a:lnTo>
                  <a:lnTo>
                    <a:pt x="274327" y="94753"/>
                  </a:lnTo>
                  <a:lnTo>
                    <a:pt x="317096" y="73578"/>
                  </a:lnTo>
                  <a:lnTo>
                    <a:pt x="362123" y="54815"/>
                  </a:lnTo>
                  <a:lnTo>
                    <a:pt x="409236" y="38593"/>
                  </a:lnTo>
                  <a:lnTo>
                    <a:pt x="458262" y="25036"/>
                  </a:lnTo>
                  <a:lnTo>
                    <a:pt x="509029" y="14272"/>
                  </a:lnTo>
                  <a:lnTo>
                    <a:pt x="561364" y="6427"/>
                  </a:lnTo>
                  <a:lnTo>
                    <a:pt x="615095" y="1627"/>
                  </a:lnTo>
                  <a:lnTo>
                    <a:pt x="670049" y="0"/>
                  </a:lnTo>
                  <a:lnTo>
                    <a:pt x="725004" y="1627"/>
                  </a:lnTo>
                  <a:lnTo>
                    <a:pt x="778735" y="6427"/>
                  </a:lnTo>
                  <a:lnTo>
                    <a:pt x="831070" y="14272"/>
                  </a:lnTo>
                  <a:lnTo>
                    <a:pt x="881837" y="25036"/>
                  </a:lnTo>
                  <a:lnTo>
                    <a:pt x="930863" y="38593"/>
                  </a:lnTo>
                  <a:lnTo>
                    <a:pt x="977976" y="54815"/>
                  </a:lnTo>
                  <a:lnTo>
                    <a:pt x="1023003" y="73578"/>
                  </a:lnTo>
                  <a:lnTo>
                    <a:pt x="1065772" y="94753"/>
                  </a:lnTo>
                  <a:lnTo>
                    <a:pt x="1106111" y="118216"/>
                  </a:lnTo>
                  <a:lnTo>
                    <a:pt x="1143846" y="143839"/>
                  </a:lnTo>
                  <a:lnTo>
                    <a:pt x="1178807" y="171497"/>
                  </a:lnTo>
                  <a:lnTo>
                    <a:pt x="1210819" y="201062"/>
                  </a:lnTo>
                  <a:lnTo>
                    <a:pt x="1239711" y="232409"/>
                  </a:lnTo>
                  <a:lnTo>
                    <a:pt x="1265310" y="265411"/>
                  </a:lnTo>
                  <a:lnTo>
                    <a:pt x="1287444" y="299941"/>
                  </a:lnTo>
                  <a:lnTo>
                    <a:pt x="1305940" y="335874"/>
                  </a:lnTo>
                  <a:lnTo>
                    <a:pt x="1320626" y="373082"/>
                  </a:lnTo>
                  <a:lnTo>
                    <a:pt x="1331330" y="411441"/>
                  </a:lnTo>
                  <a:lnTo>
                    <a:pt x="1337878" y="450822"/>
                  </a:lnTo>
                  <a:lnTo>
                    <a:pt x="1340099" y="491099"/>
                  </a:lnTo>
                  <a:lnTo>
                    <a:pt x="1337878" y="531377"/>
                  </a:lnTo>
                  <a:lnTo>
                    <a:pt x="1331330" y="570758"/>
                  </a:lnTo>
                  <a:lnTo>
                    <a:pt x="1320626" y="609117"/>
                  </a:lnTo>
                  <a:lnTo>
                    <a:pt x="1305940" y="646325"/>
                  </a:lnTo>
                  <a:lnTo>
                    <a:pt x="1287444" y="682258"/>
                  </a:lnTo>
                  <a:lnTo>
                    <a:pt x="1265310" y="716788"/>
                  </a:lnTo>
                  <a:lnTo>
                    <a:pt x="1239711" y="749790"/>
                  </a:lnTo>
                  <a:lnTo>
                    <a:pt x="1210819" y="781137"/>
                  </a:lnTo>
                  <a:lnTo>
                    <a:pt x="1178807" y="810702"/>
                  </a:lnTo>
                  <a:lnTo>
                    <a:pt x="1143846" y="838360"/>
                  </a:lnTo>
                  <a:lnTo>
                    <a:pt x="1106111" y="863983"/>
                  </a:lnTo>
                  <a:lnTo>
                    <a:pt x="1065772" y="887446"/>
                  </a:lnTo>
                  <a:lnTo>
                    <a:pt x="1023003" y="908621"/>
                  </a:lnTo>
                  <a:lnTo>
                    <a:pt x="977976" y="927384"/>
                  </a:lnTo>
                  <a:lnTo>
                    <a:pt x="930863" y="943606"/>
                  </a:lnTo>
                  <a:lnTo>
                    <a:pt x="881837" y="957163"/>
                  </a:lnTo>
                  <a:lnTo>
                    <a:pt x="831070" y="967927"/>
                  </a:lnTo>
                  <a:lnTo>
                    <a:pt x="778735" y="975772"/>
                  </a:lnTo>
                  <a:lnTo>
                    <a:pt x="725004" y="980572"/>
                  </a:lnTo>
                  <a:lnTo>
                    <a:pt x="670049" y="982199"/>
                  </a:lnTo>
                  <a:lnTo>
                    <a:pt x="615095" y="980572"/>
                  </a:lnTo>
                  <a:lnTo>
                    <a:pt x="561364" y="975772"/>
                  </a:lnTo>
                  <a:lnTo>
                    <a:pt x="509029" y="967927"/>
                  </a:lnTo>
                  <a:lnTo>
                    <a:pt x="458262" y="957163"/>
                  </a:lnTo>
                  <a:lnTo>
                    <a:pt x="409236" y="943606"/>
                  </a:lnTo>
                  <a:lnTo>
                    <a:pt x="362123" y="927384"/>
                  </a:lnTo>
                  <a:lnTo>
                    <a:pt x="317096" y="908621"/>
                  </a:lnTo>
                  <a:lnTo>
                    <a:pt x="274327" y="887446"/>
                  </a:lnTo>
                  <a:lnTo>
                    <a:pt x="233988" y="863983"/>
                  </a:lnTo>
                  <a:lnTo>
                    <a:pt x="196253" y="838360"/>
                  </a:lnTo>
                  <a:lnTo>
                    <a:pt x="161292" y="810702"/>
                  </a:lnTo>
                  <a:lnTo>
                    <a:pt x="129280" y="781137"/>
                  </a:lnTo>
                  <a:lnTo>
                    <a:pt x="100388" y="749790"/>
                  </a:lnTo>
                  <a:lnTo>
                    <a:pt x="74789" y="716788"/>
                  </a:lnTo>
                  <a:lnTo>
                    <a:pt x="52655" y="682258"/>
                  </a:lnTo>
                  <a:lnTo>
                    <a:pt x="34159" y="646325"/>
                  </a:lnTo>
                  <a:lnTo>
                    <a:pt x="19473" y="609117"/>
                  </a:lnTo>
                  <a:lnTo>
                    <a:pt x="8769" y="570758"/>
                  </a:lnTo>
                  <a:lnTo>
                    <a:pt x="2221" y="531377"/>
                  </a:lnTo>
                  <a:lnTo>
                    <a:pt x="0" y="4910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0591998" y="5001683"/>
            <a:ext cx="767927" cy="457796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92189" marR="6773" indent="-176102">
              <a:lnSpc>
                <a:spcPct val="102299"/>
              </a:lnSpc>
              <a:spcBef>
                <a:spcPts val="93"/>
              </a:spcBef>
            </a:pPr>
            <a:r>
              <a:rPr sz="1467" b="1" spc="-13" dirty="0">
                <a:latin typeface="Arial"/>
                <a:cs typeface="Arial"/>
              </a:rPr>
              <a:t>Scraped </a:t>
            </a:r>
            <a:r>
              <a:rPr sz="1467" b="1" spc="-27" dirty="0">
                <a:latin typeface="Arial"/>
                <a:cs typeface="Arial"/>
              </a:rPr>
              <a:t>data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2441528" y="1363566"/>
            <a:ext cx="8651240" cy="4344247"/>
            <a:chOff x="1831146" y="1022674"/>
            <a:chExt cx="6488430" cy="3258185"/>
          </a:xfrm>
        </p:grpSpPr>
        <p:pic>
          <p:nvPicPr>
            <p:cNvPr id="71" name="object 7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45240" y="4117049"/>
              <a:ext cx="173819" cy="16359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490549" y="1032199"/>
              <a:ext cx="2741930" cy="633095"/>
            </a:xfrm>
            <a:custGeom>
              <a:avLst/>
              <a:gdLst/>
              <a:ahLst/>
              <a:cxnLst/>
              <a:rect l="l" t="t" r="r" b="b"/>
              <a:pathLst>
                <a:path w="2741929" h="633094">
                  <a:moveTo>
                    <a:pt x="0" y="238124"/>
                  </a:moveTo>
                  <a:lnTo>
                    <a:pt x="19877" y="202523"/>
                  </a:lnTo>
                  <a:lnTo>
                    <a:pt x="53945" y="179139"/>
                  </a:lnTo>
                  <a:lnTo>
                    <a:pt x="103245" y="156284"/>
                  </a:lnTo>
                  <a:lnTo>
                    <a:pt x="166558" y="134169"/>
                  </a:lnTo>
                  <a:lnTo>
                    <a:pt x="242665" y="113006"/>
                  </a:lnTo>
                  <a:lnTo>
                    <a:pt x="285136" y="102848"/>
                  </a:lnTo>
                  <a:lnTo>
                    <a:pt x="330349" y="93007"/>
                  </a:lnTo>
                  <a:lnTo>
                    <a:pt x="378151" y="83511"/>
                  </a:lnTo>
                  <a:lnTo>
                    <a:pt x="428390" y="74385"/>
                  </a:lnTo>
                  <a:lnTo>
                    <a:pt x="480914" y="65657"/>
                  </a:lnTo>
                  <a:lnTo>
                    <a:pt x="535570" y="57352"/>
                  </a:lnTo>
                  <a:lnTo>
                    <a:pt x="592207" y="49497"/>
                  </a:lnTo>
                  <a:lnTo>
                    <a:pt x="650671" y="42119"/>
                  </a:lnTo>
                  <a:lnTo>
                    <a:pt x="710811" y="35244"/>
                  </a:lnTo>
                  <a:lnTo>
                    <a:pt x="772473" y="28899"/>
                  </a:lnTo>
                  <a:lnTo>
                    <a:pt x="835507" y="23109"/>
                  </a:lnTo>
                  <a:lnTo>
                    <a:pt x="899759" y="17903"/>
                  </a:lnTo>
                  <a:lnTo>
                    <a:pt x="965078" y="13306"/>
                  </a:lnTo>
                  <a:lnTo>
                    <a:pt x="1031310" y="9344"/>
                  </a:lnTo>
                  <a:lnTo>
                    <a:pt x="1098304" y="6045"/>
                  </a:lnTo>
                  <a:lnTo>
                    <a:pt x="1165907" y="3434"/>
                  </a:lnTo>
                  <a:lnTo>
                    <a:pt x="1233968" y="1539"/>
                  </a:lnTo>
                  <a:lnTo>
                    <a:pt x="1302332" y="385"/>
                  </a:lnTo>
                  <a:lnTo>
                    <a:pt x="1370849" y="0"/>
                  </a:lnTo>
                  <a:lnTo>
                    <a:pt x="1439367" y="400"/>
                  </a:lnTo>
                  <a:lnTo>
                    <a:pt x="1507731" y="1569"/>
                  </a:lnTo>
                  <a:lnTo>
                    <a:pt x="1575792" y="3479"/>
                  </a:lnTo>
                  <a:lnTo>
                    <a:pt x="1643395" y="6105"/>
                  </a:lnTo>
                  <a:lnTo>
                    <a:pt x="1710389" y="9420"/>
                  </a:lnTo>
                  <a:lnTo>
                    <a:pt x="1776621" y="13397"/>
                  </a:lnTo>
                  <a:lnTo>
                    <a:pt x="1841940" y="18010"/>
                  </a:lnTo>
                  <a:lnTo>
                    <a:pt x="1906192" y="23232"/>
                  </a:lnTo>
                  <a:lnTo>
                    <a:pt x="1969226" y="29038"/>
                  </a:lnTo>
                  <a:lnTo>
                    <a:pt x="2030888" y="35399"/>
                  </a:lnTo>
                  <a:lnTo>
                    <a:pt x="2091028" y="42291"/>
                  </a:lnTo>
                  <a:lnTo>
                    <a:pt x="2149492" y="49687"/>
                  </a:lnTo>
                  <a:lnTo>
                    <a:pt x="2206129" y="57559"/>
                  </a:lnTo>
                  <a:lnTo>
                    <a:pt x="2260785" y="65882"/>
                  </a:lnTo>
                  <a:lnTo>
                    <a:pt x="2313309" y="74629"/>
                  </a:lnTo>
                  <a:lnTo>
                    <a:pt x="2363548" y="83774"/>
                  </a:lnTo>
                  <a:lnTo>
                    <a:pt x="2411350" y="93290"/>
                  </a:lnTo>
                  <a:lnTo>
                    <a:pt x="2456563" y="103150"/>
                  </a:lnTo>
                  <a:lnTo>
                    <a:pt x="2499034" y="113329"/>
                  </a:lnTo>
                  <a:lnTo>
                    <a:pt x="2538611" y="123799"/>
                  </a:lnTo>
                  <a:lnTo>
                    <a:pt x="2608473" y="145510"/>
                  </a:lnTo>
                  <a:lnTo>
                    <a:pt x="2664932" y="168069"/>
                  </a:lnTo>
                  <a:lnTo>
                    <a:pt x="2706768" y="191266"/>
                  </a:lnTo>
                  <a:lnTo>
                    <a:pt x="2739440" y="226793"/>
                  </a:lnTo>
                  <a:lnTo>
                    <a:pt x="2741699" y="238724"/>
                  </a:lnTo>
                </a:path>
                <a:path w="2741929" h="633094">
                  <a:moveTo>
                    <a:pt x="473796" y="381964"/>
                  </a:moveTo>
                  <a:lnTo>
                    <a:pt x="485649" y="363814"/>
                  </a:lnTo>
                  <a:lnTo>
                    <a:pt x="517820" y="343878"/>
                  </a:lnTo>
                  <a:lnTo>
                    <a:pt x="565229" y="327903"/>
                  </a:lnTo>
                  <a:lnTo>
                    <a:pt x="622798" y="321636"/>
                  </a:lnTo>
                  <a:lnTo>
                    <a:pt x="685446" y="330825"/>
                  </a:lnTo>
                  <a:lnTo>
                    <a:pt x="724924" y="346626"/>
                  </a:lnTo>
                  <a:lnTo>
                    <a:pt x="763162" y="370041"/>
                  </a:lnTo>
                  <a:lnTo>
                    <a:pt x="798919" y="400403"/>
                  </a:lnTo>
                  <a:lnTo>
                    <a:pt x="830956" y="437045"/>
                  </a:lnTo>
                  <a:lnTo>
                    <a:pt x="858032" y="479300"/>
                  </a:lnTo>
                  <a:lnTo>
                    <a:pt x="878908" y="526500"/>
                  </a:lnTo>
                  <a:lnTo>
                    <a:pt x="892343" y="577977"/>
                  </a:lnTo>
                  <a:lnTo>
                    <a:pt x="897096" y="633064"/>
                  </a:lnTo>
                </a:path>
              </a:pathLst>
            </a:custGeom>
            <a:ln w="19049">
              <a:solidFill>
                <a:srgbClr val="595959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51075" y="3793300"/>
              <a:ext cx="246149" cy="25304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25475" y="3793100"/>
              <a:ext cx="246149" cy="24314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063605" y="1761424"/>
              <a:ext cx="756920" cy="1343660"/>
            </a:xfrm>
            <a:custGeom>
              <a:avLst/>
              <a:gdLst/>
              <a:ahLst/>
              <a:cxnLst/>
              <a:rect l="l" t="t" r="r" b="b"/>
              <a:pathLst>
                <a:path w="756920" h="1343660">
                  <a:moveTo>
                    <a:pt x="756894" y="0"/>
                  </a:moveTo>
                  <a:lnTo>
                    <a:pt x="0" y="134341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11645" y="3079872"/>
              <a:ext cx="88899" cy="109814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4114499" y="2899124"/>
              <a:ext cx="706120" cy="265430"/>
            </a:xfrm>
            <a:custGeom>
              <a:avLst/>
              <a:gdLst/>
              <a:ahLst/>
              <a:cxnLst/>
              <a:rect l="l" t="t" r="r" b="b"/>
              <a:pathLst>
                <a:path w="706120" h="265430">
                  <a:moveTo>
                    <a:pt x="706000" y="0"/>
                  </a:moveTo>
                  <a:lnTo>
                    <a:pt x="0" y="265205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24045" y="3125350"/>
              <a:ext cx="111043" cy="78906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4087359" y="3286099"/>
              <a:ext cx="733425" cy="751205"/>
            </a:xfrm>
            <a:custGeom>
              <a:avLst/>
              <a:gdLst/>
              <a:ahLst/>
              <a:cxnLst/>
              <a:rect l="l" t="t" r="r" b="b"/>
              <a:pathLst>
                <a:path w="733425" h="751204">
                  <a:moveTo>
                    <a:pt x="733140" y="75072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17432" y="3214724"/>
              <a:ext cx="101962" cy="102883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36925" y="3163384"/>
              <a:ext cx="327275" cy="8198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840671" y="2108685"/>
              <a:ext cx="685800" cy="468630"/>
            </a:xfrm>
            <a:custGeom>
              <a:avLst/>
              <a:gdLst/>
              <a:ahLst/>
              <a:cxnLst/>
              <a:rect l="l" t="t" r="r" b="b"/>
              <a:pathLst>
                <a:path w="685800" h="468630">
                  <a:moveTo>
                    <a:pt x="0" y="0"/>
                  </a:moveTo>
                  <a:lnTo>
                    <a:pt x="685600" y="468054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99006" y="2541227"/>
              <a:ext cx="108190" cy="9378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2641712" y="2108685"/>
              <a:ext cx="80010" cy="420370"/>
            </a:xfrm>
            <a:custGeom>
              <a:avLst/>
              <a:gdLst/>
              <a:ahLst/>
              <a:cxnLst/>
              <a:rect l="l" t="t" r="r" b="b"/>
              <a:pathLst>
                <a:path w="80010" h="420369">
                  <a:moveTo>
                    <a:pt x="79541" y="0"/>
                  </a:moveTo>
                  <a:lnTo>
                    <a:pt x="0" y="420194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01270" y="2513502"/>
              <a:ext cx="80882" cy="109844"/>
            </a:xfrm>
            <a:prstGeom prst="rect">
              <a:avLst/>
            </a:prstGeom>
          </p:spPr>
        </p:pic>
      </p:grpSp>
      <p:sp>
        <p:nvSpPr>
          <p:cNvPr id="86" name="object 86"/>
          <p:cNvSpPr txBox="1"/>
          <p:nvPr/>
        </p:nvSpPr>
        <p:spPr>
          <a:xfrm>
            <a:off x="9482433" y="6142034"/>
            <a:ext cx="2065020" cy="679673"/>
          </a:xfrm>
          <a:prstGeom prst="rect">
            <a:avLst/>
          </a:prstGeom>
          <a:solidFill>
            <a:srgbClr val="D9D1E9"/>
          </a:solidFill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580"/>
              </a:lnSpc>
            </a:pPr>
            <a:r>
              <a:rPr sz="2267" b="1" dirty="0">
                <a:latin typeface="Arial"/>
                <a:cs typeface="Arial"/>
              </a:rPr>
              <a:t>“Data</a:t>
            </a:r>
            <a:r>
              <a:rPr sz="2267" b="1" spc="-33" dirty="0">
                <a:latin typeface="Arial"/>
                <a:cs typeface="Arial"/>
              </a:rPr>
              <a:t> </a:t>
            </a:r>
            <a:r>
              <a:rPr sz="2267" b="1" spc="-13" dirty="0">
                <a:latin typeface="Arial"/>
                <a:cs typeface="Arial"/>
              </a:rPr>
              <a:t>Rights</a:t>
            </a:r>
            <a:endParaRPr sz="2267">
              <a:latin typeface="Arial"/>
              <a:cs typeface="Arial"/>
            </a:endParaRPr>
          </a:p>
          <a:p>
            <a:pPr algn="ctr">
              <a:lnSpc>
                <a:spcPts val="2713"/>
              </a:lnSpc>
            </a:pPr>
            <a:r>
              <a:rPr sz="2267" b="1" spc="-13" dirty="0">
                <a:latin typeface="Arial"/>
                <a:cs typeface="Arial"/>
              </a:rPr>
              <a:t>Holders”</a:t>
            </a:r>
            <a:endParaRPr sz="2267">
              <a:latin typeface="Arial"/>
              <a:cs typeface="Arial"/>
            </a:endParaRPr>
          </a:p>
        </p:txBody>
      </p:sp>
      <p:sp>
        <p:nvSpPr>
          <p:cNvPr id="88" name="Slide Number Placeholder 87">
            <a:extLst>
              <a:ext uri="{FF2B5EF4-FFF2-40B4-BE49-F238E27FC236}">
                <a16:creationId xmlns:a16="http://schemas.microsoft.com/office/drawing/2014/main" id="{488399E4-7148-46E9-AC97-2B1C29C226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121</a:t>
            </a:fld>
            <a:endParaRPr lang="en-US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250" y="84117"/>
            <a:ext cx="11866033" cy="6626860"/>
            <a:chOff x="122437" y="63087"/>
            <a:chExt cx="8899525" cy="4970145"/>
          </a:xfrm>
        </p:grpSpPr>
        <p:sp>
          <p:nvSpPr>
            <p:cNvPr id="3" name="object 3"/>
            <p:cNvSpPr/>
            <p:nvPr/>
          </p:nvSpPr>
          <p:spPr>
            <a:xfrm>
              <a:off x="127199" y="67850"/>
              <a:ext cx="8890000" cy="4960620"/>
            </a:xfrm>
            <a:custGeom>
              <a:avLst/>
              <a:gdLst/>
              <a:ahLst/>
              <a:cxnLst/>
              <a:rect l="l" t="t" r="r" b="b"/>
              <a:pathLst>
                <a:path w="8890000" h="4960620">
                  <a:moveTo>
                    <a:pt x="8062883" y="4960199"/>
                  </a:moveTo>
                  <a:lnTo>
                    <a:pt x="826716" y="4960199"/>
                  </a:lnTo>
                  <a:lnTo>
                    <a:pt x="778140" y="4958796"/>
                  </a:lnTo>
                  <a:lnTo>
                    <a:pt x="730303" y="4954638"/>
                  </a:lnTo>
                  <a:lnTo>
                    <a:pt x="683283" y="4947801"/>
                  </a:lnTo>
                  <a:lnTo>
                    <a:pt x="637157" y="4938365"/>
                  </a:lnTo>
                  <a:lnTo>
                    <a:pt x="592003" y="4926407"/>
                  </a:lnTo>
                  <a:lnTo>
                    <a:pt x="547899" y="4912003"/>
                  </a:lnTo>
                  <a:lnTo>
                    <a:pt x="504921" y="4895232"/>
                  </a:lnTo>
                  <a:lnTo>
                    <a:pt x="463147" y="4876171"/>
                  </a:lnTo>
                  <a:lnTo>
                    <a:pt x="422655" y="4854898"/>
                  </a:lnTo>
                  <a:lnTo>
                    <a:pt x="383523" y="4831490"/>
                  </a:lnTo>
                  <a:lnTo>
                    <a:pt x="345828" y="4806024"/>
                  </a:lnTo>
                  <a:lnTo>
                    <a:pt x="309647" y="4778579"/>
                  </a:lnTo>
                  <a:lnTo>
                    <a:pt x="275058" y="4749232"/>
                  </a:lnTo>
                  <a:lnTo>
                    <a:pt x="242139" y="4718060"/>
                  </a:lnTo>
                  <a:lnTo>
                    <a:pt x="210967" y="4685141"/>
                  </a:lnTo>
                  <a:lnTo>
                    <a:pt x="181620" y="4650552"/>
                  </a:lnTo>
                  <a:lnTo>
                    <a:pt x="154175" y="4614371"/>
                  </a:lnTo>
                  <a:lnTo>
                    <a:pt x="128709" y="4576676"/>
                  </a:lnTo>
                  <a:lnTo>
                    <a:pt x="105301" y="4537544"/>
                  </a:lnTo>
                  <a:lnTo>
                    <a:pt x="84028" y="4497052"/>
                  </a:lnTo>
                  <a:lnTo>
                    <a:pt x="64967" y="4455278"/>
                  </a:lnTo>
                  <a:lnTo>
                    <a:pt x="48196" y="4412300"/>
                  </a:lnTo>
                  <a:lnTo>
                    <a:pt x="33792" y="4368196"/>
                  </a:lnTo>
                  <a:lnTo>
                    <a:pt x="21834" y="4323042"/>
                  </a:lnTo>
                  <a:lnTo>
                    <a:pt x="12398" y="4276916"/>
                  </a:lnTo>
                  <a:lnTo>
                    <a:pt x="5561" y="4229896"/>
                  </a:lnTo>
                  <a:lnTo>
                    <a:pt x="1403" y="4182059"/>
                  </a:lnTo>
                  <a:lnTo>
                    <a:pt x="0" y="4133483"/>
                  </a:lnTo>
                  <a:lnTo>
                    <a:pt x="0" y="826716"/>
                  </a:lnTo>
                  <a:lnTo>
                    <a:pt x="1403" y="778140"/>
                  </a:lnTo>
                  <a:lnTo>
                    <a:pt x="5561" y="730303"/>
                  </a:lnTo>
                  <a:lnTo>
                    <a:pt x="12398" y="683283"/>
                  </a:lnTo>
                  <a:lnTo>
                    <a:pt x="21834" y="637157"/>
                  </a:lnTo>
                  <a:lnTo>
                    <a:pt x="33792" y="592003"/>
                  </a:lnTo>
                  <a:lnTo>
                    <a:pt x="48196" y="547899"/>
                  </a:lnTo>
                  <a:lnTo>
                    <a:pt x="64967" y="504921"/>
                  </a:lnTo>
                  <a:lnTo>
                    <a:pt x="84028" y="463147"/>
                  </a:lnTo>
                  <a:lnTo>
                    <a:pt x="105301" y="422655"/>
                  </a:lnTo>
                  <a:lnTo>
                    <a:pt x="128709" y="383523"/>
                  </a:lnTo>
                  <a:lnTo>
                    <a:pt x="154175" y="345828"/>
                  </a:lnTo>
                  <a:lnTo>
                    <a:pt x="181620" y="309647"/>
                  </a:lnTo>
                  <a:lnTo>
                    <a:pt x="210967" y="275058"/>
                  </a:lnTo>
                  <a:lnTo>
                    <a:pt x="242139" y="242139"/>
                  </a:lnTo>
                  <a:lnTo>
                    <a:pt x="275058" y="210967"/>
                  </a:lnTo>
                  <a:lnTo>
                    <a:pt x="309647" y="181620"/>
                  </a:lnTo>
                  <a:lnTo>
                    <a:pt x="345828" y="154175"/>
                  </a:lnTo>
                  <a:lnTo>
                    <a:pt x="383523" y="128709"/>
                  </a:lnTo>
                  <a:lnTo>
                    <a:pt x="422655" y="105301"/>
                  </a:lnTo>
                  <a:lnTo>
                    <a:pt x="463147" y="84028"/>
                  </a:lnTo>
                  <a:lnTo>
                    <a:pt x="504921" y="64967"/>
                  </a:lnTo>
                  <a:lnTo>
                    <a:pt x="547899" y="48196"/>
                  </a:lnTo>
                  <a:lnTo>
                    <a:pt x="592003" y="33792"/>
                  </a:lnTo>
                  <a:lnTo>
                    <a:pt x="637157" y="21834"/>
                  </a:lnTo>
                  <a:lnTo>
                    <a:pt x="683283" y="12398"/>
                  </a:lnTo>
                  <a:lnTo>
                    <a:pt x="730303" y="5561"/>
                  </a:lnTo>
                  <a:lnTo>
                    <a:pt x="778140" y="1403"/>
                  </a:lnTo>
                  <a:lnTo>
                    <a:pt x="826716" y="0"/>
                  </a:lnTo>
                  <a:lnTo>
                    <a:pt x="8062883" y="0"/>
                  </a:lnTo>
                  <a:lnTo>
                    <a:pt x="8113301" y="1537"/>
                  </a:lnTo>
                  <a:lnTo>
                    <a:pt x="8163273" y="6114"/>
                  </a:lnTo>
                  <a:lnTo>
                    <a:pt x="8212674" y="13679"/>
                  </a:lnTo>
                  <a:lnTo>
                    <a:pt x="8261378" y="24180"/>
                  </a:lnTo>
                  <a:lnTo>
                    <a:pt x="8309257" y="37563"/>
                  </a:lnTo>
                  <a:lnTo>
                    <a:pt x="8356185" y="53777"/>
                  </a:lnTo>
                  <a:lnTo>
                    <a:pt x="8402037" y="72770"/>
                  </a:lnTo>
                  <a:lnTo>
                    <a:pt x="8446686" y="94488"/>
                  </a:lnTo>
                  <a:lnTo>
                    <a:pt x="8490005" y="118880"/>
                  </a:lnTo>
                  <a:lnTo>
                    <a:pt x="8531868" y="145894"/>
                  </a:lnTo>
                  <a:lnTo>
                    <a:pt x="8572149" y="175476"/>
                  </a:lnTo>
                  <a:lnTo>
                    <a:pt x="8610722" y="207576"/>
                  </a:lnTo>
                  <a:lnTo>
                    <a:pt x="8647459" y="242139"/>
                  </a:lnTo>
                  <a:lnTo>
                    <a:pt x="8682023" y="278877"/>
                  </a:lnTo>
                  <a:lnTo>
                    <a:pt x="8714122" y="317450"/>
                  </a:lnTo>
                  <a:lnTo>
                    <a:pt x="8743705" y="357731"/>
                  </a:lnTo>
                  <a:lnTo>
                    <a:pt x="8770719" y="399594"/>
                  </a:lnTo>
                  <a:lnTo>
                    <a:pt x="8795111" y="442913"/>
                  </a:lnTo>
                  <a:lnTo>
                    <a:pt x="8816829" y="487562"/>
                  </a:lnTo>
                  <a:lnTo>
                    <a:pt x="8835822" y="533414"/>
                  </a:lnTo>
                  <a:lnTo>
                    <a:pt x="8852036" y="580342"/>
                  </a:lnTo>
                  <a:lnTo>
                    <a:pt x="8865419" y="628221"/>
                  </a:lnTo>
                  <a:lnTo>
                    <a:pt x="8875920" y="676925"/>
                  </a:lnTo>
                  <a:lnTo>
                    <a:pt x="8883485" y="726326"/>
                  </a:lnTo>
                  <a:lnTo>
                    <a:pt x="8888062" y="776298"/>
                  </a:lnTo>
                  <a:lnTo>
                    <a:pt x="8889599" y="826716"/>
                  </a:lnTo>
                  <a:lnTo>
                    <a:pt x="8889599" y="4133483"/>
                  </a:lnTo>
                  <a:lnTo>
                    <a:pt x="8888196" y="4182059"/>
                  </a:lnTo>
                  <a:lnTo>
                    <a:pt x="8884038" y="4229896"/>
                  </a:lnTo>
                  <a:lnTo>
                    <a:pt x="8877201" y="4276916"/>
                  </a:lnTo>
                  <a:lnTo>
                    <a:pt x="8867765" y="4323042"/>
                  </a:lnTo>
                  <a:lnTo>
                    <a:pt x="8855807" y="4368196"/>
                  </a:lnTo>
                  <a:lnTo>
                    <a:pt x="8841403" y="4412300"/>
                  </a:lnTo>
                  <a:lnTo>
                    <a:pt x="8824632" y="4455278"/>
                  </a:lnTo>
                  <a:lnTo>
                    <a:pt x="8805571" y="4497052"/>
                  </a:lnTo>
                  <a:lnTo>
                    <a:pt x="8784298" y="4537544"/>
                  </a:lnTo>
                  <a:lnTo>
                    <a:pt x="8760890" y="4576676"/>
                  </a:lnTo>
                  <a:lnTo>
                    <a:pt x="8735424" y="4614371"/>
                  </a:lnTo>
                  <a:lnTo>
                    <a:pt x="8707979" y="4650552"/>
                  </a:lnTo>
                  <a:lnTo>
                    <a:pt x="8678632" y="4685141"/>
                  </a:lnTo>
                  <a:lnTo>
                    <a:pt x="8647460" y="4718060"/>
                  </a:lnTo>
                  <a:lnTo>
                    <a:pt x="8614541" y="4749232"/>
                  </a:lnTo>
                  <a:lnTo>
                    <a:pt x="8579952" y="4778579"/>
                  </a:lnTo>
                  <a:lnTo>
                    <a:pt x="8543771" y="4806024"/>
                  </a:lnTo>
                  <a:lnTo>
                    <a:pt x="8506076" y="4831490"/>
                  </a:lnTo>
                  <a:lnTo>
                    <a:pt x="8466944" y="4854898"/>
                  </a:lnTo>
                  <a:lnTo>
                    <a:pt x="8426452" y="4876171"/>
                  </a:lnTo>
                  <a:lnTo>
                    <a:pt x="8384678" y="4895232"/>
                  </a:lnTo>
                  <a:lnTo>
                    <a:pt x="8341700" y="4912003"/>
                  </a:lnTo>
                  <a:lnTo>
                    <a:pt x="8297596" y="4926407"/>
                  </a:lnTo>
                  <a:lnTo>
                    <a:pt x="8252442" y="4938365"/>
                  </a:lnTo>
                  <a:lnTo>
                    <a:pt x="8206316" y="4947801"/>
                  </a:lnTo>
                  <a:lnTo>
                    <a:pt x="8159296" y="4954638"/>
                  </a:lnTo>
                  <a:lnTo>
                    <a:pt x="8111459" y="4958796"/>
                  </a:lnTo>
                  <a:lnTo>
                    <a:pt x="8062883" y="4960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7199" y="67850"/>
              <a:ext cx="8890000" cy="4960620"/>
            </a:xfrm>
            <a:custGeom>
              <a:avLst/>
              <a:gdLst/>
              <a:ahLst/>
              <a:cxnLst/>
              <a:rect l="l" t="t" r="r" b="b"/>
              <a:pathLst>
                <a:path w="8890000" h="4960620">
                  <a:moveTo>
                    <a:pt x="0" y="826716"/>
                  </a:moveTo>
                  <a:lnTo>
                    <a:pt x="1403" y="778140"/>
                  </a:lnTo>
                  <a:lnTo>
                    <a:pt x="5561" y="730303"/>
                  </a:lnTo>
                  <a:lnTo>
                    <a:pt x="12398" y="683283"/>
                  </a:lnTo>
                  <a:lnTo>
                    <a:pt x="21834" y="637157"/>
                  </a:lnTo>
                  <a:lnTo>
                    <a:pt x="33792" y="592003"/>
                  </a:lnTo>
                  <a:lnTo>
                    <a:pt x="48196" y="547899"/>
                  </a:lnTo>
                  <a:lnTo>
                    <a:pt x="64967" y="504921"/>
                  </a:lnTo>
                  <a:lnTo>
                    <a:pt x="84028" y="463147"/>
                  </a:lnTo>
                  <a:lnTo>
                    <a:pt x="105301" y="422655"/>
                  </a:lnTo>
                  <a:lnTo>
                    <a:pt x="128709" y="383523"/>
                  </a:lnTo>
                  <a:lnTo>
                    <a:pt x="154175" y="345828"/>
                  </a:lnTo>
                  <a:lnTo>
                    <a:pt x="181620" y="309647"/>
                  </a:lnTo>
                  <a:lnTo>
                    <a:pt x="210967" y="275058"/>
                  </a:lnTo>
                  <a:lnTo>
                    <a:pt x="242139" y="242139"/>
                  </a:lnTo>
                  <a:lnTo>
                    <a:pt x="275058" y="210967"/>
                  </a:lnTo>
                  <a:lnTo>
                    <a:pt x="309647" y="181620"/>
                  </a:lnTo>
                  <a:lnTo>
                    <a:pt x="345828" y="154175"/>
                  </a:lnTo>
                  <a:lnTo>
                    <a:pt x="383523" y="128709"/>
                  </a:lnTo>
                  <a:lnTo>
                    <a:pt x="422655" y="105301"/>
                  </a:lnTo>
                  <a:lnTo>
                    <a:pt x="463147" y="84028"/>
                  </a:lnTo>
                  <a:lnTo>
                    <a:pt x="504921" y="64967"/>
                  </a:lnTo>
                  <a:lnTo>
                    <a:pt x="547899" y="48196"/>
                  </a:lnTo>
                  <a:lnTo>
                    <a:pt x="592003" y="33792"/>
                  </a:lnTo>
                  <a:lnTo>
                    <a:pt x="637157" y="21834"/>
                  </a:lnTo>
                  <a:lnTo>
                    <a:pt x="683283" y="12398"/>
                  </a:lnTo>
                  <a:lnTo>
                    <a:pt x="730303" y="5561"/>
                  </a:lnTo>
                  <a:lnTo>
                    <a:pt x="778140" y="1403"/>
                  </a:lnTo>
                  <a:lnTo>
                    <a:pt x="826716" y="0"/>
                  </a:lnTo>
                  <a:lnTo>
                    <a:pt x="8062883" y="0"/>
                  </a:lnTo>
                  <a:lnTo>
                    <a:pt x="8113301" y="1537"/>
                  </a:lnTo>
                  <a:lnTo>
                    <a:pt x="8163273" y="6114"/>
                  </a:lnTo>
                  <a:lnTo>
                    <a:pt x="8212674" y="13679"/>
                  </a:lnTo>
                  <a:lnTo>
                    <a:pt x="8261378" y="24180"/>
                  </a:lnTo>
                  <a:lnTo>
                    <a:pt x="8309257" y="37563"/>
                  </a:lnTo>
                  <a:lnTo>
                    <a:pt x="8356185" y="53777"/>
                  </a:lnTo>
                  <a:lnTo>
                    <a:pt x="8402037" y="72770"/>
                  </a:lnTo>
                  <a:lnTo>
                    <a:pt x="8446686" y="94488"/>
                  </a:lnTo>
                  <a:lnTo>
                    <a:pt x="8490005" y="118880"/>
                  </a:lnTo>
                  <a:lnTo>
                    <a:pt x="8531868" y="145894"/>
                  </a:lnTo>
                  <a:lnTo>
                    <a:pt x="8572149" y="175476"/>
                  </a:lnTo>
                  <a:lnTo>
                    <a:pt x="8610722" y="207576"/>
                  </a:lnTo>
                  <a:lnTo>
                    <a:pt x="8647459" y="242139"/>
                  </a:lnTo>
                  <a:lnTo>
                    <a:pt x="8682023" y="278877"/>
                  </a:lnTo>
                  <a:lnTo>
                    <a:pt x="8714122" y="317450"/>
                  </a:lnTo>
                  <a:lnTo>
                    <a:pt x="8743705" y="357731"/>
                  </a:lnTo>
                  <a:lnTo>
                    <a:pt x="8770719" y="399594"/>
                  </a:lnTo>
                  <a:lnTo>
                    <a:pt x="8795111" y="442913"/>
                  </a:lnTo>
                  <a:lnTo>
                    <a:pt x="8816829" y="487562"/>
                  </a:lnTo>
                  <a:lnTo>
                    <a:pt x="8835822" y="533414"/>
                  </a:lnTo>
                  <a:lnTo>
                    <a:pt x="8852036" y="580342"/>
                  </a:lnTo>
                  <a:lnTo>
                    <a:pt x="8865419" y="628221"/>
                  </a:lnTo>
                  <a:lnTo>
                    <a:pt x="8875920" y="676925"/>
                  </a:lnTo>
                  <a:lnTo>
                    <a:pt x="8883485" y="726326"/>
                  </a:lnTo>
                  <a:lnTo>
                    <a:pt x="8888062" y="776298"/>
                  </a:lnTo>
                  <a:lnTo>
                    <a:pt x="8889599" y="826716"/>
                  </a:lnTo>
                  <a:lnTo>
                    <a:pt x="8889599" y="4133483"/>
                  </a:lnTo>
                  <a:lnTo>
                    <a:pt x="8888196" y="4182059"/>
                  </a:lnTo>
                  <a:lnTo>
                    <a:pt x="8884038" y="4229896"/>
                  </a:lnTo>
                  <a:lnTo>
                    <a:pt x="8877201" y="4276916"/>
                  </a:lnTo>
                  <a:lnTo>
                    <a:pt x="8867765" y="4323042"/>
                  </a:lnTo>
                  <a:lnTo>
                    <a:pt x="8855807" y="4368196"/>
                  </a:lnTo>
                  <a:lnTo>
                    <a:pt x="8841403" y="4412300"/>
                  </a:lnTo>
                  <a:lnTo>
                    <a:pt x="8824632" y="4455278"/>
                  </a:lnTo>
                  <a:lnTo>
                    <a:pt x="8805571" y="4497052"/>
                  </a:lnTo>
                  <a:lnTo>
                    <a:pt x="8784298" y="4537544"/>
                  </a:lnTo>
                  <a:lnTo>
                    <a:pt x="8760890" y="4576676"/>
                  </a:lnTo>
                  <a:lnTo>
                    <a:pt x="8735424" y="4614371"/>
                  </a:lnTo>
                  <a:lnTo>
                    <a:pt x="8707979" y="4650552"/>
                  </a:lnTo>
                  <a:lnTo>
                    <a:pt x="8678632" y="4685141"/>
                  </a:lnTo>
                  <a:lnTo>
                    <a:pt x="8647460" y="4718060"/>
                  </a:lnTo>
                  <a:lnTo>
                    <a:pt x="8614541" y="4749232"/>
                  </a:lnTo>
                  <a:lnTo>
                    <a:pt x="8579952" y="4778579"/>
                  </a:lnTo>
                  <a:lnTo>
                    <a:pt x="8543771" y="4806024"/>
                  </a:lnTo>
                  <a:lnTo>
                    <a:pt x="8506076" y="4831490"/>
                  </a:lnTo>
                  <a:lnTo>
                    <a:pt x="8466944" y="4854898"/>
                  </a:lnTo>
                  <a:lnTo>
                    <a:pt x="8426452" y="4876171"/>
                  </a:lnTo>
                  <a:lnTo>
                    <a:pt x="8384678" y="4895232"/>
                  </a:lnTo>
                  <a:lnTo>
                    <a:pt x="8341700" y="4912003"/>
                  </a:lnTo>
                  <a:lnTo>
                    <a:pt x="8297596" y="4926407"/>
                  </a:lnTo>
                  <a:lnTo>
                    <a:pt x="8252442" y="4938365"/>
                  </a:lnTo>
                  <a:lnTo>
                    <a:pt x="8206316" y="4947801"/>
                  </a:lnTo>
                  <a:lnTo>
                    <a:pt x="8159296" y="4954638"/>
                  </a:lnTo>
                  <a:lnTo>
                    <a:pt x="8111459" y="4958796"/>
                  </a:lnTo>
                  <a:lnTo>
                    <a:pt x="8062883" y="4960199"/>
                  </a:lnTo>
                  <a:lnTo>
                    <a:pt x="826716" y="4960199"/>
                  </a:lnTo>
                  <a:lnTo>
                    <a:pt x="778140" y="4958796"/>
                  </a:lnTo>
                  <a:lnTo>
                    <a:pt x="730303" y="4954638"/>
                  </a:lnTo>
                  <a:lnTo>
                    <a:pt x="683283" y="4947801"/>
                  </a:lnTo>
                  <a:lnTo>
                    <a:pt x="637157" y="4938365"/>
                  </a:lnTo>
                  <a:lnTo>
                    <a:pt x="592003" y="4926407"/>
                  </a:lnTo>
                  <a:lnTo>
                    <a:pt x="547899" y="4912003"/>
                  </a:lnTo>
                  <a:lnTo>
                    <a:pt x="504921" y="4895232"/>
                  </a:lnTo>
                  <a:lnTo>
                    <a:pt x="463147" y="4876171"/>
                  </a:lnTo>
                  <a:lnTo>
                    <a:pt x="422655" y="4854898"/>
                  </a:lnTo>
                  <a:lnTo>
                    <a:pt x="383523" y="4831490"/>
                  </a:lnTo>
                  <a:lnTo>
                    <a:pt x="345828" y="4806024"/>
                  </a:lnTo>
                  <a:lnTo>
                    <a:pt x="309647" y="4778579"/>
                  </a:lnTo>
                  <a:lnTo>
                    <a:pt x="275058" y="4749232"/>
                  </a:lnTo>
                  <a:lnTo>
                    <a:pt x="242139" y="4718060"/>
                  </a:lnTo>
                  <a:lnTo>
                    <a:pt x="210967" y="4685141"/>
                  </a:lnTo>
                  <a:lnTo>
                    <a:pt x="181620" y="4650552"/>
                  </a:lnTo>
                  <a:lnTo>
                    <a:pt x="154175" y="4614371"/>
                  </a:lnTo>
                  <a:lnTo>
                    <a:pt x="128709" y="4576676"/>
                  </a:lnTo>
                  <a:lnTo>
                    <a:pt x="105301" y="4537544"/>
                  </a:lnTo>
                  <a:lnTo>
                    <a:pt x="84028" y="4497052"/>
                  </a:lnTo>
                  <a:lnTo>
                    <a:pt x="64967" y="4455278"/>
                  </a:lnTo>
                  <a:lnTo>
                    <a:pt x="48196" y="4412300"/>
                  </a:lnTo>
                  <a:lnTo>
                    <a:pt x="33792" y="4368196"/>
                  </a:lnTo>
                  <a:lnTo>
                    <a:pt x="21834" y="4323042"/>
                  </a:lnTo>
                  <a:lnTo>
                    <a:pt x="12398" y="4276916"/>
                  </a:lnTo>
                  <a:lnTo>
                    <a:pt x="5561" y="4229896"/>
                  </a:lnTo>
                  <a:lnTo>
                    <a:pt x="1403" y="4182059"/>
                  </a:lnTo>
                  <a:lnTo>
                    <a:pt x="0" y="4133483"/>
                  </a:lnTo>
                  <a:lnTo>
                    <a:pt x="0" y="82671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9900" y="923849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69">
                  <a:moveTo>
                    <a:pt x="81887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7"/>
                  </a:lnTo>
                  <a:lnTo>
                    <a:pt x="8276934" y="58924"/>
                  </a:lnTo>
                  <a:lnTo>
                    <a:pt x="8284199" y="95451"/>
                  </a:lnTo>
                  <a:lnTo>
                    <a:pt x="8284199" y="477247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900" y="923849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7"/>
                  </a:lnTo>
                  <a:lnTo>
                    <a:pt x="8276934" y="58924"/>
                  </a:lnTo>
                  <a:lnTo>
                    <a:pt x="8284199" y="95451"/>
                  </a:lnTo>
                  <a:lnTo>
                    <a:pt x="8284199" y="477247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900" y="3575542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70">
                  <a:moveTo>
                    <a:pt x="81887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7"/>
                  </a:lnTo>
                  <a:lnTo>
                    <a:pt x="8276934" y="58924"/>
                  </a:lnTo>
                  <a:lnTo>
                    <a:pt x="8284199" y="95451"/>
                  </a:lnTo>
                  <a:lnTo>
                    <a:pt x="8284199" y="477247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9900" y="3575542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7"/>
                  </a:lnTo>
                  <a:lnTo>
                    <a:pt x="8276934" y="58924"/>
                  </a:lnTo>
                  <a:lnTo>
                    <a:pt x="8284199" y="95451"/>
                  </a:lnTo>
                  <a:lnTo>
                    <a:pt x="8284199" y="477247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9900" y="4244425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70">
                  <a:moveTo>
                    <a:pt x="81887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6"/>
                  </a:lnTo>
                  <a:lnTo>
                    <a:pt x="8276934" y="58923"/>
                  </a:lnTo>
                  <a:lnTo>
                    <a:pt x="8284199" y="95451"/>
                  </a:lnTo>
                  <a:lnTo>
                    <a:pt x="8284199" y="477247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9900" y="4244425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70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6"/>
                  </a:lnTo>
                  <a:lnTo>
                    <a:pt x="8276934" y="58923"/>
                  </a:lnTo>
                  <a:lnTo>
                    <a:pt x="8284199" y="95451"/>
                  </a:lnTo>
                  <a:lnTo>
                    <a:pt x="8284199" y="477247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7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37099" y="207974"/>
              <a:ext cx="2870200" cy="643890"/>
            </a:xfrm>
            <a:custGeom>
              <a:avLst/>
              <a:gdLst/>
              <a:ahLst/>
              <a:cxnLst/>
              <a:rect l="l" t="t" r="r" b="b"/>
              <a:pathLst>
                <a:path w="2870200" h="643890">
                  <a:moveTo>
                    <a:pt x="2762547" y="643499"/>
                  </a:moveTo>
                  <a:lnTo>
                    <a:pt x="107252" y="643499"/>
                  </a:lnTo>
                  <a:lnTo>
                    <a:pt x="65504" y="635071"/>
                  </a:lnTo>
                  <a:lnTo>
                    <a:pt x="31413" y="612086"/>
                  </a:lnTo>
                  <a:lnTo>
                    <a:pt x="8428" y="577995"/>
                  </a:lnTo>
                  <a:lnTo>
                    <a:pt x="0" y="536247"/>
                  </a:lnTo>
                  <a:lnTo>
                    <a:pt x="0" y="107252"/>
                  </a:lnTo>
                  <a:lnTo>
                    <a:pt x="8428" y="65504"/>
                  </a:lnTo>
                  <a:lnTo>
                    <a:pt x="31413" y="31413"/>
                  </a:lnTo>
                  <a:lnTo>
                    <a:pt x="65504" y="8428"/>
                  </a:lnTo>
                  <a:lnTo>
                    <a:pt x="107252" y="0"/>
                  </a:lnTo>
                  <a:lnTo>
                    <a:pt x="2762547" y="0"/>
                  </a:lnTo>
                  <a:lnTo>
                    <a:pt x="2803591" y="8164"/>
                  </a:lnTo>
                  <a:lnTo>
                    <a:pt x="2838386" y="31413"/>
                  </a:lnTo>
                  <a:lnTo>
                    <a:pt x="2861636" y="66208"/>
                  </a:lnTo>
                  <a:lnTo>
                    <a:pt x="2869799" y="107252"/>
                  </a:lnTo>
                  <a:lnTo>
                    <a:pt x="2869799" y="536247"/>
                  </a:lnTo>
                  <a:lnTo>
                    <a:pt x="2861371" y="577995"/>
                  </a:lnTo>
                  <a:lnTo>
                    <a:pt x="2838386" y="612086"/>
                  </a:lnTo>
                  <a:lnTo>
                    <a:pt x="2804295" y="635071"/>
                  </a:lnTo>
                  <a:lnTo>
                    <a:pt x="2762547" y="6434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37099" y="207974"/>
              <a:ext cx="2870200" cy="643890"/>
            </a:xfrm>
            <a:custGeom>
              <a:avLst/>
              <a:gdLst/>
              <a:ahLst/>
              <a:cxnLst/>
              <a:rect l="l" t="t" r="r" b="b"/>
              <a:pathLst>
                <a:path w="2870200" h="643890">
                  <a:moveTo>
                    <a:pt x="0" y="107252"/>
                  </a:moveTo>
                  <a:lnTo>
                    <a:pt x="8428" y="65504"/>
                  </a:lnTo>
                  <a:lnTo>
                    <a:pt x="31413" y="31413"/>
                  </a:lnTo>
                  <a:lnTo>
                    <a:pt x="65504" y="8428"/>
                  </a:lnTo>
                  <a:lnTo>
                    <a:pt x="107252" y="0"/>
                  </a:lnTo>
                  <a:lnTo>
                    <a:pt x="2762547" y="0"/>
                  </a:lnTo>
                  <a:lnTo>
                    <a:pt x="2803591" y="8164"/>
                  </a:lnTo>
                  <a:lnTo>
                    <a:pt x="2838386" y="31413"/>
                  </a:lnTo>
                  <a:lnTo>
                    <a:pt x="2861636" y="66208"/>
                  </a:lnTo>
                  <a:lnTo>
                    <a:pt x="2869799" y="107252"/>
                  </a:lnTo>
                  <a:lnTo>
                    <a:pt x="2869799" y="536247"/>
                  </a:lnTo>
                  <a:lnTo>
                    <a:pt x="2861371" y="577995"/>
                  </a:lnTo>
                  <a:lnTo>
                    <a:pt x="2838386" y="612086"/>
                  </a:lnTo>
                  <a:lnTo>
                    <a:pt x="2804295" y="635071"/>
                  </a:lnTo>
                  <a:lnTo>
                    <a:pt x="2762547" y="643499"/>
                  </a:lnTo>
                  <a:lnTo>
                    <a:pt x="107252" y="643499"/>
                  </a:lnTo>
                  <a:lnTo>
                    <a:pt x="65504" y="635071"/>
                  </a:lnTo>
                  <a:lnTo>
                    <a:pt x="31413" y="612086"/>
                  </a:lnTo>
                  <a:lnTo>
                    <a:pt x="8428" y="577995"/>
                  </a:lnTo>
                  <a:lnTo>
                    <a:pt x="0" y="536247"/>
                  </a:lnTo>
                  <a:lnTo>
                    <a:pt x="0" y="10725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322050" y="403223"/>
            <a:ext cx="3319780" cy="591551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3733" dirty="0"/>
              <a:t>Key</a:t>
            </a:r>
            <a:r>
              <a:rPr sz="3733" spc="-73" dirty="0"/>
              <a:t> </a:t>
            </a:r>
            <a:r>
              <a:rPr sz="3733" spc="-47" dirty="0"/>
              <a:t>Takeaways</a:t>
            </a:r>
            <a:endParaRPr sz="3733"/>
          </a:p>
        </p:txBody>
      </p:sp>
      <p:grpSp>
        <p:nvGrpSpPr>
          <p:cNvPr id="14" name="object 14"/>
          <p:cNvGrpSpPr/>
          <p:nvPr/>
        </p:nvGrpSpPr>
        <p:grpSpPr>
          <a:xfrm>
            <a:off x="566849" y="2117277"/>
            <a:ext cx="11058312" cy="2545927"/>
            <a:chOff x="425137" y="1587957"/>
            <a:chExt cx="8293734" cy="1909445"/>
          </a:xfrm>
        </p:grpSpPr>
        <p:sp>
          <p:nvSpPr>
            <p:cNvPr id="15" name="object 15"/>
            <p:cNvSpPr/>
            <p:nvPr/>
          </p:nvSpPr>
          <p:spPr>
            <a:xfrm>
              <a:off x="429900" y="1592720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69">
                  <a:moveTo>
                    <a:pt x="8188748" y="572699"/>
                  </a:move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7"/>
                  </a:lnTo>
                  <a:lnTo>
                    <a:pt x="8276934" y="58924"/>
                  </a:lnTo>
                  <a:lnTo>
                    <a:pt x="8284199" y="95451"/>
                  </a:lnTo>
                  <a:lnTo>
                    <a:pt x="8284199" y="477248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9900" y="1592720"/>
              <a:ext cx="8284209" cy="572770"/>
            </a:xfrm>
            <a:custGeom>
              <a:avLst/>
              <a:gdLst/>
              <a:ahLst/>
              <a:cxnLst/>
              <a:rect l="l" t="t" r="r" b="b"/>
              <a:pathLst>
                <a:path w="8284209" h="572769">
                  <a:moveTo>
                    <a:pt x="0" y="95451"/>
                  </a:moveTo>
                  <a:lnTo>
                    <a:pt x="7501" y="58297"/>
                  </a:lnTo>
                  <a:lnTo>
                    <a:pt x="27957" y="27957"/>
                  </a:lnTo>
                  <a:lnTo>
                    <a:pt x="58297" y="7501"/>
                  </a:lnTo>
                  <a:lnTo>
                    <a:pt x="95451" y="0"/>
                  </a:lnTo>
                  <a:lnTo>
                    <a:pt x="8188748" y="0"/>
                  </a:lnTo>
                  <a:lnTo>
                    <a:pt x="8241705" y="16037"/>
                  </a:lnTo>
                  <a:lnTo>
                    <a:pt x="8276934" y="58924"/>
                  </a:lnTo>
                  <a:lnTo>
                    <a:pt x="8284199" y="95451"/>
                  </a:lnTo>
                  <a:lnTo>
                    <a:pt x="8284199" y="477248"/>
                  </a:lnTo>
                  <a:lnTo>
                    <a:pt x="8276698" y="514402"/>
                  </a:lnTo>
                  <a:lnTo>
                    <a:pt x="8256242" y="544742"/>
                  </a:lnTo>
                  <a:lnTo>
                    <a:pt x="8225902" y="565198"/>
                  </a:lnTo>
                  <a:lnTo>
                    <a:pt x="8188748" y="572699"/>
                  </a:lnTo>
                  <a:lnTo>
                    <a:pt x="95451" y="572699"/>
                  </a:lnTo>
                  <a:lnTo>
                    <a:pt x="58297" y="565198"/>
                  </a:lnTo>
                  <a:lnTo>
                    <a:pt x="27957" y="544742"/>
                  </a:lnTo>
                  <a:lnTo>
                    <a:pt x="7501" y="514402"/>
                  </a:lnTo>
                  <a:lnTo>
                    <a:pt x="0" y="477248"/>
                  </a:lnTo>
                  <a:lnTo>
                    <a:pt x="0" y="954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9900" y="2249705"/>
              <a:ext cx="8284209" cy="1243330"/>
            </a:xfrm>
            <a:custGeom>
              <a:avLst/>
              <a:gdLst/>
              <a:ahLst/>
              <a:cxnLst/>
              <a:rect l="l" t="t" r="r" b="b"/>
              <a:pathLst>
                <a:path w="8284209" h="1243329">
                  <a:moveTo>
                    <a:pt x="8077045" y="1242899"/>
                  </a:moveTo>
                  <a:lnTo>
                    <a:pt x="207154" y="1242899"/>
                  </a:lnTo>
                  <a:lnTo>
                    <a:pt x="159655" y="1237428"/>
                  </a:lnTo>
                  <a:lnTo>
                    <a:pt x="116052" y="1221844"/>
                  </a:lnTo>
                  <a:lnTo>
                    <a:pt x="77589" y="1197390"/>
                  </a:lnTo>
                  <a:lnTo>
                    <a:pt x="45509" y="1165310"/>
                  </a:lnTo>
                  <a:lnTo>
                    <a:pt x="21055" y="1126846"/>
                  </a:lnTo>
                  <a:lnTo>
                    <a:pt x="5471" y="1083244"/>
                  </a:lnTo>
                  <a:lnTo>
                    <a:pt x="0" y="1035745"/>
                  </a:lnTo>
                  <a:lnTo>
                    <a:pt x="0" y="207154"/>
                  </a:lnTo>
                  <a:lnTo>
                    <a:pt x="5471" y="159655"/>
                  </a:lnTo>
                  <a:lnTo>
                    <a:pt x="21055" y="116053"/>
                  </a:lnTo>
                  <a:lnTo>
                    <a:pt x="45509" y="77589"/>
                  </a:lnTo>
                  <a:lnTo>
                    <a:pt x="77589" y="45509"/>
                  </a:lnTo>
                  <a:lnTo>
                    <a:pt x="116052" y="21055"/>
                  </a:lnTo>
                  <a:lnTo>
                    <a:pt x="159655" y="5471"/>
                  </a:lnTo>
                  <a:lnTo>
                    <a:pt x="207154" y="0"/>
                  </a:lnTo>
                  <a:lnTo>
                    <a:pt x="8077045" y="0"/>
                  </a:lnTo>
                  <a:lnTo>
                    <a:pt x="8117648" y="4017"/>
                  </a:lnTo>
                  <a:lnTo>
                    <a:pt x="8156320" y="15768"/>
                  </a:lnTo>
                  <a:lnTo>
                    <a:pt x="8191975" y="34804"/>
                  </a:lnTo>
                  <a:lnTo>
                    <a:pt x="8223525" y="60673"/>
                  </a:lnTo>
                  <a:lnTo>
                    <a:pt x="8249395" y="92224"/>
                  </a:lnTo>
                  <a:lnTo>
                    <a:pt x="8268431" y="127879"/>
                  </a:lnTo>
                  <a:lnTo>
                    <a:pt x="8280182" y="166551"/>
                  </a:lnTo>
                  <a:lnTo>
                    <a:pt x="8284199" y="207154"/>
                  </a:lnTo>
                  <a:lnTo>
                    <a:pt x="8284199" y="1035745"/>
                  </a:lnTo>
                  <a:lnTo>
                    <a:pt x="8278728" y="1083244"/>
                  </a:lnTo>
                  <a:lnTo>
                    <a:pt x="8263144" y="1126846"/>
                  </a:lnTo>
                  <a:lnTo>
                    <a:pt x="8238690" y="1165310"/>
                  </a:lnTo>
                  <a:lnTo>
                    <a:pt x="8206610" y="1197390"/>
                  </a:lnTo>
                  <a:lnTo>
                    <a:pt x="8168147" y="1221844"/>
                  </a:lnTo>
                  <a:lnTo>
                    <a:pt x="8124544" y="1237428"/>
                  </a:lnTo>
                  <a:lnTo>
                    <a:pt x="8077045" y="12428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900" y="2249705"/>
              <a:ext cx="8284209" cy="1243330"/>
            </a:xfrm>
            <a:custGeom>
              <a:avLst/>
              <a:gdLst/>
              <a:ahLst/>
              <a:cxnLst/>
              <a:rect l="l" t="t" r="r" b="b"/>
              <a:pathLst>
                <a:path w="8284209" h="1243329">
                  <a:moveTo>
                    <a:pt x="0" y="207154"/>
                  </a:moveTo>
                  <a:lnTo>
                    <a:pt x="5471" y="159655"/>
                  </a:lnTo>
                  <a:lnTo>
                    <a:pt x="21055" y="116053"/>
                  </a:lnTo>
                  <a:lnTo>
                    <a:pt x="45509" y="77589"/>
                  </a:lnTo>
                  <a:lnTo>
                    <a:pt x="77589" y="45509"/>
                  </a:lnTo>
                  <a:lnTo>
                    <a:pt x="116052" y="21055"/>
                  </a:lnTo>
                  <a:lnTo>
                    <a:pt x="159655" y="5471"/>
                  </a:lnTo>
                  <a:lnTo>
                    <a:pt x="207154" y="0"/>
                  </a:lnTo>
                  <a:lnTo>
                    <a:pt x="8077045" y="0"/>
                  </a:lnTo>
                  <a:lnTo>
                    <a:pt x="8117648" y="4017"/>
                  </a:lnTo>
                  <a:lnTo>
                    <a:pt x="8156320" y="15768"/>
                  </a:lnTo>
                  <a:lnTo>
                    <a:pt x="8191975" y="34804"/>
                  </a:lnTo>
                  <a:lnTo>
                    <a:pt x="8223525" y="60673"/>
                  </a:lnTo>
                  <a:lnTo>
                    <a:pt x="8249395" y="92224"/>
                  </a:lnTo>
                  <a:lnTo>
                    <a:pt x="8268431" y="127879"/>
                  </a:lnTo>
                  <a:lnTo>
                    <a:pt x="8280182" y="166551"/>
                  </a:lnTo>
                  <a:lnTo>
                    <a:pt x="8284199" y="207154"/>
                  </a:lnTo>
                  <a:lnTo>
                    <a:pt x="8284199" y="1035745"/>
                  </a:lnTo>
                  <a:lnTo>
                    <a:pt x="8278728" y="1083244"/>
                  </a:lnTo>
                  <a:lnTo>
                    <a:pt x="8263144" y="1126846"/>
                  </a:lnTo>
                  <a:lnTo>
                    <a:pt x="8238690" y="1165310"/>
                  </a:lnTo>
                  <a:lnTo>
                    <a:pt x="8206610" y="1197390"/>
                  </a:lnTo>
                  <a:lnTo>
                    <a:pt x="8168147" y="1221844"/>
                  </a:lnTo>
                  <a:lnTo>
                    <a:pt x="8124544" y="1237428"/>
                  </a:lnTo>
                  <a:lnTo>
                    <a:pt x="8077045" y="1242899"/>
                  </a:lnTo>
                  <a:lnTo>
                    <a:pt x="207154" y="1242899"/>
                  </a:lnTo>
                  <a:lnTo>
                    <a:pt x="159655" y="1237428"/>
                  </a:lnTo>
                  <a:lnTo>
                    <a:pt x="116052" y="1221844"/>
                  </a:lnTo>
                  <a:lnTo>
                    <a:pt x="77589" y="1197390"/>
                  </a:lnTo>
                  <a:lnTo>
                    <a:pt x="45509" y="1165310"/>
                  </a:lnTo>
                  <a:lnTo>
                    <a:pt x="21055" y="1126846"/>
                  </a:lnTo>
                  <a:lnTo>
                    <a:pt x="5471" y="1083244"/>
                  </a:lnTo>
                  <a:lnTo>
                    <a:pt x="0" y="1035745"/>
                  </a:lnTo>
                  <a:lnTo>
                    <a:pt x="0" y="2071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39361" y="1400325"/>
            <a:ext cx="10304779" cy="50566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1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lot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available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Web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Training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“all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it”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most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efficient</a:t>
            </a:r>
            <a:endParaRPr sz="2400">
              <a:latin typeface="Arial"/>
              <a:cs typeface="Arial"/>
            </a:endParaRPr>
          </a:p>
          <a:p>
            <a:pPr marL="1777109" marR="1766949" algn="ctr">
              <a:lnSpc>
                <a:spcPts val="7520"/>
              </a:lnSpc>
              <a:spcBef>
                <a:spcPts val="527"/>
              </a:spcBef>
            </a:pPr>
            <a:r>
              <a:rPr sz="2400" b="1" dirty="0">
                <a:latin typeface="Arial"/>
                <a:cs typeface="Arial"/>
              </a:rPr>
              <a:t>Filtering/curation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needed,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but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results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biases </a:t>
            </a:r>
            <a:r>
              <a:rPr sz="2400" b="1" dirty="0">
                <a:latin typeface="Arial"/>
                <a:cs typeface="Arial"/>
              </a:rPr>
              <a:t>Transparent</a:t>
            </a:r>
            <a:r>
              <a:rPr sz="2400" b="1" spc="-1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documentation</a:t>
            </a:r>
            <a:r>
              <a:rPr sz="2400" b="1" spc="-11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needed:</a:t>
            </a:r>
            <a:endParaRPr sz="2400">
              <a:latin typeface="Arial"/>
              <a:cs typeface="Arial"/>
            </a:endParaRPr>
          </a:p>
          <a:p>
            <a:pPr marL="1693" algn="ctr">
              <a:lnSpc>
                <a:spcPts val="1873"/>
              </a:lnSpc>
            </a:pP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creators: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reflect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decisions,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potential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harms</a:t>
            </a:r>
            <a:endParaRPr sz="2400">
              <a:latin typeface="Arial"/>
              <a:cs typeface="Arial"/>
            </a:endParaRPr>
          </a:p>
          <a:p>
            <a:pPr marL="3387" algn="ctr">
              <a:spcBef>
                <a:spcPts val="20"/>
              </a:spcBef>
            </a:pP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consumers: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know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when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can/can’t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be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b="1" spc="-27" dirty="0">
                <a:latin typeface="Arial"/>
                <a:cs typeface="Arial"/>
              </a:rPr>
              <a:t>used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67">
              <a:latin typeface="Arial"/>
              <a:cs typeface="Arial"/>
            </a:endParaRPr>
          </a:p>
          <a:p>
            <a:pPr algn="ctr">
              <a:spcBef>
                <a:spcPts val="1553"/>
              </a:spcBef>
            </a:pPr>
            <a:r>
              <a:rPr sz="2400" b="1" dirty="0">
                <a:latin typeface="Arial"/>
                <a:cs typeface="Arial"/>
              </a:rPr>
              <a:t>Curating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non-</a:t>
            </a:r>
            <a:r>
              <a:rPr sz="2400" b="1" dirty="0">
                <a:latin typeface="Arial"/>
                <a:cs typeface="Arial"/>
              </a:rPr>
              <a:t>web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high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quality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datasets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is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promising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(The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Pile)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2267">
              <a:latin typeface="Arial"/>
              <a:cs typeface="Arial"/>
            </a:endParaRPr>
          </a:p>
          <a:p>
            <a:pPr marL="247220" marR="237907" algn="ctr">
              <a:lnSpc>
                <a:spcPct val="100699"/>
              </a:lnSpc>
            </a:pPr>
            <a:r>
              <a:rPr sz="2400" b="1" dirty="0">
                <a:latin typeface="Arial"/>
                <a:cs typeface="Arial"/>
              </a:rPr>
              <a:t>When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creating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new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dataset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from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Web,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remember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that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spc="-13" dirty="0">
                <a:latin typeface="Arial"/>
                <a:cs typeface="Arial"/>
              </a:rPr>
              <a:t>pretrained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4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may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already</a:t>
            </a:r>
            <a:r>
              <a:rPr sz="2400" b="1" spc="-2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have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seen</a:t>
            </a:r>
            <a:r>
              <a:rPr sz="2400" b="1" spc="-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this</a:t>
            </a:r>
            <a:r>
              <a:rPr sz="2400" b="1" spc="-27" dirty="0">
                <a:latin typeface="Arial"/>
                <a:cs typeface="Arial"/>
              </a:rPr>
              <a:t> 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D3E4D67-59E2-4DD6-BE8E-995CBD8760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122</a:t>
            </a:fld>
            <a:endParaRPr lang="en-US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1140" y="3026735"/>
            <a:ext cx="3048000" cy="755762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4800" dirty="0"/>
              <a:t>Thank</a:t>
            </a:r>
            <a:r>
              <a:rPr sz="4800" spc="-20" dirty="0"/>
              <a:t> </a:t>
            </a:r>
            <a:r>
              <a:rPr sz="4800" spc="-27" dirty="0"/>
              <a:t>you!</a:t>
            </a:r>
            <a:endParaRPr sz="4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0D14-6DCA-4405-B6A2-6C40460563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123</a:t>
            </a:fld>
            <a:endParaRPr lang="en-US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References - </a:t>
            </a:r>
            <a:r>
              <a:rPr spc="-13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1622721"/>
            <a:ext cx="10913533" cy="4255374"/>
          </a:xfrm>
          <a:prstGeom prst="rect">
            <a:avLst/>
          </a:prstGeom>
        </p:spPr>
        <p:txBody>
          <a:bodyPr vert="horz" wrap="square" lIns="0" tIns="19473" rIns="0" bIns="0" rtlCol="0">
            <a:spAutoFit/>
          </a:bodyPr>
          <a:lstStyle/>
          <a:p>
            <a:pPr marL="16933">
              <a:spcBef>
                <a:spcPts val="153"/>
              </a:spcBef>
            </a:pPr>
            <a:r>
              <a:rPr sz="2200" dirty="0">
                <a:solidFill>
                  <a:srgbClr val="595959"/>
                </a:solidFill>
                <a:latin typeface="Arial"/>
                <a:cs typeface="Arial"/>
              </a:rPr>
              <a:t>Stanford</a:t>
            </a:r>
            <a:r>
              <a:rPr sz="22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595959"/>
                </a:solidFill>
                <a:latin typeface="Arial"/>
                <a:cs typeface="Arial"/>
              </a:rPr>
              <a:t>course:</a:t>
            </a:r>
            <a:r>
              <a:rPr sz="22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Data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|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CS324</a:t>
            </a:r>
            <a:endParaRPr sz="2200">
              <a:latin typeface="Arial"/>
              <a:cs typeface="Arial"/>
            </a:endParaRPr>
          </a:p>
          <a:p>
            <a:pPr marL="16933" marR="430943">
              <a:lnSpc>
                <a:spcPct val="115999"/>
              </a:lnSpc>
              <a:spcBef>
                <a:spcPts val="1600"/>
              </a:spcBef>
            </a:pP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Documenting</a:t>
            </a:r>
            <a:r>
              <a:rPr sz="22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Large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Webtext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Corpora:</a:t>
            </a:r>
            <a:r>
              <a:rPr sz="2200" u="heavy" spc="-1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A</a:t>
            </a:r>
            <a:r>
              <a:rPr sz="2200" u="heavy" spc="-1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Case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Study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on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the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Colossal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Clean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Crawled</a:t>
            </a:r>
            <a:r>
              <a:rPr sz="22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Corpus</a:t>
            </a:r>
            <a:endParaRPr sz="2200">
              <a:latin typeface="Arial"/>
              <a:cs typeface="Arial"/>
            </a:endParaRPr>
          </a:p>
          <a:p>
            <a:pPr marL="16933">
              <a:spcBef>
                <a:spcPts val="2020"/>
              </a:spcBef>
            </a:pP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EMNLP</a:t>
            </a:r>
            <a:r>
              <a:rPr sz="2200" u="heavy" spc="-6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2021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video</a:t>
            </a:r>
            <a:endParaRPr sz="2200">
              <a:latin typeface="Arial"/>
              <a:cs typeface="Arial"/>
            </a:endParaRPr>
          </a:p>
          <a:p>
            <a:pPr marL="16933" marR="2467972">
              <a:lnSpc>
                <a:spcPct val="176700"/>
              </a:lnSpc>
            </a:pP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The</a:t>
            </a: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Pile:</a:t>
            </a:r>
            <a:r>
              <a:rPr sz="2200" u="heavy" spc="-1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An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800GB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Dataset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of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Diverse</a:t>
            </a:r>
            <a:r>
              <a:rPr sz="22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Text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for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Language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Modeling</a:t>
            </a:r>
            <a:r>
              <a:rPr sz="22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Deduplicating</a:t>
            </a:r>
            <a:r>
              <a:rPr sz="2200" u="heavy" spc="-8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Training</a:t>
            </a: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Data</a:t>
            </a: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Makes</a:t>
            </a: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Language</a:t>
            </a:r>
            <a:r>
              <a:rPr sz="2200" u="heavy" spc="-4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Models</a:t>
            </a:r>
            <a:r>
              <a:rPr sz="22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Better</a:t>
            </a:r>
            <a:endParaRPr sz="2200">
              <a:latin typeface="Arial"/>
              <a:cs typeface="Arial"/>
            </a:endParaRPr>
          </a:p>
          <a:p>
            <a:pPr marL="16933" marR="6773">
              <a:lnSpc>
                <a:spcPct val="176700"/>
              </a:lnSpc>
            </a:pP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Minority</a:t>
            </a:r>
            <a:r>
              <a:rPr sz="22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Voices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'Filtered'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Out</a:t>
            </a:r>
            <a:r>
              <a:rPr sz="22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of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Google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Natural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Language</a:t>
            </a:r>
            <a:r>
              <a:rPr sz="22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Processing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Models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-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Unite.AI</a:t>
            </a:r>
            <a:r>
              <a:rPr sz="22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The</a:t>
            </a:r>
            <a:r>
              <a:rPr sz="22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Efforts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to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Make</a:t>
            </a:r>
            <a:r>
              <a:rPr sz="2200" u="heavy" spc="-6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spc="-6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Text-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Based</a:t>
            </a:r>
            <a:r>
              <a:rPr sz="2200" u="heavy" spc="-1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AI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Less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Racist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and</a:t>
            </a:r>
            <a:r>
              <a:rPr sz="2200" u="heavy" spc="-5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Terrible</a:t>
            </a:r>
            <a:r>
              <a:rPr sz="22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sz="2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|</a:t>
            </a:r>
            <a:r>
              <a:rPr sz="22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8"/>
              </a:rPr>
              <a:t> WIRED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A8A39-655B-4945-ACB8-DEF2783643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124</a:t>
            </a:fld>
            <a:endParaRPr lang="en-US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0" y="861476"/>
            <a:ext cx="14630400" cy="533416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60"/>
              </a:spcBef>
            </a:pPr>
            <a:r>
              <a:rPr dirty="0"/>
              <a:t>References - </a:t>
            </a:r>
            <a:r>
              <a:rPr spc="-13" dirty="0"/>
              <a:t>images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1621807"/>
            <a:ext cx="10988887" cy="40977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10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Practical</a:t>
            </a:r>
            <a:r>
              <a:rPr sz="2400" u="heavy" spc="-7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Text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Mining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Examples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to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Leverage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Right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Now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|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Expert.ai</a:t>
            </a:r>
            <a:endParaRPr sz="2400">
              <a:latin typeface="Arial"/>
              <a:cs typeface="Arial"/>
            </a:endParaRPr>
          </a:p>
          <a:p>
            <a:pPr marL="16933" marR="4730208">
              <a:lnSpc>
                <a:spcPct val="160600"/>
              </a:lnSpc>
            </a:pP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Oracle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Fusion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Middleware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–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www.mwidm.com</a:t>
            </a:r>
            <a:r>
              <a:rPr sz="24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Document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free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icon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1740"/>
              </a:spcBef>
            </a:pP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Stack</a:t>
            </a:r>
            <a:r>
              <a:rPr sz="2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Of</a:t>
            </a:r>
            <a:r>
              <a:rPr sz="2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Books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Pictures,</a:t>
            </a:r>
            <a:r>
              <a:rPr sz="2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Images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and</a:t>
            </a:r>
            <a:r>
              <a:rPr sz="2400" u="heavy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Stock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5"/>
              </a:rPr>
              <a:t> Photos</a:t>
            </a:r>
            <a:endParaRPr sz="2400">
              <a:latin typeface="Arial"/>
              <a:cs typeface="Arial"/>
            </a:endParaRPr>
          </a:p>
          <a:p>
            <a:pPr marL="16933" marR="799233">
              <a:lnSpc>
                <a:spcPct val="105000"/>
              </a:lnSpc>
              <a:spcBef>
                <a:spcPts val="1600"/>
              </a:spcBef>
            </a:pP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Comparative</a:t>
            </a:r>
            <a:r>
              <a:rPr sz="2400"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size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of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datasets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used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for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training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NLP</a:t>
            </a:r>
            <a:r>
              <a:rPr sz="2400" u="heavy" spc="-7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models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(represented...</a:t>
            </a:r>
            <a:r>
              <a:rPr sz="2400" spc="-33" dirty="0">
                <a:solidFill>
                  <a:srgbClr val="0097A7"/>
                </a:solidFill>
                <a:latin typeface="Arial"/>
                <a:cs typeface="Arial"/>
                <a:hlinkClick r:id="rId6"/>
              </a:rPr>
              <a:t> </a:t>
            </a:r>
            <a:r>
              <a:rPr sz="2400" u="heavy" spc="-6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|</a:t>
            </a:r>
            <a:r>
              <a:rPr sz="2400" spc="-67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Download</a:t>
            </a:r>
            <a:r>
              <a:rPr sz="2400" u="heavy" spc="-3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Scientific</a:t>
            </a:r>
            <a:r>
              <a:rPr sz="24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6"/>
              </a:rPr>
              <a:t>Diagram</a:t>
            </a:r>
            <a:endParaRPr sz="2400">
              <a:latin typeface="Arial"/>
              <a:cs typeface="Arial"/>
            </a:endParaRPr>
          </a:p>
          <a:p>
            <a:pPr marL="16933" marR="6773">
              <a:lnSpc>
                <a:spcPct val="105000"/>
              </a:lnSpc>
              <a:spcBef>
                <a:spcPts val="1600"/>
              </a:spcBef>
            </a:pP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https://patentimages.storage.googleapis.com/0c/21/16/3b2ad21579ae2a/CN1199</a:t>
            </a:r>
            <a:r>
              <a:rPr sz="2400" spc="-13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24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7"/>
              </a:rPr>
              <a:t>926A.pdf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E39233-BB85-4848-842B-D8936C721E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125</a:t>
            </a:fld>
            <a:endParaRPr lang="en-US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050" y="1053049"/>
            <a:ext cx="11014287" cy="4752339"/>
            <a:chOff x="441787" y="789787"/>
            <a:chExt cx="8260715" cy="3564254"/>
          </a:xfrm>
        </p:grpSpPr>
        <p:sp>
          <p:nvSpPr>
            <p:cNvPr id="3" name="object 3"/>
            <p:cNvSpPr/>
            <p:nvPr/>
          </p:nvSpPr>
          <p:spPr>
            <a:xfrm>
              <a:off x="446550" y="794549"/>
              <a:ext cx="8251190" cy="3554729"/>
            </a:xfrm>
            <a:custGeom>
              <a:avLst/>
              <a:gdLst/>
              <a:ahLst/>
              <a:cxnLst/>
              <a:rect l="l" t="t" r="r" b="b"/>
              <a:pathLst>
                <a:path w="8251190" h="3554729">
                  <a:moveTo>
                    <a:pt x="7658488" y="3554399"/>
                  </a:moveTo>
                  <a:lnTo>
                    <a:pt x="592411" y="3554399"/>
                  </a:lnTo>
                  <a:lnTo>
                    <a:pt x="543824" y="3552436"/>
                  </a:lnTo>
                  <a:lnTo>
                    <a:pt x="496319" y="3546646"/>
                  </a:lnTo>
                  <a:lnTo>
                    <a:pt x="450048" y="3537182"/>
                  </a:lnTo>
                  <a:lnTo>
                    <a:pt x="405163" y="3524198"/>
                  </a:lnTo>
                  <a:lnTo>
                    <a:pt x="361818" y="3507845"/>
                  </a:lnTo>
                  <a:lnTo>
                    <a:pt x="320164" y="3488276"/>
                  </a:lnTo>
                  <a:lnTo>
                    <a:pt x="280354" y="3465643"/>
                  </a:lnTo>
                  <a:lnTo>
                    <a:pt x="242541" y="3440098"/>
                  </a:lnTo>
                  <a:lnTo>
                    <a:pt x="206876" y="3411795"/>
                  </a:lnTo>
                  <a:lnTo>
                    <a:pt x="173513" y="3380886"/>
                  </a:lnTo>
                  <a:lnTo>
                    <a:pt x="142604" y="3347523"/>
                  </a:lnTo>
                  <a:lnTo>
                    <a:pt x="114301" y="3311858"/>
                  </a:lnTo>
                  <a:lnTo>
                    <a:pt x="88756" y="3274045"/>
                  </a:lnTo>
                  <a:lnTo>
                    <a:pt x="66123" y="3234235"/>
                  </a:lnTo>
                  <a:lnTo>
                    <a:pt x="46554" y="3192581"/>
                  </a:lnTo>
                  <a:lnTo>
                    <a:pt x="30201" y="3149236"/>
                  </a:lnTo>
                  <a:lnTo>
                    <a:pt x="17217" y="3104351"/>
                  </a:lnTo>
                  <a:lnTo>
                    <a:pt x="7753" y="3058080"/>
                  </a:lnTo>
                  <a:lnTo>
                    <a:pt x="1963" y="3010575"/>
                  </a:lnTo>
                  <a:lnTo>
                    <a:pt x="0" y="2961988"/>
                  </a:lnTo>
                  <a:lnTo>
                    <a:pt x="0" y="592411"/>
                  </a:lnTo>
                  <a:lnTo>
                    <a:pt x="1963" y="543824"/>
                  </a:lnTo>
                  <a:lnTo>
                    <a:pt x="7753" y="496319"/>
                  </a:lnTo>
                  <a:lnTo>
                    <a:pt x="17217" y="450048"/>
                  </a:lnTo>
                  <a:lnTo>
                    <a:pt x="30201" y="405163"/>
                  </a:lnTo>
                  <a:lnTo>
                    <a:pt x="46554" y="361818"/>
                  </a:lnTo>
                  <a:lnTo>
                    <a:pt x="66123" y="320164"/>
                  </a:lnTo>
                  <a:lnTo>
                    <a:pt x="88756" y="280354"/>
                  </a:lnTo>
                  <a:lnTo>
                    <a:pt x="114301" y="242541"/>
                  </a:lnTo>
                  <a:lnTo>
                    <a:pt x="142604" y="206876"/>
                  </a:lnTo>
                  <a:lnTo>
                    <a:pt x="173513" y="173513"/>
                  </a:lnTo>
                  <a:lnTo>
                    <a:pt x="206876" y="142604"/>
                  </a:lnTo>
                  <a:lnTo>
                    <a:pt x="242541" y="114301"/>
                  </a:lnTo>
                  <a:lnTo>
                    <a:pt x="280354" y="88756"/>
                  </a:lnTo>
                  <a:lnTo>
                    <a:pt x="320164" y="66123"/>
                  </a:lnTo>
                  <a:lnTo>
                    <a:pt x="361818" y="46554"/>
                  </a:lnTo>
                  <a:lnTo>
                    <a:pt x="405163" y="30201"/>
                  </a:lnTo>
                  <a:lnTo>
                    <a:pt x="450048" y="17217"/>
                  </a:lnTo>
                  <a:lnTo>
                    <a:pt x="496319" y="7753"/>
                  </a:lnTo>
                  <a:lnTo>
                    <a:pt x="543824" y="1963"/>
                  </a:lnTo>
                  <a:lnTo>
                    <a:pt x="592411" y="0"/>
                  </a:lnTo>
                  <a:lnTo>
                    <a:pt x="7658488" y="0"/>
                  </a:lnTo>
                  <a:lnTo>
                    <a:pt x="7710576" y="2292"/>
                  </a:lnTo>
                  <a:lnTo>
                    <a:pt x="7761915" y="9095"/>
                  </a:lnTo>
                  <a:lnTo>
                    <a:pt x="7812232" y="20296"/>
                  </a:lnTo>
                  <a:lnTo>
                    <a:pt x="7861254" y="35781"/>
                  </a:lnTo>
                  <a:lnTo>
                    <a:pt x="7908707" y="55436"/>
                  </a:lnTo>
                  <a:lnTo>
                    <a:pt x="7954320" y="79151"/>
                  </a:lnTo>
                  <a:lnTo>
                    <a:pt x="7997820" y="106810"/>
                  </a:lnTo>
                  <a:lnTo>
                    <a:pt x="8038933" y="138302"/>
                  </a:lnTo>
                  <a:lnTo>
                    <a:pt x="8077386" y="173513"/>
                  </a:lnTo>
                  <a:lnTo>
                    <a:pt x="8112597" y="211966"/>
                  </a:lnTo>
                  <a:lnTo>
                    <a:pt x="8144089" y="253079"/>
                  </a:lnTo>
                  <a:lnTo>
                    <a:pt x="8171748" y="296578"/>
                  </a:lnTo>
                  <a:lnTo>
                    <a:pt x="8195462" y="342191"/>
                  </a:lnTo>
                  <a:lnTo>
                    <a:pt x="8215118" y="389645"/>
                  </a:lnTo>
                  <a:lnTo>
                    <a:pt x="8230603" y="438667"/>
                  </a:lnTo>
                  <a:lnTo>
                    <a:pt x="8241803" y="488984"/>
                  </a:lnTo>
                  <a:lnTo>
                    <a:pt x="8248607" y="540323"/>
                  </a:lnTo>
                  <a:lnTo>
                    <a:pt x="8250899" y="592411"/>
                  </a:lnTo>
                  <a:lnTo>
                    <a:pt x="8250899" y="2961988"/>
                  </a:lnTo>
                  <a:lnTo>
                    <a:pt x="8248936" y="3010575"/>
                  </a:lnTo>
                  <a:lnTo>
                    <a:pt x="8243146" y="3058080"/>
                  </a:lnTo>
                  <a:lnTo>
                    <a:pt x="8233682" y="3104351"/>
                  </a:lnTo>
                  <a:lnTo>
                    <a:pt x="8220698" y="3149236"/>
                  </a:lnTo>
                  <a:lnTo>
                    <a:pt x="8204345" y="3192581"/>
                  </a:lnTo>
                  <a:lnTo>
                    <a:pt x="8184775" y="3234235"/>
                  </a:lnTo>
                  <a:lnTo>
                    <a:pt x="8162142" y="3274045"/>
                  </a:lnTo>
                  <a:lnTo>
                    <a:pt x="8136598" y="3311858"/>
                  </a:lnTo>
                  <a:lnTo>
                    <a:pt x="8108295" y="3347523"/>
                  </a:lnTo>
                  <a:lnTo>
                    <a:pt x="8077386" y="3380886"/>
                  </a:lnTo>
                  <a:lnTo>
                    <a:pt x="8044023" y="3411795"/>
                  </a:lnTo>
                  <a:lnTo>
                    <a:pt x="8008358" y="3440098"/>
                  </a:lnTo>
                  <a:lnTo>
                    <a:pt x="7970545" y="3465643"/>
                  </a:lnTo>
                  <a:lnTo>
                    <a:pt x="7930735" y="3488276"/>
                  </a:lnTo>
                  <a:lnTo>
                    <a:pt x="7889081" y="3507845"/>
                  </a:lnTo>
                  <a:lnTo>
                    <a:pt x="7845736" y="3524198"/>
                  </a:lnTo>
                  <a:lnTo>
                    <a:pt x="7800851" y="3537182"/>
                  </a:lnTo>
                  <a:lnTo>
                    <a:pt x="7754580" y="3546646"/>
                  </a:lnTo>
                  <a:lnTo>
                    <a:pt x="7707075" y="3552436"/>
                  </a:lnTo>
                  <a:lnTo>
                    <a:pt x="7658488" y="3554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6550" y="794549"/>
              <a:ext cx="8251190" cy="3554729"/>
            </a:xfrm>
            <a:custGeom>
              <a:avLst/>
              <a:gdLst/>
              <a:ahLst/>
              <a:cxnLst/>
              <a:rect l="l" t="t" r="r" b="b"/>
              <a:pathLst>
                <a:path w="8251190" h="3554729">
                  <a:moveTo>
                    <a:pt x="0" y="592411"/>
                  </a:moveTo>
                  <a:lnTo>
                    <a:pt x="1963" y="543824"/>
                  </a:lnTo>
                  <a:lnTo>
                    <a:pt x="7753" y="496319"/>
                  </a:lnTo>
                  <a:lnTo>
                    <a:pt x="17217" y="450048"/>
                  </a:lnTo>
                  <a:lnTo>
                    <a:pt x="30201" y="405163"/>
                  </a:lnTo>
                  <a:lnTo>
                    <a:pt x="46554" y="361818"/>
                  </a:lnTo>
                  <a:lnTo>
                    <a:pt x="66123" y="320164"/>
                  </a:lnTo>
                  <a:lnTo>
                    <a:pt x="88756" y="280354"/>
                  </a:lnTo>
                  <a:lnTo>
                    <a:pt x="114301" y="242541"/>
                  </a:lnTo>
                  <a:lnTo>
                    <a:pt x="142604" y="206876"/>
                  </a:lnTo>
                  <a:lnTo>
                    <a:pt x="173513" y="173513"/>
                  </a:lnTo>
                  <a:lnTo>
                    <a:pt x="206876" y="142604"/>
                  </a:lnTo>
                  <a:lnTo>
                    <a:pt x="242541" y="114301"/>
                  </a:lnTo>
                  <a:lnTo>
                    <a:pt x="280354" y="88756"/>
                  </a:lnTo>
                  <a:lnTo>
                    <a:pt x="320164" y="66123"/>
                  </a:lnTo>
                  <a:lnTo>
                    <a:pt x="361818" y="46554"/>
                  </a:lnTo>
                  <a:lnTo>
                    <a:pt x="405163" y="30201"/>
                  </a:lnTo>
                  <a:lnTo>
                    <a:pt x="450048" y="17217"/>
                  </a:lnTo>
                  <a:lnTo>
                    <a:pt x="496319" y="7753"/>
                  </a:lnTo>
                  <a:lnTo>
                    <a:pt x="543824" y="1963"/>
                  </a:lnTo>
                  <a:lnTo>
                    <a:pt x="592411" y="0"/>
                  </a:lnTo>
                  <a:lnTo>
                    <a:pt x="7658488" y="0"/>
                  </a:lnTo>
                  <a:lnTo>
                    <a:pt x="7710576" y="2292"/>
                  </a:lnTo>
                  <a:lnTo>
                    <a:pt x="7761915" y="9095"/>
                  </a:lnTo>
                  <a:lnTo>
                    <a:pt x="7812232" y="20296"/>
                  </a:lnTo>
                  <a:lnTo>
                    <a:pt x="7861254" y="35781"/>
                  </a:lnTo>
                  <a:lnTo>
                    <a:pt x="7908708" y="55436"/>
                  </a:lnTo>
                  <a:lnTo>
                    <a:pt x="7954320" y="79151"/>
                  </a:lnTo>
                  <a:lnTo>
                    <a:pt x="7997820" y="106810"/>
                  </a:lnTo>
                  <a:lnTo>
                    <a:pt x="8038933" y="138302"/>
                  </a:lnTo>
                  <a:lnTo>
                    <a:pt x="8077386" y="173513"/>
                  </a:lnTo>
                  <a:lnTo>
                    <a:pt x="8112597" y="211966"/>
                  </a:lnTo>
                  <a:lnTo>
                    <a:pt x="8144089" y="253079"/>
                  </a:lnTo>
                  <a:lnTo>
                    <a:pt x="8171748" y="296578"/>
                  </a:lnTo>
                  <a:lnTo>
                    <a:pt x="8195462" y="342191"/>
                  </a:lnTo>
                  <a:lnTo>
                    <a:pt x="8215118" y="389645"/>
                  </a:lnTo>
                  <a:lnTo>
                    <a:pt x="8230603" y="438667"/>
                  </a:lnTo>
                  <a:lnTo>
                    <a:pt x="8241803" y="488984"/>
                  </a:lnTo>
                  <a:lnTo>
                    <a:pt x="8248607" y="540323"/>
                  </a:lnTo>
                  <a:lnTo>
                    <a:pt x="8250899" y="592411"/>
                  </a:lnTo>
                  <a:lnTo>
                    <a:pt x="8250899" y="2961988"/>
                  </a:lnTo>
                  <a:lnTo>
                    <a:pt x="8248936" y="3010575"/>
                  </a:lnTo>
                  <a:lnTo>
                    <a:pt x="8243146" y="3058080"/>
                  </a:lnTo>
                  <a:lnTo>
                    <a:pt x="8233682" y="3104351"/>
                  </a:lnTo>
                  <a:lnTo>
                    <a:pt x="8220698" y="3149236"/>
                  </a:lnTo>
                  <a:lnTo>
                    <a:pt x="8204345" y="3192581"/>
                  </a:lnTo>
                  <a:lnTo>
                    <a:pt x="8184776" y="3234235"/>
                  </a:lnTo>
                  <a:lnTo>
                    <a:pt x="8162143" y="3274045"/>
                  </a:lnTo>
                  <a:lnTo>
                    <a:pt x="8136598" y="3311858"/>
                  </a:lnTo>
                  <a:lnTo>
                    <a:pt x="8108295" y="3347523"/>
                  </a:lnTo>
                  <a:lnTo>
                    <a:pt x="8077386" y="3380886"/>
                  </a:lnTo>
                  <a:lnTo>
                    <a:pt x="8044023" y="3411795"/>
                  </a:lnTo>
                  <a:lnTo>
                    <a:pt x="8008358" y="3440098"/>
                  </a:lnTo>
                  <a:lnTo>
                    <a:pt x="7970545" y="3465643"/>
                  </a:lnTo>
                  <a:lnTo>
                    <a:pt x="7930735" y="3488276"/>
                  </a:lnTo>
                  <a:lnTo>
                    <a:pt x="7889081" y="3507845"/>
                  </a:lnTo>
                  <a:lnTo>
                    <a:pt x="7845736" y="3524198"/>
                  </a:lnTo>
                  <a:lnTo>
                    <a:pt x="7800851" y="3537182"/>
                  </a:lnTo>
                  <a:lnTo>
                    <a:pt x="7754580" y="3546646"/>
                  </a:lnTo>
                  <a:lnTo>
                    <a:pt x="7707075" y="3552436"/>
                  </a:lnTo>
                  <a:lnTo>
                    <a:pt x="7658488" y="3554399"/>
                  </a:lnTo>
                  <a:lnTo>
                    <a:pt x="592411" y="3554399"/>
                  </a:lnTo>
                  <a:lnTo>
                    <a:pt x="543824" y="3552436"/>
                  </a:lnTo>
                  <a:lnTo>
                    <a:pt x="496319" y="3546646"/>
                  </a:lnTo>
                  <a:lnTo>
                    <a:pt x="450048" y="3537182"/>
                  </a:lnTo>
                  <a:lnTo>
                    <a:pt x="405163" y="3524198"/>
                  </a:lnTo>
                  <a:lnTo>
                    <a:pt x="361818" y="3507845"/>
                  </a:lnTo>
                  <a:lnTo>
                    <a:pt x="320164" y="3488276"/>
                  </a:lnTo>
                  <a:lnTo>
                    <a:pt x="280354" y="3465643"/>
                  </a:lnTo>
                  <a:lnTo>
                    <a:pt x="242541" y="3440098"/>
                  </a:lnTo>
                  <a:lnTo>
                    <a:pt x="206876" y="3411795"/>
                  </a:lnTo>
                  <a:lnTo>
                    <a:pt x="173513" y="3380886"/>
                  </a:lnTo>
                  <a:lnTo>
                    <a:pt x="142604" y="3347523"/>
                  </a:lnTo>
                  <a:lnTo>
                    <a:pt x="114301" y="3311858"/>
                  </a:lnTo>
                  <a:lnTo>
                    <a:pt x="88756" y="3274045"/>
                  </a:lnTo>
                  <a:lnTo>
                    <a:pt x="66123" y="3234235"/>
                  </a:lnTo>
                  <a:lnTo>
                    <a:pt x="46554" y="3192581"/>
                  </a:lnTo>
                  <a:lnTo>
                    <a:pt x="30201" y="3149236"/>
                  </a:lnTo>
                  <a:lnTo>
                    <a:pt x="17217" y="3104351"/>
                  </a:lnTo>
                  <a:lnTo>
                    <a:pt x="7753" y="3058080"/>
                  </a:lnTo>
                  <a:lnTo>
                    <a:pt x="1963" y="3010575"/>
                  </a:lnTo>
                  <a:lnTo>
                    <a:pt x="0" y="2961988"/>
                  </a:lnTo>
                  <a:lnTo>
                    <a:pt x="0" y="59241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53185" y="1757056"/>
            <a:ext cx="1885527" cy="345330"/>
          </a:xfrm>
          <a:prstGeom prst="rect">
            <a:avLst/>
          </a:prstGeom>
        </p:spPr>
        <p:txBody>
          <a:bodyPr vert="horz" wrap="square" lIns="0" tIns="1693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u="heavy" spc="-13" dirty="0">
                <a:uFill>
                  <a:solidFill>
                    <a:srgbClr val="000000"/>
                  </a:solidFill>
                </a:uFill>
              </a:rPr>
              <a:t>Pre-</a:t>
            </a:r>
            <a:r>
              <a:rPr sz="2133" b="1" u="heavy" dirty="0">
                <a:uFill>
                  <a:solidFill>
                    <a:srgbClr val="000000"/>
                  </a:solidFill>
                </a:uFill>
              </a:rPr>
              <a:t>lecture</a:t>
            </a:r>
            <a:r>
              <a:rPr sz="2133" b="1" u="heavy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133" b="1" u="heavy" spc="-33" dirty="0">
                <a:uFill>
                  <a:solidFill>
                    <a:srgbClr val="000000"/>
                  </a:solidFill>
                </a:uFill>
              </a:rPr>
              <a:t>Q3</a:t>
            </a:r>
            <a:endParaRPr sz="2133"/>
          </a:p>
        </p:txBody>
      </p:sp>
      <p:sp>
        <p:nvSpPr>
          <p:cNvPr id="6" name="object 6"/>
          <p:cNvSpPr txBox="1"/>
          <p:nvPr/>
        </p:nvSpPr>
        <p:spPr>
          <a:xfrm>
            <a:off x="984564" y="2410630"/>
            <a:ext cx="10217573" cy="2714312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76198" marR="65192" indent="-3387" algn="ctr">
              <a:lnSpc>
                <a:spcPct val="101600"/>
              </a:lnSpc>
              <a:spcBef>
                <a:spcPts val="93"/>
              </a:spcBef>
            </a:pPr>
            <a:r>
              <a:rPr sz="2133" b="1" i="1" dirty="0">
                <a:latin typeface="Arial"/>
                <a:cs typeface="Arial"/>
              </a:rPr>
              <a:t>Dodge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et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al.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remark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that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“Documenting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massive,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unlabeled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datasets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is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spc="-67" dirty="0">
                <a:latin typeface="Arial"/>
                <a:cs typeface="Arial"/>
              </a:rPr>
              <a:t>a </a:t>
            </a:r>
            <a:r>
              <a:rPr sz="2133" b="1" i="1" dirty="0">
                <a:latin typeface="Arial"/>
                <a:cs typeface="Arial"/>
              </a:rPr>
              <a:t>challenging</a:t>
            </a:r>
            <a:r>
              <a:rPr sz="2133" b="1" i="1" spc="-4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enterprise”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and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they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mainly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consider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simple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corpus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statistics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spc="-33" dirty="0">
                <a:latin typeface="Arial"/>
                <a:cs typeface="Arial"/>
              </a:rPr>
              <a:t>and </a:t>
            </a:r>
            <a:r>
              <a:rPr sz="2133" b="1" i="1" spc="-13" dirty="0">
                <a:latin typeface="Arial"/>
                <a:cs typeface="Arial"/>
              </a:rPr>
              <a:t>metadata.</a:t>
            </a:r>
            <a:endParaRPr sz="2133">
              <a:latin typeface="Arial"/>
              <a:cs typeface="Arial"/>
            </a:endParaRPr>
          </a:p>
          <a:p>
            <a:pPr>
              <a:spcBef>
                <a:spcPts val="67"/>
              </a:spcBef>
            </a:pPr>
            <a:endParaRPr sz="2200">
              <a:latin typeface="Arial"/>
              <a:cs typeface="Arial"/>
            </a:endParaRPr>
          </a:p>
          <a:p>
            <a:pPr marL="483435" marR="472428" algn="ctr">
              <a:lnSpc>
                <a:spcPct val="101600"/>
              </a:lnSpc>
            </a:pPr>
            <a:r>
              <a:rPr sz="2133" b="1" i="1" dirty="0">
                <a:latin typeface="Arial"/>
                <a:cs typeface="Arial"/>
              </a:rPr>
              <a:t>Can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you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think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of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other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properties/aspects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that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we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should</a:t>
            </a:r>
            <a:r>
              <a:rPr sz="2133" b="1" i="1" spc="-33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document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spc="-33" dirty="0">
                <a:latin typeface="Arial"/>
                <a:cs typeface="Arial"/>
              </a:rPr>
              <a:t>and </a:t>
            </a:r>
            <a:r>
              <a:rPr sz="2133" b="1" i="1" dirty="0">
                <a:latin typeface="Arial"/>
                <a:cs typeface="Arial"/>
              </a:rPr>
              <a:t>examine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in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the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spc="-13" dirty="0">
                <a:latin typeface="Arial"/>
                <a:cs typeface="Arial"/>
              </a:rPr>
              <a:t>data?</a:t>
            </a:r>
            <a:endParaRPr sz="2133">
              <a:latin typeface="Arial"/>
              <a:cs typeface="Arial"/>
            </a:endParaRPr>
          </a:p>
          <a:p>
            <a:pPr>
              <a:spcBef>
                <a:spcPts val="33"/>
              </a:spcBef>
            </a:pPr>
            <a:endParaRPr sz="2267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133" b="1" i="1" dirty="0">
                <a:latin typeface="Arial"/>
                <a:cs typeface="Arial"/>
              </a:rPr>
              <a:t>What</a:t>
            </a:r>
            <a:r>
              <a:rPr sz="2133" b="1" i="1" spc="-4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(NLP)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techniques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can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we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use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to</a:t>
            </a:r>
            <a:r>
              <a:rPr sz="2133" b="1" i="1" spc="-27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document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and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query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data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in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dirty="0">
                <a:latin typeface="Arial"/>
                <a:cs typeface="Arial"/>
              </a:rPr>
              <a:t>more</a:t>
            </a:r>
            <a:r>
              <a:rPr sz="2133" b="1" i="1" spc="-20" dirty="0">
                <a:latin typeface="Arial"/>
                <a:cs typeface="Arial"/>
              </a:rPr>
              <a:t> </a:t>
            </a:r>
            <a:r>
              <a:rPr sz="2133" b="1" i="1" spc="-13" dirty="0">
                <a:latin typeface="Arial"/>
                <a:cs typeface="Arial"/>
              </a:rPr>
              <a:t>detail?</a:t>
            </a:r>
            <a:endParaRPr sz="2133">
              <a:latin typeface="Arial"/>
              <a:cs typeface="Arial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1F578-C50B-4675-88E7-8A1CD0B172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8754">
              <a:spcBef>
                <a:spcPts val="7"/>
              </a:spcBef>
            </a:pPr>
            <a:fld id="{81D60167-4931-47E6-BA6A-407CBD079E47}" type="slidenum">
              <a:rPr lang="en-US" smtClean="0"/>
              <a:pPr marL="238754">
                <a:spcBef>
                  <a:spcPts val="7"/>
                </a:spcBef>
              </a:pPr>
              <a:t>126</a:t>
            </a:fld>
            <a:endParaRPr lang="en-US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95575"/>
            <a:ext cx="10972800" cy="666849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3572" indent="7938">
              <a:lnSpc>
                <a:spcPts val="5203"/>
              </a:lnSpc>
            </a:pPr>
            <a:r>
              <a:rPr lang="en-US" sz="4400" dirty="0">
                <a:latin typeface="Times New Roman"/>
                <a:cs typeface="Times New Roman"/>
              </a:rPr>
              <a:t>RAG Paradigms Shifting</a:t>
            </a:r>
            <a:endParaRPr sz="4219" dirty="0">
              <a:latin typeface="+mn-lt"/>
              <a:cs typeface="HelveticaNeue-BoldItalic"/>
            </a:endParaRPr>
          </a:p>
        </p:txBody>
      </p:sp>
    </p:spTree>
    <p:extLst>
      <p:ext uri="{BB962C8B-B14F-4D97-AF65-F5344CB8AC3E}">
        <p14:creationId xmlns:p14="http://schemas.microsoft.com/office/powerpoint/2010/main" val="1114849459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212280E-0552-4225-9EC9-0EE5BEEB1334}"/>
</file>

<file path=customXml/itemProps2.xml><?xml version="1.0" encoding="utf-8"?>
<ds:datastoreItem xmlns:ds="http://schemas.openxmlformats.org/officeDocument/2006/customXml" ds:itemID="{FC998006-C8E4-44A8-A863-7F0B4C1CAAEF}"/>
</file>

<file path=customXml/itemProps3.xml><?xml version="1.0" encoding="utf-8"?>
<ds:datastoreItem xmlns:ds="http://schemas.openxmlformats.org/officeDocument/2006/customXml" ds:itemID="{42B5FD5C-0E95-4445-B501-F10415A23B68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18126</TotalTime>
  <Words>3583</Words>
  <Application>Microsoft Office PowerPoint</Application>
  <PresentationFormat>Widescreen</PresentationFormat>
  <Paragraphs>761</Paragraphs>
  <Slides>127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4" baseType="lpstr">
      <vt:lpstr>MS PGothic</vt:lpstr>
      <vt:lpstr>Arial</vt:lpstr>
      <vt:lpstr>Calibri</vt:lpstr>
      <vt:lpstr>Courier New</vt:lpstr>
      <vt:lpstr>Times New Roman</vt:lpstr>
      <vt:lpstr>Wingdings</vt:lpstr>
      <vt:lpstr>Main</vt:lpstr>
      <vt:lpstr>Data</vt:lpstr>
      <vt:lpstr>A famous tweet</vt:lpstr>
      <vt:lpstr>PowerPoint Presentation</vt:lpstr>
      <vt:lpstr>PowerPoint Presentation</vt:lpstr>
      <vt:lpstr>1011</vt:lpstr>
      <vt:lpstr>Web-scale text</vt:lpstr>
      <vt:lpstr>Web-scale text</vt:lpstr>
      <vt:lpstr>Colossal Clean Crawled Corpus (C4)</vt:lpstr>
      <vt:lpstr>CommonCrawl (CC)</vt:lpstr>
      <vt:lpstr>PowerPoint Presentation</vt:lpstr>
      <vt:lpstr>Need for documentation</vt:lpstr>
      <vt:lpstr>PowerPoint Presentation</vt:lpstr>
      <vt:lpstr>Documentation levels</vt:lpstr>
      <vt:lpstr>Corpus level statistics: Metadata</vt:lpstr>
      <vt:lpstr>PowerPoint Presentation</vt:lpstr>
      <vt:lpstr>Internet domains</vt:lpstr>
      <vt:lpstr>Internet domains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Corpus level statistics: Metadata</vt:lpstr>
      <vt:lpstr>PowerPoint Presentation</vt:lpstr>
      <vt:lpstr>PowerPoint Presentation</vt:lpstr>
      <vt:lpstr>Corpus level statistics: Metadata</vt:lpstr>
      <vt:lpstr>PowerPoint Presentation</vt:lpstr>
      <vt:lpstr>PowerPoint Presentation</vt:lpstr>
      <vt:lpstr>Documentation levels</vt:lpstr>
      <vt:lpstr>What’s in the text: Included data</vt:lpstr>
      <vt:lpstr>Included data: Machine-generated text</vt:lpstr>
      <vt:lpstr>Included data: Machine-generated text</vt:lpstr>
      <vt:lpstr>Included data: Machine-generated text</vt:lpstr>
      <vt:lpstr>Included data: Machine-generated text</vt:lpstr>
      <vt:lpstr>Included data: Machine-generated text</vt:lpstr>
      <vt:lpstr>Included data: Machine-generated text</vt:lpstr>
      <vt:lpstr>PowerPoint Presentation</vt:lpstr>
      <vt:lpstr>What’s in the text: Included data</vt:lpstr>
      <vt:lpstr>Included data: Benchmark contamination</vt:lpstr>
      <vt:lpstr>Included data: Benchmark contamination</vt:lpstr>
      <vt:lpstr>Included data: Benchmark contamination</vt:lpstr>
      <vt:lpstr>Benchmark contamination: Input and output contamination</vt:lpstr>
      <vt:lpstr>Benchmark contamination: Input and output contamination</vt:lpstr>
      <vt:lpstr>Benchmark contamination: Input and output contamination</vt:lpstr>
      <vt:lpstr>Benchmark contamination: Input and output contamination</vt:lpstr>
      <vt:lpstr>Benchmark contamination: Input and output</vt:lpstr>
      <vt:lpstr>Included data: Benchmark contamination</vt:lpstr>
      <vt:lpstr>Benchmark contamination</vt:lpstr>
      <vt:lpstr>What’s in the text: Included data</vt:lpstr>
      <vt:lpstr>Included data: Demographic biases</vt:lpstr>
      <vt:lpstr>PowerPoint Presentation</vt:lpstr>
      <vt:lpstr>How to probe + quantify these biases?</vt:lpstr>
      <vt:lpstr>How to probe + quantify these biases? Underspecified questions</vt:lpstr>
      <vt:lpstr>Task: uncover ethnic/racial stereotypes</vt:lpstr>
      <vt:lpstr>Task: uncover ethnic/racial stereotypes</vt:lpstr>
      <vt:lpstr>This paper</vt:lpstr>
      <vt:lpstr>PowerPoint Presentation</vt:lpstr>
      <vt:lpstr>PowerPoint Presentation</vt:lpstr>
      <vt:lpstr>PowerPoint Presentation</vt:lpstr>
      <vt:lpstr>Evidence that C4 is source of bias</vt:lpstr>
      <vt:lpstr>Documentation levels</vt:lpstr>
      <vt:lpstr>What is excluded from the C4.EN corpus?</vt:lpstr>
      <vt:lpstr>What is excluded from the C4.EN corpus?</vt:lpstr>
      <vt:lpstr>What is excluded from the corpus?</vt:lpstr>
      <vt:lpstr>What is excluded from the corpus?</vt:lpstr>
      <vt:lpstr>Characterizing the excluded documents</vt:lpstr>
      <vt:lpstr>Characterizing the excluded documents</vt:lpstr>
      <vt:lpstr>PowerPoint Presentation</vt:lpstr>
      <vt:lpstr>PowerPoint Presentation</vt:lpstr>
      <vt:lpstr>What is excluded from the corpus?</vt:lpstr>
      <vt:lpstr>Which demographic identities are excluded?</vt:lpstr>
      <vt:lpstr>Which demographic identities are excluded?</vt:lpstr>
      <vt:lpstr>Which demographic identities are excluded?</vt:lpstr>
      <vt:lpstr>What is excluded from the corpus?</vt:lpstr>
      <vt:lpstr>Whose English is included?</vt:lpstr>
      <vt:lpstr>Whose English is included?</vt:lpstr>
      <vt:lpstr>PowerPoint Presentation</vt:lpstr>
      <vt:lpstr>Whose English is included?</vt:lpstr>
      <vt:lpstr>Whose English is included?</vt:lpstr>
      <vt:lpstr>Documenting Webtext Corpora: Recommendations</vt:lpstr>
      <vt:lpstr>Documenting Webtext Corpora: Recommendations</vt:lpstr>
      <vt:lpstr>Reporting website metadata</vt:lpstr>
      <vt:lpstr>Documenting Webtext Corpora: Recommendations</vt:lpstr>
      <vt:lpstr>Examine benchmark contamination</vt:lpstr>
      <vt:lpstr>Documenting Webtext Corpora: Recommendations</vt:lpstr>
      <vt:lpstr>Social Biases &amp; Representational harms</vt:lpstr>
      <vt:lpstr>Documenting Webtext Corpora: Recommendations</vt:lpstr>
      <vt:lpstr>Excluded voices and identities</vt:lpstr>
      <vt:lpstr>Documenting Webtext Corpora: Recommendations</vt:lpstr>
      <vt:lpstr>Other Recommendations</vt:lpstr>
      <vt:lpstr>Other Recommendations</vt:lpstr>
      <vt:lpstr>Other Recommendations</vt:lpstr>
      <vt:lpstr>Limitations of the paper’s analysis</vt:lpstr>
      <vt:lpstr>Limitations of the paper’s analysis</vt:lpstr>
      <vt:lpstr>Search it for yourself! https://c4-search.apps.allenai.org/</vt:lpstr>
      <vt:lpstr>Switch Transformer (Fedus et al., 2021)</vt:lpstr>
      <vt:lpstr>Motivation</vt:lpstr>
      <vt:lpstr>Motivation</vt:lpstr>
      <vt:lpstr>Motivation</vt:lpstr>
      <vt:lpstr>825 GB</vt:lpstr>
      <vt:lpstr>Relative component-wise GPT-3 Pile Performance</vt:lpstr>
      <vt:lpstr>How to compare? A proxy measure</vt:lpstr>
      <vt:lpstr>How much harder set was for GPT-3 than owt2</vt:lpstr>
      <vt:lpstr>PowerPoint Presentation</vt:lpstr>
      <vt:lpstr>majority of Pile components are not redundant</vt:lpstr>
      <vt:lpstr>Key takeaways: The Pile paper</vt:lpstr>
      <vt:lpstr>PowerPoint Presentation</vt:lpstr>
      <vt:lpstr>Motivation</vt:lpstr>
      <vt:lpstr>PowerPoint Presentation</vt:lpstr>
      <vt:lpstr>Deduplication Approaches</vt:lpstr>
      <vt:lpstr>ExactSubstr</vt:lpstr>
      <vt:lpstr>NearDup</vt:lpstr>
      <vt:lpstr>NearDup</vt:lpstr>
      <vt:lpstr>PowerPoint Presentation</vt:lpstr>
      <vt:lpstr>Results</vt:lpstr>
      <vt:lpstr>Key takeaways: Deduplicating paper</vt:lpstr>
      <vt:lpstr>Key takeaways: Deduplicating paper</vt:lpstr>
      <vt:lpstr>Key takeaways: Deduplicating paper</vt:lpstr>
      <vt:lpstr>Summary</vt:lpstr>
      <vt:lpstr>High-level discussion points</vt:lpstr>
      <vt:lpstr>“Data Helpers”</vt:lpstr>
      <vt:lpstr>Key Takeaways</vt:lpstr>
      <vt:lpstr>Thank you!</vt:lpstr>
      <vt:lpstr>References - content</vt:lpstr>
      <vt:lpstr>References - images</vt:lpstr>
      <vt:lpstr>Pre-lecture Q3</vt:lpstr>
      <vt:lpstr>RAG Paradigms Shifting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Mohammad Javad Dousti</cp:lastModifiedBy>
  <cp:revision>375</cp:revision>
  <dcterms:created xsi:type="dcterms:W3CDTF">2021-09-22T08:38:12Z</dcterms:created>
  <dcterms:modified xsi:type="dcterms:W3CDTF">2024-04-22T09:03:15Z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