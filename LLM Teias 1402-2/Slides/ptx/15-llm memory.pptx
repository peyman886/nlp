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67" r:id="rId2"/>
    <p:sldId id="685" r:id="rId3"/>
    <p:sldId id="670" r:id="rId4"/>
    <p:sldId id="673" r:id="rId5"/>
    <p:sldId id="671" r:id="rId6"/>
    <p:sldId id="675" r:id="rId7"/>
    <p:sldId id="686" r:id="rId8"/>
    <p:sldId id="687" r:id="rId9"/>
    <p:sldId id="688" r:id="rId10"/>
    <p:sldId id="678" r:id="rId11"/>
    <p:sldId id="677" r:id="rId12"/>
    <p:sldId id="679" r:id="rId13"/>
    <p:sldId id="680" r:id="rId14"/>
    <p:sldId id="681" r:id="rId15"/>
    <p:sldId id="682" r:id="rId16"/>
    <p:sldId id="702" r:id="rId17"/>
    <p:sldId id="708" r:id="rId18"/>
    <p:sldId id="712" r:id="rId1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mad Javad Dousti" initials="MJD" lastIdx="1" clrIdx="0">
    <p:extLst>
      <p:ext uri="{19B8F6BF-5375-455C-9EA6-DF929625EA0E}">
        <p15:presenceInfo xmlns:p15="http://schemas.microsoft.com/office/powerpoint/2012/main" userId="Mohammad Javad Doust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D85B"/>
    <a:srgbClr val="009966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97" autoAdjust="0"/>
    <p:restoredTop sz="85557" autoAdjust="0"/>
  </p:normalViewPr>
  <p:slideViewPr>
    <p:cSldViewPr snapToGrid="0">
      <p:cViewPr varScale="1">
        <p:scale>
          <a:sx n="114" d="100"/>
          <a:sy n="114" d="100"/>
        </p:scale>
        <p:origin x="11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129A6E-BADE-48A7-BEA0-052A0B1331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C1B00-3C9E-4969-8470-DA6ECF6112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057B9-7F8E-4A76-BB65-B0CDE389237C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0D77A-E581-480B-89FE-0DAC6EE8E1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C490E-B55E-4814-BF43-BEF793D435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02DEA-9E9C-4685-ADE8-1D7EAB487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08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ERNIE: Huawei Noah’s Ark Lab</a:t>
            </a:r>
          </a:p>
          <a:p>
            <a:r>
              <a:rPr lang="en-US" dirty="0"/>
              <a:t>Olympus: Amazon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C56A9-71FA-49A8-A49B-73E0C4B6E02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34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is technically a 19-bit format. You can treat it as an extended-precision BFLOAT16, say “BFLOAT19" ☺ Or like reduced-precision FP32.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1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Volta (datacenter): V100</a:t>
            </a:r>
          </a:p>
          <a:p>
            <a:r>
              <a:rPr lang="en-US" dirty="0"/>
              <a:t>Turing (consumer): 2000-series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Ampere (consumer/datacenter): 3000-series &amp; A100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Ada-Lovelace (consumer/datacenter): 4000-series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Hopper (datacenter): H100 and H200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99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Adam</a:t>
            </a:r>
            <a:r>
              <a:rPr lang="en-US" dirty="0"/>
              <a:t> or Adaptive </a:t>
            </a:r>
            <a:r>
              <a:rPr lang="en-US" b="1" dirty="0"/>
              <a:t>Moment</a:t>
            </a:r>
            <a:r>
              <a:rPr lang="en-US" dirty="0"/>
              <a:t> </a:t>
            </a:r>
            <a:r>
              <a:rPr lang="en-US" i="1" dirty="0"/>
              <a:t>Optimization</a:t>
            </a:r>
          </a:p>
          <a:p>
            <a:r>
              <a:rPr lang="en-US" b="1" dirty="0"/>
              <a:t>Momentum: </a:t>
            </a:r>
            <a:r>
              <a:rPr lang="en-US" dirty="0"/>
              <a:t>accumulates the gradient of the past steps to determine the direction to 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C56A9-71FA-49A8-A49B-73E0C4B6E02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10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is stored in fp16 for fp16 mixed-precision training.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C56A9-71FA-49A8-A49B-73E0C4B6E02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57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8B55E72-2775-45AE-8CCB-EB9B0EA39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 userDrawn="1"/>
        </p:nvSpPr>
        <p:spPr>
          <a:xfrm>
            <a:off x="711200" y="2667000"/>
            <a:ext cx="10769600" cy="1828800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66700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3198" y="5076735"/>
            <a:ext cx="3677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Mohammad Javad Dousti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E67ADEF-48BE-4324-BFFD-E5AE3FAAF2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725" y="104775"/>
            <a:ext cx="2876550" cy="809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938B85-7216-4414-B480-D61C0A2088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65" y="256541"/>
            <a:ext cx="2026398" cy="6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CCC80-3337-49C5-9FD9-324BBCAE8FEA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DA4841B-B80A-F6C9-93FC-0F8ABAAA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E4485-A598-4052-9941-9E9BC9E10119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F7D44E6-A90F-113B-3256-810C6209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EAF2-6C9D-CD36-58BA-FF7BD8724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0C14B-1347-6B37-821C-672480041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2C097-92A9-A32A-FDBE-3C9FB3C3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0FE4-78EA-1E8B-08A9-3D6B6CBA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0744A-AD3D-0912-C5D1-4C1C05F1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F7C-39E9-4500-8C99-9F531900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7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3C75-5F21-B456-EB79-B3985BF1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EF23-F473-C1A8-281B-AB1D19DF0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FEAC0-7649-6AA2-4F39-5E34CAFBD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05001-BD8D-F477-59BD-B8C0F1D4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78C98-7A38-24BA-DD79-B838B243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03721-DD40-4C8F-4CC7-57DA13FA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F7C-39E9-4500-8C99-9F531900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5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7368-A618-482D-8DB1-6FD6DC6B4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AA464-F9AD-4C1F-B952-D815088CB317}"/>
              </a:ext>
            </a:extLst>
          </p:cNvPr>
          <p:cNvSpPr txBox="1">
            <a:spLocks/>
          </p:cNvSpPr>
          <p:nvPr userDrawn="1"/>
        </p:nvSpPr>
        <p:spPr>
          <a:xfrm>
            <a:off x="11515410" y="6492876"/>
            <a:ext cx="6765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b="0" kern="1200" baseline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480A2-ACE4-423D-9B29-122964E5EDA6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</p:spTree>
    <p:extLst>
      <p:ext uri="{BB962C8B-B14F-4D97-AF65-F5344CB8AC3E}">
        <p14:creationId xmlns:p14="http://schemas.microsoft.com/office/powerpoint/2010/main" val="36601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19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3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3695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476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ap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96000" y="6477000"/>
            <a:ext cx="6096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477000"/>
            <a:ext cx="6096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C00000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" y="6488114"/>
            <a:ext cx="6096000" cy="369887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Mohammad Javad Dousti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1"/>
            <a:ext cx="11658601" cy="5334000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" y="20819"/>
            <a:ext cx="12010189" cy="743953"/>
          </a:xfrm>
        </p:spPr>
        <p:txBody>
          <a:bodyPr/>
          <a:lstStyle>
            <a:lvl1pPr marL="182880"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492876"/>
            <a:ext cx="4673600" cy="365125"/>
          </a:xfrm>
        </p:spPr>
        <p:txBody>
          <a:bodyPr/>
          <a:lstStyle>
            <a:lvl1pPr algn="l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93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77" r:id="rId5"/>
    <p:sldLayoutId id="2147483678" r:id="rId6"/>
    <p:sldLayoutId id="2147483682" r:id="rId7"/>
    <p:sldLayoutId id="2147483683" r:id="rId8"/>
    <p:sldLayoutId id="2147483684" r:id="rId9"/>
    <p:sldLayoutId id="2147483685" r:id="rId10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leutherai.notion.site/Transformers-Math-101-d2fcfc7a25d446388fde97821ad2412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fearchitect.ai/model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s.nvidia.com/blog/tensorfloat-32-precision-format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imDettmers/bitsandbyt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5.05198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xnet.incubator.apache.org/versions/1.8.0/api/faq/model_parallel_lstm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D085-445B-4930-BF23-86F3FF17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100388"/>
            <a:ext cx="10678850" cy="82153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Estimating LLMs’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Resource Requirement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2B7C8-73FC-E5E3-5282-E158EB33A64A}"/>
              </a:ext>
            </a:extLst>
          </p:cNvPr>
          <p:cNvSpPr txBox="1"/>
          <p:nvPr/>
        </p:nvSpPr>
        <p:spPr>
          <a:xfrm>
            <a:off x="0" y="6307007"/>
            <a:ext cx="685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Source:</a:t>
            </a:r>
          </a:p>
          <a:p>
            <a:r>
              <a:rPr lang="en-US" sz="1000" dirty="0"/>
              <a:t>* Transformers Math 101: </a:t>
            </a:r>
            <a:r>
              <a:rPr lang="en-US" sz="1000" dirty="0">
                <a:hlinkClick r:id="rId2"/>
              </a:rPr>
              <a:t>https://eleutherai.notion.site/Transformers-Math-101-d2fcfc7a25d446388fde97821ad2412a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6CB2E-2825-475E-B922-88F1D6D4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9980AC-8840-4AFE-82CB-C798399AE87B}"/>
              </a:ext>
            </a:extLst>
          </p:cNvPr>
          <p:cNvSpPr txBox="1"/>
          <p:nvPr/>
        </p:nvSpPr>
        <p:spPr>
          <a:xfrm>
            <a:off x="2045859" y="6515166"/>
            <a:ext cx="6155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Source:</a:t>
            </a:r>
            <a:r>
              <a:rPr lang="en-US" sz="1200" dirty="0"/>
              <a:t> </a:t>
            </a:r>
            <a:r>
              <a:rPr lang="en-US" sz="1200" dirty="0">
                <a:hlinkClick r:id="rId3"/>
              </a:rPr>
              <a:t>https://lifearchitect.ai/models/</a:t>
            </a:r>
            <a:r>
              <a:rPr lang="en-US" sz="1200" dirty="0"/>
              <a:t> </a:t>
            </a:r>
          </a:p>
        </p:txBody>
      </p:sp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1892B4B6-6D42-4BD2-A149-13AE70CDF1C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5" b="10468"/>
          <a:stretch/>
        </p:blipFill>
        <p:spPr bwMode="auto">
          <a:xfrm>
            <a:off x="206759" y="326571"/>
            <a:ext cx="11778480" cy="578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71070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2955CE7-A65B-42C2-BB92-8C50840DE1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Suppose, </a:t>
                </a:r>
                <a:r>
                  <a:rPr lang="en-US" i="1" dirty="0">
                    <a:solidFill>
                      <a:srgbClr val="C00000"/>
                    </a:solidFill>
                  </a:rPr>
                  <a:t>C</a:t>
                </a:r>
                <a:r>
                  <a:rPr lang="en-US" dirty="0"/>
                  <a:t> is the compute required to train a transformer model, in total floating point operations:</a:t>
                </a: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i="1" smtClean="0">
                          <a:solidFill>
                            <a:srgbClr val="C00000"/>
                          </a:solidFill>
                        </a:rPr>
                        <m:t>C</m:t>
                      </m:r>
                      <m:r>
                        <a:rPr lang="fr-FR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fr-FR" i="1" smtClean="0">
                          <a:solidFill>
                            <a:srgbClr val="1A73E8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m:rPr>
                          <m:nor/>
                        </m:rPr>
                        <a:rPr lang="fr-FR" i="1" smtClean="0">
                          <a:solidFill>
                            <a:srgbClr val="00B050"/>
                          </a:solidFill>
                        </a:rPr>
                        <m:t>T</m:t>
                      </m:r>
                    </m:oMath>
                  </m:oMathPara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A73E8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is the aggregate throughput of your hardware setup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A73E8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i="1" dirty="0"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GPUs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Actual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FLOPs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GPU</m:t>
                        </m:r>
                      </m:den>
                    </m:f>
                  </m:oMath>
                </a14:m>
                <a:r>
                  <a:rPr lang="en-US" dirty="0"/>
                  <a:t> in FLOPs</a:t>
                </a:r>
              </a:p>
              <a:p>
                <a:r>
                  <a:rPr lang="en-US" i="1" dirty="0">
                    <a:solidFill>
                      <a:srgbClr val="00B050"/>
                    </a:solidFill>
                  </a:rPr>
                  <a:t>T</a:t>
                </a:r>
                <a:r>
                  <a:rPr lang="en-US" dirty="0"/>
                  <a:t> is the time spent training the model (in seconds) </a:t>
                </a:r>
              </a:p>
              <a:p>
                <a:r>
                  <a:rPr lang="en-US" dirty="0"/>
                  <a:t>What’s the unit of </a:t>
                </a:r>
                <a:r>
                  <a:rPr lang="en-US" i="1" dirty="0">
                    <a:solidFill>
                      <a:srgbClr val="C00000"/>
                    </a:solidFill>
                  </a:rPr>
                  <a:t>C</a:t>
                </a:r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FLOP-seconds, which is in units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Floating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Point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Operations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Second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Seconds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GPU-hours, which is in units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GPU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Hours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Scaling laws papers tend to report values in </a:t>
                </a:r>
                <a:r>
                  <a:rPr lang="en-US" dirty="0" err="1"/>
                  <a:t>PetaFLOP</a:t>
                </a:r>
                <a:r>
                  <a:rPr lang="en-US" dirty="0"/>
                  <a:t>-days,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×24×3600</m:t>
                    </m:r>
                  </m:oMath>
                </a14:m>
                <a:r>
                  <a:rPr lang="en-US" dirty="0"/>
                  <a:t> total floating point operations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2955CE7-A65B-42C2-BB92-8C50840DE1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2" t="-1917" r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71D3CCFC-F3BA-41EF-A970-D9BBF8CE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Budget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87CB6-F34B-4C3A-B6C5-812D978A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FEBF-A170-470C-A369-F0D066FB58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81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9BD0D7-79D2-4657-AD68-79B883F06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Note that these FLOPs values are never met in practice</a:t>
            </a:r>
          </a:p>
          <a:p>
            <a:pPr lvl="1"/>
            <a:r>
              <a:rPr lang="en-US" sz="1800" dirty="0"/>
              <a:t>Especially in a distributed setting!</a:t>
            </a:r>
          </a:p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BE9BAD-26E5-429A-91B0-4BFC4F0D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H100 Performance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5D01A-6069-4A4D-B4D9-C9308178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2A84B-6893-4191-AE4F-AB1DBE598AAA}"/>
              </a:ext>
            </a:extLst>
          </p:cNvPr>
          <p:cNvSpPr txBox="1"/>
          <p:nvPr/>
        </p:nvSpPr>
        <p:spPr>
          <a:xfrm>
            <a:off x="0" y="6177690"/>
            <a:ext cx="6155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Source:</a:t>
            </a:r>
            <a:r>
              <a:rPr lang="en-US" sz="1200" dirty="0"/>
              <a:t> NVIDIA H100 Tensor Core GPU datasheet</a:t>
            </a:r>
          </a:p>
        </p:txBody>
      </p:sp>
      <p:pic>
        <p:nvPicPr>
          <p:cNvPr id="8" name="Content Placeholder 9">
            <a:extLst>
              <a:ext uri="{FF2B5EF4-FFF2-40B4-BE49-F238E27FC236}">
                <a16:creationId xmlns:a16="http://schemas.microsoft.com/office/drawing/2014/main" id="{186D6509-3202-493C-8664-DCEF59D6C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331" y="774113"/>
            <a:ext cx="8072069" cy="5102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E0533F-39B2-4D9F-BEC4-0425A633F3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796" b="23765"/>
          <a:stretch/>
        </p:blipFill>
        <p:spPr>
          <a:xfrm>
            <a:off x="7865507" y="89443"/>
            <a:ext cx="4195482" cy="20574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58F180-605F-496B-9AB1-4E49F06E5FCD}"/>
              </a:ext>
            </a:extLst>
          </p:cNvPr>
          <p:cNvSpPr txBox="1"/>
          <p:nvPr/>
        </p:nvSpPr>
        <p:spPr>
          <a:xfrm>
            <a:off x="81331" y="5806888"/>
            <a:ext cx="61553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50000"/>
                  </a:schemeClr>
                </a:solidFill>
              </a:rPr>
              <a:t>* Shown with sparsity. Specifications 1/2 lower without sparsity.</a:t>
            </a:r>
          </a:p>
        </p:txBody>
      </p:sp>
    </p:spTree>
    <p:extLst>
      <p:ext uri="{BB962C8B-B14F-4D97-AF65-F5344CB8AC3E}">
        <p14:creationId xmlns:p14="http://schemas.microsoft.com/office/powerpoint/2010/main" val="1535237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2955CE7-A65B-42C2-BB92-8C50840DE1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i="1" smtClean="0">
                          <a:solidFill>
                            <a:srgbClr val="C00000"/>
                          </a:solidFill>
                        </a:rPr>
                        <m:t>C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fr-FR" i="1">
                          <a:solidFill>
                            <a:srgbClr val="1A73E8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m:rPr>
                          <m:nor/>
                        </m:rPr>
                        <a:rPr lang="fr-FR" i="1">
                          <a:solidFill>
                            <a:srgbClr val="00B050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en-US" b="0" i="1" smtClean="0">
                          <a:solidFill>
                            <a:srgbClr val="00B05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/>
                        <m:t>=</m:t>
                      </m:r>
                      <m:r>
                        <m:rPr>
                          <m:nor/>
                        </m:rPr>
                        <a:rPr lang="fr-FR"/>
                        <m:t> 6</m:t>
                      </m:r>
                      <m:r>
                        <m:rPr>
                          <m:nor/>
                        </m:rPr>
                        <a:rPr lang="en-US" b="0" i="1" smtClean="0">
                          <a:solidFill>
                            <a:srgbClr val="7030A0"/>
                          </a:solidFill>
                        </a:rPr>
                        <m:t>N</m:t>
                      </m:r>
                      <m:r>
                        <m:rPr>
                          <m:nor/>
                        </m:rPr>
                        <a:rPr lang="fr-FR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D</m:t>
                      </m:r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We can write </a:t>
                </a:r>
                <a:r>
                  <a:rPr lang="en-US" i="1" dirty="0">
                    <a:solidFill>
                      <a:srgbClr val="C00000"/>
                    </a:solidFill>
                  </a:rPr>
                  <a:t>C</a:t>
                </a:r>
                <a:r>
                  <a:rPr lang="en-US" dirty="0"/>
                  <a:t> as follows: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forward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backward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forward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backward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2"/>
                <a:r>
                  <a:rPr lang="en-US" i="1" dirty="0">
                    <a:solidFill>
                      <a:srgbClr val="7030A0"/>
                    </a:solidFill>
                    <a:effectLst/>
                  </a:rPr>
                  <a:t>N</a:t>
                </a:r>
                <a:r>
                  <a:rPr lang="en-US" dirty="0">
                    <a:effectLst/>
                  </a:rPr>
                  <a:t> is the number of parameters in the transformer model</a:t>
                </a:r>
              </a:p>
              <a:p>
                <a:pPr lvl="2"/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D</a:t>
                </a:r>
                <a:r>
                  <a:rPr lang="en-US" dirty="0"/>
                  <a:t> is the dataset size (in tokens)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2955CE7-A65B-42C2-BB92-8C50840DE1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71D3CCFC-F3BA-41EF-A970-D9BBF8CE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Budget (cont’d)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87CB6-F34B-4C3A-B6C5-812D978A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FEBF-A170-470C-A369-F0D066FB58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555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CFFC4A-CD61-49CA-AF99-86865FB8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Models’</a:t>
            </a:r>
            <a:br>
              <a:rPr lang="en-US" dirty="0"/>
            </a:br>
            <a:r>
              <a:rPr lang="en-US" dirty="0"/>
              <a:t>Memory Requirements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5FDB1-0705-48D9-9EF5-A1D28DEB3A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15725" y="6492875"/>
            <a:ext cx="676275" cy="365125"/>
          </a:xfrm>
        </p:spPr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660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52AEB8-DFEA-42FA-B7EB-06DBFDC5A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Datatypes: Floating Point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34C607-3E9B-440C-8BF5-B63A7B245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06" y="1822084"/>
            <a:ext cx="11356387" cy="32138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A653B-99D3-4298-A168-5E125AA4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05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A84B33-C8D8-421C-9FAF-51C0F7B97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6" y="990600"/>
            <a:ext cx="8486587" cy="54102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473F692-C61E-41F3-A921-87AE5731D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Datatypes: Floating Point (cont’d)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58364-9068-4B6B-AAFC-82ACF802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D21B3-9DF6-4490-9731-BE453F8E4850}"/>
              </a:ext>
            </a:extLst>
          </p:cNvPr>
          <p:cNvSpPr txBox="1"/>
          <p:nvPr/>
        </p:nvSpPr>
        <p:spPr>
          <a:xfrm>
            <a:off x="2021939" y="6492875"/>
            <a:ext cx="89377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Source:</a:t>
            </a:r>
            <a:r>
              <a:rPr lang="en-US" sz="1200" dirty="0"/>
              <a:t> </a:t>
            </a:r>
            <a:r>
              <a:rPr lang="en-US" sz="1200" dirty="0">
                <a:hlinkClick r:id="rId4"/>
              </a:rPr>
              <a:t>https://blogs.nvidia.com/blog/tensorfloat-32-precision-format/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87660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11E144D-F286-4E10-9FD6-BA8994409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9584889"/>
              </p:ext>
            </p:extLst>
          </p:nvPr>
        </p:nvGraphicFramePr>
        <p:xfrm>
          <a:off x="1523998" y="1792297"/>
          <a:ext cx="9143999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98159">
                  <a:extLst>
                    <a:ext uri="{9D8B030D-6E8A-4147-A177-3AD203B41FA5}">
                      <a16:colId xmlns:a16="http://schemas.microsoft.com/office/drawing/2014/main" val="2091373539"/>
                    </a:ext>
                  </a:extLst>
                </a:gridCol>
                <a:gridCol w="870051">
                  <a:extLst>
                    <a:ext uri="{9D8B030D-6E8A-4147-A177-3AD203B41FA5}">
                      <a16:colId xmlns:a16="http://schemas.microsoft.com/office/drawing/2014/main" val="2368087508"/>
                    </a:ext>
                  </a:extLst>
                </a:gridCol>
                <a:gridCol w="870051">
                  <a:extLst>
                    <a:ext uri="{9D8B030D-6E8A-4147-A177-3AD203B41FA5}">
                      <a16:colId xmlns:a16="http://schemas.microsoft.com/office/drawing/2014/main" val="2277336616"/>
                    </a:ext>
                  </a:extLst>
                </a:gridCol>
                <a:gridCol w="900634">
                  <a:extLst>
                    <a:ext uri="{9D8B030D-6E8A-4147-A177-3AD203B41FA5}">
                      <a16:colId xmlns:a16="http://schemas.microsoft.com/office/drawing/2014/main" val="3155905204"/>
                    </a:ext>
                  </a:extLst>
                </a:gridCol>
                <a:gridCol w="1087434">
                  <a:extLst>
                    <a:ext uri="{9D8B030D-6E8A-4147-A177-3AD203B41FA5}">
                      <a16:colId xmlns:a16="http://schemas.microsoft.com/office/drawing/2014/main" val="3697023722"/>
                    </a:ext>
                  </a:extLst>
                </a:gridCol>
                <a:gridCol w="968095">
                  <a:extLst>
                    <a:ext uri="{9D8B030D-6E8A-4147-A177-3AD203B41FA5}">
                      <a16:colId xmlns:a16="http://schemas.microsoft.com/office/drawing/2014/main" val="3514093415"/>
                    </a:ext>
                  </a:extLst>
                </a:gridCol>
                <a:gridCol w="1449575">
                  <a:extLst>
                    <a:ext uri="{9D8B030D-6E8A-4147-A177-3AD203B41FA5}">
                      <a16:colId xmlns:a16="http://schemas.microsoft.com/office/drawing/2014/main" val="2672010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GPU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fp32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fp16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bf16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fp8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294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Volta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D85B">
                            <a:tint val="66000"/>
                            <a:satMod val="160000"/>
                          </a:srgbClr>
                        </a:gs>
                        <a:gs pos="50000">
                          <a:srgbClr val="FFD85B">
                            <a:tint val="44500"/>
                            <a:satMod val="160000"/>
                          </a:srgbClr>
                        </a:gs>
                        <a:gs pos="100000">
                          <a:srgbClr val="FFD85B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97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Turing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D85B">
                            <a:tint val="66000"/>
                            <a:satMod val="160000"/>
                          </a:srgbClr>
                        </a:gs>
                        <a:gs pos="50000">
                          <a:srgbClr val="FFD85B">
                            <a:tint val="44500"/>
                            <a:satMod val="160000"/>
                          </a:srgbClr>
                        </a:gs>
                        <a:gs pos="100000">
                          <a:srgbClr val="FFD85B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216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Ampere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D85B">
                            <a:tint val="66000"/>
                            <a:satMod val="160000"/>
                          </a:srgbClr>
                        </a:gs>
                        <a:gs pos="50000">
                          <a:srgbClr val="FFD85B">
                            <a:tint val="44500"/>
                            <a:satMod val="160000"/>
                          </a:srgbClr>
                        </a:gs>
                        <a:gs pos="100000">
                          <a:srgbClr val="FFD85B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638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Ada-Lovelace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D85B">
                            <a:tint val="66000"/>
                            <a:satMod val="160000"/>
                          </a:srgbClr>
                        </a:gs>
                        <a:gs pos="50000">
                          <a:srgbClr val="FFD85B">
                            <a:tint val="44500"/>
                            <a:satMod val="160000"/>
                          </a:srgbClr>
                        </a:gs>
                        <a:gs pos="100000">
                          <a:srgbClr val="FFD85B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62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Hopper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FD85B">
                            <a:tint val="66000"/>
                            <a:satMod val="160000"/>
                          </a:srgbClr>
                        </a:gs>
                        <a:gs pos="50000">
                          <a:srgbClr val="FFD85B">
                            <a:tint val="44500"/>
                            <a:satMod val="160000"/>
                          </a:srgbClr>
                        </a:gs>
                        <a:gs pos="100000">
                          <a:srgbClr val="FFD85B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34632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BB64933-7749-4007-929C-6797048E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GPU Datatypes: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BD687-F05B-4550-99B4-439EBF84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C27C7D-9F82-46C7-A184-56CE07C170EC}"/>
              </a:ext>
            </a:extLst>
          </p:cNvPr>
          <p:cNvSpPr txBox="1"/>
          <p:nvPr/>
        </p:nvSpPr>
        <p:spPr>
          <a:xfrm>
            <a:off x="3047169" y="4962726"/>
            <a:ext cx="609765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Volta (datacenter): V100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Turing (consumer): 2000-series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600" dirty="0"/>
              <a:t>Ampere (consumer/datacenter): 3000-series &amp; A100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600" dirty="0"/>
              <a:t>Ada-Lovelace (consumer/datacenter): 4000-series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600" dirty="0"/>
              <a:t>Hopper (datacenter): H100 and H200</a:t>
            </a:r>
          </a:p>
        </p:txBody>
      </p:sp>
    </p:spTree>
    <p:extLst>
      <p:ext uri="{BB962C8B-B14F-4D97-AF65-F5344CB8AC3E}">
        <p14:creationId xmlns:p14="http://schemas.microsoft.com/office/powerpoint/2010/main" val="1280176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3FFABB1-5BEA-4F3D-A2F4-6D3DB8CFC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Memory to store model parameters: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  <a:latin typeface="Source Code Pro" panose="020B0509030403020204" pitchFamily="49" charset="0"/>
                    <a:ea typeface="Source Code Pro" panose="020B0509030403020204" pitchFamily="49" charset="0"/>
                  </a:rPr>
                  <a:t>int8</a:t>
                </a:r>
                <a:r>
                  <a:rPr lang="en-US" dirty="0"/>
                  <a:t>: (1 byte </a:t>
                </a:r>
                <a:r>
                  <a:rPr lang="en-US" dirty="0">
                    <a:latin typeface="Symbol" panose="05050102010706020507" pitchFamily="18" charset="2"/>
                  </a:rPr>
                  <a:t>/ </a:t>
                </a:r>
                <a:r>
                  <a:rPr lang="en-US" dirty="0"/>
                  <a:t>param)(</a:t>
                </a:r>
                <a:r>
                  <a:rPr lang="en-US" dirty="0">
                    <a:latin typeface="Symbol" panose="05050102010706020507" pitchFamily="18" charset="2"/>
                  </a:rPr>
                  <a:t># </a:t>
                </a:r>
                <a:r>
                  <a:rPr lang="en-US" dirty="0"/>
                  <a:t>params)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  <a:latin typeface="Source Code Pro" panose="020B0509030403020204" pitchFamily="49" charset="0"/>
                    <a:ea typeface="Source Code Pro" panose="020B0509030403020204" pitchFamily="49" charset="0"/>
                  </a:rPr>
                  <a:t>fp16</a:t>
                </a:r>
                <a:r>
                  <a:rPr lang="en-US" dirty="0">
                    <a:latin typeface="Source Code Pro" panose="020B0509030403020204" pitchFamily="49" charset="0"/>
                    <a:ea typeface="Source Code Pro" panose="020B0509030403020204" pitchFamily="49" charset="0"/>
                  </a:rPr>
                  <a:t>/</a:t>
                </a:r>
                <a:r>
                  <a:rPr lang="en-US" dirty="0">
                    <a:solidFill>
                      <a:srgbClr val="0070C0"/>
                    </a:solidFill>
                    <a:latin typeface="Source Code Pro" panose="020B0509030403020204" pitchFamily="49" charset="0"/>
                    <a:ea typeface="Source Code Pro" panose="020B0509030403020204" pitchFamily="49" charset="0"/>
                  </a:rPr>
                  <a:t>bf16</a:t>
                </a:r>
                <a:r>
                  <a:rPr lang="en-US" dirty="0"/>
                  <a:t>: (2 bytes </a:t>
                </a:r>
                <a:r>
                  <a:rPr lang="en-US" dirty="0">
                    <a:latin typeface="Symbol" panose="05050102010706020507" pitchFamily="18" charset="2"/>
                  </a:rPr>
                  <a:t>/ </a:t>
                </a:r>
                <a:r>
                  <a:rPr lang="en-US" dirty="0"/>
                  <a:t>param)(</a:t>
                </a:r>
                <a:r>
                  <a:rPr lang="en-US" dirty="0">
                    <a:latin typeface="Symbol" panose="05050102010706020507" pitchFamily="18" charset="2"/>
                  </a:rPr>
                  <a:t># </a:t>
                </a:r>
                <a:r>
                  <a:rPr lang="en-US" dirty="0"/>
                  <a:t>params)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  <a:latin typeface="Source Code Pro" panose="020B0509030403020204" pitchFamily="49" charset="0"/>
                    <a:ea typeface="Source Code Pro" panose="020B0509030403020204" pitchFamily="49" charset="0"/>
                  </a:rPr>
                  <a:t>fp32</a:t>
                </a:r>
                <a:r>
                  <a:rPr lang="en-US" dirty="0"/>
                  <a:t>: (4 bytes </a:t>
                </a:r>
                <a:r>
                  <a:rPr lang="en-US" dirty="0">
                    <a:latin typeface="Symbol" panose="05050102010706020507" pitchFamily="18" charset="2"/>
                  </a:rPr>
                  <a:t>/ </a:t>
                </a:r>
                <a:r>
                  <a:rPr lang="en-US" dirty="0"/>
                  <a:t>param)(</a:t>
                </a:r>
                <a:r>
                  <a:rPr lang="en-US" dirty="0">
                    <a:latin typeface="Symbol" panose="05050102010706020507" pitchFamily="18" charset="2"/>
                  </a:rPr>
                  <a:t># </a:t>
                </a:r>
                <a:r>
                  <a:rPr lang="en-US" dirty="0"/>
                  <a:t>params)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Total inference memory: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Memory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inference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≈1.2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memor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model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3FFABB1-5BEA-4F3D-A2F4-6D3DB8CFC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2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DF47AB8F-C34C-4718-A250-32A23715A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Memory Requirement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CEC421-0265-4B52-B5C3-56FEF9EE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D1F582F3-9311-499B-B7E2-37908D28BC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" t="1664" r="1141" b="1408"/>
          <a:stretch/>
        </p:blipFill>
        <p:spPr bwMode="auto">
          <a:xfrm>
            <a:off x="6621375" y="1270000"/>
            <a:ext cx="5375156" cy="3573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D2B37DD-DAC4-487D-B088-A877E20A4EBD}"/>
              </a:ext>
            </a:extLst>
          </p:cNvPr>
          <p:cNvGrpSpPr/>
          <p:nvPr/>
        </p:nvGrpSpPr>
        <p:grpSpPr>
          <a:xfrm>
            <a:off x="6172200" y="5754775"/>
            <a:ext cx="1146468" cy="569834"/>
            <a:chOff x="5594204" y="5337332"/>
            <a:chExt cx="1146468" cy="569834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C82A826C-665A-4B56-A106-792B4D5B4738}"/>
                </a:ext>
              </a:extLst>
            </p:cNvPr>
            <p:cNvSpPr/>
            <p:nvPr/>
          </p:nvSpPr>
          <p:spPr>
            <a:xfrm rot="5400000">
              <a:off x="6091238" y="5146832"/>
              <a:ext cx="152400" cy="533400"/>
            </a:xfrm>
            <a:prstGeom prst="rightBrace">
              <a:avLst>
                <a:gd name="adj1" fmla="val 111457"/>
                <a:gd name="adj2" fmla="val 50000"/>
              </a:avLst>
            </a:prstGeom>
            <a:ln w="190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3CE82D-5776-4687-ACBE-5BCBC0F83F70}"/>
                </a:ext>
              </a:extLst>
            </p:cNvPr>
            <p:cNvSpPr txBox="1"/>
            <p:nvPr/>
          </p:nvSpPr>
          <p:spPr>
            <a:xfrm>
              <a:off x="5594204" y="5537834"/>
              <a:ext cx="11464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overhead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548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95086C-9F96-415E-BB91-7081378EC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Total </a:t>
            </a:r>
            <a:r>
              <a:rPr lang="en-US" dirty="0" err="1"/>
              <a:t>mem</a:t>
            </a:r>
            <a:r>
              <a:rPr lang="en-US" baseline="-25000" dirty="0" err="1"/>
              <a:t>training</a:t>
            </a:r>
            <a:r>
              <a:rPr lang="en-US" baseline="-25000" dirty="0"/>
              <a:t> </a:t>
            </a:r>
            <a:r>
              <a:rPr lang="en-US" dirty="0">
                <a:latin typeface="Symbol" panose="05050102010706020507" pitchFamily="18" charset="2"/>
              </a:rPr>
              <a:t>= </a:t>
            </a:r>
            <a:r>
              <a:rPr lang="en-US" dirty="0" err="1"/>
              <a:t>mem</a:t>
            </a:r>
            <a:r>
              <a:rPr lang="en-US" baseline="-25000" dirty="0" err="1"/>
              <a:t>model</a:t>
            </a:r>
            <a:r>
              <a:rPr lang="en-US" baseline="-25000" dirty="0"/>
              <a:t> </a:t>
            </a:r>
            <a:r>
              <a:rPr lang="en-US" dirty="0">
                <a:latin typeface="Symbol" panose="05050102010706020507" pitchFamily="18" charset="2"/>
              </a:rPr>
              <a:t>+</a:t>
            </a:r>
            <a:r>
              <a:rPr lang="en-US" dirty="0"/>
              <a:t> mem</a:t>
            </a:r>
            <a:r>
              <a:rPr lang="en-US" baseline="-25000" dirty="0"/>
              <a:t>optimizer</a:t>
            </a:r>
            <a:r>
              <a:rPr lang="en-US" dirty="0"/>
              <a:t> </a:t>
            </a:r>
            <a:r>
              <a:rPr lang="en-US" dirty="0">
                <a:latin typeface="Symbol" panose="05050102010706020507" pitchFamily="18" charset="2"/>
              </a:rPr>
              <a:t>+ </a:t>
            </a:r>
            <a:r>
              <a:rPr lang="en-US" dirty="0" err="1"/>
              <a:t>mem</a:t>
            </a:r>
            <a:r>
              <a:rPr lang="en-US" baseline="-25000" dirty="0" err="1"/>
              <a:t>gradients</a:t>
            </a:r>
            <a:r>
              <a:rPr lang="en-US" baseline="-25000" dirty="0"/>
              <a:t> </a:t>
            </a:r>
            <a:r>
              <a:rPr lang="en-US" dirty="0">
                <a:latin typeface="Symbol" panose="05050102010706020507" pitchFamily="18" charset="2"/>
              </a:rPr>
              <a:t>+ </a:t>
            </a:r>
            <a:r>
              <a:rPr lang="en-US" dirty="0" err="1"/>
              <a:t>mem</a:t>
            </a:r>
            <a:r>
              <a:rPr lang="en-US" baseline="-25000" dirty="0" err="1"/>
              <a:t>activations</a:t>
            </a:r>
            <a:endParaRPr lang="en-US" baseline="-25000" dirty="0"/>
          </a:p>
          <a:p>
            <a:endParaRPr lang="en-US" dirty="0"/>
          </a:p>
          <a:p>
            <a:r>
              <a:rPr lang="en-US" dirty="0"/>
              <a:t>Model memory requirement (</a:t>
            </a:r>
            <a:r>
              <a:rPr lang="en-US" dirty="0" err="1"/>
              <a:t>mem</a:t>
            </a:r>
            <a:r>
              <a:rPr lang="en-US" baseline="-25000" dirty="0" err="1"/>
              <a:t>model</a:t>
            </a:r>
            <a:r>
              <a:rPr lang="en-US" baseline="-25000" dirty="0"/>
              <a:t> 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Pure </a:t>
            </a:r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fp32</a:t>
            </a:r>
            <a:r>
              <a:rPr lang="en-US" dirty="0"/>
              <a:t>: </a:t>
            </a:r>
            <a:r>
              <a:rPr lang="en-US" dirty="0" err="1"/>
              <a:t>mem</a:t>
            </a:r>
            <a:r>
              <a:rPr lang="en-US" baseline="-25000" dirty="0" err="1"/>
              <a:t>model</a:t>
            </a:r>
            <a:r>
              <a:rPr lang="en-US" dirty="0">
                <a:latin typeface="Symbol" panose="05050102010706020507" pitchFamily="18" charset="2"/>
              </a:rPr>
              <a:t>= </a:t>
            </a:r>
            <a:r>
              <a:rPr lang="en-US" dirty="0"/>
              <a:t>(4 bytes </a:t>
            </a:r>
            <a:r>
              <a:rPr lang="en-US" dirty="0">
                <a:latin typeface="Symbol" panose="05050102010706020507" pitchFamily="18" charset="2"/>
              </a:rPr>
              <a:t>/ </a:t>
            </a:r>
            <a:r>
              <a:rPr lang="en-US" dirty="0"/>
              <a:t>param)(</a:t>
            </a:r>
            <a:r>
              <a:rPr lang="en-US" dirty="0">
                <a:latin typeface="Symbol" panose="05050102010706020507" pitchFamily="18" charset="2"/>
              </a:rPr>
              <a:t># </a:t>
            </a:r>
            <a:r>
              <a:rPr lang="en-US" dirty="0"/>
              <a:t>params)</a:t>
            </a:r>
          </a:p>
          <a:p>
            <a:pPr lvl="1"/>
            <a:r>
              <a:rPr lang="en-US" dirty="0"/>
              <a:t>Pure </a:t>
            </a:r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fp16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bf16</a:t>
            </a:r>
            <a:r>
              <a:rPr lang="en-US" dirty="0"/>
              <a:t>: </a:t>
            </a:r>
            <a:r>
              <a:rPr lang="en-US" dirty="0" err="1"/>
              <a:t>mem</a:t>
            </a:r>
            <a:r>
              <a:rPr lang="en-US" baseline="-25000" dirty="0" err="1"/>
              <a:t>model</a:t>
            </a:r>
            <a:r>
              <a:rPr lang="en-US" dirty="0">
                <a:latin typeface="Symbol" panose="05050102010706020507" pitchFamily="18" charset="2"/>
              </a:rPr>
              <a:t>= </a:t>
            </a:r>
            <a:r>
              <a:rPr lang="en-US" dirty="0"/>
              <a:t>(2 bytes </a:t>
            </a:r>
            <a:r>
              <a:rPr lang="en-US" dirty="0">
                <a:latin typeface="Symbol" panose="05050102010706020507" pitchFamily="18" charset="2"/>
              </a:rPr>
              <a:t>/ </a:t>
            </a:r>
            <a:r>
              <a:rPr lang="en-US" dirty="0"/>
              <a:t>param)(</a:t>
            </a:r>
            <a:r>
              <a:rPr lang="en-US" dirty="0">
                <a:latin typeface="Symbol" panose="05050102010706020507" pitchFamily="18" charset="2"/>
              </a:rPr>
              <a:t># </a:t>
            </a:r>
            <a:r>
              <a:rPr lang="en-US" dirty="0"/>
              <a:t>params)</a:t>
            </a:r>
          </a:p>
          <a:p>
            <a:pPr lvl="1"/>
            <a:r>
              <a:rPr lang="en-US" dirty="0"/>
              <a:t>Mixed precision training (</a:t>
            </a:r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fp16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bf16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/>
              <a:t>and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fp32</a:t>
            </a:r>
            <a:r>
              <a:rPr lang="en-US" dirty="0"/>
              <a:t>):</a:t>
            </a:r>
          </a:p>
          <a:p>
            <a:pPr lvl="2"/>
            <a:r>
              <a:rPr lang="en-US" dirty="0"/>
              <a:t>fp32 is stable but takes a lot of memory. It isn’t supported by tensor cores.</a:t>
            </a:r>
          </a:p>
          <a:p>
            <a:pPr lvl="2"/>
            <a:r>
              <a:rPr lang="en-US" dirty="0"/>
              <a:t>fp16 is stable but difficult to converge. It enables us to use tensor cores.</a:t>
            </a:r>
          </a:p>
          <a:p>
            <a:pPr lvl="2"/>
            <a:r>
              <a:rPr lang="en-US" dirty="0"/>
              <a:t>Mixed precision training retails two copies of a model. One in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fp16</a:t>
            </a:r>
            <a:r>
              <a:rPr lang="en-US" dirty="0"/>
              <a:t>/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bf16</a:t>
            </a:r>
            <a:r>
              <a:rPr lang="en-US" dirty="0"/>
              <a:t> and another in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fp32</a:t>
            </a:r>
            <a:r>
              <a:rPr lang="en-US" dirty="0"/>
              <a:t>.</a:t>
            </a:r>
          </a:p>
          <a:p>
            <a:pPr marL="457200" lvl="1" indent="0" algn="ctr">
              <a:buNone/>
            </a:pPr>
            <a:r>
              <a:rPr lang="en-US" dirty="0"/>
              <a:t>(2 bytes </a:t>
            </a:r>
            <a:r>
              <a:rPr lang="en-US" dirty="0">
                <a:latin typeface="Symbol" panose="05050102010706020507" pitchFamily="18" charset="2"/>
              </a:rPr>
              <a:t>/ </a:t>
            </a:r>
            <a:r>
              <a:rPr lang="en-US" dirty="0"/>
              <a:t>param)(</a:t>
            </a:r>
            <a:r>
              <a:rPr lang="en-US" dirty="0">
                <a:latin typeface="Symbol" panose="05050102010706020507" pitchFamily="18" charset="2"/>
              </a:rPr>
              <a:t># </a:t>
            </a:r>
            <a:r>
              <a:rPr lang="en-US" dirty="0"/>
              <a:t>params) + (4 bytes </a:t>
            </a:r>
            <a:r>
              <a:rPr lang="en-US" dirty="0">
                <a:latin typeface="Symbol" panose="05050102010706020507" pitchFamily="18" charset="2"/>
              </a:rPr>
              <a:t>/ </a:t>
            </a:r>
            <a:r>
              <a:rPr lang="en-US" dirty="0"/>
              <a:t>param)(</a:t>
            </a:r>
            <a:r>
              <a:rPr lang="en-US" dirty="0">
                <a:latin typeface="Symbol" panose="05050102010706020507" pitchFamily="18" charset="2"/>
              </a:rPr>
              <a:t># </a:t>
            </a:r>
            <a:r>
              <a:rPr lang="en-US" dirty="0"/>
              <a:t>params)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3792D6-DE26-49BA-94D1-38075EA0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Memory Requirement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B8530E-D123-406E-BD49-CF96F53C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B68414-9AB3-4097-9FBB-E2C553040A3B}"/>
              </a:ext>
            </a:extLst>
          </p:cNvPr>
          <p:cNvSpPr/>
          <p:nvPr/>
        </p:nvSpPr>
        <p:spPr>
          <a:xfrm>
            <a:off x="6189044" y="4957011"/>
            <a:ext cx="3793156" cy="4812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0DEA1E-0C5B-4CFB-ABFE-4B891F18A2F8}"/>
              </a:ext>
            </a:extLst>
          </p:cNvPr>
          <p:cNvSpPr txBox="1"/>
          <p:nvPr/>
        </p:nvSpPr>
        <p:spPr>
          <a:xfrm>
            <a:off x="5638800" y="5438275"/>
            <a:ext cx="5519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This term will be counted as a part of optimizer state</a:t>
            </a:r>
          </a:p>
        </p:txBody>
      </p:sp>
    </p:spTree>
    <p:extLst>
      <p:ext uri="{BB962C8B-B14F-4D97-AF65-F5344CB8AC3E}">
        <p14:creationId xmlns:p14="http://schemas.microsoft.com/office/powerpoint/2010/main" val="226567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CB37D2-E74F-4390-AA7C-5A0A400B8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Vanilla </a:t>
            </a:r>
            <a:r>
              <a:rPr lang="en-US" dirty="0" err="1"/>
              <a:t>AdamW</a:t>
            </a:r>
            <a:r>
              <a:rPr lang="en-US" dirty="0"/>
              <a:t> optimizer: (12 bytes/param)(# params)</a:t>
            </a:r>
          </a:p>
          <a:p>
            <a:pPr lvl="1"/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fp32</a:t>
            </a:r>
            <a:r>
              <a:rPr lang="en-US" dirty="0">
                <a:solidFill>
                  <a:srgbClr val="C00000"/>
                </a:solidFill>
              </a:rPr>
              <a:t> copy of parameters: 4 bytes/param</a:t>
            </a:r>
          </a:p>
          <a:p>
            <a:pPr lvl="1"/>
            <a:r>
              <a:rPr lang="en-US" dirty="0"/>
              <a:t>Momentum: 4 bytes/param</a:t>
            </a:r>
          </a:p>
          <a:p>
            <a:pPr lvl="1"/>
            <a:r>
              <a:rPr lang="en-US" dirty="0"/>
              <a:t>Variance: 4 bytes/param</a:t>
            </a:r>
          </a:p>
          <a:p>
            <a:r>
              <a:rPr lang="en-US" dirty="0"/>
              <a:t>SGD-like optimizers with momentum: (8 bytes/param)(# params)</a:t>
            </a:r>
          </a:p>
          <a:p>
            <a:pPr lvl="1"/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fp32</a:t>
            </a:r>
            <a:r>
              <a:rPr lang="en-US" dirty="0">
                <a:solidFill>
                  <a:srgbClr val="C00000"/>
                </a:solidFill>
              </a:rPr>
              <a:t> copy of parameters: 4 bytes/param</a:t>
            </a:r>
          </a:p>
          <a:p>
            <a:pPr lvl="1"/>
            <a:r>
              <a:rPr lang="en-US" dirty="0"/>
              <a:t>Momentum: 4 bytes/param</a:t>
            </a:r>
          </a:p>
          <a:p>
            <a:r>
              <a:rPr lang="en-US" dirty="0"/>
              <a:t>8-bit optimizers (e.g., </a:t>
            </a:r>
            <a:r>
              <a:rPr lang="en-US" dirty="0">
                <a:hlinkClick r:id="rId3"/>
              </a:rPr>
              <a:t>bitsandbytes</a:t>
            </a:r>
            <a:r>
              <a:rPr lang="en-US" dirty="0"/>
              <a:t>): (6 bytes/param)(# params)</a:t>
            </a:r>
          </a:p>
          <a:p>
            <a:pPr lvl="1"/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fp32</a:t>
            </a:r>
            <a:r>
              <a:rPr lang="en-US" dirty="0">
                <a:solidFill>
                  <a:srgbClr val="C00000"/>
                </a:solidFill>
              </a:rPr>
              <a:t> copy of parameters: 4 bytes/param</a:t>
            </a:r>
          </a:p>
          <a:p>
            <a:pPr lvl="1"/>
            <a:r>
              <a:rPr lang="en-US" dirty="0"/>
              <a:t>Momentum: 1 byte/param</a:t>
            </a:r>
          </a:p>
          <a:p>
            <a:pPr lvl="1"/>
            <a:r>
              <a:rPr lang="en-US" dirty="0"/>
              <a:t>Variance: 1 byte/param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8AE360-D0EC-403D-AB28-5A475AD4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 States Memory (mem</a:t>
            </a:r>
            <a:r>
              <a:rPr lang="en-US" baseline="-25000" dirty="0"/>
              <a:t>optimizer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8857A-6E08-4F59-9405-BD27F559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767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75156B-38E1-4741-8C19-78C4AD9FF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Gradients can be stored in </a:t>
            </a:r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fp32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fp16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Usually they follow the model datatype.</a:t>
            </a:r>
          </a:p>
          <a:p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fp32</a:t>
            </a:r>
            <a:r>
              <a:rPr lang="en-US" dirty="0"/>
              <a:t> training: (4 bytes/param)(# params)</a:t>
            </a:r>
          </a:p>
          <a:p>
            <a:r>
              <a:rPr lang="en-US" dirty="0">
                <a:solidFill>
                  <a:srgbClr val="C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fp16</a:t>
            </a:r>
            <a:r>
              <a:rPr lang="en-US" dirty="0"/>
              <a:t>/</a:t>
            </a:r>
            <a:r>
              <a:rPr lang="en-US" dirty="0">
                <a:solidFill>
                  <a:srgbClr val="C00000"/>
                </a:solidFill>
              </a:rPr>
              <a:t>mixed-precision training</a:t>
            </a:r>
            <a:r>
              <a:rPr lang="en-US" dirty="0"/>
              <a:t>: (2 bytes/param)(# params)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357ED1-2584-477F-A5BE-F3480DDF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Gradients Memory (</a:t>
            </a:r>
            <a:r>
              <a:rPr lang="en-US" dirty="0" err="1"/>
              <a:t>mem</a:t>
            </a:r>
            <a:r>
              <a:rPr lang="en-US" baseline="-25000" dirty="0" err="1"/>
              <a:t>gradients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9BF15-607C-4DE7-93BF-9DB72FE42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7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2F1C5D-94FA-4D93-B21E-D4A75E983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GPUs are typically bottlenecked by memory, not FLOPs, for LLM training.</a:t>
            </a:r>
          </a:p>
          <a:p>
            <a:r>
              <a:rPr lang="en-US" dirty="0"/>
              <a:t>Activation recomputation/checkpointing is a very popular method of trading reduced memory costs for extra compute costs.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436BF6-ADDC-466F-967E-0978658C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Activations Memory (</a:t>
            </a:r>
            <a:r>
              <a:rPr lang="en-US" dirty="0" err="1"/>
              <a:t>mem</a:t>
            </a:r>
            <a:r>
              <a:rPr lang="en-US" baseline="-25000" dirty="0" err="1"/>
              <a:t>activations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28A5A-3067-4A17-ABF6-636D4CA3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6C45CF1A-928C-4D5C-8C5E-49A855A150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95152" y="3012430"/>
            <a:ext cx="6721482" cy="303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3F3FE4-5278-4B7D-B7A1-28B8BDCBFF57}"/>
              </a:ext>
            </a:extLst>
          </p:cNvPr>
          <p:cNvSpPr txBox="1"/>
          <p:nvPr/>
        </p:nvSpPr>
        <p:spPr>
          <a:xfrm>
            <a:off x="2874343" y="6089856"/>
            <a:ext cx="63631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V.A. </a:t>
            </a:r>
            <a:r>
              <a:rPr lang="en-US" sz="1100" dirty="0" err="1"/>
              <a:t>Korthikanti</a:t>
            </a:r>
            <a:r>
              <a:rPr lang="en-US" sz="1100" dirty="0"/>
              <a:t> et al, “</a:t>
            </a:r>
            <a:r>
              <a:rPr lang="en-US" sz="1100" dirty="0">
                <a:hlinkClick r:id="rId3"/>
              </a:rPr>
              <a:t>Reducing activation recomputation in large transformer models</a:t>
            </a:r>
            <a:r>
              <a:rPr lang="en-US" sz="1100" dirty="0"/>
              <a:t>,” </a:t>
            </a:r>
            <a:r>
              <a:rPr lang="en-US" sz="1100" i="1" dirty="0"/>
              <a:t>Proceedings of Machine Learning and Systems</a:t>
            </a:r>
            <a:r>
              <a:rPr lang="en-US" sz="1100" dirty="0"/>
              <a:t> 5 (2023).</a:t>
            </a:r>
          </a:p>
        </p:txBody>
      </p:sp>
    </p:spTree>
    <p:extLst>
      <p:ext uri="{BB962C8B-B14F-4D97-AF65-F5344CB8AC3E}">
        <p14:creationId xmlns:p14="http://schemas.microsoft.com/office/powerpoint/2010/main" val="2042030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3E7377B-F469-471D-B831-45C3495C65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activations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recomputation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solidFill>
                          <a:srgbClr val="1A73E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DC00A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solidFill>
                                  <a:srgbClr val="DC00A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bytes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activations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selective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recomputation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solidFill>
                          <a:srgbClr val="1A73E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DC00A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bytes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activations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full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recomputation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solidFill>
                          <a:srgbClr val="1A73E8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bytes</a:t>
                </a:r>
              </a:p>
              <a:p>
                <a:pPr lvl="1"/>
                <a:r>
                  <a:rPr lang="en-US" i="1" dirty="0">
                    <a:solidFill>
                      <a:srgbClr val="C00000"/>
                    </a:solidFill>
                  </a:rPr>
                  <a:t>s</a:t>
                </a:r>
                <a:r>
                  <a:rPr lang="en-US" dirty="0"/>
                  <a:t> is the sequence length (in tokens)</a:t>
                </a:r>
              </a:p>
              <a:p>
                <a:pPr lvl="1"/>
                <a:r>
                  <a:rPr lang="en-US" i="1" dirty="0">
                    <a:solidFill>
                      <a:srgbClr val="00B050"/>
                    </a:solidFill>
                  </a:rPr>
                  <a:t>b</a:t>
                </a:r>
                <a:r>
                  <a:rPr lang="en-US" dirty="0"/>
                  <a:t> is the batch size per GPU</a:t>
                </a:r>
              </a:p>
              <a:p>
                <a:pPr lvl="1"/>
                <a:r>
                  <a:rPr lang="en-US" i="1" dirty="0"/>
                  <a:t>h</a:t>
                </a:r>
                <a:r>
                  <a:rPr lang="en-US" dirty="0"/>
                  <a:t> is the dimension of the hidden size within each transformer layer</a:t>
                </a:r>
              </a:p>
              <a:p>
                <a:pPr lvl="1"/>
                <a:r>
                  <a:rPr lang="en-US" i="1" dirty="0">
                    <a:solidFill>
                      <a:srgbClr val="1A73E8"/>
                    </a:solidFill>
                  </a:rPr>
                  <a:t>L</a:t>
                </a:r>
                <a:r>
                  <a:rPr lang="en-US" dirty="0"/>
                  <a:t> is the number of layers in the transformer model</a:t>
                </a:r>
              </a:p>
              <a:p>
                <a:pPr lvl="1"/>
                <a:r>
                  <a:rPr lang="en-US" i="1" dirty="0">
                    <a:solidFill>
                      <a:srgbClr val="FF0000"/>
                    </a:solidFill>
                  </a:rPr>
                  <a:t>a</a:t>
                </a:r>
                <a:r>
                  <a:rPr lang="en-US" dirty="0"/>
                  <a:t> is the number of attention heads in the transformer model</a:t>
                </a:r>
              </a:p>
              <a:p>
                <a:pPr lvl="1"/>
                <a:r>
                  <a:rPr lang="en-US" i="1" dirty="0">
                    <a:solidFill>
                      <a:srgbClr val="DC00A1"/>
                    </a:solidFill>
                  </a:rPr>
                  <a:t>t</a:t>
                </a:r>
                <a:r>
                  <a:rPr lang="en-US" dirty="0"/>
                  <a:t> is the degree of tensor parallelism being used (1 if not)</a:t>
                </a:r>
              </a:p>
              <a:p>
                <a:r>
                  <a:rPr lang="en-US" dirty="0"/>
                  <a:t>Additional recomputation may 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forward</m:t>
                        </m:r>
                      </m:sub>
                    </m:sSub>
                  </m:oMath>
                </a14:m>
                <a:r>
                  <a:rPr lang="en-US" dirty="0"/>
                  <a:t> by at most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𝑃𝐷</m:t>
                    </m:r>
                  </m:oMath>
                </a14:m>
                <a:r>
                  <a:rPr lang="en-US" dirty="0"/>
                  <a:t>. Why?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3E7377B-F469-471D-B831-45C3495C6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2" b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3E122E2-E669-4243-BD08-894D3C207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Activations Memory (</a:t>
            </a:r>
            <a:r>
              <a:rPr lang="en-US" dirty="0" err="1"/>
              <a:t>mem</a:t>
            </a:r>
            <a:r>
              <a:rPr lang="en-US" baseline="-25000" dirty="0" err="1"/>
              <a:t>activations</a:t>
            </a:r>
            <a:r>
              <a:rPr lang="en-US" dirty="0"/>
              <a:t>) – cont’d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DC6045-1B88-46D2-A878-4FF162EE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20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227ABD4-1464-EB4D-A94A-9B8B82F2C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0600"/>
            <a:ext cx="8420100" cy="5410199"/>
          </a:xfrm>
        </p:spPr>
        <p:txBody>
          <a:bodyPr/>
          <a:lstStyle/>
          <a:p>
            <a:r>
              <a:rPr lang="en-US" dirty="0"/>
              <a:t>Data are partitioned among </a:t>
            </a:r>
            <a:r>
              <a:rPr lang="en-US" i="1" dirty="0">
                <a:highlight>
                  <a:srgbClr val="FFFF00"/>
                </a:highlight>
              </a:rPr>
              <a:t>n</a:t>
            </a:r>
            <a:r>
              <a:rPr lang="en-US" dirty="0">
                <a:highlight>
                  <a:srgbClr val="FFFF00"/>
                </a:highlight>
              </a:rPr>
              <a:t> worker nodes</a:t>
            </a:r>
            <a:r>
              <a:rPr lang="en-US" dirty="0"/>
              <a:t>.</a:t>
            </a:r>
          </a:p>
          <a:p>
            <a:r>
              <a:rPr lang="en-US" dirty="0"/>
              <a:t>The same model is available to all worker nodes.</a:t>
            </a:r>
          </a:p>
          <a:p>
            <a:r>
              <a:rPr lang="en-US" dirty="0"/>
              <a:t>After that,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gradients are calculated for each copy of the model</a:t>
            </a:r>
            <a:r>
              <a:rPr lang="en-US" dirty="0"/>
              <a:t>, and then </a:t>
            </a:r>
            <a:r>
              <a:rPr lang="en-US" dirty="0">
                <a:solidFill>
                  <a:srgbClr val="008000"/>
                </a:solidFill>
              </a:rPr>
              <a:t>all the models exchange the gradients</a:t>
            </a:r>
            <a:r>
              <a:rPr lang="en-US" dirty="0"/>
              <a:t>, which are </a:t>
            </a:r>
            <a:r>
              <a:rPr lang="en-US" dirty="0">
                <a:solidFill>
                  <a:srgbClr val="7030A0"/>
                </a:solidFill>
              </a:rPr>
              <a:t>subsequently averaged</a:t>
            </a:r>
            <a:r>
              <a:rPr lang="en-US" dirty="0"/>
              <a:t>.</a:t>
            </a:r>
          </a:p>
          <a:p>
            <a:r>
              <a:rPr lang="en-US" dirty="0"/>
              <a:t>Can be used by </a:t>
            </a:r>
            <a:r>
              <a:rPr lang="en-US" b="1" dirty="0">
                <a:solidFill>
                  <a:srgbClr val="C00000"/>
                </a:solidFill>
              </a:rPr>
              <a:t>most ML algorithm</a:t>
            </a:r>
            <a:r>
              <a:rPr lang="en-US" dirty="0"/>
              <a:t> which assumes </a:t>
            </a:r>
            <a:r>
              <a:rPr lang="en-US" i="1" u="sng" dirty="0">
                <a:solidFill>
                  <a:srgbClr val="C00000"/>
                </a:solidFill>
              </a:rPr>
              <a:t>independent and identically distribution</a:t>
            </a:r>
            <a:r>
              <a:rPr lang="en-US" u="sng" dirty="0">
                <a:solidFill>
                  <a:srgbClr val="C00000"/>
                </a:solidFill>
              </a:rPr>
              <a:t> (</a:t>
            </a:r>
            <a:r>
              <a:rPr lang="en-US" u="sng" dirty="0" err="1">
                <a:solidFill>
                  <a:srgbClr val="C00000"/>
                </a:solidFill>
              </a:rPr>
              <a:t>i.i.d</a:t>
            </a:r>
            <a:r>
              <a:rPr lang="en-US" u="sng" dirty="0">
                <a:solidFill>
                  <a:srgbClr val="C00000"/>
                </a:solidFill>
              </a:rPr>
              <a:t>.)</a:t>
            </a:r>
            <a:r>
              <a:rPr lang="en-US" dirty="0"/>
              <a:t> over the data samples.</a:t>
            </a:r>
          </a:p>
          <a:p>
            <a:pPr lvl="1"/>
            <a:r>
              <a:rPr lang="en-US" dirty="0"/>
              <a:t>Can you name an algorithm which doesn’t make such assumption?</a:t>
            </a:r>
          </a:p>
          <a:p>
            <a:pPr lvl="2"/>
            <a:r>
              <a:rPr lang="en-US" i="1" dirty="0">
                <a:solidFill>
                  <a:srgbClr val="7030A0"/>
                </a:solidFill>
              </a:rPr>
              <a:t>Curriculum learning</a:t>
            </a:r>
            <a:r>
              <a:rPr lang="en-US" dirty="0"/>
              <a:t> is a good example where data parallelism doesn’t work.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15F148-525C-4043-9853-ECD961BEE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 Approach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F4A6B-76B1-3843-8D85-5CF0F923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062A4D43-6D05-F542-8502-2A5201AD7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6800" y="988742"/>
            <a:ext cx="3374189" cy="5314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7857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42624E-FCEE-0E47-8A24-B0EB48B2B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0600"/>
            <a:ext cx="8103622" cy="5410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Certain models are so big that cannot fit in a single node’s memory (e.g., GPU memory).</a:t>
            </a:r>
          </a:p>
          <a:p>
            <a:r>
              <a:rPr lang="en-US" dirty="0"/>
              <a:t>Model parallelism:</a:t>
            </a:r>
          </a:p>
          <a:p>
            <a:pPr lvl="1"/>
            <a:r>
              <a:rPr lang="en-US" dirty="0"/>
              <a:t>Model is divided among all nodes.</a:t>
            </a:r>
          </a:p>
          <a:p>
            <a:pPr lvl="1"/>
            <a:r>
              <a:rPr lang="en-US" dirty="0"/>
              <a:t>Each nodes processes an identical copy of the dataset.</a:t>
            </a:r>
          </a:p>
          <a:p>
            <a:r>
              <a:rPr lang="en-US" dirty="0"/>
              <a:t>Model parallelism is quite fast for large networks and very slow for small networks, while the opposite is true for data parallelism.</a:t>
            </a:r>
          </a:p>
          <a:p>
            <a:r>
              <a:rPr lang="en-US" dirty="0"/>
              <a:t>Model parallelism has lower communication overhead compared to data parallelism, but there’s no trick to hide communication required for synchronization of a network.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9EAD60-D391-E948-8F2B-E4E03693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Parallelism Approach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1BCF4-F193-E946-BACF-25DD0583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26D9E7-AAB5-5747-A077-F0781B2F1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074" y="885967"/>
            <a:ext cx="3541474" cy="551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83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620643-0D16-D843-8D54-41AA81322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LSTM layer is assigned to a different GPU.</a:t>
            </a:r>
          </a:p>
          <a:p>
            <a:pPr lvl="1"/>
            <a:r>
              <a:rPr lang="en-US" dirty="0"/>
              <a:t>After GPU 1 finishes computing layer 1 for the first sentence, it passes its output to GPU 2.</a:t>
            </a:r>
          </a:p>
          <a:p>
            <a:pPr lvl="1"/>
            <a:r>
              <a:rPr lang="en-US" dirty="0"/>
              <a:t>At the same time, GPU 1 fetches the next sentence and starts training. </a:t>
            </a:r>
          </a:p>
          <a:p>
            <a:r>
              <a:rPr lang="en-US" dirty="0"/>
              <a:t>Is this really </a:t>
            </a:r>
            <a:r>
              <a:rPr lang="en-US" i="1" dirty="0"/>
              <a:t>parallel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Maybe it should have been called “</a:t>
            </a:r>
            <a:r>
              <a:rPr lang="en-US" i="1" dirty="0"/>
              <a:t>Model Serialization</a:t>
            </a:r>
            <a:r>
              <a:rPr lang="en-US" dirty="0"/>
              <a:t>” or “</a:t>
            </a:r>
            <a:r>
              <a:rPr lang="en-US" i="1" dirty="0"/>
              <a:t>Model Pipelining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27B5A8-BB14-A941-83B8-C02EF47B7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Parallelism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0A75D-AF64-724C-89D1-2DE78FB2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63FE2-A975-654C-90E4-E4E5238D98AD}"/>
              </a:ext>
            </a:extLst>
          </p:cNvPr>
          <p:cNvGrpSpPr/>
          <p:nvPr/>
        </p:nvGrpSpPr>
        <p:grpSpPr>
          <a:xfrm>
            <a:off x="2813049" y="3833585"/>
            <a:ext cx="6565900" cy="2947798"/>
            <a:chOff x="2772944" y="1295400"/>
            <a:chExt cx="6565900" cy="2947798"/>
          </a:xfrm>
        </p:grpSpPr>
        <p:pic>
          <p:nvPicPr>
            <p:cNvPr id="3074" name="Picture 2" descr="screen shot 2016-05-06 at 10 13 16 pm">
              <a:extLst>
                <a:ext uri="{FF2B5EF4-FFF2-40B4-BE49-F238E27FC236}">
                  <a16:creationId xmlns:a16="http://schemas.microsoft.com/office/drawing/2014/main" id="{A227C6CB-B303-9F49-B495-07D4B8B0A4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2944" y="1295400"/>
              <a:ext cx="6565900" cy="2806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5C1A740-B815-5C49-BC2E-A400B3ED35BD}"/>
                </a:ext>
              </a:extLst>
            </p:cNvPr>
            <p:cNvSpPr/>
            <p:nvPr/>
          </p:nvSpPr>
          <p:spPr>
            <a:xfrm>
              <a:off x="2895600" y="3981588"/>
              <a:ext cx="6324600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Image source:</a:t>
              </a:r>
              <a:r>
                <a:rPr lang="en-US" sz="1100" dirty="0"/>
                <a:t> </a:t>
              </a:r>
              <a:r>
                <a:rPr lang="en-US" sz="1100" dirty="0">
                  <a:hlinkClick r:id="rId3"/>
                </a:rPr>
                <a:t>https://mxnet.incubator.apache.org/versions/1.8.0/api/faq/model_parallel_lstm.html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53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66FBE7-B01F-4F33-A54F-CDD555DBCA9F}"/>
</file>

<file path=customXml/itemProps2.xml><?xml version="1.0" encoding="utf-8"?>
<ds:datastoreItem xmlns:ds="http://schemas.openxmlformats.org/officeDocument/2006/customXml" ds:itemID="{5C07E70F-246A-448A-8324-C69A05418B61}"/>
</file>

<file path=customXml/itemProps3.xml><?xml version="1.0" encoding="utf-8"?>
<ds:datastoreItem xmlns:ds="http://schemas.openxmlformats.org/officeDocument/2006/customXml" ds:itemID="{9FD23885-03DE-4EAE-82CE-BFBCC2AABF15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18913</TotalTime>
  <Words>1251</Words>
  <Application>Microsoft Office PowerPoint</Application>
  <PresentationFormat>Widescreen</PresentationFormat>
  <Paragraphs>190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Source Code Pro</vt:lpstr>
      <vt:lpstr>Symbol</vt:lpstr>
      <vt:lpstr>Times New Roman</vt:lpstr>
      <vt:lpstr>Wingdings</vt:lpstr>
      <vt:lpstr>Main</vt:lpstr>
      <vt:lpstr>Estimating LLMs’ Resource Requirement</vt:lpstr>
      <vt:lpstr>PowerPoint Presentation</vt:lpstr>
      <vt:lpstr>Computation Budget</vt:lpstr>
      <vt:lpstr>NVIDIA H100 Performance</vt:lpstr>
      <vt:lpstr>Computation Budget (cont’d)</vt:lpstr>
      <vt:lpstr>Large Models’ Memory Requirements</vt:lpstr>
      <vt:lpstr>GPU Datatypes: Floating Point</vt:lpstr>
      <vt:lpstr>GPU Datatypes: Floating Point (cont’d)</vt:lpstr>
      <vt:lpstr>GPU Datatypes:</vt:lpstr>
      <vt:lpstr>Inference Memory Requirement</vt:lpstr>
      <vt:lpstr>Training Memory Requirement</vt:lpstr>
      <vt:lpstr>Optimizer States Memory (memoptimizer)</vt:lpstr>
      <vt:lpstr>Gradients Memory (memgradients)</vt:lpstr>
      <vt:lpstr>Activations Memory (memactivations)</vt:lpstr>
      <vt:lpstr>Activations Memory (memactivations) – cont’d</vt:lpstr>
      <vt:lpstr>Data Parallel Approach</vt:lpstr>
      <vt:lpstr>Model Parallelism Approach</vt:lpstr>
      <vt:lpstr>Model Parallelism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Laws for LLMs</dc:title>
  <dc:creator>Yadollah Yaghoobzadeh</dc:creator>
  <cp:lastModifiedBy>Mohammad Javad Dousti</cp:lastModifiedBy>
  <cp:revision>438</cp:revision>
  <dcterms:created xsi:type="dcterms:W3CDTF">2021-09-22T08:38:12Z</dcterms:created>
  <dcterms:modified xsi:type="dcterms:W3CDTF">2024-05-20T15:00:25Z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