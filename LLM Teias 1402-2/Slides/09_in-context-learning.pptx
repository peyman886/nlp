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367" r:id="rId2"/>
    <p:sldId id="392" r:id="rId3"/>
    <p:sldId id="449" r:id="rId4"/>
    <p:sldId id="450" r:id="rId5"/>
    <p:sldId id="276" r:id="rId6"/>
    <p:sldId id="277" r:id="rId7"/>
    <p:sldId id="464" r:id="rId8"/>
    <p:sldId id="451" r:id="rId9"/>
    <p:sldId id="452" r:id="rId10"/>
    <p:sldId id="453" r:id="rId11"/>
    <p:sldId id="454" r:id="rId12"/>
    <p:sldId id="455" r:id="rId13"/>
    <p:sldId id="456" r:id="rId14"/>
    <p:sldId id="466" r:id="rId15"/>
    <p:sldId id="457" r:id="rId16"/>
    <p:sldId id="458" r:id="rId17"/>
    <p:sldId id="459" r:id="rId18"/>
    <p:sldId id="460" r:id="rId19"/>
    <p:sldId id="461" r:id="rId20"/>
    <p:sldId id="462" r:id="rId2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97" autoAdjust="0"/>
    <p:restoredTop sz="88514" autoAdjust="0"/>
  </p:normalViewPr>
  <p:slideViewPr>
    <p:cSldViewPr snapToGrid="0">
      <p:cViewPr varScale="1">
        <p:scale>
          <a:sx n="120" d="100"/>
          <a:sy n="120" d="100"/>
        </p:scale>
        <p:origin x="545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129A6E-BADE-48A7-BEA0-052A0B1331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C1B00-3C9E-4969-8470-DA6ECF6112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057B9-7F8E-4A76-BB65-B0CDE389237C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0D77A-E581-480B-89FE-0DAC6EE8E1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C490E-B55E-4814-BF43-BEF793D435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02DEA-9E9C-4685-ADE8-1D7EAB487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08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8B55E72-2775-45AE-8CCB-EB9B0EA39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 userDrawn="1"/>
        </p:nvSpPr>
        <p:spPr>
          <a:xfrm>
            <a:off x="711200" y="2667000"/>
            <a:ext cx="10769600" cy="1828800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rtl="0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66700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3198" y="5076735"/>
            <a:ext cx="3677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Mohammad Javad Dousti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E67ADEF-48BE-4324-BFFD-E5AE3FAAF2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725" y="104775"/>
            <a:ext cx="2876550" cy="809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8CFA54-3AD4-42E6-BB96-047542C8AC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" y="223520"/>
            <a:ext cx="2026398" cy="6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CCC80-3337-49C5-9FD9-324BBCAE8FEA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DA4841B-B80A-F6C9-93FC-0F8ABAAA8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E4485-A598-4052-9941-9E9BC9E10119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F7D44E6-A90F-113B-3256-810C6209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67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3250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33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929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EAF2-6C9D-CD36-58BA-FF7BD8724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0C14B-1347-6B37-821C-672480041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2C097-92A9-A32A-FDBE-3C9FB3C3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0FE4-78EA-1E8B-08A9-3D6B6CBA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0744A-AD3D-0912-C5D1-4C1C05F1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F7C-39E9-4500-8C99-9F531900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7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33C75-5F21-B456-EB79-B3985BF1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EF23-F473-C1A8-281B-AB1D19DF0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FEAC0-7649-6AA2-4F39-5E34CAFBD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05001-BD8D-F477-59BD-B8C0F1D4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78C98-7A38-24BA-DD79-B838B243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03721-DD40-4C8F-4CC7-57DA13FA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F7C-39E9-4500-8C99-9F531900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5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73" r:id="rId5"/>
    <p:sldLayoutId id="2147483676" r:id="rId6"/>
    <p:sldLayoutId id="2147483677" r:id="rId7"/>
    <p:sldLayoutId id="2147483678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2005.14165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2.12837.pdf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2.12837.pdf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hyperlink" Target="https://arxiv.org/pdf/2202.12837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2.12837.pdf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9.07686" TargetMode="External"/><Relationship Id="rId2" Type="http://schemas.openxmlformats.org/officeDocument/2006/relationships/hyperlink" Target="https://arxiv.org/pdf/2205.12685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211.15661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sz="4400" dirty="0">
                <a:latin typeface="Calibri"/>
                <a:cs typeface="Calibri"/>
              </a:rPr>
              <a:t>In-Context Learning (ICL)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2B7C8-73FC-E5E3-5282-E158EB33A64A}"/>
              </a:ext>
            </a:extLst>
          </p:cNvPr>
          <p:cNvSpPr txBox="1"/>
          <p:nvPr/>
        </p:nvSpPr>
        <p:spPr>
          <a:xfrm>
            <a:off x="105731" y="6088559"/>
            <a:ext cx="67450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Sources:</a:t>
            </a:r>
          </a:p>
          <a:p>
            <a:r>
              <a:rPr lang="en-US" sz="1000" dirty="0"/>
              <a:t>* Mohit </a:t>
            </a:r>
            <a:r>
              <a:rPr lang="en-US" sz="1000" dirty="0" err="1"/>
              <a:t>Iyyer’s</a:t>
            </a:r>
            <a:r>
              <a:rPr lang="en-US" sz="1000" dirty="0"/>
              <a:t> advanced NLP’s slides from UMass.</a:t>
            </a:r>
            <a:endParaRPr lang="en-US" sz="1000" dirty="0">
              <a:effectLst/>
            </a:endParaRPr>
          </a:p>
          <a:p>
            <a:r>
              <a:rPr lang="en-US" sz="1000" dirty="0"/>
              <a:t>* Matt Gormley slides for CMU’s Generative AI course.</a:t>
            </a: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08963" y="2255957"/>
            <a:ext cx="5480685" cy="4094044"/>
          </a:xfrm>
          <a:custGeom>
            <a:avLst/>
            <a:gdLst/>
            <a:ahLst/>
            <a:cxnLst/>
            <a:rect l="l" t="t" r="r" b="b"/>
            <a:pathLst>
              <a:path w="5480685" h="4589780">
                <a:moveTo>
                  <a:pt x="5480686" y="0"/>
                </a:moveTo>
                <a:lnTo>
                  <a:pt x="0" y="0"/>
                </a:lnTo>
                <a:lnTo>
                  <a:pt x="0" y="4589342"/>
                </a:lnTo>
                <a:lnTo>
                  <a:pt x="5480686" y="4589342"/>
                </a:lnTo>
                <a:lnTo>
                  <a:pt x="5480686" y="0"/>
                </a:lnTo>
                <a:close/>
              </a:path>
            </a:pathLst>
          </a:custGeom>
          <a:solidFill>
            <a:srgbClr val="D59988"/>
          </a:solidFill>
        </p:spPr>
        <p:txBody>
          <a:bodyPr wrap="square" lIns="0" tIns="0" rIns="0" bIns="0" rtlCol="0"/>
          <a:lstStyle/>
          <a:p>
            <a:pPr>
              <a:spcAft>
                <a:spcPts val="500"/>
              </a:spcAft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Option</a:t>
            </a:r>
            <a:r>
              <a:rPr lang="en-US" sz="1800" b="1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A:</a:t>
            </a:r>
            <a:r>
              <a:rPr lang="en-US" sz="1800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Supervised</a:t>
            </a:r>
            <a:r>
              <a:rPr lang="en-US" sz="1800" b="1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spc="-10" dirty="0">
                <a:latin typeface="Calibri" panose="020F0502020204030204" pitchFamily="34" charset="0"/>
                <a:cs typeface="Calibri" panose="020F0502020204030204" pitchFamily="34" charset="0"/>
              </a:rPr>
              <a:t>fine-tuning</a:t>
            </a:r>
          </a:p>
          <a:p>
            <a:pPr marL="515938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fine-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tune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using…</a:t>
            </a:r>
          </a:p>
          <a:p>
            <a:pPr marL="755650" lvl="1" indent="-285750">
              <a:spcBef>
                <a:spcPts val="95"/>
              </a:spcBef>
              <a:buFont typeface="Courier New" panose="02070309020205020404" pitchFamily="49" charset="0"/>
              <a:buChar char="o"/>
              <a:tabLst>
                <a:tab pos="297815" algn="l"/>
              </a:tabLs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standard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supervised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5650" lvl="1" indent="-285750">
              <a:lnSpc>
                <a:spcPts val="2135"/>
              </a:lnSpc>
              <a:spcBef>
                <a:spcPts val="25"/>
              </a:spcBef>
              <a:buFont typeface="Courier New" panose="02070309020205020404" pitchFamily="49" charset="0"/>
              <a:buChar char="o"/>
              <a:tabLst>
                <a:tab pos="297815" algn="l"/>
              </a:tabLs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backpropagation</a:t>
            </a:r>
            <a:r>
              <a:rPr lang="en-US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compute</a:t>
            </a:r>
            <a:r>
              <a:rPr lang="en-US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gradients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55650" lvl="1" indent="-285750">
              <a:lnSpc>
                <a:spcPts val="2135"/>
              </a:lnSpc>
              <a:buFont typeface="Courier New" panose="02070309020205020404" pitchFamily="49" charset="0"/>
              <a:buChar char="o"/>
              <a:tabLst>
                <a:tab pos="297815" algn="l"/>
              </a:tabLs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your</a:t>
            </a:r>
            <a:r>
              <a:rPr lang="en-US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favorite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optimizer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(e.g.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Adam)</a:t>
            </a:r>
          </a:p>
          <a:p>
            <a:pPr marL="515938" lvl="1" indent="-284163">
              <a:lnSpc>
                <a:spcPts val="2135"/>
              </a:lnSpc>
              <a:spcBef>
                <a:spcPts val="95"/>
              </a:spcBef>
              <a:buFont typeface="Arial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fits</a:t>
            </a:r>
            <a:r>
              <a:rPr lang="en-US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en-US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standard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ML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 recipe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5938" lvl="1" indent="-284163">
              <a:lnSpc>
                <a:spcPts val="2135"/>
              </a:lnSpc>
              <a:buFont typeface="Arial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Pro:</a:t>
            </a:r>
            <a:r>
              <a:rPr lang="en-US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still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works</a:t>
            </a:r>
            <a:r>
              <a:rPr lang="en-US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spc="-20" dirty="0">
                <a:latin typeface="Calibri" panose="020F0502020204030204" pitchFamily="34" charset="0"/>
                <a:cs typeface="Calibri" panose="020F0502020204030204" pitchFamily="34" charset="0"/>
              </a:rPr>
              <a:t> large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5938" marR="5080" lvl="1" indent="-284163">
              <a:lnSpc>
                <a:spcPct val="99400"/>
              </a:lnSpc>
              <a:spcBef>
                <a:spcPts val="40"/>
              </a:spcBef>
              <a:buFont typeface="Arial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backpropagation</a:t>
            </a:r>
            <a:r>
              <a:rPr lang="en-US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requires</a:t>
            </a:r>
            <a:r>
              <a:rPr lang="en-US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~3x</a:t>
            </a:r>
            <a:r>
              <a:rPr lang="en-US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memory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computation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forward computation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5938" marR="280035" lvl="1" indent="-284163">
              <a:lnSpc>
                <a:spcPct val="99400"/>
              </a:lnSpc>
              <a:spcBef>
                <a:spcPts val="60"/>
              </a:spcBef>
              <a:buFont typeface="Arial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en-US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might</a:t>
            </a:r>
            <a:r>
              <a:rPr lang="en-US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model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weights</a:t>
            </a:r>
            <a:r>
              <a:rPr lang="en-US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(e.g.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proprietary)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89650" y="2255957"/>
            <a:ext cx="5835650" cy="4094044"/>
          </a:xfrm>
          <a:custGeom>
            <a:avLst/>
            <a:gdLst/>
            <a:ahLst/>
            <a:cxnLst/>
            <a:rect l="l" t="t" r="r" b="b"/>
            <a:pathLst>
              <a:path w="5480684" h="4589780">
                <a:moveTo>
                  <a:pt x="5480684" y="0"/>
                </a:moveTo>
                <a:lnTo>
                  <a:pt x="0" y="0"/>
                </a:lnTo>
                <a:lnTo>
                  <a:pt x="0" y="4589341"/>
                </a:lnTo>
                <a:lnTo>
                  <a:pt x="5480684" y="4589341"/>
                </a:lnTo>
                <a:lnTo>
                  <a:pt x="5480684" y="0"/>
                </a:lnTo>
                <a:close/>
              </a:path>
            </a:pathLst>
          </a:custGeom>
          <a:solidFill>
            <a:srgbClr val="B0BAD7"/>
          </a:solidFill>
        </p:spPr>
        <p:txBody>
          <a:bodyPr wrap="square" lIns="0" tIns="0" rIns="0" bIns="0" rtlCol="0"/>
          <a:lstStyle/>
          <a:p>
            <a:pPr marL="115888">
              <a:spcAft>
                <a:spcPts val="500"/>
              </a:spcAft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Option</a:t>
            </a:r>
            <a:r>
              <a:rPr lang="en-US" sz="1800" b="1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B:</a:t>
            </a:r>
            <a:r>
              <a:rPr lang="en-US"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spc="-10" dirty="0">
                <a:latin typeface="Calibri" panose="020F0502020204030204" pitchFamily="34" charset="0"/>
                <a:cs typeface="Calibri" panose="020F0502020204030204" pitchFamily="34" charset="0"/>
              </a:rPr>
              <a:t>In-</a:t>
            </a: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context</a:t>
            </a:r>
            <a:r>
              <a:rPr lang="en-US" sz="1800" b="1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spc="-10" dirty="0"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</a:p>
          <a:p>
            <a:pPr marL="640715" marR="657860" indent="-285750">
              <a:lnSpc>
                <a:spcPct val="102200"/>
              </a:lnSpc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pc="-3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85812" marR="657860" indent="-285750">
              <a:lnSpc>
                <a:spcPct val="102200"/>
              </a:lnSpc>
              <a:spcBef>
                <a:spcPts val="50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feed</a:t>
            </a:r>
            <a:r>
              <a:rPr lang="en-US" sz="1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5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prompt</a:t>
            </a:r>
          </a:p>
          <a:p>
            <a:pPr marL="785812" marR="657860" indent="-285750">
              <a:lnSpc>
                <a:spcPct val="102200"/>
              </a:lnSpc>
              <a:spcBef>
                <a:spcPts val="50"/>
              </a:spcBef>
              <a:buFont typeface="Courier New" panose="02070309020205020404" pitchFamily="49" charset="0"/>
              <a:buChar char="o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allow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infer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patterns</a:t>
            </a:r>
            <a:r>
              <a:rPr lang="en-US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training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r>
              <a:rPr lang="en-US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during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inference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(i.e.</a:t>
            </a:r>
            <a:r>
              <a:rPr lang="en-US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10" dirty="0">
                <a:latin typeface="Calibri" panose="020F0502020204030204" pitchFamily="34" charset="0"/>
                <a:cs typeface="Calibri" panose="020F0502020204030204" pitchFamily="34" charset="0"/>
              </a:rPr>
              <a:t>decoding)</a:t>
            </a:r>
          </a:p>
          <a:p>
            <a:pPr marL="785812" marR="657860" indent="-285750">
              <a:lnSpc>
                <a:spcPct val="102200"/>
              </a:lnSpc>
              <a:spcBef>
                <a:spcPts val="50"/>
              </a:spcBef>
              <a:buFont typeface="Courier New" panose="02070309020205020404" pitchFamily="49" charset="0"/>
              <a:buChar char="o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take</a:t>
            </a:r>
            <a:r>
              <a:rPr lang="en-US" sz="1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US"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en-US"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following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US"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prediction</a:t>
            </a:r>
          </a:p>
          <a:p>
            <a:pPr marL="631825" marR="68580" indent="-342900">
              <a:lnSpc>
                <a:spcPct val="99400"/>
              </a:lnSpc>
              <a:spcBef>
                <a:spcPts val="110"/>
              </a:spcBef>
              <a:buFont typeface="Arial"/>
              <a:buChar char="•"/>
              <a:tabLst>
                <a:tab pos="405765" algn="l"/>
              </a:tabLst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Con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en-US"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may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en-US"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very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long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Transformer</a:t>
            </a:r>
            <a:r>
              <a:rPr lang="en-US" sz="18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LMs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require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O(N</a:t>
            </a:r>
            <a:r>
              <a:rPr lang="en-US" sz="1800" baseline="23148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time/space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8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1800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 context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1825" marR="264160" indent="-342900">
              <a:lnSpc>
                <a:spcPts val="2090"/>
              </a:lnSpc>
              <a:spcBef>
                <a:spcPts val="175"/>
              </a:spcBef>
              <a:buFont typeface="Arial"/>
              <a:buChar char="•"/>
              <a:tabLst>
                <a:tab pos="405765" algn="l"/>
              </a:tabLst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Pro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800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en-US" sz="18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backpropagation</a:t>
            </a:r>
            <a:r>
              <a:rPr lang="en-US" sz="1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required</a:t>
            </a:r>
            <a:r>
              <a:rPr lang="en-US"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8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 one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pass</a:t>
            </a:r>
            <a:r>
              <a:rPr lang="en-US" sz="1800" spc="-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through</a:t>
            </a:r>
            <a:r>
              <a:rPr lang="en-US"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lang="en-US" sz="1800" spc="-20" dirty="0">
                <a:latin typeface="Calibri" panose="020F0502020204030204" pitchFamily="34" charset="0"/>
                <a:cs typeface="Calibri" panose="020F0502020204030204" pitchFamily="34" charset="0"/>
              </a:rPr>
              <a:t> data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1825" marR="405130" indent="-342900">
              <a:lnSpc>
                <a:spcPts val="2210"/>
              </a:lnSpc>
              <a:spcBef>
                <a:spcPts val="20"/>
              </a:spcBef>
              <a:buFont typeface="Arial"/>
              <a:buChar char="•"/>
              <a:tabLst>
                <a:tab pos="405765" algn="l"/>
              </a:tabLst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Pro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800" spc="-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en-US" sz="1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1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require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en-US" sz="1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weights,</a:t>
            </a:r>
            <a:r>
              <a:rPr lang="en-US" sz="1800" spc="-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en-US" sz="1800" spc="-25" dirty="0">
                <a:latin typeface="Calibri" panose="020F0502020204030204" pitchFamily="34" charset="0"/>
                <a:cs typeface="Calibri" panose="020F0502020204030204" pitchFamily="34" charset="0"/>
              </a:rPr>
              <a:t> API </a:t>
            </a:r>
            <a:r>
              <a:rPr lang="en-US" sz="1800" spc="-10" dirty="0"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97865" marR="657860" indent="-342900">
              <a:lnSpc>
                <a:spcPct val="102200"/>
              </a:lnSpc>
              <a:spcBef>
                <a:spcPts val="50"/>
              </a:spcBef>
              <a:buFont typeface="+mj-lt"/>
              <a:buAutoNum type="arabicPeriod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888"/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17D46C87-1235-4A63-A3BD-8F40D5BA61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990600"/>
                <a:ext cx="11658600" cy="1265356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Suppose you have…</a:t>
                </a:r>
              </a:p>
              <a:p>
                <a:pPr lvl="1"/>
                <a:r>
                  <a:rPr lang="en-US" dirty="0"/>
                  <a:t>a dataset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 baseline="-25000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rather small (i.e. few-shot setting)</a:t>
                </a:r>
              </a:p>
              <a:p>
                <a:pPr lvl="1"/>
                <a:r>
                  <a:rPr lang="en-US" dirty="0"/>
                  <a:t>a very large (billions of parameters) pre-trained language model</a:t>
                </a:r>
              </a:p>
              <a:p>
                <a:r>
                  <a:rPr lang="en-US" dirty="0"/>
                  <a:t>There are two ways to “learn”:</a:t>
                </a:r>
              </a:p>
            </p:txBody>
          </p:sp>
        </mc:Choice>
        <mc:Fallback xmlns="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17D46C87-1235-4A63-A3BD-8F40D5BA61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990600"/>
                <a:ext cx="11658600" cy="1265356"/>
              </a:xfrm>
              <a:blipFill>
                <a:blip r:embed="rId2"/>
                <a:stretch>
                  <a:fillRect t="-7246"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2065" rIns="0" bIns="0" rtlCol="0">
            <a:spAutoFit/>
          </a:bodyPr>
          <a:lstStyle/>
          <a:p>
            <a:r>
              <a:rPr lang="en-US"/>
              <a:t>Few-shot Learning with LLMs</a:t>
            </a:r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DB98F5E-A24B-4CD7-A408-67C7E11B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7E9369-614B-435C-8FE5-2A50781DF8D1}"/>
              </a:ext>
            </a:extLst>
          </p:cNvPr>
          <p:cNvGrpSpPr/>
          <p:nvPr/>
        </p:nvGrpSpPr>
        <p:grpSpPr>
          <a:xfrm>
            <a:off x="7641335" y="1261872"/>
            <a:ext cx="3840479" cy="1173860"/>
            <a:chOff x="7641335" y="1261872"/>
            <a:chExt cx="3840479" cy="1173860"/>
          </a:xfrm>
        </p:grpSpPr>
        <p:grpSp>
          <p:nvGrpSpPr>
            <p:cNvPr id="7" name="object 13">
              <a:extLst>
                <a:ext uri="{FF2B5EF4-FFF2-40B4-BE49-F238E27FC236}">
                  <a16:creationId xmlns:a16="http://schemas.microsoft.com/office/drawing/2014/main" id="{CFCD1FF0-EF7E-4CFF-A8FE-7278F24E3CB7}"/>
                </a:ext>
              </a:extLst>
            </p:cNvPr>
            <p:cNvGrpSpPr/>
            <p:nvPr/>
          </p:nvGrpSpPr>
          <p:grpSpPr>
            <a:xfrm>
              <a:off x="8174735" y="1261872"/>
              <a:ext cx="3307079" cy="594360"/>
              <a:chOff x="8174735" y="1261872"/>
              <a:chExt cx="3307079" cy="594360"/>
            </a:xfrm>
          </p:grpSpPr>
          <p:pic>
            <p:nvPicPr>
              <p:cNvPr id="8" name="object 14">
                <a:extLst>
                  <a:ext uri="{FF2B5EF4-FFF2-40B4-BE49-F238E27FC236}">
                    <a16:creationId xmlns:a16="http://schemas.microsoft.com/office/drawing/2014/main" id="{C012FCCE-1D86-4A0A-9D89-F2FBA93E380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174735" y="1267968"/>
                <a:ext cx="3307079" cy="551688"/>
              </a:xfrm>
              <a:prstGeom prst="rect">
                <a:avLst/>
              </a:prstGeom>
            </p:spPr>
          </p:pic>
          <p:pic>
            <p:nvPicPr>
              <p:cNvPr id="9" name="object 15">
                <a:extLst>
                  <a:ext uri="{FF2B5EF4-FFF2-40B4-BE49-F238E27FC236}">
                    <a16:creationId xmlns:a16="http://schemas.microsoft.com/office/drawing/2014/main" id="{D6B7F330-A596-419D-BC2D-C98701F37D0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9043415" y="1261872"/>
                <a:ext cx="1569720" cy="594360"/>
              </a:xfrm>
              <a:prstGeom prst="rect">
                <a:avLst/>
              </a:prstGeom>
            </p:spPr>
          </p:pic>
          <p:sp>
            <p:nvSpPr>
              <p:cNvPr id="10" name="object 16">
                <a:extLst>
                  <a:ext uri="{FF2B5EF4-FFF2-40B4-BE49-F238E27FC236}">
                    <a16:creationId xmlns:a16="http://schemas.microsoft.com/office/drawing/2014/main" id="{B461B5AC-180E-4EB6-A932-C634DC0DEB43}"/>
                  </a:ext>
                </a:extLst>
              </p:cNvPr>
              <p:cNvSpPr/>
              <p:nvPr/>
            </p:nvSpPr>
            <p:spPr>
              <a:xfrm>
                <a:off x="8218844" y="1312796"/>
                <a:ext cx="3166110" cy="407670"/>
              </a:xfrm>
              <a:custGeom>
                <a:avLst/>
                <a:gdLst/>
                <a:ahLst/>
                <a:cxnLst/>
                <a:rect l="l" t="t" r="r" b="b"/>
                <a:pathLst>
                  <a:path w="3166109" h="407669">
                    <a:moveTo>
                      <a:pt x="3165848" y="0"/>
                    </a:moveTo>
                    <a:lnTo>
                      <a:pt x="0" y="0"/>
                    </a:lnTo>
                    <a:lnTo>
                      <a:pt x="0" y="407201"/>
                    </a:lnTo>
                    <a:lnTo>
                      <a:pt x="3165848" y="407201"/>
                    </a:lnTo>
                    <a:lnTo>
                      <a:pt x="3165848" y="0"/>
                    </a:lnTo>
                    <a:close/>
                  </a:path>
                </a:pathLst>
              </a:custGeom>
              <a:solidFill>
                <a:srgbClr val="FEB80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7">
                <a:extLst>
                  <a:ext uri="{FF2B5EF4-FFF2-40B4-BE49-F238E27FC236}">
                    <a16:creationId xmlns:a16="http://schemas.microsoft.com/office/drawing/2014/main" id="{757DC9D8-E8BE-4065-8FE8-40BFB3619A5D}"/>
                  </a:ext>
                </a:extLst>
              </p:cNvPr>
              <p:cNvSpPr/>
              <p:nvPr/>
            </p:nvSpPr>
            <p:spPr>
              <a:xfrm>
                <a:off x="8218844" y="1312796"/>
                <a:ext cx="3166110" cy="407670"/>
              </a:xfrm>
              <a:custGeom>
                <a:avLst/>
                <a:gdLst/>
                <a:ahLst/>
                <a:cxnLst/>
                <a:rect l="l" t="t" r="r" b="b"/>
                <a:pathLst>
                  <a:path w="3166109" h="407669">
                    <a:moveTo>
                      <a:pt x="0" y="0"/>
                    </a:moveTo>
                    <a:lnTo>
                      <a:pt x="3165847" y="0"/>
                    </a:lnTo>
                    <a:lnTo>
                      <a:pt x="3165847" y="407201"/>
                    </a:lnTo>
                    <a:lnTo>
                      <a:pt x="0" y="407201"/>
                    </a:lnTo>
                    <a:lnTo>
                      <a:pt x="0" y="0"/>
                    </a:lnTo>
                    <a:close/>
                  </a:path>
                </a:pathLst>
              </a:custGeom>
              <a:ln w="3802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8">
              <a:extLst>
                <a:ext uri="{FF2B5EF4-FFF2-40B4-BE49-F238E27FC236}">
                  <a16:creationId xmlns:a16="http://schemas.microsoft.com/office/drawing/2014/main" id="{8FF8347E-EE0F-4580-BB64-9DA977E0E888}"/>
                </a:ext>
              </a:extLst>
            </p:cNvPr>
            <p:cNvSpPr txBox="1"/>
            <p:nvPr/>
          </p:nvSpPr>
          <p:spPr>
            <a:xfrm>
              <a:off x="8248406" y="1367094"/>
              <a:ext cx="3136548" cy="28918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95"/>
                </a:spcBef>
              </a:pPr>
              <a:r>
                <a:rPr lang="en-US" dirty="0">
                  <a:latin typeface="Candara"/>
                  <a:cs typeface="Candara"/>
                </a:rPr>
                <a:t>Our focus today</a:t>
              </a:r>
              <a:endParaRPr lang="en-US" sz="1800" dirty="0">
                <a:latin typeface="Candara"/>
                <a:cs typeface="Candara"/>
              </a:endParaRPr>
            </a:p>
          </p:txBody>
        </p:sp>
        <p:grpSp>
          <p:nvGrpSpPr>
            <p:cNvPr id="13" name="object 19">
              <a:extLst>
                <a:ext uri="{FF2B5EF4-FFF2-40B4-BE49-F238E27FC236}">
                  <a16:creationId xmlns:a16="http://schemas.microsoft.com/office/drawing/2014/main" id="{9C947A06-7C8C-4D3A-BBD6-60326E944C33}"/>
                </a:ext>
              </a:extLst>
            </p:cNvPr>
            <p:cNvGrpSpPr/>
            <p:nvPr/>
          </p:nvGrpSpPr>
          <p:grpSpPr>
            <a:xfrm>
              <a:off x="7641335" y="1664207"/>
              <a:ext cx="704215" cy="771525"/>
              <a:chOff x="7641335" y="1664207"/>
              <a:chExt cx="704215" cy="771525"/>
            </a:xfrm>
          </p:grpSpPr>
          <p:pic>
            <p:nvPicPr>
              <p:cNvPr id="14" name="object 20">
                <a:extLst>
                  <a:ext uri="{FF2B5EF4-FFF2-40B4-BE49-F238E27FC236}">
                    <a16:creationId xmlns:a16="http://schemas.microsoft.com/office/drawing/2014/main" id="{569FCBC6-669F-4384-81AB-24E42DB97BEA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641335" y="1664207"/>
                <a:ext cx="704087" cy="771144"/>
              </a:xfrm>
              <a:prstGeom prst="rect">
                <a:avLst/>
              </a:prstGeom>
            </p:spPr>
          </p:pic>
          <p:sp>
            <p:nvSpPr>
              <p:cNvPr id="16" name="object 21">
                <a:extLst>
                  <a:ext uri="{FF2B5EF4-FFF2-40B4-BE49-F238E27FC236}">
                    <a16:creationId xmlns:a16="http://schemas.microsoft.com/office/drawing/2014/main" id="{1629B269-E679-42B0-AD10-4B01869761A6}"/>
                  </a:ext>
                </a:extLst>
              </p:cNvPr>
              <p:cNvSpPr/>
              <p:nvPr/>
            </p:nvSpPr>
            <p:spPr>
              <a:xfrm>
                <a:off x="7687066" y="1709978"/>
                <a:ext cx="561340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561340" h="628650">
                    <a:moveTo>
                      <a:pt x="368032" y="0"/>
                    </a:moveTo>
                    <a:lnTo>
                      <a:pt x="96588" y="363434"/>
                    </a:lnTo>
                    <a:lnTo>
                      <a:pt x="0" y="291412"/>
                    </a:lnTo>
                    <a:lnTo>
                      <a:pt x="49013" y="628476"/>
                    </a:lnTo>
                    <a:lnTo>
                      <a:pt x="386350" y="579502"/>
                    </a:lnTo>
                    <a:lnTo>
                      <a:pt x="289761" y="507479"/>
                    </a:lnTo>
                    <a:lnTo>
                      <a:pt x="561205" y="144044"/>
                    </a:lnTo>
                    <a:lnTo>
                      <a:pt x="368032" y="0"/>
                    </a:lnTo>
                    <a:close/>
                  </a:path>
                </a:pathLst>
              </a:custGeom>
              <a:solidFill>
                <a:srgbClr val="FEB80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22">
                <a:extLst>
                  <a:ext uri="{FF2B5EF4-FFF2-40B4-BE49-F238E27FC236}">
                    <a16:creationId xmlns:a16="http://schemas.microsoft.com/office/drawing/2014/main" id="{7D0EA95D-5FBC-4E48-9093-DE32AF0DCCFF}"/>
                  </a:ext>
                </a:extLst>
              </p:cNvPr>
              <p:cNvSpPr/>
              <p:nvPr/>
            </p:nvSpPr>
            <p:spPr>
              <a:xfrm>
                <a:off x="7687066" y="1709977"/>
                <a:ext cx="561340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561340" h="628650">
                    <a:moveTo>
                      <a:pt x="49013" y="628476"/>
                    </a:moveTo>
                    <a:lnTo>
                      <a:pt x="0" y="291412"/>
                    </a:lnTo>
                    <a:lnTo>
                      <a:pt x="96587" y="363435"/>
                    </a:lnTo>
                    <a:lnTo>
                      <a:pt x="368031" y="0"/>
                    </a:lnTo>
                    <a:lnTo>
                      <a:pt x="561205" y="144044"/>
                    </a:lnTo>
                    <a:lnTo>
                      <a:pt x="289761" y="507479"/>
                    </a:lnTo>
                    <a:lnTo>
                      <a:pt x="386349" y="579502"/>
                    </a:lnTo>
                    <a:lnTo>
                      <a:pt x="49013" y="628476"/>
                    </a:lnTo>
                    <a:close/>
                  </a:path>
                </a:pathLst>
              </a:custGeom>
              <a:ln w="380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020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07A7E53-A776-4D79-A2B7-881FB083B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7174960" cy="5410200"/>
          </a:xfrm>
        </p:spPr>
        <p:txBody>
          <a:bodyPr>
            <a:normAutofit/>
          </a:bodyPr>
          <a:lstStyle/>
          <a:p>
            <a:r>
              <a:rPr lang="en-US" dirty="0"/>
              <a:t>In-context learning was popularized in the original GPT-3 paper as a way to use language models to learn tasks given only a few examples.</a:t>
            </a:r>
          </a:p>
          <a:p>
            <a:r>
              <a:rPr lang="en-US" dirty="0"/>
              <a:t>On many benchmark NLP benchmarks, in-context learning is competitive with models trained with much more labeled data.</a:t>
            </a:r>
          </a:p>
          <a:p>
            <a:r>
              <a:rPr lang="en-US" dirty="0">
                <a:solidFill>
                  <a:srgbClr val="C00000"/>
                </a:solidFill>
                <a:effectLst/>
              </a:rPr>
              <a:t>Few-shot prompting</a:t>
            </a:r>
            <a:r>
              <a:rPr lang="en-US" dirty="0">
                <a:effectLst/>
              </a:rPr>
              <a:t> can be used as a technique to enable </a:t>
            </a:r>
            <a:r>
              <a:rPr lang="en-US" dirty="0">
                <a:solidFill>
                  <a:srgbClr val="0070C0"/>
                </a:solidFill>
                <a:effectLst/>
              </a:rPr>
              <a:t>in-context learning</a:t>
            </a:r>
            <a:r>
              <a:rPr lang="en-US" dirty="0">
                <a:effectLst/>
              </a:rPr>
              <a:t> where we provide demonstrations in the prompt to steer the model to better performance.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3A3F458-C7C0-453B-96BA-07ADA6ABE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In-context learning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3652E6B-AEF5-45A0-913B-4A4309C7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B8B8A7-9622-4506-88E6-12A262416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619" y="1406457"/>
            <a:ext cx="4045085" cy="4045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5AF74D4-F293-4B30-A4E9-78927626D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LLMs can solve novel downstream tasks by just conditioning on a few demonstrations of the task in its prefix.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In-context learning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9DFBA6-89BB-4AF7-A3D2-A32198DB7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765" y="2033082"/>
            <a:ext cx="9458469" cy="436771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7A75E76-CDBE-41D9-8531-C03312E00216}"/>
              </a:ext>
            </a:extLst>
          </p:cNvPr>
          <p:cNvSpPr txBox="1"/>
          <p:nvPr/>
        </p:nvSpPr>
        <p:spPr>
          <a:xfrm>
            <a:off x="6095999" y="6400799"/>
            <a:ext cx="609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29">
              <a:spcBef>
                <a:spcPts val="70"/>
              </a:spcBef>
            </a:pPr>
            <a:r>
              <a:rPr lang="en-US" sz="14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https://ai.stanford.edu/blog/understanding-</a:t>
            </a:r>
            <a:r>
              <a:rPr lang="en-US" sz="1400" b="1" i="1" u="sng" spc="-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incontext/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2049CCCE-C22F-4739-899D-2574ACA2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0B2D6F-097E-45CC-A2AE-6B32D17BF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5009674" cy="5410200"/>
          </a:xfrm>
        </p:spPr>
        <p:txBody>
          <a:bodyPr/>
          <a:lstStyle/>
          <a:p>
            <a:r>
              <a:rPr lang="en-US" dirty="0"/>
              <a:t>Few-shot learning can be done via in- context learning</a:t>
            </a:r>
          </a:p>
          <a:p>
            <a:r>
              <a:rPr lang="en-US" dirty="0"/>
              <a:t>Typically, a task description is presented first</a:t>
            </a:r>
          </a:p>
          <a:p>
            <a:r>
              <a:rPr lang="en-US" dirty="0"/>
              <a:t>Then a sequence of input/output pairs from a training dataset are presented in sequence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3970" rIns="0" bIns="0" rtlCol="0">
            <a:spAutoFit/>
          </a:bodyPr>
          <a:lstStyle/>
          <a:p>
            <a:r>
              <a:rPr lang="en-US" dirty="0"/>
              <a:t>Few-shot In-context Learning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644" y="6536580"/>
            <a:ext cx="362140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Figure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from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spc="-10" dirty="0">
                <a:solidFill>
                  <a:srgbClr val="7F7F7F"/>
                </a:solidFill>
                <a:latin typeface="Candara"/>
                <a:cs typeface="Candara"/>
              </a:rPr>
              <a:t>https://arxiv.org/pdf/2310.09881.pdf</a:t>
            </a:r>
            <a:endParaRPr sz="1400">
              <a:latin typeface="Candara"/>
              <a:cs typeface="Candar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6374" y="1041722"/>
            <a:ext cx="6862392" cy="56142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90789"/>
            <a:ext cx="11658600" cy="629660"/>
          </a:xfrm>
        </p:spPr>
        <p:txBody>
          <a:bodyPr vert="horz" wrap="square" lIns="0" tIns="13970" rIns="0" bIns="0" rtlCol="0">
            <a:spAutoFit/>
          </a:bodyPr>
          <a:lstStyle/>
          <a:p>
            <a:r>
              <a:rPr lang="en-US" dirty="0"/>
              <a:t>Few-shot In-context Learning (cont’d)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8931" y="925929"/>
            <a:ext cx="6663069" cy="58421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77565" y="6607377"/>
            <a:ext cx="323850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95"/>
              </a:lnSpc>
            </a:pP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Figure</a:t>
            </a:r>
            <a:r>
              <a:rPr sz="1400" spc="-3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dirty="0">
                <a:solidFill>
                  <a:srgbClr val="7F7F7F"/>
                </a:solidFill>
                <a:latin typeface="Candara"/>
                <a:cs typeface="Candara"/>
              </a:rPr>
              <a:t>from</a:t>
            </a:r>
            <a:r>
              <a:rPr sz="1400" spc="-20" dirty="0">
                <a:solidFill>
                  <a:srgbClr val="7F7F7F"/>
                </a:solidFill>
                <a:latin typeface="Candara"/>
                <a:cs typeface="Candara"/>
              </a:rPr>
              <a:t> </a:t>
            </a:r>
            <a:r>
              <a:rPr sz="1400" spc="-10" dirty="0">
                <a:solidFill>
                  <a:srgbClr val="7F7F7F"/>
                </a:solidFill>
                <a:latin typeface="Candara"/>
                <a:cs typeface="Candara"/>
                <a:hlinkClick r:id="rId3"/>
              </a:rPr>
              <a:t>http://arxiv.org/abs/2005.14165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DB384EA7-9993-4121-96DE-0BAA5BA7F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5009674" cy="5410200"/>
          </a:xfrm>
        </p:spPr>
        <p:txBody>
          <a:bodyPr/>
          <a:lstStyle/>
          <a:p>
            <a:r>
              <a:rPr lang="en-US" dirty="0"/>
              <a:t>Few-shot learning can be done via in- context learning</a:t>
            </a:r>
          </a:p>
          <a:p>
            <a:r>
              <a:rPr lang="en-US" dirty="0"/>
              <a:t>Typically, a task description is presented first</a:t>
            </a:r>
          </a:p>
          <a:p>
            <a:r>
              <a:rPr lang="en-US" dirty="0"/>
              <a:t>Then a sequence of input/output pairs from a training dataset are presented in sequence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F81389-77DB-422C-AAA4-A2A3AAA0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Unlike conventional machine learning: No optimization of any parameters.</a:t>
            </a:r>
          </a:p>
          <a:p>
            <a:pPr lvl="1"/>
            <a:r>
              <a:rPr lang="en-US" dirty="0"/>
              <a:t>This isn’t unique: Meta-learning methods have trained models that learn from examples.</a:t>
            </a:r>
          </a:p>
          <a:p>
            <a:r>
              <a:rPr lang="en-US" dirty="0"/>
              <a:t>The mystery is that the LM isn’t trained to learn from examples.</a:t>
            </a:r>
          </a:p>
          <a:p>
            <a:r>
              <a:rPr lang="en-US" dirty="0"/>
              <a:t>There’s seemingly a mismatch between pretraining (what it’s trained to do, which is next token prediction) and in-context learning (what we’re asking it to do).</a:t>
            </a:r>
          </a:p>
          <a:p>
            <a:r>
              <a:rPr lang="en-US" dirty="0"/>
              <a:t>This seems like magic!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6BC511-3E9A-4D93-8044-00F0E79AA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Why is in-context learning surprising?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63375-EDC3-4898-BFF1-78E32332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8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8E72125-B8C9-4D54-A54A-D351047DF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Are “</a:t>
            </a:r>
            <a:r>
              <a:rPr lang="en-US" dirty="0">
                <a:solidFill>
                  <a:srgbClr val="C00000"/>
                </a:solidFill>
              </a:rPr>
              <a:t>novel</a:t>
            </a:r>
            <a:r>
              <a:rPr lang="en-US" dirty="0"/>
              <a:t>” tasks really novel? Or are they buried somewhere within the trillions of words in the Common Crawl?</a:t>
            </a:r>
          </a:p>
          <a:p>
            <a:r>
              <a:rPr lang="en-US" dirty="0"/>
              <a:t>If not, how can the model “</a:t>
            </a:r>
            <a:r>
              <a:rPr lang="en-US" dirty="0">
                <a:solidFill>
                  <a:srgbClr val="00B050"/>
                </a:solidFill>
              </a:rPr>
              <a:t>learn</a:t>
            </a:r>
            <a:r>
              <a:rPr lang="en-US" dirty="0"/>
              <a:t>” to solve a new task without any training (i.e., gradient updates to optimize model performance on the new task)?</a:t>
            </a:r>
          </a:p>
          <a:p>
            <a:pPr marL="12700" marR="249554">
              <a:lnSpc>
                <a:spcPts val="3290"/>
              </a:lnSpc>
              <a:spcBef>
                <a:spcPts val="465"/>
              </a:spcBef>
            </a:pPr>
            <a:r>
              <a:rPr lang="en-US" dirty="0"/>
              <a:t>In-context learning can be sensitive to…</a:t>
            </a:r>
          </a:p>
          <a:p>
            <a:pPr marL="744538" marR="151765" lvl="1" indent="-333375">
              <a:lnSpc>
                <a:spcPct val="90000"/>
              </a:lnSpc>
              <a:spcBef>
                <a:spcPts val="610"/>
              </a:spcBef>
            </a:pPr>
            <a:r>
              <a:rPr lang="en-US" sz="2800" dirty="0"/>
              <a:t>the order the training examples are presented</a:t>
            </a:r>
          </a:p>
          <a:p>
            <a:pPr marL="744538" marR="5080" lvl="1" indent="-333375">
              <a:lnSpc>
                <a:spcPct val="90000"/>
              </a:lnSpc>
              <a:spcBef>
                <a:spcPts val="770"/>
              </a:spcBef>
            </a:pPr>
            <a:r>
              <a:rPr lang="en-US" sz="2800" dirty="0"/>
              <a:t>the balance of labels (e.g. positive vs. negative)</a:t>
            </a:r>
          </a:p>
          <a:p>
            <a:pPr marL="744538" marR="777875" lvl="1" indent="-333375">
              <a:lnSpc>
                <a:spcPct val="90000"/>
              </a:lnSpc>
              <a:spcBef>
                <a:spcPts val="670"/>
              </a:spcBef>
            </a:pPr>
            <a:r>
              <a:rPr lang="en-US" sz="2800" dirty="0"/>
              <a:t>the number of unique labels covered</a:t>
            </a:r>
          </a:p>
          <a:p>
            <a:pPr marL="744538" marR="777875" lvl="1" indent="-333375">
              <a:lnSpc>
                <a:spcPct val="90000"/>
              </a:lnSpc>
              <a:spcBef>
                <a:spcPts val="670"/>
              </a:spcBef>
            </a:pPr>
            <a:r>
              <a:rPr lang="en-US" sz="2800" dirty="0"/>
              <a:t>… but is it actually?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47530CB-3491-4760-A6F2-47B8248E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How does this work?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0B8BE3B-0688-48BB-8D8E-A148036A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1557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What’s in a demonstration?</a:t>
            </a:r>
            <a:endParaRPr lang="en-US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482" y="1591324"/>
            <a:ext cx="10781036" cy="3675352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17ED62-6AD1-425E-A7D3-BAAC0479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56F553B8-EF84-40B9-9675-8DC974BE2F83}"/>
              </a:ext>
            </a:extLst>
          </p:cNvPr>
          <p:cNvSpPr txBox="1"/>
          <p:nvPr/>
        </p:nvSpPr>
        <p:spPr>
          <a:xfrm>
            <a:off x="8709550" y="6576264"/>
            <a:ext cx="1786384" cy="20381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Min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et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al.,</a:t>
            </a:r>
            <a:r>
              <a:rPr sz="1266" b="1" i="1" spc="39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EMNLP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spc="-14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2022</a:t>
            </a:r>
            <a:endParaRPr sz="1266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How important is input-label mapping?</a:t>
            </a:r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948" y="1761953"/>
            <a:ext cx="9912104" cy="4220557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810E231-3580-4C29-8B53-E017E5D4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F1B20A17-7A1E-47A0-AF63-9B1D352E46C8}"/>
              </a:ext>
            </a:extLst>
          </p:cNvPr>
          <p:cNvSpPr txBox="1"/>
          <p:nvPr/>
        </p:nvSpPr>
        <p:spPr>
          <a:xfrm>
            <a:off x="8709550" y="6576264"/>
            <a:ext cx="1786384" cy="20381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Min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et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al.,</a:t>
            </a:r>
            <a:r>
              <a:rPr sz="1266" b="1" i="1" spc="39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EMNLP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spc="-14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2022</a:t>
            </a:r>
            <a:endParaRPr sz="1266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1557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What about other aspects of the demonstrations?</a:t>
            </a:r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8709550" y="6576264"/>
            <a:ext cx="1786384" cy="20381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Min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et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al.,</a:t>
            </a:r>
            <a:r>
              <a:rPr sz="1266" b="1" i="1" spc="39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EMNLP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266" b="1" i="1" spc="-14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2022</a:t>
            </a:r>
            <a:endParaRPr sz="1266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1431" y="1504245"/>
            <a:ext cx="9909138" cy="464816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A794CF-EB41-4931-91AD-956493F8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11557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What about other aspects of the demonstrations?</a:t>
            </a:r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895" y="1943489"/>
            <a:ext cx="11170210" cy="3611472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766E3C5-3538-49B0-AFCA-A7AEBB9E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63EE825C-7315-4D92-AC19-8DA66BB518B0}"/>
              </a:ext>
            </a:extLst>
          </p:cNvPr>
          <p:cNvSpPr txBox="1"/>
          <p:nvPr/>
        </p:nvSpPr>
        <p:spPr>
          <a:xfrm>
            <a:off x="8709550" y="6576264"/>
            <a:ext cx="1786384" cy="203814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Min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et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al.,</a:t>
            </a:r>
            <a:r>
              <a:rPr sz="1266" b="1" i="1" spc="39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EMNLP</a:t>
            </a:r>
            <a:r>
              <a:rPr sz="1266" b="1" i="1" spc="35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 </a:t>
            </a:r>
            <a:r>
              <a:rPr sz="1266" b="1" i="1" spc="-14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2022</a:t>
            </a:r>
            <a:endParaRPr sz="1266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7ED1C1-77B0-48C4-9D6F-EF64E52A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0" cy="1518684"/>
          </a:xfrm>
        </p:spPr>
        <p:txBody>
          <a:bodyPr/>
          <a:lstStyle/>
          <a:p>
            <a:r>
              <a:rPr lang="en-US" dirty="0"/>
              <a:t>In-context learning can be thought of as “</a:t>
            </a:r>
            <a:r>
              <a:rPr lang="en-US" dirty="0">
                <a:solidFill>
                  <a:srgbClr val="C00000"/>
                </a:solidFill>
              </a:rPr>
              <a:t>locating</a:t>
            </a:r>
            <a:r>
              <a:rPr lang="en-US" dirty="0"/>
              <a:t>” </a:t>
            </a:r>
            <a:r>
              <a:rPr lang="en-US" dirty="0">
                <a:solidFill>
                  <a:srgbClr val="008000"/>
                </a:solidFill>
              </a:rPr>
              <a:t>latent concepts</a:t>
            </a:r>
            <a:r>
              <a:rPr lang="en-US" dirty="0"/>
              <a:t> the LM has acquired from pretraining data.</a:t>
            </a:r>
          </a:p>
          <a:p>
            <a:r>
              <a:rPr lang="en-US" dirty="0"/>
              <a:t>All components of the prompt (inputs, outputs, formatting, and the input-output mapping) can provide information for inferring the latent concept.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35B2FA4-28B9-4D76-92E0-49AE1A81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Justification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6C05D0F-15C1-42C5-AD83-14E1B224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E2F96-9040-44CB-997D-4C6163B771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8" t="9612" r="11221" b="5890"/>
          <a:stretch/>
        </p:blipFill>
        <p:spPr>
          <a:xfrm>
            <a:off x="2927153" y="2965068"/>
            <a:ext cx="6337693" cy="38722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7ED1C1-77B0-48C4-9D6F-EF64E52A3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studied simple classification tasks</a:t>
            </a:r>
          </a:p>
          <a:p>
            <a:r>
              <a:rPr lang="en-US" dirty="0"/>
              <a:t>The effect of these different aspects of demonstrations on generation tasks is unclear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35B2FA4-28B9-4D76-92E0-49AE1A81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nice study, but it is also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6C05D0F-15C1-42C5-AD83-14E1B224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87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2DC588-489B-4868-9BD5-7DF84D8E1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hlinkClick r:id="rId2"/>
              </a:rPr>
              <a:t>Yoo et al. (2022)</a:t>
            </a:r>
            <a:r>
              <a:rPr lang="en-US" dirty="0"/>
              <a:t> shows that input-label mappings matter quite significantly when using different experimental conditions and eval metrics.</a:t>
            </a:r>
          </a:p>
          <a:p>
            <a:r>
              <a:rPr lang="en-US" b="1" dirty="0">
                <a:solidFill>
                  <a:srgbClr val="C00000"/>
                </a:solidFill>
                <a:hlinkClick r:id="rId3"/>
              </a:rPr>
              <a:t>Madaan and </a:t>
            </a:r>
            <a:r>
              <a:rPr lang="en-US" b="1" dirty="0" err="1">
                <a:solidFill>
                  <a:srgbClr val="C00000"/>
                </a:solidFill>
                <a:hlinkClick r:id="rId3"/>
              </a:rPr>
              <a:t>Yazdanbakhsh</a:t>
            </a:r>
            <a:r>
              <a:rPr lang="en-US" b="1" dirty="0">
                <a:solidFill>
                  <a:srgbClr val="C00000"/>
                </a:solidFill>
                <a:hlinkClick r:id="rId3"/>
              </a:rPr>
              <a:t> (2022)</a:t>
            </a:r>
            <a:r>
              <a:rPr lang="en-US" dirty="0"/>
              <a:t> show that random rationales degrade chain-of-thought performance, but other modifications to the rationale (e.g., wrong equations) don’t affect it too much.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B42539D-D2C2-47BC-A3C3-FBFE6EF4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Follow up work tells a diﬀerent story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962C376-DB4F-45F2-A777-4EF9D5710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184015D-C038-4063-9B96-47C0ACE5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“We investigate the hypothesis that transformer-based in-context learners implement standard learning algorithms implicitly, by encoding smaller models in their activations, and updating these implicit models as new examples appear in the context.” </a:t>
            </a:r>
            <a:r>
              <a:rPr lang="en-US" b="1" dirty="0"/>
              <a:t>— </a:t>
            </a:r>
            <a:r>
              <a:rPr lang="en-US" b="1" dirty="0">
                <a:hlinkClick r:id="rId2"/>
              </a:rPr>
              <a:t>Akyürek et al., ICLR 2023</a:t>
            </a:r>
            <a:endParaRPr lang="en-US" b="1" dirty="0"/>
          </a:p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B87AFCD-9080-4BD0-84B8-5DDE72EFE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>
            <a:noAutofit/>
          </a:bodyPr>
          <a:lstStyle/>
          <a:p>
            <a:r>
              <a:rPr lang="en-US" sz="2800"/>
              <a:t>How does the LLM make use of (any aspect of) the demonstration?</a:t>
            </a:r>
            <a:endParaRPr lang="en-US" sz="28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4EE8F1A-04EA-4540-8C03-5043BDE0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918BE21-7A47-40DA-A380-2B0972AD3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70C0"/>
                </a:solidFill>
                <a:latin typeface="Arial"/>
                <a:cs typeface="Arial"/>
              </a:rPr>
              <a:t>Akyürek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/>
                <a:cs typeface="Arial"/>
              </a:rPr>
              <a:t>et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/>
                <a:cs typeface="Arial"/>
              </a:rPr>
              <a:t>al.,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/>
                <a:cs typeface="Arial"/>
              </a:rPr>
              <a:t>ICLR</a:t>
            </a:r>
            <a:r>
              <a:rPr lang="en-US" sz="2800" spc="-4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Arial"/>
                <a:cs typeface="Arial"/>
              </a:rPr>
              <a:t>2023:</a:t>
            </a:r>
            <a:r>
              <a:rPr lang="en-US" sz="2800" dirty="0">
                <a:latin typeface="Arial"/>
                <a:cs typeface="Arial"/>
              </a:rPr>
              <a:t> theoretically</a:t>
            </a:r>
            <a:r>
              <a:rPr lang="en-US" sz="2800" spc="-4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proved</a:t>
            </a:r>
            <a:r>
              <a:rPr lang="en-US" sz="2800" spc="-4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that</a:t>
            </a:r>
            <a:r>
              <a:rPr lang="en-US" sz="2800" spc="-4" dirty="0">
                <a:latin typeface="Arial"/>
                <a:cs typeface="Arial"/>
              </a:rPr>
              <a:t> </a:t>
            </a:r>
            <a:r>
              <a:rPr lang="en-US" sz="2800" spc="-14" dirty="0">
                <a:latin typeface="Arial"/>
                <a:cs typeface="Arial"/>
              </a:rPr>
              <a:t>LLMs </a:t>
            </a:r>
            <a:r>
              <a:rPr lang="en-US" sz="2800" dirty="0">
                <a:latin typeface="Arial"/>
                <a:cs typeface="Arial"/>
              </a:rPr>
              <a:t>can</a:t>
            </a:r>
            <a:r>
              <a:rPr lang="en-US" sz="2800" spc="-42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learn</a:t>
            </a:r>
            <a:r>
              <a:rPr lang="en-US" sz="2800" spc="-42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a</a:t>
            </a:r>
            <a:r>
              <a:rPr lang="en-US" sz="2800" spc="-42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small</a:t>
            </a:r>
            <a:r>
              <a:rPr lang="en-US" sz="2800" spc="-42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linear</a:t>
            </a:r>
            <a:r>
              <a:rPr lang="en-US" sz="2800" spc="-42" dirty="0">
                <a:latin typeface="Arial"/>
                <a:cs typeface="Arial"/>
              </a:rPr>
              <a:t> </a:t>
            </a:r>
            <a:r>
              <a:rPr lang="en-US" sz="2800" spc="-7" dirty="0">
                <a:latin typeface="Arial"/>
                <a:cs typeface="Arial"/>
              </a:rPr>
              <a:t>model:</a:t>
            </a:r>
          </a:p>
          <a:p>
            <a:endParaRPr lang="en-US" spc="-7" dirty="0">
              <a:latin typeface="Arial"/>
              <a:cs typeface="Arial"/>
            </a:endParaRPr>
          </a:p>
          <a:p>
            <a:endParaRPr lang="en-US" sz="2800" spc="-7" dirty="0">
              <a:latin typeface="Arial"/>
              <a:cs typeface="Arial"/>
            </a:endParaRPr>
          </a:p>
          <a:p>
            <a:r>
              <a:rPr lang="en-US" sz="2800" dirty="0">
                <a:latin typeface="Arial"/>
                <a:cs typeface="Arial"/>
              </a:rPr>
              <a:t>The</a:t>
            </a:r>
            <a:r>
              <a:rPr lang="en-US" sz="2800" spc="-56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above</a:t>
            </a:r>
            <a:r>
              <a:rPr lang="en-US" sz="2800" spc="-53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linear</a:t>
            </a:r>
            <a:r>
              <a:rPr lang="en-US" sz="2800" spc="-56" dirty="0">
                <a:latin typeface="Arial"/>
                <a:cs typeface="Arial"/>
              </a:rPr>
              <a:t> </a:t>
            </a:r>
            <a:r>
              <a:rPr lang="en-US" sz="2800" spc="-7" dirty="0">
                <a:latin typeface="Arial"/>
                <a:cs typeface="Arial"/>
              </a:rPr>
              <a:t>regression</a:t>
            </a:r>
            <a:r>
              <a:rPr lang="en-US" sz="2800" spc="-53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loss</a:t>
            </a:r>
            <a:r>
              <a:rPr lang="en-US" sz="2800" spc="-56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has</a:t>
            </a:r>
            <a:r>
              <a:rPr lang="en-US" sz="2800" spc="-53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a</a:t>
            </a:r>
            <a:r>
              <a:rPr lang="en-US" sz="2800" spc="-56" dirty="0">
                <a:latin typeface="Arial"/>
                <a:cs typeface="Arial"/>
              </a:rPr>
              <a:t> </a:t>
            </a:r>
            <a:r>
              <a:rPr lang="en-US" sz="2800" i="1" dirty="0">
                <a:latin typeface="Arial"/>
                <a:cs typeface="Arial"/>
              </a:rPr>
              <a:t>closed</a:t>
            </a:r>
            <a:r>
              <a:rPr lang="en-US" sz="2800" i="1" spc="-53" dirty="0">
                <a:latin typeface="Arial"/>
                <a:cs typeface="Arial"/>
              </a:rPr>
              <a:t> </a:t>
            </a:r>
            <a:r>
              <a:rPr lang="en-US" sz="2800" i="1" spc="-14" dirty="0">
                <a:latin typeface="Arial"/>
                <a:cs typeface="Arial"/>
              </a:rPr>
              <a:t>form</a:t>
            </a:r>
            <a:r>
              <a:rPr lang="en-US" i="1" dirty="0">
                <a:latin typeface="Arial"/>
                <a:cs typeface="Arial"/>
              </a:rPr>
              <a:t> </a:t>
            </a:r>
            <a:r>
              <a:rPr lang="en-US" sz="2800" spc="-7" dirty="0">
                <a:latin typeface="Arial"/>
                <a:cs typeface="Arial"/>
              </a:rPr>
              <a:t>solution:</a:t>
            </a:r>
            <a:endParaRPr lang="en-US" spc="-7" dirty="0">
              <a:latin typeface="Arial"/>
              <a:cs typeface="Arial"/>
            </a:endParaRPr>
          </a:p>
          <a:p>
            <a:endParaRPr lang="en-US" sz="2800" spc="-7" dirty="0">
              <a:latin typeface="Arial"/>
              <a:cs typeface="Arial"/>
            </a:endParaRPr>
          </a:p>
          <a:p>
            <a:endParaRPr lang="en-US" spc="-7" dirty="0">
              <a:latin typeface="Arial"/>
              <a:cs typeface="Arial"/>
            </a:endParaRPr>
          </a:p>
          <a:p>
            <a:r>
              <a:rPr lang="en-US" sz="2800" dirty="0">
                <a:latin typeface="Arial"/>
                <a:cs typeface="Arial"/>
              </a:rPr>
              <a:t>But</a:t>
            </a:r>
            <a:r>
              <a:rPr lang="en-US" sz="2800" spc="28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can</a:t>
            </a:r>
            <a:r>
              <a:rPr lang="en-US" sz="2800" spc="32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also</a:t>
            </a:r>
            <a:r>
              <a:rPr lang="en-US" sz="2800" spc="28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be</a:t>
            </a:r>
            <a:r>
              <a:rPr lang="en-US" sz="2800" spc="32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solved</a:t>
            </a:r>
            <a:r>
              <a:rPr lang="en-US" sz="2800" spc="28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via</a:t>
            </a:r>
            <a:r>
              <a:rPr lang="en-US" sz="2800" spc="32" dirty="0">
                <a:latin typeface="Arial"/>
                <a:cs typeface="Arial"/>
              </a:rPr>
              <a:t> </a:t>
            </a:r>
            <a:r>
              <a:rPr lang="en-US" sz="2800" dirty="0">
                <a:latin typeface="Arial"/>
                <a:cs typeface="Arial"/>
              </a:rPr>
              <a:t>gradient</a:t>
            </a:r>
            <a:r>
              <a:rPr lang="en-US" sz="2800" spc="28" dirty="0">
                <a:latin typeface="Arial"/>
                <a:cs typeface="Arial"/>
              </a:rPr>
              <a:t> </a:t>
            </a:r>
            <a:r>
              <a:rPr lang="en-US" sz="2800" spc="-7" dirty="0">
                <a:latin typeface="Arial"/>
                <a:cs typeface="Arial"/>
              </a:rPr>
              <a:t>descent</a:t>
            </a:r>
            <a:endParaRPr lang="en-US" sz="2800" dirty="0">
              <a:latin typeface="Arial"/>
              <a:cs typeface="Arial"/>
            </a:endParaRPr>
          </a:p>
          <a:p>
            <a:endParaRPr lang="en-US" sz="28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Can a Transformer do linear regression?</a:t>
            </a:r>
            <a:endParaRPr lang="en-US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1348" y="1997643"/>
            <a:ext cx="3009304" cy="78581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1369" y="3889899"/>
            <a:ext cx="2789262" cy="29021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 rotWithShape="1">
          <a:blip r:embed="rId4" cstate="print"/>
          <a:srcRect t="8150"/>
          <a:stretch/>
        </p:blipFill>
        <p:spPr>
          <a:xfrm>
            <a:off x="2231677" y="5218172"/>
            <a:ext cx="7728645" cy="611042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8B54248-D909-4009-8313-4F6C1955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391A736-555D-48CF-93AC-437113086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Transformers can implement some primitive operations useful for learning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23465"/>
            <a:ext cx="11658600" cy="764307"/>
          </a:xfrm>
        </p:spPr>
        <p:txBody>
          <a:bodyPr vert="horz" wrap="square" lIns="0" tIns="14731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9587" y="1655654"/>
            <a:ext cx="7352826" cy="473281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FA2A10-8376-4899-9F2D-BDCC1B5E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C185B19-659C-400C-87D3-C5552E6D4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these primitives, they show that Transformers can implement one step of gradient descent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573EC897-9DA4-4C79-93E0-FFA0690F8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FD6670D-BAD5-44B2-815D-D25D1EFF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731" y="2743200"/>
            <a:ext cx="10541616" cy="26522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31E3190-4171-497B-BAF3-0F1470431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Probe networks show that Transformers encode useful intermediate computations while training the linear models.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0E68C79E-D57A-4184-9F4A-81138ADE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Does ICL encode meaningful intermediate quantities?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5FB6EF4-A343-47E6-A217-819C9D1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89D00882-420D-446F-B065-6675A463A27F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80" y="2529191"/>
            <a:ext cx="10744037" cy="2972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ABC628-D808-40CD-A418-9130AEAF948F}"/>
</file>

<file path=customXml/itemProps2.xml><?xml version="1.0" encoding="utf-8"?>
<ds:datastoreItem xmlns:ds="http://schemas.openxmlformats.org/officeDocument/2006/customXml" ds:itemID="{1153A2F9-B6A3-44C5-900A-AD8A1D94CF3F}"/>
</file>

<file path=customXml/itemProps3.xml><?xml version="1.0" encoding="utf-8"?>
<ds:datastoreItem xmlns:ds="http://schemas.openxmlformats.org/officeDocument/2006/customXml" ds:itemID="{A9A3F173-EB24-4CB7-9DDD-E626A6405C12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16366</TotalTime>
  <Words>1003</Words>
  <Application>Microsoft Office PowerPoint</Application>
  <PresentationFormat>Widescreen</PresentationFormat>
  <Paragraphs>106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Cambria Math</vt:lpstr>
      <vt:lpstr>Candara</vt:lpstr>
      <vt:lpstr>Courier New</vt:lpstr>
      <vt:lpstr>Roboto Lt</vt:lpstr>
      <vt:lpstr>Tahoma</vt:lpstr>
      <vt:lpstr>Times New Roman</vt:lpstr>
      <vt:lpstr>Wingdings</vt:lpstr>
      <vt:lpstr>Main</vt:lpstr>
      <vt:lpstr>In-Context Learning (ICL)</vt:lpstr>
      <vt:lpstr>Few-shot Learning with LLMs</vt:lpstr>
      <vt:lpstr>In-context learning</vt:lpstr>
      <vt:lpstr>In-context learning</vt:lpstr>
      <vt:lpstr>Few-shot In-context Learning</vt:lpstr>
      <vt:lpstr>Few-shot In-context Learning (cont’d)</vt:lpstr>
      <vt:lpstr>Why is in-context learning surprising?</vt:lpstr>
      <vt:lpstr>How does this work?</vt:lpstr>
      <vt:lpstr>What’s in a demonstration?</vt:lpstr>
      <vt:lpstr>How important is input-label mapping?</vt:lpstr>
      <vt:lpstr>What about other aspects of the demonstrations?</vt:lpstr>
      <vt:lpstr>What about other aspects of the demonstrations?</vt:lpstr>
      <vt:lpstr>Justification</vt:lpstr>
      <vt:lpstr>This is a nice study, but it is also limited</vt:lpstr>
      <vt:lpstr>Follow up work tells a diﬀerent story</vt:lpstr>
      <vt:lpstr>How does the LLM make use of (any aspect of) the demonstration?</vt:lpstr>
      <vt:lpstr>Can a Transformer do linear regression?</vt:lpstr>
      <vt:lpstr>PowerPoint Presentation</vt:lpstr>
      <vt:lpstr>PowerPoint Presentation</vt:lpstr>
      <vt:lpstr>Does ICL encode meaningful intermediate quantities?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Mohammad Javad Dousti</cp:lastModifiedBy>
  <cp:revision>350</cp:revision>
  <dcterms:created xsi:type="dcterms:W3CDTF">2021-09-22T08:38:12Z</dcterms:created>
  <dcterms:modified xsi:type="dcterms:W3CDTF">2024-04-08T09:01:42Z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